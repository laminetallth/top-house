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4" r:id="rId8"/>
    <p:sldId id="265" r:id="rId9"/>
    <p:sldId id="266" r:id="rId10"/>
    <p:sldId id="267" r:id="rId11"/>
    <p:sldId id="268" r:id="rId12"/>
    <p:sldId id="271" r:id="rId13"/>
    <p:sldId id="272" r:id="rId14"/>
    <p:sldId id="273" r:id="rId15"/>
  </p:sldIdLst>
  <p:sldSz cx="12192000" cy="6858000"/>
  <p:notesSz cx="6858000" cy="9144000"/>
  <p:embeddedFontLst>
    <p:embeddedFont>
      <p:font typeface="Montserrat" panose="00000500000000000000" pitchFamily="2" charset="0"/>
      <p:regular r:id="rId17"/>
      <p:bold r:id="rId18"/>
      <p:italic r:id="rId19"/>
      <p:boldItalic r:id="rId20"/>
    </p:embeddedFont>
    <p:embeddedFont>
      <p:font typeface="Montserrat Black" panose="00000A00000000000000" pitchFamily="2" charset="0"/>
      <p:bold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ia Martinenghi" userId="008c41ee-9ae3-4361-a904-88980b592d10" providerId="ADAL" clId="{6870D8DF-005B-4965-9771-37F409070CEE}"/>
    <pc:docChg chg="delSld">
      <pc:chgData name="Claudia Martinenghi" userId="008c41ee-9ae3-4361-a904-88980b592d10" providerId="ADAL" clId="{6870D8DF-005B-4965-9771-37F409070CEE}" dt="2026-10-05T13:02:36.336" v="3" actId="47"/>
      <pc:docMkLst>
        <pc:docMk/>
      </pc:docMkLst>
      <pc:sldChg chg="del">
        <pc:chgData name="Claudia Martinenghi" userId="008c41ee-9ae3-4361-a904-88980b592d10" providerId="ADAL" clId="{6870D8DF-005B-4965-9771-37F409070CEE}" dt="2026-10-05T13:02:27.272" v="0" actId="47"/>
        <pc:sldMkLst>
          <pc:docMk/>
          <pc:sldMk cId="0" sldId="262"/>
        </pc:sldMkLst>
      </pc:sldChg>
      <pc:sldChg chg="del">
        <pc:chgData name="Claudia Martinenghi" userId="008c41ee-9ae3-4361-a904-88980b592d10" providerId="ADAL" clId="{6870D8DF-005B-4965-9771-37F409070CEE}" dt="2026-10-05T13:02:28.687" v="1" actId="47"/>
        <pc:sldMkLst>
          <pc:docMk/>
          <pc:sldMk cId="0" sldId="263"/>
        </pc:sldMkLst>
      </pc:sldChg>
      <pc:sldChg chg="del">
        <pc:chgData name="Claudia Martinenghi" userId="008c41ee-9ae3-4361-a904-88980b592d10" providerId="ADAL" clId="{6870D8DF-005B-4965-9771-37F409070CEE}" dt="2026-10-05T13:02:34.976" v="2" actId="47"/>
        <pc:sldMkLst>
          <pc:docMk/>
          <pc:sldMk cId="0" sldId="269"/>
        </pc:sldMkLst>
      </pc:sldChg>
      <pc:sldChg chg="del">
        <pc:chgData name="Claudia Martinenghi" userId="008c41ee-9ae3-4361-a904-88980b592d10" providerId="ADAL" clId="{6870D8DF-005B-4965-9771-37F409070CEE}" dt="2026-10-05T13:02:36.336" v="3" actId="47"/>
        <pc:sldMkLst>
          <pc:docMk/>
          <pc:sldMk cId="0"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it-IT"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ue contenuti" type="twoObj">
  <p:cSld name="TWO_OBJECTS">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olo titolo" type="titleOnly">
  <p:cSld name="TITLE_ONLY">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apositiva titolo" type="title">
  <p:cSld name="TITLE">
    <p:spTree>
      <p:nvGrpSpPr>
        <p:cNvPr id="1" name="Shape 27"/>
        <p:cNvGrpSpPr/>
        <p:nvPr/>
      </p:nvGrpSpPr>
      <p:grpSpPr>
        <a:xfrm>
          <a:off x="0" y="0"/>
          <a:ext cx="0" cy="0"/>
          <a:chOff x="0" y="0"/>
          <a:chExt cx="0" cy="0"/>
        </a:xfrm>
      </p:grpSpPr>
      <p:sp>
        <p:nvSpPr>
          <p:cNvPr id="28" name="Google Shape;28;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olo e contenuto" type="obj">
  <p:cSld name="OBJECT">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testazione sezione" type="secHead">
  <p:cSld name="SECTION_HEADER">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fronto"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uota"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to con didascalia"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magine con didascalia"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olo e testo verticale"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itolo e testo verticale"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title"/>
          </p:nvPr>
        </p:nvSpPr>
        <p:spPr>
          <a:xfrm>
            <a:off x="157650" y="-51533"/>
            <a:ext cx="11792611"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FTTH OPEN FIBER &amp; NETFLIX con pubblicità</a:t>
            </a:r>
            <a:endParaRPr/>
          </a:p>
        </p:txBody>
      </p:sp>
      <p:sp>
        <p:nvSpPr>
          <p:cNvPr id="89" name="Google Shape;89;p13"/>
          <p:cNvSpPr txBox="1">
            <a:spLocks noGrp="1"/>
          </p:cNvSpPr>
          <p:nvPr>
            <p:ph type="body" idx="2"/>
          </p:nvPr>
        </p:nvSpPr>
        <p:spPr>
          <a:xfrm>
            <a:off x="241738" y="565079"/>
            <a:ext cx="11807386" cy="6014398"/>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1500"/>
              <a:buNone/>
            </a:pPr>
            <a:r>
              <a:rPr lang="it-IT" sz="1500" b="1">
                <a:solidFill>
                  <a:srgbClr val="002060"/>
                </a:solidFill>
              </a:rPr>
              <a:t>SUPER FIBRA &amp; NETFLIX con pubblicità </a:t>
            </a:r>
            <a:r>
              <a:rPr lang="it-IT" sz="1500">
                <a:solidFill>
                  <a:srgbClr val="1F3864"/>
                </a:solidFill>
              </a:rPr>
              <a:t>prevede navigazione senza limiti fino a 2,5 Gigabit a </a:t>
            </a:r>
            <a:r>
              <a:rPr lang="it-IT" sz="1500" b="1">
                <a:solidFill>
                  <a:srgbClr val="1F3864"/>
                </a:solidFill>
              </a:rPr>
              <a:t>31,49€ </a:t>
            </a:r>
            <a:r>
              <a:rPr lang="it-IT" sz="1500">
                <a:solidFill>
                  <a:srgbClr val="1F3864"/>
                </a:solidFill>
              </a:rPr>
              <a:t>con chiamate illimitate verso numeri fissi e mobili nazionali, modem WI FI 7 e assistenza inclusi. Le offerte si rinnovano ogni mese. Il servizio voce viene attivato sfruttando la tecnologia VoIP. Può condividere i Giga illimitati del fisso fino ad un massimo di </a:t>
            </a:r>
            <a:r>
              <a:rPr lang="it-IT" sz="1400">
                <a:solidFill>
                  <a:srgbClr val="1F3864"/>
                </a:solidFill>
              </a:rPr>
              <a:t>3 SIM compatibili. In più 12 mesi di Prime.</a:t>
            </a:r>
            <a:endParaRPr/>
          </a:p>
          <a:p>
            <a:pPr marL="0" lvl="0" indent="0" algn="just" rtl="0">
              <a:lnSpc>
                <a:spcPct val="90000"/>
              </a:lnSpc>
              <a:spcBef>
                <a:spcPts val="1000"/>
              </a:spcBef>
              <a:spcAft>
                <a:spcPts val="0"/>
              </a:spcAft>
              <a:buClr>
                <a:srgbClr val="FF0000"/>
              </a:buClr>
              <a:buSzPts val="1400"/>
              <a:buNone/>
            </a:pPr>
            <a:r>
              <a:rPr lang="it-IT" sz="1400" b="1">
                <a:solidFill>
                  <a:srgbClr val="FF0000"/>
                </a:solidFill>
              </a:rPr>
              <a:t>Costo di attivazione in promo a 0 € invece che 1,99€ al mese per 24 mesi.</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Riepilogando, Il canone di 31,49 euro al mese è composto, per i primi 12 mesi, da 25,5 euro al mese di servizio e Prime e 5,99 euro al mese di modem, dal 13° mese, da 25,5euro al mese di servizio e 5,99 euro al mese di modem, dal 48° mese, da 31,49 euro al mese di servizio. E' inoltre previsto un costo di 10€ per anticipo del Modem.</a:t>
            </a:r>
            <a:endParaRPr/>
          </a:p>
          <a:p>
            <a:pPr marL="0" lvl="0" indent="0" algn="just" rtl="0">
              <a:lnSpc>
                <a:spcPct val="90000"/>
              </a:lnSpc>
              <a:spcBef>
                <a:spcPts val="1000"/>
              </a:spcBef>
              <a:spcAft>
                <a:spcPts val="0"/>
              </a:spcAft>
              <a:buClr>
                <a:schemeClr val="dk1"/>
              </a:buClr>
              <a:buSzPts val="1400"/>
              <a:buNone/>
            </a:pPr>
            <a:endParaRPr sz="1400">
              <a:solidFill>
                <a:srgbClr val="1F3864"/>
              </a:solidFill>
            </a:endParaRPr>
          </a:p>
          <a:p>
            <a:pPr marL="0" lvl="0" indent="0" algn="just" rtl="0">
              <a:lnSpc>
                <a:spcPct val="90000"/>
              </a:lnSpc>
              <a:spcBef>
                <a:spcPts val="1000"/>
              </a:spcBef>
              <a:spcAft>
                <a:spcPts val="0"/>
              </a:spcAft>
              <a:buClr>
                <a:schemeClr val="accent6"/>
              </a:buClr>
              <a:buSzPts val="1500"/>
              <a:buNone/>
            </a:pPr>
            <a:r>
              <a:rPr lang="it-IT" sz="1500" b="1">
                <a:solidFill>
                  <a:schemeClr val="accent6"/>
                </a:solidFill>
              </a:rPr>
              <a:t>Da leggere in caso di aggiunta opzione </a:t>
            </a:r>
            <a:r>
              <a:rPr lang="it-IT" sz="1600" b="1">
                <a:solidFill>
                  <a:schemeClr val="accent6"/>
                </a:solidFill>
              </a:rPr>
              <a:t>Più Sicuri Casa: </a:t>
            </a:r>
            <a:r>
              <a:rPr lang="it-IT" sz="1600" b="1">
                <a:solidFill>
                  <a:srgbClr val="1F3864"/>
                </a:solidFill>
              </a:rPr>
              <a:t>Più Sicuri Casa, </a:t>
            </a:r>
            <a:r>
              <a:rPr lang="it-IT" sz="1400">
                <a:solidFill>
                  <a:srgbClr val="1F3864"/>
                </a:solidFill>
              </a:rPr>
              <a:t>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a:p>
          <a:p>
            <a:pPr marL="0" lvl="0" indent="0" algn="l" rtl="0">
              <a:lnSpc>
                <a:spcPct val="90000"/>
              </a:lnSpc>
              <a:spcBef>
                <a:spcPts val="1000"/>
              </a:spcBef>
              <a:spcAft>
                <a:spcPts val="0"/>
              </a:spcAft>
              <a:buClr>
                <a:schemeClr val="accent6"/>
              </a:buClr>
              <a:buSzPts val="1400"/>
              <a:buNone/>
            </a:pPr>
            <a:r>
              <a:rPr lang="it-IT" sz="1400" b="1">
                <a:solidFill>
                  <a:schemeClr val="accent6"/>
                </a:solidFill>
              </a:rPr>
              <a:t>Da leggere in caso di aggiunta opzione Più Sicuri Mobile: </a:t>
            </a:r>
            <a:r>
              <a:rPr lang="it-IT" sz="1400" b="1">
                <a:solidFill>
                  <a:srgbClr val="1F3864"/>
                </a:solidFill>
              </a:rPr>
              <a:t>Più Sicuri Mobile</a:t>
            </a:r>
            <a:r>
              <a:rPr lang="it-IT" sz="1400">
                <a:solidFill>
                  <a:srgbClr val="1F3864"/>
                </a:solidFill>
              </a:rPr>
              <a:t>, a 0,99€/mese con il primo mese gratuito, addebitato su credito per un’esperienza di navigazione protetta su rete WINDTRE. Protezione attiva all’attivazione dell’opzione senza azioni del Cliente</a:t>
            </a:r>
            <a:endParaRPr/>
          </a:p>
          <a:p>
            <a:pPr marL="0" lvl="0" indent="0" algn="l" rtl="0">
              <a:lnSpc>
                <a:spcPct val="90000"/>
              </a:lnSpc>
              <a:spcBef>
                <a:spcPts val="1000"/>
              </a:spcBef>
              <a:spcAft>
                <a:spcPts val="0"/>
              </a:spcAft>
              <a:buClr>
                <a:schemeClr val="accent6"/>
              </a:buClr>
              <a:buSzPts val="1400"/>
              <a:buNone/>
            </a:pPr>
            <a:r>
              <a:rPr lang="it-IT" sz="1400" b="1">
                <a:solidFill>
                  <a:schemeClr val="accent6"/>
                </a:solidFill>
              </a:rPr>
              <a:t>Da leggere in caso di aggiunta opzione Più Sicuri Mobile PRO: </a:t>
            </a:r>
            <a:r>
              <a:rPr lang="it-IT" sz="1400" b="1">
                <a:solidFill>
                  <a:srgbClr val="1F3864"/>
                </a:solidFill>
              </a:rPr>
              <a:t>Più Sicuri Mobile PRO</a:t>
            </a:r>
            <a:r>
              <a:rPr lang="it-IT" sz="1400">
                <a:solidFill>
                  <a:srgbClr val="1F3864"/>
                </a:solidFill>
              </a:rPr>
              <a:t>, a soli 1.99€/mese con primo mese gratuito: Navigazione sicura su tutte le reti: WINDTRE, WiFi e Roaming. Acquisti online e transazioni finanziarie (Conto Corrente)  protette grazie alla VPN.</a:t>
            </a:r>
            <a:endParaRPr sz="1500">
              <a:solidFill>
                <a:srgbClr val="1F3864"/>
              </a:solidFill>
            </a:endParaRPr>
          </a:p>
          <a:p>
            <a:pPr marL="0" lvl="0" indent="0" algn="just" rtl="0">
              <a:lnSpc>
                <a:spcPct val="90000"/>
              </a:lnSpc>
              <a:spcBef>
                <a:spcPts val="1000"/>
              </a:spcBef>
              <a:spcAft>
                <a:spcPts val="0"/>
              </a:spcAft>
              <a:buClr>
                <a:srgbClr val="002060"/>
              </a:buClr>
              <a:buSzPts val="1400"/>
              <a:buNone/>
            </a:pPr>
            <a:r>
              <a:rPr lang="it-IT" sz="14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EP ONLINE CON SUPER FIBRA offerta tied con metodo di pagamento</a:t>
            </a:r>
            <a:endParaRPr sz="1400">
              <a:solidFill>
                <a:srgbClr val="002060"/>
              </a:solidFill>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ONLINE CON SUPER FIBRA offerta untied su credito residuo</a:t>
            </a:r>
            <a:endParaRPr/>
          </a:p>
          <a:p>
            <a:pPr marL="0" lvl="0" indent="0" algn="l" rtl="0">
              <a:lnSpc>
                <a:spcPct val="90000"/>
              </a:lnSpc>
              <a:spcBef>
                <a:spcPts val="1000"/>
              </a:spcBef>
              <a:spcAft>
                <a:spcPts val="0"/>
              </a:spcAft>
              <a:buClr>
                <a:schemeClr val="dk1"/>
              </a:buClr>
              <a:buSzPts val="1500"/>
              <a:buNone/>
            </a:pPr>
            <a:endParaRPr sz="1500">
              <a:solidFill>
                <a:srgbClr val="002060"/>
              </a:solidFill>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a:spLocks noGrp="1"/>
          </p:cNvSpPr>
          <p:nvPr>
            <p:ph type="title"/>
          </p:nvPr>
        </p:nvSpPr>
        <p:spPr>
          <a:xfrm>
            <a:off x="157651" y="-51533"/>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FTTH EXTRA &amp; NETFLIX con pubblicità</a:t>
            </a:r>
            <a:endParaRPr/>
          </a:p>
        </p:txBody>
      </p:sp>
      <p:sp>
        <p:nvSpPr>
          <p:cNvPr id="95" name="Google Shape;95;p14"/>
          <p:cNvSpPr txBox="1">
            <a:spLocks noGrp="1"/>
          </p:cNvSpPr>
          <p:nvPr>
            <p:ph type="body" idx="2"/>
          </p:nvPr>
        </p:nvSpPr>
        <p:spPr>
          <a:xfrm>
            <a:off x="241738" y="565079"/>
            <a:ext cx="11807386" cy="6014398"/>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1500"/>
              <a:buNone/>
            </a:pPr>
            <a:r>
              <a:rPr lang="it-IT" sz="1500" b="1">
                <a:solidFill>
                  <a:srgbClr val="002060"/>
                </a:solidFill>
              </a:rPr>
              <a:t>SUPER FIBRA &amp; NETFLIX con pubblicità </a:t>
            </a:r>
            <a:r>
              <a:rPr lang="it-IT" sz="1500">
                <a:solidFill>
                  <a:srgbClr val="1F3864"/>
                </a:solidFill>
              </a:rPr>
              <a:t>prevede navigazione senza limiti fino </a:t>
            </a:r>
            <a:r>
              <a:rPr lang="it-IT" sz="1500" b="1">
                <a:solidFill>
                  <a:srgbClr val="1F3864"/>
                </a:solidFill>
              </a:rPr>
              <a:t>2,5 Gigabit a 31,49€/mese </a:t>
            </a:r>
            <a:r>
              <a:rPr lang="it-IT" sz="1500">
                <a:solidFill>
                  <a:srgbClr val="1F3864"/>
                </a:solidFill>
              </a:rPr>
              <a:t>con chiamate illimitate verso numeri fissi e mobili nazionali, modem WI FI 7 e assistenza inclusi. Le offerte si rinnovano ogni mese. Il servizio voce viene attivato sfruttando la tecnologia VoIP. Può condividere i Giga illimitati del fisso fino ad un massimo di </a:t>
            </a:r>
            <a:r>
              <a:rPr lang="it-IT" sz="1400">
                <a:solidFill>
                  <a:srgbClr val="1F3864"/>
                </a:solidFill>
              </a:rPr>
              <a:t>3 SIM compatibili. </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In più 12 mesi di Prime.</a:t>
            </a:r>
            <a:endParaRPr/>
          </a:p>
          <a:p>
            <a:pPr marL="0" lvl="0" indent="0" algn="just" rtl="0">
              <a:lnSpc>
                <a:spcPct val="90000"/>
              </a:lnSpc>
              <a:spcBef>
                <a:spcPts val="1000"/>
              </a:spcBef>
              <a:spcAft>
                <a:spcPts val="0"/>
              </a:spcAft>
              <a:buClr>
                <a:srgbClr val="1F3864"/>
              </a:buClr>
              <a:buSzPts val="1500"/>
              <a:buNone/>
            </a:pPr>
            <a:r>
              <a:rPr lang="it-IT" sz="1500">
                <a:solidFill>
                  <a:srgbClr val="1F3864"/>
                </a:solidFill>
              </a:rPr>
              <a:t>Costo di attivazione di </a:t>
            </a:r>
            <a:r>
              <a:rPr lang="it-IT" sz="1600">
                <a:solidFill>
                  <a:srgbClr val="FF0000"/>
                </a:solidFill>
              </a:rPr>
              <a:t>1,99€ per 24 mesi</a:t>
            </a:r>
            <a:r>
              <a:rPr lang="it-IT" sz="1500">
                <a:solidFill>
                  <a:srgbClr val="1F3864"/>
                </a:solidFill>
              </a:rPr>
              <a:t>.</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 canone di 31,49 euro al mese è composto, per i primi 12 mesi, da 25,5 euro al mese di servizio e Prime e 5,99 euro al mese di modem, dal 13° mese, da 25,5 euro al mese di servizio e 5,99 euro al mese di modem, dal 48° mese, da 31,49 euro al mese di servizio. 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accent6"/>
              </a:buClr>
              <a:buSzPts val="1500"/>
              <a:buNone/>
            </a:pPr>
            <a:r>
              <a:rPr lang="it-IT" sz="1500" b="1">
                <a:solidFill>
                  <a:schemeClr val="accent6"/>
                </a:solidFill>
              </a:rPr>
              <a:t>Da leggere in caso di aggiunta opzione </a:t>
            </a:r>
            <a:r>
              <a:rPr lang="it-IT" sz="1600" b="1">
                <a:solidFill>
                  <a:schemeClr val="accent6"/>
                </a:solidFill>
              </a:rPr>
              <a:t>Più Sicuri Casa: </a:t>
            </a:r>
            <a:r>
              <a:rPr lang="it-IT" sz="1600" b="1">
                <a:solidFill>
                  <a:srgbClr val="1F3864"/>
                </a:solidFill>
              </a:rPr>
              <a:t>Più Sicuri Casa, </a:t>
            </a:r>
            <a:r>
              <a:rPr lang="it-IT" sz="1400">
                <a:solidFill>
                  <a:srgbClr val="1F3864"/>
                </a:solidFill>
              </a:rPr>
              <a:t>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a:p>
          <a:p>
            <a:pPr marL="0" lvl="0" indent="0" algn="l" rtl="0">
              <a:lnSpc>
                <a:spcPct val="90000"/>
              </a:lnSpc>
              <a:spcBef>
                <a:spcPts val="1000"/>
              </a:spcBef>
              <a:spcAft>
                <a:spcPts val="0"/>
              </a:spcAft>
              <a:buClr>
                <a:schemeClr val="accent6"/>
              </a:buClr>
              <a:buSzPts val="1400"/>
              <a:buNone/>
            </a:pPr>
            <a:r>
              <a:rPr lang="it-IT" sz="1400" b="1">
                <a:solidFill>
                  <a:schemeClr val="accent6"/>
                </a:solidFill>
              </a:rPr>
              <a:t>Da leggere in caso di aggiunta opzione Più Sicuri Mobile: </a:t>
            </a:r>
            <a:r>
              <a:rPr lang="it-IT" sz="1400" b="1">
                <a:solidFill>
                  <a:srgbClr val="1F3864"/>
                </a:solidFill>
              </a:rPr>
              <a:t>Più Sicuri Mobile</a:t>
            </a:r>
            <a:r>
              <a:rPr lang="it-IT" sz="1400">
                <a:solidFill>
                  <a:srgbClr val="1F3864"/>
                </a:solidFill>
              </a:rPr>
              <a:t>, a 0,99€/mese con il primo mese gratuito, addebitato su credito per un’esperienza di navigazione protetta su rete WINDTRE. Protezione attiva all’attivazione dell’opzione senza azioni del Cliente</a:t>
            </a:r>
            <a:endParaRPr/>
          </a:p>
          <a:p>
            <a:pPr marL="0" lvl="0" indent="0" algn="l" rtl="0">
              <a:lnSpc>
                <a:spcPct val="90000"/>
              </a:lnSpc>
              <a:spcBef>
                <a:spcPts val="1000"/>
              </a:spcBef>
              <a:spcAft>
                <a:spcPts val="0"/>
              </a:spcAft>
              <a:buClr>
                <a:schemeClr val="accent6"/>
              </a:buClr>
              <a:buSzPts val="1400"/>
              <a:buNone/>
            </a:pPr>
            <a:r>
              <a:rPr lang="it-IT" sz="1400" b="1">
                <a:solidFill>
                  <a:schemeClr val="accent6"/>
                </a:solidFill>
              </a:rPr>
              <a:t>Da leggere in caso di aggiunta opzione Più Sicuri Mobile PRO: </a:t>
            </a:r>
            <a:r>
              <a:rPr lang="it-IT" sz="1400" b="1">
                <a:solidFill>
                  <a:srgbClr val="1F3864"/>
                </a:solidFill>
              </a:rPr>
              <a:t>Più Sicuri Mobile PRO</a:t>
            </a:r>
            <a:r>
              <a:rPr lang="it-IT" sz="1400">
                <a:solidFill>
                  <a:srgbClr val="1F3864"/>
                </a:solidFill>
              </a:rPr>
              <a:t>, a soli 1.99€/mese con primo mese gratuito: Navigazione sicura su tutte le reti: WINDTRE, WiFi e Roaming. Acquisti online e transazioni finanziarie (Conto Corrente)  protette grazie alla VPN.</a:t>
            </a:r>
            <a:endParaRPr sz="1500">
              <a:solidFill>
                <a:srgbClr val="1F3864"/>
              </a:solidFill>
            </a:endParaRPr>
          </a:p>
          <a:p>
            <a:pPr marL="0" lvl="0" indent="0" algn="just" rtl="0">
              <a:lnSpc>
                <a:spcPct val="90000"/>
              </a:lnSpc>
              <a:spcBef>
                <a:spcPts val="1000"/>
              </a:spcBef>
              <a:spcAft>
                <a:spcPts val="0"/>
              </a:spcAft>
              <a:buClr>
                <a:srgbClr val="002060"/>
              </a:buClr>
              <a:buSzPts val="1200"/>
              <a:buNone/>
            </a:pPr>
            <a:r>
              <a:rPr lang="it-IT" sz="12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2060"/>
              </a:buClr>
              <a:buSzPts val="1200"/>
              <a:buChar char="•"/>
            </a:pPr>
            <a:r>
              <a:rPr lang="it-IT" sz="1200" b="1">
                <a:solidFill>
                  <a:srgbClr val="002060"/>
                </a:solidFill>
              </a:rPr>
              <a:t>UNLIMITED 5G EP ONLINE CON SUPER FIBRA offerta tied con metodo di pagamento</a:t>
            </a:r>
            <a:endParaRPr sz="1200">
              <a:solidFill>
                <a:srgbClr val="002060"/>
              </a:solidFill>
            </a:endParaRPr>
          </a:p>
          <a:p>
            <a:pPr marL="228600" lvl="0" indent="-228600" algn="just" rtl="0">
              <a:lnSpc>
                <a:spcPct val="90000"/>
              </a:lnSpc>
              <a:spcBef>
                <a:spcPts val="1000"/>
              </a:spcBef>
              <a:spcAft>
                <a:spcPts val="0"/>
              </a:spcAft>
              <a:buClr>
                <a:srgbClr val="002060"/>
              </a:buClr>
              <a:buSzPts val="1200"/>
              <a:buChar char="•"/>
            </a:pPr>
            <a:r>
              <a:rPr lang="it-IT" sz="1200" b="1">
                <a:solidFill>
                  <a:srgbClr val="002060"/>
                </a:solidFill>
              </a:rPr>
              <a:t>UNLIMITED 5G ONLINE CON SUPER FIBRA offerta untied su credito residuo</a:t>
            </a:r>
            <a:endParaRPr/>
          </a:p>
          <a:p>
            <a:pPr marL="0" lvl="0" indent="0" algn="l" rtl="0">
              <a:lnSpc>
                <a:spcPct val="90000"/>
              </a:lnSpc>
              <a:spcBef>
                <a:spcPts val="1000"/>
              </a:spcBef>
              <a:spcAft>
                <a:spcPts val="0"/>
              </a:spcAft>
              <a:buClr>
                <a:schemeClr val="dk1"/>
              </a:buClr>
              <a:buSzPts val="1200"/>
              <a:buNone/>
            </a:pPr>
            <a:endParaRPr sz="1200">
              <a:solidFill>
                <a:srgbClr val="002060"/>
              </a:solidFill>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5"/>
          <p:cNvSpPr txBox="1">
            <a:spLocks noGrp="1"/>
          </p:cNvSpPr>
          <p:nvPr>
            <p:ph type="title"/>
          </p:nvPr>
        </p:nvSpPr>
        <p:spPr>
          <a:xfrm>
            <a:off x="0" y="0"/>
            <a:ext cx="1064895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600"/>
              <a:buFont typeface="Calibri"/>
              <a:buNone/>
            </a:pPr>
            <a:r>
              <a:rPr lang="it-IT" sz="3600" b="1">
                <a:solidFill>
                  <a:srgbClr val="002060"/>
                </a:solidFill>
              </a:rPr>
              <a:t>INTERNET 100/200 &amp; NETFLIX con pubblicità</a:t>
            </a:r>
            <a:endParaRPr/>
          </a:p>
        </p:txBody>
      </p:sp>
      <p:sp>
        <p:nvSpPr>
          <p:cNvPr id="101" name="Google Shape;101;p15"/>
          <p:cNvSpPr txBox="1">
            <a:spLocks noGrp="1"/>
          </p:cNvSpPr>
          <p:nvPr>
            <p:ph type="body" idx="2"/>
          </p:nvPr>
        </p:nvSpPr>
        <p:spPr>
          <a:xfrm>
            <a:off x="136634" y="606176"/>
            <a:ext cx="11976598" cy="5941770"/>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1500"/>
              <a:buNone/>
            </a:pPr>
            <a:r>
              <a:rPr lang="it-IT" sz="1500" b="1">
                <a:solidFill>
                  <a:srgbClr val="002060"/>
                </a:solidFill>
              </a:rPr>
              <a:t>INTERNET 100/200 &amp; NETFLIX con pubblicità </a:t>
            </a:r>
            <a:r>
              <a:rPr lang="it-IT" sz="1500">
                <a:solidFill>
                  <a:srgbClr val="1F3864"/>
                </a:solidFill>
              </a:rPr>
              <a:t>prevede navigazione senza limiti fino a </a:t>
            </a:r>
            <a:r>
              <a:rPr lang="it-IT" sz="1500" b="1">
                <a:solidFill>
                  <a:srgbClr val="1F3864"/>
                </a:solidFill>
              </a:rPr>
              <a:t>100/200 Mega a 31,49€/mese </a:t>
            </a:r>
            <a:r>
              <a:rPr lang="it-IT" sz="1500">
                <a:solidFill>
                  <a:srgbClr val="1F3864"/>
                </a:solidFill>
              </a:rPr>
              <a:t>con chiamate illimitate verso numeri fissi e mobili nazionali, modem Wi Fi 7e assistenza inclusi. Le offerte si rinnovano ogni mese. Il servizio voce viene attivato sfruttando la tecnologia VoIP. Può condividere i Giga illimitati del fisso fino ad un massimo di </a:t>
            </a:r>
            <a:r>
              <a:rPr lang="it-IT" sz="1400">
                <a:solidFill>
                  <a:srgbClr val="1F3864"/>
                </a:solidFill>
              </a:rPr>
              <a:t>3 SIM compatibili. </a:t>
            </a:r>
            <a:endParaRPr/>
          </a:p>
          <a:p>
            <a:pPr marL="0" lvl="0" indent="0" algn="just" rtl="0">
              <a:lnSpc>
                <a:spcPct val="90000"/>
              </a:lnSpc>
              <a:spcBef>
                <a:spcPts val="1000"/>
              </a:spcBef>
              <a:spcAft>
                <a:spcPts val="0"/>
              </a:spcAft>
              <a:buClr>
                <a:srgbClr val="1F3864"/>
              </a:buClr>
              <a:buSzPts val="1500"/>
              <a:buNone/>
            </a:pPr>
            <a:r>
              <a:rPr lang="it-IT" sz="1500">
                <a:solidFill>
                  <a:srgbClr val="1F3864"/>
                </a:solidFill>
              </a:rPr>
              <a:t>Costo di attivazione di </a:t>
            </a:r>
            <a:r>
              <a:rPr lang="it-IT" sz="1600">
                <a:solidFill>
                  <a:srgbClr val="FF0000"/>
                </a:solidFill>
              </a:rPr>
              <a:t>1,99€ per 24 mesi</a:t>
            </a:r>
            <a:r>
              <a:rPr lang="it-IT" sz="1500">
                <a:solidFill>
                  <a:srgbClr val="1F3864"/>
                </a:solidFill>
              </a:rPr>
              <a:t>.</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 canone di 31,49 euro al mese è composto, per i primi 12 mesi, da 25,50 euro al mese di servizio e Prime e 5,99 euro al mese di modem, dal 13° mese, da 25,50 euro al mese di servizio e 5,99 euro al mese di modem, dal 48° mese, da 31,49 euro al mese di servizio. 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accent6"/>
              </a:buClr>
              <a:buSzPts val="1500"/>
              <a:buNone/>
            </a:pPr>
            <a:r>
              <a:rPr lang="it-IT" sz="1500" b="1">
                <a:solidFill>
                  <a:schemeClr val="accent6"/>
                </a:solidFill>
              </a:rPr>
              <a:t>Da leggere in caso di aggiunta opzione </a:t>
            </a:r>
            <a:r>
              <a:rPr lang="it-IT" sz="1600" b="1">
                <a:solidFill>
                  <a:schemeClr val="accent6"/>
                </a:solidFill>
              </a:rPr>
              <a:t>Più Sicuri Casa: </a:t>
            </a:r>
            <a:r>
              <a:rPr lang="it-IT" sz="1600" b="1">
                <a:solidFill>
                  <a:srgbClr val="1F3864"/>
                </a:solidFill>
              </a:rPr>
              <a:t>Più Sicuri Casa, </a:t>
            </a:r>
            <a:r>
              <a:rPr lang="it-IT" sz="1400">
                <a:solidFill>
                  <a:srgbClr val="1F3864"/>
                </a:solidFill>
              </a:rPr>
              <a:t>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a:p>
          <a:p>
            <a:pPr marL="0" lvl="0" indent="0" algn="l" rtl="0">
              <a:lnSpc>
                <a:spcPct val="90000"/>
              </a:lnSpc>
              <a:spcBef>
                <a:spcPts val="1000"/>
              </a:spcBef>
              <a:spcAft>
                <a:spcPts val="0"/>
              </a:spcAft>
              <a:buClr>
                <a:schemeClr val="accent6"/>
              </a:buClr>
              <a:buSzPts val="1400"/>
              <a:buNone/>
            </a:pPr>
            <a:r>
              <a:rPr lang="it-IT" sz="1400" b="1">
                <a:solidFill>
                  <a:schemeClr val="accent6"/>
                </a:solidFill>
              </a:rPr>
              <a:t>Da leggere in caso di aggiunta opzione Più Sicuri Mobile: </a:t>
            </a:r>
            <a:r>
              <a:rPr lang="it-IT" sz="1400" b="1">
                <a:solidFill>
                  <a:srgbClr val="1F3864"/>
                </a:solidFill>
              </a:rPr>
              <a:t>Più Sicuri Mobile</a:t>
            </a:r>
            <a:r>
              <a:rPr lang="it-IT" sz="1400">
                <a:solidFill>
                  <a:srgbClr val="1F3864"/>
                </a:solidFill>
              </a:rPr>
              <a:t>, a 0,99€/mese con il primo mese gratuito, addebitato su credito per un’esperienza di navigazione protetta su rete WINDTRE. Protezione attiva all’attivazione dell’opzione senza azioni del Cliente</a:t>
            </a:r>
            <a:endParaRPr/>
          </a:p>
          <a:p>
            <a:pPr marL="0" lvl="0" indent="0" algn="l" rtl="0">
              <a:lnSpc>
                <a:spcPct val="90000"/>
              </a:lnSpc>
              <a:spcBef>
                <a:spcPts val="1000"/>
              </a:spcBef>
              <a:spcAft>
                <a:spcPts val="0"/>
              </a:spcAft>
              <a:buClr>
                <a:schemeClr val="accent6"/>
              </a:buClr>
              <a:buSzPts val="1400"/>
              <a:buNone/>
            </a:pPr>
            <a:r>
              <a:rPr lang="it-IT" sz="1400" b="1">
                <a:solidFill>
                  <a:schemeClr val="accent6"/>
                </a:solidFill>
              </a:rPr>
              <a:t>Da leggere in caso di aggiunta opzione Più Sicuri Mobile PRO: </a:t>
            </a:r>
            <a:r>
              <a:rPr lang="it-IT" sz="1400" b="1">
                <a:solidFill>
                  <a:srgbClr val="1F3864"/>
                </a:solidFill>
              </a:rPr>
              <a:t>Più Sicuri Mobile PRO</a:t>
            </a:r>
            <a:r>
              <a:rPr lang="it-IT" sz="1400">
                <a:solidFill>
                  <a:srgbClr val="1F3864"/>
                </a:solidFill>
              </a:rPr>
              <a:t>, a soli 1.99€/mese con primo mese gratuito: Navigazione sicura su tutte le reti: WINDTRE, WiFi e Roaming. Acquisti online e transazioni finanziarie (Conto Corrente)  protette grazie alla VPN.</a:t>
            </a:r>
            <a:endParaRPr sz="1500">
              <a:solidFill>
                <a:srgbClr val="1F3864"/>
              </a:solidFill>
            </a:endParaRPr>
          </a:p>
          <a:p>
            <a:pPr marL="0" lvl="0" indent="0" algn="just" rtl="0">
              <a:lnSpc>
                <a:spcPct val="90000"/>
              </a:lnSpc>
              <a:spcBef>
                <a:spcPts val="1000"/>
              </a:spcBef>
              <a:spcAft>
                <a:spcPts val="0"/>
              </a:spcAft>
              <a:buClr>
                <a:schemeClr val="accent6"/>
              </a:buClr>
              <a:buSzPts val="1500"/>
              <a:buNone/>
            </a:pPr>
            <a:r>
              <a:rPr lang="it-IT" sz="1500" b="1">
                <a:solidFill>
                  <a:schemeClr val="accent6"/>
                </a:solidFill>
              </a:rPr>
              <a:t>Da leggere in caso di aggiunta dell’opzione VOCE UNLIMITED</a:t>
            </a:r>
            <a:r>
              <a:rPr lang="it-IT" sz="1500">
                <a:solidFill>
                  <a:srgbClr val="92D050"/>
                </a:solidFill>
              </a:rPr>
              <a:t>: </a:t>
            </a:r>
            <a:r>
              <a:rPr lang="it-IT" sz="1500" b="1">
                <a:solidFill>
                  <a:srgbClr val="002060"/>
                </a:solidFill>
              </a:rPr>
              <a:t>Chiamate illimitate </a:t>
            </a:r>
            <a:r>
              <a:rPr lang="it-IT" sz="1500">
                <a:solidFill>
                  <a:srgbClr val="1F3864"/>
                </a:solidFill>
              </a:rPr>
              <a:t>il costo sarà di 3€ in più al mese e prevede Chiamate illimitate verso i fissi e mobili nazionali.</a:t>
            </a:r>
            <a:endParaRPr sz="1500">
              <a:solidFill>
                <a:srgbClr val="1F3864"/>
              </a:solidFill>
            </a:endParaRPr>
          </a:p>
          <a:p>
            <a:pPr marL="0" lvl="0" indent="0" algn="just" rtl="0">
              <a:lnSpc>
                <a:spcPct val="90000"/>
              </a:lnSpc>
              <a:spcBef>
                <a:spcPts val="1000"/>
              </a:spcBef>
              <a:spcAft>
                <a:spcPts val="0"/>
              </a:spcAft>
              <a:buClr>
                <a:srgbClr val="002060"/>
              </a:buClr>
              <a:buSzPts val="1400"/>
              <a:buNone/>
            </a:pPr>
            <a:r>
              <a:rPr lang="it-IT" sz="14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EP ONLINE CON SUPER FIBRA offerta tied con metodo di pagamento</a:t>
            </a:r>
            <a:endParaRPr sz="1400">
              <a:solidFill>
                <a:srgbClr val="002060"/>
              </a:solidFill>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ONLINE CON SUPER FIBRA offerta untied su credito residuo</a:t>
            </a:r>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6"/>
          <p:cNvSpPr txBox="1">
            <a:spLocks noGrp="1"/>
          </p:cNvSpPr>
          <p:nvPr>
            <p:ph type="title"/>
          </p:nvPr>
        </p:nvSpPr>
        <p:spPr>
          <a:xfrm>
            <a:off x="41096" y="-141519"/>
            <a:ext cx="12109807"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600"/>
              <a:buFont typeface="Calibri"/>
              <a:buNone/>
            </a:pPr>
            <a:r>
              <a:rPr lang="it-IT" sz="3600" b="1">
                <a:solidFill>
                  <a:srgbClr val="002060"/>
                </a:solidFill>
              </a:rPr>
              <a:t>SUPER FIBRA FTTH C&amp;D &amp; NETFLIX con pubblicità</a:t>
            </a:r>
            <a:endParaRPr/>
          </a:p>
        </p:txBody>
      </p:sp>
      <p:sp>
        <p:nvSpPr>
          <p:cNvPr id="107" name="Google Shape;107;p16"/>
          <p:cNvSpPr txBox="1">
            <a:spLocks noGrp="1"/>
          </p:cNvSpPr>
          <p:nvPr>
            <p:ph type="body" idx="2"/>
          </p:nvPr>
        </p:nvSpPr>
        <p:spPr>
          <a:xfrm>
            <a:off x="82192" y="398123"/>
            <a:ext cx="12109808" cy="6459877"/>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1500"/>
              <a:buNone/>
            </a:pPr>
            <a:r>
              <a:rPr lang="it-IT" sz="1500" b="1">
                <a:solidFill>
                  <a:srgbClr val="002060"/>
                </a:solidFill>
              </a:rPr>
              <a:t>SUPER FIBRA AREE BIANCHE &amp; NETFLIX con pubblicità  </a:t>
            </a:r>
            <a:r>
              <a:rPr lang="it-IT" sz="1500">
                <a:solidFill>
                  <a:srgbClr val="1F3864"/>
                </a:solidFill>
              </a:rPr>
              <a:t>prevede navigazione senza limiti fino a </a:t>
            </a:r>
            <a:r>
              <a:rPr lang="it-IT" sz="1500" b="1">
                <a:solidFill>
                  <a:srgbClr val="1F3864"/>
                </a:solidFill>
              </a:rPr>
              <a:t>1 Giga a </a:t>
            </a:r>
            <a:r>
              <a:rPr lang="it-IT" sz="1500">
                <a:solidFill>
                  <a:srgbClr val="1F3864"/>
                </a:solidFill>
              </a:rPr>
              <a:t>in 31,49€/mese con chiamate illimitate verso numeri fissi e mobili nazionali, modem WI FI 7 e assistenza inclusi. Le offerte si rinnovano ogni mese. Il servizio voce viene attivato sfruttando la tecnologia VoIP. Può condividere i Giga illimitati del fisso fino ad un massimo di </a:t>
            </a:r>
            <a:r>
              <a:rPr lang="it-IT" sz="1400">
                <a:solidFill>
                  <a:srgbClr val="1F3864"/>
                </a:solidFill>
              </a:rPr>
              <a:t>3 SIM compatibili. </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In più 12 mesi di Prime. </a:t>
            </a:r>
            <a:endParaRPr sz="1400" b="1">
              <a:solidFill>
                <a:schemeClr val="accent6"/>
              </a:solidFill>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Costo di attivazione di </a:t>
            </a:r>
            <a:r>
              <a:rPr lang="it-IT" sz="1400">
                <a:solidFill>
                  <a:srgbClr val="FF0000"/>
                </a:solidFill>
              </a:rPr>
              <a:t>1,99€ per 24 mesi</a:t>
            </a:r>
            <a:r>
              <a:rPr lang="it-IT" sz="1400">
                <a:solidFill>
                  <a:srgbClr val="1F3864"/>
                </a:solidFill>
              </a:rPr>
              <a:t>.</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 canone di 31,49 euro al mese è composto, per i primi 12 mesi, da 25,50 euro al mese di servizio e Prime e 5,99 euro al mese di modem, dal 13° mese, da 25,50 euro al mese di servizio e 5,99 euro al mese di modem, dal 48° mese, da 31,49 euro al mese di servizio. E' inoltre previsto un costo di 10€ per anticipo del Modem.</a:t>
            </a:r>
            <a:endParaRPr/>
          </a:p>
          <a:p>
            <a:pPr marL="0" lvl="0" indent="0" algn="just" rtl="0">
              <a:lnSpc>
                <a:spcPct val="90000"/>
              </a:lnSpc>
              <a:spcBef>
                <a:spcPts val="1000"/>
              </a:spcBef>
              <a:spcAft>
                <a:spcPts val="0"/>
              </a:spcAft>
              <a:buClr>
                <a:srgbClr val="002060"/>
              </a:buClr>
              <a:buSzPts val="1500"/>
              <a:buNone/>
            </a:pPr>
            <a:r>
              <a:rPr lang="it-IT" sz="1500">
                <a:solidFill>
                  <a:srgbClr val="002060"/>
                </a:solidFill>
              </a:rPr>
              <a:t>La informiamo che per l'offerta SUPER FIBRA IN AREE BIANCHE date le particolari condizioni urbanistiche e geografiche, cercheremo di riutilizzare eventuali strutture preesistenti per il cablaggio della fibra ma dove questo non sia possibile, potrebbe essere necessario realizzare interventi che comporterebbero l’allungamento dei tempi di attivazione oltre i 30 giorni. </a:t>
            </a:r>
            <a:endParaRPr/>
          </a:p>
          <a:p>
            <a:pPr marL="0" lvl="0" indent="0" algn="just" rtl="0">
              <a:lnSpc>
                <a:spcPct val="90000"/>
              </a:lnSpc>
              <a:spcBef>
                <a:spcPts val="1000"/>
              </a:spcBef>
              <a:spcAft>
                <a:spcPts val="0"/>
              </a:spcAft>
              <a:buClr>
                <a:schemeClr val="accent6"/>
              </a:buClr>
              <a:buSzPts val="1500"/>
              <a:buNone/>
            </a:pPr>
            <a:r>
              <a:rPr lang="it-IT" sz="1500" b="1">
                <a:solidFill>
                  <a:schemeClr val="accent6"/>
                </a:solidFill>
              </a:rPr>
              <a:t>Da leggere in caso di aggiunta opzione </a:t>
            </a:r>
            <a:r>
              <a:rPr lang="it-IT" sz="1600" b="1">
                <a:solidFill>
                  <a:schemeClr val="accent6"/>
                </a:solidFill>
              </a:rPr>
              <a:t>Più Sicuri Casa: </a:t>
            </a:r>
            <a:r>
              <a:rPr lang="it-IT" sz="1600" b="1">
                <a:solidFill>
                  <a:srgbClr val="1F3864"/>
                </a:solidFill>
              </a:rPr>
              <a:t>Più Sicuri Casa, </a:t>
            </a:r>
            <a:r>
              <a:rPr lang="it-IT" sz="1400">
                <a:solidFill>
                  <a:srgbClr val="1F3864"/>
                </a:solidFill>
              </a:rPr>
              <a:t>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a:p>
          <a:p>
            <a:pPr marL="0" lvl="0" indent="0" algn="l" rtl="0">
              <a:lnSpc>
                <a:spcPct val="90000"/>
              </a:lnSpc>
              <a:spcBef>
                <a:spcPts val="1000"/>
              </a:spcBef>
              <a:spcAft>
                <a:spcPts val="0"/>
              </a:spcAft>
              <a:buClr>
                <a:schemeClr val="accent6"/>
              </a:buClr>
              <a:buSzPts val="1400"/>
              <a:buNone/>
            </a:pPr>
            <a:r>
              <a:rPr lang="it-IT" sz="1400" b="1">
                <a:solidFill>
                  <a:schemeClr val="accent6"/>
                </a:solidFill>
              </a:rPr>
              <a:t>Da leggere in caso di aggiunta opzione Più Sicuri Mobile: </a:t>
            </a:r>
            <a:r>
              <a:rPr lang="it-IT" sz="1400" b="1">
                <a:solidFill>
                  <a:srgbClr val="1F3864"/>
                </a:solidFill>
              </a:rPr>
              <a:t>Più Sicuri Mobile</a:t>
            </a:r>
            <a:r>
              <a:rPr lang="it-IT" sz="1400">
                <a:solidFill>
                  <a:srgbClr val="1F3864"/>
                </a:solidFill>
              </a:rPr>
              <a:t>, a 0,99€/mese con il primo mese gratuito, addebitato su credito per un’esperienza di navigazione protetta su rete WINDTRE. Protezione attiva all’attivazione dell’opzione senza azioni del Cliente</a:t>
            </a:r>
            <a:endParaRPr/>
          </a:p>
          <a:p>
            <a:pPr marL="0" lvl="0" indent="0" algn="l" rtl="0">
              <a:lnSpc>
                <a:spcPct val="90000"/>
              </a:lnSpc>
              <a:spcBef>
                <a:spcPts val="1000"/>
              </a:spcBef>
              <a:spcAft>
                <a:spcPts val="0"/>
              </a:spcAft>
              <a:buClr>
                <a:schemeClr val="accent6"/>
              </a:buClr>
              <a:buSzPts val="1400"/>
              <a:buNone/>
            </a:pPr>
            <a:r>
              <a:rPr lang="it-IT" sz="1400" b="1">
                <a:solidFill>
                  <a:schemeClr val="accent6"/>
                </a:solidFill>
              </a:rPr>
              <a:t>Da leggere in caso di aggiunta opzione Più Sicuri Mobile PRO: </a:t>
            </a:r>
            <a:r>
              <a:rPr lang="it-IT" sz="1400" b="1">
                <a:solidFill>
                  <a:srgbClr val="1F3864"/>
                </a:solidFill>
              </a:rPr>
              <a:t>Più Sicuri Mobile PRO</a:t>
            </a:r>
            <a:r>
              <a:rPr lang="it-IT" sz="1400">
                <a:solidFill>
                  <a:srgbClr val="1F3864"/>
                </a:solidFill>
              </a:rPr>
              <a:t>, a soli 1.99€/mese con primo mese gratuito: Navigazione sicura su tutte le reti: WINDTRE, WiFi e Roaming. Acquisti online e transazioni finanziarie (Conto Corrente)  protette grazie alla VPN.</a:t>
            </a:r>
            <a:endParaRPr sz="1500">
              <a:solidFill>
                <a:srgbClr val="1F3864"/>
              </a:solidFill>
            </a:endParaRPr>
          </a:p>
          <a:p>
            <a:pPr marL="0" lvl="0" indent="0" algn="just" rtl="0">
              <a:lnSpc>
                <a:spcPct val="90000"/>
              </a:lnSpc>
              <a:spcBef>
                <a:spcPts val="1000"/>
              </a:spcBef>
              <a:spcAft>
                <a:spcPts val="0"/>
              </a:spcAft>
              <a:buClr>
                <a:srgbClr val="002060"/>
              </a:buClr>
              <a:buSzPts val="1400"/>
              <a:buNone/>
            </a:pPr>
            <a:r>
              <a:rPr lang="it-IT" sz="14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EP ONLINE CON SUPER FIBRA offerta tied con metodo di pagamento</a:t>
            </a:r>
            <a:endParaRPr sz="1400">
              <a:solidFill>
                <a:srgbClr val="002060"/>
              </a:solidFill>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ONLINE CON SUPER FIBRA offerta untied su credito residuo</a:t>
            </a:r>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7"/>
          <p:cNvSpPr txBox="1">
            <a:spLocks noGrp="1"/>
          </p:cNvSpPr>
          <p:nvPr>
            <p:ph type="title"/>
          </p:nvPr>
        </p:nvSpPr>
        <p:spPr>
          <a:xfrm>
            <a:off x="0" y="-83657"/>
            <a:ext cx="12507686" cy="711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2060"/>
              </a:buClr>
              <a:buSzPts val="3200"/>
              <a:buFont typeface="Calibri"/>
              <a:buNone/>
            </a:pPr>
            <a:r>
              <a:rPr lang="it-IT" sz="3200" b="1">
                <a:solidFill>
                  <a:srgbClr val="002060"/>
                </a:solidFill>
              </a:rPr>
              <a:t>SUPER INTERNET CASA FWA 5G OUTDOOR &amp; NETFLIX con pubblicità</a:t>
            </a:r>
            <a:endParaRPr/>
          </a:p>
        </p:txBody>
      </p:sp>
      <p:sp>
        <p:nvSpPr>
          <p:cNvPr id="114" name="Google Shape;114;p17"/>
          <p:cNvSpPr txBox="1">
            <a:spLocks noGrp="1"/>
          </p:cNvSpPr>
          <p:nvPr>
            <p:ph type="body" idx="2"/>
          </p:nvPr>
        </p:nvSpPr>
        <p:spPr>
          <a:xfrm>
            <a:off x="0" y="627543"/>
            <a:ext cx="12049125" cy="6116157"/>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1400"/>
              <a:buNone/>
            </a:pPr>
            <a:r>
              <a:rPr lang="it-IT" sz="1400" b="1">
                <a:solidFill>
                  <a:srgbClr val="002060"/>
                </a:solidFill>
              </a:rPr>
              <a:t>SUPER INTERNET CASA FWA 5G &amp; NETFLIX con pubblicità </a:t>
            </a:r>
            <a:r>
              <a:rPr lang="it-IT" sz="1400">
                <a:solidFill>
                  <a:srgbClr val="1F3864"/>
                </a:solidFill>
              </a:rPr>
              <a:t>prevede navigazione senza limiti fino a</a:t>
            </a:r>
            <a:r>
              <a:rPr lang="it-IT" sz="1400" b="1">
                <a:solidFill>
                  <a:srgbClr val="1F3864"/>
                </a:solidFill>
              </a:rPr>
              <a:t> 300 Mega a 31,49€/mese </a:t>
            </a:r>
            <a:r>
              <a:rPr lang="it-IT" sz="1400">
                <a:solidFill>
                  <a:srgbClr val="1F3864"/>
                </a:solidFill>
              </a:rPr>
              <a:t>con chiamate illimitate verso numeri fissi e mobili nazionali,  modem wi fi 7 e antenna e assistenza inclusi. Le offerte si rinnovano ogni mese. Il servizio voce viene attivato sfruttando la tecnologia VoIP. Può condividere i Giga illimitati del fisso fino ad un massimo di 3 SIM compatibili. </a:t>
            </a:r>
            <a:endParaRPr sz="1400" b="1">
              <a:solidFill>
                <a:srgbClr val="1F3864"/>
              </a:solidFill>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In più 12 mesi di Prime.</a:t>
            </a:r>
            <a:endParaRPr/>
          </a:p>
          <a:p>
            <a:pPr marL="0" lvl="0" indent="0" algn="just" rtl="0">
              <a:lnSpc>
                <a:spcPct val="90000"/>
              </a:lnSpc>
              <a:spcBef>
                <a:spcPts val="1000"/>
              </a:spcBef>
              <a:spcAft>
                <a:spcPts val="0"/>
              </a:spcAft>
              <a:buClr>
                <a:srgbClr val="FF0000"/>
              </a:buClr>
              <a:buSzPts val="1400"/>
              <a:buNone/>
            </a:pPr>
            <a:r>
              <a:rPr lang="it-IT" sz="1400" b="1">
                <a:solidFill>
                  <a:srgbClr val="FF0000"/>
                </a:solidFill>
              </a:rPr>
              <a:t>Costo di attivazione in promo a 0€ </a:t>
            </a:r>
            <a:r>
              <a:rPr lang="it-IT" sz="1400">
                <a:solidFill>
                  <a:srgbClr val="1F3864"/>
                </a:solidFill>
              </a:rPr>
              <a:t>invece che 1,99€ al mese per 24 mesi.</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Riepilogando, Il canone di 31,49 euro al mese è composto, per i primi 12 mesi, da 18,50 euro al mese di servizio e Prime e 3 euro di rata del modem e 9,99 euro dell’antenna, dal 13° mese, da 18,50 euro di servizio e 3 euro di rata del modem e 9,99 euro dell’antenna, poi dal 48° mese 31,49 euro di servizio. E' inoltre previsto un costo di 10€ per anticipo del Modem.</a:t>
            </a:r>
            <a:endParaRPr/>
          </a:p>
          <a:p>
            <a:pPr marL="0" lvl="0" indent="0" algn="just" rtl="0">
              <a:lnSpc>
                <a:spcPct val="90000"/>
              </a:lnSpc>
              <a:spcBef>
                <a:spcPts val="1000"/>
              </a:spcBef>
              <a:spcAft>
                <a:spcPts val="0"/>
              </a:spcAft>
              <a:buClr>
                <a:schemeClr val="dk1"/>
              </a:buClr>
              <a:buSzPts val="1400"/>
              <a:buNone/>
            </a:pPr>
            <a:endParaRPr sz="1400">
              <a:solidFill>
                <a:srgbClr val="1F3864"/>
              </a:solidFill>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Il servizio FWA outdoor prevede l’installazione da parte di un tecnico, sarà quindi </a:t>
            </a:r>
            <a:r>
              <a:rPr lang="it-IT" sz="1400" b="1" u="sng">
                <a:solidFill>
                  <a:srgbClr val="1F3864"/>
                </a:solidFill>
              </a:rPr>
              <a:t>contattato per prendere un appuntamento per l’installazione</a:t>
            </a:r>
            <a:r>
              <a:rPr lang="it-IT" sz="1400">
                <a:solidFill>
                  <a:srgbClr val="1F3864"/>
                </a:solidFill>
              </a:rPr>
              <a:t>.</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Il servizio prevede un’antenna installata all’esterno dell’abitazione nella posizione di migliore copertura mobile ed un modem interno, il cui collegamento avverrà tramite cavo ethernet. Nel corso dell’appuntamento si capirà se c’è esigenza di servizi extra (es installare l’antenna sul tetto invece che sul balcone, o se si è in presenza di cappotto termico) e se gestibile la richiesta.</a:t>
            </a:r>
            <a:endParaRPr sz="1400">
              <a:solidFill>
                <a:srgbClr val="1F3864"/>
              </a:solidFill>
            </a:endParaRPr>
          </a:p>
          <a:p>
            <a:pPr marL="0" lvl="0" indent="0" algn="l" rtl="0">
              <a:lnSpc>
                <a:spcPct val="90000"/>
              </a:lnSpc>
              <a:spcBef>
                <a:spcPts val="1000"/>
              </a:spcBef>
              <a:spcAft>
                <a:spcPts val="0"/>
              </a:spcAft>
              <a:buClr>
                <a:schemeClr val="accent6"/>
              </a:buClr>
              <a:buSzPts val="1500"/>
              <a:buNone/>
            </a:pPr>
            <a:r>
              <a:rPr lang="it-IT" sz="1500" b="1">
                <a:solidFill>
                  <a:schemeClr val="accent6"/>
                </a:solidFill>
              </a:rPr>
              <a:t>Da leggere in caso di aggiunta opzione </a:t>
            </a:r>
            <a:r>
              <a:rPr lang="it-IT" sz="1600" b="1">
                <a:solidFill>
                  <a:schemeClr val="accent6"/>
                </a:solidFill>
              </a:rPr>
              <a:t>Più Sicuri Casa: </a:t>
            </a:r>
            <a:r>
              <a:rPr lang="it-IT" sz="1600" b="1">
                <a:solidFill>
                  <a:srgbClr val="1F3864"/>
                </a:solidFill>
              </a:rPr>
              <a:t>Più Sicuri Casa, </a:t>
            </a:r>
            <a:r>
              <a:rPr lang="it-IT" sz="1400">
                <a:solidFill>
                  <a:srgbClr val="1F3864"/>
                </a:solidFill>
              </a:rPr>
              <a:t>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a:p>
          <a:p>
            <a:pPr marL="0" lvl="0" indent="0" algn="just" rtl="0">
              <a:lnSpc>
                <a:spcPct val="90000"/>
              </a:lnSpc>
              <a:spcBef>
                <a:spcPts val="1000"/>
              </a:spcBef>
              <a:spcAft>
                <a:spcPts val="0"/>
              </a:spcAft>
              <a:buClr>
                <a:srgbClr val="002060"/>
              </a:buClr>
              <a:buSzPts val="1400"/>
              <a:buNone/>
            </a:pPr>
            <a:r>
              <a:rPr lang="it-IT" sz="14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EP ONLINE CON SUPER FIBRA offerta tied con metodo di pagamento</a:t>
            </a:r>
            <a:endParaRPr sz="1400">
              <a:solidFill>
                <a:srgbClr val="002060"/>
              </a:solidFill>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ONLINE CON SUPER FIBRA offerta untied su credito residuo</a:t>
            </a:r>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8"/>
          <p:cNvSpPr txBox="1">
            <a:spLocks noGrp="1"/>
          </p:cNvSpPr>
          <p:nvPr>
            <p:ph type="title"/>
          </p:nvPr>
        </p:nvSpPr>
        <p:spPr>
          <a:xfrm>
            <a:off x="0" y="-83657"/>
            <a:ext cx="12507686" cy="711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2060"/>
              </a:buClr>
              <a:buSzPts val="3200"/>
              <a:buFont typeface="Calibri"/>
              <a:buNone/>
            </a:pPr>
            <a:r>
              <a:rPr lang="it-IT" sz="3200" b="1">
                <a:solidFill>
                  <a:srgbClr val="002060"/>
                </a:solidFill>
              </a:rPr>
              <a:t>SUPER INTERNET CASA FWA 5G INDOOR &amp; NETFLIX con pubblicità</a:t>
            </a:r>
            <a:endParaRPr/>
          </a:p>
        </p:txBody>
      </p:sp>
      <p:sp>
        <p:nvSpPr>
          <p:cNvPr id="121" name="Google Shape;121;p18"/>
          <p:cNvSpPr txBox="1">
            <a:spLocks noGrp="1"/>
          </p:cNvSpPr>
          <p:nvPr>
            <p:ph type="body" idx="2"/>
          </p:nvPr>
        </p:nvSpPr>
        <p:spPr>
          <a:xfrm>
            <a:off x="0" y="627543"/>
            <a:ext cx="12049125" cy="6116157"/>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1400"/>
              <a:buNone/>
            </a:pPr>
            <a:r>
              <a:rPr lang="it-IT" sz="1400" b="1">
                <a:solidFill>
                  <a:srgbClr val="002060"/>
                </a:solidFill>
              </a:rPr>
              <a:t>SUPER INTERNET CASA FWA 5G Indoor &amp; NETFLIX con pubblicità </a:t>
            </a:r>
            <a:r>
              <a:rPr lang="it-IT" sz="1400">
                <a:solidFill>
                  <a:srgbClr val="1F3864"/>
                </a:solidFill>
              </a:rPr>
              <a:t>prevede navigazione senza limiti fino a</a:t>
            </a:r>
            <a:r>
              <a:rPr lang="it-IT" sz="1400" b="1">
                <a:solidFill>
                  <a:srgbClr val="1F3864"/>
                </a:solidFill>
              </a:rPr>
              <a:t> 300 Mega a 31,49€/mese </a:t>
            </a:r>
            <a:r>
              <a:rPr lang="it-IT" sz="1400">
                <a:solidFill>
                  <a:srgbClr val="1F3864"/>
                </a:solidFill>
              </a:rPr>
              <a:t>con chiamate illimitate verso numeri fissi e mobili nazionali,  modem wi fi 7 e assistenza inclusi. Le offerte si rinnovano ogni mese. Il servizio voce viene attivato sfruttando la tecnologia VoIP. Può condividere i Giga illimitati del fisso fino ad un massimo di 3 SIM compatibili. </a:t>
            </a:r>
            <a:endParaRPr sz="1400" b="1">
              <a:solidFill>
                <a:srgbClr val="1F3864"/>
              </a:solidFill>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In più 12 mesi di Prime.</a:t>
            </a:r>
            <a:endParaRPr/>
          </a:p>
          <a:p>
            <a:pPr marL="0" lvl="0" indent="0" algn="just" rtl="0">
              <a:lnSpc>
                <a:spcPct val="90000"/>
              </a:lnSpc>
              <a:spcBef>
                <a:spcPts val="1000"/>
              </a:spcBef>
              <a:spcAft>
                <a:spcPts val="0"/>
              </a:spcAft>
              <a:buClr>
                <a:srgbClr val="FF0000"/>
              </a:buClr>
              <a:buSzPts val="1400"/>
              <a:buNone/>
            </a:pPr>
            <a:r>
              <a:rPr lang="it-IT" sz="1400" b="1">
                <a:solidFill>
                  <a:srgbClr val="FF0000"/>
                </a:solidFill>
              </a:rPr>
              <a:t>Costo di attivazione in promo a 0€ </a:t>
            </a:r>
            <a:r>
              <a:rPr lang="it-IT" sz="1400">
                <a:solidFill>
                  <a:srgbClr val="1F3864"/>
                </a:solidFill>
              </a:rPr>
              <a:t>invece che 1,99€ al mese per 24 mesi.</a:t>
            </a:r>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Riepilogando, Il canone di 31,49 euro al mese è composto, per i primi 12 mesi, da 25,50 euro al mese di servizio e Prime e 5,99  euro di rata del modem, dal 13° mese, da 25,50 euro di servizio e 5,99 euro di rata del modem, poi dal 48° mese 31,49 euro di servizio. E' inoltre previsto un costo di 10€ per anticipo del Modem.</a:t>
            </a:r>
            <a:endParaRPr/>
          </a:p>
          <a:p>
            <a:pPr marL="0" lvl="0" indent="0" algn="just" rtl="0">
              <a:lnSpc>
                <a:spcPct val="90000"/>
              </a:lnSpc>
              <a:spcBef>
                <a:spcPts val="1000"/>
              </a:spcBef>
              <a:spcAft>
                <a:spcPts val="0"/>
              </a:spcAft>
              <a:buClr>
                <a:schemeClr val="dk1"/>
              </a:buClr>
              <a:buSzPts val="1400"/>
              <a:buNone/>
            </a:pPr>
            <a:endParaRPr sz="1400">
              <a:solidFill>
                <a:srgbClr val="1F3864"/>
              </a:solidFill>
            </a:endParaRPr>
          </a:p>
          <a:p>
            <a:pPr marL="0" lvl="0" indent="0" algn="just" rtl="0">
              <a:lnSpc>
                <a:spcPct val="90000"/>
              </a:lnSpc>
              <a:spcBef>
                <a:spcPts val="1000"/>
              </a:spcBef>
              <a:spcAft>
                <a:spcPts val="0"/>
              </a:spcAft>
              <a:buClr>
                <a:srgbClr val="1F3864"/>
              </a:buClr>
              <a:buSzPts val="1400"/>
              <a:buNone/>
            </a:pPr>
            <a:r>
              <a:rPr lang="it-IT" sz="1400">
                <a:solidFill>
                  <a:srgbClr val="1F3864"/>
                </a:solidFill>
              </a:rPr>
              <a:t>Il servizio FWA outdoor prevede l’installazione di un modem da parte di un tecnico, sarà quindi </a:t>
            </a:r>
            <a:r>
              <a:rPr lang="it-IT" sz="1400" b="1" u="sng">
                <a:solidFill>
                  <a:srgbClr val="1F3864"/>
                </a:solidFill>
              </a:rPr>
              <a:t>contattato per prendere un appuntamento per l’installazione</a:t>
            </a:r>
            <a:r>
              <a:rPr lang="it-IT" sz="1400">
                <a:solidFill>
                  <a:srgbClr val="1F3864"/>
                </a:solidFill>
              </a:rPr>
              <a:t>.</a:t>
            </a:r>
            <a:endParaRPr/>
          </a:p>
          <a:p>
            <a:pPr marL="0" lvl="0" indent="0" algn="l" rtl="0">
              <a:lnSpc>
                <a:spcPct val="90000"/>
              </a:lnSpc>
              <a:spcBef>
                <a:spcPts val="1000"/>
              </a:spcBef>
              <a:spcAft>
                <a:spcPts val="0"/>
              </a:spcAft>
              <a:buClr>
                <a:schemeClr val="accent6"/>
              </a:buClr>
              <a:buSzPts val="1500"/>
              <a:buNone/>
            </a:pPr>
            <a:r>
              <a:rPr lang="it-IT" sz="1500" b="1">
                <a:solidFill>
                  <a:schemeClr val="accent6"/>
                </a:solidFill>
              </a:rPr>
              <a:t>Da leggere in caso di aggiunta opzione </a:t>
            </a:r>
            <a:r>
              <a:rPr lang="it-IT" sz="1600" b="1">
                <a:solidFill>
                  <a:schemeClr val="accent6"/>
                </a:solidFill>
              </a:rPr>
              <a:t>Più Sicuri Casa: </a:t>
            </a:r>
            <a:r>
              <a:rPr lang="it-IT" sz="1600" b="1">
                <a:solidFill>
                  <a:srgbClr val="1F3864"/>
                </a:solidFill>
              </a:rPr>
              <a:t>Più Sicuri Casa, </a:t>
            </a:r>
            <a:r>
              <a:rPr lang="it-IT" sz="1400">
                <a:solidFill>
                  <a:srgbClr val="1F3864"/>
                </a:solidFill>
              </a:rPr>
              <a:t>a soli 1,99€ in più al mese e il primo mese gratuito, le</a:t>
            </a:r>
            <a:r>
              <a:rPr lang="it-IT" sz="1400">
                <a:solidFill>
                  <a:srgbClr val="1F3864"/>
                </a:solidFill>
                <a:latin typeface="Calibri"/>
                <a:ea typeface="Calibri"/>
                <a:cs typeface="Calibri"/>
                <a:sym typeface="Calibri"/>
              </a:rPr>
              <a:t> permette di proteggere la rete di casa e tutti i dispostivi ad essa connessi</a:t>
            </a:r>
            <a:r>
              <a:rPr lang="it-IT" sz="1400">
                <a:solidFill>
                  <a:srgbClr val="1F3864"/>
                </a:solidFill>
              </a:rPr>
              <a:t>. </a:t>
            </a:r>
            <a:endParaRPr/>
          </a:p>
          <a:p>
            <a:pPr marL="0" lvl="0" indent="0" algn="just" rtl="0">
              <a:lnSpc>
                <a:spcPct val="90000"/>
              </a:lnSpc>
              <a:spcBef>
                <a:spcPts val="1000"/>
              </a:spcBef>
              <a:spcAft>
                <a:spcPts val="0"/>
              </a:spcAft>
              <a:buClr>
                <a:srgbClr val="002060"/>
              </a:buClr>
              <a:buSzPts val="1400"/>
              <a:buNone/>
            </a:pPr>
            <a:r>
              <a:rPr lang="it-IT" sz="14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EP ONLINE CON SUPER FIBRA offerta tied con metodo di pagamento</a:t>
            </a:r>
            <a:endParaRPr sz="1400">
              <a:solidFill>
                <a:srgbClr val="002060"/>
              </a:solidFill>
            </a:endParaRPr>
          </a:p>
          <a:p>
            <a:pPr marL="228600" lvl="0" indent="-228600" algn="just" rtl="0">
              <a:lnSpc>
                <a:spcPct val="90000"/>
              </a:lnSpc>
              <a:spcBef>
                <a:spcPts val="1000"/>
              </a:spcBef>
              <a:spcAft>
                <a:spcPts val="0"/>
              </a:spcAft>
              <a:buClr>
                <a:srgbClr val="002060"/>
              </a:buClr>
              <a:buSzPts val="1400"/>
              <a:buChar char="•"/>
            </a:pPr>
            <a:r>
              <a:rPr lang="it-IT" sz="1400" b="1">
                <a:solidFill>
                  <a:srgbClr val="002060"/>
                </a:solidFill>
              </a:rPr>
              <a:t>UNLIMITED 5G ONLINE CON SUPER FIBRA offerta untied su credito residuo</a:t>
            </a:r>
            <a:endParaRPr/>
          </a:p>
          <a:p>
            <a:pPr marL="0" lvl="0" indent="0" algn="l" rtl="0">
              <a:lnSpc>
                <a:spcPct val="90000"/>
              </a:lnSpc>
              <a:spcBef>
                <a:spcPts val="1000"/>
              </a:spcBef>
              <a:spcAft>
                <a:spcPts val="0"/>
              </a:spcAft>
              <a:buClr>
                <a:schemeClr val="dk1"/>
              </a:buClr>
              <a:buSzPts val="1400"/>
              <a:buNone/>
            </a:pPr>
            <a:endParaRPr sz="1400">
              <a:solidFill>
                <a:srgbClr val="00206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1"/>
          <p:cNvSpPr txBox="1">
            <a:spLocks noGrp="1"/>
          </p:cNvSpPr>
          <p:nvPr>
            <p:ph type="title"/>
          </p:nvPr>
        </p:nvSpPr>
        <p:spPr>
          <a:xfrm>
            <a:off x="0" y="-4743"/>
            <a:ext cx="12192000" cy="711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2060"/>
              </a:buClr>
              <a:buSzPts val="3200"/>
              <a:buFont typeface="Calibri"/>
              <a:buNone/>
            </a:pPr>
            <a:r>
              <a:rPr lang="it-IT" sz="3200" b="1">
                <a:solidFill>
                  <a:srgbClr val="002060"/>
                </a:solidFill>
              </a:rPr>
              <a:t>SUPERFIBRA - ENERGIA &amp; NETFLIX con pubblicità ( FTTH OF- FTTH EXTRA- FTTH AREE BIANCHE- FTTC- FWA INDOOR)</a:t>
            </a:r>
            <a:endParaRPr sz="3200" b="1">
              <a:solidFill>
                <a:srgbClr val="FF0000"/>
              </a:solidFill>
            </a:endParaRPr>
          </a:p>
        </p:txBody>
      </p:sp>
      <p:sp>
        <p:nvSpPr>
          <p:cNvPr id="141" name="Google Shape;141;p21"/>
          <p:cNvSpPr txBox="1">
            <a:spLocks noGrp="1"/>
          </p:cNvSpPr>
          <p:nvPr>
            <p:ph type="body" idx="2"/>
          </p:nvPr>
        </p:nvSpPr>
        <p:spPr>
          <a:xfrm>
            <a:off x="82193" y="747673"/>
            <a:ext cx="12010490" cy="583832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1600"/>
              <a:buNone/>
            </a:pPr>
            <a:r>
              <a:rPr lang="it-IT" sz="1600" b="1">
                <a:solidFill>
                  <a:srgbClr val="002060"/>
                </a:solidFill>
              </a:rPr>
              <a:t>SUPER FIBRA – ENERGIA &amp; NETFLIX con pubblicità : </a:t>
            </a:r>
            <a:r>
              <a:rPr lang="it-IT" sz="1600">
                <a:solidFill>
                  <a:srgbClr val="002060"/>
                </a:solidFill>
              </a:rPr>
              <a:t>l’offerta è riservata ai nuovi clienti fissi che sottoscrivono contemporaneamente un’offerta fibra FTTH su rete Open Fiber, una offerta mobile e un’ offerta nuova o preesistente Luce&amp;Gas. L’offerta  prevede navigazione senza limiti fino a </a:t>
            </a:r>
            <a:r>
              <a:rPr lang="it-IT" sz="1600" b="1">
                <a:solidFill>
                  <a:srgbClr val="002060"/>
                </a:solidFill>
              </a:rPr>
              <a:t>2,5 Gigabit</a:t>
            </a:r>
            <a:r>
              <a:rPr lang="it-IT" sz="1600">
                <a:solidFill>
                  <a:srgbClr val="002060"/>
                </a:solidFill>
              </a:rPr>
              <a:t> a </a:t>
            </a:r>
            <a:r>
              <a:rPr lang="it-IT" sz="1600" b="1">
                <a:solidFill>
                  <a:srgbClr val="002060"/>
                </a:solidFill>
              </a:rPr>
              <a:t>26,49€/mese per 24 mesi e poi a 30,49€/mese </a:t>
            </a:r>
            <a:r>
              <a:rPr lang="it-IT" sz="1600">
                <a:solidFill>
                  <a:srgbClr val="002060"/>
                </a:solidFill>
              </a:rPr>
              <a:t>con </a:t>
            </a:r>
            <a:r>
              <a:rPr lang="it-IT" sz="1600">
                <a:solidFill>
                  <a:srgbClr val="1E4E79"/>
                </a:solidFill>
              </a:rPr>
              <a:t>chiamate a 0 cent./minuto e scatto alla risposta di 23 centesimi verso numeri fissi e mobili nazionali</a:t>
            </a:r>
            <a:r>
              <a:rPr lang="it-IT" sz="1600">
                <a:solidFill>
                  <a:srgbClr val="002060"/>
                </a:solidFill>
              </a:rPr>
              <a:t>, modem Wi Fi 7 e assistenza inclusi. Le offerte si rinnovano ogni mese. Il servizio voce viene attivato sfruttando la tecnologia VoIP. Può condividere i Giga illimitati del fisso fino ad un massimo di 3 SIM compatibili</a:t>
            </a:r>
            <a:endParaRPr/>
          </a:p>
          <a:p>
            <a:pPr marL="0" lvl="0" indent="0" algn="just" rtl="0">
              <a:lnSpc>
                <a:spcPct val="90000"/>
              </a:lnSpc>
              <a:spcBef>
                <a:spcPts val="1000"/>
              </a:spcBef>
              <a:spcAft>
                <a:spcPts val="0"/>
              </a:spcAft>
              <a:buClr>
                <a:srgbClr val="002060"/>
              </a:buClr>
              <a:buSzPts val="1600"/>
              <a:buNone/>
            </a:pPr>
            <a:r>
              <a:rPr lang="it-IT" sz="1600">
                <a:solidFill>
                  <a:srgbClr val="002060"/>
                </a:solidFill>
              </a:rPr>
              <a:t>In più 12 mesi di Prime </a:t>
            </a:r>
            <a:endParaRPr/>
          </a:p>
          <a:p>
            <a:pPr marL="0" lvl="0" indent="0" algn="just" rtl="0">
              <a:lnSpc>
                <a:spcPct val="90000"/>
              </a:lnSpc>
              <a:spcBef>
                <a:spcPts val="1000"/>
              </a:spcBef>
              <a:spcAft>
                <a:spcPts val="0"/>
              </a:spcAft>
              <a:buClr>
                <a:srgbClr val="002060"/>
              </a:buClr>
              <a:buSzPts val="1600"/>
              <a:buNone/>
            </a:pPr>
            <a:r>
              <a:rPr lang="it-IT" sz="1600">
                <a:solidFill>
                  <a:srgbClr val="002060"/>
                </a:solidFill>
              </a:rPr>
              <a:t>Costo di attivazione di </a:t>
            </a:r>
            <a:r>
              <a:rPr lang="it-IT" sz="1800">
                <a:solidFill>
                  <a:srgbClr val="002060"/>
                </a:solidFill>
              </a:rPr>
              <a:t>1,99€ per 24 mesi</a:t>
            </a:r>
            <a:r>
              <a:rPr lang="it-IT" sz="1600">
                <a:solidFill>
                  <a:srgbClr val="002060"/>
                </a:solidFill>
              </a:rPr>
              <a:t>. </a:t>
            </a:r>
            <a:r>
              <a:rPr lang="it-IT" sz="1600" b="1">
                <a:solidFill>
                  <a:srgbClr val="FF0000"/>
                </a:solidFill>
              </a:rPr>
              <a:t>Per FWA INDOOR : Costo di attivazione in promo a 0€ </a:t>
            </a:r>
            <a:r>
              <a:rPr lang="it-IT" sz="1600">
                <a:solidFill>
                  <a:srgbClr val="1F3864"/>
                </a:solidFill>
              </a:rPr>
              <a:t>invece che 1,99€ al mese per 24 mesi.</a:t>
            </a:r>
            <a:endParaRPr/>
          </a:p>
          <a:p>
            <a:pPr marL="0" lvl="0" indent="0" algn="just" rtl="0">
              <a:lnSpc>
                <a:spcPct val="90000"/>
              </a:lnSpc>
              <a:spcBef>
                <a:spcPts val="1000"/>
              </a:spcBef>
              <a:spcAft>
                <a:spcPts val="0"/>
              </a:spcAft>
              <a:buClr>
                <a:schemeClr val="dk1"/>
              </a:buClr>
              <a:buSzPts val="1600"/>
              <a:buNone/>
            </a:pPr>
            <a:endParaRPr sz="1600">
              <a:solidFill>
                <a:srgbClr val="002060"/>
              </a:solidFill>
            </a:endParaRPr>
          </a:p>
          <a:p>
            <a:pPr marL="0" lvl="0" indent="0" algn="just" rtl="0">
              <a:lnSpc>
                <a:spcPct val="90000"/>
              </a:lnSpc>
              <a:spcBef>
                <a:spcPts val="1000"/>
              </a:spcBef>
              <a:spcAft>
                <a:spcPts val="0"/>
              </a:spcAft>
              <a:buClr>
                <a:srgbClr val="002060"/>
              </a:buClr>
              <a:buSzPts val="1600"/>
              <a:buNone/>
            </a:pPr>
            <a:r>
              <a:rPr lang="it-IT" sz="1600">
                <a:solidFill>
                  <a:srgbClr val="002060"/>
                </a:solidFill>
              </a:rPr>
              <a:t>Il canone di 26,49 euro al mese è composto, per i primi 24 mesi, da 20,50 euro/mese di servizio e Prime, 5,99 euro di rata del modem. Dal 25° mese il canone è di 30,49 euro/mese ed è composto da 24,50 euro/mese di servizio, 5,99 euro/mese di rata del modem, poi dal 48° mese 26,49 euro di servizio. </a:t>
            </a:r>
            <a:r>
              <a:rPr lang="it-IT" sz="1600">
                <a:solidFill>
                  <a:srgbClr val="1F3864"/>
                </a:solidFill>
              </a:rPr>
              <a:t>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002060"/>
              </a:solidFill>
            </a:endParaRPr>
          </a:p>
          <a:p>
            <a:pPr marL="0" lvl="0" indent="0" algn="just" rtl="0">
              <a:lnSpc>
                <a:spcPct val="90000"/>
              </a:lnSpc>
              <a:spcBef>
                <a:spcPts val="1000"/>
              </a:spcBef>
              <a:spcAft>
                <a:spcPts val="0"/>
              </a:spcAft>
              <a:buClr>
                <a:schemeClr val="dk1"/>
              </a:buClr>
              <a:buSzPts val="1600"/>
              <a:buNone/>
            </a:pPr>
            <a:endParaRPr sz="1600">
              <a:solidFill>
                <a:srgbClr val="002060"/>
              </a:solidFill>
            </a:endParaRPr>
          </a:p>
          <a:p>
            <a:pPr marL="0" lvl="0" indent="0" algn="just" rtl="0">
              <a:lnSpc>
                <a:spcPct val="90000"/>
              </a:lnSpc>
              <a:spcBef>
                <a:spcPts val="1000"/>
              </a:spcBef>
              <a:spcAft>
                <a:spcPts val="0"/>
              </a:spcAft>
              <a:buClr>
                <a:srgbClr val="002060"/>
              </a:buClr>
              <a:buSzPts val="1600"/>
              <a:buNone/>
            </a:pPr>
            <a:r>
              <a:rPr lang="it-IT" sz="1600">
                <a:solidFill>
                  <a:srgbClr val="002060"/>
                </a:solidFill>
              </a:rPr>
              <a:t>Prezzo bloccato del fisso per 24 mesi, finché restano attive la SIM Mobile e il servizio WINDTRE LUCE&amp;GAS sotto la stessa anagrafica.</a:t>
            </a:r>
            <a:endParaRPr/>
          </a:p>
          <a:p>
            <a:pPr marL="0" lvl="0" indent="0" algn="just" rtl="0">
              <a:lnSpc>
                <a:spcPct val="90000"/>
              </a:lnSpc>
              <a:spcBef>
                <a:spcPts val="1000"/>
              </a:spcBef>
              <a:spcAft>
                <a:spcPts val="0"/>
              </a:spcAft>
              <a:buClr>
                <a:schemeClr val="dk1"/>
              </a:buClr>
              <a:buSzPts val="1600"/>
              <a:buNone/>
            </a:pPr>
            <a:endParaRPr sz="1600">
              <a:solidFill>
                <a:srgbClr val="002060"/>
              </a:solidFill>
            </a:endParaRPr>
          </a:p>
          <a:p>
            <a:pPr marL="0" lvl="0" indent="0" algn="just" rtl="0">
              <a:lnSpc>
                <a:spcPct val="90000"/>
              </a:lnSpc>
              <a:spcBef>
                <a:spcPts val="1000"/>
              </a:spcBef>
              <a:spcAft>
                <a:spcPts val="0"/>
              </a:spcAft>
              <a:buClr>
                <a:srgbClr val="002060"/>
              </a:buClr>
              <a:buSzPts val="1600"/>
              <a:buNone/>
            </a:pPr>
            <a:r>
              <a:rPr lang="it-IT" sz="16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0000"/>
              </a:buClr>
              <a:buSzPts val="1600"/>
              <a:buChar char="•"/>
            </a:pPr>
            <a:r>
              <a:rPr lang="it-IT" sz="1600" b="1">
                <a:solidFill>
                  <a:srgbClr val="000000"/>
                </a:solidFill>
                <a:latin typeface="Calibri"/>
                <a:ea typeface="Calibri"/>
                <a:cs typeface="Calibri"/>
                <a:sym typeface="Calibri"/>
              </a:rPr>
              <a:t>Multiservice 5G EP - Energia con Super Fibra</a:t>
            </a:r>
            <a:r>
              <a:rPr lang="it-IT" sz="1400">
                <a:solidFill>
                  <a:srgbClr val="1F3864"/>
                </a:solidFill>
              </a:rPr>
              <a:t>, </a:t>
            </a:r>
            <a:r>
              <a:rPr lang="it-IT" sz="1600" b="1">
                <a:solidFill>
                  <a:srgbClr val="002060"/>
                </a:solidFill>
              </a:rPr>
              <a:t>offerta tied con metodo di pagamento</a:t>
            </a:r>
            <a:endParaRPr sz="1600">
              <a:solidFill>
                <a:srgbClr val="002060"/>
              </a:solidFill>
            </a:endParaRPr>
          </a:p>
          <a:p>
            <a:pPr marL="228600" lvl="0" indent="-228600" algn="just" rtl="0">
              <a:lnSpc>
                <a:spcPct val="90000"/>
              </a:lnSpc>
              <a:spcBef>
                <a:spcPts val="1000"/>
              </a:spcBef>
              <a:spcAft>
                <a:spcPts val="0"/>
              </a:spcAft>
              <a:buClr>
                <a:srgbClr val="000000"/>
              </a:buClr>
              <a:buSzPts val="1600"/>
              <a:buChar char="•"/>
            </a:pPr>
            <a:r>
              <a:rPr lang="it-IT" sz="1600" b="1">
                <a:solidFill>
                  <a:srgbClr val="000000"/>
                </a:solidFill>
                <a:latin typeface="Calibri"/>
                <a:ea typeface="Calibri"/>
                <a:cs typeface="Calibri"/>
                <a:sym typeface="Calibri"/>
              </a:rPr>
              <a:t>Multiservice 5G  - Energia con Super Fibra </a:t>
            </a:r>
            <a:r>
              <a:rPr lang="it-IT" sz="1600" b="1">
                <a:solidFill>
                  <a:srgbClr val="002060"/>
                </a:solidFill>
              </a:rPr>
              <a:t>offerta untied su credito residuo</a:t>
            </a:r>
            <a:endParaRPr/>
          </a:p>
          <a:p>
            <a:pPr marL="0" lvl="0" indent="0" algn="just" rtl="0">
              <a:lnSpc>
                <a:spcPct val="90000"/>
              </a:lnSpc>
              <a:spcBef>
                <a:spcPts val="1000"/>
              </a:spcBef>
              <a:spcAft>
                <a:spcPts val="0"/>
              </a:spcAft>
              <a:buClr>
                <a:schemeClr val="dk1"/>
              </a:buClr>
              <a:buSzPts val="1600"/>
              <a:buNone/>
            </a:pPr>
            <a:endParaRPr sz="1600">
              <a:solidFill>
                <a:srgbClr val="002060"/>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in caso di aggiunta opzione Più Sicuri Casa: </a:t>
            </a:r>
            <a:r>
              <a:rPr lang="it-IT" sz="1600" b="1" u="sng">
                <a:solidFill>
                  <a:schemeClr val="hlink"/>
                </a:solidFill>
                <a:hlinkClick r:id="rId3" action="ppaction://hlinksldjump"/>
              </a:rPr>
              <a:t>CLICCA QUI</a:t>
            </a:r>
            <a:endParaRPr sz="1600">
              <a:solidFill>
                <a:srgbClr val="1F3864"/>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in caso di aggiunta opzione Più Sicuri Mobile: </a:t>
            </a:r>
            <a:r>
              <a:rPr lang="it-IT" sz="1600" b="1" u="sng">
                <a:solidFill>
                  <a:schemeClr val="hlink"/>
                </a:solidFill>
                <a:hlinkClick r:id="rId3" action="ppaction://hlinksldjump"/>
              </a:rPr>
              <a:t>CLICCA QUI</a:t>
            </a:r>
            <a:endParaRPr sz="1600">
              <a:solidFill>
                <a:srgbClr val="1F3864"/>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in caso di aggiunta opzione Più Sicuri Mobile PRO: </a:t>
            </a:r>
            <a:r>
              <a:rPr lang="it-IT" sz="1600" b="1" u="sng">
                <a:solidFill>
                  <a:schemeClr val="hlink"/>
                </a:solidFill>
                <a:hlinkClick r:id="rId3" action="ppaction://hlinksldjump"/>
              </a:rPr>
              <a:t>CLICCA QUI</a:t>
            </a:r>
            <a:endParaRPr sz="1600" b="1">
              <a:solidFill>
                <a:srgbClr val="1F3864"/>
              </a:solidFill>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dk1"/>
              </a:buClr>
              <a:buSzPts val="1400"/>
              <a:buNone/>
            </a:pPr>
            <a:endParaRPr sz="140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txBox="1">
            <a:spLocks noGrp="1"/>
          </p:cNvSpPr>
          <p:nvPr>
            <p:ph type="title"/>
          </p:nvPr>
        </p:nvSpPr>
        <p:spPr>
          <a:xfrm>
            <a:off x="190928" y="97604"/>
            <a:ext cx="12001072" cy="711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2060"/>
              </a:buClr>
              <a:buSzPts val="2400"/>
              <a:buFont typeface="Calibri"/>
              <a:buNone/>
            </a:pPr>
            <a:r>
              <a:rPr lang="it-IT" sz="2400" b="1">
                <a:solidFill>
                  <a:srgbClr val="002060"/>
                </a:solidFill>
              </a:rPr>
              <a:t>SUPER INTERNET CASA 5G FWA Outdoor- ENERGIA &amp; NETFLIX con pubblicità</a:t>
            </a:r>
            <a:endParaRPr/>
          </a:p>
        </p:txBody>
      </p:sp>
      <p:sp>
        <p:nvSpPr>
          <p:cNvPr id="147" name="Google Shape;147;p22"/>
          <p:cNvSpPr txBox="1">
            <a:spLocks noGrp="1"/>
          </p:cNvSpPr>
          <p:nvPr>
            <p:ph type="body" idx="2"/>
          </p:nvPr>
        </p:nvSpPr>
        <p:spPr>
          <a:xfrm>
            <a:off x="190928" y="700649"/>
            <a:ext cx="11655176" cy="6059747"/>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600"/>
              <a:buNone/>
            </a:pPr>
            <a:r>
              <a:rPr lang="it-IT" sz="1600" b="1">
                <a:solidFill>
                  <a:srgbClr val="1F3864"/>
                </a:solidFill>
              </a:rPr>
              <a:t>Super Internet Casa 5G FWA OUTDOOR - Energia</a:t>
            </a:r>
            <a:r>
              <a:rPr lang="it-IT" sz="1600" b="1">
                <a:solidFill>
                  <a:srgbClr val="002060"/>
                </a:solidFill>
              </a:rPr>
              <a:t> &amp; NETFLIX con pubblicità </a:t>
            </a:r>
            <a:r>
              <a:rPr lang="it-IT" sz="1600" b="1">
                <a:solidFill>
                  <a:srgbClr val="1F3864"/>
                </a:solidFill>
              </a:rPr>
              <a:t>: </a:t>
            </a:r>
            <a:r>
              <a:rPr lang="it-IT" sz="1600">
                <a:solidFill>
                  <a:srgbClr val="1F3864"/>
                </a:solidFill>
              </a:rPr>
              <a:t>l’offerta è riservata ai nuovi clienti fissi che sottoscrivono contemporaneamente un’offerta </a:t>
            </a:r>
            <a:r>
              <a:rPr lang="it-IT" sz="1600" b="1">
                <a:solidFill>
                  <a:srgbClr val="002060"/>
                </a:solidFill>
              </a:rPr>
              <a:t>Super Internet casa in FWA , una nuova offerta mobile e una offerta nuova o preesistente Luce&amp;Gas</a:t>
            </a:r>
            <a:r>
              <a:rPr lang="it-IT" sz="1600">
                <a:solidFill>
                  <a:srgbClr val="002060"/>
                </a:solidFill>
              </a:rPr>
              <a:t>. L’offerta prevede navigazione senza limiti fino a </a:t>
            </a:r>
            <a:r>
              <a:rPr lang="it-IT" sz="1600" b="1">
                <a:solidFill>
                  <a:srgbClr val="002060"/>
                </a:solidFill>
              </a:rPr>
              <a:t>300 mega a </a:t>
            </a:r>
            <a:r>
              <a:rPr lang="it-IT" sz="1600">
                <a:solidFill>
                  <a:srgbClr val="002060"/>
                </a:solidFill>
              </a:rPr>
              <a:t> </a:t>
            </a:r>
            <a:r>
              <a:rPr lang="it-IT" sz="1600" b="1">
                <a:solidFill>
                  <a:srgbClr val="002060"/>
                </a:solidFill>
              </a:rPr>
              <a:t>26,49€/mese per 24 mesi e poi a 30,49€/mese </a:t>
            </a:r>
            <a:r>
              <a:rPr lang="it-IT" sz="1600">
                <a:solidFill>
                  <a:srgbClr val="1E4E79"/>
                </a:solidFill>
              </a:rPr>
              <a:t>con chiamate a 0 cent./minuto e scatto alla risposta di 23 centesimi verso numeri fissi e mobili nazionali </a:t>
            </a:r>
            <a:r>
              <a:rPr lang="it-IT" sz="1600">
                <a:solidFill>
                  <a:srgbClr val="002060"/>
                </a:solidFill>
              </a:rPr>
              <a:t>e modem e assistenza inclusi. Le offerte si rinnovano ogni mese. Il servizio voce viene attivato sfruttando la tecnologia VoIP. Può condividere i Giga illimitati del fisso fino ad un massimo di 3 SIM compatibili.</a:t>
            </a:r>
            <a:r>
              <a:rPr lang="it-IT" sz="1600" b="1">
                <a:solidFill>
                  <a:srgbClr val="002060"/>
                </a:solidFill>
              </a:rPr>
              <a:t>  </a:t>
            </a:r>
            <a:endParaRPr/>
          </a:p>
          <a:p>
            <a:pPr marL="0" lvl="0" indent="0" algn="just" rtl="0">
              <a:lnSpc>
                <a:spcPct val="90000"/>
              </a:lnSpc>
              <a:spcBef>
                <a:spcPts val="1000"/>
              </a:spcBef>
              <a:spcAft>
                <a:spcPts val="0"/>
              </a:spcAft>
              <a:buClr>
                <a:srgbClr val="FF0000"/>
              </a:buClr>
              <a:buSzPts val="1600"/>
              <a:buNone/>
            </a:pPr>
            <a:r>
              <a:rPr lang="it-IT" sz="1600" b="1">
                <a:solidFill>
                  <a:srgbClr val="FF0000"/>
                </a:solidFill>
              </a:rPr>
              <a:t>Costo di attivazione in promo a 0€ </a:t>
            </a:r>
            <a:r>
              <a:rPr lang="it-IT" sz="1600">
                <a:solidFill>
                  <a:srgbClr val="1F3864"/>
                </a:solidFill>
              </a:rPr>
              <a:t>invece che 1,99€ al mese per 24 mesi.</a:t>
            </a:r>
            <a:endParaRPr/>
          </a:p>
          <a:p>
            <a:pPr marL="0" lvl="0" indent="0" algn="just" rtl="0">
              <a:lnSpc>
                <a:spcPct val="90000"/>
              </a:lnSpc>
              <a:spcBef>
                <a:spcPts val="1000"/>
              </a:spcBef>
              <a:spcAft>
                <a:spcPts val="0"/>
              </a:spcAft>
              <a:buClr>
                <a:srgbClr val="002060"/>
              </a:buClr>
              <a:buSzPts val="1500"/>
              <a:buNone/>
            </a:pPr>
            <a:r>
              <a:rPr lang="it-IT" sz="1500">
                <a:solidFill>
                  <a:srgbClr val="002060"/>
                </a:solidFill>
              </a:rPr>
              <a:t>Il canone di 26,49 euro al mese è composto, per i primi 24 mesi, da 13,5 euro al mese di servizio e Prime e 3 euro di rata del modem e 9,99 euro dell’antenna, dal 25° mese il canone è di 30,49 € composto da , da 17,5 euro di servizio e 3 euro di rata del modem e 9,99 euro dell’antenna, poi dal 48°mese 30,49 euro di servizio.</a:t>
            </a:r>
            <a:r>
              <a:rPr lang="it-IT" sz="1400">
                <a:solidFill>
                  <a:srgbClr val="1F3864"/>
                </a:solidFill>
              </a:rPr>
              <a:t> E' inoltre previsto un costo di 10€ per anticipo del Modem.</a:t>
            </a:r>
            <a:endParaRPr/>
          </a:p>
          <a:p>
            <a:pPr marL="0" lvl="0" indent="0" algn="just" rtl="0">
              <a:lnSpc>
                <a:spcPct val="90000"/>
              </a:lnSpc>
              <a:spcBef>
                <a:spcPts val="1000"/>
              </a:spcBef>
              <a:spcAft>
                <a:spcPts val="0"/>
              </a:spcAft>
              <a:buClr>
                <a:srgbClr val="002060"/>
              </a:buClr>
              <a:buSzPts val="1500"/>
              <a:buNone/>
            </a:pPr>
            <a:r>
              <a:rPr lang="it-IT" sz="1500">
                <a:solidFill>
                  <a:srgbClr val="002060"/>
                </a:solidFill>
              </a:rPr>
              <a:t> Il servizio FWA outdoor prevede l’installazione da parte di un tecnico, sarà quindi </a:t>
            </a:r>
            <a:r>
              <a:rPr lang="it-IT" sz="1500" b="1" u="sng">
                <a:solidFill>
                  <a:srgbClr val="002060"/>
                </a:solidFill>
              </a:rPr>
              <a:t>contattato per prendere un appuntamento per l’installazione</a:t>
            </a:r>
            <a:r>
              <a:rPr lang="it-IT" sz="1500">
                <a:solidFill>
                  <a:srgbClr val="002060"/>
                </a:solidFill>
              </a:rPr>
              <a:t>.Il servizio </a:t>
            </a:r>
            <a:r>
              <a:rPr lang="it-IT" sz="1500">
                <a:solidFill>
                  <a:srgbClr val="1F3864"/>
                </a:solidFill>
              </a:rPr>
              <a:t>prevede un’antenna installata all’esterno dell’abitazione nella posizione di migliore copertura mobile ed un modem interno, il cui collegamento avverrà tramite cavo ethernet. Nel corso dell’appuntamento si capirà se c’è esigenza di servizi extra (es installare l’antenna sul tetto invece che sul balcone, o se si è in presenza di cappotto termico) e se gestibile la richiesta.</a:t>
            </a:r>
            <a:endParaRPr/>
          </a:p>
          <a:p>
            <a:pPr marL="0" lvl="0" indent="0" algn="just" rtl="0">
              <a:lnSpc>
                <a:spcPct val="90000"/>
              </a:lnSpc>
              <a:spcBef>
                <a:spcPts val="1000"/>
              </a:spcBef>
              <a:spcAft>
                <a:spcPts val="0"/>
              </a:spcAft>
              <a:buClr>
                <a:srgbClr val="002060"/>
              </a:buClr>
              <a:buSzPts val="1400"/>
              <a:buNone/>
            </a:pPr>
            <a:r>
              <a:rPr lang="it-IT" sz="1400">
                <a:solidFill>
                  <a:srgbClr val="002060"/>
                </a:solidFill>
              </a:rPr>
              <a:t>Prezzo bloccato del fisso per 24 mesi, finché restano attive la SIM Mobile e il servizio WINDTRE LUCE&amp;GAS sotto la stessa anagrafica.</a:t>
            </a:r>
            <a:endParaRPr/>
          </a:p>
          <a:p>
            <a:pPr marL="0" lvl="0" indent="0" algn="just" rtl="0">
              <a:lnSpc>
                <a:spcPct val="90000"/>
              </a:lnSpc>
              <a:spcBef>
                <a:spcPts val="1000"/>
              </a:spcBef>
              <a:spcAft>
                <a:spcPts val="0"/>
              </a:spcAft>
              <a:buClr>
                <a:schemeClr val="dk1"/>
              </a:buClr>
              <a:buSzPts val="1500"/>
              <a:buNone/>
            </a:pPr>
            <a:endParaRPr sz="1500">
              <a:solidFill>
                <a:srgbClr val="1F3864"/>
              </a:solidFill>
            </a:endParaRPr>
          </a:p>
          <a:p>
            <a:pPr marL="0" lvl="0" indent="0" algn="just" rtl="0">
              <a:lnSpc>
                <a:spcPct val="90000"/>
              </a:lnSpc>
              <a:spcBef>
                <a:spcPts val="1000"/>
              </a:spcBef>
              <a:spcAft>
                <a:spcPts val="0"/>
              </a:spcAft>
              <a:buClr>
                <a:srgbClr val="002060"/>
              </a:buClr>
              <a:buSzPts val="1600"/>
              <a:buNone/>
            </a:pPr>
            <a:r>
              <a:rPr lang="it-IT" sz="1600" b="1">
                <a:solidFill>
                  <a:srgbClr val="002060"/>
                </a:solidFill>
              </a:rPr>
              <a:t>E’ obbligatorio vendere in abbinamento un offerta mobile tra:</a:t>
            </a:r>
            <a:endParaRPr/>
          </a:p>
          <a:p>
            <a:pPr marL="228600" lvl="0" indent="-228600" algn="just" rtl="0">
              <a:lnSpc>
                <a:spcPct val="90000"/>
              </a:lnSpc>
              <a:spcBef>
                <a:spcPts val="1000"/>
              </a:spcBef>
              <a:spcAft>
                <a:spcPts val="0"/>
              </a:spcAft>
              <a:buClr>
                <a:srgbClr val="000000"/>
              </a:buClr>
              <a:buSzPts val="1600"/>
              <a:buChar char="•"/>
            </a:pPr>
            <a:r>
              <a:rPr lang="it-IT" sz="1600" b="1">
                <a:solidFill>
                  <a:srgbClr val="000000"/>
                </a:solidFill>
                <a:latin typeface="Calibri"/>
                <a:ea typeface="Calibri"/>
                <a:cs typeface="Calibri"/>
                <a:sym typeface="Calibri"/>
              </a:rPr>
              <a:t>Multiservice 5G EP - Energia con Super Fibra</a:t>
            </a:r>
            <a:r>
              <a:rPr lang="it-IT" sz="1400">
                <a:solidFill>
                  <a:srgbClr val="1F3864"/>
                </a:solidFill>
              </a:rPr>
              <a:t>, </a:t>
            </a:r>
            <a:r>
              <a:rPr lang="it-IT" sz="1600" b="1">
                <a:solidFill>
                  <a:srgbClr val="002060"/>
                </a:solidFill>
              </a:rPr>
              <a:t>offerta tied con metodo di pagamento</a:t>
            </a:r>
            <a:endParaRPr sz="1600">
              <a:solidFill>
                <a:srgbClr val="002060"/>
              </a:solidFill>
            </a:endParaRPr>
          </a:p>
          <a:p>
            <a:pPr marL="228600" lvl="0" indent="-228600" algn="just" rtl="0">
              <a:lnSpc>
                <a:spcPct val="90000"/>
              </a:lnSpc>
              <a:spcBef>
                <a:spcPts val="1000"/>
              </a:spcBef>
              <a:spcAft>
                <a:spcPts val="0"/>
              </a:spcAft>
              <a:buClr>
                <a:srgbClr val="000000"/>
              </a:buClr>
              <a:buSzPts val="1600"/>
              <a:buChar char="•"/>
            </a:pPr>
            <a:r>
              <a:rPr lang="it-IT" sz="1600" b="1">
                <a:solidFill>
                  <a:srgbClr val="000000"/>
                </a:solidFill>
                <a:latin typeface="Calibri"/>
                <a:ea typeface="Calibri"/>
                <a:cs typeface="Calibri"/>
                <a:sym typeface="Calibri"/>
              </a:rPr>
              <a:t>Multiservice 5G  - Energia con Super Fibra </a:t>
            </a:r>
            <a:r>
              <a:rPr lang="it-IT" sz="1600" b="1">
                <a:solidFill>
                  <a:srgbClr val="002060"/>
                </a:solidFill>
              </a:rPr>
              <a:t>offerta untied su credito residuo</a:t>
            </a:r>
            <a:endParaRPr/>
          </a:p>
          <a:p>
            <a:pPr marL="0" lvl="0" indent="0" algn="just" rtl="0">
              <a:lnSpc>
                <a:spcPct val="90000"/>
              </a:lnSpc>
              <a:spcBef>
                <a:spcPts val="1000"/>
              </a:spcBef>
              <a:spcAft>
                <a:spcPts val="0"/>
              </a:spcAft>
              <a:buClr>
                <a:schemeClr val="dk1"/>
              </a:buClr>
              <a:buSzPts val="1600"/>
              <a:buNone/>
            </a:pPr>
            <a:endParaRPr sz="1600" b="1">
              <a:solidFill>
                <a:schemeClr val="accent6"/>
              </a:solidFill>
            </a:endParaRPr>
          </a:p>
          <a:p>
            <a:pPr marL="0" lvl="0" indent="0" algn="just" rtl="0">
              <a:lnSpc>
                <a:spcPct val="90000"/>
              </a:lnSpc>
              <a:spcBef>
                <a:spcPts val="1000"/>
              </a:spcBef>
              <a:spcAft>
                <a:spcPts val="0"/>
              </a:spcAft>
              <a:buClr>
                <a:schemeClr val="dk1"/>
              </a:buClr>
              <a:buSzPts val="1600"/>
              <a:buNone/>
            </a:pPr>
            <a:endParaRPr sz="1600" b="1">
              <a:solidFill>
                <a:schemeClr val="accent6"/>
              </a:solidFill>
            </a:endParaRPr>
          </a:p>
          <a:p>
            <a:pPr marL="0" lvl="0" indent="0" algn="just" rtl="0">
              <a:lnSpc>
                <a:spcPct val="90000"/>
              </a:lnSpc>
              <a:spcBef>
                <a:spcPts val="1000"/>
              </a:spcBef>
              <a:spcAft>
                <a:spcPts val="0"/>
              </a:spcAft>
              <a:buClr>
                <a:schemeClr val="dk1"/>
              </a:buClr>
              <a:buSzPts val="1600"/>
              <a:buNone/>
            </a:pPr>
            <a:endParaRPr sz="1600" b="1">
              <a:solidFill>
                <a:schemeClr val="accent6"/>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in caso di aggiunta opzione Più Sicuri Casa: </a:t>
            </a:r>
            <a:r>
              <a:rPr lang="it-IT" sz="1600" b="1" u="sng">
                <a:solidFill>
                  <a:schemeClr val="hlink"/>
                </a:solidFill>
                <a:hlinkClick r:id="rId3" action="ppaction://hlinksldjump"/>
              </a:rPr>
              <a:t>CLICCA QUI</a:t>
            </a:r>
            <a:endParaRPr sz="1600" b="1">
              <a:solidFill>
                <a:srgbClr val="1F3864"/>
              </a:solidFill>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3"/>
          <p:cNvSpPr/>
          <p:nvPr/>
        </p:nvSpPr>
        <p:spPr>
          <a:xfrm>
            <a:off x="-16547" y="30812"/>
            <a:ext cx="12192000" cy="75799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200"/>
              <a:buFont typeface="Calibri"/>
              <a:buNone/>
            </a:pPr>
            <a:endParaRPr sz="3200" b="1" i="0" u="none" strike="noStrike" cap="none">
              <a:solidFill>
                <a:srgbClr val="FFFFFF"/>
              </a:solidFill>
              <a:latin typeface="Calibri"/>
              <a:ea typeface="Calibri"/>
              <a:cs typeface="Calibri"/>
              <a:sym typeface="Calibri"/>
            </a:endParaRPr>
          </a:p>
        </p:txBody>
      </p:sp>
      <p:sp>
        <p:nvSpPr>
          <p:cNvPr id="153" name="Google Shape;153;p23"/>
          <p:cNvSpPr/>
          <p:nvPr/>
        </p:nvSpPr>
        <p:spPr>
          <a:xfrm>
            <a:off x="7470510" y="2130945"/>
            <a:ext cx="4678671" cy="902198"/>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grpSp>
        <p:nvGrpSpPr>
          <p:cNvPr id="154" name="Google Shape;154;p23"/>
          <p:cNvGrpSpPr/>
          <p:nvPr/>
        </p:nvGrpSpPr>
        <p:grpSpPr>
          <a:xfrm>
            <a:off x="770631" y="1913766"/>
            <a:ext cx="4380684" cy="4394282"/>
            <a:chOff x="3006242" y="1256122"/>
            <a:chExt cx="5040000" cy="5040000"/>
          </a:xfrm>
        </p:grpSpPr>
        <p:sp>
          <p:nvSpPr>
            <p:cNvPr id="155" name="Google Shape;155;p23"/>
            <p:cNvSpPr/>
            <p:nvPr/>
          </p:nvSpPr>
          <p:spPr>
            <a:xfrm>
              <a:off x="3006242" y="1256122"/>
              <a:ext cx="5040000" cy="5040000"/>
            </a:xfrm>
            <a:prstGeom prst="ellipse">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156" name="Google Shape;156;p23"/>
            <p:cNvSpPr/>
            <p:nvPr/>
          </p:nvSpPr>
          <p:spPr>
            <a:xfrm>
              <a:off x="3366243" y="1616122"/>
              <a:ext cx="4320001" cy="4320000"/>
            </a:xfrm>
            <a:prstGeom prst="ellipse">
              <a:avLst/>
            </a:prstGeom>
            <a:gradFill>
              <a:gsLst>
                <a:gs pos="0">
                  <a:srgbClr val="0070C0"/>
                </a:gs>
                <a:gs pos="22000">
                  <a:srgbClr val="0070C0"/>
                </a:gs>
                <a:gs pos="80000">
                  <a:srgbClr val="003B68"/>
                </a:gs>
                <a:gs pos="100000">
                  <a:srgbClr val="003B68"/>
                </a:gs>
              </a:gsLst>
              <a:lin ang="96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Arial"/>
                <a:ea typeface="Arial"/>
                <a:cs typeface="Arial"/>
                <a:sym typeface="Arial"/>
              </a:endParaRPr>
            </a:p>
          </p:txBody>
        </p:sp>
        <p:sp>
          <p:nvSpPr>
            <p:cNvPr id="157" name="Google Shape;157;p23"/>
            <p:cNvSpPr/>
            <p:nvPr/>
          </p:nvSpPr>
          <p:spPr>
            <a:xfrm>
              <a:off x="3573112" y="1822992"/>
              <a:ext cx="3906259" cy="3906259"/>
            </a:xfrm>
            <a:prstGeom prst="ellipse">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158" name="Google Shape;158;p23"/>
            <p:cNvSpPr/>
            <p:nvPr/>
          </p:nvSpPr>
          <p:spPr>
            <a:xfrm>
              <a:off x="3647678" y="1897558"/>
              <a:ext cx="3757125" cy="3757125"/>
            </a:xfrm>
            <a:prstGeom prst="ellipse">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Arial"/>
                <a:ea typeface="Arial"/>
                <a:cs typeface="Arial"/>
                <a:sym typeface="Arial"/>
              </a:endParaRPr>
            </a:p>
          </p:txBody>
        </p:sp>
      </p:grpSp>
      <p:sp>
        <p:nvSpPr>
          <p:cNvPr id="159" name="Google Shape;159;p23"/>
          <p:cNvSpPr/>
          <p:nvPr/>
        </p:nvSpPr>
        <p:spPr>
          <a:xfrm>
            <a:off x="1331796" y="2478094"/>
            <a:ext cx="3265629" cy="3265627"/>
          </a:xfrm>
          <a:prstGeom prst="ellipse">
            <a:avLst/>
          </a:prstGeom>
          <a:gradFill>
            <a:gsLst>
              <a:gs pos="0">
                <a:srgbClr val="0070C0"/>
              </a:gs>
              <a:gs pos="22000">
                <a:srgbClr val="0070C0"/>
              </a:gs>
              <a:gs pos="80000">
                <a:srgbClr val="003B68"/>
              </a:gs>
              <a:gs pos="100000">
                <a:srgbClr val="003B68"/>
              </a:gs>
            </a:gsLst>
            <a:lin ang="9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Arial"/>
              <a:ea typeface="Arial"/>
              <a:cs typeface="Arial"/>
              <a:sym typeface="Arial"/>
            </a:endParaRPr>
          </a:p>
        </p:txBody>
      </p:sp>
      <p:pic>
        <p:nvPicPr>
          <p:cNvPr id="160" name="Google Shape;160;p23" descr="Immagine che contiene Elettrodomestico&#10;&#10;Descrizione generata automaticamente"/>
          <p:cNvPicPr preferRelativeResize="0"/>
          <p:nvPr/>
        </p:nvPicPr>
        <p:blipFill rotWithShape="1">
          <a:blip r:embed="rId3">
            <a:alphaModFix/>
          </a:blip>
          <a:srcRect/>
          <a:stretch/>
        </p:blipFill>
        <p:spPr>
          <a:xfrm>
            <a:off x="1692527" y="1915915"/>
            <a:ext cx="2536888" cy="4333277"/>
          </a:xfrm>
          <a:prstGeom prst="rect">
            <a:avLst/>
          </a:prstGeom>
          <a:noFill/>
          <a:ln>
            <a:noFill/>
          </a:ln>
        </p:spPr>
      </p:pic>
      <p:pic>
        <p:nvPicPr>
          <p:cNvPr id="161" name="Google Shape;161;p23"/>
          <p:cNvPicPr preferRelativeResize="0"/>
          <p:nvPr/>
        </p:nvPicPr>
        <p:blipFill rotWithShape="1">
          <a:blip r:embed="rId4">
            <a:alphaModFix/>
          </a:blip>
          <a:srcRect/>
          <a:stretch/>
        </p:blipFill>
        <p:spPr>
          <a:xfrm>
            <a:off x="515714" y="3662645"/>
            <a:ext cx="1537321" cy="827567"/>
          </a:xfrm>
          <a:prstGeom prst="rect">
            <a:avLst/>
          </a:prstGeom>
          <a:noFill/>
          <a:ln>
            <a:noFill/>
          </a:ln>
        </p:spPr>
      </p:pic>
      <p:sp>
        <p:nvSpPr>
          <p:cNvPr id="162" name="Google Shape;162;p23"/>
          <p:cNvSpPr txBox="1"/>
          <p:nvPr/>
        </p:nvSpPr>
        <p:spPr>
          <a:xfrm>
            <a:off x="7828246" y="2199018"/>
            <a:ext cx="4203832" cy="769441"/>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1" i="0" u="none" strike="noStrike" cap="none">
                <a:solidFill>
                  <a:srgbClr val="686F75"/>
                </a:solidFill>
                <a:latin typeface="Montserrat"/>
                <a:ea typeface="Montserrat"/>
                <a:cs typeface="Montserrat"/>
                <a:sym typeface="Montserrat"/>
              </a:rPr>
              <a:t>Doppia rete Wireless a 2,4 Ghz e 5 Ghz </a:t>
            </a:r>
            <a:r>
              <a:rPr lang="it-IT" sz="1100" b="0" i="0" u="none" strike="noStrike" cap="none">
                <a:solidFill>
                  <a:srgbClr val="686F75"/>
                </a:solidFill>
                <a:latin typeface="Montserrat"/>
                <a:ea typeface="Montserrat"/>
                <a:cs typeface="Montserrat"/>
                <a:sym typeface="Montserrat"/>
              </a:rPr>
              <a:t>che garantisce la migliore copertura e minor rischio di interferenze</a:t>
            </a:r>
            <a:endParaRPr/>
          </a:p>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Il nuovo design garantisce un ottimale posizionamento delle antenne per una </a:t>
            </a:r>
            <a:r>
              <a:rPr lang="it-IT" sz="1100" b="1" i="0" u="none" strike="noStrike" cap="none">
                <a:solidFill>
                  <a:srgbClr val="686F75"/>
                </a:solidFill>
                <a:latin typeface="Montserrat"/>
                <a:ea typeface="Montserrat"/>
                <a:cs typeface="Montserrat"/>
                <a:sym typeface="Montserrat"/>
              </a:rPr>
              <a:t>migliore copertura </a:t>
            </a:r>
            <a:r>
              <a:rPr lang="it-IT" sz="1100" b="0" i="0" u="none" strike="noStrike" cap="none">
                <a:solidFill>
                  <a:srgbClr val="686F75"/>
                </a:solidFill>
                <a:latin typeface="Montserrat"/>
                <a:ea typeface="Montserrat"/>
                <a:cs typeface="Montserrat"/>
                <a:sym typeface="Montserrat"/>
              </a:rPr>
              <a:t>indoor </a:t>
            </a:r>
            <a:endParaRPr/>
          </a:p>
        </p:txBody>
      </p:sp>
      <p:sp>
        <p:nvSpPr>
          <p:cNvPr id="163" name="Google Shape;163;p23"/>
          <p:cNvSpPr/>
          <p:nvPr/>
        </p:nvSpPr>
        <p:spPr>
          <a:xfrm>
            <a:off x="7490994" y="3087134"/>
            <a:ext cx="4658187" cy="740480"/>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64" name="Google Shape;164;p23"/>
          <p:cNvSpPr txBox="1"/>
          <p:nvPr/>
        </p:nvSpPr>
        <p:spPr>
          <a:xfrm>
            <a:off x="7803898" y="3154996"/>
            <a:ext cx="4216787" cy="600164"/>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Grazie alle </a:t>
            </a:r>
            <a:r>
              <a:rPr lang="it-IT" sz="1100" b="1" i="0" u="none" strike="noStrike" cap="none">
                <a:solidFill>
                  <a:srgbClr val="686F75"/>
                </a:solidFill>
                <a:latin typeface="Montserrat"/>
                <a:ea typeface="Montserrat"/>
                <a:cs typeface="Montserrat"/>
                <a:sym typeface="Montserrat"/>
              </a:rPr>
              <a:t>8 antenne </a:t>
            </a:r>
            <a:r>
              <a:rPr lang="it-IT" sz="1100" b="0" i="0" u="none" strike="noStrike" cap="none">
                <a:solidFill>
                  <a:srgbClr val="686F75"/>
                </a:solidFill>
                <a:latin typeface="Montserrat"/>
                <a:ea typeface="Montserrat"/>
                <a:cs typeface="Montserrat"/>
                <a:sym typeface="Montserrat"/>
              </a:rPr>
              <a:t>hai più velocità e connetti fino a </a:t>
            </a:r>
            <a:r>
              <a:rPr lang="it-IT" sz="1100" b="1" i="0" u="none" strike="noStrike" cap="none">
                <a:solidFill>
                  <a:srgbClr val="686F75"/>
                </a:solidFill>
                <a:latin typeface="Montserrat"/>
                <a:ea typeface="Montserrat"/>
                <a:cs typeface="Montserrat"/>
                <a:sym typeface="Montserrat"/>
              </a:rPr>
              <a:t>256 device</a:t>
            </a:r>
            <a:r>
              <a:rPr lang="it-IT" sz="1100" b="0" i="0" u="none" strike="noStrike" cap="none">
                <a:solidFill>
                  <a:srgbClr val="686F75"/>
                </a:solidFill>
                <a:latin typeface="Montserrat"/>
                <a:ea typeface="Montserrat"/>
                <a:cs typeface="Montserrat"/>
                <a:sym typeface="Montserrat"/>
              </a:rPr>
              <a:t> contemporaneamente con la migliore </a:t>
            </a:r>
            <a:r>
              <a:rPr lang="it-IT" sz="1100" b="1" i="0" u="none" strike="noStrike" cap="none">
                <a:solidFill>
                  <a:srgbClr val="686F75"/>
                </a:solidFill>
                <a:latin typeface="Montserrat"/>
                <a:ea typeface="Montserrat"/>
                <a:cs typeface="Montserrat"/>
                <a:sym typeface="Montserrat"/>
              </a:rPr>
              <a:t>stabilità di connessione</a:t>
            </a:r>
            <a:endParaRPr/>
          </a:p>
        </p:txBody>
      </p:sp>
      <p:sp>
        <p:nvSpPr>
          <p:cNvPr id="165" name="Google Shape;165;p23"/>
          <p:cNvSpPr/>
          <p:nvPr/>
        </p:nvSpPr>
        <p:spPr>
          <a:xfrm>
            <a:off x="7429608" y="3889549"/>
            <a:ext cx="4696513" cy="617042"/>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66" name="Google Shape;166;p23"/>
          <p:cNvSpPr txBox="1"/>
          <p:nvPr/>
        </p:nvSpPr>
        <p:spPr>
          <a:xfrm>
            <a:off x="7871492" y="3976842"/>
            <a:ext cx="4149194" cy="442712"/>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1" i="0" u="none" strike="noStrike" cap="none">
                <a:solidFill>
                  <a:srgbClr val="686F75"/>
                </a:solidFill>
                <a:latin typeface="Montserrat"/>
                <a:ea typeface="Montserrat"/>
                <a:cs typeface="Montserrat"/>
                <a:sym typeface="Montserrat"/>
              </a:rPr>
              <a:t>Maggiori performance </a:t>
            </a:r>
            <a:r>
              <a:rPr lang="it-IT" sz="1100" b="0" i="0" u="none" strike="noStrike" cap="none">
                <a:solidFill>
                  <a:srgbClr val="686F75"/>
                </a:solidFill>
                <a:latin typeface="Montserrat"/>
                <a:ea typeface="Montserrat"/>
                <a:cs typeface="Montserrat"/>
                <a:sym typeface="Montserrat"/>
              </a:rPr>
              <a:t>per streaming e gaming online grazie alla minore latenza presente sulla connessione</a:t>
            </a:r>
            <a:endParaRPr/>
          </a:p>
        </p:txBody>
      </p:sp>
      <p:sp>
        <p:nvSpPr>
          <p:cNvPr id="167" name="Google Shape;167;p23"/>
          <p:cNvSpPr/>
          <p:nvPr/>
        </p:nvSpPr>
        <p:spPr>
          <a:xfrm>
            <a:off x="7406548" y="4665829"/>
            <a:ext cx="4719573" cy="603465"/>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68" name="Google Shape;168;p23"/>
          <p:cNvSpPr txBox="1"/>
          <p:nvPr/>
        </p:nvSpPr>
        <p:spPr>
          <a:xfrm>
            <a:off x="7807024" y="4742855"/>
            <a:ext cx="4213661" cy="430887"/>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Consente un maggiore </a:t>
            </a:r>
            <a:r>
              <a:rPr lang="it-IT" sz="1100" b="1" i="0" u="none" strike="noStrike" cap="none">
                <a:solidFill>
                  <a:srgbClr val="686F75"/>
                </a:solidFill>
                <a:latin typeface="Montserrat"/>
                <a:ea typeface="Montserrat"/>
                <a:cs typeface="Montserrat"/>
                <a:sym typeface="Montserrat"/>
              </a:rPr>
              <a:t>risparmio energetico</a:t>
            </a:r>
            <a:r>
              <a:rPr lang="it-IT" sz="1100" b="0" i="0" u="none" strike="noStrike" cap="none">
                <a:solidFill>
                  <a:srgbClr val="686F75"/>
                </a:solidFill>
                <a:latin typeface="Montserrat"/>
                <a:ea typeface="Montserrat"/>
                <a:cs typeface="Montserrat"/>
                <a:sym typeface="Montserrat"/>
              </a:rPr>
              <a:t>. La batteria dei dispositivi mobili connessi in Wi-Fi durerà di più</a:t>
            </a:r>
            <a:endParaRPr/>
          </a:p>
        </p:txBody>
      </p:sp>
      <p:sp>
        <p:nvSpPr>
          <p:cNvPr id="169" name="Google Shape;169;p23"/>
          <p:cNvSpPr/>
          <p:nvPr/>
        </p:nvSpPr>
        <p:spPr>
          <a:xfrm>
            <a:off x="7408319" y="5442665"/>
            <a:ext cx="4719573" cy="603465"/>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70" name="Google Shape;170;p23"/>
          <p:cNvSpPr txBox="1"/>
          <p:nvPr/>
        </p:nvSpPr>
        <p:spPr>
          <a:xfrm>
            <a:off x="7808312" y="5525934"/>
            <a:ext cx="4212373" cy="430887"/>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Imballaggio realizzato con </a:t>
            </a:r>
            <a:r>
              <a:rPr lang="it-IT" sz="1100" b="1" i="0" u="none" strike="noStrike" cap="none">
                <a:solidFill>
                  <a:srgbClr val="686F75"/>
                </a:solidFill>
                <a:latin typeface="Montserrat"/>
                <a:ea typeface="Montserrat"/>
                <a:cs typeface="Montserrat"/>
                <a:sym typeface="Montserrat"/>
              </a:rPr>
              <a:t>carta riciclata </a:t>
            </a:r>
            <a:r>
              <a:rPr lang="it-IT" sz="1100" b="0" i="0" u="none" strike="noStrike" cap="none">
                <a:solidFill>
                  <a:srgbClr val="686F75"/>
                </a:solidFill>
                <a:latin typeface="Montserrat"/>
                <a:ea typeface="Montserrat"/>
                <a:cs typeface="Montserrat"/>
                <a:sym typeface="Montserrat"/>
              </a:rPr>
              <a:t>e (per uno dei due modelli) il prodotto è realizzato con plastica riciclata </a:t>
            </a:r>
            <a:endParaRPr/>
          </a:p>
        </p:txBody>
      </p:sp>
      <p:sp>
        <p:nvSpPr>
          <p:cNvPr id="171" name="Google Shape;171;p23"/>
          <p:cNvSpPr/>
          <p:nvPr/>
        </p:nvSpPr>
        <p:spPr>
          <a:xfrm>
            <a:off x="5212198" y="3132565"/>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VELOCITA’</a:t>
            </a:r>
            <a:endParaRPr/>
          </a:p>
        </p:txBody>
      </p:sp>
      <p:sp>
        <p:nvSpPr>
          <p:cNvPr id="172" name="Google Shape;172;p23"/>
          <p:cNvSpPr/>
          <p:nvPr/>
        </p:nvSpPr>
        <p:spPr>
          <a:xfrm>
            <a:off x="5216127" y="3901631"/>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STREAMING e GAMING</a:t>
            </a:r>
            <a:endParaRPr/>
          </a:p>
        </p:txBody>
      </p:sp>
      <p:sp>
        <p:nvSpPr>
          <p:cNvPr id="173" name="Google Shape;173;p23"/>
          <p:cNvSpPr/>
          <p:nvPr/>
        </p:nvSpPr>
        <p:spPr>
          <a:xfrm>
            <a:off x="5216127" y="4666705"/>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RISPARMIO ENERGETICO</a:t>
            </a:r>
            <a:endParaRPr/>
          </a:p>
        </p:txBody>
      </p:sp>
      <p:sp>
        <p:nvSpPr>
          <p:cNvPr id="174" name="Google Shape;174;p23"/>
          <p:cNvSpPr/>
          <p:nvPr/>
        </p:nvSpPr>
        <p:spPr>
          <a:xfrm>
            <a:off x="5216126" y="5453551"/>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PLASTIC FREE</a:t>
            </a:r>
            <a:endParaRPr/>
          </a:p>
        </p:txBody>
      </p:sp>
      <p:sp>
        <p:nvSpPr>
          <p:cNvPr id="175" name="Google Shape;175;p23"/>
          <p:cNvSpPr/>
          <p:nvPr/>
        </p:nvSpPr>
        <p:spPr>
          <a:xfrm>
            <a:off x="5212199" y="2345315"/>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PIU’ COPERTURA IN TUTTA LA CASA</a:t>
            </a:r>
            <a:endParaRPr/>
          </a:p>
        </p:txBody>
      </p:sp>
      <p:sp>
        <p:nvSpPr>
          <p:cNvPr id="176" name="Google Shape;176;p23"/>
          <p:cNvSpPr txBox="1"/>
          <p:nvPr/>
        </p:nvSpPr>
        <p:spPr>
          <a:xfrm>
            <a:off x="165169" y="186766"/>
            <a:ext cx="10515600" cy="332399"/>
          </a:xfrm>
          <a:prstGeom prst="rect">
            <a:avLst/>
          </a:prstGeom>
          <a:noFill/>
          <a:ln>
            <a:noFill/>
          </a:ln>
        </p:spPr>
        <p:txBody>
          <a:bodyPr spcFirstLastPara="1" wrap="square" lIns="91425" tIns="45700" rIns="91425" bIns="45700" anchor="t" anchorCtr="0">
            <a:noAutofit/>
          </a:bodyPr>
          <a:lstStyle/>
          <a:p>
            <a:pPr marL="279400" marR="0" lvl="1" indent="0" algn="l" rtl="0">
              <a:lnSpc>
                <a:spcPct val="90000"/>
              </a:lnSpc>
              <a:spcBef>
                <a:spcPts val="0"/>
              </a:spcBef>
              <a:spcAft>
                <a:spcPts val="0"/>
              </a:spcAft>
              <a:buClr>
                <a:srgbClr val="000000"/>
              </a:buClr>
              <a:buSzPts val="2800"/>
              <a:buFont typeface="Arial"/>
              <a:buNone/>
            </a:pPr>
            <a:r>
              <a:rPr lang="it-IT" sz="2800" b="1" i="0" u="none" strike="noStrike" cap="none">
                <a:solidFill>
                  <a:srgbClr val="000000"/>
                </a:solidFill>
                <a:latin typeface="Montserrat"/>
                <a:ea typeface="Montserrat"/>
                <a:cs typeface="Montserrat"/>
                <a:sym typeface="Montserrat"/>
              </a:rPr>
              <a:t>NUOVO MODEM WI-FI 7 INCLUSO CON SUPER FIBRA</a:t>
            </a:r>
            <a:endParaRPr/>
          </a:p>
        </p:txBody>
      </p:sp>
      <p:sp>
        <p:nvSpPr>
          <p:cNvPr id="177" name="Google Shape;177;p23"/>
          <p:cNvSpPr/>
          <p:nvPr/>
        </p:nvSpPr>
        <p:spPr>
          <a:xfrm>
            <a:off x="2" y="1120344"/>
            <a:ext cx="12191998" cy="429222"/>
          </a:xfrm>
          <a:prstGeom prst="rect">
            <a:avLst/>
          </a:prstGeom>
          <a:solidFill>
            <a:srgbClr val="F2F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6A00"/>
              </a:buClr>
              <a:buSzPts val="1600"/>
              <a:buFont typeface="Montserrat"/>
              <a:buNone/>
            </a:pPr>
            <a:r>
              <a:rPr lang="it-IT" sz="1600" b="0" i="0" u="none" strike="noStrike" cap="none">
                <a:solidFill>
                  <a:srgbClr val="FF6A00"/>
                </a:solidFill>
                <a:latin typeface="Montserrat"/>
                <a:ea typeface="Montserrat"/>
                <a:cs typeface="Montserrat"/>
                <a:sym typeface="Montserrat"/>
              </a:rPr>
              <a:t>              </a:t>
            </a:r>
            <a:endParaRPr/>
          </a:p>
        </p:txBody>
      </p:sp>
      <p:sp>
        <p:nvSpPr>
          <p:cNvPr id="178" name="Google Shape;178;p23"/>
          <p:cNvSpPr txBox="1"/>
          <p:nvPr/>
        </p:nvSpPr>
        <p:spPr>
          <a:xfrm>
            <a:off x="2546098" y="1137461"/>
            <a:ext cx="7468734" cy="42299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A3838"/>
              </a:buClr>
              <a:buSzPts val="2000"/>
              <a:buFont typeface="Montserrat"/>
              <a:buNone/>
            </a:pPr>
            <a:r>
              <a:rPr lang="it-IT" sz="2000" b="1" i="0" u="none" strike="noStrike" cap="none">
                <a:solidFill>
                  <a:srgbClr val="3A3838"/>
                </a:solidFill>
                <a:latin typeface="Montserrat"/>
                <a:ea typeface="Montserrat"/>
                <a:cs typeface="Montserrat"/>
                <a:sym typeface="Montserrat"/>
              </a:rPr>
              <a:t>ANCORA PIÙ POTENZA E VELOCITÀ </a:t>
            </a:r>
            <a:endParaRPr/>
          </a:p>
        </p:txBody>
      </p:sp>
      <p:sp>
        <p:nvSpPr>
          <p:cNvPr id="179" name="Google Shape;179;p23"/>
          <p:cNvSpPr/>
          <p:nvPr/>
        </p:nvSpPr>
        <p:spPr>
          <a:xfrm rot="10800000" flipH="1">
            <a:off x="0" y="6485517"/>
            <a:ext cx="1882586" cy="372483"/>
          </a:xfrm>
          <a:custGeom>
            <a:avLst/>
            <a:gdLst/>
            <a:ahLst/>
            <a:cxnLst/>
            <a:rect l="l" t="t" r="r" b="b"/>
            <a:pathLst>
              <a:path w="3589686" h="1276644" extrusionOk="0">
                <a:moveTo>
                  <a:pt x="7525" y="0"/>
                </a:moveTo>
                <a:cubicBezTo>
                  <a:pt x="4953" y="3524"/>
                  <a:pt x="2477" y="7049"/>
                  <a:pt x="0" y="10668"/>
                </a:cubicBezTo>
                <a:lnTo>
                  <a:pt x="0" y="923449"/>
                </a:lnTo>
                <a:cubicBezTo>
                  <a:pt x="40672" y="982028"/>
                  <a:pt x="89154" y="1035177"/>
                  <a:pt x="143828" y="1081183"/>
                </a:cubicBezTo>
                <a:cubicBezTo>
                  <a:pt x="162973" y="1097280"/>
                  <a:pt x="182880" y="1112520"/>
                  <a:pt x="203359" y="1126808"/>
                </a:cubicBezTo>
                <a:cubicBezTo>
                  <a:pt x="249460" y="1159002"/>
                  <a:pt x="299180" y="1186148"/>
                  <a:pt x="351092" y="1207675"/>
                </a:cubicBezTo>
                <a:cubicBezTo>
                  <a:pt x="366046" y="1213866"/>
                  <a:pt x="381191" y="1219581"/>
                  <a:pt x="396431" y="1224820"/>
                </a:cubicBezTo>
                <a:cubicBezTo>
                  <a:pt x="455390" y="1245108"/>
                  <a:pt x="516731" y="1257395"/>
                  <a:pt x="578644" y="1264730"/>
                </a:cubicBezTo>
                <a:cubicBezTo>
                  <a:pt x="641985" y="1272254"/>
                  <a:pt x="706184" y="1275779"/>
                  <a:pt x="769906" y="1276541"/>
                </a:cubicBezTo>
                <a:cubicBezTo>
                  <a:pt x="834962" y="1277303"/>
                  <a:pt x="900017" y="1273874"/>
                  <a:pt x="964597" y="1265682"/>
                </a:cubicBezTo>
                <a:cubicBezTo>
                  <a:pt x="997077" y="1261586"/>
                  <a:pt x="1029557" y="1256443"/>
                  <a:pt x="1061752" y="1250252"/>
                </a:cubicBezTo>
                <a:cubicBezTo>
                  <a:pt x="1144810" y="1234440"/>
                  <a:pt x="1226820" y="1212342"/>
                  <a:pt x="1306639" y="1184529"/>
                </a:cubicBezTo>
                <a:cubicBezTo>
                  <a:pt x="1329881" y="1176433"/>
                  <a:pt x="1353026" y="1167765"/>
                  <a:pt x="1375886" y="1158716"/>
                </a:cubicBezTo>
                <a:cubicBezTo>
                  <a:pt x="1438275" y="1133951"/>
                  <a:pt x="1498759" y="1104710"/>
                  <a:pt x="1558100" y="1073372"/>
                </a:cubicBezTo>
                <a:cubicBezTo>
                  <a:pt x="1591818" y="1055561"/>
                  <a:pt x="1625156" y="1037082"/>
                  <a:pt x="1658303" y="1018413"/>
                </a:cubicBezTo>
                <a:cubicBezTo>
                  <a:pt x="1755267" y="963644"/>
                  <a:pt x="1846707" y="897065"/>
                  <a:pt x="1936147" y="830961"/>
                </a:cubicBezTo>
                <a:cubicBezTo>
                  <a:pt x="1987106" y="793337"/>
                  <a:pt x="2037398" y="754856"/>
                  <a:pt x="2087594" y="716280"/>
                </a:cubicBezTo>
                <a:cubicBezTo>
                  <a:pt x="2101310" y="705707"/>
                  <a:pt x="2115503" y="695706"/>
                  <a:pt x="2128742" y="684657"/>
                </a:cubicBezTo>
                <a:cubicBezTo>
                  <a:pt x="2187988" y="635318"/>
                  <a:pt x="2252758" y="589312"/>
                  <a:pt x="2315242" y="543497"/>
                </a:cubicBezTo>
                <a:cubicBezTo>
                  <a:pt x="2376869" y="498253"/>
                  <a:pt x="2439638" y="454343"/>
                  <a:pt x="2504028" y="413004"/>
                </a:cubicBezTo>
                <a:cubicBezTo>
                  <a:pt x="2540699" y="389477"/>
                  <a:pt x="2577941" y="366617"/>
                  <a:pt x="2615660" y="344805"/>
                </a:cubicBezTo>
                <a:cubicBezTo>
                  <a:pt x="2709958" y="290227"/>
                  <a:pt x="2807303" y="240983"/>
                  <a:pt x="2907221" y="197644"/>
                </a:cubicBezTo>
                <a:cubicBezTo>
                  <a:pt x="3005995" y="154686"/>
                  <a:pt x="3107246" y="117539"/>
                  <a:pt x="3210306" y="86392"/>
                </a:cubicBezTo>
                <a:cubicBezTo>
                  <a:pt x="3239167" y="77629"/>
                  <a:pt x="3268218" y="69437"/>
                  <a:pt x="3297365" y="61627"/>
                </a:cubicBezTo>
                <a:cubicBezTo>
                  <a:pt x="3312224" y="57626"/>
                  <a:pt x="3327178" y="53816"/>
                  <a:pt x="3342132" y="50102"/>
                </a:cubicBezTo>
                <a:cubicBezTo>
                  <a:pt x="3356039" y="46673"/>
                  <a:pt x="3372136" y="45053"/>
                  <a:pt x="3385471" y="39719"/>
                </a:cubicBezTo>
                <a:cubicBezTo>
                  <a:pt x="3453003" y="24098"/>
                  <a:pt x="3521107" y="10763"/>
                  <a:pt x="3589687" y="0"/>
                </a:cubicBezTo>
                <a:lnTo>
                  <a:pt x="7525" y="0"/>
                </a:lnTo>
                <a:close/>
              </a:path>
            </a:pathLst>
          </a:custGeom>
          <a:gradFill>
            <a:gsLst>
              <a:gs pos="0">
                <a:srgbClr val="E74011"/>
              </a:gs>
              <a:gs pos="12000">
                <a:srgbClr val="E74011"/>
              </a:gs>
              <a:gs pos="82000">
                <a:srgbClr val="EE7203"/>
              </a:gs>
              <a:gs pos="100000">
                <a:srgbClr val="EE7203"/>
              </a:gs>
            </a:gsLst>
            <a:lin ang="96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2F2F2F"/>
              </a:solidFill>
              <a:latin typeface="Arial"/>
              <a:ea typeface="Arial"/>
              <a:cs typeface="Arial"/>
              <a:sym typeface="Arial"/>
            </a:endParaRPr>
          </a:p>
        </p:txBody>
      </p:sp>
      <p:sp>
        <p:nvSpPr>
          <p:cNvPr id="180" name="Google Shape;180;p23"/>
          <p:cNvSpPr/>
          <p:nvPr/>
        </p:nvSpPr>
        <p:spPr>
          <a:xfrm>
            <a:off x="288174" y="6557435"/>
            <a:ext cx="354235" cy="221397"/>
          </a:xfrm>
          <a:prstGeom prst="rect">
            <a:avLst/>
          </a:prstGeom>
          <a:noFill/>
          <a:ln>
            <a:noFill/>
          </a:ln>
        </p:spPr>
        <p:txBody>
          <a:bodyPr/>
          <a:lstStyle/>
          <a:p>
            <a:endParaRPr lang="it-IT"/>
          </a:p>
        </p:txBody>
      </p:sp>
      <p:sp>
        <p:nvSpPr>
          <p:cNvPr id="181" name="Google Shape;181;p23"/>
          <p:cNvSpPr txBox="1"/>
          <p:nvPr/>
        </p:nvSpPr>
        <p:spPr>
          <a:xfrm>
            <a:off x="4405667" y="6452329"/>
            <a:ext cx="5750695" cy="246221"/>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7030A0"/>
              </a:buClr>
              <a:buSzPts val="1000"/>
              <a:buFont typeface="Arial"/>
              <a:buChar char="•"/>
            </a:pPr>
            <a:r>
              <a:rPr lang="it-IT" sz="1000" b="1" i="0" u="none" strike="noStrike" cap="none">
                <a:solidFill>
                  <a:schemeClr val="dk1"/>
                </a:solidFill>
                <a:latin typeface="Arial"/>
                <a:ea typeface="Arial"/>
                <a:cs typeface="Arial"/>
                <a:sym typeface="Arial"/>
              </a:rPr>
              <a:t>Solo su FTTC e FTTH AREE BIANCHE ( C&amp;D) viene dato il modem Wi-Fi 6</a:t>
            </a:r>
            <a:endParaRPr sz="1000" b="1" i="0" u="none" strike="noStrike" cap="none">
              <a:solidFill>
                <a:srgbClr val="FF6A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4"/>
          <p:cNvSpPr txBox="1">
            <a:spLocks noGrp="1"/>
          </p:cNvSpPr>
          <p:nvPr>
            <p:ph type="title"/>
          </p:nvPr>
        </p:nvSpPr>
        <p:spPr>
          <a:xfrm>
            <a:off x="174662" y="-43380"/>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it-IT" sz="4400" b="1">
                <a:solidFill>
                  <a:srgbClr val="FF0000"/>
                </a:solidFill>
              </a:rPr>
              <a:t>UNLIMITED 5G EP ONLINE CON SUPER FIBRA</a:t>
            </a:r>
            <a:endParaRPr b="1">
              <a:solidFill>
                <a:srgbClr val="FF0000"/>
              </a:solidFill>
            </a:endParaRPr>
          </a:p>
        </p:txBody>
      </p:sp>
      <p:sp>
        <p:nvSpPr>
          <p:cNvPr id="188" name="Google Shape;188;p24"/>
          <p:cNvSpPr txBox="1">
            <a:spLocks noGrp="1"/>
          </p:cNvSpPr>
          <p:nvPr>
            <p:ph type="body" idx="2"/>
          </p:nvPr>
        </p:nvSpPr>
        <p:spPr>
          <a:xfrm>
            <a:off x="457690" y="950849"/>
            <a:ext cx="11451281" cy="4789551"/>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1600"/>
              <a:buNone/>
            </a:pPr>
            <a:endParaRPr sz="1600" b="1">
              <a:solidFill>
                <a:srgbClr val="002060"/>
              </a:solidFill>
            </a:endParaRPr>
          </a:p>
          <a:p>
            <a:pPr marL="0" lvl="0" indent="0" algn="just" rtl="0">
              <a:lnSpc>
                <a:spcPct val="90000"/>
              </a:lnSpc>
              <a:spcBef>
                <a:spcPts val="1000"/>
              </a:spcBef>
              <a:spcAft>
                <a:spcPts val="0"/>
              </a:spcAft>
              <a:buClr>
                <a:srgbClr val="002060"/>
              </a:buClr>
              <a:buSzPts val="1600"/>
              <a:buNone/>
            </a:pPr>
            <a:r>
              <a:rPr lang="it-IT" sz="1600" b="1">
                <a:solidFill>
                  <a:srgbClr val="002060"/>
                </a:solidFill>
              </a:rPr>
              <a:t>UNLIMITED 5G EP ONLINE CON SUPER FIBRA</a:t>
            </a:r>
            <a:r>
              <a:rPr lang="it-IT" sz="1600">
                <a:solidFill>
                  <a:srgbClr val="002060"/>
                </a:solidFill>
              </a:rPr>
              <a:t>, al costo di 9,99€ al mese prevede:</a:t>
            </a:r>
            <a:endParaRPr/>
          </a:p>
          <a:p>
            <a:pPr marL="228600" lvl="0" indent="-228600" algn="just" rtl="0">
              <a:lnSpc>
                <a:spcPct val="90000"/>
              </a:lnSpc>
              <a:spcBef>
                <a:spcPts val="1000"/>
              </a:spcBef>
              <a:spcAft>
                <a:spcPts val="0"/>
              </a:spcAft>
              <a:buClr>
                <a:srgbClr val="002060"/>
              </a:buClr>
              <a:buSzPts val="1600"/>
              <a:buChar char="•"/>
            </a:pPr>
            <a:r>
              <a:rPr lang="it-IT" sz="1600" b="1">
                <a:solidFill>
                  <a:srgbClr val="002060"/>
                </a:solidFill>
              </a:rPr>
              <a:t>Minuti illimitati </a:t>
            </a:r>
            <a:r>
              <a:rPr lang="it-IT" sz="1600">
                <a:solidFill>
                  <a:srgbClr val="002060"/>
                </a:solidFill>
              </a:rPr>
              <a:t>verso tutti, </a:t>
            </a:r>
            <a:endParaRPr/>
          </a:p>
          <a:p>
            <a:pPr marL="228600" lvl="0" indent="-228600" algn="just" rtl="0">
              <a:lnSpc>
                <a:spcPct val="90000"/>
              </a:lnSpc>
              <a:spcBef>
                <a:spcPts val="1000"/>
              </a:spcBef>
              <a:spcAft>
                <a:spcPts val="0"/>
              </a:spcAft>
              <a:buClr>
                <a:srgbClr val="002060"/>
              </a:buClr>
              <a:buSzPts val="1600"/>
              <a:buChar char="•"/>
            </a:pPr>
            <a:r>
              <a:rPr lang="it-IT" sz="1600" b="1">
                <a:solidFill>
                  <a:srgbClr val="002060"/>
                </a:solidFill>
              </a:rPr>
              <a:t>200 SMS </a:t>
            </a:r>
            <a:endParaRPr/>
          </a:p>
          <a:p>
            <a:pPr marL="228600" lvl="0" indent="-228600" algn="just" rtl="0">
              <a:lnSpc>
                <a:spcPct val="90000"/>
              </a:lnSpc>
              <a:spcBef>
                <a:spcPts val="1000"/>
              </a:spcBef>
              <a:spcAft>
                <a:spcPts val="0"/>
              </a:spcAft>
              <a:buClr>
                <a:srgbClr val="002060"/>
              </a:buClr>
              <a:buSzPts val="1600"/>
              <a:buChar char="•"/>
            </a:pPr>
            <a:r>
              <a:rPr lang="it-IT" sz="1600">
                <a:solidFill>
                  <a:srgbClr val="002060"/>
                </a:solidFill>
              </a:rPr>
              <a:t>100 Giga in 5G che diventano </a:t>
            </a:r>
            <a:r>
              <a:rPr lang="it-IT" sz="1600" b="1">
                <a:solidFill>
                  <a:srgbClr val="002060"/>
                </a:solidFill>
              </a:rPr>
              <a:t>GIGA  illimitati </a:t>
            </a:r>
            <a:r>
              <a:rPr lang="it-IT" sz="1600">
                <a:solidFill>
                  <a:srgbClr val="002060"/>
                </a:solidFill>
              </a:rPr>
              <a:t>a seguito dell'attivazione del fisso. Le ricordiamo di attivarli su Area Clienti o su APP WINDTRE</a:t>
            </a:r>
            <a:endParaRPr/>
          </a:p>
          <a:p>
            <a:pPr marL="228600" lvl="0" indent="-228600" algn="just" rtl="0">
              <a:lnSpc>
                <a:spcPct val="90000"/>
              </a:lnSpc>
              <a:spcBef>
                <a:spcPts val="1000"/>
              </a:spcBef>
              <a:spcAft>
                <a:spcPts val="0"/>
              </a:spcAft>
              <a:buClr>
                <a:srgbClr val="FF0000"/>
              </a:buClr>
              <a:buSzPts val="1600"/>
              <a:buChar char="•"/>
            </a:pPr>
            <a:r>
              <a:rPr lang="it-IT" sz="1600">
                <a:solidFill>
                  <a:srgbClr val="FF0000"/>
                </a:solidFill>
              </a:rPr>
              <a:t>Il costo di attivazione </a:t>
            </a:r>
            <a:r>
              <a:rPr lang="it-IT" sz="1600" b="1">
                <a:solidFill>
                  <a:srgbClr val="FF0000"/>
                </a:solidFill>
              </a:rPr>
              <a:t>è  0€ </a:t>
            </a:r>
            <a:endParaRPr sz="1600">
              <a:solidFill>
                <a:srgbClr val="002060"/>
              </a:solidFill>
            </a:endParaRPr>
          </a:p>
          <a:p>
            <a:pPr marL="0" lvl="0" indent="0" algn="just" rtl="0">
              <a:lnSpc>
                <a:spcPct val="90000"/>
              </a:lnSpc>
              <a:spcBef>
                <a:spcPts val="1000"/>
              </a:spcBef>
              <a:spcAft>
                <a:spcPts val="0"/>
              </a:spcAft>
              <a:buClr>
                <a:srgbClr val="002060"/>
              </a:buClr>
              <a:buSzPts val="1600"/>
              <a:buNone/>
            </a:pPr>
            <a:r>
              <a:rPr lang="it-IT" sz="1600">
                <a:solidFill>
                  <a:srgbClr val="002060"/>
                </a:solidFill>
              </a:rPr>
              <a:t>L'offerta si rinnova automaticamente ogni mese a partire dalla data di attivazione</a:t>
            </a:r>
            <a:endParaRPr/>
          </a:p>
          <a:p>
            <a:pPr marL="0" lvl="0" indent="0" algn="l" rtl="0">
              <a:lnSpc>
                <a:spcPct val="90000"/>
              </a:lnSpc>
              <a:spcBef>
                <a:spcPts val="1000"/>
              </a:spcBef>
              <a:spcAft>
                <a:spcPts val="0"/>
              </a:spcAft>
              <a:buClr>
                <a:srgbClr val="002060"/>
              </a:buClr>
              <a:buSzPts val="1600"/>
              <a:buNone/>
            </a:pPr>
            <a:r>
              <a:rPr lang="it-IT" sz="1600">
                <a:solidFill>
                  <a:srgbClr val="002060"/>
                </a:solidFill>
              </a:rPr>
              <a:t>Riceverà, direttamente a casa, la nuova SIM con un credito pari al costo del primo canone.</a:t>
            </a:r>
            <a:endParaRPr/>
          </a:p>
          <a:p>
            <a:pPr marL="0" lvl="0" indent="0" algn="l" rtl="0">
              <a:lnSpc>
                <a:spcPct val="90000"/>
              </a:lnSpc>
              <a:spcBef>
                <a:spcPts val="1000"/>
              </a:spcBef>
              <a:spcAft>
                <a:spcPts val="0"/>
              </a:spcAft>
              <a:buClr>
                <a:srgbClr val="002060"/>
              </a:buClr>
              <a:buSzPts val="1600"/>
              <a:buNone/>
            </a:pPr>
            <a:r>
              <a:rPr lang="it-IT" sz="1600">
                <a:solidFill>
                  <a:srgbClr val="002060"/>
                </a:solidFill>
              </a:rPr>
              <a:t>Può scegliere di pagare il rinnovo automatico mensile  tramite </a:t>
            </a:r>
            <a:r>
              <a:rPr lang="it-IT" sz="1600" b="1">
                <a:solidFill>
                  <a:srgbClr val="002060"/>
                </a:solidFill>
              </a:rPr>
              <a:t>Carta di credito o tramite IBAN</a:t>
            </a:r>
            <a:endParaRPr/>
          </a:p>
          <a:p>
            <a:pPr marL="228600" lvl="0" indent="-228600" algn="l" rtl="0">
              <a:lnSpc>
                <a:spcPct val="90000"/>
              </a:lnSpc>
              <a:spcBef>
                <a:spcPts val="1000"/>
              </a:spcBef>
              <a:spcAft>
                <a:spcPts val="0"/>
              </a:spcAft>
              <a:buClr>
                <a:srgbClr val="002060"/>
              </a:buClr>
              <a:buSzPts val="1600"/>
              <a:buChar char="•"/>
            </a:pPr>
            <a:r>
              <a:rPr lang="it-IT" sz="1600" b="1">
                <a:solidFill>
                  <a:srgbClr val="002060"/>
                </a:solidFill>
              </a:rPr>
              <a:t>Pagamento tramite CDC </a:t>
            </a:r>
            <a:r>
              <a:rPr lang="it-IT" sz="1600">
                <a:solidFill>
                  <a:srgbClr val="002060"/>
                </a:solidFill>
              </a:rPr>
              <a:t>le invierò un link, al numero su cui la sto contattando, tramite il quale potrà completare l’operazione inserendo i dati della sua carta di credito.Il link ha una validità di 24 ore, oltre le quali non sarà più valido e l’ordine verrà annullato.</a:t>
            </a:r>
            <a:endParaRPr/>
          </a:p>
          <a:p>
            <a:pPr marL="228600" lvl="0" indent="-228600" algn="l" rtl="0">
              <a:lnSpc>
                <a:spcPct val="90000"/>
              </a:lnSpc>
              <a:spcBef>
                <a:spcPts val="1000"/>
              </a:spcBef>
              <a:spcAft>
                <a:spcPts val="0"/>
              </a:spcAft>
              <a:buClr>
                <a:srgbClr val="002060"/>
              </a:buClr>
              <a:buSzPts val="1600"/>
              <a:buChar char="•"/>
            </a:pPr>
            <a:r>
              <a:rPr lang="it-IT" sz="1600" b="1">
                <a:solidFill>
                  <a:srgbClr val="002060"/>
                </a:solidFill>
              </a:rPr>
              <a:t>Pagamento tramite IBAN </a:t>
            </a:r>
            <a:r>
              <a:rPr lang="it-IT" sz="1600">
                <a:solidFill>
                  <a:srgbClr val="002060"/>
                </a:solidFill>
              </a:rPr>
              <a:t>(conto corrente); quindi le chiedo di fornirmi il codice IBAN a lei intestata su cui procedere.</a:t>
            </a:r>
            <a:endParaRPr/>
          </a:p>
        </p:txBody>
      </p:sp>
      <p:sp>
        <p:nvSpPr>
          <p:cNvPr id="189" name="Google Shape;189;p24"/>
          <p:cNvSpPr/>
          <p:nvPr/>
        </p:nvSpPr>
        <p:spPr>
          <a:xfrm>
            <a:off x="10092273" y="708460"/>
            <a:ext cx="1816698" cy="1087120"/>
          </a:xfrm>
          <a:prstGeom prst="rect">
            <a:avLst/>
          </a:prstGeom>
          <a:solidFill>
            <a:schemeClr val="accent1"/>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800" b="0" i="0" u="none" strike="noStrike" cap="none">
                <a:solidFill>
                  <a:schemeClr val="lt1"/>
                </a:solidFill>
                <a:latin typeface="Calibri"/>
                <a:ea typeface="Calibri"/>
                <a:cs typeface="Calibri"/>
                <a:sym typeface="Calibri"/>
              </a:rPr>
              <a:t>METODO  DI PAGAMENTO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5"/>
          <p:cNvSpPr txBox="1">
            <a:spLocks noGrp="1"/>
          </p:cNvSpPr>
          <p:nvPr>
            <p:ph type="title"/>
          </p:nvPr>
        </p:nvSpPr>
        <p:spPr>
          <a:xfrm>
            <a:off x="174662" y="-43380"/>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sz="4400" b="1">
                <a:solidFill>
                  <a:srgbClr val="002060"/>
                </a:solidFill>
              </a:rPr>
              <a:t>UNLIMITED 5G ONLINE CON SUPER FIBRA</a:t>
            </a:r>
            <a:endParaRPr b="1">
              <a:solidFill>
                <a:srgbClr val="002060"/>
              </a:solidFill>
            </a:endParaRPr>
          </a:p>
        </p:txBody>
      </p:sp>
      <p:sp>
        <p:nvSpPr>
          <p:cNvPr id="196" name="Google Shape;196;p25"/>
          <p:cNvSpPr txBox="1">
            <a:spLocks noGrp="1"/>
          </p:cNvSpPr>
          <p:nvPr>
            <p:ph type="body" idx="2"/>
          </p:nvPr>
        </p:nvSpPr>
        <p:spPr>
          <a:xfrm>
            <a:off x="131852" y="984813"/>
            <a:ext cx="11928296" cy="285798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1600"/>
              <a:buNone/>
            </a:pPr>
            <a:endParaRPr sz="1600" b="1">
              <a:solidFill>
                <a:srgbClr val="002060"/>
              </a:solidFill>
            </a:endParaRPr>
          </a:p>
          <a:p>
            <a:pPr marL="0" lvl="0" indent="0" algn="just" rtl="0">
              <a:lnSpc>
                <a:spcPct val="90000"/>
              </a:lnSpc>
              <a:spcBef>
                <a:spcPts val="1000"/>
              </a:spcBef>
              <a:spcAft>
                <a:spcPts val="0"/>
              </a:spcAft>
              <a:buClr>
                <a:srgbClr val="002060"/>
              </a:buClr>
              <a:buSzPts val="1600"/>
              <a:buNone/>
            </a:pPr>
            <a:r>
              <a:rPr lang="it-IT" sz="1600" b="1">
                <a:solidFill>
                  <a:srgbClr val="002060"/>
                </a:solidFill>
              </a:rPr>
              <a:t>UNLIMITED 5G ONLINE CON SUPER FIBRA</a:t>
            </a:r>
            <a:r>
              <a:rPr lang="it-IT" sz="1600">
                <a:solidFill>
                  <a:srgbClr val="002060"/>
                </a:solidFill>
              </a:rPr>
              <a:t>, al costo di 9,99€ al mese prevede:</a:t>
            </a:r>
            <a:endParaRPr/>
          </a:p>
          <a:p>
            <a:pPr marL="228600" lvl="0" indent="-228600" algn="just" rtl="0">
              <a:lnSpc>
                <a:spcPct val="90000"/>
              </a:lnSpc>
              <a:spcBef>
                <a:spcPts val="1000"/>
              </a:spcBef>
              <a:spcAft>
                <a:spcPts val="0"/>
              </a:spcAft>
              <a:buClr>
                <a:srgbClr val="002060"/>
              </a:buClr>
              <a:buSzPts val="1600"/>
              <a:buChar char="•"/>
            </a:pPr>
            <a:r>
              <a:rPr lang="it-IT" sz="1600" b="1">
                <a:solidFill>
                  <a:srgbClr val="002060"/>
                </a:solidFill>
              </a:rPr>
              <a:t>Minuti illimitati </a:t>
            </a:r>
            <a:r>
              <a:rPr lang="it-IT" sz="1600">
                <a:solidFill>
                  <a:srgbClr val="002060"/>
                </a:solidFill>
              </a:rPr>
              <a:t>verso tutti, </a:t>
            </a:r>
            <a:endParaRPr/>
          </a:p>
          <a:p>
            <a:pPr marL="228600" lvl="0" indent="-228600" algn="just" rtl="0">
              <a:lnSpc>
                <a:spcPct val="90000"/>
              </a:lnSpc>
              <a:spcBef>
                <a:spcPts val="1000"/>
              </a:spcBef>
              <a:spcAft>
                <a:spcPts val="0"/>
              </a:spcAft>
              <a:buClr>
                <a:srgbClr val="002060"/>
              </a:buClr>
              <a:buSzPts val="1600"/>
              <a:buChar char="•"/>
            </a:pPr>
            <a:r>
              <a:rPr lang="it-IT" sz="1600" b="1">
                <a:solidFill>
                  <a:srgbClr val="002060"/>
                </a:solidFill>
              </a:rPr>
              <a:t>200 SMS </a:t>
            </a:r>
            <a:endParaRPr/>
          </a:p>
          <a:p>
            <a:pPr marL="228600" lvl="0" indent="-228600" algn="just" rtl="0">
              <a:lnSpc>
                <a:spcPct val="90000"/>
              </a:lnSpc>
              <a:spcBef>
                <a:spcPts val="1000"/>
              </a:spcBef>
              <a:spcAft>
                <a:spcPts val="0"/>
              </a:spcAft>
              <a:buClr>
                <a:srgbClr val="002060"/>
              </a:buClr>
              <a:buSzPts val="1600"/>
              <a:buChar char="•"/>
            </a:pPr>
            <a:r>
              <a:rPr lang="it-IT" sz="1600">
                <a:solidFill>
                  <a:srgbClr val="002060"/>
                </a:solidFill>
              </a:rPr>
              <a:t>50 Giga in 5G che diventano  </a:t>
            </a:r>
            <a:r>
              <a:rPr lang="it-IT" sz="1600" b="1">
                <a:solidFill>
                  <a:srgbClr val="002060"/>
                </a:solidFill>
              </a:rPr>
              <a:t>GIGA</a:t>
            </a:r>
            <a:r>
              <a:rPr lang="it-IT" sz="1600">
                <a:solidFill>
                  <a:srgbClr val="002060"/>
                </a:solidFill>
              </a:rPr>
              <a:t> </a:t>
            </a:r>
            <a:r>
              <a:rPr lang="it-IT" sz="1600" b="1">
                <a:solidFill>
                  <a:srgbClr val="002060"/>
                </a:solidFill>
              </a:rPr>
              <a:t>illimitati</a:t>
            </a:r>
            <a:r>
              <a:rPr lang="it-IT" sz="1600">
                <a:solidFill>
                  <a:srgbClr val="002060"/>
                </a:solidFill>
              </a:rPr>
              <a:t> a seguito dell'attivazione del fisso. Le ricordiamo di attivarli su Area Clienti o su APP WINDTRE</a:t>
            </a:r>
            <a:endParaRPr/>
          </a:p>
          <a:p>
            <a:pPr marL="0" lvl="0" indent="0" algn="just" rtl="0">
              <a:lnSpc>
                <a:spcPct val="90000"/>
              </a:lnSpc>
              <a:spcBef>
                <a:spcPts val="1000"/>
              </a:spcBef>
              <a:spcAft>
                <a:spcPts val="0"/>
              </a:spcAft>
              <a:buClr>
                <a:srgbClr val="002060"/>
              </a:buClr>
              <a:buSzPts val="1600"/>
              <a:buNone/>
            </a:pPr>
            <a:r>
              <a:rPr lang="it-IT" sz="1600">
                <a:solidFill>
                  <a:srgbClr val="002060"/>
                </a:solidFill>
              </a:rPr>
              <a:t>L'offerta si rinnova automaticamente ogni mese a partire dalla data di attivazione</a:t>
            </a:r>
            <a:endParaRPr/>
          </a:p>
          <a:p>
            <a:pPr marL="0" lvl="0" indent="0" algn="just" rtl="0">
              <a:lnSpc>
                <a:spcPct val="90000"/>
              </a:lnSpc>
              <a:spcBef>
                <a:spcPts val="1000"/>
              </a:spcBef>
              <a:spcAft>
                <a:spcPts val="0"/>
              </a:spcAft>
              <a:buClr>
                <a:srgbClr val="002060"/>
              </a:buClr>
              <a:buSzPts val="1600"/>
              <a:buNone/>
            </a:pPr>
            <a:r>
              <a:rPr lang="it-IT" sz="1600">
                <a:solidFill>
                  <a:srgbClr val="002060"/>
                </a:solidFill>
              </a:rPr>
              <a:t>Il costo di attivazione </a:t>
            </a:r>
            <a:r>
              <a:rPr lang="it-IT" sz="1600" b="1">
                <a:solidFill>
                  <a:srgbClr val="002060"/>
                </a:solidFill>
              </a:rPr>
              <a:t>è in promozione a 0€ </a:t>
            </a:r>
            <a:r>
              <a:rPr lang="it-IT" sz="1600">
                <a:solidFill>
                  <a:srgbClr val="002060"/>
                </a:solidFill>
              </a:rPr>
              <a:t>INVECE DI 10€ per i clienti che mantengono attiva la SIM per 24 mesi, altrimenti l'importo di 10€ scontati nella promozione sarà addebitato sul credito residuo.</a:t>
            </a:r>
            <a:endParaRPr/>
          </a:p>
          <a:p>
            <a:pPr marL="0" lvl="0" indent="0" algn="just" rtl="0">
              <a:lnSpc>
                <a:spcPct val="90000"/>
              </a:lnSpc>
              <a:spcBef>
                <a:spcPts val="1000"/>
              </a:spcBef>
              <a:spcAft>
                <a:spcPts val="0"/>
              </a:spcAft>
              <a:buClr>
                <a:schemeClr val="dk1"/>
              </a:buClr>
              <a:buSzPts val="1600"/>
              <a:buNone/>
            </a:pPr>
            <a:endParaRPr sz="1600">
              <a:solidFill>
                <a:srgbClr val="002060"/>
              </a:solidFill>
            </a:endParaRPr>
          </a:p>
          <a:p>
            <a:pPr marL="0" lvl="0" indent="0" algn="just" rtl="0">
              <a:lnSpc>
                <a:spcPct val="90000"/>
              </a:lnSpc>
              <a:spcBef>
                <a:spcPts val="1000"/>
              </a:spcBef>
              <a:spcAft>
                <a:spcPts val="0"/>
              </a:spcAft>
              <a:buClr>
                <a:schemeClr val="dk1"/>
              </a:buClr>
              <a:buSzPts val="1600"/>
              <a:buNone/>
            </a:pPr>
            <a:endParaRPr sz="1600">
              <a:solidFill>
                <a:srgbClr val="002060"/>
              </a:solidFill>
            </a:endParaRPr>
          </a:p>
          <a:p>
            <a:pPr marL="0" lvl="0" indent="0" algn="just" rtl="0">
              <a:lnSpc>
                <a:spcPct val="90000"/>
              </a:lnSpc>
              <a:spcBef>
                <a:spcPts val="1000"/>
              </a:spcBef>
              <a:spcAft>
                <a:spcPts val="0"/>
              </a:spcAft>
              <a:buClr>
                <a:schemeClr val="dk1"/>
              </a:buClr>
              <a:buSzPts val="1600"/>
              <a:buNone/>
            </a:pPr>
            <a:endParaRPr sz="1600">
              <a:solidFill>
                <a:srgbClr val="002060"/>
              </a:solidFill>
            </a:endParaRPr>
          </a:p>
          <a:p>
            <a:pPr marL="0" lvl="0" indent="0" algn="just" rtl="0">
              <a:lnSpc>
                <a:spcPct val="90000"/>
              </a:lnSpc>
              <a:spcBef>
                <a:spcPts val="1000"/>
              </a:spcBef>
              <a:spcAft>
                <a:spcPts val="0"/>
              </a:spcAft>
              <a:buClr>
                <a:schemeClr val="dk1"/>
              </a:buClr>
              <a:buSzPts val="1600"/>
              <a:buNone/>
            </a:pPr>
            <a:endParaRPr sz="1600" b="1">
              <a:solidFill>
                <a:srgbClr val="002060"/>
              </a:solidFill>
            </a:endParaRPr>
          </a:p>
        </p:txBody>
      </p:sp>
      <p:sp>
        <p:nvSpPr>
          <p:cNvPr id="197" name="Google Shape;197;p25"/>
          <p:cNvSpPr/>
          <p:nvPr/>
        </p:nvSpPr>
        <p:spPr>
          <a:xfrm>
            <a:off x="10092273" y="708460"/>
            <a:ext cx="1816698" cy="1087120"/>
          </a:xfrm>
          <a:prstGeom prst="rect">
            <a:avLst/>
          </a:prstGeom>
          <a:solidFill>
            <a:schemeClr val="accent1"/>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800" b="0" i="0" u="none" strike="noStrike" cap="none">
                <a:solidFill>
                  <a:schemeClr val="lt1"/>
                </a:solidFill>
                <a:latin typeface="Calibri"/>
                <a:ea typeface="Calibri"/>
                <a:cs typeface="Calibri"/>
                <a:sym typeface="Calibri"/>
              </a:rPr>
              <a:t>CREDITO RESIDUO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8"/>
          <p:cNvSpPr txBox="1"/>
          <p:nvPr/>
        </p:nvSpPr>
        <p:spPr>
          <a:xfrm>
            <a:off x="263704" y="933120"/>
            <a:ext cx="11743239" cy="5652737"/>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dk1"/>
              </a:buClr>
              <a:buSzPts val="1600"/>
              <a:buFont typeface="Arial"/>
              <a:buNone/>
            </a:pPr>
            <a:r>
              <a:rPr lang="it-IT" sz="1600" b="1">
                <a:solidFill>
                  <a:schemeClr val="dk1"/>
                </a:solidFill>
                <a:highlight>
                  <a:srgbClr val="FFFF00"/>
                </a:highlight>
                <a:latin typeface="Calibri"/>
                <a:ea typeface="Calibri"/>
                <a:cs typeface="Calibri"/>
                <a:sym typeface="Calibri"/>
              </a:rPr>
              <a:t>Solo se il Cliente ha già un’offerta WINDTRE associata in convergenza al Fisso, può intestare sullo stesso C.F. altre 2 SIM con questa offerta</a:t>
            </a:r>
            <a:endParaRPr sz="1600" b="1">
              <a:solidFill>
                <a:schemeClr val="dk1"/>
              </a:solidFill>
              <a:highlight>
                <a:srgbClr val="FFFF00"/>
              </a:highlight>
              <a:latin typeface="Calibri"/>
              <a:ea typeface="Calibri"/>
              <a:cs typeface="Calibri"/>
              <a:sym typeface="Calibri"/>
            </a:endParaRPr>
          </a:p>
          <a:p>
            <a:pPr marL="0" marR="0" lvl="0" indent="0" algn="just" rtl="0">
              <a:lnSpc>
                <a:spcPct val="90000"/>
              </a:lnSpc>
              <a:spcBef>
                <a:spcPts val="1000"/>
              </a:spcBef>
              <a:spcAft>
                <a:spcPts val="0"/>
              </a:spcAft>
              <a:buClr>
                <a:schemeClr val="dk1"/>
              </a:buClr>
              <a:buSzPts val="1600"/>
              <a:buFont typeface="Arial"/>
              <a:buNone/>
            </a:pPr>
            <a:r>
              <a:rPr lang="it-IT" sz="1600">
                <a:solidFill>
                  <a:schemeClr val="dk1"/>
                </a:solidFill>
                <a:latin typeface="Calibri"/>
                <a:ea typeface="Calibri"/>
                <a:cs typeface="Calibri"/>
                <a:sym typeface="Calibri"/>
              </a:rPr>
              <a:t>Family 5G EP On Line con Super Fibra</a:t>
            </a:r>
            <a:r>
              <a:rPr lang="it-IT" sz="1600">
                <a:solidFill>
                  <a:srgbClr val="002060"/>
                </a:solidFill>
                <a:latin typeface="Calibri"/>
                <a:ea typeface="Calibri"/>
                <a:cs typeface="Calibri"/>
                <a:sym typeface="Calibri"/>
              </a:rPr>
              <a:t>, </a:t>
            </a:r>
            <a:r>
              <a:rPr lang="it-IT" sz="1600">
                <a:solidFill>
                  <a:srgbClr val="1F3864"/>
                </a:solidFill>
                <a:latin typeface="Calibri"/>
                <a:ea typeface="Calibri"/>
                <a:cs typeface="Calibri"/>
                <a:sym typeface="Calibri"/>
              </a:rPr>
              <a:t>al costo di </a:t>
            </a:r>
            <a:r>
              <a:rPr lang="it-IT" sz="1600" b="1">
                <a:solidFill>
                  <a:srgbClr val="1F3864"/>
                </a:solidFill>
                <a:latin typeface="Calibri"/>
                <a:ea typeface="Calibri"/>
                <a:cs typeface="Calibri"/>
                <a:sym typeface="Calibri"/>
              </a:rPr>
              <a:t>7,99€</a:t>
            </a:r>
            <a:r>
              <a:rPr lang="it-IT" sz="1600">
                <a:solidFill>
                  <a:srgbClr val="1F3864"/>
                </a:solidFill>
                <a:latin typeface="Calibri"/>
                <a:ea typeface="Calibri"/>
                <a:cs typeface="Calibri"/>
                <a:sym typeface="Calibri"/>
              </a:rPr>
              <a:t> al mese. </a:t>
            </a:r>
            <a:endParaRPr/>
          </a:p>
          <a:p>
            <a:pPr marL="0" marR="0" lvl="0" indent="0" algn="just" rtl="0">
              <a:lnSpc>
                <a:spcPct val="90000"/>
              </a:lnSpc>
              <a:spcBef>
                <a:spcPts val="1000"/>
              </a:spcBef>
              <a:spcAft>
                <a:spcPts val="0"/>
              </a:spcAft>
              <a:buClr>
                <a:srgbClr val="1F3864"/>
              </a:buClr>
              <a:buSzPts val="1600"/>
              <a:buFont typeface="Arial"/>
              <a:buNone/>
            </a:pPr>
            <a:r>
              <a:rPr lang="it-IT" sz="1600">
                <a:solidFill>
                  <a:srgbClr val="1F3864"/>
                </a:solidFill>
                <a:latin typeface="Calibri"/>
                <a:ea typeface="Calibri"/>
                <a:cs typeface="Calibri"/>
                <a:sym typeface="Calibri"/>
              </a:rPr>
              <a:t>L’offerta include</a:t>
            </a:r>
            <a:endParaRPr sz="1600">
              <a:solidFill>
                <a:srgbClr val="002060"/>
              </a:solidFill>
              <a:latin typeface="Calibri"/>
              <a:ea typeface="Calibri"/>
              <a:cs typeface="Calibri"/>
              <a:sym typeface="Calibri"/>
            </a:endParaRPr>
          </a:p>
          <a:p>
            <a:pPr marL="228600" marR="0" lvl="0" indent="-228600" algn="just" rtl="0">
              <a:lnSpc>
                <a:spcPct val="90000"/>
              </a:lnSpc>
              <a:spcBef>
                <a:spcPts val="1000"/>
              </a:spcBef>
              <a:spcAft>
                <a:spcPts val="0"/>
              </a:spcAft>
              <a:buClr>
                <a:srgbClr val="002060"/>
              </a:buClr>
              <a:buSzPts val="1600"/>
              <a:buFont typeface="Arial"/>
              <a:buChar char="•"/>
            </a:pPr>
            <a:r>
              <a:rPr lang="it-IT" sz="1600" b="1">
                <a:solidFill>
                  <a:srgbClr val="002060"/>
                </a:solidFill>
                <a:latin typeface="Calibri"/>
                <a:ea typeface="Calibri"/>
                <a:cs typeface="Calibri"/>
                <a:sym typeface="Calibri"/>
              </a:rPr>
              <a:t>Minuti illimitati </a:t>
            </a:r>
            <a:r>
              <a:rPr lang="it-IT" sz="1600">
                <a:solidFill>
                  <a:srgbClr val="002060"/>
                </a:solidFill>
                <a:latin typeface="Calibri"/>
                <a:ea typeface="Calibri"/>
                <a:cs typeface="Calibri"/>
                <a:sym typeface="Calibri"/>
              </a:rPr>
              <a:t>verso tutti, </a:t>
            </a:r>
            <a:endParaRPr/>
          </a:p>
          <a:p>
            <a:pPr marL="228600" marR="0" lvl="0" indent="-228600" algn="just" rtl="0">
              <a:lnSpc>
                <a:spcPct val="90000"/>
              </a:lnSpc>
              <a:spcBef>
                <a:spcPts val="1000"/>
              </a:spcBef>
              <a:spcAft>
                <a:spcPts val="0"/>
              </a:spcAft>
              <a:buClr>
                <a:srgbClr val="002060"/>
              </a:buClr>
              <a:buSzPts val="1600"/>
              <a:buFont typeface="Arial"/>
              <a:buChar char="•"/>
            </a:pPr>
            <a:r>
              <a:rPr lang="it-IT" sz="1600" b="1">
                <a:solidFill>
                  <a:srgbClr val="002060"/>
                </a:solidFill>
                <a:latin typeface="Calibri"/>
                <a:ea typeface="Calibri"/>
                <a:cs typeface="Calibri"/>
                <a:sym typeface="Calibri"/>
              </a:rPr>
              <a:t>200 SMS </a:t>
            </a:r>
            <a:endParaRPr/>
          </a:p>
          <a:p>
            <a:pPr marL="228600" marR="0" lvl="0" indent="-228600" algn="just" rtl="0">
              <a:lnSpc>
                <a:spcPct val="90000"/>
              </a:lnSpc>
              <a:spcBef>
                <a:spcPts val="1000"/>
              </a:spcBef>
              <a:spcAft>
                <a:spcPts val="0"/>
              </a:spcAft>
              <a:buClr>
                <a:srgbClr val="002060"/>
              </a:buClr>
              <a:buSzPts val="1600"/>
              <a:buFont typeface="Arial"/>
              <a:buChar char="•"/>
            </a:pPr>
            <a:r>
              <a:rPr lang="it-IT" sz="1600">
                <a:solidFill>
                  <a:srgbClr val="002060"/>
                </a:solidFill>
                <a:latin typeface="Calibri"/>
                <a:ea typeface="Calibri"/>
                <a:cs typeface="Calibri"/>
                <a:sym typeface="Calibri"/>
              </a:rPr>
              <a:t>100 Giga in 5G che diventano </a:t>
            </a:r>
            <a:r>
              <a:rPr lang="it-IT" sz="1600" b="1">
                <a:solidFill>
                  <a:srgbClr val="002060"/>
                </a:solidFill>
                <a:latin typeface="Calibri"/>
                <a:ea typeface="Calibri"/>
                <a:cs typeface="Calibri"/>
                <a:sym typeface="Calibri"/>
              </a:rPr>
              <a:t>GIGA  illimitati </a:t>
            </a:r>
            <a:r>
              <a:rPr lang="it-IT" sz="1600">
                <a:solidFill>
                  <a:srgbClr val="002060"/>
                </a:solidFill>
                <a:latin typeface="Calibri"/>
                <a:ea typeface="Calibri"/>
                <a:cs typeface="Calibri"/>
                <a:sym typeface="Calibri"/>
              </a:rPr>
              <a:t>a seguito dell'attivazione del fisso. Le ricordiamo di attivarli su Area Clienti o su APP WINDTRE</a:t>
            </a:r>
            <a:endParaRPr/>
          </a:p>
          <a:p>
            <a:pPr marL="228600" marR="0" lvl="0" indent="-228600" algn="just" rtl="0">
              <a:lnSpc>
                <a:spcPct val="90000"/>
              </a:lnSpc>
              <a:spcBef>
                <a:spcPts val="1000"/>
              </a:spcBef>
              <a:spcAft>
                <a:spcPts val="0"/>
              </a:spcAft>
              <a:buClr>
                <a:srgbClr val="1F3864"/>
              </a:buClr>
              <a:buSzPts val="1600"/>
              <a:buFont typeface="Arial"/>
              <a:buChar char="•"/>
            </a:pPr>
            <a:r>
              <a:rPr lang="it-IT" sz="1600" b="1">
                <a:solidFill>
                  <a:srgbClr val="1F3864"/>
                </a:solidFill>
                <a:latin typeface="Montserrat"/>
                <a:ea typeface="Montserrat"/>
                <a:cs typeface="Montserrat"/>
                <a:sym typeface="Montserrat"/>
              </a:rPr>
              <a:t>C</a:t>
            </a:r>
            <a:r>
              <a:rPr lang="it-IT" sz="1600" b="1">
                <a:solidFill>
                  <a:srgbClr val="1F3864"/>
                </a:solidFill>
                <a:latin typeface="Calibri"/>
                <a:ea typeface="Calibri"/>
                <a:cs typeface="Calibri"/>
                <a:sym typeface="Calibri"/>
              </a:rPr>
              <a:t>osto di attivazione </a:t>
            </a:r>
            <a:r>
              <a:rPr lang="it-IT" sz="1600">
                <a:solidFill>
                  <a:srgbClr val="FF0000"/>
                </a:solidFill>
                <a:latin typeface="Calibri"/>
                <a:ea typeface="Calibri"/>
                <a:cs typeface="Calibri"/>
                <a:sym typeface="Calibri"/>
              </a:rPr>
              <a:t>Il costo di attivazione </a:t>
            </a:r>
            <a:r>
              <a:rPr lang="it-IT" sz="1600" b="1">
                <a:solidFill>
                  <a:srgbClr val="FF0000"/>
                </a:solidFill>
                <a:latin typeface="Calibri"/>
                <a:ea typeface="Calibri"/>
                <a:cs typeface="Calibri"/>
                <a:sym typeface="Calibri"/>
              </a:rPr>
              <a:t>è  0€ </a:t>
            </a:r>
            <a:endParaRPr sz="1600" b="1">
              <a:solidFill>
                <a:srgbClr val="002060"/>
              </a:solidFill>
              <a:latin typeface="Calibri"/>
              <a:ea typeface="Calibri"/>
              <a:cs typeface="Calibri"/>
              <a:sym typeface="Calibri"/>
            </a:endParaRPr>
          </a:p>
          <a:p>
            <a:pPr marL="228600" marR="0" lvl="0" indent="-228600" algn="just" rtl="0">
              <a:lnSpc>
                <a:spcPct val="90000"/>
              </a:lnSpc>
              <a:spcBef>
                <a:spcPts val="1000"/>
              </a:spcBef>
              <a:spcAft>
                <a:spcPts val="0"/>
              </a:spcAft>
              <a:buClr>
                <a:srgbClr val="002060"/>
              </a:buClr>
              <a:buSzPts val="1600"/>
              <a:buFont typeface="Arial"/>
              <a:buChar char="•"/>
            </a:pPr>
            <a:r>
              <a:rPr lang="it-IT" sz="1600">
                <a:solidFill>
                  <a:srgbClr val="002060"/>
                </a:solidFill>
                <a:latin typeface="Calibri"/>
                <a:ea typeface="Calibri"/>
                <a:cs typeface="Calibri"/>
                <a:sym typeface="Calibri"/>
              </a:rPr>
              <a:t>L'offerta si rinnova automaticamente ogni mese a partire dalla data di attivazione</a:t>
            </a:r>
            <a:endParaRPr/>
          </a:p>
          <a:p>
            <a:pPr marL="0" marR="0" lvl="0" indent="0" algn="l" rtl="0">
              <a:lnSpc>
                <a:spcPct val="90000"/>
              </a:lnSpc>
              <a:spcBef>
                <a:spcPts val="1000"/>
              </a:spcBef>
              <a:spcAft>
                <a:spcPts val="0"/>
              </a:spcAft>
              <a:buClr>
                <a:srgbClr val="002060"/>
              </a:buClr>
              <a:buSzPts val="1600"/>
              <a:buFont typeface="Arial"/>
              <a:buNone/>
            </a:pPr>
            <a:r>
              <a:rPr lang="it-IT" sz="1600" b="1">
                <a:solidFill>
                  <a:srgbClr val="002060"/>
                </a:solidFill>
                <a:latin typeface="Calibri"/>
                <a:ea typeface="Calibri"/>
                <a:cs typeface="Calibri"/>
                <a:sym typeface="Calibri"/>
              </a:rPr>
              <a:t>Riceverà, direttamente a casa, la nuova SIM con un credito pari al costo del primo canone.</a:t>
            </a:r>
            <a:endParaRPr/>
          </a:p>
          <a:p>
            <a:pPr marL="0" marR="0" lvl="0" indent="0" algn="l" rtl="0">
              <a:lnSpc>
                <a:spcPct val="90000"/>
              </a:lnSpc>
              <a:spcBef>
                <a:spcPts val="1000"/>
              </a:spcBef>
              <a:spcAft>
                <a:spcPts val="0"/>
              </a:spcAft>
              <a:buClr>
                <a:srgbClr val="002060"/>
              </a:buClr>
              <a:buSzPts val="1600"/>
              <a:buFont typeface="Arial"/>
              <a:buNone/>
            </a:pPr>
            <a:r>
              <a:rPr lang="it-IT" sz="1600">
                <a:solidFill>
                  <a:srgbClr val="002060"/>
                </a:solidFill>
                <a:latin typeface="Calibri"/>
                <a:ea typeface="Calibri"/>
                <a:cs typeface="Calibri"/>
                <a:sym typeface="Calibri"/>
              </a:rPr>
              <a:t>Può scegliere di pagare il rinnovo automatico mensile  tramite </a:t>
            </a:r>
            <a:r>
              <a:rPr lang="it-IT" sz="1600" b="1">
                <a:solidFill>
                  <a:srgbClr val="002060"/>
                </a:solidFill>
                <a:latin typeface="Calibri"/>
                <a:ea typeface="Calibri"/>
                <a:cs typeface="Calibri"/>
                <a:sym typeface="Calibri"/>
              </a:rPr>
              <a:t>tramite IBAN o Carta di credito </a:t>
            </a:r>
            <a:endParaRPr/>
          </a:p>
          <a:p>
            <a:pPr marL="228600" marR="0" lvl="0" indent="-228600" algn="l" rtl="0">
              <a:lnSpc>
                <a:spcPct val="90000"/>
              </a:lnSpc>
              <a:spcBef>
                <a:spcPts val="1000"/>
              </a:spcBef>
              <a:spcAft>
                <a:spcPts val="0"/>
              </a:spcAft>
              <a:buClr>
                <a:srgbClr val="FF0000"/>
              </a:buClr>
              <a:buSzPts val="1600"/>
              <a:buFont typeface="Arial"/>
              <a:buChar char="•"/>
            </a:pPr>
            <a:r>
              <a:rPr lang="it-IT" sz="1600" b="1">
                <a:solidFill>
                  <a:srgbClr val="FF0000"/>
                </a:solidFill>
                <a:latin typeface="Calibri"/>
                <a:ea typeface="Calibri"/>
                <a:cs typeface="Calibri"/>
                <a:sym typeface="Calibri"/>
              </a:rPr>
              <a:t>Pagamento tramite IBAN </a:t>
            </a:r>
            <a:r>
              <a:rPr lang="it-IT" sz="1600">
                <a:solidFill>
                  <a:srgbClr val="FF0000"/>
                </a:solidFill>
                <a:latin typeface="Calibri"/>
                <a:ea typeface="Calibri"/>
                <a:cs typeface="Calibri"/>
                <a:sym typeface="Calibri"/>
              </a:rPr>
              <a:t>(conto corrente); quindi le chiedo di fornirmi il codice IBAN a lei intestata su cui procedere.</a:t>
            </a:r>
            <a:r>
              <a:rPr lang="it-IT" sz="1600" b="1">
                <a:solidFill>
                  <a:srgbClr val="FF0000"/>
                </a:solidFill>
                <a:latin typeface="Calibri"/>
                <a:ea typeface="Calibri"/>
                <a:cs typeface="Calibri"/>
                <a:sym typeface="Calibri"/>
              </a:rPr>
              <a:t> </a:t>
            </a:r>
            <a:endParaRPr/>
          </a:p>
          <a:p>
            <a:pPr marL="228600" marR="0" lvl="0" indent="-228600" algn="l" rtl="0">
              <a:lnSpc>
                <a:spcPct val="90000"/>
              </a:lnSpc>
              <a:spcBef>
                <a:spcPts val="1000"/>
              </a:spcBef>
              <a:spcAft>
                <a:spcPts val="0"/>
              </a:spcAft>
              <a:buClr>
                <a:srgbClr val="002060"/>
              </a:buClr>
              <a:buSzPts val="1600"/>
              <a:buFont typeface="Arial"/>
              <a:buChar char="•"/>
            </a:pPr>
            <a:r>
              <a:rPr lang="it-IT" sz="1600" b="1">
                <a:solidFill>
                  <a:srgbClr val="002060"/>
                </a:solidFill>
                <a:latin typeface="Calibri"/>
                <a:ea typeface="Calibri"/>
                <a:cs typeface="Calibri"/>
                <a:sym typeface="Calibri"/>
              </a:rPr>
              <a:t>Pagamento tramite Carta di Credito </a:t>
            </a:r>
            <a:r>
              <a:rPr lang="it-IT" sz="1600">
                <a:solidFill>
                  <a:srgbClr val="002060"/>
                </a:solidFill>
                <a:latin typeface="Calibri"/>
                <a:ea typeface="Calibri"/>
                <a:cs typeface="Calibri"/>
                <a:sym typeface="Calibri"/>
              </a:rPr>
              <a:t>le invierò un link, al numero su cui la sto contattando, tramite il quale potrà completare l’operazione inserendo i dati della sua carta di credito. Il link ha una validità di 24 ore, oltre le quali non sarà più valido e l’ordine verrà annullato.</a:t>
            </a:r>
            <a:endParaRPr/>
          </a:p>
          <a:p>
            <a:pPr marL="228600" marR="0" lvl="0" indent="-127000" algn="l" rtl="0">
              <a:lnSpc>
                <a:spcPct val="90000"/>
              </a:lnSpc>
              <a:spcBef>
                <a:spcPts val="1000"/>
              </a:spcBef>
              <a:spcAft>
                <a:spcPts val="0"/>
              </a:spcAft>
              <a:buClr>
                <a:schemeClr val="dk1"/>
              </a:buClr>
              <a:buSzPts val="1600"/>
              <a:buFont typeface="Arial"/>
              <a:buNone/>
            </a:pPr>
            <a:endParaRPr sz="1600">
              <a:solidFill>
                <a:srgbClr val="002060"/>
              </a:solidFill>
              <a:latin typeface="Calibri"/>
              <a:ea typeface="Calibri"/>
              <a:cs typeface="Calibri"/>
              <a:sym typeface="Calibri"/>
            </a:endParaRPr>
          </a:p>
        </p:txBody>
      </p:sp>
      <p:sp>
        <p:nvSpPr>
          <p:cNvPr id="217" name="Google Shape;217;p28"/>
          <p:cNvSpPr txBox="1"/>
          <p:nvPr/>
        </p:nvSpPr>
        <p:spPr>
          <a:xfrm>
            <a:off x="131852" y="120134"/>
            <a:ext cx="11069548"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4400"/>
              <a:buFont typeface="Calibri"/>
              <a:buNone/>
            </a:pPr>
            <a:r>
              <a:rPr lang="it-IT" sz="4400">
                <a:solidFill>
                  <a:schemeClr val="dk1"/>
                </a:solidFill>
                <a:latin typeface="Calibri"/>
                <a:ea typeface="Calibri"/>
                <a:cs typeface="Calibri"/>
                <a:sym typeface="Calibri"/>
              </a:rPr>
              <a:t>Family 5G EP On Line con Super Fibra</a:t>
            </a:r>
            <a:endParaRPr/>
          </a:p>
        </p:txBody>
      </p:sp>
      <p:sp>
        <p:nvSpPr>
          <p:cNvPr id="218" name="Google Shape;218;p28"/>
          <p:cNvSpPr/>
          <p:nvPr/>
        </p:nvSpPr>
        <p:spPr>
          <a:xfrm>
            <a:off x="10322097" y="70595"/>
            <a:ext cx="1684846" cy="769441"/>
          </a:xfrm>
          <a:prstGeom prst="rect">
            <a:avLst/>
          </a:prstGeom>
          <a:solidFill>
            <a:schemeClr val="accent1"/>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800">
                <a:solidFill>
                  <a:schemeClr val="lt1"/>
                </a:solidFill>
                <a:latin typeface="Calibri"/>
                <a:ea typeface="Calibri"/>
                <a:cs typeface="Calibri"/>
                <a:sym typeface="Calibri"/>
              </a:rPr>
              <a:t>METODO  DI PAGAMENTO</a:t>
            </a:r>
            <a:endParaRPr/>
          </a:p>
        </p:txBody>
      </p:sp>
      <p:sp>
        <p:nvSpPr>
          <p:cNvPr id="219" name="Google Shape;219;p28"/>
          <p:cNvSpPr/>
          <p:nvPr/>
        </p:nvSpPr>
        <p:spPr>
          <a:xfrm>
            <a:off x="544286" y="-22489"/>
            <a:ext cx="1219200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9"/>
          <p:cNvSpPr txBox="1"/>
          <p:nvPr/>
        </p:nvSpPr>
        <p:spPr>
          <a:xfrm>
            <a:off x="496471" y="424934"/>
            <a:ext cx="1082467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4400"/>
              <a:buFont typeface="Calibri"/>
              <a:buNone/>
            </a:pPr>
            <a:r>
              <a:rPr lang="it-IT" sz="4400">
                <a:solidFill>
                  <a:schemeClr val="dk1"/>
                </a:solidFill>
                <a:latin typeface="Calibri"/>
                <a:ea typeface="Calibri"/>
                <a:cs typeface="Calibri"/>
                <a:sym typeface="Calibri"/>
              </a:rPr>
              <a:t>Family 5G On Line con Super Fibra</a:t>
            </a:r>
            <a:endParaRPr/>
          </a:p>
        </p:txBody>
      </p:sp>
      <p:sp>
        <p:nvSpPr>
          <p:cNvPr id="225" name="Google Shape;225;p29"/>
          <p:cNvSpPr txBox="1"/>
          <p:nvPr/>
        </p:nvSpPr>
        <p:spPr>
          <a:xfrm>
            <a:off x="224381" y="1702562"/>
            <a:ext cx="11597506" cy="3831920"/>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dk1"/>
              </a:buClr>
              <a:buSzPts val="1600"/>
              <a:buFont typeface="Arial"/>
              <a:buNone/>
            </a:pPr>
            <a:endParaRPr sz="1600" b="1">
              <a:solidFill>
                <a:schemeClr val="dk1"/>
              </a:solidFill>
              <a:latin typeface="Calibri"/>
              <a:ea typeface="Calibri"/>
              <a:cs typeface="Calibri"/>
              <a:sym typeface="Calibri"/>
            </a:endParaRPr>
          </a:p>
          <a:p>
            <a:pPr marL="0" marR="0" lvl="0" indent="0" algn="just" rtl="0">
              <a:lnSpc>
                <a:spcPct val="90000"/>
              </a:lnSpc>
              <a:spcBef>
                <a:spcPts val="1000"/>
              </a:spcBef>
              <a:spcAft>
                <a:spcPts val="0"/>
              </a:spcAft>
              <a:buClr>
                <a:schemeClr val="dk1"/>
              </a:buClr>
              <a:buSzPts val="1600"/>
              <a:buFont typeface="Arial"/>
              <a:buNone/>
            </a:pPr>
            <a:endParaRPr sz="1600" b="1">
              <a:solidFill>
                <a:schemeClr val="dk1"/>
              </a:solidFill>
              <a:latin typeface="Calibri"/>
              <a:ea typeface="Calibri"/>
              <a:cs typeface="Calibri"/>
              <a:sym typeface="Calibri"/>
            </a:endParaRPr>
          </a:p>
          <a:p>
            <a:pPr marL="0" marR="0" lvl="0" indent="0" algn="just" rtl="0">
              <a:lnSpc>
                <a:spcPct val="90000"/>
              </a:lnSpc>
              <a:spcBef>
                <a:spcPts val="1000"/>
              </a:spcBef>
              <a:spcAft>
                <a:spcPts val="0"/>
              </a:spcAft>
              <a:buClr>
                <a:schemeClr val="dk1"/>
              </a:buClr>
              <a:buSzPts val="1600"/>
              <a:buFont typeface="Arial"/>
              <a:buNone/>
            </a:pPr>
            <a:r>
              <a:rPr lang="it-IT" sz="1600" b="1">
                <a:solidFill>
                  <a:schemeClr val="dk1"/>
                </a:solidFill>
                <a:latin typeface="Calibri"/>
                <a:ea typeface="Calibri"/>
                <a:cs typeface="Calibri"/>
                <a:sym typeface="Calibri"/>
              </a:rPr>
              <a:t>Family 5G On Line con Super Fibra</a:t>
            </a:r>
            <a:r>
              <a:rPr lang="it-IT" sz="1600">
                <a:solidFill>
                  <a:srgbClr val="002060"/>
                </a:solidFill>
                <a:latin typeface="Calibri"/>
                <a:ea typeface="Calibri"/>
                <a:cs typeface="Calibri"/>
                <a:sym typeface="Calibri"/>
              </a:rPr>
              <a:t>, </a:t>
            </a:r>
            <a:r>
              <a:rPr lang="it-IT" sz="1600">
                <a:solidFill>
                  <a:srgbClr val="1F3864"/>
                </a:solidFill>
                <a:latin typeface="Calibri"/>
                <a:ea typeface="Calibri"/>
                <a:cs typeface="Calibri"/>
                <a:sym typeface="Calibri"/>
              </a:rPr>
              <a:t>al costo di 7,99€ al mese</a:t>
            </a:r>
            <a:endParaRPr/>
          </a:p>
          <a:p>
            <a:pPr marL="0" marR="0" lvl="0" indent="0" algn="just" rtl="0">
              <a:lnSpc>
                <a:spcPct val="90000"/>
              </a:lnSpc>
              <a:spcBef>
                <a:spcPts val="1000"/>
              </a:spcBef>
              <a:spcAft>
                <a:spcPts val="0"/>
              </a:spcAft>
              <a:buClr>
                <a:srgbClr val="1F3864"/>
              </a:buClr>
              <a:buSzPts val="1600"/>
              <a:buFont typeface="Arial"/>
              <a:buNone/>
            </a:pPr>
            <a:r>
              <a:rPr lang="it-IT" sz="1600">
                <a:solidFill>
                  <a:srgbClr val="1F3864"/>
                </a:solidFill>
                <a:latin typeface="Calibri"/>
                <a:ea typeface="Calibri"/>
                <a:cs typeface="Calibri"/>
                <a:sym typeface="Calibri"/>
              </a:rPr>
              <a:t>L’offerta include</a:t>
            </a:r>
            <a:endParaRPr sz="1600">
              <a:solidFill>
                <a:srgbClr val="002060"/>
              </a:solidFill>
              <a:latin typeface="Calibri"/>
              <a:ea typeface="Calibri"/>
              <a:cs typeface="Calibri"/>
              <a:sym typeface="Calibri"/>
            </a:endParaRPr>
          </a:p>
          <a:p>
            <a:pPr marL="228600" marR="0" lvl="0" indent="-228600" algn="just" rtl="0">
              <a:lnSpc>
                <a:spcPct val="90000"/>
              </a:lnSpc>
              <a:spcBef>
                <a:spcPts val="1000"/>
              </a:spcBef>
              <a:spcAft>
                <a:spcPts val="0"/>
              </a:spcAft>
              <a:buClr>
                <a:srgbClr val="002060"/>
              </a:buClr>
              <a:buSzPts val="1600"/>
              <a:buFont typeface="Arial"/>
              <a:buChar char="•"/>
            </a:pPr>
            <a:r>
              <a:rPr lang="it-IT" sz="1600" b="1">
                <a:solidFill>
                  <a:srgbClr val="002060"/>
                </a:solidFill>
                <a:latin typeface="Calibri"/>
                <a:ea typeface="Calibri"/>
                <a:cs typeface="Calibri"/>
                <a:sym typeface="Calibri"/>
              </a:rPr>
              <a:t>Minuti illimitati </a:t>
            </a:r>
            <a:r>
              <a:rPr lang="it-IT" sz="1600">
                <a:solidFill>
                  <a:srgbClr val="002060"/>
                </a:solidFill>
                <a:latin typeface="Calibri"/>
                <a:ea typeface="Calibri"/>
                <a:cs typeface="Calibri"/>
                <a:sym typeface="Calibri"/>
              </a:rPr>
              <a:t>verso tutti, </a:t>
            </a:r>
            <a:endParaRPr/>
          </a:p>
          <a:p>
            <a:pPr marL="228600" marR="0" lvl="0" indent="-228600" algn="just" rtl="0">
              <a:lnSpc>
                <a:spcPct val="90000"/>
              </a:lnSpc>
              <a:spcBef>
                <a:spcPts val="1000"/>
              </a:spcBef>
              <a:spcAft>
                <a:spcPts val="0"/>
              </a:spcAft>
              <a:buClr>
                <a:srgbClr val="002060"/>
              </a:buClr>
              <a:buSzPts val="1600"/>
              <a:buFont typeface="Arial"/>
              <a:buChar char="•"/>
            </a:pPr>
            <a:r>
              <a:rPr lang="it-IT" sz="1600" b="1">
                <a:solidFill>
                  <a:srgbClr val="002060"/>
                </a:solidFill>
                <a:latin typeface="Calibri"/>
                <a:ea typeface="Calibri"/>
                <a:cs typeface="Calibri"/>
                <a:sym typeface="Calibri"/>
              </a:rPr>
              <a:t>200 SMS </a:t>
            </a:r>
            <a:endParaRPr/>
          </a:p>
          <a:p>
            <a:pPr marL="228600" marR="0" lvl="0" indent="-228600" algn="just" rtl="0">
              <a:lnSpc>
                <a:spcPct val="90000"/>
              </a:lnSpc>
              <a:spcBef>
                <a:spcPts val="1000"/>
              </a:spcBef>
              <a:spcAft>
                <a:spcPts val="0"/>
              </a:spcAft>
              <a:buClr>
                <a:srgbClr val="002060"/>
              </a:buClr>
              <a:buSzPts val="1600"/>
              <a:buFont typeface="Arial"/>
              <a:buChar char="•"/>
            </a:pPr>
            <a:r>
              <a:rPr lang="it-IT" sz="1600">
                <a:solidFill>
                  <a:srgbClr val="002060"/>
                </a:solidFill>
                <a:latin typeface="Calibri"/>
                <a:ea typeface="Calibri"/>
                <a:cs typeface="Calibri"/>
                <a:sym typeface="Calibri"/>
              </a:rPr>
              <a:t>50 Giga in 5G che diventano </a:t>
            </a:r>
            <a:r>
              <a:rPr lang="it-IT" sz="1600" b="1">
                <a:solidFill>
                  <a:srgbClr val="002060"/>
                </a:solidFill>
                <a:latin typeface="Calibri"/>
                <a:ea typeface="Calibri"/>
                <a:cs typeface="Calibri"/>
                <a:sym typeface="Calibri"/>
              </a:rPr>
              <a:t>GIGA  illimitati </a:t>
            </a:r>
            <a:r>
              <a:rPr lang="it-IT" sz="1600">
                <a:solidFill>
                  <a:srgbClr val="002060"/>
                </a:solidFill>
                <a:latin typeface="Calibri"/>
                <a:ea typeface="Calibri"/>
                <a:cs typeface="Calibri"/>
                <a:sym typeface="Calibri"/>
              </a:rPr>
              <a:t>a seguito dell'attivazione del fisso. Le ricordiamo di attivarli su Area Clienti o su APP WINDTRE</a:t>
            </a:r>
            <a:endParaRPr/>
          </a:p>
          <a:p>
            <a:pPr marL="0" marR="0" lvl="0" indent="0" algn="l" rtl="0">
              <a:lnSpc>
                <a:spcPct val="90000"/>
              </a:lnSpc>
              <a:spcBef>
                <a:spcPts val="1000"/>
              </a:spcBef>
              <a:spcAft>
                <a:spcPts val="0"/>
              </a:spcAft>
              <a:buClr>
                <a:srgbClr val="1F3864"/>
              </a:buClr>
              <a:buSzPts val="1600"/>
              <a:buFont typeface="Arial"/>
              <a:buNone/>
            </a:pPr>
            <a:r>
              <a:rPr lang="it-IT" sz="1600" b="1">
                <a:solidFill>
                  <a:srgbClr val="1F3864"/>
                </a:solidFill>
                <a:latin typeface="Montserrat"/>
                <a:ea typeface="Montserrat"/>
                <a:cs typeface="Montserrat"/>
                <a:sym typeface="Montserrat"/>
              </a:rPr>
              <a:t>C</a:t>
            </a:r>
            <a:r>
              <a:rPr lang="it-IT" sz="1600" b="1">
                <a:solidFill>
                  <a:srgbClr val="1F3864"/>
                </a:solidFill>
                <a:latin typeface="Calibri"/>
                <a:ea typeface="Calibri"/>
                <a:cs typeface="Calibri"/>
                <a:sym typeface="Calibri"/>
              </a:rPr>
              <a:t>osto di attivazione : 9,99€</a:t>
            </a:r>
            <a:endParaRPr sz="1600">
              <a:solidFill>
                <a:srgbClr val="1F3864"/>
              </a:solidFill>
              <a:latin typeface="Calibri"/>
              <a:ea typeface="Calibri"/>
              <a:cs typeface="Calibri"/>
              <a:sym typeface="Calibri"/>
            </a:endParaRPr>
          </a:p>
          <a:p>
            <a:pPr marL="0" marR="0" lvl="0" indent="0" algn="just" rtl="0">
              <a:lnSpc>
                <a:spcPct val="90000"/>
              </a:lnSpc>
              <a:spcBef>
                <a:spcPts val="1000"/>
              </a:spcBef>
              <a:spcAft>
                <a:spcPts val="0"/>
              </a:spcAft>
              <a:buClr>
                <a:srgbClr val="002060"/>
              </a:buClr>
              <a:buSzPts val="1600"/>
              <a:buFont typeface="Arial"/>
              <a:buNone/>
            </a:pPr>
            <a:r>
              <a:rPr lang="it-IT" sz="1600">
                <a:solidFill>
                  <a:srgbClr val="002060"/>
                </a:solidFill>
                <a:latin typeface="Calibri"/>
                <a:ea typeface="Calibri"/>
                <a:cs typeface="Calibri"/>
                <a:sym typeface="Calibri"/>
              </a:rPr>
              <a:t>L'offerta si rinnova automaticamente ogni mese a partire dalla data di attivazione</a:t>
            </a:r>
            <a:endParaRPr/>
          </a:p>
          <a:p>
            <a:pPr marL="0" marR="0" lvl="0" indent="0" algn="l" rtl="0">
              <a:lnSpc>
                <a:spcPct val="90000"/>
              </a:lnSpc>
              <a:spcBef>
                <a:spcPts val="1000"/>
              </a:spcBef>
              <a:spcAft>
                <a:spcPts val="0"/>
              </a:spcAft>
              <a:buClr>
                <a:srgbClr val="002060"/>
              </a:buClr>
              <a:buSzPts val="1600"/>
              <a:buFont typeface="Arial"/>
              <a:buNone/>
            </a:pPr>
            <a:r>
              <a:rPr lang="it-IT" sz="1600" b="1">
                <a:solidFill>
                  <a:srgbClr val="002060"/>
                </a:solidFill>
                <a:latin typeface="Calibri"/>
                <a:ea typeface="Calibri"/>
                <a:cs typeface="Calibri"/>
                <a:sym typeface="Calibri"/>
              </a:rPr>
              <a:t>Riceverà, direttamente a casa, la nuova SIM con un credito pari al costo del primo canone.</a:t>
            </a:r>
            <a:endParaRPr/>
          </a:p>
        </p:txBody>
      </p:sp>
      <p:sp>
        <p:nvSpPr>
          <p:cNvPr id="226" name="Google Shape;226;p29"/>
          <p:cNvSpPr/>
          <p:nvPr/>
        </p:nvSpPr>
        <p:spPr>
          <a:xfrm>
            <a:off x="10184303" y="488199"/>
            <a:ext cx="1816698" cy="1087120"/>
          </a:xfrm>
          <a:prstGeom prst="rect">
            <a:avLst/>
          </a:prstGeom>
          <a:solidFill>
            <a:schemeClr val="accent1"/>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800">
                <a:solidFill>
                  <a:schemeClr val="lt1"/>
                </a:solidFill>
                <a:latin typeface="Calibri"/>
                <a:ea typeface="Calibri"/>
                <a:cs typeface="Calibri"/>
                <a:sym typeface="Calibri"/>
              </a:rPr>
              <a:t>CREDITO RESIDUO</a:t>
            </a:r>
            <a:endParaRPr/>
          </a:p>
        </p:txBody>
      </p:sp>
      <p:sp>
        <p:nvSpPr>
          <p:cNvPr id="227" name="Google Shape;227;p29"/>
          <p:cNvSpPr txBox="1"/>
          <p:nvPr/>
        </p:nvSpPr>
        <p:spPr>
          <a:xfrm>
            <a:off x="190999" y="1732727"/>
            <a:ext cx="1240971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600" b="1">
                <a:solidFill>
                  <a:schemeClr val="dk1"/>
                </a:solidFill>
                <a:highlight>
                  <a:srgbClr val="FFFF00"/>
                </a:highlight>
                <a:latin typeface="Calibri"/>
                <a:ea typeface="Calibri"/>
                <a:cs typeface="Calibri"/>
                <a:sym typeface="Calibri"/>
              </a:rPr>
              <a:t>Solo se il Cliente ha già un’offerta WINDTRE associata in convergenza al Fisso, può intestare sullo stesso C.F. altre 2 SIM con questa offerta</a:t>
            </a:r>
            <a:endParaRPr sz="16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0"/>
          <p:cNvSpPr txBox="1">
            <a:spLocks noGrp="1"/>
          </p:cNvSpPr>
          <p:nvPr>
            <p:ph type="title"/>
          </p:nvPr>
        </p:nvSpPr>
        <p:spPr>
          <a:xfrm>
            <a:off x="838200" y="365126"/>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OPZIONI</a:t>
            </a:r>
            <a:r>
              <a:rPr lang="it-IT">
                <a:solidFill>
                  <a:srgbClr val="002060"/>
                </a:solidFill>
              </a:rPr>
              <a:t> </a:t>
            </a:r>
            <a:endParaRPr/>
          </a:p>
        </p:txBody>
      </p:sp>
      <p:sp>
        <p:nvSpPr>
          <p:cNvPr id="233" name="Google Shape;233;p30"/>
          <p:cNvSpPr txBox="1"/>
          <p:nvPr/>
        </p:nvSpPr>
        <p:spPr>
          <a:xfrm>
            <a:off x="2752724" y="1316979"/>
            <a:ext cx="8277225" cy="77346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002060"/>
              </a:buClr>
              <a:buSzPts val="1600"/>
              <a:buFont typeface="Arial"/>
              <a:buNone/>
            </a:pPr>
            <a:r>
              <a:rPr lang="it-IT" sz="1600" b="1">
                <a:solidFill>
                  <a:srgbClr val="002060"/>
                </a:solidFill>
                <a:latin typeface="Calibri"/>
                <a:ea typeface="Calibri"/>
                <a:cs typeface="Calibri"/>
                <a:sym typeface="Calibri"/>
              </a:rPr>
              <a:t>INVISTA </a:t>
            </a:r>
            <a:r>
              <a:rPr lang="it-IT" sz="1600">
                <a:solidFill>
                  <a:srgbClr val="002060"/>
                </a:solidFill>
                <a:latin typeface="Calibri"/>
                <a:ea typeface="Calibri"/>
                <a:cs typeface="Calibri"/>
                <a:sym typeface="Calibri"/>
              </a:rPr>
              <a:t>è il servizio che le permette di visualizzare il numero di chi la chiama sul display del suo telefono fisso al costo di </a:t>
            </a:r>
            <a:r>
              <a:rPr lang="it-IT" sz="1600" b="1">
                <a:solidFill>
                  <a:srgbClr val="002060"/>
                </a:solidFill>
                <a:latin typeface="Calibri"/>
                <a:ea typeface="Calibri"/>
                <a:cs typeface="Calibri"/>
                <a:sym typeface="Calibri"/>
              </a:rPr>
              <a:t>2€/mese iva inclusa</a:t>
            </a:r>
            <a:r>
              <a:rPr lang="it-IT" sz="1600">
                <a:solidFill>
                  <a:srgbClr val="002060"/>
                </a:solidFill>
                <a:latin typeface="Calibri"/>
                <a:ea typeface="Calibri"/>
                <a:cs typeface="Calibri"/>
                <a:sym typeface="Calibri"/>
              </a:rPr>
              <a:t>.</a:t>
            </a:r>
            <a:endParaRPr/>
          </a:p>
        </p:txBody>
      </p:sp>
      <p:sp>
        <p:nvSpPr>
          <p:cNvPr id="234" name="Google Shape;234;p30"/>
          <p:cNvSpPr txBox="1"/>
          <p:nvPr/>
        </p:nvSpPr>
        <p:spPr>
          <a:xfrm>
            <a:off x="514350" y="1305867"/>
            <a:ext cx="1971675" cy="77346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2060"/>
              </a:buClr>
              <a:buSzPts val="2800"/>
              <a:buFont typeface="Arial"/>
              <a:buNone/>
            </a:pPr>
            <a:r>
              <a:rPr lang="it-IT" sz="2800">
                <a:solidFill>
                  <a:srgbClr val="002060"/>
                </a:solidFill>
                <a:latin typeface="Calibri"/>
                <a:ea typeface="Calibri"/>
                <a:cs typeface="Calibri"/>
                <a:sym typeface="Calibri"/>
              </a:rPr>
              <a:t>INVISTA</a:t>
            </a:r>
            <a:endParaRPr/>
          </a:p>
        </p:txBody>
      </p:sp>
      <p:sp>
        <p:nvSpPr>
          <p:cNvPr id="235" name="Google Shape;235;p30"/>
          <p:cNvSpPr txBox="1"/>
          <p:nvPr/>
        </p:nvSpPr>
        <p:spPr>
          <a:xfrm>
            <a:off x="2762249" y="3349971"/>
            <a:ext cx="8277225" cy="106873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2060"/>
              </a:buClr>
              <a:buSzPts val="1600"/>
              <a:buFont typeface="Arial"/>
              <a:buNone/>
            </a:pPr>
            <a:r>
              <a:rPr lang="it-IT" sz="1600">
                <a:solidFill>
                  <a:srgbClr val="002060"/>
                </a:solidFill>
                <a:latin typeface="Calibri"/>
                <a:ea typeface="Calibri"/>
                <a:cs typeface="Calibri"/>
                <a:sym typeface="Calibri"/>
              </a:rPr>
              <a:t>Per il posizionamento di una nuova Presa Fibra in un punto diverso dalla presa principale è previsto un costo di </a:t>
            </a:r>
            <a:r>
              <a:rPr lang="it-IT" sz="1600" b="1">
                <a:solidFill>
                  <a:srgbClr val="002060"/>
                </a:solidFill>
                <a:latin typeface="Calibri"/>
                <a:ea typeface="Calibri"/>
                <a:cs typeface="Calibri"/>
                <a:sym typeface="Calibri"/>
              </a:rPr>
              <a:t>65€.</a:t>
            </a:r>
            <a:endParaRPr/>
          </a:p>
          <a:p>
            <a:pPr marL="0" marR="0" lvl="0" indent="0" algn="l" rtl="0">
              <a:lnSpc>
                <a:spcPct val="90000"/>
              </a:lnSpc>
              <a:spcBef>
                <a:spcPts val="1000"/>
              </a:spcBef>
              <a:spcAft>
                <a:spcPts val="0"/>
              </a:spcAft>
              <a:buClr>
                <a:srgbClr val="002060"/>
              </a:buClr>
              <a:buSzPts val="1600"/>
              <a:buFont typeface="Arial"/>
              <a:buNone/>
            </a:pPr>
            <a:r>
              <a:rPr lang="it-IT" sz="1600">
                <a:solidFill>
                  <a:srgbClr val="002060"/>
                </a:solidFill>
                <a:latin typeface="Calibri"/>
                <a:ea typeface="Calibri"/>
                <a:cs typeface="Calibri"/>
                <a:sym typeface="Calibri"/>
              </a:rPr>
              <a:t>Per</a:t>
            </a:r>
            <a:r>
              <a:rPr lang="it-IT" sz="1600" b="1">
                <a:solidFill>
                  <a:srgbClr val="002060"/>
                </a:solidFill>
                <a:latin typeface="Calibri"/>
                <a:ea typeface="Calibri"/>
                <a:cs typeface="Calibri"/>
                <a:sym typeface="Calibri"/>
              </a:rPr>
              <a:t> </a:t>
            </a:r>
            <a:r>
              <a:rPr lang="it-IT" sz="1600">
                <a:solidFill>
                  <a:srgbClr val="002060"/>
                </a:solidFill>
                <a:latin typeface="Calibri"/>
                <a:ea typeface="Calibri"/>
                <a:cs typeface="Calibri"/>
                <a:sym typeface="Calibri"/>
              </a:rPr>
              <a:t>abilitare altre prese telefoniche al collegamento di telefoni, fax, segreterie, centralini, sistemi di tele-allarmi, video-sorveglianza, o tele-soccorso è previsto un costo di </a:t>
            </a:r>
            <a:r>
              <a:rPr lang="it-IT" sz="1600" b="1">
                <a:solidFill>
                  <a:srgbClr val="002060"/>
                </a:solidFill>
                <a:latin typeface="Calibri"/>
                <a:ea typeface="Calibri"/>
                <a:cs typeface="Calibri"/>
                <a:sym typeface="Calibri"/>
              </a:rPr>
              <a:t>35€.</a:t>
            </a:r>
            <a:endParaRPr sz="1600">
              <a:solidFill>
                <a:srgbClr val="002060"/>
              </a:solidFill>
              <a:latin typeface="Calibri"/>
              <a:ea typeface="Calibri"/>
              <a:cs typeface="Calibri"/>
              <a:sym typeface="Calibri"/>
            </a:endParaRPr>
          </a:p>
        </p:txBody>
      </p:sp>
      <p:sp>
        <p:nvSpPr>
          <p:cNvPr id="236" name="Google Shape;236;p30"/>
          <p:cNvSpPr txBox="1"/>
          <p:nvPr/>
        </p:nvSpPr>
        <p:spPr>
          <a:xfrm>
            <a:off x="523876" y="3349971"/>
            <a:ext cx="2000250" cy="106873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2060"/>
              </a:buClr>
              <a:buSzPts val="2800"/>
              <a:buFont typeface="Arial"/>
              <a:buNone/>
            </a:pPr>
            <a:r>
              <a:rPr lang="it-IT" sz="2800">
                <a:solidFill>
                  <a:srgbClr val="002060"/>
                </a:solidFill>
                <a:latin typeface="Calibri"/>
                <a:ea typeface="Calibri"/>
                <a:cs typeface="Calibri"/>
                <a:sym typeface="Calibri"/>
              </a:rPr>
              <a:t>SERVIZIO TECNICO</a:t>
            </a:r>
            <a:endParaRPr/>
          </a:p>
        </p:txBody>
      </p:sp>
      <p:sp>
        <p:nvSpPr>
          <p:cNvPr id="237" name="Google Shape;237;p30"/>
          <p:cNvSpPr txBox="1"/>
          <p:nvPr/>
        </p:nvSpPr>
        <p:spPr>
          <a:xfrm>
            <a:off x="2762249" y="2350143"/>
            <a:ext cx="8277225" cy="74012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002060"/>
              </a:buClr>
              <a:buSzPts val="1600"/>
              <a:buFont typeface="Arial"/>
              <a:buNone/>
            </a:pPr>
            <a:r>
              <a:rPr lang="it-IT" sz="1600" b="1">
                <a:solidFill>
                  <a:srgbClr val="002060"/>
                </a:solidFill>
                <a:latin typeface="Calibri"/>
                <a:ea typeface="Calibri"/>
                <a:cs typeface="Calibri"/>
                <a:sym typeface="Calibri"/>
              </a:rPr>
              <a:t>CALL YOUR COUNTRY HOME </a:t>
            </a:r>
            <a:r>
              <a:rPr lang="it-IT" sz="1600">
                <a:solidFill>
                  <a:srgbClr val="002060"/>
                </a:solidFill>
                <a:latin typeface="Calibri"/>
                <a:ea typeface="Calibri"/>
                <a:cs typeface="Calibri"/>
                <a:sym typeface="Calibri"/>
              </a:rPr>
              <a:t>è L'opzione CHE prevede chiamate illimitate verso un elenco di paesi esteri al costo di </a:t>
            </a:r>
            <a:r>
              <a:rPr lang="it-IT" sz="1600" b="1">
                <a:solidFill>
                  <a:srgbClr val="002060"/>
                </a:solidFill>
                <a:latin typeface="Calibri"/>
                <a:ea typeface="Calibri"/>
                <a:cs typeface="Calibri"/>
                <a:sym typeface="Calibri"/>
              </a:rPr>
              <a:t>5€/mese</a:t>
            </a:r>
            <a:endParaRPr/>
          </a:p>
        </p:txBody>
      </p:sp>
      <p:sp>
        <p:nvSpPr>
          <p:cNvPr id="238" name="Google Shape;238;p30"/>
          <p:cNvSpPr txBox="1"/>
          <p:nvPr/>
        </p:nvSpPr>
        <p:spPr>
          <a:xfrm>
            <a:off x="523875" y="2327919"/>
            <a:ext cx="1971675" cy="77346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2060"/>
              </a:buClr>
              <a:buSzPts val="2800"/>
              <a:buFont typeface="Arial"/>
              <a:buNone/>
            </a:pPr>
            <a:r>
              <a:rPr lang="it-IT" sz="2800">
                <a:solidFill>
                  <a:srgbClr val="002060"/>
                </a:solidFill>
                <a:latin typeface="Calibri"/>
                <a:ea typeface="Calibri"/>
                <a:cs typeface="Calibri"/>
                <a:sym typeface="Calibri"/>
              </a:rPr>
              <a:t>CYC HOME</a:t>
            </a:r>
            <a:endParaRPr/>
          </a:p>
        </p:txBody>
      </p:sp>
      <p:sp>
        <p:nvSpPr>
          <p:cNvPr id="239" name="Google Shape;239;p30"/>
          <p:cNvSpPr txBox="1"/>
          <p:nvPr/>
        </p:nvSpPr>
        <p:spPr>
          <a:xfrm>
            <a:off x="523875" y="4678412"/>
            <a:ext cx="2009776" cy="91555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rgbClr val="002060"/>
              </a:buClr>
              <a:buSzPts val="2800"/>
              <a:buFont typeface="Calibri"/>
              <a:buNone/>
            </a:pPr>
            <a:r>
              <a:rPr lang="it-IT" sz="2800">
                <a:solidFill>
                  <a:srgbClr val="002060"/>
                </a:solidFill>
                <a:latin typeface="Calibri"/>
                <a:ea typeface="Calibri"/>
                <a:cs typeface="Calibri"/>
                <a:sym typeface="Calibri"/>
              </a:rPr>
              <a:t>PIU’ SICURI CASA</a:t>
            </a:r>
            <a:endParaRPr/>
          </a:p>
        </p:txBody>
      </p:sp>
      <p:sp>
        <p:nvSpPr>
          <p:cNvPr id="240" name="Google Shape;240;p30"/>
          <p:cNvSpPr txBox="1"/>
          <p:nvPr/>
        </p:nvSpPr>
        <p:spPr>
          <a:xfrm>
            <a:off x="2762244" y="4709133"/>
            <a:ext cx="8277225" cy="91555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Clr>
                <a:srgbClr val="002060"/>
              </a:buClr>
              <a:buSzPts val="1600"/>
              <a:buFont typeface="Calibri"/>
              <a:buNone/>
            </a:pPr>
            <a:r>
              <a:rPr lang="it-IT" sz="1600">
                <a:solidFill>
                  <a:srgbClr val="002060"/>
                </a:solidFill>
                <a:latin typeface="Calibri"/>
                <a:ea typeface="Calibri"/>
                <a:cs typeface="Calibri"/>
                <a:sym typeface="Calibri"/>
              </a:rPr>
              <a:t>a soli 1,99€ in più al mese e il primo mese gratuito, le permette di proteggere la rete di casa e tutti i dispostivi ad essa connessi.</a:t>
            </a:r>
            <a:endParaRPr/>
          </a:p>
        </p:txBody>
      </p:sp>
    </p:spTree>
  </p:cSld>
  <p:clrMapOvr>
    <a:masterClrMapping/>
  </p:clrMapOvr>
</p:sld>
</file>

<file path=ppt/theme/theme1.xml><?xml version="1.0" encoding="utf-8"?>
<a:theme xmlns:a="http://schemas.openxmlformats.org/drawingml/2006/main"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3886</Words>
  <Application>Microsoft Office PowerPoint</Application>
  <PresentationFormat>Widescreen</PresentationFormat>
  <Paragraphs>181</Paragraphs>
  <Slides>14</Slides>
  <Notes>14</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14</vt:i4>
      </vt:variant>
    </vt:vector>
  </HeadingPairs>
  <TitlesOfParts>
    <vt:vector size="19" baseType="lpstr">
      <vt:lpstr>Calibri</vt:lpstr>
      <vt:lpstr>Arial</vt:lpstr>
      <vt:lpstr>Montserrat Black</vt:lpstr>
      <vt:lpstr>Montserrat</vt:lpstr>
      <vt:lpstr>Tema di Office</vt:lpstr>
      <vt:lpstr>FTTH OPEN FIBER &amp; NETFLIX con pubblicità</vt:lpstr>
      <vt:lpstr>FTTH EXTRA &amp; NETFLIX con pubblicità</vt:lpstr>
      <vt:lpstr>INTERNET 100/200 &amp; NETFLIX con pubblicità</vt:lpstr>
      <vt:lpstr>SUPER FIBRA FTTH C&amp;D &amp; NETFLIX con pubblicità</vt:lpstr>
      <vt:lpstr>SUPER INTERNET CASA FWA 5G OUTDOOR &amp; NETFLIX con pubblicità</vt:lpstr>
      <vt:lpstr>SUPER INTERNET CASA FWA 5G INDOOR &amp; NETFLIX con pubblicità</vt:lpstr>
      <vt:lpstr>SUPERFIBRA - ENERGIA &amp; NETFLIX con pubblicità ( FTTH OF- FTTH EXTRA- FTTH AREE BIANCHE- FTTC- FWA INDOOR)</vt:lpstr>
      <vt:lpstr>SUPER INTERNET CASA 5G FWA Outdoor- ENERGIA &amp; NETFLIX con pubblicità</vt:lpstr>
      <vt:lpstr>Presentazione standard di PowerPoint</vt:lpstr>
      <vt:lpstr>UNLIMITED 5G EP ONLINE CON SUPER FIBRA</vt:lpstr>
      <vt:lpstr>UNLIMITED 5G ONLINE CON SUPER FIBRA</vt:lpstr>
      <vt:lpstr>Presentazione standard di PowerPoint</vt:lpstr>
      <vt:lpstr>Presentazione standard di PowerPoint</vt:lpstr>
      <vt:lpstr>OPZIONI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Claudia Martinenghi</cp:lastModifiedBy>
  <cp:revision>1</cp:revision>
  <dcterms:modified xsi:type="dcterms:W3CDTF">2026-10-05T13:02:38Z</dcterms:modified>
</cp:coreProperties>
</file>