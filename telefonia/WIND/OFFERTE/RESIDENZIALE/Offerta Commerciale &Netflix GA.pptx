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Montserrat"/>
      <p:regular r:id="rId14"/>
      <p:bold r:id="rId15"/>
      <p:italic r:id="rId16"/>
      <p:boldItalic r:id="rId17"/>
    </p:embeddedFont>
    <p:embeddedFont>
      <p:font typeface="Montserrat Black"/>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slide" Target="slides/slide1.xml"/><Relationship Id="rId19" Type="http://schemas.openxmlformats.org/officeDocument/2006/relationships/font" Target="fonts/MontserratBlack-boldItalic.fntdata"/><Relationship Id="rId6" Type="http://schemas.openxmlformats.org/officeDocument/2006/relationships/slide" Target="slides/slide2.xml"/><Relationship Id="rId18" Type="http://schemas.openxmlformats.org/officeDocument/2006/relationships/font" Target="fonts/MontserratBlack-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22" name="Shape 22"/>
        <p:cNvGrpSpPr/>
        <p:nvPr/>
      </p:nvGrpSpPr>
      <p:grpSpPr>
        <a:xfrm>
          <a:off x="0" y="0"/>
          <a:ext cx="0" cy="0"/>
          <a:chOff x="0" y="0"/>
          <a:chExt cx="0" cy="0"/>
        </a:xfrm>
      </p:grpSpPr>
      <p:sp>
        <p:nvSpPr>
          <p:cNvPr id="23" name="Google Shape;2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7" name="Shape 27"/>
        <p:cNvGrpSpPr/>
        <p:nvPr/>
      </p:nvGrpSpPr>
      <p:grpSpPr>
        <a:xfrm>
          <a:off x="0" y="0"/>
          <a:ext cx="0" cy="0"/>
          <a:chOff x="0" y="0"/>
          <a:chExt cx="0" cy="0"/>
        </a:xfrm>
      </p:grpSpPr>
      <p:sp>
        <p:nvSpPr>
          <p:cNvPr id="28" name="Google Shape;28;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9" name="Shape 39"/>
        <p:cNvGrpSpPr/>
        <p:nvPr/>
      </p:nvGrpSpPr>
      <p:grpSpPr>
        <a:xfrm>
          <a:off x="0" y="0"/>
          <a:ext cx="0" cy="0"/>
          <a:chOff x="0" y="0"/>
          <a:chExt cx="0" cy="0"/>
        </a:xfrm>
      </p:grpSpPr>
      <p:sp>
        <p:nvSpPr>
          <p:cNvPr id="40" name="Google Shape;40;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9.xml"/><Relationship Id="rId4" Type="http://schemas.openxmlformats.org/officeDocument/2006/relationships/slide" Target="/ppt/slides/slide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9.xml"/><Relationship Id="rId4" Type="http://schemas.openxmlformats.org/officeDocument/2006/relationships/slide" Target="/ppt/slides/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9.xml"/><Relationship Id="rId4" Type="http://schemas.openxmlformats.org/officeDocument/2006/relationships/slide" Target="/ppt/slid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9.xml"/><Relationship Id="rId4" Type="http://schemas.openxmlformats.org/officeDocument/2006/relationships/slide" Target="/ppt/slid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slide" Target="/ppt/slid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OPEN FIBER &amp; NETFLIX</a:t>
            </a:r>
            <a:endParaRPr/>
          </a:p>
        </p:txBody>
      </p:sp>
      <p:sp>
        <p:nvSpPr>
          <p:cNvPr id="89" name="Google Shape;89;p13"/>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SUPER FIBRA &amp;Netflix </a:t>
            </a:r>
            <a:r>
              <a:rPr lang="it-IT" sz="1600">
                <a:solidFill>
                  <a:srgbClr val="1F3864"/>
                </a:solidFill>
              </a:rPr>
              <a:t>prevede navigazione senza limiti fino a 2,5 Gigabit a </a:t>
            </a:r>
            <a:r>
              <a:rPr b="1" lang="it-IT" sz="1600">
                <a:solidFill>
                  <a:srgbClr val="1F3864"/>
                </a:solidFill>
              </a:rPr>
              <a:t>43,49€/mese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b="1" lang="it-IT" sz="1600">
                <a:solidFill>
                  <a:srgbClr val="FF0000"/>
                </a:solidFill>
              </a:rPr>
              <a:t>Costo di attivazione in promo a 0 € invece che 1,99€ al mese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43,49 euro al mese è composto, per i primi 12 mesi, da 37,50 euro al mese di servizio e Prime e 5,99 euro al mese di modem, dal 13° mese, da 37,50 euro al mese di servizio e 5,99 euro al mese di modem, dal 48° mese, da 43,49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di Opzioni, vanno letti i relativi  dettagli presenti nell’ ultima </a:t>
            </a:r>
            <a:r>
              <a:rPr b="1" lang="it-IT" sz="1600" u="sng">
                <a:solidFill>
                  <a:schemeClr val="hlink"/>
                </a:solidFill>
                <a:hlinkClick action="ppaction://hlinksldjump" r:id="rId3"/>
              </a:rPr>
              <a:t> slide</a:t>
            </a:r>
            <a:r>
              <a:rPr b="1" lang="it-IT" sz="1600">
                <a:solidFill>
                  <a:schemeClr val="accent6"/>
                </a:solidFill>
              </a:rPr>
              <a:t>:</a:t>
            </a:r>
            <a:endParaRPr/>
          </a:p>
          <a:p>
            <a:pPr indent="0" lvl="0" marL="0" rtl="0" algn="just">
              <a:lnSpc>
                <a:spcPct val="90000"/>
              </a:lnSpc>
              <a:spcBef>
                <a:spcPts val="1000"/>
              </a:spcBef>
              <a:spcAft>
                <a:spcPts val="0"/>
              </a:spcAft>
              <a:buClr>
                <a:schemeClr val="accent6"/>
              </a:buClr>
              <a:buSzPts val="1500"/>
              <a:buNone/>
            </a:pPr>
            <a:r>
              <a:rPr b="1" lang="it-IT" sz="1500">
                <a:solidFill>
                  <a:schemeClr val="accent6"/>
                </a:solidFill>
              </a:rPr>
              <a:t>Opzione </a:t>
            </a:r>
            <a:r>
              <a:rPr b="1" lang="it-IT" sz="1600">
                <a:solidFill>
                  <a:schemeClr val="accent6"/>
                </a:solidFill>
              </a:rPr>
              <a:t>Più Sicuri Casa: leggere i dettagli dell’opzione: </a:t>
            </a:r>
            <a:r>
              <a:rPr b="1" lang="it-IT" sz="1600" u="sng">
                <a:solidFill>
                  <a:schemeClr val="hlink"/>
                </a:solidFill>
                <a:hlinkClick action="ppaction://hlinksldjump" r:id="rId4"/>
              </a:rPr>
              <a:t>Più Sicuri Casa</a:t>
            </a:r>
            <a:r>
              <a:rPr b="1" lang="it-IT" sz="1600">
                <a:solidFill>
                  <a:srgbClr val="1F3864"/>
                </a:solidFill>
              </a:rPr>
              <a:t>, </a:t>
            </a:r>
            <a:r>
              <a:rPr lang="it-IT" sz="1600">
                <a:solidFill>
                  <a:srgbClr val="1F3864"/>
                </a:solidFill>
              </a:rPr>
              <a:t>a soli 1,99€ in più al mese e il primo mese gratuito, le permette di proteggere la rete di casa e tutti i dispostivi ad essa connessi.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EXTRA &amp; NETFLIX</a:t>
            </a:r>
            <a:endParaRPr/>
          </a:p>
        </p:txBody>
      </p:sp>
      <p:sp>
        <p:nvSpPr>
          <p:cNvPr id="95" name="Google Shape;95;p14"/>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SUPER FIBRA &amp;Netflix </a:t>
            </a:r>
            <a:r>
              <a:rPr lang="it-IT" sz="1600">
                <a:solidFill>
                  <a:srgbClr val="1F3864"/>
                </a:solidFill>
              </a:rPr>
              <a:t>prevede navigazione senza limiti fino a </a:t>
            </a:r>
            <a:r>
              <a:rPr b="1" lang="it-IT" sz="1600">
                <a:solidFill>
                  <a:srgbClr val="1F3864"/>
                </a:solidFill>
              </a:rPr>
              <a:t>2,5 Gigabit</a:t>
            </a:r>
            <a:r>
              <a:rPr lang="it-IT" sz="1600">
                <a:solidFill>
                  <a:srgbClr val="1F3864"/>
                </a:solidFill>
              </a:rPr>
              <a:t> a </a:t>
            </a:r>
            <a:r>
              <a:rPr b="1" lang="it-IT" sz="1600">
                <a:solidFill>
                  <a:srgbClr val="1F3864"/>
                </a:solidFill>
              </a:rPr>
              <a:t>43,49€/mese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lang="it-IT" sz="1600">
                <a:solidFill>
                  <a:srgbClr val="FF0000"/>
                </a:solidFill>
              </a:rPr>
              <a:t>Costo di attivazione: 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43,49 euro al mese è composto, per i primi 12 mesi, da 37,50 euro al mese di servizio e Prime e 5,99 euro al mese di modem, dal 13° mese, da 37,50 euro al mese di servizio e 5,99 euro al mese di modem, dal 48° mese, da 43,49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
        <p:nvSpPr>
          <p:cNvPr id="96" name="Google Shape;96;p14"/>
          <p:cNvSpPr txBox="1"/>
          <p:nvPr/>
        </p:nvSpPr>
        <p:spPr>
          <a:xfrm>
            <a:off x="277402" y="4036289"/>
            <a:ext cx="11465959"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accent6"/>
              </a:buClr>
              <a:buSzPts val="1800"/>
              <a:buFont typeface="Calibri"/>
              <a:buNone/>
            </a:pPr>
            <a:r>
              <a:rPr b="1" i="0" lang="it-IT" sz="1800" u="none" cap="none" strike="noStrike">
                <a:solidFill>
                  <a:schemeClr val="accent6"/>
                </a:solidFill>
                <a:latin typeface="Calibri"/>
                <a:ea typeface="Calibri"/>
                <a:cs typeface="Calibri"/>
                <a:sym typeface="Calibri"/>
              </a:rPr>
              <a:t>In caso di aggiunta di Opzioni, vanno letti i relativi  dettagli presenti nell’ ultima </a:t>
            </a:r>
            <a:r>
              <a:rPr b="1" i="0" lang="it-IT" sz="1800" u="sng" cap="none" strike="noStrike">
                <a:solidFill>
                  <a:schemeClr val="hlink"/>
                </a:solidFill>
                <a:latin typeface="Calibri"/>
                <a:ea typeface="Calibri"/>
                <a:cs typeface="Calibri"/>
                <a:sym typeface="Calibri"/>
                <a:hlinkClick action="ppaction://hlinksldjump" r:id="rId3"/>
              </a:rPr>
              <a:t> slide</a:t>
            </a:r>
            <a:r>
              <a:rPr b="1" i="0" lang="it-IT" sz="1800" u="none" cap="none" strike="noStrike">
                <a:solidFill>
                  <a:schemeClr val="accent6"/>
                </a:solidFill>
                <a:latin typeface="Calibri"/>
                <a:ea typeface="Calibri"/>
                <a:cs typeface="Calibri"/>
                <a:sym typeface="Calibri"/>
              </a:rPr>
              <a:t>:</a:t>
            </a:r>
            <a:endParaRPr/>
          </a:p>
          <a:p>
            <a:pPr indent="0" lvl="0" marL="0" marR="0" rtl="0" algn="just">
              <a:spcBef>
                <a:spcPts val="0"/>
              </a:spcBef>
              <a:spcAft>
                <a:spcPts val="0"/>
              </a:spcAft>
              <a:buClr>
                <a:schemeClr val="accent6"/>
              </a:buClr>
              <a:buSzPts val="1800"/>
              <a:buFont typeface="Calibri"/>
              <a:buNone/>
            </a:pPr>
            <a:r>
              <a:rPr b="1" i="0" lang="it-IT" sz="1800" u="none" cap="none" strike="noStrike">
                <a:solidFill>
                  <a:schemeClr val="accent6"/>
                </a:solidFill>
                <a:latin typeface="Calibri"/>
                <a:ea typeface="Calibri"/>
                <a:cs typeface="Calibri"/>
                <a:sym typeface="Calibri"/>
              </a:rPr>
              <a:t>Opzione Più Sicuri Casa: leggere i dettagli dell’opzione: </a:t>
            </a:r>
            <a:r>
              <a:rPr b="1" i="0" lang="it-IT" sz="1800" u="sng" cap="none" strike="noStrike">
                <a:solidFill>
                  <a:schemeClr val="hlink"/>
                </a:solidFill>
                <a:latin typeface="Calibri"/>
                <a:ea typeface="Calibri"/>
                <a:cs typeface="Calibri"/>
                <a:sym typeface="Calibri"/>
                <a:hlinkClick action="ppaction://hlinksldjump" r:id="rId4"/>
              </a:rPr>
              <a:t>Più Sicuri Casa</a:t>
            </a:r>
            <a:r>
              <a:rPr b="1" i="0" lang="it-IT" sz="1800" u="none" cap="none" strike="noStrike">
                <a:solidFill>
                  <a:srgbClr val="1F3864"/>
                </a:solidFill>
                <a:latin typeface="Calibri"/>
                <a:ea typeface="Calibri"/>
                <a:cs typeface="Calibri"/>
                <a:sym typeface="Calibri"/>
              </a:rPr>
              <a:t>, </a:t>
            </a:r>
            <a:r>
              <a:rPr b="0" i="0" lang="it-IT" sz="18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INTERNET 100/200 &amp; NETFLIX</a:t>
            </a:r>
            <a:endParaRPr/>
          </a:p>
        </p:txBody>
      </p:sp>
      <p:sp>
        <p:nvSpPr>
          <p:cNvPr id="102" name="Google Shape;102;p15"/>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Internet 100/200 &amp;Netflix </a:t>
            </a:r>
            <a:r>
              <a:rPr lang="it-IT" sz="1600">
                <a:solidFill>
                  <a:srgbClr val="1F3864"/>
                </a:solidFill>
              </a:rPr>
              <a:t>prevede navigazione senza limiti fino a 100/200 Mega a </a:t>
            </a:r>
            <a:r>
              <a:rPr b="1" lang="it-IT" sz="1600">
                <a:solidFill>
                  <a:srgbClr val="1F3864"/>
                </a:solidFill>
              </a:rPr>
              <a:t>43,49€/mese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lang="it-IT" sz="1600">
                <a:solidFill>
                  <a:srgbClr val="FF0000"/>
                </a:solidFill>
              </a:rPr>
              <a:t>Costo di attivazione: 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43,49 euro al mese è composto, per i primi 12 mesi, da 37,50 euro al mese di servizio e Prime e 5,99 euro al mese di modem, dal 13° mese, da 37,50 euro al mese di servizio e 5,99 euro al mese di modem, dal 48° mese, da 43,49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di Opzioni, vanno letti i relativi  dettagli presenti nell’ ultima </a:t>
            </a:r>
            <a:r>
              <a:rPr b="1" lang="it-IT" sz="1600" u="sng">
                <a:solidFill>
                  <a:schemeClr val="hlink"/>
                </a:solidFill>
                <a:hlinkClick action="ppaction://hlinksldjump" r:id="rId3"/>
              </a:rPr>
              <a:t> slide</a:t>
            </a:r>
            <a:r>
              <a:rPr b="1" lang="it-IT" sz="1600">
                <a:solidFill>
                  <a:schemeClr val="accent6"/>
                </a:solidFill>
              </a:rPr>
              <a:t>:</a:t>
            </a:r>
            <a:endParaRPr/>
          </a:p>
          <a:p>
            <a:pPr indent="0" lvl="0" marL="0" rtl="0" algn="just">
              <a:lnSpc>
                <a:spcPct val="90000"/>
              </a:lnSpc>
              <a:spcBef>
                <a:spcPts val="1000"/>
              </a:spcBef>
              <a:spcAft>
                <a:spcPts val="0"/>
              </a:spcAft>
              <a:buClr>
                <a:schemeClr val="accent6"/>
              </a:buClr>
              <a:buSzPts val="1500"/>
              <a:buNone/>
            </a:pPr>
            <a:r>
              <a:rPr b="1" lang="it-IT" sz="1500">
                <a:solidFill>
                  <a:schemeClr val="accent6"/>
                </a:solidFill>
              </a:rPr>
              <a:t>Opzione </a:t>
            </a:r>
            <a:r>
              <a:rPr b="1" lang="it-IT" sz="1600">
                <a:solidFill>
                  <a:schemeClr val="accent6"/>
                </a:solidFill>
              </a:rPr>
              <a:t>Più Sicuri Casa: leggere i dettagli dell’opzione: </a:t>
            </a:r>
            <a:r>
              <a:rPr b="1" lang="it-IT" sz="1600" u="sng">
                <a:solidFill>
                  <a:schemeClr val="hlink"/>
                </a:solidFill>
                <a:hlinkClick action="ppaction://hlinksldjump" r:id="rId4"/>
              </a:rPr>
              <a:t>Più Sicuri Casa</a:t>
            </a:r>
            <a:r>
              <a:rPr b="1" lang="it-IT" sz="1600">
                <a:solidFill>
                  <a:srgbClr val="1F3864"/>
                </a:solidFill>
              </a:rPr>
              <a:t>, </a:t>
            </a:r>
            <a:r>
              <a:rPr lang="it-IT" sz="1600">
                <a:solidFill>
                  <a:srgbClr val="1F3864"/>
                </a:solidFill>
              </a:rPr>
              <a:t>a soli 1,99€ in più al mese e il primo mese gratuito, le permette di proteggere la rete di casa e tutti i dispostivi ad essa connessi. </a:t>
            </a:r>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C&amp;D &amp; NETFLIX</a:t>
            </a:r>
            <a:endParaRPr/>
          </a:p>
        </p:txBody>
      </p:sp>
      <p:sp>
        <p:nvSpPr>
          <p:cNvPr id="108" name="Google Shape;108;p16"/>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SUPER FIBRA Aree Bianche &amp;Netflix </a:t>
            </a:r>
            <a:r>
              <a:rPr lang="it-IT" sz="1600">
                <a:solidFill>
                  <a:srgbClr val="1F3864"/>
                </a:solidFill>
              </a:rPr>
              <a:t>prevede navigazione senza limiti fino a 1 Gigabit a </a:t>
            </a:r>
            <a:r>
              <a:rPr b="1" lang="it-IT" sz="1600">
                <a:solidFill>
                  <a:srgbClr val="1F3864"/>
                </a:solidFill>
              </a:rPr>
              <a:t>43,49€/mese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lang="it-IT" sz="1600">
                <a:solidFill>
                  <a:srgbClr val="FF0000"/>
                </a:solidFill>
              </a:rPr>
              <a:t>Costo di attivazione: 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43,49 euro al mese è composto, per i primi 12 mesi, da 37,50 euro al mese di servizio e Prime e 5,99 euro al mese di modem, dal 13° mese, da 37,50 euro al mese di servizio e 5,99 euro al mese di modem, dal 48° mese, da 43,49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
        <p:nvSpPr>
          <p:cNvPr id="109" name="Google Shape;109;p16"/>
          <p:cNvSpPr txBox="1"/>
          <p:nvPr/>
        </p:nvSpPr>
        <p:spPr>
          <a:xfrm>
            <a:off x="277403" y="4287136"/>
            <a:ext cx="11465959"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accent6"/>
              </a:buClr>
              <a:buSzPts val="1800"/>
              <a:buFont typeface="Calibri"/>
              <a:buNone/>
            </a:pPr>
            <a:r>
              <a:rPr b="1" i="0" lang="it-IT" sz="1800" u="none" cap="none" strike="noStrike">
                <a:solidFill>
                  <a:schemeClr val="accent6"/>
                </a:solidFill>
                <a:latin typeface="Calibri"/>
                <a:ea typeface="Calibri"/>
                <a:cs typeface="Calibri"/>
                <a:sym typeface="Calibri"/>
              </a:rPr>
              <a:t>In caso di aggiunta di Opzioni, vanno letti i relativi  dettagli presenti nell’ ultima </a:t>
            </a:r>
            <a:r>
              <a:rPr b="1" i="0" lang="it-IT" sz="1800" u="sng" cap="none" strike="noStrike">
                <a:solidFill>
                  <a:schemeClr val="hlink"/>
                </a:solidFill>
                <a:latin typeface="Calibri"/>
                <a:ea typeface="Calibri"/>
                <a:cs typeface="Calibri"/>
                <a:sym typeface="Calibri"/>
                <a:hlinkClick action="ppaction://hlinksldjump" r:id="rId3"/>
              </a:rPr>
              <a:t> slide</a:t>
            </a:r>
            <a:r>
              <a:rPr b="1" i="0" lang="it-IT" sz="1800" u="none" cap="none" strike="noStrike">
                <a:solidFill>
                  <a:schemeClr val="accent6"/>
                </a:solidFill>
                <a:latin typeface="Calibri"/>
                <a:ea typeface="Calibri"/>
                <a:cs typeface="Calibri"/>
                <a:sym typeface="Calibri"/>
              </a:rPr>
              <a:t>:</a:t>
            </a:r>
            <a:endParaRPr/>
          </a:p>
          <a:p>
            <a:pPr indent="0" lvl="0" marL="0" marR="0" rtl="0" algn="just">
              <a:spcBef>
                <a:spcPts val="0"/>
              </a:spcBef>
              <a:spcAft>
                <a:spcPts val="0"/>
              </a:spcAft>
              <a:buClr>
                <a:schemeClr val="accent6"/>
              </a:buClr>
              <a:buSzPts val="1800"/>
              <a:buFont typeface="Calibri"/>
              <a:buNone/>
            </a:pPr>
            <a:r>
              <a:rPr b="1" i="0" lang="it-IT" sz="1800" u="none" cap="none" strike="noStrike">
                <a:solidFill>
                  <a:schemeClr val="accent6"/>
                </a:solidFill>
                <a:latin typeface="Calibri"/>
                <a:ea typeface="Calibri"/>
                <a:cs typeface="Calibri"/>
                <a:sym typeface="Calibri"/>
              </a:rPr>
              <a:t>Opzione Più Sicuri Casa: leggere i dettagli dell’opzione: </a:t>
            </a:r>
            <a:r>
              <a:rPr b="1" i="0" lang="it-IT" sz="1800" u="sng" cap="none" strike="noStrike">
                <a:solidFill>
                  <a:schemeClr val="hlink"/>
                </a:solidFill>
                <a:latin typeface="Calibri"/>
                <a:ea typeface="Calibri"/>
                <a:cs typeface="Calibri"/>
                <a:sym typeface="Calibri"/>
                <a:hlinkClick action="ppaction://hlinksldjump" r:id="rId4"/>
              </a:rPr>
              <a:t>Più Sicuri Casa</a:t>
            </a:r>
            <a:r>
              <a:rPr b="1" i="0" lang="it-IT" sz="1800" u="none" cap="none" strike="noStrike">
                <a:solidFill>
                  <a:srgbClr val="1F3864"/>
                </a:solidFill>
                <a:latin typeface="Calibri"/>
                <a:ea typeface="Calibri"/>
                <a:cs typeface="Calibri"/>
                <a:sym typeface="Calibri"/>
              </a:rPr>
              <a:t>, </a:t>
            </a:r>
            <a:r>
              <a:rPr b="0" i="0" lang="it-IT" sz="18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0" y="0"/>
            <a:ext cx="11921924" cy="711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Calibri"/>
              <a:buNone/>
            </a:pPr>
            <a:r>
              <a:rPr b="1" lang="it-IT">
                <a:solidFill>
                  <a:srgbClr val="002060"/>
                </a:solidFill>
              </a:rPr>
              <a:t>SUPER INTERNET CASA FWA 5G OUTDOOR &amp; NETFLIX </a:t>
            </a:r>
            <a:endParaRPr/>
          </a:p>
        </p:txBody>
      </p:sp>
      <p:sp>
        <p:nvSpPr>
          <p:cNvPr id="115" name="Google Shape;115;p17"/>
          <p:cNvSpPr txBox="1"/>
          <p:nvPr>
            <p:ph idx="2" type="body"/>
          </p:nvPr>
        </p:nvSpPr>
        <p:spPr>
          <a:xfrm>
            <a:off x="0" y="565079"/>
            <a:ext cx="12072135" cy="6292921"/>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Internet Casa Fwa 5G Outdoor &amp; Netflix </a:t>
            </a:r>
            <a:r>
              <a:rPr lang="it-IT" sz="1600">
                <a:solidFill>
                  <a:srgbClr val="1F3864"/>
                </a:solidFill>
              </a:rPr>
              <a:t>prevede navigazione senza limiti fino a</a:t>
            </a:r>
            <a:r>
              <a:rPr b="1" lang="it-IT" sz="1600">
                <a:solidFill>
                  <a:srgbClr val="1F3864"/>
                </a:solidFill>
              </a:rPr>
              <a:t> 300 Mega a 43,49€/mese </a:t>
            </a:r>
            <a:r>
              <a:rPr lang="it-IT" sz="1600">
                <a:solidFill>
                  <a:srgbClr val="1F3864"/>
                </a:solidFill>
              </a:rPr>
              <a:t>con </a:t>
            </a:r>
            <a:r>
              <a:rPr lang="it-IT" sz="1600">
                <a:solidFill>
                  <a:srgbClr val="002060"/>
                </a:solidFill>
              </a:rPr>
              <a:t>chiamate illimitate verso numeri fissi e mobili nazionali,</a:t>
            </a:r>
            <a:r>
              <a:rPr lang="it-IT" sz="1600">
                <a:solidFill>
                  <a:srgbClr val="1F3864"/>
                </a:solidFill>
              </a:rPr>
              <a:t> modem WI FI 7 + antenna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b="1" lang="it-IT" sz="1600">
                <a:solidFill>
                  <a:srgbClr val="FF0000"/>
                </a:solidFill>
              </a:rPr>
              <a:t>Costo di attivazione in promo a 0€ </a:t>
            </a:r>
            <a:r>
              <a:rPr lang="it-IT" sz="1600">
                <a:solidFill>
                  <a:srgbClr val="1F3864"/>
                </a:solidFill>
              </a:rPr>
              <a:t>invece che 1,99€ al mese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43,49 euro al mese è composto, per i primi 12 mesi, da 30,50 euro al mese di servizio e Prime e 3 euro di rata del modem e 9,99 euro dell’antenna, dal 13° mese, da 30,50 euro di servizio e 3 euro di rata del modem e 9,99 euro dell’antenna, poi dal 48° mese 43,49 euro di servizio</a:t>
            </a:r>
            <a:r>
              <a:rPr lang="it-IT" sz="1800">
                <a:solidFill>
                  <a:srgbClr val="000000"/>
                </a:solidFill>
                <a:latin typeface="Arial"/>
                <a:ea typeface="Arial"/>
                <a:cs typeface="Arial"/>
                <a:sym typeface="Arial"/>
              </a:rPr>
              <a:t>. </a:t>
            </a:r>
            <a:r>
              <a:rPr lang="it-IT" sz="1600">
                <a:solidFill>
                  <a:srgbClr val="1F3864"/>
                </a:solidFill>
              </a:rPr>
              <a:t>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da parte di un tecnico, sarà quindi </a:t>
            </a:r>
            <a:r>
              <a:rPr b="1" lang="it-IT" sz="1600" u="sng">
                <a:solidFill>
                  <a:srgbClr val="1F3864"/>
                </a:solidFill>
              </a:rPr>
              <a:t>contattato per prendere un appuntamento per l’installazione</a:t>
            </a:r>
            <a:r>
              <a:rPr lang="it-IT" sz="1600">
                <a:solidFill>
                  <a:srgbClr val="1F3864"/>
                </a:solidFill>
              </a:rPr>
              <a:t>.</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sz="1600">
              <a:solidFill>
                <a:srgbClr val="1F3864"/>
              </a:solidFill>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
        <p:nvSpPr>
          <p:cNvPr id="116" name="Google Shape;116;p17"/>
          <p:cNvSpPr txBox="1"/>
          <p:nvPr/>
        </p:nvSpPr>
        <p:spPr>
          <a:xfrm>
            <a:off x="119865" y="5477337"/>
            <a:ext cx="12191999" cy="153888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accent6"/>
              </a:buClr>
              <a:buSzPts val="1800"/>
              <a:buFont typeface="Calibri"/>
              <a:buNone/>
            </a:pPr>
            <a:r>
              <a:rPr b="1" i="0" lang="it-IT" sz="1800" u="none" cap="none" strike="noStrike">
                <a:solidFill>
                  <a:schemeClr val="accent6"/>
                </a:solidFill>
                <a:latin typeface="Calibri"/>
                <a:ea typeface="Calibri"/>
                <a:cs typeface="Calibri"/>
                <a:sym typeface="Calibri"/>
              </a:rPr>
              <a:t>In caso di aggiunta di Opzioni, vanno letti i relativi  dettagli presenti nell’ ultima </a:t>
            </a:r>
            <a:r>
              <a:rPr b="1" i="0" lang="it-IT" sz="1800" u="sng" cap="none" strike="noStrike">
                <a:solidFill>
                  <a:schemeClr val="hlink"/>
                </a:solidFill>
                <a:latin typeface="Calibri"/>
                <a:ea typeface="Calibri"/>
                <a:cs typeface="Calibri"/>
                <a:sym typeface="Calibri"/>
                <a:hlinkClick action="ppaction://hlinksldjump" r:id="rId3"/>
              </a:rPr>
              <a:t> slide</a:t>
            </a:r>
            <a:r>
              <a:rPr b="1" i="0" lang="it-IT" sz="1800" u="none" cap="none" strike="noStrike">
                <a:solidFill>
                  <a:schemeClr val="accent6"/>
                </a:solidFill>
                <a:latin typeface="Calibri"/>
                <a:ea typeface="Calibri"/>
                <a:cs typeface="Calibri"/>
                <a:sym typeface="Calibri"/>
              </a:rPr>
              <a:t>:</a:t>
            </a:r>
            <a:endParaRPr/>
          </a:p>
          <a:p>
            <a:pPr indent="0" lvl="0" marL="0" marR="0" rtl="0" algn="just">
              <a:spcBef>
                <a:spcPts val="0"/>
              </a:spcBef>
              <a:spcAft>
                <a:spcPts val="0"/>
              </a:spcAft>
              <a:buNone/>
            </a:pPr>
            <a:r>
              <a:t/>
            </a:r>
            <a:endParaRPr b="1" i="0" sz="2000" u="none" cap="none" strike="noStrike">
              <a:solidFill>
                <a:schemeClr val="accent6"/>
              </a:solidFill>
              <a:latin typeface="Calibri"/>
              <a:ea typeface="Calibri"/>
              <a:cs typeface="Calibri"/>
              <a:sym typeface="Calibri"/>
            </a:endParaRPr>
          </a:p>
          <a:p>
            <a:pPr indent="0" lvl="0" marL="0" marR="0" rtl="0" algn="just">
              <a:spcBef>
                <a:spcPts val="0"/>
              </a:spcBef>
              <a:spcAft>
                <a:spcPts val="0"/>
              </a:spcAft>
              <a:buNone/>
            </a:pPr>
            <a:r>
              <a:rPr b="1" i="0" lang="it-IT" sz="2000" u="none" cap="none" strike="noStrike">
                <a:solidFill>
                  <a:schemeClr val="accent6"/>
                </a:solidFill>
                <a:latin typeface="Calibri"/>
                <a:ea typeface="Calibri"/>
                <a:cs typeface="Calibri"/>
                <a:sym typeface="Calibri"/>
              </a:rPr>
              <a:t>Opzione Più Sicuri Casa: leggere i dettagli dell’opzione: </a:t>
            </a:r>
            <a:r>
              <a:rPr b="1" i="0" lang="it-IT" sz="2000" u="none" cap="none" strike="noStrike">
                <a:solidFill>
                  <a:srgbClr val="1F3864"/>
                </a:solidFill>
                <a:latin typeface="Calibri"/>
                <a:ea typeface="Calibri"/>
                <a:cs typeface="Calibri"/>
                <a:sym typeface="Calibri"/>
              </a:rPr>
              <a:t>Più Sicuri Casa, </a:t>
            </a:r>
            <a:r>
              <a:rPr b="0" i="0" lang="it-IT" sz="18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 </a:t>
            </a:r>
            <a:endParaRPr/>
          </a:p>
          <a:p>
            <a:pPr indent="0" lvl="0" marL="0" marR="0" rtl="0" algn="just">
              <a:spcBef>
                <a:spcPts val="0"/>
              </a:spcBef>
              <a:spcAft>
                <a:spcPts val="0"/>
              </a:spcAft>
              <a:buClr>
                <a:schemeClr val="dk1"/>
              </a:buClr>
              <a:buSzPts val="1800"/>
              <a:buFont typeface="Calibri"/>
              <a:buNone/>
            </a:pPr>
            <a:r>
              <a:t/>
            </a:r>
            <a:endParaRPr b="1" i="0" sz="18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0" y="0"/>
            <a:ext cx="10515600" cy="711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Calibri"/>
              <a:buNone/>
            </a:pPr>
            <a:r>
              <a:rPr b="1" lang="it-IT">
                <a:solidFill>
                  <a:srgbClr val="002060"/>
                </a:solidFill>
              </a:rPr>
              <a:t>SUPER INTERNET CASA FWA 5G INDOOR &amp; NETFLIX </a:t>
            </a:r>
            <a:endParaRPr/>
          </a:p>
        </p:txBody>
      </p:sp>
      <p:sp>
        <p:nvSpPr>
          <p:cNvPr id="122" name="Google Shape;122;p18"/>
          <p:cNvSpPr txBox="1"/>
          <p:nvPr>
            <p:ph idx="2" type="body"/>
          </p:nvPr>
        </p:nvSpPr>
        <p:spPr>
          <a:xfrm>
            <a:off x="0" y="565079"/>
            <a:ext cx="12072135" cy="6292921"/>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Internet Casa Fwa 5G Indoor &amp; Netflix </a:t>
            </a:r>
            <a:r>
              <a:rPr lang="it-IT" sz="1600">
                <a:solidFill>
                  <a:srgbClr val="1F3864"/>
                </a:solidFill>
              </a:rPr>
              <a:t>prevede navigazione senza limiti fino a</a:t>
            </a:r>
            <a:r>
              <a:rPr b="1" lang="it-IT" sz="1600">
                <a:solidFill>
                  <a:srgbClr val="1F3864"/>
                </a:solidFill>
              </a:rPr>
              <a:t> 300 Mega a 43,49€/mese </a:t>
            </a:r>
            <a:r>
              <a:rPr lang="it-IT" sz="1600">
                <a:solidFill>
                  <a:srgbClr val="1F3864"/>
                </a:solidFill>
              </a:rPr>
              <a:t>con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b="1" lang="it-IT" sz="1600">
                <a:solidFill>
                  <a:srgbClr val="FF0000"/>
                </a:solidFill>
              </a:rPr>
              <a:t>Costo di attivazione in promo a 0€ </a:t>
            </a:r>
            <a:r>
              <a:rPr lang="it-IT" sz="1600">
                <a:solidFill>
                  <a:srgbClr val="1F3864"/>
                </a:solidFill>
              </a:rPr>
              <a:t>invece che 1,99€ al mese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43,49 euro al mese è composto, per i primi 12 mesi, da 37,5 euro al mese di servizio e Prime e 5,99 euro di rata del modem, dal 13° mese, da 37,50 euro di servizio e 5,99 euro di rata del modem, poi dal 48° mese 43,49 euro di servizio</a:t>
            </a:r>
            <a:r>
              <a:rPr lang="it-IT" sz="1800">
                <a:solidFill>
                  <a:srgbClr val="000000"/>
                </a:solidFill>
                <a:latin typeface="Arial"/>
                <a:ea typeface="Arial"/>
                <a:cs typeface="Arial"/>
                <a:sym typeface="Arial"/>
              </a:rPr>
              <a:t>. </a:t>
            </a:r>
            <a:r>
              <a:rPr lang="it-IT" sz="1600">
                <a:solidFill>
                  <a:srgbClr val="1F3864"/>
                </a:solidFill>
              </a:rPr>
              <a:t>E' inoltre previsto un costo di 10€ per anticipo del Modem.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del modem da parte di un tecnico, sarà quindi </a:t>
            </a:r>
            <a:r>
              <a:rPr b="1" lang="it-IT" sz="1600" u="sng">
                <a:solidFill>
                  <a:srgbClr val="1F3864"/>
                </a:solidFill>
              </a:rPr>
              <a:t>contattato per prendere un appuntamento per l’installazione</a:t>
            </a:r>
            <a:r>
              <a:rPr lang="it-IT" sz="1600">
                <a:solidFill>
                  <a:srgbClr val="1F3864"/>
                </a:solidFill>
              </a:rPr>
              <a:t>.</a:t>
            </a:r>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
        <p:nvSpPr>
          <p:cNvPr id="123" name="Google Shape;123;p18"/>
          <p:cNvSpPr txBox="1"/>
          <p:nvPr/>
        </p:nvSpPr>
        <p:spPr>
          <a:xfrm>
            <a:off x="-59933" y="5319117"/>
            <a:ext cx="12191999" cy="153888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accent6"/>
              </a:buClr>
              <a:buSzPts val="1800"/>
              <a:buFont typeface="Calibri"/>
              <a:buNone/>
            </a:pPr>
            <a:r>
              <a:rPr b="1" i="0" lang="it-IT" sz="1800" u="none" cap="none" strike="noStrike">
                <a:solidFill>
                  <a:schemeClr val="accent6"/>
                </a:solidFill>
                <a:latin typeface="Calibri"/>
                <a:ea typeface="Calibri"/>
                <a:cs typeface="Calibri"/>
                <a:sym typeface="Calibri"/>
              </a:rPr>
              <a:t>In caso di aggiunta di Opzioni, vanno letti i relativi  dettagli presenti nell’ ultima </a:t>
            </a:r>
            <a:r>
              <a:rPr b="1" i="0" lang="it-IT" sz="1800" u="sng" cap="none" strike="noStrike">
                <a:solidFill>
                  <a:schemeClr val="hlink"/>
                </a:solidFill>
                <a:latin typeface="Calibri"/>
                <a:ea typeface="Calibri"/>
                <a:cs typeface="Calibri"/>
                <a:sym typeface="Calibri"/>
                <a:hlinkClick action="ppaction://hlinksldjump" r:id="rId3"/>
              </a:rPr>
              <a:t> slide</a:t>
            </a:r>
            <a:r>
              <a:rPr b="1" i="0" lang="it-IT" sz="1800" u="none" cap="none" strike="noStrike">
                <a:solidFill>
                  <a:schemeClr val="accent6"/>
                </a:solidFill>
                <a:latin typeface="Calibri"/>
                <a:ea typeface="Calibri"/>
                <a:cs typeface="Calibri"/>
                <a:sym typeface="Calibri"/>
              </a:rPr>
              <a:t>:</a:t>
            </a:r>
            <a:endParaRPr/>
          </a:p>
          <a:p>
            <a:pPr indent="0" lvl="0" marL="0" marR="0" rtl="0" algn="just">
              <a:spcBef>
                <a:spcPts val="0"/>
              </a:spcBef>
              <a:spcAft>
                <a:spcPts val="0"/>
              </a:spcAft>
              <a:buNone/>
            </a:pPr>
            <a:r>
              <a:t/>
            </a:r>
            <a:endParaRPr b="1" i="0" sz="2000" u="none" cap="none" strike="noStrike">
              <a:solidFill>
                <a:schemeClr val="accent6"/>
              </a:solidFill>
              <a:latin typeface="Calibri"/>
              <a:ea typeface="Calibri"/>
              <a:cs typeface="Calibri"/>
              <a:sym typeface="Calibri"/>
            </a:endParaRPr>
          </a:p>
          <a:p>
            <a:pPr indent="0" lvl="0" marL="0" marR="0" rtl="0" algn="just">
              <a:spcBef>
                <a:spcPts val="0"/>
              </a:spcBef>
              <a:spcAft>
                <a:spcPts val="0"/>
              </a:spcAft>
              <a:buNone/>
            </a:pPr>
            <a:r>
              <a:rPr b="1" i="0" lang="it-IT" sz="2000" u="none" cap="none" strike="noStrike">
                <a:solidFill>
                  <a:schemeClr val="accent6"/>
                </a:solidFill>
                <a:latin typeface="Calibri"/>
                <a:ea typeface="Calibri"/>
                <a:cs typeface="Calibri"/>
                <a:sym typeface="Calibri"/>
              </a:rPr>
              <a:t>Opzione Più Sicuri Casa: leggere i dettagli dell’opzione: </a:t>
            </a:r>
            <a:r>
              <a:rPr b="1" i="0" lang="it-IT" sz="2000" u="none" cap="none" strike="noStrike">
                <a:solidFill>
                  <a:srgbClr val="1F3864"/>
                </a:solidFill>
                <a:latin typeface="Calibri"/>
                <a:ea typeface="Calibri"/>
                <a:cs typeface="Calibri"/>
                <a:sym typeface="Calibri"/>
              </a:rPr>
              <a:t>Più Sicuri Casa, </a:t>
            </a:r>
            <a:r>
              <a:rPr b="0" i="0" lang="it-IT" sz="18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 </a:t>
            </a:r>
            <a:endParaRPr/>
          </a:p>
          <a:p>
            <a:pPr indent="0" lvl="0" marL="0" marR="0" rtl="0" algn="just">
              <a:spcBef>
                <a:spcPts val="0"/>
              </a:spcBef>
              <a:spcAft>
                <a:spcPts val="0"/>
              </a:spcAft>
              <a:buClr>
                <a:schemeClr val="dk1"/>
              </a:buClr>
              <a:buSzPts val="1800"/>
              <a:buFont typeface="Calibri"/>
              <a:buNone/>
            </a:pPr>
            <a:r>
              <a:t/>
            </a:r>
            <a:endParaRPr b="1" i="0" sz="18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152400" y="136526"/>
            <a:ext cx="1064895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INTERNET 100/200 NGA &amp; NETFLIX </a:t>
            </a:r>
            <a:endParaRPr/>
          </a:p>
        </p:txBody>
      </p:sp>
      <p:sp>
        <p:nvSpPr>
          <p:cNvPr id="129" name="Google Shape;129;p19"/>
          <p:cNvSpPr txBox="1"/>
          <p:nvPr>
            <p:ph idx="2" type="body"/>
          </p:nvPr>
        </p:nvSpPr>
        <p:spPr>
          <a:xfrm>
            <a:off x="152401" y="847724"/>
            <a:ext cx="11765622" cy="576883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Internet Nga 100/200</a:t>
            </a:r>
            <a:r>
              <a:rPr lang="it-IT" sz="1600">
                <a:solidFill>
                  <a:srgbClr val="1F3864"/>
                </a:solidFill>
              </a:rPr>
              <a:t> prevede navigazione senza limiti fino </a:t>
            </a:r>
            <a:r>
              <a:rPr b="1" lang="it-IT" sz="1600">
                <a:solidFill>
                  <a:srgbClr val="1F3864"/>
                </a:solidFill>
              </a:rPr>
              <a:t>a </a:t>
            </a:r>
            <a:r>
              <a:rPr lang="it-IT" sz="1600">
                <a:solidFill>
                  <a:srgbClr val="1F3864"/>
                </a:solidFill>
              </a:rPr>
              <a:t>100/200 mega </a:t>
            </a:r>
            <a:r>
              <a:rPr b="1" lang="it-IT" sz="1600">
                <a:solidFill>
                  <a:srgbClr val="1F3864"/>
                </a:solidFill>
              </a:rPr>
              <a:t>a 43,49€/mese </a:t>
            </a:r>
            <a:r>
              <a:rPr lang="it-IT" sz="1600">
                <a:solidFill>
                  <a:srgbClr val="1F3864"/>
                </a:solidFill>
              </a:rPr>
              <a:t>con chiamate illimitate verso numeri fissi e mobili nazionali, modem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FF0000"/>
              </a:buClr>
              <a:buSzPts val="1600"/>
              <a:buNone/>
            </a:pPr>
            <a:r>
              <a:rPr lang="it-IT" sz="1600">
                <a:solidFill>
                  <a:srgbClr val="FF0000"/>
                </a:solidFill>
              </a:rPr>
              <a:t>Costo di attivazione: 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a:t>
            </a:r>
            <a:r>
              <a:rPr b="1" lang="it-IT" sz="1600">
                <a:solidFill>
                  <a:srgbClr val="1F3864"/>
                </a:solidFill>
              </a:rPr>
              <a:t> </a:t>
            </a:r>
            <a:r>
              <a:rPr lang="it-IT" sz="1600">
                <a:solidFill>
                  <a:srgbClr val="1F3864"/>
                </a:solidFill>
              </a:rPr>
              <a:t>costo mensile dell’offerta è di </a:t>
            </a:r>
            <a:r>
              <a:rPr b="1" lang="it-IT" sz="1600">
                <a:solidFill>
                  <a:srgbClr val="1F3864"/>
                </a:solidFill>
              </a:rPr>
              <a:t>43,49€/mese</a:t>
            </a:r>
            <a:r>
              <a:rPr lang="it-IT" sz="1600">
                <a:solidFill>
                  <a:srgbClr val="1F3864"/>
                </a:solidFill>
              </a:rPr>
              <a:t>, composto da 37,50€/mese di canone di servizio e 5,99€/mese di rata del modem per i primi 48 mesi dopo </a:t>
            </a:r>
            <a:r>
              <a:rPr b="1" lang="it-IT" sz="1600">
                <a:solidFill>
                  <a:srgbClr val="1F3864"/>
                </a:solidFill>
              </a:rPr>
              <a:t>43,49</a:t>
            </a:r>
            <a:r>
              <a:rPr lang="it-IT" sz="1600">
                <a:solidFill>
                  <a:srgbClr val="1F3864"/>
                </a:solidFill>
              </a:rPr>
              <a:t>€/mese .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opzione Più Sicuri Casa: </a:t>
            </a:r>
            <a:r>
              <a:rPr b="1" lang="it-IT" sz="1600">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p:nvPr/>
        </p:nvSpPr>
        <p:spPr>
          <a:xfrm>
            <a:off x="-16547" y="30812"/>
            <a:ext cx="12192000" cy="75799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Calibri"/>
              <a:ea typeface="Calibri"/>
              <a:cs typeface="Calibri"/>
              <a:sym typeface="Calibri"/>
            </a:endParaRPr>
          </a:p>
        </p:txBody>
      </p:sp>
      <p:sp>
        <p:nvSpPr>
          <p:cNvPr id="135" name="Google Shape;135;p20"/>
          <p:cNvSpPr/>
          <p:nvPr/>
        </p:nvSpPr>
        <p:spPr>
          <a:xfrm>
            <a:off x="7470510" y="2130945"/>
            <a:ext cx="4678671" cy="902198"/>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36" name="Google Shape;136;p20"/>
          <p:cNvGrpSpPr/>
          <p:nvPr/>
        </p:nvGrpSpPr>
        <p:grpSpPr>
          <a:xfrm>
            <a:off x="770631" y="1913766"/>
            <a:ext cx="4380684" cy="4394282"/>
            <a:chOff x="3006242" y="1256122"/>
            <a:chExt cx="5040000" cy="5040000"/>
          </a:xfrm>
        </p:grpSpPr>
        <p:sp>
          <p:nvSpPr>
            <p:cNvPr id="137" name="Google Shape;137;p20"/>
            <p:cNvSpPr/>
            <p:nvPr/>
          </p:nvSpPr>
          <p:spPr>
            <a:xfrm>
              <a:off x="3006242" y="1256122"/>
              <a:ext cx="5040000" cy="5040000"/>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8" name="Google Shape;138;p20"/>
            <p:cNvSpPr/>
            <p:nvPr/>
          </p:nvSpPr>
          <p:spPr>
            <a:xfrm>
              <a:off x="3366243" y="1616122"/>
              <a:ext cx="4320001" cy="4320000"/>
            </a:xfrm>
            <a:prstGeom prst="ellipse">
              <a:avLst/>
            </a:prstGeom>
            <a:gradFill>
              <a:gsLst>
                <a:gs pos="0">
                  <a:srgbClr val="0070C0"/>
                </a:gs>
                <a:gs pos="22000">
                  <a:srgbClr val="0070C0"/>
                </a:gs>
                <a:gs pos="80000">
                  <a:srgbClr val="003B68"/>
                </a:gs>
                <a:gs pos="100000">
                  <a:srgbClr val="003B68"/>
                </a:gs>
              </a:gsLst>
              <a:lin ang="9600000" scaled="0"/>
            </a:gra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139" name="Google Shape;139;p20"/>
            <p:cNvSpPr/>
            <p:nvPr/>
          </p:nvSpPr>
          <p:spPr>
            <a:xfrm>
              <a:off x="3573112" y="1822992"/>
              <a:ext cx="3906259" cy="3906259"/>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40" name="Google Shape;140;p20"/>
            <p:cNvSpPr/>
            <p:nvPr/>
          </p:nvSpPr>
          <p:spPr>
            <a:xfrm>
              <a:off x="3647678" y="1897558"/>
              <a:ext cx="3757125" cy="3757125"/>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41" name="Google Shape;141;p20"/>
          <p:cNvSpPr/>
          <p:nvPr/>
        </p:nvSpPr>
        <p:spPr>
          <a:xfrm>
            <a:off x="1331796" y="2478094"/>
            <a:ext cx="3265629" cy="3265627"/>
          </a:xfrm>
          <a:prstGeom prst="ellipse">
            <a:avLst/>
          </a:prstGeom>
          <a:gradFill>
            <a:gsLst>
              <a:gs pos="0">
                <a:srgbClr val="0070C0"/>
              </a:gs>
              <a:gs pos="22000">
                <a:srgbClr val="0070C0"/>
              </a:gs>
              <a:gs pos="80000">
                <a:srgbClr val="003B68"/>
              </a:gs>
              <a:gs pos="100000">
                <a:srgbClr val="003B68"/>
              </a:gs>
            </a:gsLst>
            <a:lin ang="9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pic>
        <p:nvPicPr>
          <p:cNvPr descr="Immagine che contiene Elettrodomestico&#10;&#10;Descrizione generata automaticamente" id="142" name="Google Shape;142;p20"/>
          <p:cNvPicPr preferRelativeResize="0"/>
          <p:nvPr/>
        </p:nvPicPr>
        <p:blipFill rotWithShape="1">
          <a:blip r:embed="rId3">
            <a:alphaModFix/>
          </a:blip>
          <a:srcRect b="0" l="0" r="0" t="0"/>
          <a:stretch/>
        </p:blipFill>
        <p:spPr>
          <a:xfrm>
            <a:off x="1692527" y="1915915"/>
            <a:ext cx="2536888" cy="4333277"/>
          </a:xfrm>
          <a:prstGeom prst="rect">
            <a:avLst/>
          </a:prstGeom>
          <a:noFill/>
          <a:ln>
            <a:noFill/>
          </a:ln>
        </p:spPr>
      </p:pic>
      <p:pic>
        <p:nvPicPr>
          <p:cNvPr id="143" name="Google Shape;143;p20"/>
          <p:cNvPicPr preferRelativeResize="0"/>
          <p:nvPr/>
        </p:nvPicPr>
        <p:blipFill rotWithShape="1">
          <a:blip r:embed="rId4">
            <a:alphaModFix/>
          </a:blip>
          <a:srcRect b="0" l="0" r="0" t="0"/>
          <a:stretch/>
        </p:blipFill>
        <p:spPr>
          <a:xfrm>
            <a:off x="515714" y="3662645"/>
            <a:ext cx="1537321" cy="827567"/>
          </a:xfrm>
          <a:prstGeom prst="rect">
            <a:avLst/>
          </a:prstGeom>
          <a:noFill/>
          <a:ln>
            <a:noFill/>
          </a:ln>
        </p:spPr>
      </p:pic>
      <p:sp>
        <p:nvSpPr>
          <p:cNvPr id="144" name="Google Shape;144;p20"/>
          <p:cNvSpPr txBox="1"/>
          <p:nvPr/>
        </p:nvSpPr>
        <p:spPr>
          <a:xfrm>
            <a:off x="7828246" y="2199018"/>
            <a:ext cx="4203832" cy="769441"/>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1100" u="none" cap="none" strike="noStrike">
                <a:solidFill>
                  <a:srgbClr val="686F75"/>
                </a:solidFill>
                <a:latin typeface="Montserrat"/>
                <a:ea typeface="Montserrat"/>
                <a:cs typeface="Montserrat"/>
                <a:sym typeface="Montserrat"/>
              </a:rPr>
              <a:t>Doppia rete Wireless a 2,4 Ghz e 5 Ghz </a:t>
            </a:r>
            <a:r>
              <a:rPr b="0" i="0" lang="it-IT" sz="1100" u="none" cap="none" strike="noStrike">
                <a:solidFill>
                  <a:srgbClr val="686F75"/>
                </a:solidFill>
                <a:latin typeface="Montserrat"/>
                <a:ea typeface="Montserrat"/>
                <a:cs typeface="Montserrat"/>
                <a:sym typeface="Montserrat"/>
              </a:rPr>
              <a:t>che garantisce la migliore copertura e minor rischio di interferenze</a:t>
            </a:r>
            <a:endParaRPr/>
          </a:p>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Il nuovo design garantisce un ottimale posizionamento delle antenne per una </a:t>
            </a:r>
            <a:r>
              <a:rPr b="1" i="0" lang="it-IT" sz="1100" u="none" cap="none" strike="noStrike">
                <a:solidFill>
                  <a:srgbClr val="686F75"/>
                </a:solidFill>
                <a:latin typeface="Montserrat"/>
                <a:ea typeface="Montserrat"/>
                <a:cs typeface="Montserrat"/>
                <a:sym typeface="Montserrat"/>
              </a:rPr>
              <a:t>migliore copertura </a:t>
            </a:r>
            <a:r>
              <a:rPr b="0" i="0" lang="it-IT" sz="1100" u="none" cap="none" strike="noStrike">
                <a:solidFill>
                  <a:srgbClr val="686F75"/>
                </a:solidFill>
                <a:latin typeface="Montserrat"/>
                <a:ea typeface="Montserrat"/>
                <a:cs typeface="Montserrat"/>
                <a:sym typeface="Montserrat"/>
              </a:rPr>
              <a:t>indoor </a:t>
            </a:r>
            <a:endParaRPr/>
          </a:p>
        </p:txBody>
      </p:sp>
      <p:sp>
        <p:nvSpPr>
          <p:cNvPr id="145" name="Google Shape;145;p20"/>
          <p:cNvSpPr/>
          <p:nvPr/>
        </p:nvSpPr>
        <p:spPr>
          <a:xfrm>
            <a:off x="7490994" y="3087134"/>
            <a:ext cx="4658187" cy="740480"/>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6" name="Google Shape;146;p20"/>
          <p:cNvSpPr txBox="1"/>
          <p:nvPr/>
        </p:nvSpPr>
        <p:spPr>
          <a:xfrm>
            <a:off x="7803898" y="3154996"/>
            <a:ext cx="4216787" cy="600164"/>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Grazie alle </a:t>
            </a:r>
            <a:r>
              <a:rPr b="1" i="0" lang="it-IT" sz="1100" u="none" cap="none" strike="noStrike">
                <a:solidFill>
                  <a:srgbClr val="686F75"/>
                </a:solidFill>
                <a:latin typeface="Montserrat"/>
                <a:ea typeface="Montserrat"/>
                <a:cs typeface="Montserrat"/>
                <a:sym typeface="Montserrat"/>
              </a:rPr>
              <a:t>8 antenne </a:t>
            </a:r>
            <a:r>
              <a:rPr b="0" i="0" lang="it-IT" sz="1100" u="none" cap="none" strike="noStrike">
                <a:solidFill>
                  <a:srgbClr val="686F75"/>
                </a:solidFill>
                <a:latin typeface="Montserrat"/>
                <a:ea typeface="Montserrat"/>
                <a:cs typeface="Montserrat"/>
                <a:sym typeface="Montserrat"/>
              </a:rPr>
              <a:t>hai più velocità e connetti fino a </a:t>
            </a:r>
            <a:r>
              <a:rPr b="1" i="0" lang="it-IT" sz="1100" u="none" cap="none" strike="noStrike">
                <a:solidFill>
                  <a:srgbClr val="686F75"/>
                </a:solidFill>
                <a:latin typeface="Montserrat"/>
                <a:ea typeface="Montserrat"/>
                <a:cs typeface="Montserrat"/>
                <a:sym typeface="Montserrat"/>
              </a:rPr>
              <a:t>256 device</a:t>
            </a:r>
            <a:r>
              <a:rPr b="0" i="0" lang="it-IT" sz="1100" u="none" cap="none" strike="noStrike">
                <a:solidFill>
                  <a:srgbClr val="686F75"/>
                </a:solidFill>
                <a:latin typeface="Montserrat"/>
                <a:ea typeface="Montserrat"/>
                <a:cs typeface="Montserrat"/>
                <a:sym typeface="Montserrat"/>
              </a:rPr>
              <a:t> contemporaneamente con la migliore </a:t>
            </a:r>
            <a:r>
              <a:rPr b="1" i="0" lang="it-IT" sz="1100" u="none" cap="none" strike="noStrike">
                <a:solidFill>
                  <a:srgbClr val="686F75"/>
                </a:solidFill>
                <a:latin typeface="Montserrat"/>
                <a:ea typeface="Montserrat"/>
                <a:cs typeface="Montserrat"/>
                <a:sym typeface="Montserrat"/>
              </a:rPr>
              <a:t>stabilità di connessione</a:t>
            </a:r>
            <a:endParaRPr/>
          </a:p>
        </p:txBody>
      </p:sp>
      <p:sp>
        <p:nvSpPr>
          <p:cNvPr id="147" name="Google Shape;147;p20"/>
          <p:cNvSpPr/>
          <p:nvPr/>
        </p:nvSpPr>
        <p:spPr>
          <a:xfrm>
            <a:off x="7429608" y="3889549"/>
            <a:ext cx="4696513" cy="617042"/>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8" name="Google Shape;148;p20"/>
          <p:cNvSpPr txBox="1"/>
          <p:nvPr/>
        </p:nvSpPr>
        <p:spPr>
          <a:xfrm>
            <a:off x="7871492" y="3976842"/>
            <a:ext cx="4149194" cy="442712"/>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1100" u="none" cap="none" strike="noStrike">
                <a:solidFill>
                  <a:srgbClr val="686F75"/>
                </a:solidFill>
                <a:latin typeface="Montserrat"/>
                <a:ea typeface="Montserrat"/>
                <a:cs typeface="Montserrat"/>
                <a:sym typeface="Montserrat"/>
              </a:rPr>
              <a:t>Maggiori performance </a:t>
            </a:r>
            <a:r>
              <a:rPr b="0" i="0" lang="it-IT" sz="1100" u="none" cap="none" strike="noStrike">
                <a:solidFill>
                  <a:srgbClr val="686F75"/>
                </a:solidFill>
                <a:latin typeface="Montserrat"/>
                <a:ea typeface="Montserrat"/>
                <a:cs typeface="Montserrat"/>
                <a:sym typeface="Montserrat"/>
              </a:rPr>
              <a:t>per streaming e gaming online grazie alla minore latenza presente sulla connessione</a:t>
            </a:r>
            <a:endParaRPr/>
          </a:p>
        </p:txBody>
      </p:sp>
      <p:sp>
        <p:nvSpPr>
          <p:cNvPr id="149" name="Google Shape;149;p20"/>
          <p:cNvSpPr/>
          <p:nvPr/>
        </p:nvSpPr>
        <p:spPr>
          <a:xfrm>
            <a:off x="7406548" y="4665829"/>
            <a:ext cx="4719573" cy="603465"/>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50" name="Google Shape;150;p20"/>
          <p:cNvSpPr txBox="1"/>
          <p:nvPr/>
        </p:nvSpPr>
        <p:spPr>
          <a:xfrm>
            <a:off x="7807024" y="4742855"/>
            <a:ext cx="4213661" cy="430887"/>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Consente un maggiore </a:t>
            </a:r>
            <a:r>
              <a:rPr b="1" i="0" lang="it-IT" sz="1100" u="none" cap="none" strike="noStrike">
                <a:solidFill>
                  <a:srgbClr val="686F75"/>
                </a:solidFill>
                <a:latin typeface="Montserrat"/>
                <a:ea typeface="Montserrat"/>
                <a:cs typeface="Montserrat"/>
                <a:sym typeface="Montserrat"/>
              </a:rPr>
              <a:t>risparmio energetico</a:t>
            </a:r>
            <a:r>
              <a:rPr b="0" i="0" lang="it-IT" sz="1100" u="none" cap="none" strike="noStrike">
                <a:solidFill>
                  <a:srgbClr val="686F75"/>
                </a:solidFill>
                <a:latin typeface="Montserrat"/>
                <a:ea typeface="Montserrat"/>
                <a:cs typeface="Montserrat"/>
                <a:sym typeface="Montserrat"/>
              </a:rPr>
              <a:t>. La batteria dei dispositivi mobili connessi in Wi-Fi durerà di più</a:t>
            </a:r>
            <a:endParaRPr/>
          </a:p>
        </p:txBody>
      </p:sp>
      <p:sp>
        <p:nvSpPr>
          <p:cNvPr id="151" name="Google Shape;151;p20"/>
          <p:cNvSpPr/>
          <p:nvPr/>
        </p:nvSpPr>
        <p:spPr>
          <a:xfrm>
            <a:off x="7408319" y="5442665"/>
            <a:ext cx="4719573" cy="603465"/>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52" name="Google Shape;152;p20"/>
          <p:cNvSpPr txBox="1"/>
          <p:nvPr/>
        </p:nvSpPr>
        <p:spPr>
          <a:xfrm>
            <a:off x="7808312" y="5525934"/>
            <a:ext cx="4212373" cy="430887"/>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Imballaggio realizzato con </a:t>
            </a:r>
            <a:r>
              <a:rPr b="1" i="0" lang="it-IT" sz="1100" u="none" cap="none" strike="noStrike">
                <a:solidFill>
                  <a:srgbClr val="686F75"/>
                </a:solidFill>
                <a:latin typeface="Montserrat"/>
                <a:ea typeface="Montserrat"/>
                <a:cs typeface="Montserrat"/>
                <a:sym typeface="Montserrat"/>
              </a:rPr>
              <a:t>carta riciclata </a:t>
            </a:r>
            <a:r>
              <a:rPr b="0" i="0" lang="it-IT" sz="1100" u="none" cap="none" strike="noStrike">
                <a:solidFill>
                  <a:srgbClr val="686F75"/>
                </a:solidFill>
                <a:latin typeface="Montserrat"/>
                <a:ea typeface="Montserrat"/>
                <a:cs typeface="Montserrat"/>
                <a:sym typeface="Montserrat"/>
              </a:rPr>
              <a:t>e (per uno dei due modelli) il prodotto è realizzato con plastica riciclata </a:t>
            </a:r>
            <a:endParaRPr/>
          </a:p>
        </p:txBody>
      </p:sp>
      <p:sp>
        <p:nvSpPr>
          <p:cNvPr id="153" name="Google Shape;153;p20"/>
          <p:cNvSpPr/>
          <p:nvPr/>
        </p:nvSpPr>
        <p:spPr>
          <a:xfrm>
            <a:off x="5212198" y="3132565"/>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VELOCITA’</a:t>
            </a:r>
            <a:endParaRPr/>
          </a:p>
        </p:txBody>
      </p:sp>
      <p:sp>
        <p:nvSpPr>
          <p:cNvPr id="154" name="Google Shape;154;p20"/>
          <p:cNvSpPr/>
          <p:nvPr/>
        </p:nvSpPr>
        <p:spPr>
          <a:xfrm>
            <a:off x="5216127" y="3901631"/>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STREAMING e GAMING</a:t>
            </a:r>
            <a:endParaRPr/>
          </a:p>
        </p:txBody>
      </p:sp>
      <p:sp>
        <p:nvSpPr>
          <p:cNvPr id="155" name="Google Shape;155;p20"/>
          <p:cNvSpPr/>
          <p:nvPr/>
        </p:nvSpPr>
        <p:spPr>
          <a:xfrm>
            <a:off x="5216127" y="4666705"/>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RISPARMIO ENERGETICO</a:t>
            </a:r>
            <a:endParaRPr/>
          </a:p>
        </p:txBody>
      </p:sp>
      <p:sp>
        <p:nvSpPr>
          <p:cNvPr id="156" name="Google Shape;156;p20"/>
          <p:cNvSpPr/>
          <p:nvPr/>
        </p:nvSpPr>
        <p:spPr>
          <a:xfrm>
            <a:off x="5216126" y="5453551"/>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PLASTIC FREE</a:t>
            </a:r>
            <a:endParaRPr/>
          </a:p>
        </p:txBody>
      </p:sp>
      <p:sp>
        <p:nvSpPr>
          <p:cNvPr id="157" name="Google Shape;157;p20"/>
          <p:cNvSpPr/>
          <p:nvPr/>
        </p:nvSpPr>
        <p:spPr>
          <a:xfrm>
            <a:off x="5212199" y="2345315"/>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PIU’ COPERTURA IN TUTTA LA CASA</a:t>
            </a:r>
            <a:endParaRPr/>
          </a:p>
        </p:txBody>
      </p:sp>
      <p:sp>
        <p:nvSpPr>
          <p:cNvPr id="158" name="Google Shape;158;p20"/>
          <p:cNvSpPr txBox="1"/>
          <p:nvPr/>
        </p:nvSpPr>
        <p:spPr>
          <a:xfrm>
            <a:off x="165169" y="186766"/>
            <a:ext cx="10515600" cy="332399"/>
          </a:xfrm>
          <a:prstGeom prst="rect">
            <a:avLst/>
          </a:prstGeom>
          <a:noFill/>
          <a:ln>
            <a:noFill/>
          </a:ln>
        </p:spPr>
        <p:txBody>
          <a:bodyPr anchorCtr="0" anchor="t" bIns="45700" lIns="91425" spcFirstLastPara="1" rIns="91425" wrap="square" tIns="45700">
            <a:noAutofit/>
          </a:bodyPr>
          <a:lstStyle/>
          <a:p>
            <a:pPr indent="0" lvl="1" marL="279400" marR="0" rtl="0" algn="l">
              <a:lnSpc>
                <a:spcPct val="90000"/>
              </a:lnSpc>
              <a:spcBef>
                <a:spcPts val="0"/>
              </a:spcBef>
              <a:spcAft>
                <a:spcPts val="0"/>
              </a:spcAft>
              <a:buClr>
                <a:srgbClr val="000000"/>
              </a:buClr>
              <a:buSzPts val="2800"/>
              <a:buFont typeface="Arial"/>
              <a:buNone/>
            </a:pPr>
            <a:r>
              <a:rPr b="1" i="0" lang="it-IT" sz="2800" u="none" cap="none" strike="noStrike">
                <a:solidFill>
                  <a:srgbClr val="000000"/>
                </a:solidFill>
                <a:latin typeface="Montserrat"/>
                <a:ea typeface="Montserrat"/>
                <a:cs typeface="Montserrat"/>
                <a:sym typeface="Montserrat"/>
              </a:rPr>
              <a:t>NUOVO MODEM WI-FI 7 INCLUSO CON SUPER FIBRA</a:t>
            </a:r>
            <a:endParaRPr/>
          </a:p>
        </p:txBody>
      </p:sp>
      <p:sp>
        <p:nvSpPr>
          <p:cNvPr id="159" name="Google Shape;159;p20"/>
          <p:cNvSpPr/>
          <p:nvPr/>
        </p:nvSpPr>
        <p:spPr>
          <a:xfrm>
            <a:off x="2" y="1120344"/>
            <a:ext cx="12191998" cy="429222"/>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6A00"/>
              </a:buClr>
              <a:buSzPts val="1600"/>
              <a:buFont typeface="Montserrat"/>
              <a:buNone/>
            </a:pPr>
            <a:r>
              <a:rPr b="0" i="0" lang="it-IT" sz="1600" u="none" cap="none" strike="noStrike">
                <a:solidFill>
                  <a:srgbClr val="FF6A00"/>
                </a:solidFill>
                <a:latin typeface="Montserrat"/>
                <a:ea typeface="Montserrat"/>
                <a:cs typeface="Montserrat"/>
                <a:sym typeface="Montserrat"/>
              </a:rPr>
              <a:t>              </a:t>
            </a:r>
            <a:endParaRPr/>
          </a:p>
        </p:txBody>
      </p:sp>
      <p:sp>
        <p:nvSpPr>
          <p:cNvPr id="160" name="Google Shape;160;p20"/>
          <p:cNvSpPr txBox="1"/>
          <p:nvPr/>
        </p:nvSpPr>
        <p:spPr>
          <a:xfrm>
            <a:off x="2546098" y="1137461"/>
            <a:ext cx="7468734" cy="42299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A3838"/>
              </a:buClr>
              <a:buSzPts val="2000"/>
              <a:buFont typeface="Montserrat"/>
              <a:buNone/>
            </a:pPr>
            <a:r>
              <a:rPr b="1" i="0" lang="it-IT" sz="2000" u="none" cap="none" strike="noStrike">
                <a:solidFill>
                  <a:srgbClr val="3A3838"/>
                </a:solidFill>
                <a:latin typeface="Montserrat"/>
                <a:ea typeface="Montserrat"/>
                <a:cs typeface="Montserrat"/>
                <a:sym typeface="Montserrat"/>
              </a:rPr>
              <a:t>ANCORA PIÙ POTENZA E VELOCITÀ </a:t>
            </a:r>
            <a:endParaRPr/>
          </a:p>
        </p:txBody>
      </p:sp>
      <p:sp>
        <p:nvSpPr>
          <p:cNvPr id="161" name="Google Shape;161;p20"/>
          <p:cNvSpPr/>
          <p:nvPr/>
        </p:nvSpPr>
        <p:spPr>
          <a:xfrm flipH="1" rot="10800000">
            <a:off x="0" y="6485517"/>
            <a:ext cx="1882586" cy="372483"/>
          </a:xfrm>
          <a:custGeom>
            <a:rect b="b" l="l" r="r" t="t"/>
            <a:pathLst>
              <a:path extrusionOk="0" h="1276644" w="3589686">
                <a:moveTo>
                  <a:pt x="7525" y="0"/>
                </a:moveTo>
                <a:cubicBezTo>
                  <a:pt x="4953" y="3524"/>
                  <a:pt x="2477" y="7049"/>
                  <a:pt x="0" y="10668"/>
                </a:cubicBezTo>
                <a:lnTo>
                  <a:pt x="0" y="923449"/>
                </a:lnTo>
                <a:cubicBezTo>
                  <a:pt x="40672" y="982028"/>
                  <a:pt x="89154" y="1035177"/>
                  <a:pt x="143828" y="1081183"/>
                </a:cubicBezTo>
                <a:cubicBezTo>
                  <a:pt x="162973" y="1097280"/>
                  <a:pt x="182880" y="1112520"/>
                  <a:pt x="203359" y="1126808"/>
                </a:cubicBezTo>
                <a:cubicBezTo>
                  <a:pt x="249460" y="1159002"/>
                  <a:pt x="299180" y="1186148"/>
                  <a:pt x="351092" y="1207675"/>
                </a:cubicBezTo>
                <a:cubicBezTo>
                  <a:pt x="366046" y="1213866"/>
                  <a:pt x="381191" y="1219581"/>
                  <a:pt x="396431" y="1224820"/>
                </a:cubicBezTo>
                <a:cubicBezTo>
                  <a:pt x="455390" y="1245108"/>
                  <a:pt x="516731" y="1257395"/>
                  <a:pt x="578644" y="1264730"/>
                </a:cubicBezTo>
                <a:cubicBezTo>
                  <a:pt x="641985" y="1272254"/>
                  <a:pt x="706184" y="1275779"/>
                  <a:pt x="769906" y="1276541"/>
                </a:cubicBezTo>
                <a:cubicBezTo>
                  <a:pt x="834962" y="1277303"/>
                  <a:pt x="900017" y="1273874"/>
                  <a:pt x="964597" y="1265682"/>
                </a:cubicBezTo>
                <a:cubicBezTo>
                  <a:pt x="997077" y="1261586"/>
                  <a:pt x="1029557" y="1256443"/>
                  <a:pt x="1061752" y="1250252"/>
                </a:cubicBezTo>
                <a:cubicBezTo>
                  <a:pt x="1144810" y="1234440"/>
                  <a:pt x="1226820" y="1212342"/>
                  <a:pt x="1306639" y="1184529"/>
                </a:cubicBezTo>
                <a:cubicBezTo>
                  <a:pt x="1329881" y="1176433"/>
                  <a:pt x="1353026" y="1167765"/>
                  <a:pt x="1375886" y="1158716"/>
                </a:cubicBezTo>
                <a:cubicBezTo>
                  <a:pt x="1438275" y="1133951"/>
                  <a:pt x="1498759" y="1104710"/>
                  <a:pt x="1558100" y="1073372"/>
                </a:cubicBezTo>
                <a:cubicBezTo>
                  <a:pt x="1591818" y="1055561"/>
                  <a:pt x="1625156" y="1037082"/>
                  <a:pt x="1658303" y="1018413"/>
                </a:cubicBezTo>
                <a:cubicBezTo>
                  <a:pt x="1755267" y="963644"/>
                  <a:pt x="1846707" y="897065"/>
                  <a:pt x="1936147" y="830961"/>
                </a:cubicBezTo>
                <a:cubicBezTo>
                  <a:pt x="1987106" y="793337"/>
                  <a:pt x="2037398" y="754856"/>
                  <a:pt x="2087594" y="716280"/>
                </a:cubicBezTo>
                <a:cubicBezTo>
                  <a:pt x="2101310" y="705707"/>
                  <a:pt x="2115503" y="695706"/>
                  <a:pt x="2128742" y="684657"/>
                </a:cubicBezTo>
                <a:cubicBezTo>
                  <a:pt x="2187988" y="635318"/>
                  <a:pt x="2252758" y="589312"/>
                  <a:pt x="2315242" y="543497"/>
                </a:cubicBezTo>
                <a:cubicBezTo>
                  <a:pt x="2376869" y="498253"/>
                  <a:pt x="2439638" y="454343"/>
                  <a:pt x="2504028" y="413004"/>
                </a:cubicBezTo>
                <a:cubicBezTo>
                  <a:pt x="2540699" y="389477"/>
                  <a:pt x="2577941" y="366617"/>
                  <a:pt x="2615660" y="344805"/>
                </a:cubicBezTo>
                <a:cubicBezTo>
                  <a:pt x="2709958" y="290227"/>
                  <a:pt x="2807303" y="240983"/>
                  <a:pt x="2907221" y="197644"/>
                </a:cubicBezTo>
                <a:cubicBezTo>
                  <a:pt x="3005995" y="154686"/>
                  <a:pt x="3107246" y="117539"/>
                  <a:pt x="3210306" y="86392"/>
                </a:cubicBezTo>
                <a:cubicBezTo>
                  <a:pt x="3239167" y="77629"/>
                  <a:pt x="3268218" y="69437"/>
                  <a:pt x="3297365" y="61627"/>
                </a:cubicBezTo>
                <a:cubicBezTo>
                  <a:pt x="3312224" y="57626"/>
                  <a:pt x="3327178" y="53816"/>
                  <a:pt x="3342132" y="50102"/>
                </a:cubicBezTo>
                <a:cubicBezTo>
                  <a:pt x="3356039" y="46673"/>
                  <a:pt x="3372136" y="45053"/>
                  <a:pt x="3385471" y="39719"/>
                </a:cubicBezTo>
                <a:cubicBezTo>
                  <a:pt x="3453003" y="24098"/>
                  <a:pt x="3521107" y="10763"/>
                  <a:pt x="3589687" y="0"/>
                </a:cubicBezTo>
                <a:lnTo>
                  <a:pt x="7525" y="0"/>
                </a:lnTo>
                <a:close/>
              </a:path>
            </a:pathLst>
          </a:custGeom>
          <a:gradFill>
            <a:gsLst>
              <a:gs pos="0">
                <a:srgbClr val="E74011"/>
              </a:gs>
              <a:gs pos="12000">
                <a:srgbClr val="E74011"/>
              </a:gs>
              <a:gs pos="82000">
                <a:srgbClr val="EE7203"/>
              </a:gs>
              <a:gs pos="100000">
                <a:srgbClr val="EE7203"/>
              </a:gs>
            </a:gsLst>
            <a:lin ang="96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2F2F2F"/>
              </a:solidFill>
              <a:latin typeface="Arial"/>
              <a:ea typeface="Arial"/>
              <a:cs typeface="Arial"/>
              <a:sym typeface="Arial"/>
            </a:endParaRPr>
          </a:p>
        </p:txBody>
      </p:sp>
      <p:sp>
        <p:nvSpPr>
          <p:cNvPr id="162" name="Google Shape;162;p20"/>
          <p:cNvSpPr/>
          <p:nvPr/>
        </p:nvSpPr>
        <p:spPr>
          <a:xfrm>
            <a:off x="288174" y="6557435"/>
            <a:ext cx="354235" cy="221397"/>
          </a:xfrm>
          <a:prstGeom prst="rect">
            <a:avLst/>
          </a:prstGeom>
          <a:noFill/>
          <a:ln>
            <a:noFill/>
          </a:ln>
        </p:spPr>
      </p:sp>
      <p:sp>
        <p:nvSpPr>
          <p:cNvPr id="163" name="Google Shape;163;p20"/>
          <p:cNvSpPr txBox="1"/>
          <p:nvPr/>
        </p:nvSpPr>
        <p:spPr>
          <a:xfrm>
            <a:off x="4405667" y="6452329"/>
            <a:ext cx="5750695" cy="24622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7030A0"/>
              </a:buClr>
              <a:buSzPts val="1000"/>
              <a:buFont typeface="Arial"/>
              <a:buChar char="•"/>
            </a:pPr>
            <a:r>
              <a:rPr b="1" i="0" lang="it-IT" sz="1000" u="none" cap="none" strike="noStrike">
                <a:solidFill>
                  <a:schemeClr val="dk1"/>
                </a:solidFill>
                <a:latin typeface="Arial"/>
                <a:ea typeface="Arial"/>
                <a:cs typeface="Arial"/>
                <a:sym typeface="Arial"/>
              </a:rPr>
              <a:t>Solo su FTTC e FTTH AREE BIANCHE ( C&amp;D) viene dato il modem Wi-Fi 6</a:t>
            </a:r>
            <a:endParaRPr b="1" i="0" sz="1000" u="none" cap="none" strike="noStrike">
              <a:solidFill>
                <a:srgbClr val="FF6A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type="title"/>
          </p:nvPr>
        </p:nvSpPr>
        <p:spPr>
          <a:xfrm>
            <a:off x="514344" y="328290"/>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 OFFERTE FISSE</a:t>
            </a:r>
            <a:r>
              <a:rPr lang="it-IT">
                <a:solidFill>
                  <a:srgbClr val="002060"/>
                </a:solidFill>
              </a:rPr>
              <a:t> </a:t>
            </a:r>
            <a:endParaRPr/>
          </a:p>
        </p:txBody>
      </p:sp>
      <p:sp>
        <p:nvSpPr>
          <p:cNvPr id="170" name="Google Shape;170;p21"/>
          <p:cNvSpPr txBox="1"/>
          <p:nvPr/>
        </p:nvSpPr>
        <p:spPr>
          <a:xfrm>
            <a:off x="2752724" y="1316979"/>
            <a:ext cx="8277225" cy="7734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600"/>
              <a:buFont typeface="Arial"/>
              <a:buNone/>
            </a:pPr>
            <a:r>
              <a:rPr b="1" i="0" lang="it-IT" sz="1600" u="none" cap="none" strike="noStrike">
                <a:solidFill>
                  <a:srgbClr val="002060"/>
                </a:solidFill>
                <a:latin typeface="Calibri"/>
                <a:ea typeface="Calibri"/>
                <a:cs typeface="Calibri"/>
                <a:sym typeface="Calibri"/>
              </a:rPr>
              <a:t>INVISTA </a:t>
            </a:r>
            <a:r>
              <a:rPr b="0" i="0" lang="it-IT" sz="16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600" u="none" cap="none" strike="noStrike">
                <a:solidFill>
                  <a:srgbClr val="002060"/>
                </a:solidFill>
                <a:latin typeface="Calibri"/>
                <a:ea typeface="Calibri"/>
                <a:cs typeface="Calibri"/>
                <a:sym typeface="Calibri"/>
              </a:rPr>
              <a:t>2€/mese iva inclusa</a:t>
            </a:r>
            <a:r>
              <a:rPr b="0" i="0" lang="it-IT" sz="1600" u="none" cap="none" strike="noStrike">
                <a:solidFill>
                  <a:srgbClr val="002060"/>
                </a:solidFill>
                <a:latin typeface="Calibri"/>
                <a:ea typeface="Calibri"/>
                <a:cs typeface="Calibri"/>
                <a:sym typeface="Calibri"/>
              </a:rPr>
              <a:t>.</a:t>
            </a:r>
            <a:endParaRPr/>
          </a:p>
        </p:txBody>
      </p:sp>
      <p:sp>
        <p:nvSpPr>
          <p:cNvPr id="171" name="Google Shape;171;p21"/>
          <p:cNvSpPr txBox="1"/>
          <p:nvPr/>
        </p:nvSpPr>
        <p:spPr>
          <a:xfrm>
            <a:off x="514350" y="1305867"/>
            <a:ext cx="1971675" cy="7734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INVISTA</a:t>
            </a:r>
            <a:endParaRPr/>
          </a:p>
        </p:txBody>
      </p:sp>
      <p:sp>
        <p:nvSpPr>
          <p:cNvPr id="172" name="Google Shape;172;p21"/>
          <p:cNvSpPr txBox="1"/>
          <p:nvPr/>
        </p:nvSpPr>
        <p:spPr>
          <a:xfrm>
            <a:off x="2762249" y="3349971"/>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600"/>
              <a:buFont typeface="Arial"/>
              <a:buNone/>
            </a:pPr>
            <a:r>
              <a:rPr b="0" i="0" lang="it-IT" sz="16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6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600"/>
              <a:buFont typeface="Arial"/>
              <a:buNone/>
            </a:pPr>
            <a:r>
              <a:rPr b="0" i="0" lang="it-IT" sz="1600" u="none" cap="none" strike="noStrike">
                <a:solidFill>
                  <a:srgbClr val="002060"/>
                </a:solidFill>
                <a:latin typeface="Calibri"/>
                <a:ea typeface="Calibri"/>
                <a:cs typeface="Calibri"/>
                <a:sym typeface="Calibri"/>
              </a:rPr>
              <a:t>Per</a:t>
            </a:r>
            <a:r>
              <a:rPr b="1" i="0" lang="it-IT" sz="1600" u="none" cap="none" strike="noStrike">
                <a:solidFill>
                  <a:srgbClr val="002060"/>
                </a:solidFill>
                <a:latin typeface="Calibri"/>
                <a:ea typeface="Calibri"/>
                <a:cs typeface="Calibri"/>
                <a:sym typeface="Calibri"/>
              </a:rPr>
              <a:t> </a:t>
            </a:r>
            <a:r>
              <a:rPr b="0" i="0" lang="it-IT" sz="16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600" u="none" cap="none" strike="noStrike">
                <a:solidFill>
                  <a:srgbClr val="002060"/>
                </a:solidFill>
                <a:latin typeface="Calibri"/>
                <a:ea typeface="Calibri"/>
                <a:cs typeface="Calibri"/>
                <a:sym typeface="Calibri"/>
              </a:rPr>
              <a:t>35€.</a:t>
            </a:r>
            <a:endParaRPr b="0" i="0" sz="1600" u="none" cap="none" strike="noStrike">
              <a:solidFill>
                <a:srgbClr val="002060"/>
              </a:solidFill>
              <a:latin typeface="Calibri"/>
              <a:ea typeface="Calibri"/>
              <a:cs typeface="Calibri"/>
              <a:sym typeface="Calibri"/>
            </a:endParaRPr>
          </a:p>
        </p:txBody>
      </p:sp>
      <p:sp>
        <p:nvSpPr>
          <p:cNvPr id="173" name="Google Shape;173;p21"/>
          <p:cNvSpPr txBox="1"/>
          <p:nvPr/>
        </p:nvSpPr>
        <p:spPr>
          <a:xfrm>
            <a:off x="523876" y="3349971"/>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SERVIZIO TECNICO</a:t>
            </a:r>
            <a:endParaRPr/>
          </a:p>
        </p:txBody>
      </p:sp>
      <p:sp>
        <p:nvSpPr>
          <p:cNvPr id="174" name="Google Shape;174;p21"/>
          <p:cNvSpPr txBox="1"/>
          <p:nvPr/>
        </p:nvSpPr>
        <p:spPr>
          <a:xfrm>
            <a:off x="2762249" y="2350143"/>
            <a:ext cx="8277225" cy="740123"/>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600"/>
              <a:buFont typeface="Arial"/>
              <a:buNone/>
            </a:pPr>
            <a:r>
              <a:rPr b="1" i="0" lang="it-IT" sz="1600" u="none" cap="none" strike="noStrike">
                <a:solidFill>
                  <a:srgbClr val="002060"/>
                </a:solidFill>
                <a:latin typeface="Calibri"/>
                <a:ea typeface="Calibri"/>
                <a:cs typeface="Calibri"/>
                <a:sym typeface="Calibri"/>
              </a:rPr>
              <a:t>CALL YOUR COUNTRY HOME </a:t>
            </a:r>
            <a:r>
              <a:rPr b="0" i="0" lang="it-IT" sz="16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600" u="none" cap="none" strike="noStrike">
                <a:solidFill>
                  <a:srgbClr val="002060"/>
                </a:solidFill>
                <a:latin typeface="Calibri"/>
                <a:ea typeface="Calibri"/>
                <a:cs typeface="Calibri"/>
                <a:sym typeface="Calibri"/>
              </a:rPr>
              <a:t>5€/mese</a:t>
            </a:r>
            <a:endParaRPr/>
          </a:p>
        </p:txBody>
      </p:sp>
      <p:sp>
        <p:nvSpPr>
          <p:cNvPr id="175" name="Google Shape;175;p21"/>
          <p:cNvSpPr txBox="1"/>
          <p:nvPr/>
        </p:nvSpPr>
        <p:spPr>
          <a:xfrm>
            <a:off x="523875" y="2327919"/>
            <a:ext cx="1971675" cy="7734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CYC HOME</a:t>
            </a:r>
            <a:endParaRPr/>
          </a:p>
        </p:txBody>
      </p:sp>
      <p:sp>
        <p:nvSpPr>
          <p:cNvPr id="176" name="Google Shape;176;p21"/>
          <p:cNvSpPr txBox="1"/>
          <p:nvPr/>
        </p:nvSpPr>
        <p:spPr>
          <a:xfrm>
            <a:off x="514350" y="4636577"/>
            <a:ext cx="2009776" cy="91555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PIU’ SICURI CASA</a:t>
            </a:r>
            <a:endParaRPr/>
          </a:p>
        </p:txBody>
      </p:sp>
      <p:sp>
        <p:nvSpPr>
          <p:cNvPr id="177" name="Google Shape;177;p21"/>
          <p:cNvSpPr txBox="1"/>
          <p:nvPr/>
        </p:nvSpPr>
        <p:spPr>
          <a:xfrm>
            <a:off x="2752719" y="4667298"/>
            <a:ext cx="8277225" cy="91555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600"/>
              <a:buFont typeface="Arial"/>
              <a:buNone/>
            </a:pPr>
            <a:r>
              <a:rPr b="0" i="0" lang="it-IT" sz="1600" u="none" cap="none" strike="noStrike">
                <a:solidFill>
                  <a:srgbClr val="002060"/>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178" name="Google Shape;178;p21"/>
          <p:cNvSpPr txBox="1"/>
          <p:nvPr/>
        </p:nvSpPr>
        <p:spPr>
          <a:xfrm>
            <a:off x="3047036" y="2693229"/>
            <a:ext cx="60940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21"/>
          <p:cNvSpPr txBox="1"/>
          <p:nvPr/>
        </p:nvSpPr>
        <p:spPr>
          <a:xfrm>
            <a:off x="2762249" y="5765683"/>
            <a:ext cx="8277225" cy="91555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600"/>
              <a:buFont typeface="Arial"/>
              <a:buNone/>
            </a:pPr>
            <a:r>
              <a:rPr b="0" lang="it-IT" sz="1600" u="none">
                <a:solidFill>
                  <a:srgbClr val="002060"/>
                </a:solidFill>
                <a:latin typeface="Calibri"/>
                <a:ea typeface="Calibri"/>
                <a:cs typeface="Calibri"/>
                <a:sym typeface="Calibri"/>
              </a:rPr>
              <a:t>Il servizio permette la visione in Ultra HD su 4 schermi al costo di 6 Euro/mese. </a:t>
            </a:r>
            <a:endParaRPr/>
          </a:p>
          <a:p>
            <a:pPr indent="0" lvl="0" marL="0" marR="0" rtl="0" algn="just">
              <a:lnSpc>
                <a:spcPct val="90000"/>
              </a:lnSpc>
              <a:spcBef>
                <a:spcPts val="1000"/>
              </a:spcBef>
              <a:spcAft>
                <a:spcPts val="0"/>
              </a:spcAft>
              <a:buClr>
                <a:schemeClr val="dk1"/>
              </a:buClr>
              <a:buSzPts val="1600"/>
              <a:buFont typeface="Arial"/>
              <a:buNone/>
            </a:pPr>
            <a:r>
              <a:t/>
            </a:r>
            <a:endParaRPr b="0" sz="1600" u="none">
              <a:solidFill>
                <a:srgbClr val="002060"/>
              </a:solidFill>
              <a:latin typeface="Calibri"/>
              <a:ea typeface="Calibri"/>
              <a:cs typeface="Calibri"/>
              <a:sym typeface="Calibri"/>
            </a:endParaRPr>
          </a:p>
        </p:txBody>
      </p:sp>
      <p:sp>
        <p:nvSpPr>
          <p:cNvPr id="180" name="Google Shape;180;p21"/>
          <p:cNvSpPr txBox="1"/>
          <p:nvPr/>
        </p:nvSpPr>
        <p:spPr>
          <a:xfrm>
            <a:off x="523875" y="5776797"/>
            <a:ext cx="2009776" cy="91555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800"/>
              <a:buFont typeface="Arial"/>
              <a:buNone/>
            </a:pPr>
            <a:r>
              <a:rPr b="0" lang="it-IT" sz="2800" u="none">
                <a:solidFill>
                  <a:srgbClr val="002060"/>
                </a:solidFill>
                <a:latin typeface="Calibri"/>
                <a:ea typeface="Calibri"/>
                <a:cs typeface="Calibri"/>
                <a:sym typeface="Calibri"/>
              </a:rPr>
              <a:t>NETFLIX PREMIUM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