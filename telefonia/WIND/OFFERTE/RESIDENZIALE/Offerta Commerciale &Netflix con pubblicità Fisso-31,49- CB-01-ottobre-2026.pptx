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5" name="Shape 15"/>
        <p:cNvGrpSpPr/>
        <p:nvPr/>
      </p:nvGrpSpPr>
      <p:grpSpPr>
        <a:xfrm>
          <a:off x="0" y="0"/>
          <a:ext cx="0" cy="0"/>
          <a:chOff x="0" y="0"/>
          <a:chExt cx="0" cy="0"/>
        </a:xfrm>
      </p:grpSpPr>
      <p:sp>
        <p:nvSpPr>
          <p:cNvPr id="16" name="Google Shape;1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22" name="Shape 22"/>
        <p:cNvGrpSpPr/>
        <p:nvPr/>
      </p:nvGrpSpPr>
      <p:grpSpPr>
        <a:xfrm>
          <a:off x="0" y="0"/>
          <a:ext cx="0" cy="0"/>
          <a:chOff x="0" y="0"/>
          <a:chExt cx="0" cy="0"/>
        </a:xfrm>
      </p:grpSpPr>
      <p:sp>
        <p:nvSpPr>
          <p:cNvPr id="23" name="Google Shape;23;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8" name="Shape 28"/>
        <p:cNvGrpSpPr/>
        <p:nvPr/>
      </p:nvGrpSpPr>
      <p:grpSpPr>
        <a:xfrm>
          <a:off x="0" y="0"/>
          <a:ext cx="0" cy="0"/>
          <a:chOff x="0" y="0"/>
          <a:chExt cx="0" cy="0"/>
        </a:xfrm>
      </p:grpSpPr>
      <p:sp>
        <p:nvSpPr>
          <p:cNvPr id="29" name="Google Shape;2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6.xml"/><Relationship Id="rId4" Type="http://schemas.openxmlformats.org/officeDocument/2006/relationships/slide" Target="/ppt/slides/slide6.xml"/><Relationship Id="rId5" Type="http://schemas.openxmlformats.org/officeDocument/2006/relationships/slide" Target="/ppt/slides/slide6.xml"/><Relationship Id="rId6" Type="http://schemas.openxmlformats.org/officeDocument/2006/relationships/slide" Target="/ppt/slid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slide" Target="/ppt/slides/slide6.xml"/><Relationship Id="rId4" Type="http://schemas.openxmlformats.org/officeDocument/2006/relationships/slide" Target="/ppt/slides/slide6.xml"/><Relationship Id="rId5" Type="http://schemas.openxmlformats.org/officeDocument/2006/relationships/slide" Target="/ppt/slides/slide6.xml"/><Relationship Id="rId6" Type="http://schemas.openxmlformats.org/officeDocument/2006/relationships/slide" Target="/ppt/slides/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slide" Target="/ppt/slides/slide6.xml"/><Relationship Id="rId4" Type="http://schemas.openxmlformats.org/officeDocument/2006/relationships/slide" Target="/ppt/slides/slide6.xml"/><Relationship Id="rId5" Type="http://schemas.openxmlformats.org/officeDocument/2006/relationships/slide" Target="/ppt/slides/slide6.xml"/><Relationship Id="rId6" Type="http://schemas.openxmlformats.org/officeDocument/2006/relationships/slide" Target="/ppt/slid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slide" Target="/ppt/slides/slide6.xml"/><Relationship Id="rId4" Type="http://schemas.openxmlformats.org/officeDocument/2006/relationships/slide" Target="/ppt/slid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6.xml"/><Relationship Id="rId4" Type="http://schemas.openxmlformats.org/officeDocument/2006/relationships/slide" Target="/ppt/slid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title"/>
          </p:nvPr>
        </p:nvSpPr>
        <p:spPr>
          <a:xfrm>
            <a:off x="-1" y="219456"/>
            <a:ext cx="11846103" cy="41508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2060"/>
              </a:buClr>
              <a:buSzPts val="3600"/>
              <a:buFont typeface="Calibri"/>
              <a:buNone/>
            </a:pPr>
            <a:r>
              <a:rPr b="1" lang="it-IT" sz="3600">
                <a:solidFill>
                  <a:srgbClr val="002060"/>
                </a:solidFill>
              </a:rPr>
              <a:t>FTTH OPEN FIBER/ EXTRA &amp; NETFLIX con pubblicità</a:t>
            </a:r>
            <a:endParaRPr/>
          </a:p>
        </p:txBody>
      </p:sp>
      <p:sp>
        <p:nvSpPr>
          <p:cNvPr id="89" name="Google Shape;89;p13"/>
          <p:cNvSpPr txBox="1"/>
          <p:nvPr>
            <p:ph idx="2" type="body"/>
          </p:nvPr>
        </p:nvSpPr>
        <p:spPr>
          <a:xfrm>
            <a:off x="123290" y="985667"/>
            <a:ext cx="11846103" cy="550772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FIBRA &amp; NETFLIX con pubblicità</a:t>
            </a:r>
            <a:r>
              <a:rPr lang="it-IT" sz="1600">
                <a:solidFill>
                  <a:srgbClr val="1F3864"/>
                </a:solidFill>
              </a:rPr>
              <a:t> con modem WI-FI7: L’offerta prevede navigazione senza limiti fino a </a:t>
            </a:r>
            <a:r>
              <a:rPr b="1" lang="it-IT" sz="1600">
                <a:solidFill>
                  <a:srgbClr val="1F3864"/>
                </a:solidFill>
              </a:rPr>
              <a:t>2,5 Gigabit</a:t>
            </a:r>
            <a:r>
              <a:rPr lang="it-IT" sz="1600">
                <a:solidFill>
                  <a:srgbClr val="1F3864"/>
                </a:solidFill>
              </a:rPr>
              <a:t> a </a:t>
            </a:r>
            <a:r>
              <a:rPr b="1" lang="it-IT" sz="1600">
                <a:solidFill>
                  <a:srgbClr val="1F3864"/>
                </a:solidFill>
              </a:rPr>
              <a:t>31,49€/mese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31,49 euro al mese è composto, per i primi 12 mesi, da 25,50 euro al mese di servizio e Prime e 5,99 euro al mese di modem, dal 13° mese, da 25,50 euro al mese di servizio e 5,99 euro al mese di modem, dal 49° mese, da 31,49 euro al mese di servizio.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150686" y="-12557"/>
            <a:ext cx="12259027"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3600"/>
              <a:buFont typeface="Calibri"/>
              <a:buNone/>
            </a:pPr>
            <a:r>
              <a:rPr b="1" lang="it-IT" sz="3600">
                <a:solidFill>
                  <a:srgbClr val="002060"/>
                </a:solidFill>
              </a:rPr>
              <a:t>SUPER FIBRA FTTH AREE BIANCHE &amp; NETFLIX con pubblicità</a:t>
            </a:r>
            <a:endParaRPr/>
          </a:p>
        </p:txBody>
      </p:sp>
      <p:sp>
        <p:nvSpPr>
          <p:cNvPr id="95" name="Google Shape;95;p14"/>
          <p:cNvSpPr txBox="1"/>
          <p:nvPr>
            <p:ph idx="2" type="body"/>
          </p:nvPr>
        </p:nvSpPr>
        <p:spPr>
          <a:xfrm>
            <a:off x="153501" y="625785"/>
            <a:ext cx="11876926" cy="6181415"/>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FIBRA FTTH AREE BIANCHE &amp; NETFLIX con pubblicità </a:t>
            </a:r>
            <a:r>
              <a:rPr lang="it-IT" sz="1600">
                <a:solidFill>
                  <a:srgbClr val="1F3864"/>
                </a:solidFill>
              </a:rPr>
              <a:t>con modem WI-FI7</a:t>
            </a:r>
            <a:r>
              <a:rPr b="1" lang="it-IT" sz="1600">
                <a:solidFill>
                  <a:srgbClr val="1F3864"/>
                </a:solidFill>
              </a:rPr>
              <a:t>:</a:t>
            </a:r>
            <a:r>
              <a:rPr lang="it-IT" sz="1600">
                <a:solidFill>
                  <a:srgbClr val="1F3864"/>
                </a:solidFill>
              </a:rPr>
              <a:t> l’offerta prevede navigazione senza limiti fino </a:t>
            </a:r>
            <a:r>
              <a:rPr b="1" lang="it-IT" sz="1600">
                <a:solidFill>
                  <a:srgbClr val="1F3864"/>
                </a:solidFill>
              </a:rPr>
              <a:t>a 1 Gigabit a  31,49€/mese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31,49 euro al mese è composto, per i primi 12 mesi, da 25,50 euro al mese di servizio e Prime e 5,99 euro al mese di modem, dal 13° mese, da 25,50 euro al mese di servizio e 5,99 euro al mese di modem, dal 49° mese, da 31,49 euro al mese di servizio.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La informiamo che per l'offerta SUPER FIBRA IN AREE BIANCHE date le particolari condizioni urbanistiche e geografiche, cercheremo di riutilizzare eventuali strutture preesistenti per il cablaggio della fibra ma dove questo non sia possibile, potrebbe essere necessario realizzare interventi che comporterebbero l’allungamento dei tempi di attivazione oltre i 30 giorni</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129283" y="108272"/>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3600"/>
              <a:buFont typeface="Calibri"/>
              <a:buNone/>
            </a:pPr>
            <a:r>
              <a:rPr b="1" lang="it-IT" sz="3600">
                <a:solidFill>
                  <a:srgbClr val="002060"/>
                </a:solidFill>
              </a:rPr>
              <a:t>INTERNET 100/200 &amp; NETFLIX con pubblicità</a:t>
            </a:r>
            <a:endParaRPr/>
          </a:p>
        </p:txBody>
      </p:sp>
      <p:sp>
        <p:nvSpPr>
          <p:cNvPr id="101" name="Google Shape;101;p15"/>
          <p:cNvSpPr txBox="1"/>
          <p:nvPr>
            <p:ph idx="2" type="body"/>
          </p:nvPr>
        </p:nvSpPr>
        <p:spPr>
          <a:xfrm>
            <a:off x="129284" y="918124"/>
            <a:ext cx="11932578" cy="5831603"/>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Internet 100/200 &amp; NETFLIX con pubblicità </a:t>
            </a:r>
            <a:r>
              <a:rPr lang="it-IT" sz="1600">
                <a:solidFill>
                  <a:srgbClr val="1F3864"/>
                </a:solidFill>
              </a:rPr>
              <a:t>con modem WI-FI7</a:t>
            </a:r>
            <a:r>
              <a:rPr b="1" lang="it-IT" sz="1600">
                <a:solidFill>
                  <a:srgbClr val="1F3864"/>
                </a:solidFill>
              </a:rPr>
              <a:t>:</a:t>
            </a:r>
            <a:r>
              <a:rPr lang="it-IT" sz="1600">
                <a:solidFill>
                  <a:srgbClr val="1F3864"/>
                </a:solidFill>
              </a:rPr>
              <a:t> L’offerta prevede navigazione senza limiti fino a 200 mega </a:t>
            </a:r>
            <a:r>
              <a:rPr b="1" lang="it-IT" sz="1600">
                <a:solidFill>
                  <a:srgbClr val="1F3864"/>
                </a:solidFill>
              </a:rPr>
              <a:t>a 31,49€/mese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31,49 euro al mese è composto, per i primi 12 mesi, da 25,50 euro al mese di servizio e Prime e 5,99 euro al mese di modem, dal 13° mese, da 25,50 euro al mese di servizio e 5,99 euro al mese di modem, dal 49° mese, da 31,49 euro al mese di servizio.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a:t>
            </a:r>
            <a:r>
              <a:rPr b="1" lang="it-IT" sz="1600" u="sng">
                <a:solidFill>
                  <a:schemeClr val="hlink"/>
                </a:solidFill>
                <a:hlinkClick action="ppaction://hlinksldjump" r:id="rId4"/>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Mobile PRO: </a:t>
            </a:r>
            <a:r>
              <a:rPr b="1" lang="it-IT" sz="1600" u="sng">
                <a:solidFill>
                  <a:schemeClr val="hlink"/>
                </a:solidFill>
                <a:hlinkClick action="ppaction://hlinksldjump" r:id="rId5"/>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6"/>
              </a:rPr>
              <a:t>CLICCA QUI</a:t>
            </a:r>
            <a:endParaRPr sz="1600">
              <a:solidFill>
                <a:srgbClr val="1F3864"/>
              </a:solidFill>
            </a:endParaRPr>
          </a:p>
          <a:p>
            <a:pPr indent="0" lvl="0" marL="0" rtl="0" algn="just">
              <a:lnSpc>
                <a:spcPct val="90000"/>
              </a:lnSpc>
              <a:spcBef>
                <a:spcPts val="1000"/>
              </a:spcBef>
              <a:spcAft>
                <a:spcPts val="0"/>
              </a:spcAft>
              <a:buClr>
                <a:schemeClr val="dk1"/>
              </a:buClr>
              <a:buSzPts val="1400"/>
              <a:buNone/>
            </a:pPr>
            <a:r>
              <a:t/>
            </a:r>
            <a:endParaRPr sz="1400">
              <a:solidFill>
                <a:srgbClr val="00206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0" y="0"/>
            <a:ext cx="12268200" cy="711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2060"/>
              </a:buClr>
              <a:buSzPct val="100000"/>
              <a:buFont typeface="Calibri"/>
              <a:buNone/>
            </a:pPr>
            <a:r>
              <a:rPr b="1" lang="it-IT">
                <a:solidFill>
                  <a:srgbClr val="002060"/>
                </a:solidFill>
              </a:rPr>
              <a:t>SUPER INTERNET CASA FWA 5G &amp; NETFLIX con pubblicità</a:t>
            </a:r>
            <a:endParaRPr/>
          </a:p>
        </p:txBody>
      </p:sp>
      <p:sp>
        <p:nvSpPr>
          <p:cNvPr id="107" name="Google Shape;107;p16"/>
          <p:cNvSpPr txBox="1"/>
          <p:nvPr>
            <p:ph idx="2" type="body"/>
          </p:nvPr>
        </p:nvSpPr>
        <p:spPr>
          <a:xfrm>
            <a:off x="137161" y="711199"/>
            <a:ext cx="11873330" cy="6146801"/>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Internet Casa FWA 5G &amp; NETFLIX con pubblicità </a:t>
            </a:r>
            <a:r>
              <a:rPr lang="it-IT" sz="1600">
                <a:solidFill>
                  <a:srgbClr val="1F3864"/>
                </a:solidFill>
              </a:rPr>
              <a:t>con modem WI-FI7.</a:t>
            </a:r>
            <a:r>
              <a:rPr b="1" lang="it-IT" sz="1600">
                <a:solidFill>
                  <a:srgbClr val="1F3864"/>
                </a:solidFill>
              </a:rPr>
              <a:t> </a:t>
            </a:r>
            <a:r>
              <a:rPr lang="it-IT" sz="1600">
                <a:solidFill>
                  <a:srgbClr val="1F3864"/>
                </a:solidFill>
              </a:rPr>
              <a:t>L’offerta prevede navigazione senza limiti fino a 300 mega </a:t>
            </a:r>
            <a:r>
              <a:rPr b="1" lang="it-IT" sz="1600">
                <a:solidFill>
                  <a:srgbClr val="1F3864"/>
                </a:solidFill>
              </a:rPr>
              <a:t>a 31,49€/mese </a:t>
            </a:r>
            <a:r>
              <a:rPr lang="it-IT" sz="1600">
                <a:solidFill>
                  <a:srgbClr val="1F3864"/>
                </a:solidFill>
              </a:rPr>
              <a:t>con chiamate a 0 cent./minuto e scatto alla risposta di 23 centesimi verso numeri fissi e mobili nazionali e modem, antenna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costo mensile di 31,49 euro è composto, per i primi 12 mesi, da 18,50 euro al mese di servizio e Prime e 3 euro di rata del modem e 9,99 euro dell’antenna, dal 13° mese, da 18,50 euro di servizio e 3 euro di rata del modem e 9,99 euro dell’antenna, poi dal 49° mese 31,49 euro di servizio.</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FWA outdoor prevede l’installazione da parte di un tecnico, sarà quindi </a:t>
            </a:r>
            <a:r>
              <a:rPr b="1" lang="it-IT" sz="1600" u="sng">
                <a:solidFill>
                  <a:srgbClr val="1F3864"/>
                </a:solidFill>
              </a:rPr>
              <a:t>contattato per prendere un appuntamento per l’installazione</a:t>
            </a:r>
            <a:r>
              <a:rPr lang="it-IT" sz="1600">
                <a:solidFill>
                  <a:srgbClr val="1F3864"/>
                </a:solidFill>
              </a:rPr>
              <a:t>.</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4"/>
              </a:rPr>
              <a:t>CLICCA QUI</a:t>
            </a:r>
            <a:endParaRPr sz="1600">
              <a:solidFill>
                <a:srgbClr val="1F386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0" y="0"/>
            <a:ext cx="122682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3600"/>
              <a:buFont typeface="Calibri"/>
              <a:buNone/>
            </a:pPr>
            <a:r>
              <a:rPr b="1" lang="it-IT" sz="3600">
                <a:solidFill>
                  <a:srgbClr val="002060"/>
                </a:solidFill>
              </a:rPr>
              <a:t>SUPER INTERNET CASA 5G FWA INDOOR &amp; NETFLIX con pubblicità</a:t>
            </a:r>
            <a:endParaRPr/>
          </a:p>
        </p:txBody>
      </p:sp>
      <p:sp>
        <p:nvSpPr>
          <p:cNvPr id="113" name="Google Shape;113;p17"/>
          <p:cNvSpPr txBox="1"/>
          <p:nvPr>
            <p:ph idx="2" type="body"/>
          </p:nvPr>
        </p:nvSpPr>
        <p:spPr>
          <a:xfrm>
            <a:off x="137161" y="798288"/>
            <a:ext cx="11873330" cy="4807858"/>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Super Internet Casa 5G FWA INDOOR &amp; NETFLIX con pubblicità </a:t>
            </a:r>
            <a:r>
              <a:rPr lang="it-IT" sz="1600">
                <a:solidFill>
                  <a:srgbClr val="1F3864"/>
                </a:solidFill>
              </a:rPr>
              <a:t>con modem WI-FI7.</a:t>
            </a:r>
            <a:r>
              <a:rPr b="1" lang="it-IT" sz="1600">
                <a:solidFill>
                  <a:srgbClr val="1F3864"/>
                </a:solidFill>
              </a:rPr>
              <a:t> </a:t>
            </a:r>
            <a:r>
              <a:rPr lang="it-IT" sz="1600">
                <a:solidFill>
                  <a:srgbClr val="1F3864"/>
                </a:solidFill>
              </a:rPr>
              <a:t>L’offerta prevede navigazione senza limiti fino a 300 mega </a:t>
            </a:r>
            <a:r>
              <a:rPr b="1" lang="it-IT" sz="1600">
                <a:solidFill>
                  <a:srgbClr val="1F3864"/>
                </a:solidFill>
              </a:rPr>
              <a:t>a 31,49€/mese </a:t>
            </a:r>
            <a:r>
              <a:rPr lang="it-IT" sz="1600">
                <a:solidFill>
                  <a:srgbClr val="1F3864"/>
                </a:solidFill>
              </a:rPr>
              <a:t>con chiamate a 0 cent./minuto e scatto alla risposta di 23 centesimi verso numeri fissi e mobili nazionali e modem e assistenza inclusi, ad eccezione dell’anticipo del modem di 10€.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attivazione 1,99 euro al mese per 24 mesi, salvo promozioni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costo mensile di 31,49 euro al mese è composto, per i primi 12 mesi, da 25,50 euro al mese di servizio e Prime e 5,99 euro al mese di modem, dal 13° mese, da 25,50 euro al mese di servizio e 5,99 euro al mese di modem, dal 49° mese, da 31,49 euro al mese di servizio.</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Più Sicuri Casa: </a:t>
            </a:r>
            <a:r>
              <a:rPr b="1" lang="it-IT" sz="1600" u="sng">
                <a:solidFill>
                  <a:schemeClr val="hlink"/>
                </a:solidFill>
                <a:hlinkClick action="ppaction://hlinksldjump" r:id="rId3"/>
              </a:rPr>
              <a:t>CLICCA QUI</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in caso di aggiunta opzione VOCE UNLIMITED: </a:t>
            </a:r>
            <a:r>
              <a:rPr b="1" lang="it-IT" sz="1600" u="sng">
                <a:solidFill>
                  <a:schemeClr val="hlink"/>
                </a:solidFill>
                <a:hlinkClick action="ppaction://hlinksldjump" r:id="rId4"/>
              </a:rPr>
              <a:t>CLICCA QUI</a:t>
            </a:r>
            <a:endParaRPr sz="1600">
              <a:solidFill>
                <a:srgbClr val="1F386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67442" y="36528"/>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OPZIONI</a:t>
            </a:r>
            <a:r>
              <a:rPr lang="it-IT">
                <a:solidFill>
                  <a:srgbClr val="002060"/>
                </a:solidFill>
              </a:rPr>
              <a:t> </a:t>
            </a:r>
            <a:endParaRPr/>
          </a:p>
        </p:txBody>
      </p:sp>
      <p:sp>
        <p:nvSpPr>
          <p:cNvPr id="119" name="Google Shape;119;p18"/>
          <p:cNvSpPr txBox="1"/>
          <p:nvPr/>
        </p:nvSpPr>
        <p:spPr>
          <a:xfrm>
            <a:off x="2605817" y="813821"/>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INVISTA </a:t>
            </a:r>
            <a:r>
              <a:rPr b="0" i="0" lang="it-IT" sz="1400" u="none" cap="none" strike="noStrike">
                <a:solidFill>
                  <a:srgbClr val="002060"/>
                </a:solidFill>
                <a:latin typeface="Calibri"/>
                <a:ea typeface="Calibri"/>
                <a:cs typeface="Calibri"/>
                <a:sym typeface="Calibri"/>
              </a:rPr>
              <a:t>è il servizio che le permette di visualizzare il numero di chi la chiama sul display del suo telefono fisso al costo di </a:t>
            </a:r>
            <a:r>
              <a:rPr b="1" i="0" lang="it-IT" sz="1400" u="none" cap="none" strike="noStrike">
                <a:solidFill>
                  <a:srgbClr val="002060"/>
                </a:solidFill>
                <a:latin typeface="Calibri"/>
                <a:ea typeface="Calibri"/>
                <a:cs typeface="Calibri"/>
                <a:sym typeface="Calibri"/>
              </a:rPr>
              <a:t>2€/mese iva inclusa</a:t>
            </a:r>
            <a:r>
              <a:rPr b="0" i="0" lang="it-IT" sz="1400" u="none" cap="none" strike="noStrike">
                <a:solidFill>
                  <a:srgbClr val="002060"/>
                </a:solidFill>
                <a:latin typeface="Calibri"/>
                <a:ea typeface="Calibri"/>
                <a:cs typeface="Calibri"/>
                <a:sym typeface="Calibri"/>
              </a:rPr>
              <a:t>.</a:t>
            </a:r>
            <a:endParaRPr/>
          </a:p>
        </p:txBody>
      </p:sp>
      <p:sp>
        <p:nvSpPr>
          <p:cNvPr id="120" name="Google Shape;120;p18"/>
          <p:cNvSpPr txBox="1"/>
          <p:nvPr/>
        </p:nvSpPr>
        <p:spPr>
          <a:xfrm>
            <a:off x="367443" y="802709"/>
            <a:ext cx="1971675"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INVISTA</a:t>
            </a:r>
            <a:endParaRPr/>
          </a:p>
        </p:txBody>
      </p:sp>
      <p:sp>
        <p:nvSpPr>
          <p:cNvPr id="121" name="Google Shape;121;p18"/>
          <p:cNvSpPr txBox="1"/>
          <p:nvPr/>
        </p:nvSpPr>
        <p:spPr>
          <a:xfrm>
            <a:off x="2605812" y="2217267"/>
            <a:ext cx="8277225"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 il posizionamento di una nuova Presa Fibra in un punto diverso dalla presa principale è previsto un costo di </a:t>
            </a:r>
            <a:r>
              <a:rPr b="1" i="0" lang="it-IT" sz="1400" u="none" cap="none" strike="noStrike">
                <a:solidFill>
                  <a:srgbClr val="002060"/>
                </a:solidFill>
                <a:latin typeface="Calibri"/>
                <a:ea typeface="Calibri"/>
                <a:cs typeface="Calibri"/>
                <a:sym typeface="Calibri"/>
              </a:rPr>
              <a:t>65€.</a:t>
            </a:r>
            <a:endParaRPr/>
          </a:p>
          <a:p>
            <a:pPr indent="0" lvl="0" marL="0" marR="0" rtl="0" algn="l">
              <a:lnSpc>
                <a:spcPct val="90000"/>
              </a:lnSpc>
              <a:spcBef>
                <a:spcPts val="1000"/>
              </a:spcBef>
              <a:spcAft>
                <a:spcPts val="0"/>
              </a:spcAft>
              <a:buClr>
                <a:srgbClr val="002060"/>
              </a:buClr>
              <a:buSzPts val="1400"/>
              <a:buFont typeface="Arial"/>
              <a:buNone/>
            </a:pPr>
            <a:r>
              <a:rPr b="0" i="0" lang="it-IT" sz="1400" u="none" cap="none" strike="noStrike">
                <a:solidFill>
                  <a:srgbClr val="002060"/>
                </a:solidFill>
                <a:latin typeface="Calibri"/>
                <a:ea typeface="Calibri"/>
                <a:cs typeface="Calibri"/>
                <a:sym typeface="Calibri"/>
              </a:rPr>
              <a:t>Per</a:t>
            </a:r>
            <a:r>
              <a:rPr b="1" i="0" lang="it-IT" sz="1400" u="none" cap="none" strike="noStrike">
                <a:solidFill>
                  <a:srgbClr val="002060"/>
                </a:solidFill>
                <a:latin typeface="Calibri"/>
                <a:ea typeface="Calibri"/>
                <a:cs typeface="Calibri"/>
                <a:sym typeface="Calibri"/>
              </a:rPr>
              <a:t> </a:t>
            </a:r>
            <a:r>
              <a:rPr b="0" i="0" lang="it-IT" sz="1400" u="none" cap="none" strike="noStrik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b="1" i="0" lang="it-IT" sz="1400" u="none" cap="none" strike="noStrike">
                <a:solidFill>
                  <a:srgbClr val="002060"/>
                </a:solidFill>
                <a:latin typeface="Calibri"/>
                <a:ea typeface="Calibri"/>
                <a:cs typeface="Calibri"/>
                <a:sym typeface="Calibri"/>
              </a:rPr>
              <a:t>35€.</a:t>
            </a:r>
            <a:endParaRPr b="0" i="0" sz="1400" u="none" cap="none" strike="noStrike">
              <a:solidFill>
                <a:srgbClr val="002060"/>
              </a:solidFill>
              <a:latin typeface="Calibri"/>
              <a:ea typeface="Calibri"/>
              <a:cs typeface="Calibri"/>
              <a:sym typeface="Calibri"/>
            </a:endParaRPr>
          </a:p>
        </p:txBody>
      </p:sp>
      <p:sp>
        <p:nvSpPr>
          <p:cNvPr id="122" name="Google Shape;122;p18"/>
          <p:cNvSpPr txBox="1"/>
          <p:nvPr/>
        </p:nvSpPr>
        <p:spPr>
          <a:xfrm>
            <a:off x="367442" y="2217267"/>
            <a:ext cx="2000250"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SERVIZIO TECNICO</a:t>
            </a:r>
            <a:endParaRPr/>
          </a:p>
        </p:txBody>
      </p:sp>
      <p:sp>
        <p:nvSpPr>
          <p:cNvPr id="123" name="Google Shape;123;p18"/>
          <p:cNvSpPr txBox="1"/>
          <p:nvPr/>
        </p:nvSpPr>
        <p:spPr>
          <a:xfrm>
            <a:off x="2605815" y="1527990"/>
            <a:ext cx="8277225" cy="5470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400"/>
              <a:buFont typeface="Arial"/>
              <a:buNone/>
            </a:pPr>
            <a:r>
              <a:rPr b="1" i="0" lang="it-IT" sz="1400" u="none" cap="none" strike="noStrike">
                <a:solidFill>
                  <a:srgbClr val="002060"/>
                </a:solidFill>
                <a:latin typeface="Calibri"/>
                <a:ea typeface="Calibri"/>
                <a:cs typeface="Calibri"/>
                <a:sym typeface="Calibri"/>
              </a:rPr>
              <a:t>CALL YOUR COUNTRY HOME </a:t>
            </a:r>
            <a:r>
              <a:rPr b="0" i="0" lang="it-IT" sz="1400" u="none" cap="none" strike="noStrike">
                <a:solidFill>
                  <a:srgbClr val="002060"/>
                </a:solidFill>
                <a:latin typeface="Calibri"/>
                <a:ea typeface="Calibri"/>
                <a:cs typeface="Calibri"/>
                <a:sym typeface="Calibri"/>
              </a:rPr>
              <a:t>è L'opzione CHE prevede chiamate illimitate verso un elenco di paesi esteri al costo di </a:t>
            </a:r>
            <a:r>
              <a:rPr b="1" i="0" lang="it-IT" sz="1400" u="none" cap="none" strike="noStrike">
                <a:solidFill>
                  <a:srgbClr val="002060"/>
                </a:solidFill>
                <a:latin typeface="Calibri"/>
                <a:ea typeface="Calibri"/>
                <a:cs typeface="Calibri"/>
                <a:sym typeface="Calibri"/>
              </a:rPr>
              <a:t>5€/mese</a:t>
            </a:r>
            <a:endParaRPr/>
          </a:p>
        </p:txBody>
      </p:sp>
      <p:sp>
        <p:nvSpPr>
          <p:cNvPr id="124" name="Google Shape;124;p18"/>
          <p:cNvSpPr txBox="1"/>
          <p:nvPr/>
        </p:nvSpPr>
        <p:spPr>
          <a:xfrm>
            <a:off x="338868" y="1484312"/>
            <a:ext cx="2000250" cy="558148"/>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CYC HOME</a:t>
            </a:r>
            <a:endParaRPr/>
          </a:p>
        </p:txBody>
      </p:sp>
      <p:sp>
        <p:nvSpPr>
          <p:cNvPr id="125" name="Google Shape;125;p18"/>
          <p:cNvSpPr txBox="1"/>
          <p:nvPr/>
        </p:nvSpPr>
        <p:spPr>
          <a:xfrm>
            <a:off x="367442" y="3328645"/>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CASA</a:t>
            </a:r>
            <a:endParaRPr/>
          </a:p>
        </p:txBody>
      </p:sp>
      <p:sp>
        <p:nvSpPr>
          <p:cNvPr id="126" name="Google Shape;126;p18"/>
          <p:cNvSpPr txBox="1"/>
          <p:nvPr/>
        </p:nvSpPr>
        <p:spPr>
          <a:xfrm>
            <a:off x="2605811" y="3359366"/>
            <a:ext cx="8277225" cy="5752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 in più al mese e il primo mese gratuito, le permette di proteggere la rete di casa e tutti i dispostivi ad essa connessi.</a:t>
            </a:r>
            <a:endParaRPr/>
          </a:p>
        </p:txBody>
      </p:sp>
      <p:sp>
        <p:nvSpPr>
          <p:cNvPr id="127" name="Google Shape;127;p18"/>
          <p:cNvSpPr txBox="1"/>
          <p:nvPr/>
        </p:nvSpPr>
        <p:spPr>
          <a:xfrm>
            <a:off x="367442" y="4064113"/>
            <a:ext cx="2000250"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a:t>
            </a:r>
            <a:endParaRPr/>
          </a:p>
        </p:txBody>
      </p:sp>
      <p:sp>
        <p:nvSpPr>
          <p:cNvPr id="128" name="Google Shape;128;p18"/>
          <p:cNvSpPr txBox="1"/>
          <p:nvPr/>
        </p:nvSpPr>
        <p:spPr>
          <a:xfrm>
            <a:off x="2605809" y="4064114"/>
            <a:ext cx="8277225" cy="61375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0,99€/mese con il primo mese gratuito, addebitato su credito per un’esperienza di navigazione protetta su rete WINDTRE. Protezione attiva all’attivazione dell’opzione senza azioni del Cliente</a:t>
            </a:r>
            <a:endParaRPr/>
          </a:p>
        </p:txBody>
      </p:sp>
      <p:sp>
        <p:nvSpPr>
          <p:cNvPr id="129" name="Google Shape;129;p18"/>
          <p:cNvSpPr txBox="1"/>
          <p:nvPr/>
        </p:nvSpPr>
        <p:spPr>
          <a:xfrm>
            <a:off x="367442" y="4815350"/>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PIU’ SICURI MOBILE PRO</a:t>
            </a:r>
            <a:endParaRPr/>
          </a:p>
        </p:txBody>
      </p:sp>
      <p:sp>
        <p:nvSpPr>
          <p:cNvPr id="130" name="Google Shape;130;p18"/>
          <p:cNvSpPr txBox="1"/>
          <p:nvPr/>
        </p:nvSpPr>
        <p:spPr>
          <a:xfrm>
            <a:off x="2605808" y="4807363"/>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a soli 1.99€/mese con primo mese gratuito: Navigazione sicura su tutte le reti: WINDTRE, WiFi e Roaming. Acquisti online e transazioni finanziarie (Conto Corrente)  protette grazie alla VPN</a:t>
            </a:r>
            <a:endParaRPr/>
          </a:p>
        </p:txBody>
      </p:sp>
      <p:sp>
        <p:nvSpPr>
          <p:cNvPr id="131" name="Google Shape;131;p18"/>
          <p:cNvSpPr txBox="1"/>
          <p:nvPr/>
        </p:nvSpPr>
        <p:spPr>
          <a:xfrm>
            <a:off x="367442" y="5624058"/>
            <a:ext cx="2000250" cy="64587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2060"/>
              </a:buClr>
              <a:buSzPts val="1800"/>
              <a:buFont typeface="Arial"/>
              <a:buChar char="•"/>
            </a:pPr>
            <a:r>
              <a:rPr b="0" i="0" lang="it-IT" sz="1800" u="none" cap="none" strike="noStrike">
                <a:solidFill>
                  <a:srgbClr val="002060"/>
                </a:solidFill>
                <a:latin typeface="Calibri"/>
                <a:ea typeface="Calibri"/>
                <a:cs typeface="Calibri"/>
                <a:sym typeface="Calibri"/>
              </a:rPr>
              <a:t>VOCE UNLIMITED</a:t>
            </a:r>
            <a:endParaRPr/>
          </a:p>
        </p:txBody>
      </p:sp>
      <p:sp>
        <p:nvSpPr>
          <p:cNvPr id="132" name="Google Shape;132;p18"/>
          <p:cNvSpPr txBox="1"/>
          <p:nvPr/>
        </p:nvSpPr>
        <p:spPr>
          <a:xfrm>
            <a:off x="2605808" y="5620064"/>
            <a:ext cx="8277225" cy="653864"/>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1F3864"/>
              </a:buClr>
              <a:buSzPts val="1400"/>
              <a:buFont typeface="Arial"/>
              <a:buNone/>
            </a:pPr>
            <a:r>
              <a:rPr b="0" i="0" lang="it-IT" sz="1400" u="none" cap="none" strike="noStrike">
                <a:solidFill>
                  <a:srgbClr val="1F3864"/>
                </a:solidFill>
                <a:latin typeface="Calibri"/>
                <a:ea typeface="Calibri"/>
                <a:cs typeface="Calibri"/>
                <a:sym typeface="Calibri"/>
              </a:rPr>
              <a:t>il costo sarà di 3€ in più al mese e prevede Chiamate illimitate verso i fissi e mobili nazionali.</a:t>
            </a:r>
            <a:endParaRPr b="0" i="0" sz="1400" u="none" cap="none" strike="noStrike">
              <a:solidFill>
                <a:srgbClr val="1F3864"/>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