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Lst>
  <p:sldSz cx="12192000" cy="6858000"/>
  <p:notesSz cx="6858000" cy="9144000"/>
  <p:embeddedFontLst>
    <p:embeddedFont>
      <p:font typeface="Montserrat" panose="00000500000000000000" pitchFamily="2" charset="0"/>
      <p:regular r:id="rId17"/>
      <p:bold r:id="rId18"/>
      <p:italic r:id="rId19"/>
      <p:boldItalic r:id="rId20"/>
    </p:embeddedFont>
    <p:embeddedFont>
      <p:font typeface="Montserrat Black" panose="00000A00000000000000" pitchFamily="2"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Martinenghi" userId="008c41ee-9ae3-4361-a904-88980b592d10" providerId="ADAL" clId="{6870D8DF-005B-4965-9771-37F409070CEE}"/>
    <pc:docChg chg="delSld">
      <pc:chgData name="Claudia Martinenghi" userId="008c41ee-9ae3-4361-a904-88980b592d10" providerId="ADAL" clId="{6870D8DF-005B-4965-9771-37F409070CEE}" dt="2026-10-05T13:02:05.056" v="1" actId="47"/>
      <pc:docMkLst>
        <pc:docMk/>
      </pc:docMkLst>
      <pc:sldChg chg="del">
        <pc:chgData name="Claudia Martinenghi" userId="008c41ee-9ae3-4361-a904-88980b592d10" providerId="ADAL" clId="{6870D8DF-005B-4965-9771-37F409070CEE}" dt="2026-10-05T13:02:03.450" v="0" actId="47"/>
        <pc:sldMkLst>
          <pc:docMk/>
          <pc:sldMk cId="0" sldId="262"/>
        </pc:sldMkLst>
      </pc:sldChg>
      <pc:sldChg chg="del">
        <pc:chgData name="Claudia Martinenghi" userId="008c41ee-9ae3-4361-a904-88980b592d10" providerId="ADAL" clId="{6870D8DF-005B-4965-9771-37F409070CEE}" dt="2026-10-05T13:02:05.056" v="1" actId="47"/>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slide" Target="slide10.xml"/><Relationship Id="rId4" Type="http://schemas.openxmlformats.org/officeDocument/2006/relationships/slide" Target="slide9.xml"/></Relationships>
</file>

<file path=ppt/slides/_rels/slide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title"/>
          </p:nvPr>
        </p:nvSpPr>
        <p:spPr>
          <a:xfrm>
            <a:off x="157650" y="-51533"/>
            <a:ext cx="11792611"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OPEN FIBER &amp; NETFLIX</a:t>
            </a:r>
            <a:endParaRPr/>
          </a:p>
        </p:txBody>
      </p:sp>
      <p:sp>
        <p:nvSpPr>
          <p:cNvPr id="90" name="Google Shape;90;p13"/>
          <p:cNvSpPr txBox="1">
            <a:spLocks noGrp="1"/>
          </p:cNvSpPr>
          <p:nvPr>
            <p:ph type="body" idx="2"/>
          </p:nvPr>
        </p:nvSpPr>
        <p:spPr>
          <a:xfrm>
            <a:off x="241737" y="565079"/>
            <a:ext cx="11792611" cy="6014398"/>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&amp; NETFLIX </a:t>
            </a:r>
            <a:r>
              <a:rPr lang="it-IT" sz="1500">
                <a:solidFill>
                  <a:srgbClr val="1F3864"/>
                </a:solidFill>
              </a:rPr>
              <a:t>prevede navigazione senza limiti fino a 2,5 Gigabit a </a:t>
            </a:r>
            <a:r>
              <a:rPr lang="it-IT" sz="1500" b="1">
                <a:solidFill>
                  <a:srgbClr val="1F3864"/>
                </a:solidFill>
              </a:rPr>
              <a:t>38,49€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 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38,49 euro al mese è composto, per i primi 12 mesi, da 32,50 euro al mese di servizio e Prime e 5,99 euro al mese di modem, dal 13° mese, da 32,50 euro al mese di servizio e 5,99 euro al mese di modem, dal 48° mese, da 38,49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di Opzioni, vanno letti i relativi  dettagli presenti nelle ultime </a:t>
            </a:r>
            <a:r>
              <a:rPr lang="it-IT" sz="1600" b="1" u="sng">
                <a:solidFill>
                  <a:schemeClr val="hlink"/>
                </a:solidFill>
                <a:hlinkClick r:id="rId3" action="ppaction://hlinksldjump"/>
              </a:rPr>
              <a:t>2 slide</a:t>
            </a:r>
            <a:r>
              <a:rPr lang="it-IT" sz="1600" b="1">
                <a:solidFill>
                  <a:schemeClr val="accent6"/>
                </a:solidFill>
              </a:rPr>
              <a:t>:</a:t>
            </a:r>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Opzione </a:t>
            </a:r>
            <a:r>
              <a:rPr lang="it-IT" sz="1600" b="1">
                <a:solidFill>
                  <a:schemeClr val="accent6"/>
                </a:solidFill>
              </a:rPr>
              <a:t>Più Sicuri Casa: leggere i dettagli dell’opzione: </a:t>
            </a:r>
            <a:r>
              <a:rPr lang="it-IT" sz="1600" b="1" u="sng">
                <a:solidFill>
                  <a:schemeClr val="hlink"/>
                </a:solidFill>
                <a:hlinkClick r:id="rId3" action="ppaction://hlinksldjump"/>
              </a:rPr>
              <a:t>Più Sicuri Casa</a:t>
            </a:r>
            <a:r>
              <a:rPr lang="it-IT" sz="1600" b="1">
                <a:solidFill>
                  <a:srgbClr val="1F3864"/>
                </a:solidFill>
              </a:rPr>
              <a:t>,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4" action="ppaction://hlinksldjump"/>
              </a:rPr>
              <a:t>UNLIMITED 5G EP ONLINE CON SUPER FIBRA </a:t>
            </a:r>
            <a:r>
              <a:rPr lang="it-IT" sz="1400" b="1">
                <a:solidFill>
                  <a:srgbClr val="002060"/>
                </a:solidFill>
              </a:rPr>
              <a:t>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u="sng">
                <a:solidFill>
                  <a:schemeClr val="hlink"/>
                </a:solidFill>
                <a:hlinkClick r:id="rId5" action="ppaction://hlinksldjump"/>
              </a:rPr>
              <a:t>UNLIMITED 5G ONLINE CON SUPER FIBRA </a:t>
            </a:r>
            <a:r>
              <a:rPr lang="it-IT" sz="1400" b="1">
                <a:solidFill>
                  <a:srgbClr val="002060"/>
                </a:solidFill>
              </a:rPr>
              <a:t>offerta untied su credito residuo</a:t>
            </a:r>
            <a:endParaRPr/>
          </a:p>
          <a:p>
            <a:pPr marL="0" lvl="0" indent="0" algn="l" rtl="0">
              <a:lnSpc>
                <a:spcPct val="90000"/>
              </a:lnSpc>
              <a:spcBef>
                <a:spcPts val="1000"/>
              </a:spcBef>
              <a:spcAft>
                <a:spcPts val="0"/>
              </a:spcAft>
              <a:buClr>
                <a:schemeClr val="dk1"/>
              </a:buClr>
              <a:buSzPts val="1500"/>
              <a:buNone/>
            </a:pPr>
            <a:endParaRPr sz="15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91" name="Google Shape;91;p13"/>
          <p:cNvPicPr preferRelativeResize="0"/>
          <p:nvPr/>
        </p:nvPicPr>
        <p:blipFill rotWithShape="1">
          <a:blip r:embed="rId6">
            <a:alphaModFix/>
          </a:blip>
          <a:srcRect/>
          <a:stretch/>
        </p:blipFill>
        <p:spPr>
          <a:xfrm>
            <a:off x="9515598" y="5209979"/>
            <a:ext cx="2434663" cy="1369498"/>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157651" y="-51533"/>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EXTRA FIBER &amp; NETFLIX</a:t>
            </a:r>
            <a:endParaRPr/>
          </a:p>
        </p:txBody>
      </p:sp>
      <p:sp>
        <p:nvSpPr>
          <p:cNvPr id="97" name="Google Shape;97;p14"/>
          <p:cNvSpPr txBox="1">
            <a:spLocks noGrp="1"/>
          </p:cNvSpPr>
          <p:nvPr>
            <p:ph type="body" idx="2"/>
          </p:nvPr>
        </p:nvSpPr>
        <p:spPr>
          <a:xfrm>
            <a:off x="241738" y="565079"/>
            <a:ext cx="11807386" cy="6014398"/>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&amp; NETFLIX </a:t>
            </a:r>
            <a:r>
              <a:rPr lang="it-IT" sz="1500">
                <a:solidFill>
                  <a:srgbClr val="1F3864"/>
                </a:solidFill>
              </a:rPr>
              <a:t>prevede navigazione senza limiti fino </a:t>
            </a:r>
            <a:r>
              <a:rPr lang="it-IT" sz="1500" b="1">
                <a:solidFill>
                  <a:srgbClr val="1F3864"/>
                </a:solidFill>
              </a:rPr>
              <a:t>2,5 Gigabit a 38,49€/mese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38,49 euro al mese è composto, per i primi 12 mesi, da 32,50 euro al mese di servizio e Prime e 5,99 euro al mese di modem, dal 13° mese, da 32,50 euro al mese di servizio e 5,99 euro al mese di modem, dal 48° mese, da 38,49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di Opzioni, vanno letti i relativi  dettagli presenti nelle ultime </a:t>
            </a:r>
            <a:r>
              <a:rPr lang="it-IT" sz="1600" b="1" u="sng">
                <a:solidFill>
                  <a:schemeClr val="hlink"/>
                </a:solidFill>
                <a:hlinkClick r:id="rId3" action="ppaction://hlinksldjump"/>
              </a:rPr>
              <a:t>2 slide</a:t>
            </a:r>
            <a:r>
              <a:rPr lang="it-IT" sz="1600" b="1">
                <a:solidFill>
                  <a:schemeClr val="accent6"/>
                </a:solidFill>
              </a:rPr>
              <a:t>:</a:t>
            </a:r>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Opzione Più Sicuri Casa: leggere i dettagli dell’opzione: </a:t>
            </a:r>
            <a:r>
              <a:rPr lang="it-IT" sz="1600" b="1" u="sng">
                <a:solidFill>
                  <a:schemeClr val="hlink"/>
                </a:solidFill>
                <a:hlinkClick r:id="rId3" action="ppaction://hlinksldjump"/>
              </a:rPr>
              <a:t>Più Sicuri Casa</a:t>
            </a:r>
            <a:r>
              <a:rPr lang="it-IT" sz="1600" b="1">
                <a:solidFill>
                  <a:srgbClr val="1F3864"/>
                </a:solidFill>
              </a:rPr>
              <a:t>,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just" rtl="0">
              <a:lnSpc>
                <a:spcPct val="90000"/>
              </a:lnSpc>
              <a:spcBef>
                <a:spcPts val="1000"/>
              </a:spcBef>
              <a:spcAft>
                <a:spcPts val="0"/>
              </a:spcAft>
              <a:buClr>
                <a:srgbClr val="002060"/>
              </a:buClr>
              <a:buSzPts val="1200"/>
              <a:buNone/>
            </a:pPr>
            <a:r>
              <a:rPr lang="it-IT" sz="12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200"/>
              <a:buChar char="•"/>
            </a:pPr>
            <a:r>
              <a:rPr lang="it-IT" sz="1200" b="1">
                <a:solidFill>
                  <a:srgbClr val="002060"/>
                </a:solidFill>
              </a:rPr>
              <a:t>UNLIMITED 5G EP ONLINE CON SUPER FIBRA offerta tied con metodo di pagamento</a:t>
            </a:r>
            <a:endParaRPr sz="1200">
              <a:solidFill>
                <a:srgbClr val="002060"/>
              </a:solidFill>
            </a:endParaRPr>
          </a:p>
          <a:p>
            <a:pPr marL="228600" lvl="0" indent="-228600" algn="just" rtl="0">
              <a:lnSpc>
                <a:spcPct val="90000"/>
              </a:lnSpc>
              <a:spcBef>
                <a:spcPts val="1000"/>
              </a:spcBef>
              <a:spcAft>
                <a:spcPts val="0"/>
              </a:spcAft>
              <a:buClr>
                <a:srgbClr val="002060"/>
              </a:buClr>
              <a:buSzPts val="1200"/>
              <a:buChar char="•"/>
            </a:pPr>
            <a:r>
              <a:rPr lang="it-IT" sz="12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200"/>
              <a:buNone/>
            </a:pPr>
            <a:endParaRPr sz="12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98" name="Google Shape;98;p14"/>
          <p:cNvPicPr preferRelativeResize="0"/>
          <p:nvPr/>
        </p:nvPicPr>
        <p:blipFill rotWithShape="1">
          <a:blip r:embed="rId4">
            <a:alphaModFix/>
          </a:blip>
          <a:srcRect/>
          <a:stretch/>
        </p:blipFill>
        <p:spPr>
          <a:xfrm>
            <a:off x="9515598" y="5209979"/>
            <a:ext cx="2434663" cy="1369498"/>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0" y="0"/>
            <a:ext cx="1064895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it-IT" sz="3600" b="1">
                <a:solidFill>
                  <a:srgbClr val="002060"/>
                </a:solidFill>
              </a:rPr>
              <a:t>INTERNET 100/200 &amp; NETFLIX</a:t>
            </a:r>
            <a:endParaRPr/>
          </a:p>
        </p:txBody>
      </p:sp>
      <p:sp>
        <p:nvSpPr>
          <p:cNvPr id="104" name="Google Shape;104;p15"/>
          <p:cNvSpPr txBox="1">
            <a:spLocks noGrp="1"/>
          </p:cNvSpPr>
          <p:nvPr>
            <p:ph type="body" idx="2"/>
          </p:nvPr>
        </p:nvSpPr>
        <p:spPr>
          <a:xfrm>
            <a:off x="136634" y="606176"/>
            <a:ext cx="11976598" cy="594177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INTERNET 100/200 &amp; NETFLIX </a:t>
            </a:r>
            <a:r>
              <a:rPr lang="it-IT" sz="1500">
                <a:solidFill>
                  <a:srgbClr val="1F3864"/>
                </a:solidFill>
              </a:rPr>
              <a:t>prevede navigazione senza limiti fino a </a:t>
            </a:r>
            <a:r>
              <a:rPr lang="it-IT" sz="1500" b="1">
                <a:solidFill>
                  <a:srgbClr val="1F3864"/>
                </a:solidFill>
              </a:rPr>
              <a:t>100/200 Mega a 38,49€/mese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a:solidFill>
                  <a:srgbClr val="FF0000"/>
                </a:solidFill>
              </a:rPr>
              <a:t>Costo di attivazione: 1,99€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38,49 euro al mese è composto, per i primi 12 mesi, da 32,50 euro al mese di servizio e Prime e 5,99 euro al mese di modem, dal 13° mese, da 32,50 euro al mese di servizio e 5,99 euro al mese di modem, dal 48° mese, da 38,49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In caso di aggiunta di Opzioni, vanno letti i relativi  dettagli presenti nelle ultime </a:t>
            </a:r>
            <a:r>
              <a:rPr lang="it-IT" sz="1400" b="1" u="sng">
                <a:solidFill>
                  <a:schemeClr val="hlink"/>
                </a:solidFill>
                <a:hlinkClick r:id="rId3" action="ppaction://hlinksldjump"/>
              </a:rPr>
              <a:t>2 slide</a:t>
            </a:r>
            <a:r>
              <a:rPr lang="it-IT" sz="1400" b="1">
                <a:solidFill>
                  <a:schemeClr val="accent6"/>
                </a:solidFill>
              </a:rPr>
              <a:t>:</a:t>
            </a:r>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Opzione Più Sicuri Casa: leggere i dettagli dell’opzione: </a:t>
            </a:r>
            <a:r>
              <a:rPr lang="it-IT" sz="1400" b="1" u="sng">
                <a:solidFill>
                  <a:schemeClr val="hlink"/>
                </a:solidFill>
                <a:hlinkClick r:id="rId3" action="ppaction://hlinksldjump"/>
              </a:rPr>
              <a:t>Più Sicuri Casa</a:t>
            </a:r>
            <a:r>
              <a:rPr lang="it-IT" sz="1400" b="1">
                <a:solidFill>
                  <a:srgbClr val="1F3864"/>
                </a:solidFill>
              </a:rPr>
              <a:t>,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105" name="Google Shape;105;p15"/>
          <p:cNvPicPr preferRelativeResize="0"/>
          <p:nvPr/>
        </p:nvPicPr>
        <p:blipFill rotWithShape="1">
          <a:blip r:embed="rId4">
            <a:alphaModFix/>
          </a:blip>
          <a:srcRect/>
          <a:stretch/>
        </p:blipFill>
        <p:spPr>
          <a:xfrm>
            <a:off x="9515598" y="5209979"/>
            <a:ext cx="2434663" cy="1369498"/>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41096" y="-141519"/>
            <a:ext cx="12109807"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it-IT" sz="3600" b="1">
                <a:solidFill>
                  <a:srgbClr val="002060"/>
                </a:solidFill>
              </a:rPr>
              <a:t>SUPER FIBRA FTTH C&amp;D &amp; NETFLIX</a:t>
            </a:r>
            <a:endParaRPr/>
          </a:p>
        </p:txBody>
      </p:sp>
      <p:sp>
        <p:nvSpPr>
          <p:cNvPr id="111" name="Google Shape;111;p16"/>
          <p:cNvSpPr txBox="1">
            <a:spLocks noGrp="1"/>
          </p:cNvSpPr>
          <p:nvPr>
            <p:ph type="body" idx="2"/>
          </p:nvPr>
        </p:nvSpPr>
        <p:spPr>
          <a:xfrm>
            <a:off x="82192" y="398123"/>
            <a:ext cx="12109808" cy="645987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AREE BIANCHE &amp; NETFLIX </a:t>
            </a:r>
            <a:r>
              <a:rPr lang="it-IT" sz="1500">
                <a:solidFill>
                  <a:srgbClr val="1F3864"/>
                </a:solidFill>
              </a:rPr>
              <a:t>prevede navigazione senza limiti fino a </a:t>
            </a:r>
            <a:r>
              <a:rPr lang="it-IT" sz="1500" b="1">
                <a:solidFill>
                  <a:srgbClr val="1F3864"/>
                </a:solidFill>
              </a:rPr>
              <a:t>1 </a:t>
            </a:r>
            <a:r>
              <a:rPr lang="it-IT" sz="1500">
                <a:solidFill>
                  <a:srgbClr val="1F3864"/>
                </a:solidFill>
              </a:rPr>
              <a:t>Giga </a:t>
            </a:r>
            <a:r>
              <a:rPr lang="it-IT" sz="1500" b="1">
                <a:solidFill>
                  <a:srgbClr val="1F3864"/>
                </a:solidFill>
              </a:rPr>
              <a:t>a </a:t>
            </a:r>
            <a:r>
              <a:rPr lang="it-IT" sz="1500" b="1">
                <a:solidFill>
                  <a:srgbClr val="002060"/>
                </a:solidFill>
              </a:rPr>
              <a:t>38,49€/mese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a:solidFill>
                  <a:srgbClr val="FF0000"/>
                </a:solidFill>
              </a:rPr>
              <a:t>Costo di attivazione: 1,99€ per 24 mesi</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38,49 euro al mese è composto, per i primi 12 mesi, da 32,50 euro al mese di servizio e Prime e 5,99 euro al mese di modem, dal 13° mese, da 32,50 euro al mese di servizio e 5,99 euro al mese di modem, dal 48° mese, da 38,49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002060"/>
              </a:buClr>
              <a:buSzPts val="1500"/>
              <a:buNone/>
            </a:pPr>
            <a:r>
              <a:rPr lang="it-IT" sz="1500">
                <a:solidFill>
                  <a:srgbClr val="002060"/>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 </a:t>
            </a:r>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In caso di aggiunta di Opzioni, vanno letti i relativi  dettagli presenti nelle ultime </a:t>
            </a:r>
            <a:r>
              <a:rPr lang="it-IT" sz="1400" b="1" u="sng">
                <a:solidFill>
                  <a:schemeClr val="hlink"/>
                </a:solidFill>
                <a:hlinkClick r:id="rId3" action="ppaction://hlinksldjump"/>
              </a:rPr>
              <a:t>2 slide</a:t>
            </a:r>
            <a:r>
              <a:rPr lang="it-IT" sz="1400" b="1">
                <a:solidFill>
                  <a:schemeClr val="accent6"/>
                </a:solidFill>
              </a:rPr>
              <a:t>:</a:t>
            </a:r>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Opzione Più Sicuri Casa: leggere i dettagli dell’opzione: </a:t>
            </a:r>
            <a:r>
              <a:rPr lang="it-IT" sz="1400" b="1" u="sng">
                <a:solidFill>
                  <a:schemeClr val="hlink"/>
                </a:solidFill>
                <a:hlinkClick r:id="rId3" action="ppaction://hlinksldjump"/>
              </a:rPr>
              <a:t>Più Sicuri Casa</a:t>
            </a:r>
            <a:r>
              <a:rPr lang="it-IT" sz="1400" b="1">
                <a:solidFill>
                  <a:srgbClr val="1F3864"/>
                </a:solidFill>
              </a:rPr>
              <a:t>,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112" name="Google Shape;112;p16"/>
          <p:cNvPicPr preferRelativeResize="0"/>
          <p:nvPr/>
        </p:nvPicPr>
        <p:blipFill rotWithShape="1">
          <a:blip r:embed="rId4">
            <a:alphaModFix/>
          </a:blip>
          <a:srcRect/>
          <a:stretch/>
        </p:blipFill>
        <p:spPr>
          <a:xfrm>
            <a:off x="9675145" y="5454982"/>
            <a:ext cx="2434663" cy="1369498"/>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0" y="-83657"/>
            <a:ext cx="11215868" cy="711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2060"/>
              </a:buClr>
              <a:buSzPct val="100000"/>
              <a:buFont typeface="Calibri"/>
              <a:buNone/>
            </a:pPr>
            <a:r>
              <a:rPr lang="it-IT" b="1">
                <a:solidFill>
                  <a:srgbClr val="002060"/>
                </a:solidFill>
              </a:rPr>
              <a:t>SUPER INTERNET CASA FWA 5G OUTDOOR &amp; NETFLIX</a:t>
            </a:r>
            <a:endParaRPr/>
          </a:p>
        </p:txBody>
      </p:sp>
      <p:sp>
        <p:nvSpPr>
          <p:cNvPr id="119" name="Google Shape;119;p17"/>
          <p:cNvSpPr txBox="1">
            <a:spLocks noGrp="1"/>
          </p:cNvSpPr>
          <p:nvPr>
            <p:ph type="body" idx="2"/>
          </p:nvPr>
        </p:nvSpPr>
        <p:spPr>
          <a:xfrm>
            <a:off x="0" y="431515"/>
            <a:ext cx="12049125" cy="6312185"/>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400"/>
              <a:buNone/>
            </a:pPr>
            <a:r>
              <a:rPr lang="it-IT" sz="1400" b="1">
                <a:solidFill>
                  <a:srgbClr val="002060"/>
                </a:solidFill>
              </a:rPr>
              <a:t>SUPER INTERNET CASA FWA 5G OUTDOOR &amp; NETFLIX </a:t>
            </a:r>
            <a:r>
              <a:rPr lang="it-IT" sz="1400">
                <a:solidFill>
                  <a:srgbClr val="1F3864"/>
                </a:solidFill>
              </a:rPr>
              <a:t>prevede navigazione senza limiti fino a</a:t>
            </a:r>
            <a:r>
              <a:rPr lang="it-IT" sz="1400" b="1">
                <a:solidFill>
                  <a:srgbClr val="1F3864"/>
                </a:solidFill>
              </a:rPr>
              <a:t> 300 Mega a 38,49€/mese </a:t>
            </a:r>
            <a:r>
              <a:rPr lang="it-IT" sz="1400">
                <a:solidFill>
                  <a:srgbClr val="1F3864"/>
                </a:solidFill>
              </a:rPr>
              <a:t>con chiamate illimitate verso numeri fissi e mobili nazionali, modem wi fi 7+ antenna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a:t>
            </a:r>
            <a:r>
              <a:rPr lang="it-IT" sz="14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38,49 euro al mese è composto, per i primi 12 mesi, da 25,50 euro al mese di servizio e Prime e 3 euro di rata del modem e 9,99 euro dell’antenna, dal 13° mese, da 25,50 euro di servizio e 3 euro di rata del modem e 9,99 euro dell’antenna, poi dal 48° mese 38,49 euro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FWA outdoor prevede l’installazione da parte di un tecnico, sarà quindi </a:t>
            </a:r>
            <a:r>
              <a:rPr lang="it-IT" sz="1400" b="1" u="sng">
                <a:solidFill>
                  <a:srgbClr val="1F3864"/>
                </a:solidFill>
              </a:rPr>
              <a:t>contattato per prendere un appuntamento per l’installazione</a:t>
            </a:r>
            <a:r>
              <a:rPr lang="it-IT" sz="1400">
                <a:solidFill>
                  <a:srgbClr val="1F3864"/>
                </a:solidFill>
              </a:rPr>
              <a:t>.</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sz="1400">
              <a:solidFill>
                <a:srgbClr val="1F3864"/>
              </a:solidFill>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In caso di aggiunta di Opzioni, vanno letti i relativi  dettagli presenti nelle ultime </a:t>
            </a:r>
            <a:r>
              <a:rPr lang="it-IT" sz="1400" b="1" u="sng">
                <a:solidFill>
                  <a:schemeClr val="hlink"/>
                </a:solidFill>
                <a:hlinkClick r:id="rId3" action="ppaction://hlinksldjump"/>
              </a:rPr>
              <a:t>2 slide</a:t>
            </a:r>
            <a:r>
              <a:rPr lang="it-IT" sz="1400" b="1">
                <a:solidFill>
                  <a:schemeClr val="accent6"/>
                </a:solidFill>
              </a:rPr>
              <a:t>:</a:t>
            </a:r>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Opzione Più Sicuri Casa: leggere i dettagli dell’opzione: </a:t>
            </a:r>
            <a:r>
              <a:rPr lang="it-IT" sz="1600" b="1" u="sng">
                <a:solidFill>
                  <a:schemeClr val="hlink"/>
                </a:solidFill>
                <a:hlinkClick r:id="rId3" action="ppaction://hlinksldjump"/>
              </a:rPr>
              <a:t>Più Sicuri Casa</a:t>
            </a:r>
            <a:r>
              <a:rPr lang="it-IT" sz="1600" b="1">
                <a:solidFill>
                  <a:srgbClr val="1F3864"/>
                </a:solidFill>
              </a:rPr>
              <a:t>,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just" rtl="0">
              <a:lnSpc>
                <a:spcPct val="90000"/>
              </a:lnSpc>
              <a:spcBef>
                <a:spcPts val="1000"/>
              </a:spcBef>
              <a:spcAft>
                <a:spcPts val="0"/>
              </a:spcAft>
              <a:buClr>
                <a:schemeClr val="dk1"/>
              </a:buClr>
              <a:buSzPts val="1400"/>
              <a:buNone/>
            </a:pPr>
            <a:endParaRPr sz="1400" b="1">
              <a:solidFill>
                <a:schemeClr val="accent6"/>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120" name="Google Shape;120;p17"/>
          <p:cNvPicPr preferRelativeResize="0"/>
          <p:nvPr/>
        </p:nvPicPr>
        <p:blipFill rotWithShape="1">
          <a:blip r:embed="rId4">
            <a:alphaModFix/>
          </a:blip>
          <a:srcRect/>
          <a:stretch/>
        </p:blipFill>
        <p:spPr>
          <a:xfrm>
            <a:off x="10094455" y="5706319"/>
            <a:ext cx="1844231" cy="1037380"/>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0" y="-83657"/>
            <a:ext cx="10515600" cy="711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2060"/>
              </a:buClr>
              <a:buSzPct val="100000"/>
              <a:buFont typeface="Calibri"/>
              <a:buNone/>
            </a:pPr>
            <a:r>
              <a:rPr lang="it-IT" b="1">
                <a:solidFill>
                  <a:srgbClr val="002060"/>
                </a:solidFill>
              </a:rPr>
              <a:t>SUPER INTERNET CASA FWA 5G INDOOR &amp; NETFLIX</a:t>
            </a:r>
            <a:endParaRPr/>
          </a:p>
        </p:txBody>
      </p:sp>
      <p:sp>
        <p:nvSpPr>
          <p:cNvPr id="127" name="Google Shape;127;p18"/>
          <p:cNvSpPr txBox="1">
            <a:spLocks noGrp="1"/>
          </p:cNvSpPr>
          <p:nvPr>
            <p:ph type="body" idx="2"/>
          </p:nvPr>
        </p:nvSpPr>
        <p:spPr>
          <a:xfrm>
            <a:off x="0" y="431515"/>
            <a:ext cx="12049125" cy="6312185"/>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400"/>
              <a:buNone/>
            </a:pPr>
            <a:r>
              <a:rPr lang="it-IT" sz="1400" b="1">
                <a:solidFill>
                  <a:srgbClr val="002060"/>
                </a:solidFill>
              </a:rPr>
              <a:t>SUPER INTERNET CASA FWA 5G Indoor &amp; NETFLIX </a:t>
            </a:r>
            <a:r>
              <a:rPr lang="it-IT" sz="1400">
                <a:solidFill>
                  <a:srgbClr val="1F3864"/>
                </a:solidFill>
              </a:rPr>
              <a:t>prevede navigazione senza limiti fino a</a:t>
            </a:r>
            <a:r>
              <a:rPr lang="it-IT" sz="1400" b="1">
                <a:solidFill>
                  <a:srgbClr val="1F3864"/>
                </a:solidFill>
              </a:rPr>
              <a:t> 300 Mega a 38,49€/mese </a:t>
            </a:r>
            <a:r>
              <a:rPr lang="it-IT" sz="1400">
                <a:solidFill>
                  <a:srgbClr val="1F3864"/>
                </a:solidFill>
              </a:rPr>
              <a:t>con chiamate illimitate verso numeri fissi e mobili nazionali, modem wi fi 7e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a:t>
            </a:r>
            <a:r>
              <a:rPr lang="it-IT" sz="14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38,49 euro al mese è composto, per i primi 12 mesi, da 32,50 euro al mese di servizio e Prime e 5,99 euro di rata del modem, dal 13° mese, da 32,50 euro di servizio e 5,99 euro di rata del modem, poi dal 48° mese 38,49 euro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FWA indoor prevede l’installazione del modem da parte di un tecnico, sarà quindi </a:t>
            </a:r>
            <a:r>
              <a:rPr lang="it-IT" sz="1400" b="1" u="sng">
                <a:solidFill>
                  <a:srgbClr val="1F3864"/>
                </a:solidFill>
              </a:rPr>
              <a:t>contattato per prendere un appuntamento per l’installazione</a:t>
            </a:r>
            <a:r>
              <a:rPr lang="it-IT" sz="1400">
                <a:solidFill>
                  <a:srgbClr val="1F3864"/>
                </a:solidFill>
              </a:rPr>
              <a:t>.</a:t>
            </a:r>
            <a:endParaRPr/>
          </a:p>
          <a:p>
            <a:pPr marL="0" lvl="0" indent="0" algn="just" rtl="0">
              <a:lnSpc>
                <a:spcPct val="90000"/>
              </a:lnSpc>
              <a:spcBef>
                <a:spcPts val="1000"/>
              </a:spcBef>
              <a:spcAft>
                <a:spcPts val="0"/>
              </a:spcAft>
              <a:buClr>
                <a:schemeClr val="accent6"/>
              </a:buClr>
              <a:buSzPts val="1400"/>
              <a:buNone/>
            </a:pPr>
            <a:r>
              <a:rPr lang="it-IT" sz="1400" b="1">
                <a:solidFill>
                  <a:schemeClr val="accent6"/>
                </a:solidFill>
              </a:rPr>
              <a:t>In caso di aggiunta di Opzioni, vanno letti i relativi  dettagli presenti nelle ultime </a:t>
            </a:r>
            <a:r>
              <a:rPr lang="it-IT" sz="1400" b="1" u="sng">
                <a:solidFill>
                  <a:schemeClr val="hlink"/>
                </a:solidFill>
                <a:hlinkClick r:id="rId3" action="ppaction://hlinksldjump"/>
              </a:rPr>
              <a:t>2 slide</a:t>
            </a:r>
            <a:r>
              <a:rPr lang="it-IT" sz="1400" b="1">
                <a:solidFill>
                  <a:schemeClr val="accent6"/>
                </a:solidFill>
              </a:rPr>
              <a:t>:</a:t>
            </a:r>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Opzione Più Sicuri Casa: leggere i dettagli dell’opzione: </a:t>
            </a:r>
            <a:r>
              <a:rPr lang="it-IT" sz="1600" b="1" u="sng">
                <a:solidFill>
                  <a:schemeClr val="hlink"/>
                </a:solidFill>
                <a:hlinkClick r:id="rId3" action="ppaction://hlinksldjump"/>
              </a:rPr>
              <a:t>Più Sicuri Casa</a:t>
            </a:r>
            <a:r>
              <a:rPr lang="it-IT" sz="1600" b="1">
                <a:solidFill>
                  <a:srgbClr val="1F3864"/>
                </a:solidFill>
              </a:rPr>
              <a:t>,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chemeClr val="dk1"/>
              </a:buClr>
              <a:buSzPts val="1400"/>
              <a:buNone/>
            </a:pPr>
            <a:endParaRPr sz="1400" b="1">
              <a:solidFill>
                <a:schemeClr val="accent6"/>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pic>
        <p:nvPicPr>
          <p:cNvPr id="128" name="Google Shape;128;p18"/>
          <p:cNvPicPr preferRelativeResize="0"/>
          <p:nvPr/>
        </p:nvPicPr>
        <p:blipFill rotWithShape="1">
          <a:blip r:embed="rId4">
            <a:alphaModFix/>
          </a:blip>
          <a:srcRect/>
          <a:stretch/>
        </p:blipFill>
        <p:spPr>
          <a:xfrm>
            <a:off x="10094455" y="5706319"/>
            <a:ext cx="1844231" cy="1037380"/>
          </a:xfrm>
          <a:prstGeom prst="rect">
            <a:avLst/>
          </a:prstGeom>
          <a:noFill/>
          <a:ln w="9525" cap="flat" cmpd="sng">
            <a:solidFill>
              <a:srgbClr val="D3D3D3"/>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title"/>
          </p:nvPr>
        </p:nvSpPr>
        <p:spPr>
          <a:xfrm>
            <a:off x="152400" y="136526"/>
            <a:ext cx="1064895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INTERNET 100/200 NGA</a:t>
            </a:r>
            <a:r>
              <a:rPr lang="it-IT" sz="4400" b="1">
                <a:solidFill>
                  <a:srgbClr val="002060"/>
                </a:solidFill>
              </a:rPr>
              <a:t> &amp; NETFLIX </a:t>
            </a:r>
            <a:endParaRPr b="1">
              <a:solidFill>
                <a:srgbClr val="002060"/>
              </a:solidFill>
            </a:endParaRPr>
          </a:p>
        </p:txBody>
      </p:sp>
      <p:sp>
        <p:nvSpPr>
          <p:cNvPr id="149" name="Google Shape;149;p21"/>
          <p:cNvSpPr txBox="1">
            <a:spLocks noGrp="1"/>
          </p:cNvSpPr>
          <p:nvPr>
            <p:ph type="body" idx="2"/>
          </p:nvPr>
        </p:nvSpPr>
        <p:spPr>
          <a:xfrm>
            <a:off x="152401" y="847725"/>
            <a:ext cx="11959120" cy="6010274"/>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500"/>
              <a:buNone/>
            </a:pPr>
            <a:r>
              <a:rPr lang="it-IT" sz="1500" b="1">
                <a:solidFill>
                  <a:srgbClr val="1F3864"/>
                </a:solidFill>
              </a:rPr>
              <a:t>L’offerta Fissa Internet a Casa </a:t>
            </a:r>
            <a:r>
              <a:rPr lang="it-IT" sz="1500">
                <a:solidFill>
                  <a:srgbClr val="1F3864"/>
                </a:solidFill>
              </a:rPr>
              <a:t>prevede navigazione senza limiti fino a </a:t>
            </a:r>
            <a:r>
              <a:rPr lang="it-IT" sz="1500" b="1">
                <a:solidFill>
                  <a:srgbClr val="1F3864"/>
                </a:solidFill>
              </a:rPr>
              <a:t>100/200 Mega </a:t>
            </a:r>
            <a:r>
              <a:rPr lang="it-IT" sz="1600" b="1">
                <a:solidFill>
                  <a:srgbClr val="1F3864"/>
                </a:solidFill>
              </a:rPr>
              <a:t>a </a:t>
            </a:r>
            <a:r>
              <a:rPr lang="it-IT" sz="1500" b="1">
                <a:solidFill>
                  <a:srgbClr val="1F3864"/>
                </a:solidFill>
              </a:rPr>
              <a:t>40,49€/mese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Amazon prime inclusi.</a:t>
            </a:r>
            <a:endParaRPr/>
          </a:p>
          <a:p>
            <a:pPr marL="0" lvl="0" indent="0" algn="just" rtl="0">
              <a:lnSpc>
                <a:spcPct val="90000"/>
              </a:lnSpc>
              <a:spcBef>
                <a:spcPts val="1000"/>
              </a:spcBef>
              <a:spcAft>
                <a:spcPts val="0"/>
              </a:spcAft>
              <a:buClr>
                <a:srgbClr val="FF0000"/>
              </a:buClr>
              <a:buSzPts val="1400"/>
              <a:buNone/>
            </a:pPr>
            <a:r>
              <a:rPr lang="it-IT" sz="1400">
                <a:solidFill>
                  <a:srgbClr val="FF0000"/>
                </a:solidFill>
              </a:rPr>
              <a:t>Costo di attivazione: 1,99€ per 24 mesi</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Riepilogando, il costo mensile del fisso è di 40,49€ è composto da 34,50€ di canone del servizio e 5,99€ di rata del modem per i primi 48 mesi, poi 40,49€ come canone del servizio.</a:t>
            </a:r>
            <a:r>
              <a:rPr lang="it-IT" sz="1400">
                <a:solidFill>
                  <a:srgbClr val="1F3864"/>
                </a:solidFill>
              </a:rPr>
              <a:t> E' inoltre previsto un costo di 10€ per anticipo del Modem.</a:t>
            </a:r>
            <a:endParaRPr/>
          </a:p>
          <a:p>
            <a:pPr marL="0" lvl="0" indent="0" algn="just" rtl="0">
              <a:lnSpc>
                <a:spcPct val="90000"/>
              </a:lnSpc>
              <a:spcBef>
                <a:spcPts val="1000"/>
              </a:spcBef>
              <a:spcAft>
                <a:spcPts val="0"/>
              </a:spcAft>
              <a:buClr>
                <a:schemeClr val="dk1"/>
              </a:buClr>
              <a:buSzPts val="1500"/>
              <a:buNone/>
            </a:pPr>
            <a:endParaRPr sz="15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400" b="1">
                <a:solidFill>
                  <a:schemeClr val="accent6"/>
                </a:solidFill>
              </a:rPr>
              <a:t>Più Sicuri Casa: </a:t>
            </a:r>
            <a:r>
              <a:rPr lang="it-IT" sz="1400" b="1">
                <a:solidFill>
                  <a:srgbClr val="1F3864"/>
                </a:solidFill>
              </a:rPr>
              <a:t>Più Sicuri Casa</a:t>
            </a:r>
            <a:r>
              <a:rPr lang="it-IT" sz="1400">
                <a:solidFill>
                  <a:srgbClr val="1F3864"/>
                </a:solidFill>
              </a:rPr>
              <a:t>, 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sz="1500">
              <a:solidFill>
                <a:srgbClr val="1F3864"/>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p:nvPr/>
        </p:nvSpPr>
        <p:spPr>
          <a:xfrm>
            <a:off x="-16547" y="30812"/>
            <a:ext cx="12192000" cy="75799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Calibri"/>
              <a:buNone/>
            </a:pPr>
            <a:endParaRPr sz="3200" b="1" i="0" u="none" strike="noStrike" cap="none">
              <a:solidFill>
                <a:srgbClr val="FFFFFF"/>
              </a:solidFill>
              <a:latin typeface="Calibri"/>
              <a:ea typeface="Calibri"/>
              <a:cs typeface="Calibri"/>
              <a:sym typeface="Calibri"/>
            </a:endParaRPr>
          </a:p>
        </p:txBody>
      </p:sp>
      <p:sp>
        <p:nvSpPr>
          <p:cNvPr id="155" name="Google Shape;155;p22"/>
          <p:cNvSpPr/>
          <p:nvPr/>
        </p:nvSpPr>
        <p:spPr>
          <a:xfrm>
            <a:off x="7470510" y="2130945"/>
            <a:ext cx="4678671" cy="902198"/>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grpSp>
        <p:nvGrpSpPr>
          <p:cNvPr id="156" name="Google Shape;156;p22"/>
          <p:cNvGrpSpPr/>
          <p:nvPr/>
        </p:nvGrpSpPr>
        <p:grpSpPr>
          <a:xfrm>
            <a:off x="770631" y="1913766"/>
            <a:ext cx="4380684" cy="4394282"/>
            <a:chOff x="3006242" y="1256122"/>
            <a:chExt cx="5040000" cy="5040000"/>
          </a:xfrm>
        </p:grpSpPr>
        <p:sp>
          <p:nvSpPr>
            <p:cNvPr id="157" name="Google Shape;157;p22"/>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58" name="Google Shape;158;p22"/>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59" name="Google Shape;159;p22"/>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60" name="Google Shape;160;p22"/>
            <p:cNvSpPr/>
            <p:nvPr/>
          </p:nvSpPr>
          <p:spPr>
            <a:xfrm>
              <a:off x="3647678" y="1897558"/>
              <a:ext cx="3757125" cy="3757125"/>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161" name="Google Shape;161;p22"/>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pic>
        <p:nvPicPr>
          <p:cNvPr id="162" name="Google Shape;162;p22" descr="Immagine che contiene Elettrodomestico&#10;&#10;Descrizione generata automaticamente"/>
          <p:cNvPicPr preferRelativeResize="0"/>
          <p:nvPr/>
        </p:nvPicPr>
        <p:blipFill rotWithShape="1">
          <a:blip r:embed="rId3">
            <a:alphaModFix/>
          </a:blip>
          <a:srcRect/>
          <a:stretch/>
        </p:blipFill>
        <p:spPr>
          <a:xfrm>
            <a:off x="1692527" y="1915915"/>
            <a:ext cx="2536888" cy="4333277"/>
          </a:xfrm>
          <a:prstGeom prst="rect">
            <a:avLst/>
          </a:prstGeom>
          <a:noFill/>
          <a:ln>
            <a:noFill/>
          </a:ln>
        </p:spPr>
      </p:pic>
      <p:pic>
        <p:nvPicPr>
          <p:cNvPr id="163" name="Google Shape;163;p22"/>
          <p:cNvPicPr preferRelativeResize="0"/>
          <p:nvPr/>
        </p:nvPicPr>
        <p:blipFill rotWithShape="1">
          <a:blip r:embed="rId4">
            <a:alphaModFix/>
          </a:blip>
          <a:srcRect/>
          <a:stretch/>
        </p:blipFill>
        <p:spPr>
          <a:xfrm>
            <a:off x="515714" y="3662645"/>
            <a:ext cx="1537321" cy="827567"/>
          </a:xfrm>
          <a:prstGeom prst="rect">
            <a:avLst/>
          </a:prstGeom>
          <a:noFill/>
          <a:ln>
            <a:noFill/>
          </a:ln>
        </p:spPr>
      </p:pic>
      <p:sp>
        <p:nvSpPr>
          <p:cNvPr id="164" name="Google Shape;164;p22"/>
          <p:cNvSpPr txBox="1"/>
          <p:nvPr/>
        </p:nvSpPr>
        <p:spPr>
          <a:xfrm>
            <a:off x="7828246" y="2199018"/>
            <a:ext cx="4203832" cy="769441"/>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Doppia rete Wireless a 2,4 Ghz e 5 Ghz </a:t>
            </a:r>
            <a:r>
              <a:rPr lang="it-IT" sz="1100" b="0" i="0" u="none" strike="noStrike" cap="none">
                <a:solidFill>
                  <a:srgbClr val="686F75"/>
                </a:solidFill>
                <a:latin typeface="Montserrat"/>
                <a:ea typeface="Montserrat"/>
                <a:cs typeface="Montserrat"/>
                <a:sym typeface="Montserrat"/>
              </a:rPr>
              <a:t>che garantisce la migliore copertura e minor rischio di interferenze</a:t>
            </a:r>
            <a:endParaRPr/>
          </a:p>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Il nuovo design garantisce un ottimale posizionamento delle antenne per una </a:t>
            </a:r>
            <a:r>
              <a:rPr lang="it-IT" sz="1100" b="1" i="0" u="none" strike="noStrike" cap="none">
                <a:solidFill>
                  <a:srgbClr val="686F75"/>
                </a:solidFill>
                <a:latin typeface="Montserrat"/>
                <a:ea typeface="Montserrat"/>
                <a:cs typeface="Montserrat"/>
                <a:sym typeface="Montserrat"/>
              </a:rPr>
              <a:t>migliore copertura </a:t>
            </a:r>
            <a:r>
              <a:rPr lang="it-IT" sz="1100" b="0" i="0" u="none" strike="noStrike" cap="none">
                <a:solidFill>
                  <a:srgbClr val="686F75"/>
                </a:solidFill>
                <a:latin typeface="Montserrat"/>
                <a:ea typeface="Montserrat"/>
                <a:cs typeface="Montserrat"/>
                <a:sym typeface="Montserrat"/>
              </a:rPr>
              <a:t>indoor </a:t>
            </a:r>
            <a:endParaRPr/>
          </a:p>
        </p:txBody>
      </p:sp>
      <p:sp>
        <p:nvSpPr>
          <p:cNvPr id="165" name="Google Shape;165;p22"/>
          <p:cNvSpPr/>
          <p:nvPr/>
        </p:nvSpPr>
        <p:spPr>
          <a:xfrm>
            <a:off x="7490994" y="3087134"/>
            <a:ext cx="4658187" cy="740480"/>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66" name="Google Shape;166;p22"/>
          <p:cNvSpPr txBox="1"/>
          <p:nvPr/>
        </p:nvSpPr>
        <p:spPr>
          <a:xfrm>
            <a:off x="7803898" y="3154996"/>
            <a:ext cx="4216787" cy="600164"/>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Grazie alle </a:t>
            </a:r>
            <a:r>
              <a:rPr lang="it-IT" sz="1100" b="1" i="0" u="none" strike="noStrike" cap="none">
                <a:solidFill>
                  <a:srgbClr val="686F75"/>
                </a:solidFill>
                <a:latin typeface="Montserrat"/>
                <a:ea typeface="Montserrat"/>
                <a:cs typeface="Montserrat"/>
                <a:sym typeface="Montserrat"/>
              </a:rPr>
              <a:t>8 antenne </a:t>
            </a:r>
            <a:r>
              <a:rPr lang="it-IT" sz="1100" b="0" i="0" u="none" strike="noStrike" cap="none">
                <a:solidFill>
                  <a:srgbClr val="686F75"/>
                </a:solidFill>
                <a:latin typeface="Montserrat"/>
                <a:ea typeface="Montserrat"/>
                <a:cs typeface="Montserrat"/>
                <a:sym typeface="Montserrat"/>
              </a:rPr>
              <a:t>hai più velocità e connetti fino a </a:t>
            </a:r>
            <a:r>
              <a:rPr lang="it-IT" sz="1100" b="1" i="0" u="none" strike="noStrike" cap="none">
                <a:solidFill>
                  <a:srgbClr val="686F75"/>
                </a:solidFill>
                <a:latin typeface="Montserrat"/>
                <a:ea typeface="Montserrat"/>
                <a:cs typeface="Montserrat"/>
                <a:sym typeface="Montserrat"/>
              </a:rPr>
              <a:t>256 device</a:t>
            </a:r>
            <a:r>
              <a:rPr lang="it-IT" sz="1100" b="0" i="0" u="none" strike="noStrike" cap="none">
                <a:solidFill>
                  <a:srgbClr val="686F75"/>
                </a:solidFill>
                <a:latin typeface="Montserrat"/>
                <a:ea typeface="Montserrat"/>
                <a:cs typeface="Montserrat"/>
                <a:sym typeface="Montserrat"/>
              </a:rPr>
              <a:t> contemporaneamente con la migliore </a:t>
            </a:r>
            <a:r>
              <a:rPr lang="it-IT" sz="1100" b="1" i="0" u="none" strike="noStrike" cap="none">
                <a:solidFill>
                  <a:srgbClr val="686F75"/>
                </a:solidFill>
                <a:latin typeface="Montserrat"/>
                <a:ea typeface="Montserrat"/>
                <a:cs typeface="Montserrat"/>
                <a:sym typeface="Montserrat"/>
              </a:rPr>
              <a:t>stabilità di connessione</a:t>
            </a:r>
            <a:endParaRPr/>
          </a:p>
        </p:txBody>
      </p:sp>
      <p:sp>
        <p:nvSpPr>
          <p:cNvPr id="167" name="Google Shape;167;p22"/>
          <p:cNvSpPr/>
          <p:nvPr/>
        </p:nvSpPr>
        <p:spPr>
          <a:xfrm>
            <a:off x="7429608" y="3889549"/>
            <a:ext cx="4696513" cy="617042"/>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68" name="Google Shape;168;p22"/>
          <p:cNvSpPr txBox="1"/>
          <p:nvPr/>
        </p:nvSpPr>
        <p:spPr>
          <a:xfrm>
            <a:off x="7871492" y="3976842"/>
            <a:ext cx="4149194" cy="442712"/>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Maggiori performance </a:t>
            </a:r>
            <a:r>
              <a:rPr lang="it-IT" sz="1100" b="0" i="0" u="none" strike="noStrike" cap="non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69" name="Google Shape;169;p22"/>
          <p:cNvSpPr/>
          <p:nvPr/>
        </p:nvSpPr>
        <p:spPr>
          <a:xfrm>
            <a:off x="7406548" y="4665829"/>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70" name="Google Shape;170;p22"/>
          <p:cNvSpPr txBox="1"/>
          <p:nvPr/>
        </p:nvSpPr>
        <p:spPr>
          <a:xfrm>
            <a:off x="7807024" y="4742855"/>
            <a:ext cx="4213661"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Consente un maggiore </a:t>
            </a:r>
            <a:r>
              <a:rPr lang="it-IT" sz="1100" b="1" i="0" u="none" strike="noStrike" cap="none">
                <a:solidFill>
                  <a:srgbClr val="686F75"/>
                </a:solidFill>
                <a:latin typeface="Montserrat"/>
                <a:ea typeface="Montserrat"/>
                <a:cs typeface="Montserrat"/>
                <a:sym typeface="Montserrat"/>
              </a:rPr>
              <a:t>risparmio energetico</a:t>
            </a:r>
            <a:r>
              <a:rPr lang="it-IT" sz="1100" b="0" i="0" u="none" strike="noStrike" cap="none">
                <a:solidFill>
                  <a:srgbClr val="686F75"/>
                </a:solidFill>
                <a:latin typeface="Montserrat"/>
                <a:ea typeface="Montserrat"/>
                <a:cs typeface="Montserrat"/>
                <a:sym typeface="Montserrat"/>
              </a:rPr>
              <a:t>. La batteria dei dispositivi mobili connessi in Wi-Fi durerà di più</a:t>
            </a:r>
            <a:endParaRPr/>
          </a:p>
        </p:txBody>
      </p:sp>
      <p:sp>
        <p:nvSpPr>
          <p:cNvPr id="171" name="Google Shape;171;p22"/>
          <p:cNvSpPr/>
          <p:nvPr/>
        </p:nvSpPr>
        <p:spPr>
          <a:xfrm>
            <a:off x="7408319" y="5442665"/>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72" name="Google Shape;172;p22"/>
          <p:cNvSpPr txBox="1"/>
          <p:nvPr/>
        </p:nvSpPr>
        <p:spPr>
          <a:xfrm>
            <a:off x="7808312" y="5525934"/>
            <a:ext cx="4212373"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Imballaggio realizzato con </a:t>
            </a:r>
            <a:r>
              <a:rPr lang="it-IT" sz="1100" b="1" i="0" u="none" strike="noStrike" cap="none">
                <a:solidFill>
                  <a:srgbClr val="686F75"/>
                </a:solidFill>
                <a:latin typeface="Montserrat"/>
                <a:ea typeface="Montserrat"/>
                <a:cs typeface="Montserrat"/>
                <a:sym typeface="Montserrat"/>
              </a:rPr>
              <a:t>carta riciclata </a:t>
            </a:r>
            <a:r>
              <a:rPr lang="it-IT" sz="1100" b="0" i="0" u="none" strike="noStrike" cap="none">
                <a:solidFill>
                  <a:srgbClr val="686F75"/>
                </a:solidFill>
                <a:latin typeface="Montserrat"/>
                <a:ea typeface="Montserrat"/>
                <a:cs typeface="Montserrat"/>
                <a:sym typeface="Montserrat"/>
              </a:rPr>
              <a:t>e (per uno dei due modelli) il prodotto è realizzato con plastica riciclata </a:t>
            </a:r>
            <a:endParaRPr/>
          </a:p>
        </p:txBody>
      </p:sp>
      <p:sp>
        <p:nvSpPr>
          <p:cNvPr id="173" name="Google Shape;173;p22"/>
          <p:cNvSpPr/>
          <p:nvPr/>
        </p:nvSpPr>
        <p:spPr>
          <a:xfrm>
            <a:off x="5212198" y="313256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VELOCITA’</a:t>
            </a:r>
            <a:endParaRPr/>
          </a:p>
        </p:txBody>
      </p:sp>
      <p:sp>
        <p:nvSpPr>
          <p:cNvPr id="174" name="Google Shape;174;p22"/>
          <p:cNvSpPr/>
          <p:nvPr/>
        </p:nvSpPr>
        <p:spPr>
          <a:xfrm>
            <a:off x="5216127" y="390163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STREAMING e GAMING</a:t>
            </a:r>
            <a:endParaRPr/>
          </a:p>
        </p:txBody>
      </p:sp>
      <p:sp>
        <p:nvSpPr>
          <p:cNvPr id="175" name="Google Shape;175;p22"/>
          <p:cNvSpPr/>
          <p:nvPr/>
        </p:nvSpPr>
        <p:spPr>
          <a:xfrm>
            <a:off x="5216127" y="466670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RISPARMIO ENERGETICO</a:t>
            </a:r>
            <a:endParaRPr/>
          </a:p>
        </p:txBody>
      </p:sp>
      <p:sp>
        <p:nvSpPr>
          <p:cNvPr id="176" name="Google Shape;176;p22"/>
          <p:cNvSpPr/>
          <p:nvPr/>
        </p:nvSpPr>
        <p:spPr>
          <a:xfrm>
            <a:off x="5216126" y="545355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PLASTIC FREE</a:t>
            </a:r>
            <a:endParaRPr/>
          </a:p>
        </p:txBody>
      </p:sp>
      <p:sp>
        <p:nvSpPr>
          <p:cNvPr id="177" name="Google Shape;177;p22"/>
          <p:cNvSpPr/>
          <p:nvPr/>
        </p:nvSpPr>
        <p:spPr>
          <a:xfrm>
            <a:off x="5212199" y="234531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PIU’ COPERTURA IN TUTTA LA CASA</a:t>
            </a:r>
            <a:endParaRPr/>
          </a:p>
        </p:txBody>
      </p:sp>
      <p:sp>
        <p:nvSpPr>
          <p:cNvPr id="178" name="Google Shape;178;p22"/>
          <p:cNvSpPr txBox="1"/>
          <p:nvPr/>
        </p:nvSpPr>
        <p:spPr>
          <a:xfrm>
            <a:off x="165169" y="186766"/>
            <a:ext cx="10515600" cy="332399"/>
          </a:xfrm>
          <a:prstGeom prst="rect">
            <a:avLst/>
          </a:prstGeom>
          <a:noFill/>
          <a:ln>
            <a:noFill/>
          </a:ln>
        </p:spPr>
        <p:txBody>
          <a:bodyPr spcFirstLastPara="1" wrap="square" lIns="91425" tIns="45700" rIns="91425" bIns="45700" anchor="t" anchorCtr="0">
            <a:noAutofit/>
          </a:bodyPr>
          <a:lstStyle/>
          <a:p>
            <a:pPr marL="279400" marR="0" lvl="1" indent="0" algn="l" rtl="0">
              <a:lnSpc>
                <a:spcPct val="90000"/>
              </a:lnSpc>
              <a:spcBef>
                <a:spcPts val="0"/>
              </a:spcBef>
              <a:spcAft>
                <a:spcPts val="0"/>
              </a:spcAft>
              <a:buClr>
                <a:srgbClr val="000000"/>
              </a:buClr>
              <a:buSzPts val="2800"/>
              <a:buFont typeface="Arial"/>
              <a:buNone/>
            </a:pPr>
            <a:r>
              <a:rPr lang="it-IT" sz="2800" b="1" i="0" u="none" strike="noStrike" cap="none">
                <a:solidFill>
                  <a:srgbClr val="000000"/>
                </a:solidFill>
                <a:latin typeface="Montserrat"/>
                <a:ea typeface="Montserrat"/>
                <a:cs typeface="Montserrat"/>
                <a:sym typeface="Montserrat"/>
              </a:rPr>
              <a:t>NUOVO MODEM WI-FI 7 INCLUSO CON SUPER FIBRA</a:t>
            </a:r>
            <a:endParaRPr/>
          </a:p>
        </p:txBody>
      </p:sp>
      <p:sp>
        <p:nvSpPr>
          <p:cNvPr id="179" name="Google Shape;179;p22"/>
          <p:cNvSpPr/>
          <p:nvPr/>
        </p:nvSpPr>
        <p:spPr>
          <a:xfrm>
            <a:off x="2" y="1120344"/>
            <a:ext cx="12191998" cy="429222"/>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6A00"/>
              </a:buClr>
              <a:buSzPts val="1600"/>
              <a:buFont typeface="Montserrat"/>
              <a:buNone/>
            </a:pPr>
            <a:r>
              <a:rPr lang="it-IT" sz="1600" b="0" i="0" u="none" strike="noStrike" cap="none">
                <a:solidFill>
                  <a:srgbClr val="FF6A00"/>
                </a:solidFill>
                <a:latin typeface="Montserrat"/>
                <a:ea typeface="Montserrat"/>
                <a:cs typeface="Montserrat"/>
                <a:sym typeface="Montserrat"/>
              </a:rPr>
              <a:t>              </a:t>
            </a:r>
            <a:endParaRPr/>
          </a:p>
        </p:txBody>
      </p:sp>
      <p:sp>
        <p:nvSpPr>
          <p:cNvPr id="180" name="Google Shape;180;p22"/>
          <p:cNvSpPr txBox="1"/>
          <p:nvPr/>
        </p:nvSpPr>
        <p:spPr>
          <a:xfrm>
            <a:off x="2546098" y="1137461"/>
            <a:ext cx="7468734" cy="42299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A3838"/>
              </a:buClr>
              <a:buSzPts val="2000"/>
              <a:buFont typeface="Montserrat"/>
              <a:buNone/>
            </a:pPr>
            <a:r>
              <a:rPr lang="it-IT" sz="2000" b="1" i="0" u="none" strike="noStrike" cap="none">
                <a:solidFill>
                  <a:srgbClr val="3A3838"/>
                </a:solidFill>
                <a:latin typeface="Montserrat"/>
                <a:ea typeface="Montserrat"/>
                <a:cs typeface="Montserrat"/>
                <a:sym typeface="Montserrat"/>
              </a:rPr>
              <a:t>ANCORA PIÙ POTENZA E VELOCITÀ </a:t>
            </a:r>
            <a:endParaRPr/>
          </a:p>
        </p:txBody>
      </p:sp>
      <p:sp>
        <p:nvSpPr>
          <p:cNvPr id="181" name="Google Shape;181;p22"/>
          <p:cNvSpPr/>
          <p:nvPr/>
        </p:nvSpPr>
        <p:spPr>
          <a:xfrm rot="10800000" flipH="1">
            <a:off x="0" y="6485517"/>
            <a:ext cx="1882586" cy="372483"/>
          </a:xfrm>
          <a:custGeom>
            <a:avLst/>
            <a:gdLst/>
            <a:ahLst/>
            <a:cxnLst/>
            <a:rect l="l" t="t" r="r" b="b"/>
            <a:pathLst>
              <a:path w="3589686" h="1276644" extrusionOk="0">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2F2F2F"/>
              </a:solidFill>
              <a:latin typeface="Arial"/>
              <a:ea typeface="Arial"/>
              <a:cs typeface="Arial"/>
              <a:sym typeface="Arial"/>
            </a:endParaRPr>
          </a:p>
        </p:txBody>
      </p:sp>
      <p:sp>
        <p:nvSpPr>
          <p:cNvPr id="182" name="Google Shape;182;p22"/>
          <p:cNvSpPr/>
          <p:nvPr/>
        </p:nvSpPr>
        <p:spPr>
          <a:xfrm>
            <a:off x="288174" y="6557435"/>
            <a:ext cx="354235" cy="221397"/>
          </a:xfrm>
          <a:prstGeom prst="rect">
            <a:avLst/>
          </a:prstGeom>
          <a:noFill/>
          <a:ln>
            <a:noFill/>
          </a:ln>
        </p:spPr>
        <p:txBody>
          <a:bodyPr/>
          <a:lstStyle/>
          <a:p>
            <a:endParaRPr lang="it-IT"/>
          </a:p>
        </p:txBody>
      </p:sp>
      <p:sp>
        <p:nvSpPr>
          <p:cNvPr id="183" name="Google Shape;183;p22"/>
          <p:cNvSpPr txBox="1"/>
          <p:nvPr/>
        </p:nvSpPr>
        <p:spPr>
          <a:xfrm>
            <a:off x="4405667" y="6452329"/>
            <a:ext cx="5750695" cy="24622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7030A0"/>
              </a:buClr>
              <a:buSzPts val="1000"/>
              <a:buFont typeface="Arial"/>
              <a:buChar char="•"/>
            </a:pPr>
            <a:r>
              <a:rPr lang="it-IT" sz="1000" b="1" i="0" u="none" strike="noStrike" cap="none">
                <a:solidFill>
                  <a:schemeClr val="dk1"/>
                </a:solidFill>
                <a:latin typeface="Arial"/>
                <a:ea typeface="Arial"/>
                <a:cs typeface="Arial"/>
                <a:sym typeface="Arial"/>
              </a:rPr>
              <a:t>Solo su FTTC e FTTH AREE BIANCHE ( C&amp;D) viene dato il modem Wi-Fi 6</a:t>
            </a:r>
            <a:endParaRPr sz="1000" b="1" i="0" u="none" strike="noStrike" cap="none">
              <a:solidFill>
                <a:srgbClr val="FF6A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3"/>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it-IT" sz="4400" b="1">
                <a:solidFill>
                  <a:srgbClr val="FF0000"/>
                </a:solidFill>
              </a:rPr>
              <a:t>UNLIMITED 5G EP ONLINE CON SUPER FIBRA</a:t>
            </a:r>
            <a:endParaRPr b="1">
              <a:solidFill>
                <a:srgbClr val="FF0000"/>
              </a:solidFill>
            </a:endParaRPr>
          </a:p>
        </p:txBody>
      </p:sp>
      <p:sp>
        <p:nvSpPr>
          <p:cNvPr id="190" name="Google Shape;190;p23"/>
          <p:cNvSpPr txBox="1">
            <a:spLocks noGrp="1"/>
          </p:cNvSpPr>
          <p:nvPr>
            <p:ph type="body" idx="2"/>
          </p:nvPr>
        </p:nvSpPr>
        <p:spPr>
          <a:xfrm>
            <a:off x="457690" y="950849"/>
            <a:ext cx="11451281" cy="4789551"/>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EP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100 Giga in 5G che diventano </a:t>
            </a:r>
            <a:r>
              <a:rPr lang="it-IT" sz="1600" b="1">
                <a:solidFill>
                  <a:srgbClr val="002060"/>
                </a:solidFill>
              </a:rPr>
              <a:t>GIGA  illimitati </a:t>
            </a:r>
            <a:r>
              <a:rPr lang="it-IT" sz="1600">
                <a:solidFill>
                  <a:srgbClr val="002060"/>
                </a:solidFill>
              </a:rPr>
              <a:t>a seguito dell'attivazione del fisso. Le ricordiamo di attivarli su Area Clienti o su APP WINDTRE</a:t>
            </a:r>
            <a:endParaRPr/>
          </a:p>
          <a:p>
            <a:pPr marL="228600" lvl="0" indent="-228600" algn="just" rtl="0">
              <a:lnSpc>
                <a:spcPct val="90000"/>
              </a:lnSpc>
              <a:spcBef>
                <a:spcPts val="1000"/>
              </a:spcBef>
              <a:spcAft>
                <a:spcPts val="0"/>
              </a:spcAft>
              <a:buClr>
                <a:srgbClr val="FF0000"/>
              </a:buClr>
              <a:buSzPts val="1600"/>
              <a:buChar char="•"/>
            </a:pPr>
            <a:r>
              <a:rPr lang="it-IT" sz="1600">
                <a:solidFill>
                  <a:srgbClr val="FF0000"/>
                </a:solidFill>
              </a:rPr>
              <a:t>Il costo di attivazione </a:t>
            </a:r>
            <a:r>
              <a:rPr lang="it-IT" sz="1600" b="1">
                <a:solidFill>
                  <a:srgbClr val="FF0000"/>
                </a:solidFill>
              </a:rPr>
              <a:t>è  0€ </a:t>
            </a: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Riceverà, direttamente a casa, la nuova SIM con un credito pari al costo del primo canone.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Può scegliere di pagare il rinnovo automatico mensile  tramite </a:t>
            </a:r>
            <a:r>
              <a:rPr lang="it-IT" sz="1600" b="1">
                <a:solidFill>
                  <a:srgbClr val="002060"/>
                </a:solidFill>
              </a:rPr>
              <a:t>Carta di credito o tramite IBAN</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CDC </a:t>
            </a:r>
            <a:r>
              <a:rPr lang="it-IT" sz="1600">
                <a:solidFill>
                  <a:srgbClr val="002060"/>
                </a:solidFill>
              </a:rPr>
              <a:t>le invierò un link, al numero su cui la sto contattando, tramite il quale potrà completare l’operazione inserendo i dati della sua carta di credito.Il link ha una validità di 24 ore, oltre le quali non sarà più valido e l’ordine verrà annullato.</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IBAN </a:t>
            </a:r>
            <a:r>
              <a:rPr lang="it-IT" sz="1600">
                <a:solidFill>
                  <a:srgbClr val="002060"/>
                </a:solidFill>
              </a:rPr>
              <a:t>(conto corrente); quindi le chiedo di fornirmi il codice IBAN a lei intestata su cui procedere.</a:t>
            </a:r>
            <a:endParaRPr/>
          </a:p>
        </p:txBody>
      </p:sp>
      <p:sp>
        <p:nvSpPr>
          <p:cNvPr id="191" name="Google Shape;191;p23"/>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METODO  DI PAGAMENTO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sz="4400" b="1">
                <a:solidFill>
                  <a:srgbClr val="002060"/>
                </a:solidFill>
              </a:rPr>
              <a:t>UNLIMITED 5G ONLINE CON SUPER FIBRA</a:t>
            </a:r>
            <a:endParaRPr b="1">
              <a:solidFill>
                <a:srgbClr val="002060"/>
              </a:solidFill>
            </a:endParaRPr>
          </a:p>
        </p:txBody>
      </p:sp>
      <p:sp>
        <p:nvSpPr>
          <p:cNvPr id="198" name="Google Shape;198;p24"/>
          <p:cNvSpPr txBox="1">
            <a:spLocks noGrp="1"/>
          </p:cNvSpPr>
          <p:nvPr>
            <p:ph type="body" idx="2"/>
          </p:nvPr>
        </p:nvSpPr>
        <p:spPr>
          <a:xfrm>
            <a:off x="131852" y="984813"/>
            <a:ext cx="11928296" cy="285798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50 Giga in 5G che diventano  </a:t>
            </a:r>
            <a:r>
              <a:rPr lang="it-IT" sz="1600" b="1">
                <a:solidFill>
                  <a:srgbClr val="002060"/>
                </a:solidFill>
              </a:rPr>
              <a:t>GIGA</a:t>
            </a:r>
            <a:r>
              <a:rPr lang="it-IT" sz="1600">
                <a:solidFill>
                  <a:srgbClr val="002060"/>
                </a:solidFill>
              </a:rPr>
              <a:t> </a:t>
            </a:r>
            <a:r>
              <a:rPr lang="it-IT" sz="1600" b="1">
                <a:solidFill>
                  <a:srgbClr val="002060"/>
                </a:solidFill>
              </a:rPr>
              <a:t>illimitati</a:t>
            </a:r>
            <a:r>
              <a:rPr lang="it-IT" sz="1600">
                <a:solidFill>
                  <a:srgbClr val="002060"/>
                </a:solidFill>
              </a:rPr>
              <a:t> a seguito dell'attivazione del fisso. Le ricordiamo di attivarli su Area Clienti o su APP WINDTRE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Il costo di attivazione </a:t>
            </a:r>
            <a:r>
              <a:rPr lang="it-IT" sz="1600" b="1">
                <a:solidFill>
                  <a:srgbClr val="002060"/>
                </a:solidFill>
              </a:rPr>
              <a:t>è in promozione a 0€ </a:t>
            </a:r>
            <a:r>
              <a:rPr lang="it-IT" sz="1600">
                <a:solidFill>
                  <a:srgbClr val="002060"/>
                </a:solidFill>
              </a:rPr>
              <a:t>INVECE DI 10€ per i clienti che mantengono attiva la SIM per 24 mesi, altrimenti l'importo di 10€ scontati nella promozione sarà addebitato sul credito residuo.</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b="1">
              <a:solidFill>
                <a:srgbClr val="002060"/>
              </a:solidFill>
            </a:endParaRPr>
          </a:p>
        </p:txBody>
      </p:sp>
      <p:sp>
        <p:nvSpPr>
          <p:cNvPr id="199" name="Google Shape;199;p24"/>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CREDITO RESIDUO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5"/>
          <p:cNvSpPr txBox="1"/>
          <p:nvPr/>
        </p:nvSpPr>
        <p:spPr>
          <a:xfrm>
            <a:off x="263704" y="933120"/>
            <a:ext cx="11743239" cy="565273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r>
              <a:rPr lang="it-IT" sz="1600" b="1" i="0" u="none" strike="noStrike" cap="none">
                <a:solidFill>
                  <a:schemeClr val="dk1"/>
                </a:solidFill>
                <a:highlight>
                  <a:srgbClr val="FFFF00"/>
                </a:highlight>
                <a:latin typeface="Calibri"/>
                <a:ea typeface="Calibri"/>
                <a:cs typeface="Calibri"/>
                <a:sym typeface="Calibri"/>
              </a:rPr>
              <a:t>Solo se il Cliente ha già un’offerta WINDTRE associata in convergenza al Fisso, può intestare sullo stesso C.F. altre 2 SIM con questa offerta</a:t>
            </a:r>
            <a:endParaRPr sz="1600" b="1" i="0" u="none" strike="noStrike" cap="none">
              <a:solidFill>
                <a:schemeClr val="dk1"/>
              </a:solidFill>
              <a:highlight>
                <a:srgbClr val="FFFF00"/>
              </a:highlight>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r>
              <a:rPr lang="it-IT" sz="1600" b="0" i="0" u="none" strike="noStrike" cap="none">
                <a:solidFill>
                  <a:schemeClr val="dk1"/>
                </a:solidFill>
                <a:latin typeface="Calibri"/>
                <a:ea typeface="Calibri"/>
                <a:cs typeface="Calibri"/>
                <a:sym typeface="Calibri"/>
              </a:rPr>
              <a:t>Family 5G EP On Line con Super Fibra</a:t>
            </a:r>
            <a:r>
              <a:rPr lang="it-IT" sz="1600" b="0" i="0" u="none" strike="noStrike" cap="none">
                <a:solidFill>
                  <a:srgbClr val="002060"/>
                </a:solidFill>
                <a:latin typeface="Calibri"/>
                <a:ea typeface="Calibri"/>
                <a:cs typeface="Calibri"/>
                <a:sym typeface="Calibri"/>
              </a:rPr>
              <a:t>, </a:t>
            </a:r>
            <a:r>
              <a:rPr lang="it-IT" sz="1600" b="0" i="0" u="none" strike="noStrike" cap="none">
                <a:solidFill>
                  <a:srgbClr val="1F3864"/>
                </a:solidFill>
                <a:latin typeface="Calibri"/>
                <a:ea typeface="Calibri"/>
                <a:cs typeface="Calibri"/>
                <a:sym typeface="Calibri"/>
              </a:rPr>
              <a:t>al costo di </a:t>
            </a:r>
            <a:r>
              <a:rPr lang="it-IT" sz="1600" b="1" i="0" u="none" strike="noStrike" cap="none">
                <a:solidFill>
                  <a:srgbClr val="1F3864"/>
                </a:solidFill>
                <a:latin typeface="Calibri"/>
                <a:ea typeface="Calibri"/>
                <a:cs typeface="Calibri"/>
                <a:sym typeface="Calibri"/>
              </a:rPr>
              <a:t>7,99€</a:t>
            </a:r>
            <a:r>
              <a:rPr lang="it-IT" sz="1600" b="0" i="0" u="none" strike="noStrike" cap="none">
                <a:solidFill>
                  <a:srgbClr val="1F3864"/>
                </a:solidFill>
                <a:latin typeface="Calibri"/>
                <a:ea typeface="Calibri"/>
                <a:cs typeface="Calibri"/>
                <a:sym typeface="Calibri"/>
              </a:rPr>
              <a:t> al mese. </a:t>
            </a:r>
            <a:endParaRPr/>
          </a:p>
          <a:p>
            <a:pPr marL="0" marR="0" lvl="0" indent="0" algn="just" rtl="0">
              <a:lnSpc>
                <a:spcPct val="90000"/>
              </a:lnSpc>
              <a:spcBef>
                <a:spcPts val="1000"/>
              </a:spcBef>
              <a:spcAft>
                <a:spcPts val="0"/>
              </a:spcAft>
              <a:buClr>
                <a:srgbClr val="1F3864"/>
              </a:buClr>
              <a:buSzPts val="1600"/>
              <a:buFont typeface="Arial"/>
              <a:buNone/>
            </a:pPr>
            <a:r>
              <a:rPr lang="it-IT" sz="1600" b="0" i="0" u="none" strike="noStrike" cap="none">
                <a:solidFill>
                  <a:srgbClr val="1F3864"/>
                </a:solidFill>
                <a:latin typeface="Calibri"/>
                <a:ea typeface="Calibri"/>
                <a:cs typeface="Calibri"/>
                <a:sym typeface="Calibri"/>
              </a:rPr>
              <a:t>L’offerta include</a:t>
            </a:r>
            <a:endParaRPr sz="1600" b="0" i="0" u="none" strike="noStrike" cap="none">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i="0" u="none" strike="noStrike" cap="none">
                <a:solidFill>
                  <a:srgbClr val="002060"/>
                </a:solidFill>
                <a:latin typeface="Calibri"/>
                <a:ea typeface="Calibri"/>
                <a:cs typeface="Calibri"/>
                <a:sym typeface="Calibri"/>
              </a:rPr>
              <a:t>Minuti illimitati </a:t>
            </a:r>
            <a:r>
              <a:rPr lang="it-IT" sz="1600" b="0" i="0" u="none" strike="noStrike" cap="none">
                <a:solidFill>
                  <a:srgbClr val="002060"/>
                </a:solidFill>
                <a:latin typeface="Calibri"/>
                <a:ea typeface="Calibri"/>
                <a:cs typeface="Calibri"/>
                <a:sym typeface="Calibri"/>
              </a:rPr>
              <a:t>verso tutti,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i="0" u="none" strike="noStrike" cap="none">
                <a:solidFill>
                  <a:srgbClr val="002060"/>
                </a:solidFill>
                <a:latin typeface="Calibri"/>
                <a:ea typeface="Calibri"/>
                <a:cs typeface="Calibri"/>
                <a:sym typeface="Calibri"/>
              </a:rPr>
              <a:t>200 SMS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0" i="0" u="none" strike="noStrike" cap="none">
                <a:solidFill>
                  <a:srgbClr val="002060"/>
                </a:solidFill>
                <a:latin typeface="Calibri"/>
                <a:ea typeface="Calibri"/>
                <a:cs typeface="Calibri"/>
                <a:sym typeface="Calibri"/>
              </a:rPr>
              <a:t>100 Giga in 5G che diventano </a:t>
            </a:r>
            <a:r>
              <a:rPr lang="it-IT" sz="1600" b="1" i="0" u="none" strike="noStrike" cap="none">
                <a:solidFill>
                  <a:srgbClr val="002060"/>
                </a:solidFill>
                <a:latin typeface="Calibri"/>
                <a:ea typeface="Calibri"/>
                <a:cs typeface="Calibri"/>
                <a:sym typeface="Calibri"/>
              </a:rPr>
              <a:t>GIGA  illimitati </a:t>
            </a:r>
            <a:r>
              <a:rPr lang="it-IT" sz="1600" b="0" i="0" u="none" strike="noStrike" cap="none">
                <a:solidFill>
                  <a:srgbClr val="002060"/>
                </a:solidFill>
                <a:latin typeface="Calibri"/>
                <a:ea typeface="Calibri"/>
                <a:cs typeface="Calibri"/>
                <a:sym typeface="Calibri"/>
              </a:rPr>
              <a:t>a seguito dell'attivazione del fisso. Le ricordiamo di attivarli su Area Clienti o su APP WINDTRE</a:t>
            </a:r>
            <a:endParaRPr/>
          </a:p>
          <a:p>
            <a:pPr marL="228600" marR="0" lvl="0" indent="-228600" algn="just" rtl="0">
              <a:lnSpc>
                <a:spcPct val="90000"/>
              </a:lnSpc>
              <a:spcBef>
                <a:spcPts val="1000"/>
              </a:spcBef>
              <a:spcAft>
                <a:spcPts val="0"/>
              </a:spcAft>
              <a:buClr>
                <a:srgbClr val="1F3864"/>
              </a:buClr>
              <a:buSzPts val="1600"/>
              <a:buFont typeface="Arial"/>
              <a:buChar char="•"/>
            </a:pPr>
            <a:r>
              <a:rPr lang="it-IT" sz="1600" b="1" i="0" u="none" strike="noStrike" cap="none">
                <a:solidFill>
                  <a:srgbClr val="1F3864"/>
                </a:solidFill>
                <a:latin typeface="Montserrat"/>
                <a:ea typeface="Montserrat"/>
                <a:cs typeface="Montserrat"/>
                <a:sym typeface="Montserrat"/>
              </a:rPr>
              <a:t>C</a:t>
            </a:r>
            <a:r>
              <a:rPr lang="it-IT" sz="1600" b="1" i="0" u="none" strike="noStrike" cap="none">
                <a:solidFill>
                  <a:srgbClr val="1F3864"/>
                </a:solidFill>
                <a:latin typeface="Calibri"/>
                <a:ea typeface="Calibri"/>
                <a:cs typeface="Calibri"/>
                <a:sym typeface="Calibri"/>
              </a:rPr>
              <a:t>osto di attivazione </a:t>
            </a:r>
            <a:r>
              <a:rPr lang="it-IT" sz="1600" b="0" i="0" u="none" strike="noStrike" cap="none">
                <a:solidFill>
                  <a:srgbClr val="FF0000"/>
                </a:solidFill>
                <a:latin typeface="Calibri"/>
                <a:ea typeface="Calibri"/>
                <a:cs typeface="Calibri"/>
                <a:sym typeface="Calibri"/>
              </a:rPr>
              <a:t>Il costo di attivazione </a:t>
            </a:r>
            <a:r>
              <a:rPr lang="it-IT" sz="1600" b="1" i="0" u="none" strike="noStrike" cap="none">
                <a:solidFill>
                  <a:srgbClr val="FF0000"/>
                </a:solidFill>
                <a:latin typeface="Calibri"/>
                <a:ea typeface="Calibri"/>
                <a:cs typeface="Calibri"/>
                <a:sym typeface="Calibri"/>
              </a:rPr>
              <a:t>è  0€ </a:t>
            </a:r>
            <a:endParaRPr sz="1600" b="1" i="0" u="none" strike="noStrike" cap="none">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0" i="0" u="none" strike="noStrike" cap="none">
                <a:solidFill>
                  <a:srgbClr val="002060"/>
                </a:solidFill>
                <a:latin typeface="Calibri"/>
                <a:ea typeface="Calibri"/>
                <a:cs typeface="Calibri"/>
                <a:sym typeface="Calibri"/>
              </a:rPr>
              <a:t>L'offerta si rinnova automaticamente ogni mese a partire dalla data di attivazione</a:t>
            </a:r>
            <a:endParaRPr/>
          </a:p>
          <a:p>
            <a:pPr marL="0" marR="0" lvl="0" indent="0" algn="l" rtl="0">
              <a:lnSpc>
                <a:spcPct val="90000"/>
              </a:lnSpc>
              <a:spcBef>
                <a:spcPts val="1000"/>
              </a:spcBef>
              <a:spcAft>
                <a:spcPts val="0"/>
              </a:spcAft>
              <a:buClr>
                <a:srgbClr val="002060"/>
              </a:buClr>
              <a:buSzPts val="1600"/>
              <a:buFont typeface="Arial"/>
              <a:buNone/>
            </a:pPr>
            <a:r>
              <a:rPr lang="it-IT" sz="1600" b="1" i="0" u="none" strike="noStrike" cap="none">
                <a:solidFill>
                  <a:srgbClr val="002060"/>
                </a:solidFill>
                <a:latin typeface="Calibri"/>
                <a:ea typeface="Calibri"/>
                <a:cs typeface="Calibri"/>
                <a:sym typeface="Calibri"/>
              </a:rPr>
              <a:t>Riceverà, direttamente a casa, la nuova SIM con un credito pari al costo del primo canone.</a:t>
            </a:r>
            <a:endParaRPr/>
          </a:p>
          <a:p>
            <a:pPr marL="0" marR="0" lvl="0" indent="0" algn="l" rtl="0">
              <a:lnSpc>
                <a:spcPct val="90000"/>
              </a:lnSpc>
              <a:spcBef>
                <a:spcPts val="1000"/>
              </a:spcBef>
              <a:spcAft>
                <a:spcPts val="0"/>
              </a:spcAft>
              <a:buClr>
                <a:srgbClr val="002060"/>
              </a:buClr>
              <a:buSzPts val="1600"/>
              <a:buFont typeface="Arial"/>
              <a:buNone/>
            </a:pPr>
            <a:r>
              <a:rPr lang="it-IT" sz="1600" b="0" i="0" u="none" strike="noStrike" cap="none">
                <a:solidFill>
                  <a:srgbClr val="002060"/>
                </a:solidFill>
                <a:latin typeface="Calibri"/>
                <a:ea typeface="Calibri"/>
                <a:cs typeface="Calibri"/>
                <a:sym typeface="Calibri"/>
              </a:rPr>
              <a:t>Può scegliere di pagare il rinnovo automatico mensile  tramite </a:t>
            </a:r>
            <a:r>
              <a:rPr lang="it-IT" sz="1600" b="1" i="0" u="none" strike="noStrike" cap="none">
                <a:solidFill>
                  <a:srgbClr val="002060"/>
                </a:solidFill>
                <a:latin typeface="Calibri"/>
                <a:ea typeface="Calibri"/>
                <a:cs typeface="Calibri"/>
                <a:sym typeface="Calibri"/>
              </a:rPr>
              <a:t>tramite IBAN o Carta di credito </a:t>
            </a:r>
            <a:endParaRPr/>
          </a:p>
          <a:p>
            <a:pPr marL="228600" marR="0" lvl="0" indent="-228600" algn="l" rtl="0">
              <a:lnSpc>
                <a:spcPct val="90000"/>
              </a:lnSpc>
              <a:spcBef>
                <a:spcPts val="1000"/>
              </a:spcBef>
              <a:spcAft>
                <a:spcPts val="0"/>
              </a:spcAft>
              <a:buClr>
                <a:srgbClr val="FF0000"/>
              </a:buClr>
              <a:buSzPts val="1600"/>
              <a:buFont typeface="Arial"/>
              <a:buChar char="•"/>
            </a:pPr>
            <a:r>
              <a:rPr lang="it-IT" sz="1600" b="1" i="0" u="none" strike="noStrike" cap="none">
                <a:solidFill>
                  <a:srgbClr val="FF0000"/>
                </a:solidFill>
                <a:latin typeface="Calibri"/>
                <a:ea typeface="Calibri"/>
                <a:cs typeface="Calibri"/>
                <a:sym typeface="Calibri"/>
              </a:rPr>
              <a:t>Pagamento tramite IBAN </a:t>
            </a:r>
            <a:r>
              <a:rPr lang="it-IT" sz="1600" b="0" i="0" u="none" strike="noStrike" cap="none">
                <a:solidFill>
                  <a:srgbClr val="FF0000"/>
                </a:solidFill>
                <a:latin typeface="Calibri"/>
                <a:ea typeface="Calibri"/>
                <a:cs typeface="Calibri"/>
                <a:sym typeface="Calibri"/>
              </a:rPr>
              <a:t>(conto corrente); quindi le chiedo di fornirmi il codice IBAN a lei intestata su cui procedere.</a:t>
            </a:r>
            <a:r>
              <a:rPr lang="it-IT" sz="1600" b="1" i="0" u="none" strike="noStrike" cap="none">
                <a:solidFill>
                  <a:srgbClr val="FF0000"/>
                </a:solidFill>
                <a:latin typeface="Calibri"/>
                <a:ea typeface="Calibri"/>
                <a:cs typeface="Calibri"/>
                <a:sym typeface="Calibri"/>
              </a:rPr>
              <a:t> </a:t>
            </a:r>
            <a:endParaRPr/>
          </a:p>
          <a:p>
            <a:pPr marL="228600" marR="0" lvl="0" indent="-228600" algn="l" rtl="0">
              <a:lnSpc>
                <a:spcPct val="90000"/>
              </a:lnSpc>
              <a:spcBef>
                <a:spcPts val="1000"/>
              </a:spcBef>
              <a:spcAft>
                <a:spcPts val="0"/>
              </a:spcAft>
              <a:buClr>
                <a:srgbClr val="002060"/>
              </a:buClr>
              <a:buSzPts val="1600"/>
              <a:buFont typeface="Arial"/>
              <a:buChar char="•"/>
            </a:pPr>
            <a:r>
              <a:rPr lang="it-IT" sz="1600" b="1" i="0" u="none" strike="noStrike" cap="none">
                <a:solidFill>
                  <a:srgbClr val="002060"/>
                </a:solidFill>
                <a:latin typeface="Calibri"/>
                <a:ea typeface="Calibri"/>
                <a:cs typeface="Calibri"/>
                <a:sym typeface="Calibri"/>
              </a:rPr>
              <a:t>Pagamento tramite Carta di Credito </a:t>
            </a:r>
            <a:r>
              <a:rPr lang="it-IT" sz="1600" b="0" i="0" u="none" strike="noStrike" cap="none">
                <a:solidFill>
                  <a:srgbClr val="002060"/>
                </a:solidFill>
                <a:latin typeface="Calibri"/>
                <a:ea typeface="Calibri"/>
                <a:cs typeface="Calibri"/>
                <a:sym typeface="Calibri"/>
              </a:rPr>
              <a:t>le invierò un link, al numero su cui la sto contattando, tramite il quale potrà completare l’operazione inserendo i dati della sua carta di credito. Il link ha una validità di 24 ore, oltre le quali non sarà più valido e l’ordine verrà annullato.</a:t>
            </a:r>
            <a:endParaRPr/>
          </a:p>
          <a:p>
            <a:pPr marL="228600" marR="0" lvl="0" indent="-127000" algn="l" rtl="0">
              <a:lnSpc>
                <a:spcPct val="90000"/>
              </a:lnSpc>
              <a:spcBef>
                <a:spcPts val="1000"/>
              </a:spcBef>
              <a:spcAft>
                <a:spcPts val="0"/>
              </a:spcAft>
              <a:buClr>
                <a:schemeClr val="dk1"/>
              </a:buClr>
              <a:buSzPts val="1600"/>
              <a:buFont typeface="Arial"/>
              <a:buNone/>
            </a:pPr>
            <a:endParaRPr sz="1600" b="0" i="0" u="none" strike="noStrike" cap="none">
              <a:solidFill>
                <a:srgbClr val="002060"/>
              </a:solidFill>
              <a:latin typeface="Calibri"/>
              <a:ea typeface="Calibri"/>
              <a:cs typeface="Calibri"/>
              <a:sym typeface="Calibri"/>
            </a:endParaRPr>
          </a:p>
        </p:txBody>
      </p:sp>
      <p:sp>
        <p:nvSpPr>
          <p:cNvPr id="205" name="Google Shape;205;p25"/>
          <p:cNvSpPr txBox="1"/>
          <p:nvPr/>
        </p:nvSpPr>
        <p:spPr>
          <a:xfrm>
            <a:off x="131852" y="120134"/>
            <a:ext cx="1106954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400"/>
              <a:buFont typeface="Calibri"/>
              <a:buNone/>
            </a:pPr>
            <a:r>
              <a:rPr lang="it-IT" sz="4400" b="0" i="0" u="none" strike="noStrike" cap="none">
                <a:solidFill>
                  <a:schemeClr val="dk1"/>
                </a:solidFill>
                <a:latin typeface="Calibri"/>
                <a:ea typeface="Calibri"/>
                <a:cs typeface="Calibri"/>
                <a:sym typeface="Calibri"/>
              </a:rPr>
              <a:t>Family 5G EP On Line con Super Fibra</a:t>
            </a:r>
            <a:endParaRPr/>
          </a:p>
        </p:txBody>
      </p:sp>
      <p:sp>
        <p:nvSpPr>
          <p:cNvPr id="206" name="Google Shape;206;p25"/>
          <p:cNvSpPr/>
          <p:nvPr/>
        </p:nvSpPr>
        <p:spPr>
          <a:xfrm>
            <a:off x="10322097" y="70595"/>
            <a:ext cx="1684846" cy="769441"/>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METODO  DI PAGAMENTO</a:t>
            </a:r>
            <a:endParaRPr/>
          </a:p>
        </p:txBody>
      </p:sp>
      <p:sp>
        <p:nvSpPr>
          <p:cNvPr id="207" name="Google Shape;207;p25"/>
          <p:cNvSpPr/>
          <p:nvPr/>
        </p:nvSpPr>
        <p:spPr>
          <a:xfrm>
            <a:off x="544286" y="-22489"/>
            <a:ext cx="12192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6"/>
          <p:cNvSpPr txBox="1"/>
          <p:nvPr/>
        </p:nvSpPr>
        <p:spPr>
          <a:xfrm>
            <a:off x="496471" y="424934"/>
            <a:ext cx="1082467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400"/>
              <a:buFont typeface="Calibri"/>
              <a:buNone/>
            </a:pPr>
            <a:r>
              <a:rPr lang="it-IT" sz="4400">
                <a:solidFill>
                  <a:schemeClr val="dk1"/>
                </a:solidFill>
                <a:latin typeface="Calibri"/>
                <a:ea typeface="Calibri"/>
                <a:cs typeface="Calibri"/>
                <a:sym typeface="Calibri"/>
              </a:rPr>
              <a:t>Family 5G On Line con Super Fibra</a:t>
            </a:r>
            <a:endParaRPr/>
          </a:p>
        </p:txBody>
      </p:sp>
      <p:sp>
        <p:nvSpPr>
          <p:cNvPr id="213" name="Google Shape;213;p26"/>
          <p:cNvSpPr txBox="1"/>
          <p:nvPr/>
        </p:nvSpPr>
        <p:spPr>
          <a:xfrm>
            <a:off x="224381" y="1702562"/>
            <a:ext cx="11597506" cy="383192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endParaRPr sz="1600" b="1">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endParaRPr sz="1600" b="1">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r>
              <a:rPr lang="it-IT" sz="1600" b="1">
                <a:solidFill>
                  <a:schemeClr val="dk1"/>
                </a:solidFill>
                <a:latin typeface="Calibri"/>
                <a:ea typeface="Calibri"/>
                <a:cs typeface="Calibri"/>
                <a:sym typeface="Calibri"/>
              </a:rPr>
              <a:t>Family 5G On Line con Super Fibra</a:t>
            </a:r>
            <a:r>
              <a:rPr lang="it-IT" sz="1600">
                <a:solidFill>
                  <a:srgbClr val="002060"/>
                </a:solidFill>
                <a:latin typeface="Calibri"/>
                <a:ea typeface="Calibri"/>
                <a:cs typeface="Calibri"/>
                <a:sym typeface="Calibri"/>
              </a:rPr>
              <a:t>, </a:t>
            </a:r>
            <a:r>
              <a:rPr lang="it-IT" sz="1600">
                <a:solidFill>
                  <a:srgbClr val="1F3864"/>
                </a:solidFill>
                <a:latin typeface="Calibri"/>
                <a:ea typeface="Calibri"/>
                <a:cs typeface="Calibri"/>
                <a:sym typeface="Calibri"/>
              </a:rPr>
              <a:t>al costo di 7,99€ al mese</a:t>
            </a:r>
            <a:endParaRPr/>
          </a:p>
          <a:p>
            <a:pPr marL="0" marR="0" lvl="0" indent="0" algn="just" rtl="0">
              <a:lnSpc>
                <a:spcPct val="90000"/>
              </a:lnSpc>
              <a:spcBef>
                <a:spcPts val="1000"/>
              </a:spcBef>
              <a:spcAft>
                <a:spcPts val="0"/>
              </a:spcAft>
              <a:buClr>
                <a:srgbClr val="1F3864"/>
              </a:buClr>
              <a:buSzPts val="1600"/>
              <a:buFont typeface="Arial"/>
              <a:buNone/>
            </a:pPr>
            <a:r>
              <a:rPr lang="it-IT" sz="1600">
                <a:solidFill>
                  <a:srgbClr val="1F3864"/>
                </a:solidFill>
                <a:latin typeface="Calibri"/>
                <a:ea typeface="Calibri"/>
                <a:cs typeface="Calibri"/>
                <a:sym typeface="Calibri"/>
              </a:rPr>
              <a:t>L’offerta include</a:t>
            </a:r>
            <a:endParaRPr sz="1600">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Minuti illimitati </a:t>
            </a:r>
            <a:r>
              <a:rPr lang="it-IT" sz="1600">
                <a:solidFill>
                  <a:srgbClr val="002060"/>
                </a:solidFill>
                <a:latin typeface="Calibri"/>
                <a:ea typeface="Calibri"/>
                <a:cs typeface="Calibri"/>
                <a:sym typeface="Calibri"/>
              </a:rPr>
              <a:t>verso tutti,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200 SMS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50 Giga in 5G che diventano </a:t>
            </a:r>
            <a:r>
              <a:rPr lang="it-IT" sz="1600" b="1">
                <a:solidFill>
                  <a:srgbClr val="002060"/>
                </a:solidFill>
                <a:latin typeface="Calibri"/>
                <a:ea typeface="Calibri"/>
                <a:cs typeface="Calibri"/>
                <a:sym typeface="Calibri"/>
              </a:rPr>
              <a:t>GIGA  illimitati </a:t>
            </a:r>
            <a:r>
              <a:rPr lang="it-IT" sz="1600">
                <a:solidFill>
                  <a:srgbClr val="002060"/>
                </a:solidFill>
                <a:latin typeface="Calibri"/>
                <a:ea typeface="Calibri"/>
                <a:cs typeface="Calibri"/>
                <a:sym typeface="Calibri"/>
              </a:rPr>
              <a:t>a seguito dell'attivazione del fisso. Le ricordiamo di attivarli su Area Clienti o su APP WINDTRE</a:t>
            </a:r>
            <a:endParaRPr/>
          </a:p>
          <a:p>
            <a:pPr marL="0" marR="0" lvl="0" indent="0" algn="l" rtl="0">
              <a:lnSpc>
                <a:spcPct val="90000"/>
              </a:lnSpc>
              <a:spcBef>
                <a:spcPts val="1000"/>
              </a:spcBef>
              <a:spcAft>
                <a:spcPts val="0"/>
              </a:spcAft>
              <a:buClr>
                <a:srgbClr val="1F3864"/>
              </a:buClr>
              <a:buSzPts val="1600"/>
              <a:buFont typeface="Arial"/>
              <a:buNone/>
            </a:pPr>
            <a:r>
              <a:rPr lang="it-IT" sz="1600" b="1">
                <a:solidFill>
                  <a:srgbClr val="1F3864"/>
                </a:solidFill>
                <a:latin typeface="Montserrat"/>
                <a:ea typeface="Montserrat"/>
                <a:cs typeface="Montserrat"/>
                <a:sym typeface="Montserrat"/>
              </a:rPr>
              <a:t>C</a:t>
            </a:r>
            <a:r>
              <a:rPr lang="it-IT" sz="1600" b="1">
                <a:solidFill>
                  <a:srgbClr val="1F3864"/>
                </a:solidFill>
                <a:latin typeface="Calibri"/>
                <a:ea typeface="Calibri"/>
                <a:cs typeface="Calibri"/>
                <a:sym typeface="Calibri"/>
              </a:rPr>
              <a:t>osto di attivazione : 9,99€</a:t>
            </a:r>
            <a:endParaRPr sz="1600">
              <a:solidFill>
                <a:srgbClr val="1F3864"/>
              </a:solidFill>
              <a:latin typeface="Calibri"/>
              <a:ea typeface="Calibri"/>
              <a:cs typeface="Calibri"/>
              <a:sym typeface="Calibri"/>
            </a:endParaRPr>
          </a:p>
          <a:p>
            <a:pPr marL="0" marR="0" lvl="0" indent="0" algn="just"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L'offerta si rinnova automaticamente ogni mese a partire dalla data di attivazione</a:t>
            </a:r>
            <a:endParaRPr/>
          </a:p>
          <a:p>
            <a:pPr marL="0" marR="0" lvl="0" indent="0" algn="l" rtl="0">
              <a:lnSpc>
                <a:spcPct val="90000"/>
              </a:lnSpc>
              <a:spcBef>
                <a:spcPts val="100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Riceverà, direttamente a casa, la nuova SIM con un credito pari al costo del primo canone.</a:t>
            </a:r>
            <a:endParaRPr/>
          </a:p>
        </p:txBody>
      </p:sp>
      <p:sp>
        <p:nvSpPr>
          <p:cNvPr id="214" name="Google Shape;214;p26"/>
          <p:cNvSpPr/>
          <p:nvPr/>
        </p:nvSpPr>
        <p:spPr>
          <a:xfrm>
            <a:off x="10184303" y="488199"/>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a:solidFill>
                  <a:schemeClr val="lt1"/>
                </a:solidFill>
                <a:latin typeface="Calibri"/>
                <a:ea typeface="Calibri"/>
                <a:cs typeface="Calibri"/>
                <a:sym typeface="Calibri"/>
              </a:rPr>
              <a:t>CREDITO RESIDUO</a:t>
            </a:r>
            <a:endParaRPr/>
          </a:p>
        </p:txBody>
      </p:sp>
      <p:sp>
        <p:nvSpPr>
          <p:cNvPr id="215" name="Google Shape;215;p26"/>
          <p:cNvSpPr txBox="1"/>
          <p:nvPr/>
        </p:nvSpPr>
        <p:spPr>
          <a:xfrm>
            <a:off x="190999" y="1732727"/>
            <a:ext cx="124097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600" b="1">
                <a:solidFill>
                  <a:schemeClr val="dk1"/>
                </a:solidFill>
                <a:highlight>
                  <a:srgbClr val="FFFF00"/>
                </a:highlight>
                <a:latin typeface="Calibri"/>
                <a:ea typeface="Calibri"/>
                <a:cs typeface="Calibri"/>
                <a:sym typeface="Calibri"/>
              </a:rPr>
              <a:t>Solo se il Cliente ha già un’offerta WINDTRE associata in convergenza al Fisso, può intestare sullo stesso C.F. altre 2 SIM con questa offerta</a:t>
            </a:r>
            <a:endParaRPr sz="1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7"/>
          <p:cNvSpPr txBox="1">
            <a:spLocks noGrp="1"/>
          </p:cNvSpPr>
          <p:nvPr>
            <p:ph type="title"/>
          </p:nvPr>
        </p:nvSpPr>
        <p:spPr>
          <a:xfrm>
            <a:off x="514344" y="32829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 OFFERTE FISSE</a:t>
            </a:r>
            <a:r>
              <a:rPr lang="it-IT">
                <a:solidFill>
                  <a:srgbClr val="002060"/>
                </a:solidFill>
              </a:rPr>
              <a:t> </a:t>
            </a:r>
            <a:endParaRPr/>
          </a:p>
        </p:txBody>
      </p:sp>
      <p:sp>
        <p:nvSpPr>
          <p:cNvPr id="222" name="Google Shape;222;p27"/>
          <p:cNvSpPr txBox="1"/>
          <p:nvPr/>
        </p:nvSpPr>
        <p:spPr>
          <a:xfrm>
            <a:off x="2752724" y="1316979"/>
            <a:ext cx="827722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INVISTA </a:t>
            </a:r>
            <a:r>
              <a:rPr lang="it-IT" sz="1600">
                <a:solidFill>
                  <a:srgbClr val="002060"/>
                </a:solidFill>
                <a:latin typeface="Calibri"/>
                <a:ea typeface="Calibri"/>
                <a:cs typeface="Calibri"/>
                <a:sym typeface="Calibri"/>
              </a:rPr>
              <a:t>è il servizio che le permette di visualizzare il numero di chi la chiama sul display del suo telefono fisso al costo di </a:t>
            </a:r>
            <a:r>
              <a:rPr lang="it-IT" sz="1600" b="1">
                <a:solidFill>
                  <a:srgbClr val="002060"/>
                </a:solidFill>
                <a:latin typeface="Calibri"/>
                <a:ea typeface="Calibri"/>
                <a:cs typeface="Calibri"/>
                <a:sym typeface="Calibri"/>
              </a:rPr>
              <a:t>2€/mese iva inclusa</a:t>
            </a:r>
            <a:r>
              <a:rPr lang="it-IT" sz="1600">
                <a:solidFill>
                  <a:srgbClr val="002060"/>
                </a:solidFill>
                <a:latin typeface="Calibri"/>
                <a:ea typeface="Calibri"/>
                <a:cs typeface="Calibri"/>
                <a:sym typeface="Calibri"/>
              </a:rPr>
              <a:t>.</a:t>
            </a:r>
            <a:endParaRPr/>
          </a:p>
        </p:txBody>
      </p:sp>
      <p:sp>
        <p:nvSpPr>
          <p:cNvPr id="223" name="Google Shape;223;p27"/>
          <p:cNvSpPr txBox="1"/>
          <p:nvPr/>
        </p:nvSpPr>
        <p:spPr>
          <a:xfrm>
            <a:off x="514350" y="1305867"/>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INVISTA</a:t>
            </a:r>
            <a:endParaRPr/>
          </a:p>
        </p:txBody>
      </p:sp>
      <p:sp>
        <p:nvSpPr>
          <p:cNvPr id="224" name="Google Shape;224;p27"/>
          <p:cNvSpPr txBox="1"/>
          <p:nvPr/>
        </p:nvSpPr>
        <p:spPr>
          <a:xfrm>
            <a:off x="2762249" y="3349971"/>
            <a:ext cx="8277225"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Per il posizionamento di una nuova Presa Fibra in un punto diverso dalla presa principale è previsto un costo di </a:t>
            </a:r>
            <a:r>
              <a:rPr lang="it-IT" sz="1600" b="1">
                <a:solidFill>
                  <a:srgbClr val="002060"/>
                </a:solidFill>
                <a:latin typeface="Calibri"/>
                <a:ea typeface="Calibri"/>
                <a:cs typeface="Calibri"/>
                <a:sym typeface="Calibri"/>
              </a:rPr>
              <a:t>65€.</a:t>
            </a:r>
            <a:endParaRPr/>
          </a:p>
          <a:p>
            <a:pPr marL="0" marR="0" lvl="0" indent="0" algn="l"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Per</a:t>
            </a:r>
            <a:r>
              <a:rPr lang="it-IT" sz="1600" b="1">
                <a:solidFill>
                  <a:srgbClr val="002060"/>
                </a:solidFill>
                <a:latin typeface="Calibri"/>
                <a:ea typeface="Calibri"/>
                <a:cs typeface="Calibri"/>
                <a:sym typeface="Calibri"/>
              </a:rPr>
              <a:t> </a:t>
            </a:r>
            <a:r>
              <a:rPr lang="it-IT" sz="1600">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lang="it-IT" sz="1600" b="1">
                <a:solidFill>
                  <a:srgbClr val="002060"/>
                </a:solidFill>
                <a:latin typeface="Calibri"/>
                <a:ea typeface="Calibri"/>
                <a:cs typeface="Calibri"/>
                <a:sym typeface="Calibri"/>
              </a:rPr>
              <a:t>35€.</a:t>
            </a:r>
            <a:endParaRPr sz="1600">
              <a:solidFill>
                <a:srgbClr val="002060"/>
              </a:solidFill>
              <a:latin typeface="Calibri"/>
              <a:ea typeface="Calibri"/>
              <a:cs typeface="Calibri"/>
              <a:sym typeface="Calibri"/>
            </a:endParaRPr>
          </a:p>
        </p:txBody>
      </p:sp>
      <p:sp>
        <p:nvSpPr>
          <p:cNvPr id="225" name="Google Shape;225;p27"/>
          <p:cNvSpPr txBox="1"/>
          <p:nvPr/>
        </p:nvSpPr>
        <p:spPr>
          <a:xfrm>
            <a:off x="523876" y="3349971"/>
            <a:ext cx="2000250"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SERVIZIO TECNICO</a:t>
            </a:r>
            <a:endParaRPr/>
          </a:p>
        </p:txBody>
      </p:sp>
      <p:sp>
        <p:nvSpPr>
          <p:cNvPr id="226" name="Google Shape;226;p27"/>
          <p:cNvSpPr txBox="1"/>
          <p:nvPr/>
        </p:nvSpPr>
        <p:spPr>
          <a:xfrm>
            <a:off x="2762249" y="2350143"/>
            <a:ext cx="8277225" cy="74012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CALL YOUR COUNTRY HOME </a:t>
            </a:r>
            <a:r>
              <a:rPr lang="it-IT" sz="1600">
                <a:solidFill>
                  <a:srgbClr val="002060"/>
                </a:solidFill>
                <a:latin typeface="Calibri"/>
                <a:ea typeface="Calibri"/>
                <a:cs typeface="Calibri"/>
                <a:sym typeface="Calibri"/>
              </a:rPr>
              <a:t>è L'opzione CHE prevede chiamate illimitate verso un elenco di paesi esteri al costo di </a:t>
            </a:r>
            <a:r>
              <a:rPr lang="it-IT" sz="1600" b="1">
                <a:solidFill>
                  <a:srgbClr val="002060"/>
                </a:solidFill>
                <a:latin typeface="Calibri"/>
                <a:ea typeface="Calibri"/>
                <a:cs typeface="Calibri"/>
                <a:sym typeface="Calibri"/>
              </a:rPr>
              <a:t>5€/mese</a:t>
            </a:r>
            <a:endParaRPr/>
          </a:p>
        </p:txBody>
      </p:sp>
      <p:sp>
        <p:nvSpPr>
          <p:cNvPr id="227" name="Google Shape;227;p27"/>
          <p:cNvSpPr txBox="1"/>
          <p:nvPr/>
        </p:nvSpPr>
        <p:spPr>
          <a:xfrm>
            <a:off x="523875" y="2327919"/>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CYC HOME</a:t>
            </a:r>
            <a:endParaRPr/>
          </a:p>
        </p:txBody>
      </p:sp>
      <p:sp>
        <p:nvSpPr>
          <p:cNvPr id="228" name="Google Shape;228;p27"/>
          <p:cNvSpPr txBox="1"/>
          <p:nvPr/>
        </p:nvSpPr>
        <p:spPr>
          <a:xfrm>
            <a:off x="514350" y="4636577"/>
            <a:ext cx="2009776"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PIU’ SICURI CASA</a:t>
            </a:r>
            <a:endParaRPr/>
          </a:p>
        </p:txBody>
      </p:sp>
      <p:sp>
        <p:nvSpPr>
          <p:cNvPr id="229" name="Google Shape;229;p27"/>
          <p:cNvSpPr txBox="1"/>
          <p:nvPr/>
        </p:nvSpPr>
        <p:spPr>
          <a:xfrm>
            <a:off x="2752719" y="4667298"/>
            <a:ext cx="8277225"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230" name="Google Shape;230;p27"/>
          <p:cNvSpPr txBox="1"/>
          <p:nvPr/>
        </p:nvSpPr>
        <p:spPr>
          <a:xfrm>
            <a:off x="3047036" y="2693229"/>
            <a:ext cx="60940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1" name="Google Shape;231;p27"/>
          <p:cNvSpPr txBox="1"/>
          <p:nvPr/>
        </p:nvSpPr>
        <p:spPr>
          <a:xfrm>
            <a:off x="2762249" y="5765683"/>
            <a:ext cx="8277225"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Il servizio permette la visione in Ultra HD su 4 schermi al costo di 6 Euro/mese. </a:t>
            </a:r>
            <a:endParaRPr/>
          </a:p>
          <a:p>
            <a:pPr marL="0" marR="0" lvl="0" indent="0" algn="l" rtl="0">
              <a:lnSpc>
                <a:spcPct val="90000"/>
              </a:lnSpc>
              <a:spcBef>
                <a:spcPts val="1000"/>
              </a:spcBef>
              <a:spcAft>
                <a:spcPts val="0"/>
              </a:spcAft>
              <a:buClr>
                <a:schemeClr val="dk1"/>
              </a:buClr>
              <a:buSzPts val="1600"/>
              <a:buFont typeface="Arial"/>
              <a:buNone/>
            </a:pPr>
            <a:endParaRPr sz="1600">
              <a:solidFill>
                <a:srgbClr val="002060"/>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endParaRPr sz="1600">
              <a:solidFill>
                <a:srgbClr val="002060"/>
              </a:solidFill>
              <a:latin typeface="Calibri"/>
              <a:ea typeface="Calibri"/>
              <a:cs typeface="Calibri"/>
              <a:sym typeface="Calibri"/>
            </a:endParaRPr>
          </a:p>
        </p:txBody>
      </p:sp>
      <p:sp>
        <p:nvSpPr>
          <p:cNvPr id="232" name="Google Shape;232;p27"/>
          <p:cNvSpPr txBox="1"/>
          <p:nvPr/>
        </p:nvSpPr>
        <p:spPr>
          <a:xfrm>
            <a:off x="523875" y="5776797"/>
            <a:ext cx="2009776"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NETFLIX PREMIUM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8"/>
          <p:cNvSpPr txBox="1">
            <a:spLocks noGrp="1"/>
          </p:cNvSpPr>
          <p:nvPr>
            <p:ph type="title"/>
          </p:nvPr>
        </p:nvSpPr>
        <p:spPr>
          <a:xfrm>
            <a:off x="267128" y="25709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 OFFERTE MOBILI </a:t>
            </a:r>
            <a:endParaRPr/>
          </a:p>
        </p:txBody>
      </p:sp>
      <p:sp>
        <p:nvSpPr>
          <p:cNvPr id="239" name="Google Shape;239;p28"/>
          <p:cNvSpPr txBox="1"/>
          <p:nvPr/>
        </p:nvSpPr>
        <p:spPr>
          <a:xfrm>
            <a:off x="246840" y="1076734"/>
            <a:ext cx="2566609" cy="755158"/>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1800"/>
              <a:buFont typeface="Arial"/>
              <a:buNone/>
            </a:pPr>
            <a:r>
              <a:rPr lang="it-IT" sz="1800" b="1">
                <a:solidFill>
                  <a:srgbClr val="002060"/>
                </a:solidFill>
                <a:latin typeface="Calibri"/>
                <a:ea typeface="Calibri"/>
                <a:cs typeface="Calibri"/>
                <a:sym typeface="Calibri"/>
              </a:rPr>
              <a:t>PIU’ SICURI MOBILE</a:t>
            </a:r>
            <a:endParaRPr/>
          </a:p>
        </p:txBody>
      </p:sp>
      <p:sp>
        <p:nvSpPr>
          <p:cNvPr id="240" name="Google Shape;240;p28"/>
          <p:cNvSpPr txBox="1"/>
          <p:nvPr/>
        </p:nvSpPr>
        <p:spPr>
          <a:xfrm>
            <a:off x="2762707" y="1076733"/>
            <a:ext cx="9029501" cy="755159"/>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1F3864"/>
              </a:buClr>
              <a:buSzPts val="1400"/>
              <a:buFont typeface="Arial"/>
              <a:buNone/>
            </a:pPr>
            <a:r>
              <a:rPr lang="it-IT" sz="1400">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241" name="Google Shape;241;p28"/>
          <p:cNvSpPr txBox="1"/>
          <p:nvPr/>
        </p:nvSpPr>
        <p:spPr>
          <a:xfrm>
            <a:off x="246840" y="1900429"/>
            <a:ext cx="2566609" cy="755158"/>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1800"/>
              <a:buFont typeface="Arial"/>
              <a:buNone/>
            </a:pPr>
            <a:r>
              <a:rPr lang="it-IT" sz="1800" b="1">
                <a:solidFill>
                  <a:srgbClr val="002060"/>
                </a:solidFill>
                <a:latin typeface="Calibri"/>
                <a:ea typeface="Calibri"/>
                <a:cs typeface="Calibri"/>
                <a:sym typeface="Calibri"/>
              </a:rPr>
              <a:t>PIU’ SICURI MOBILE PRO</a:t>
            </a:r>
            <a:endParaRPr/>
          </a:p>
        </p:txBody>
      </p:sp>
      <p:sp>
        <p:nvSpPr>
          <p:cNvPr id="242" name="Google Shape;242;p28"/>
          <p:cNvSpPr txBox="1"/>
          <p:nvPr/>
        </p:nvSpPr>
        <p:spPr>
          <a:xfrm>
            <a:off x="2762708" y="1900429"/>
            <a:ext cx="9029500" cy="755158"/>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1F3864"/>
              </a:buClr>
              <a:buSzPts val="1400"/>
              <a:buFont typeface="Arial"/>
              <a:buNone/>
            </a:pPr>
            <a:r>
              <a:rPr lang="it-IT" sz="1400">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3087</Words>
  <Application>Microsoft Office PowerPoint</Application>
  <PresentationFormat>Widescreen</PresentationFormat>
  <Paragraphs>172</Paragraphs>
  <Slides>14</Slides>
  <Notes>14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Calibri</vt:lpstr>
      <vt:lpstr>Montserrat Black</vt:lpstr>
      <vt:lpstr>Arial</vt:lpstr>
      <vt:lpstr>Montserrat</vt:lpstr>
      <vt:lpstr>Tema di Office</vt:lpstr>
      <vt:lpstr>FTTH OPEN FIBER &amp; NETFLIX</vt:lpstr>
      <vt:lpstr>FTTH EXTRA FIBER &amp; NETFLIX</vt:lpstr>
      <vt:lpstr>INTERNET 100/200 &amp; NETFLIX</vt:lpstr>
      <vt:lpstr>SUPER FIBRA FTTH C&amp;D &amp; NETFLIX</vt:lpstr>
      <vt:lpstr>SUPER INTERNET CASA FWA 5G OUTDOOR &amp; NETFLIX</vt:lpstr>
      <vt:lpstr>SUPER INTERNET CASA FWA 5G INDOOR &amp; NETFLIX</vt:lpstr>
      <vt:lpstr>INTERNET 100/200 NGA &amp; NETFLIX </vt:lpstr>
      <vt:lpstr>Presentazione standard di PowerPoint</vt:lpstr>
      <vt:lpstr>UNLIMITED 5G EP ONLINE CON SUPER FIBRA</vt:lpstr>
      <vt:lpstr>UNLIMITED 5G ONLINE CON SUPER FIBRA</vt:lpstr>
      <vt:lpstr>Presentazione standard di PowerPoint</vt:lpstr>
      <vt:lpstr>Presentazione standard di PowerPoint</vt:lpstr>
      <vt:lpstr>OPZIONI OFFERTE FISSE </vt:lpstr>
      <vt:lpstr>OPZIONI OFFERTE MOBILI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Claudia Martinenghi</cp:lastModifiedBy>
  <cp:revision>1</cp:revision>
  <dcterms:modified xsi:type="dcterms:W3CDTF">2026-10-05T13:02:06Z</dcterms:modified>
</cp:coreProperties>
</file>