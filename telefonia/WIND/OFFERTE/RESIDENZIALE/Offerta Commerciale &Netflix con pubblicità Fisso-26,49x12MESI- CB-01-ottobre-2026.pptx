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10" Type="http://schemas.openxmlformats.org/officeDocument/2006/relationships/slide" Target="slides/slide6.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it-IT"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 name="Google Shape;9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 name="Google Shape;9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 name="Google Shape;10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 name="Google Shape;11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 name="Google Shape;11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ue contenuti" type="twoObj">
  <p:cSld name="TWO_OBJECTS">
    <p:spTree>
      <p:nvGrpSpPr>
        <p:cNvPr id="15" name="Shape 15"/>
        <p:cNvGrpSpPr/>
        <p:nvPr/>
      </p:nvGrpSpPr>
      <p:grpSpPr>
        <a:xfrm>
          <a:off x="0" y="0"/>
          <a:ext cx="0" cy="0"/>
          <a:chOff x="0" y="0"/>
          <a:chExt cx="0" cy="0"/>
        </a:xfrm>
      </p:grpSpPr>
      <p:sp>
        <p:nvSpPr>
          <p:cNvPr id="16" name="Google Shape;16;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 name="Google Shape;18;p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 name="Google Shape;19;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titolo" type="title">
  <p:cSld name="TITLE">
    <p:spTree>
      <p:nvGrpSpPr>
        <p:cNvPr id="22" name="Shape 22"/>
        <p:cNvGrpSpPr/>
        <p:nvPr/>
      </p:nvGrpSpPr>
      <p:grpSpPr>
        <a:xfrm>
          <a:off x="0" y="0"/>
          <a:ext cx="0" cy="0"/>
          <a:chOff x="0" y="0"/>
          <a:chExt cx="0" cy="0"/>
        </a:xfrm>
      </p:grpSpPr>
      <p:sp>
        <p:nvSpPr>
          <p:cNvPr id="23" name="Google Shape;23;p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5" name="Google Shape;25;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olo e contenuto" type="obj">
  <p:cSld name="OBJECT">
    <p:spTree>
      <p:nvGrpSpPr>
        <p:cNvPr id="28" name="Shape 28"/>
        <p:cNvGrpSpPr/>
        <p:nvPr/>
      </p:nvGrpSpPr>
      <p:grpSpPr>
        <a:xfrm>
          <a:off x="0" y="0"/>
          <a:ext cx="0" cy="0"/>
          <a:chOff x="0" y="0"/>
          <a:chExt cx="0" cy="0"/>
        </a:xfrm>
      </p:grpSpPr>
      <p:sp>
        <p:nvSpPr>
          <p:cNvPr id="29" name="Google Shape;29;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 name="Google Shape;31;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stazione sezione" type="secHead">
  <p:cSld name="SECTION_HEADER">
    <p:spTree>
      <p:nvGrpSpPr>
        <p:cNvPr id="34" name="Shape 34"/>
        <p:cNvGrpSpPr/>
        <p:nvPr/>
      </p:nvGrpSpPr>
      <p:grpSpPr>
        <a:xfrm>
          <a:off x="0" y="0"/>
          <a:ext cx="0" cy="0"/>
          <a:chOff x="0" y="0"/>
          <a:chExt cx="0" cy="0"/>
        </a:xfrm>
      </p:grpSpPr>
      <p:sp>
        <p:nvSpPr>
          <p:cNvPr id="35" name="Google Shape;35;p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5"/>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7" name="Google Shape;37;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fronto" type="twoTxTwoObj">
  <p:cSld name="TWO_OBJECTS_WITH_TEXT">
    <p:spTree>
      <p:nvGrpSpPr>
        <p:cNvPr id="40" name="Shape 40"/>
        <p:cNvGrpSpPr/>
        <p:nvPr/>
      </p:nvGrpSpPr>
      <p:grpSpPr>
        <a:xfrm>
          <a:off x="0" y="0"/>
          <a:ext cx="0" cy="0"/>
          <a:chOff x="0" y="0"/>
          <a:chExt cx="0" cy="0"/>
        </a:xfrm>
      </p:grpSpPr>
      <p:sp>
        <p:nvSpPr>
          <p:cNvPr id="41" name="Google Shape;41;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titolo" type="titleOnly">
  <p:cSld name="TITLE_ONLY">
    <p:spTree>
      <p:nvGrpSpPr>
        <p:cNvPr id="49" name="Shape 49"/>
        <p:cNvGrpSpPr/>
        <p:nvPr/>
      </p:nvGrpSpPr>
      <p:grpSpPr>
        <a:xfrm>
          <a:off x="0" y="0"/>
          <a:ext cx="0" cy="0"/>
          <a:chOff x="0" y="0"/>
          <a:chExt cx="0" cy="0"/>
        </a:xfrm>
      </p:grpSpPr>
      <p:sp>
        <p:nvSpPr>
          <p:cNvPr id="50" name="Google Shape;50;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uota" type="blank">
  <p:cSld name="BLANK">
    <p:spTree>
      <p:nvGrpSpPr>
        <p:cNvPr id="54" name="Shape 54"/>
        <p:cNvGrpSpPr/>
        <p:nvPr/>
      </p:nvGrpSpPr>
      <p:grpSpPr>
        <a:xfrm>
          <a:off x="0" y="0"/>
          <a:ext cx="0" cy="0"/>
          <a:chOff x="0" y="0"/>
          <a:chExt cx="0" cy="0"/>
        </a:xfrm>
      </p:grpSpPr>
      <p:sp>
        <p:nvSpPr>
          <p:cNvPr id="55" name="Google Shape;55;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to con didascalia"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magine con didascalia"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p:nvPr>
            <p:ph idx="2" type="pic"/>
          </p:nvPr>
        </p:nvSpPr>
        <p:spPr>
          <a:xfrm>
            <a:off x="5183188" y="987425"/>
            <a:ext cx="6172200" cy="4873625"/>
          </a:xfrm>
          <a:prstGeom prst="rect">
            <a:avLst/>
          </a:prstGeom>
          <a:noFill/>
          <a:ln>
            <a:noFill/>
          </a:ln>
        </p:spPr>
      </p:sp>
      <p:sp>
        <p:nvSpPr>
          <p:cNvPr id="68" name="Google Shape;68;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olo e testo verticale"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olo e testo verticale"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it-IT"/>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slide" Target="/ppt/slides/slide6.xml"/><Relationship Id="rId4" Type="http://schemas.openxmlformats.org/officeDocument/2006/relationships/slide" Target="/ppt/slides/slide6.xml"/><Relationship Id="rId5" Type="http://schemas.openxmlformats.org/officeDocument/2006/relationships/slide" Target="/ppt/slides/slide6.xml"/><Relationship Id="rId6" Type="http://schemas.openxmlformats.org/officeDocument/2006/relationships/slide" Target="/ppt/slides/slide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slide" Target="/ppt/slides/slide6.xml"/><Relationship Id="rId4" Type="http://schemas.openxmlformats.org/officeDocument/2006/relationships/slide" Target="/ppt/slides/slide6.xml"/><Relationship Id="rId5" Type="http://schemas.openxmlformats.org/officeDocument/2006/relationships/slide" Target="/ppt/slides/slide6.xml"/><Relationship Id="rId6" Type="http://schemas.openxmlformats.org/officeDocument/2006/relationships/slide" Target="/ppt/slides/slide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slide" Target="/ppt/slides/slide6.xml"/><Relationship Id="rId4" Type="http://schemas.openxmlformats.org/officeDocument/2006/relationships/slide" Target="/ppt/slides/slide6.xml"/><Relationship Id="rId5" Type="http://schemas.openxmlformats.org/officeDocument/2006/relationships/slide" Target="/ppt/slides/slide6.xml"/><Relationship Id="rId6" Type="http://schemas.openxmlformats.org/officeDocument/2006/relationships/slide" Target="/ppt/slides/slide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slide" Target="/ppt/slides/slide6.xml"/><Relationship Id="rId4" Type="http://schemas.openxmlformats.org/officeDocument/2006/relationships/slide" Target="/ppt/slides/slide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slide" Target="/ppt/slides/slide6.xml"/><Relationship Id="rId4" Type="http://schemas.openxmlformats.org/officeDocument/2006/relationships/slide" Target="/ppt/slides/slide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3"/>
          <p:cNvSpPr txBox="1"/>
          <p:nvPr>
            <p:ph type="title"/>
          </p:nvPr>
        </p:nvSpPr>
        <p:spPr>
          <a:xfrm>
            <a:off x="-1" y="219456"/>
            <a:ext cx="11846103" cy="41508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002060"/>
              </a:buClr>
              <a:buSzPts val="3200"/>
              <a:buFont typeface="Calibri"/>
              <a:buNone/>
            </a:pPr>
            <a:r>
              <a:rPr b="1" lang="it-IT" sz="3200">
                <a:solidFill>
                  <a:srgbClr val="002060"/>
                </a:solidFill>
              </a:rPr>
              <a:t>FTTH OPEN FIBER/FTTH EXTRA &amp; NETFLIX con pubblicità</a:t>
            </a:r>
            <a:endParaRPr/>
          </a:p>
        </p:txBody>
      </p:sp>
      <p:sp>
        <p:nvSpPr>
          <p:cNvPr id="89" name="Google Shape;89;p13"/>
          <p:cNvSpPr txBox="1"/>
          <p:nvPr>
            <p:ph idx="2" type="body"/>
          </p:nvPr>
        </p:nvSpPr>
        <p:spPr>
          <a:xfrm>
            <a:off x="123290" y="985667"/>
            <a:ext cx="11846103" cy="5507729"/>
          </a:xfrm>
          <a:prstGeom prst="rect">
            <a:avLst/>
          </a:prstGeom>
          <a:noFill/>
          <a:ln cap="flat" cmpd="sng" w="9525">
            <a:solidFill>
              <a:srgbClr val="0070C0"/>
            </a:solidFill>
            <a:prstDash val="solid"/>
            <a:round/>
            <a:headEnd len="sm" w="sm" type="none"/>
            <a:tailEnd len="sm" w="sm" type="none"/>
          </a:ln>
        </p:spPr>
        <p:txBody>
          <a:bodyPr anchorCtr="0" anchor="t" bIns="45700" lIns="91425" spcFirstLastPara="1" rIns="91425" wrap="square" tIns="45700">
            <a:noAutofit/>
          </a:bodyPr>
          <a:lstStyle/>
          <a:p>
            <a:pPr indent="0" lvl="0" marL="0" rtl="0" algn="just">
              <a:lnSpc>
                <a:spcPct val="90000"/>
              </a:lnSpc>
              <a:spcBef>
                <a:spcPts val="0"/>
              </a:spcBef>
              <a:spcAft>
                <a:spcPts val="0"/>
              </a:spcAft>
              <a:buClr>
                <a:srgbClr val="1F3864"/>
              </a:buClr>
              <a:buSzPts val="1600"/>
              <a:buNone/>
            </a:pPr>
            <a:r>
              <a:rPr b="1" lang="it-IT" sz="1600">
                <a:solidFill>
                  <a:srgbClr val="1F3864"/>
                </a:solidFill>
              </a:rPr>
              <a:t>SUPER FIBRA &amp; NETFLIX con pubblicità</a:t>
            </a:r>
            <a:r>
              <a:rPr lang="it-IT" sz="1600">
                <a:solidFill>
                  <a:srgbClr val="1F3864"/>
                </a:solidFill>
              </a:rPr>
              <a:t> con modem WI-FI7: L’offerta prevede navigazione senza limiti fino a </a:t>
            </a:r>
            <a:r>
              <a:rPr b="1" lang="it-IT" sz="1600">
                <a:solidFill>
                  <a:srgbClr val="1F3864"/>
                </a:solidFill>
              </a:rPr>
              <a:t>2,5 Gigabit</a:t>
            </a:r>
            <a:r>
              <a:rPr lang="it-IT" sz="1600">
                <a:solidFill>
                  <a:srgbClr val="1F3864"/>
                </a:solidFill>
              </a:rPr>
              <a:t> a </a:t>
            </a:r>
            <a:r>
              <a:rPr b="1" lang="it-IT" sz="1600">
                <a:solidFill>
                  <a:srgbClr val="1F3864"/>
                </a:solidFill>
              </a:rPr>
              <a:t>26,49€/mese e poi a 31,49€/mese </a:t>
            </a:r>
            <a:r>
              <a:rPr lang="it-IT" sz="1600">
                <a:solidFill>
                  <a:srgbClr val="1F3864"/>
                </a:solidFill>
              </a:rPr>
              <a:t>con chiamate a 0 cent./minuto e scatto alla risposta di 23 centesimi verso numeri fissi e mobili nazionali e modem e assistenza inclusi, ad eccezione dell’anticipo del modem di 10€. Le offerte si rinnovano ogni mese. Il servizio voce viene attivato sfruttando la tecnologia VoIP. Può condividere i Giga illimitati del fisso fino ad un massimo di 3 SIM compatibili. </a:t>
            </a:r>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In più 12 mesi di Prime.</a:t>
            </a:r>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Costo di attivazione 1,99 euro al mese per 24 mesi, salvo promozioni</a:t>
            </a:r>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Riepilogando, Il costo mensile di 26,49 euro è composto, per i primi 12 mesi, da 20,50 euro al mese di servizio e Prime e 5,99 euro al mese di modem, dal 13° mese, da 25,50 euro al mese di servizio e 5,99 euro al mese di modem, dal 49° mese, da 31,49 euro al mese di servizio.  </a:t>
            </a:r>
            <a:endParaRPr/>
          </a:p>
          <a:p>
            <a:pPr indent="0" lvl="0" marL="0" rtl="0" algn="just">
              <a:lnSpc>
                <a:spcPct val="90000"/>
              </a:lnSpc>
              <a:spcBef>
                <a:spcPts val="1000"/>
              </a:spcBef>
              <a:spcAft>
                <a:spcPts val="0"/>
              </a:spcAft>
              <a:buClr>
                <a:schemeClr val="dk1"/>
              </a:buClr>
              <a:buSzPts val="1600"/>
              <a:buNone/>
            </a:pPr>
            <a:r>
              <a:t/>
            </a:r>
            <a:endParaRPr sz="1600">
              <a:solidFill>
                <a:srgbClr val="1F3864"/>
              </a:solidFill>
            </a:endParaRPr>
          </a:p>
          <a:p>
            <a:pPr indent="0" lvl="0" marL="0" rtl="0" algn="just">
              <a:lnSpc>
                <a:spcPct val="90000"/>
              </a:lnSpc>
              <a:spcBef>
                <a:spcPts val="1000"/>
              </a:spcBef>
              <a:spcAft>
                <a:spcPts val="0"/>
              </a:spcAft>
              <a:buClr>
                <a:schemeClr val="accent6"/>
              </a:buClr>
              <a:buSzPts val="1600"/>
              <a:buNone/>
            </a:pPr>
            <a:r>
              <a:rPr b="1" lang="it-IT" sz="1600">
                <a:solidFill>
                  <a:schemeClr val="accent6"/>
                </a:solidFill>
              </a:rPr>
              <a:t>in caso di aggiunta opzione Più Sicuri Casa: </a:t>
            </a:r>
            <a:r>
              <a:rPr b="1" lang="it-IT" sz="1600" u="sng">
                <a:solidFill>
                  <a:schemeClr val="hlink"/>
                </a:solidFill>
                <a:hlinkClick action="ppaction://hlinksldjump" r:id="rId3"/>
              </a:rPr>
              <a:t>CLICCA QUI</a:t>
            </a:r>
            <a:endParaRPr sz="1600">
              <a:solidFill>
                <a:srgbClr val="1F3864"/>
              </a:solidFill>
            </a:endParaRPr>
          </a:p>
          <a:p>
            <a:pPr indent="0" lvl="0" marL="0" rtl="0" algn="just">
              <a:lnSpc>
                <a:spcPct val="90000"/>
              </a:lnSpc>
              <a:spcBef>
                <a:spcPts val="1000"/>
              </a:spcBef>
              <a:spcAft>
                <a:spcPts val="0"/>
              </a:spcAft>
              <a:buClr>
                <a:schemeClr val="accent6"/>
              </a:buClr>
              <a:buSzPts val="1600"/>
              <a:buNone/>
            </a:pPr>
            <a:r>
              <a:rPr b="1" lang="it-IT" sz="1600">
                <a:solidFill>
                  <a:schemeClr val="accent6"/>
                </a:solidFill>
              </a:rPr>
              <a:t>in caso di aggiunta opzione Più Sicuri Mobile: </a:t>
            </a:r>
            <a:r>
              <a:rPr b="1" lang="it-IT" sz="1600" u="sng">
                <a:solidFill>
                  <a:schemeClr val="hlink"/>
                </a:solidFill>
                <a:hlinkClick action="ppaction://hlinksldjump" r:id="rId4"/>
              </a:rPr>
              <a:t>CLICCA QUI</a:t>
            </a:r>
            <a:endParaRPr sz="1600">
              <a:solidFill>
                <a:srgbClr val="1F3864"/>
              </a:solidFill>
            </a:endParaRPr>
          </a:p>
          <a:p>
            <a:pPr indent="0" lvl="0" marL="0" rtl="0" algn="just">
              <a:lnSpc>
                <a:spcPct val="90000"/>
              </a:lnSpc>
              <a:spcBef>
                <a:spcPts val="1000"/>
              </a:spcBef>
              <a:spcAft>
                <a:spcPts val="0"/>
              </a:spcAft>
              <a:buClr>
                <a:schemeClr val="accent6"/>
              </a:buClr>
              <a:buSzPts val="1600"/>
              <a:buNone/>
            </a:pPr>
            <a:r>
              <a:rPr b="1" lang="it-IT" sz="1600">
                <a:solidFill>
                  <a:schemeClr val="accent6"/>
                </a:solidFill>
              </a:rPr>
              <a:t>in caso di aggiunta opzione Più Sicuri Mobile PRO: </a:t>
            </a:r>
            <a:r>
              <a:rPr b="1" lang="it-IT" sz="1600" u="sng">
                <a:solidFill>
                  <a:schemeClr val="hlink"/>
                </a:solidFill>
                <a:hlinkClick action="ppaction://hlinksldjump" r:id="rId5"/>
              </a:rPr>
              <a:t>CLICCA QUI</a:t>
            </a:r>
            <a:endParaRPr sz="1600">
              <a:solidFill>
                <a:srgbClr val="1F3864"/>
              </a:solidFill>
            </a:endParaRPr>
          </a:p>
          <a:p>
            <a:pPr indent="0" lvl="0" marL="0" rtl="0" algn="just">
              <a:lnSpc>
                <a:spcPct val="90000"/>
              </a:lnSpc>
              <a:spcBef>
                <a:spcPts val="1000"/>
              </a:spcBef>
              <a:spcAft>
                <a:spcPts val="0"/>
              </a:spcAft>
              <a:buClr>
                <a:schemeClr val="accent6"/>
              </a:buClr>
              <a:buSzPts val="1600"/>
              <a:buNone/>
            </a:pPr>
            <a:r>
              <a:rPr b="1" lang="it-IT" sz="1600">
                <a:solidFill>
                  <a:schemeClr val="accent6"/>
                </a:solidFill>
              </a:rPr>
              <a:t>in caso di aggiunta opzione VOCE UNLIMITED: </a:t>
            </a:r>
            <a:r>
              <a:rPr b="1" lang="it-IT" sz="1600" u="sng">
                <a:solidFill>
                  <a:schemeClr val="hlink"/>
                </a:solidFill>
                <a:hlinkClick action="ppaction://hlinksldjump" r:id="rId6"/>
              </a:rPr>
              <a:t>CLICCA QUI</a:t>
            </a:r>
            <a:endParaRPr sz="1600">
              <a:solidFill>
                <a:srgbClr val="1F3864"/>
              </a:solidFill>
            </a:endParaRPr>
          </a:p>
          <a:p>
            <a:pPr indent="0" lvl="0" marL="0" rtl="0" algn="just">
              <a:lnSpc>
                <a:spcPct val="90000"/>
              </a:lnSpc>
              <a:spcBef>
                <a:spcPts val="1000"/>
              </a:spcBef>
              <a:spcAft>
                <a:spcPts val="0"/>
              </a:spcAft>
              <a:buClr>
                <a:schemeClr val="dk1"/>
              </a:buClr>
              <a:buSzPts val="1400"/>
              <a:buNone/>
            </a:pPr>
            <a:r>
              <a:t/>
            </a:r>
            <a:endParaRPr sz="1400">
              <a:solidFill>
                <a:srgbClr val="00206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4"/>
          <p:cNvSpPr txBox="1"/>
          <p:nvPr>
            <p:ph type="title"/>
          </p:nvPr>
        </p:nvSpPr>
        <p:spPr>
          <a:xfrm>
            <a:off x="129283" y="108272"/>
            <a:ext cx="10515600" cy="711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4400"/>
              <a:buFont typeface="Calibri"/>
              <a:buNone/>
            </a:pPr>
            <a:r>
              <a:rPr b="1" lang="it-IT">
                <a:solidFill>
                  <a:srgbClr val="002060"/>
                </a:solidFill>
              </a:rPr>
              <a:t>INTERNET 100/200 &amp; NETFLIX con pubblicità</a:t>
            </a:r>
            <a:endParaRPr/>
          </a:p>
        </p:txBody>
      </p:sp>
      <p:sp>
        <p:nvSpPr>
          <p:cNvPr id="95" name="Google Shape;95;p14"/>
          <p:cNvSpPr txBox="1"/>
          <p:nvPr>
            <p:ph idx="2" type="body"/>
          </p:nvPr>
        </p:nvSpPr>
        <p:spPr>
          <a:xfrm>
            <a:off x="129284" y="918124"/>
            <a:ext cx="11932578" cy="5831603"/>
          </a:xfrm>
          <a:prstGeom prst="rect">
            <a:avLst/>
          </a:prstGeom>
          <a:noFill/>
          <a:ln cap="flat" cmpd="sng" w="9525">
            <a:solidFill>
              <a:srgbClr val="0070C0"/>
            </a:solidFill>
            <a:prstDash val="solid"/>
            <a:round/>
            <a:headEnd len="sm" w="sm" type="none"/>
            <a:tailEnd len="sm" w="sm" type="none"/>
          </a:ln>
        </p:spPr>
        <p:txBody>
          <a:bodyPr anchorCtr="0" anchor="t" bIns="45700" lIns="91425" spcFirstLastPara="1" rIns="91425" wrap="square" tIns="45700">
            <a:noAutofit/>
          </a:bodyPr>
          <a:lstStyle/>
          <a:p>
            <a:pPr indent="0" lvl="0" marL="0" rtl="0" algn="just">
              <a:lnSpc>
                <a:spcPct val="90000"/>
              </a:lnSpc>
              <a:spcBef>
                <a:spcPts val="0"/>
              </a:spcBef>
              <a:spcAft>
                <a:spcPts val="0"/>
              </a:spcAft>
              <a:buClr>
                <a:srgbClr val="1F3864"/>
              </a:buClr>
              <a:buSzPts val="1600"/>
              <a:buNone/>
            </a:pPr>
            <a:r>
              <a:rPr b="1" lang="it-IT" sz="1600">
                <a:solidFill>
                  <a:srgbClr val="1F3864"/>
                </a:solidFill>
              </a:rPr>
              <a:t>Internet 100/200 &amp; NETFLIX con pubblicità </a:t>
            </a:r>
            <a:r>
              <a:rPr lang="it-IT" sz="1600">
                <a:solidFill>
                  <a:srgbClr val="1F3864"/>
                </a:solidFill>
              </a:rPr>
              <a:t>con modem WI-FI7</a:t>
            </a:r>
            <a:r>
              <a:rPr b="1" lang="it-IT" sz="1600">
                <a:solidFill>
                  <a:srgbClr val="1F3864"/>
                </a:solidFill>
              </a:rPr>
              <a:t>:</a:t>
            </a:r>
            <a:r>
              <a:rPr lang="it-IT" sz="1600">
                <a:solidFill>
                  <a:srgbClr val="1F3864"/>
                </a:solidFill>
              </a:rPr>
              <a:t> L’offerta prevede navigazione senza limiti fino a 200 mega </a:t>
            </a:r>
            <a:r>
              <a:rPr b="1" lang="it-IT" sz="1600">
                <a:solidFill>
                  <a:srgbClr val="1F3864"/>
                </a:solidFill>
              </a:rPr>
              <a:t>a</a:t>
            </a:r>
            <a:r>
              <a:rPr lang="it-IT" sz="1600">
                <a:solidFill>
                  <a:srgbClr val="1F3864"/>
                </a:solidFill>
              </a:rPr>
              <a:t> </a:t>
            </a:r>
            <a:r>
              <a:rPr b="1" lang="it-IT" sz="1600">
                <a:solidFill>
                  <a:srgbClr val="1F3864"/>
                </a:solidFill>
              </a:rPr>
              <a:t>26,49€/mese e poi a 31,49€/mese </a:t>
            </a:r>
            <a:r>
              <a:rPr lang="it-IT" sz="1600">
                <a:solidFill>
                  <a:srgbClr val="1F3864"/>
                </a:solidFill>
              </a:rPr>
              <a:t>con chiamate a 0 cent./minuto e scatto alla risposta di 23 centesimi verso numeri fissi e mobili nazionali e modem e assistenza inclusi, ad eccezione dell’anticipo del modem di 10€. Le offerte si rinnovano ogni mese. Il servizio voce viene attivato sfruttando la tecnologia VoIP. Può condividere i Giga illimitati del fisso fino ad un massimo di 3 SIM compatibili. </a:t>
            </a:r>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In più 12 mesi di Prime.</a:t>
            </a:r>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Costo di attivazione 1,99 euro al mese per 24 mesi, salvo promozioni </a:t>
            </a:r>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Riepilogando, Il costo mensile di 26,49 euro è composto, per i primi 12 mesi, da 20,50 euro al mese di servizio e Prime e 5,99 euro al mese di modem, dal 13° mese, da 25,50 euro al mese di servizio e 5,99 euro al mese di modem, dal 49° mese, da 31,49 euro al mese di servizio.  </a:t>
            </a:r>
            <a:endParaRPr/>
          </a:p>
          <a:p>
            <a:pPr indent="0" lvl="0" marL="0" rtl="0" algn="just">
              <a:lnSpc>
                <a:spcPct val="90000"/>
              </a:lnSpc>
              <a:spcBef>
                <a:spcPts val="1000"/>
              </a:spcBef>
              <a:spcAft>
                <a:spcPts val="0"/>
              </a:spcAft>
              <a:buClr>
                <a:schemeClr val="dk1"/>
              </a:buClr>
              <a:buSzPts val="1600"/>
              <a:buNone/>
            </a:pPr>
            <a:r>
              <a:t/>
            </a:r>
            <a:endParaRPr sz="1600">
              <a:solidFill>
                <a:srgbClr val="1F3864"/>
              </a:solidFill>
            </a:endParaRPr>
          </a:p>
          <a:p>
            <a:pPr indent="0" lvl="0" marL="0" rtl="0" algn="just">
              <a:lnSpc>
                <a:spcPct val="90000"/>
              </a:lnSpc>
              <a:spcBef>
                <a:spcPts val="1000"/>
              </a:spcBef>
              <a:spcAft>
                <a:spcPts val="0"/>
              </a:spcAft>
              <a:buClr>
                <a:schemeClr val="accent6"/>
              </a:buClr>
              <a:buSzPts val="1600"/>
              <a:buNone/>
            </a:pPr>
            <a:r>
              <a:rPr b="1" lang="it-IT" sz="1600">
                <a:solidFill>
                  <a:schemeClr val="accent6"/>
                </a:solidFill>
              </a:rPr>
              <a:t>in caso di aggiunta opzione Più Sicuri Casa: </a:t>
            </a:r>
            <a:r>
              <a:rPr b="1" lang="it-IT" sz="1600" u="sng">
                <a:solidFill>
                  <a:schemeClr val="hlink"/>
                </a:solidFill>
                <a:hlinkClick action="ppaction://hlinksldjump" r:id="rId3"/>
              </a:rPr>
              <a:t>CLICCA QUI</a:t>
            </a:r>
            <a:endParaRPr sz="1600">
              <a:solidFill>
                <a:srgbClr val="1F3864"/>
              </a:solidFill>
            </a:endParaRPr>
          </a:p>
          <a:p>
            <a:pPr indent="0" lvl="0" marL="0" rtl="0" algn="just">
              <a:lnSpc>
                <a:spcPct val="90000"/>
              </a:lnSpc>
              <a:spcBef>
                <a:spcPts val="1000"/>
              </a:spcBef>
              <a:spcAft>
                <a:spcPts val="0"/>
              </a:spcAft>
              <a:buClr>
                <a:schemeClr val="accent6"/>
              </a:buClr>
              <a:buSzPts val="1600"/>
              <a:buNone/>
            </a:pPr>
            <a:r>
              <a:rPr b="1" lang="it-IT" sz="1600">
                <a:solidFill>
                  <a:schemeClr val="accent6"/>
                </a:solidFill>
              </a:rPr>
              <a:t>in caso di aggiunta opzione Più Sicuri Mobile: </a:t>
            </a:r>
            <a:r>
              <a:rPr b="1" lang="it-IT" sz="1600" u="sng">
                <a:solidFill>
                  <a:schemeClr val="hlink"/>
                </a:solidFill>
                <a:hlinkClick action="ppaction://hlinksldjump" r:id="rId4"/>
              </a:rPr>
              <a:t>CLICCA QUI</a:t>
            </a:r>
            <a:endParaRPr sz="1600">
              <a:solidFill>
                <a:srgbClr val="1F3864"/>
              </a:solidFill>
            </a:endParaRPr>
          </a:p>
          <a:p>
            <a:pPr indent="0" lvl="0" marL="0" rtl="0" algn="just">
              <a:lnSpc>
                <a:spcPct val="90000"/>
              </a:lnSpc>
              <a:spcBef>
                <a:spcPts val="1000"/>
              </a:spcBef>
              <a:spcAft>
                <a:spcPts val="0"/>
              </a:spcAft>
              <a:buClr>
                <a:schemeClr val="accent6"/>
              </a:buClr>
              <a:buSzPts val="1600"/>
              <a:buNone/>
            </a:pPr>
            <a:r>
              <a:rPr b="1" lang="it-IT" sz="1600">
                <a:solidFill>
                  <a:schemeClr val="accent6"/>
                </a:solidFill>
              </a:rPr>
              <a:t>in caso di aggiunta opzione Più Sicuri Mobile PRO: </a:t>
            </a:r>
            <a:r>
              <a:rPr b="1" lang="it-IT" sz="1600" u="sng">
                <a:solidFill>
                  <a:schemeClr val="hlink"/>
                </a:solidFill>
                <a:hlinkClick action="ppaction://hlinksldjump" r:id="rId5"/>
              </a:rPr>
              <a:t>CLICCA QUI</a:t>
            </a:r>
            <a:endParaRPr sz="1600">
              <a:solidFill>
                <a:srgbClr val="1F3864"/>
              </a:solidFill>
            </a:endParaRPr>
          </a:p>
          <a:p>
            <a:pPr indent="0" lvl="0" marL="0" rtl="0" algn="just">
              <a:lnSpc>
                <a:spcPct val="90000"/>
              </a:lnSpc>
              <a:spcBef>
                <a:spcPts val="1000"/>
              </a:spcBef>
              <a:spcAft>
                <a:spcPts val="0"/>
              </a:spcAft>
              <a:buClr>
                <a:schemeClr val="accent6"/>
              </a:buClr>
              <a:buSzPts val="1600"/>
              <a:buNone/>
            </a:pPr>
            <a:r>
              <a:rPr b="1" lang="it-IT" sz="1600">
                <a:solidFill>
                  <a:schemeClr val="accent6"/>
                </a:solidFill>
              </a:rPr>
              <a:t>in caso di aggiunta opzione VOCE UNLIMITED: </a:t>
            </a:r>
            <a:r>
              <a:rPr b="1" lang="it-IT" sz="1600" u="sng">
                <a:solidFill>
                  <a:schemeClr val="hlink"/>
                </a:solidFill>
                <a:hlinkClick action="ppaction://hlinksldjump" r:id="rId6"/>
              </a:rPr>
              <a:t>CLICCA QUI</a:t>
            </a:r>
            <a:endParaRPr sz="1600">
              <a:solidFill>
                <a:srgbClr val="1F3864"/>
              </a:solidFill>
            </a:endParaRPr>
          </a:p>
          <a:p>
            <a:pPr indent="0" lvl="0" marL="0" rtl="0" algn="just">
              <a:lnSpc>
                <a:spcPct val="90000"/>
              </a:lnSpc>
              <a:spcBef>
                <a:spcPts val="1000"/>
              </a:spcBef>
              <a:spcAft>
                <a:spcPts val="0"/>
              </a:spcAft>
              <a:buClr>
                <a:schemeClr val="dk1"/>
              </a:buClr>
              <a:buSzPts val="1400"/>
              <a:buNone/>
            </a:pPr>
            <a:r>
              <a:t/>
            </a:r>
            <a:endParaRPr sz="1400">
              <a:solidFill>
                <a:srgbClr val="00206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5"/>
          <p:cNvSpPr txBox="1"/>
          <p:nvPr>
            <p:ph type="title"/>
          </p:nvPr>
        </p:nvSpPr>
        <p:spPr>
          <a:xfrm>
            <a:off x="150686" y="-12557"/>
            <a:ext cx="12259027" cy="7112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002060"/>
              </a:buClr>
              <a:buSzPct val="100000"/>
              <a:buFont typeface="Calibri"/>
              <a:buNone/>
            </a:pPr>
            <a:r>
              <a:rPr b="1" lang="it-IT">
                <a:solidFill>
                  <a:srgbClr val="002060"/>
                </a:solidFill>
              </a:rPr>
              <a:t>SUPER FIBRA FTTH AREE BIANCHE &amp; NETFLIX con pubblicità</a:t>
            </a:r>
            <a:endParaRPr/>
          </a:p>
        </p:txBody>
      </p:sp>
      <p:sp>
        <p:nvSpPr>
          <p:cNvPr id="101" name="Google Shape;101;p15"/>
          <p:cNvSpPr txBox="1"/>
          <p:nvPr>
            <p:ph idx="2" type="body"/>
          </p:nvPr>
        </p:nvSpPr>
        <p:spPr>
          <a:xfrm>
            <a:off x="153501" y="625785"/>
            <a:ext cx="11876926" cy="6181415"/>
          </a:xfrm>
          <a:prstGeom prst="rect">
            <a:avLst/>
          </a:prstGeom>
          <a:noFill/>
          <a:ln cap="flat" cmpd="sng" w="9525">
            <a:solidFill>
              <a:srgbClr val="0070C0"/>
            </a:solidFill>
            <a:prstDash val="solid"/>
            <a:round/>
            <a:headEnd len="sm" w="sm" type="none"/>
            <a:tailEnd len="sm" w="sm" type="none"/>
          </a:ln>
        </p:spPr>
        <p:txBody>
          <a:bodyPr anchorCtr="0" anchor="t" bIns="45700" lIns="91425" spcFirstLastPara="1" rIns="91425" wrap="square" tIns="45700">
            <a:noAutofit/>
          </a:bodyPr>
          <a:lstStyle/>
          <a:p>
            <a:pPr indent="0" lvl="0" marL="0" rtl="0" algn="just">
              <a:lnSpc>
                <a:spcPct val="90000"/>
              </a:lnSpc>
              <a:spcBef>
                <a:spcPts val="0"/>
              </a:spcBef>
              <a:spcAft>
                <a:spcPts val="0"/>
              </a:spcAft>
              <a:buClr>
                <a:srgbClr val="1F3864"/>
              </a:buClr>
              <a:buSzPts val="1600"/>
              <a:buNone/>
            </a:pPr>
            <a:r>
              <a:rPr b="1" lang="it-IT" sz="1600">
                <a:solidFill>
                  <a:srgbClr val="1F3864"/>
                </a:solidFill>
              </a:rPr>
              <a:t>SUPER FIBRA FTTH AREE BIANCHE &amp; NETFLIX con pubblicità </a:t>
            </a:r>
            <a:r>
              <a:rPr lang="it-IT" sz="1600">
                <a:solidFill>
                  <a:srgbClr val="1F3864"/>
                </a:solidFill>
              </a:rPr>
              <a:t>con modem WI-FI7</a:t>
            </a:r>
            <a:r>
              <a:rPr b="1" lang="it-IT" sz="1600">
                <a:solidFill>
                  <a:srgbClr val="1F3864"/>
                </a:solidFill>
              </a:rPr>
              <a:t>:</a:t>
            </a:r>
            <a:r>
              <a:rPr lang="it-IT" sz="1600">
                <a:solidFill>
                  <a:srgbClr val="1F3864"/>
                </a:solidFill>
              </a:rPr>
              <a:t> l’offerta prevede navigazione senza limiti fino </a:t>
            </a:r>
            <a:r>
              <a:rPr b="1" lang="it-IT" sz="1600">
                <a:solidFill>
                  <a:srgbClr val="1F3864"/>
                </a:solidFill>
              </a:rPr>
              <a:t>a 1 Gigabit a 26,49€/mese e poi a 31,49€/mese </a:t>
            </a:r>
            <a:r>
              <a:rPr lang="it-IT" sz="1600">
                <a:solidFill>
                  <a:srgbClr val="1F3864"/>
                </a:solidFill>
              </a:rPr>
              <a:t>con chiamate a 0 cent./minuto e scatto alla risposta di 23 centesimi verso numeri fissi e mobili nazionali e modem e assistenza inclusi, ad eccezione dell’anticipo del modem di 10€. Le offerte si rinnovano ogni mese. Il servizio voce viene attivato sfruttando la tecnologia VoIP. Può condividere i Giga illimitati del fisso fino ad un massimo di 3 SIM compatibili. </a:t>
            </a:r>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In più 12 mesi di Prime.</a:t>
            </a:r>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Costo di attivazione 1,99 euro al mese per 24 mesi, salvo promozioni </a:t>
            </a:r>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Riepilogando, Il costo mensile di 26,49 euro è composto, per i primi 12 mesi, da 20,50 euro al mese di servizio e Prime e 5,99 euro al mese di modem, dal 13° mese, da 25,50 euro al mese di servizio e 5,99 euro al mese di modem, dal 49° mese, da 31,49 euro al mese di servizio.  </a:t>
            </a:r>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La informiamo che per l'offerta SUPER FIBRA IN AREE BIANCHE date le particolari condizioni urbanistiche e geografiche, cercheremo di riutilizzare eventuali strutture preesistenti per il cablaggio della fibra ma dove questo non sia possibile, potrebbe essere necessario realizzare interventi che comporterebbero l’allungamento dei tempi di attivazione oltre i 30 giorni</a:t>
            </a:r>
            <a:endParaRPr/>
          </a:p>
          <a:p>
            <a:pPr indent="0" lvl="0" marL="0" rtl="0" algn="just">
              <a:lnSpc>
                <a:spcPct val="90000"/>
              </a:lnSpc>
              <a:spcBef>
                <a:spcPts val="1000"/>
              </a:spcBef>
              <a:spcAft>
                <a:spcPts val="0"/>
              </a:spcAft>
              <a:buClr>
                <a:schemeClr val="dk1"/>
              </a:buClr>
              <a:buSzPts val="1600"/>
              <a:buNone/>
            </a:pPr>
            <a:r>
              <a:t/>
            </a:r>
            <a:endParaRPr sz="1600">
              <a:solidFill>
                <a:srgbClr val="1F3864"/>
              </a:solidFill>
            </a:endParaRPr>
          </a:p>
          <a:p>
            <a:pPr indent="0" lvl="0" marL="0" rtl="0" algn="just">
              <a:lnSpc>
                <a:spcPct val="90000"/>
              </a:lnSpc>
              <a:spcBef>
                <a:spcPts val="1000"/>
              </a:spcBef>
              <a:spcAft>
                <a:spcPts val="0"/>
              </a:spcAft>
              <a:buClr>
                <a:schemeClr val="accent6"/>
              </a:buClr>
              <a:buSzPts val="1600"/>
              <a:buNone/>
            </a:pPr>
            <a:r>
              <a:rPr b="1" lang="it-IT" sz="1600">
                <a:solidFill>
                  <a:schemeClr val="accent6"/>
                </a:solidFill>
              </a:rPr>
              <a:t>in caso di aggiunta opzione Più Sicuri Casa: </a:t>
            </a:r>
            <a:r>
              <a:rPr b="1" lang="it-IT" sz="1600" u="sng">
                <a:solidFill>
                  <a:schemeClr val="hlink"/>
                </a:solidFill>
                <a:hlinkClick action="ppaction://hlinksldjump" r:id="rId3"/>
              </a:rPr>
              <a:t>CLICCA QUI</a:t>
            </a:r>
            <a:endParaRPr sz="1600">
              <a:solidFill>
                <a:srgbClr val="1F3864"/>
              </a:solidFill>
            </a:endParaRPr>
          </a:p>
          <a:p>
            <a:pPr indent="0" lvl="0" marL="0" rtl="0" algn="just">
              <a:lnSpc>
                <a:spcPct val="90000"/>
              </a:lnSpc>
              <a:spcBef>
                <a:spcPts val="1000"/>
              </a:spcBef>
              <a:spcAft>
                <a:spcPts val="0"/>
              </a:spcAft>
              <a:buClr>
                <a:schemeClr val="accent6"/>
              </a:buClr>
              <a:buSzPts val="1600"/>
              <a:buNone/>
            </a:pPr>
            <a:r>
              <a:rPr b="1" lang="it-IT" sz="1600">
                <a:solidFill>
                  <a:schemeClr val="accent6"/>
                </a:solidFill>
              </a:rPr>
              <a:t>in caso di aggiunta opzione Più Sicuri Mobile: </a:t>
            </a:r>
            <a:r>
              <a:rPr b="1" lang="it-IT" sz="1600" u="sng">
                <a:solidFill>
                  <a:schemeClr val="hlink"/>
                </a:solidFill>
                <a:hlinkClick action="ppaction://hlinksldjump" r:id="rId4"/>
              </a:rPr>
              <a:t>CLICCA QUI</a:t>
            </a:r>
            <a:endParaRPr sz="1600">
              <a:solidFill>
                <a:srgbClr val="1F3864"/>
              </a:solidFill>
            </a:endParaRPr>
          </a:p>
          <a:p>
            <a:pPr indent="0" lvl="0" marL="0" rtl="0" algn="just">
              <a:lnSpc>
                <a:spcPct val="90000"/>
              </a:lnSpc>
              <a:spcBef>
                <a:spcPts val="1000"/>
              </a:spcBef>
              <a:spcAft>
                <a:spcPts val="0"/>
              </a:spcAft>
              <a:buClr>
                <a:schemeClr val="accent6"/>
              </a:buClr>
              <a:buSzPts val="1600"/>
              <a:buNone/>
            </a:pPr>
            <a:r>
              <a:rPr b="1" lang="it-IT" sz="1600">
                <a:solidFill>
                  <a:schemeClr val="accent6"/>
                </a:solidFill>
              </a:rPr>
              <a:t>in caso di aggiunta opzione Più Sicuri Mobile PRO: </a:t>
            </a:r>
            <a:r>
              <a:rPr b="1" lang="it-IT" sz="1600" u="sng">
                <a:solidFill>
                  <a:schemeClr val="hlink"/>
                </a:solidFill>
                <a:hlinkClick action="ppaction://hlinksldjump" r:id="rId5"/>
              </a:rPr>
              <a:t>CLICCA QUI</a:t>
            </a:r>
            <a:endParaRPr sz="1600">
              <a:solidFill>
                <a:srgbClr val="1F3864"/>
              </a:solidFill>
            </a:endParaRPr>
          </a:p>
          <a:p>
            <a:pPr indent="0" lvl="0" marL="0" rtl="0" algn="just">
              <a:lnSpc>
                <a:spcPct val="90000"/>
              </a:lnSpc>
              <a:spcBef>
                <a:spcPts val="1000"/>
              </a:spcBef>
              <a:spcAft>
                <a:spcPts val="0"/>
              </a:spcAft>
              <a:buClr>
                <a:schemeClr val="accent6"/>
              </a:buClr>
              <a:buSzPts val="1600"/>
              <a:buNone/>
            </a:pPr>
            <a:r>
              <a:rPr b="1" lang="it-IT" sz="1600">
                <a:solidFill>
                  <a:schemeClr val="accent6"/>
                </a:solidFill>
              </a:rPr>
              <a:t>in caso di aggiunta opzione VOCE UNLIMITED: </a:t>
            </a:r>
            <a:r>
              <a:rPr b="1" lang="it-IT" sz="1600" u="sng">
                <a:solidFill>
                  <a:schemeClr val="hlink"/>
                </a:solidFill>
                <a:hlinkClick action="ppaction://hlinksldjump" r:id="rId6"/>
              </a:rPr>
              <a:t>CLICCA QUI</a:t>
            </a:r>
            <a:endParaRPr sz="1600">
              <a:solidFill>
                <a:srgbClr val="1F3864"/>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6"/>
          <p:cNvSpPr txBox="1"/>
          <p:nvPr>
            <p:ph type="title"/>
          </p:nvPr>
        </p:nvSpPr>
        <p:spPr>
          <a:xfrm>
            <a:off x="0" y="0"/>
            <a:ext cx="12268200" cy="7112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002060"/>
              </a:buClr>
              <a:buSzPct val="100000"/>
              <a:buFont typeface="Calibri"/>
              <a:buNone/>
            </a:pPr>
            <a:r>
              <a:rPr b="1" lang="it-IT">
                <a:solidFill>
                  <a:srgbClr val="002060"/>
                </a:solidFill>
              </a:rPr>
              <a:t>SUPER INTERNET CASA FWA 5G &amp; NETFLIX con pubblicità</a:t>
            </a:r>
            <a:endParaRPr/>
          </a:p>
        </p:txBody>
      </p:sp>
      <p:sp>
        <p:nvSpPr>
          <p:cNvPr id="107" name="Google Shape;107;p16"/>
          <p:cNvSpPr txBox="1"/>
          <p:nvPr>
            <p:ph idx="2" type="body"/>
          </p:nvPr>
        </p:nvSpPr>
        <p:spPr>
          <a:xfrm>
            <a:off x="137161" y="711199"/>
            <a:ext cx="11873330" cy="6146801"/>
          </a:xfrm>
          <a:prstGeom prst="rect">
            <a:avLst/>
          </a:prstGeom>
          <a:noFill/>
          <a:ln cap="flat" cmpd="sng" w="9525">
            <a:solidFill>
              <a:srgbClr val="0070C0"/>
            </a:solidFill>
            <a:prstDash val="solid"/>
            <a:round/>
            <a:headEnd len="sm" w="sm" type="none"/>
            <a:tailEnd len="sm" w="sm" type="none"/>
          </a:ln>
        </p:spPr>
        <p:txBody>
          <a:bodyPr anchorCtr="0" anchor="t" bIns="45700" lIns="91425" spcFirstLastPara="1" rIns="91425" wrap="square" tIns="45700">
            <a:noAutofit/>
          </a:bodyPr>
          <a:lstStyle/>
          <a:p>
            <a:pPr indent="0" lvl="0" marL="0" rtl="0" algn="just">
              <a:lnSpc>
                <a:spcPct val="90000"/>
              </a:lnSpc>
              <a:spcBef>
                <a:spcPts val="0"/>
              </a:spcBef>
              <a:spcAft>
                <a:spcPts val="0"/>
              </a:spcAft>
              <a:buClr>
                <a:srgbClr val="1F3864"/>
              </a:buClr>
              <a:buSzPts val="1600"/>
              <a:buNone/>
            </a:pPr>
            <a:r>
              <a:rPr b="1" lang="it-IT" sz="1600">
                <a:solidFill>
                  <a:srgbClr val="1F3864"/>
                </a:solidFill>
              </a:rPr>
              <a:t>Super Internet Casa FWA 5G &amp; NETFLIX con pubblicità </a:t>
            </a:r>
            <a:r>
              <a:rPr lang="it-IT" sz="1600">
                <a:solidFill>
                  <a:srgbClr val="1F3864"/>
                </a:solidFill>
              </a:rPr>
              <a:t>con modem WI-FI7.</a:t>
            </a:r>
            <a:r>
              <a:rPr b="1" lang="it-IT" sz="1600">
                <a:solidFill>
                  <a:srgbClr val="1F3864"/>
                </a:solidFill>
              </a:rPr>
              <a:t> </a:t>
            </a:r>
            <a:r>
              <a:rPr lang="it-IT" sz="1600">
                <a:solidFill>
                  <a:srgbClr val="1F3864"/>
                </a:solidFill>
              </a:rPr>
              <a:t>L’offerta prevede navigazione senza limiti fino a 300 mega </a:t>
            </a:r>
            <a:r>
              <a:rPr b="1" lang="it-IT" sz="1600">
                <a:solidFill>
                  <a:srgbClr val="1F3864"/>
                </a:solidFill>
              </a:rPr>
              <a:t>a 26,49€/mese e poi a 31,49€/mese </a:t>
            </a:r>
            <a:r>
              <a:rPr lang="it-IT" sz="1600">
                <a:solidFill>
                  <a:srgbClr val="1F3864"/>
                </a:solidFill>
              </a:rPr>
              <a:t>con chiamate a 0 cent./minuto e scatto alla risposta di 23 centesimi verso numeri fissi e mobili nazionali e modem, antenna e assistenza inclusi, ad eccezione dell’anticipo del modem di 10€. Le offerte si rinnovano ogni mese. Il servizio voce viene attivato sfruttando la tecnologia VoIP. Può condividere i Giga illimitati del fisso fino ad un massimo di 3 SIM compatibili. </a:t>
            </a:r>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In più 12 mesi di Prime.</a:t>
            </a:r>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Costo di attivazione 1,99 euro al mese per 24 mesi, salvo promozioni </a:t>
            </a:r>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Riepilogando, il costo mensile di 26,49 euro è composto, per i primi 12 mesi, da 13,50 euro al mese di servizio e Prime e 3 euro di rata del modem e 9,99 euro dell’antenna, dal 13° mese, da 18,50 euro di servizio e 3 euro di rata del modem e 9,99 euro dell’antenna, poi dal 49° mese 31,49 euro di servizio.</a:t>
            </a:r>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Il servizio FWA outdoor prevede l’installazione da parte di un tecnico, sarà quindi </a:t>
            </a:r>
            <a:r>
              <a:rPr b="1" lang="it-IT" sz="1600" u="sng">
                <a:solidFill>
                  <a:srgbClr val="1F3864"/>
                </a:solidFill>
              </a:rPr>
              <a:t>contattato per prendere un appuntamento per l’installazione</a:t>
            </a:r>
            <a:r>
              <a:rPr lang="it-IT" sz="1600">
                <a:solidFill>
                  <a:srgbClr val="1F3864"/>
                </a:solidFill>
              </a:rPr>
              <a:t>.</a:t>
            </a:r>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Il servizio prevede un’antenna installata all’esterno dell’abitazione nella posizione di migliore copertura mobile ed un modem interno, il cui collegamento avverrà tramite cavo ethernet. Nel corso dell’appuntamento si capirà se c’è esigenza di servizi extra (es installare l’antenna sul tetto invece che sul balcone, o se si è in presenza di cappotto termico) e se gestibile la richiesta.</a:t>
            </a:r>
            <a:endParaRPr/>
          </a:p>
          <a:p>
            <a:pPr indent="0" lvl="0" marL="0" rtl="0" algn="just">
              <a:lnSpc>
                <a:spcPct val="90000"/>
              </a:lnSpc>
              <a:spcBef>
                <a:spcPts val="1000"/>
              </a:spcBef>
              <a:spcAft>
                <a:spcPts val="0"/>
              </a:spcAft>
              <a:buClr>
                <a:schemeClr val="accent6"/>
              </a:buClr>
              <a:buSzPts val="1600"/>
              <a:buNone/>
            </a:pPr>
            <a:r>
              <a:rPr b="1" lang="it-IT" sz="1600">
                <a:solidFill>
                  <a:schemeClr val="accent6"/>
                </a:solidFill>
              </a:rPr>
              <a:t>in caso di aggiunta opzione Più Sicuri Casa: </a:t>
            </a:r>
            <a:r>
              <a:rPr b="1" lang="it-IT" sz="1600" u="sng">
                <a:solidFill>
                  <a:schemeClr val="hlink"/>
                </a:solidFill>
                <a:hlinkClick action="ppaction://hlinksldjump" r:id="rId3"/>
              </a:rPr>
              <a:t>CLICCA QUI</a:t>
            </a:r>
            <a:endParaRPr sz="1600">
              <a:solidFill>
                <a:srgbClr val="1F3864"/>
              </a:solidFill>
            </a:endParaRPr>
          </a:p>
          <a:p>
            <a:pPr indent="0" lvl="0" marL="0" rtl="0" algn="just">
              <a:lnSpc>
                <a:spcPct val="90000"/>
              </a:lnSpc>
              <a:spcBef>
                <a:spcPts val="1000"/>
              </a:spcBef>
              <a:spcAft>
                <a:spcPts val="0"/>
              </a:spcAft>
              <a:buClr>
                <a:schemeClr val="accent6"/>
              </a:buClr>
              <a:buSzPts val="1600"/>
              <a:buNone/>
            </a:pPr>
            <a:r>
              <a:rPr b="1" lang="it-IT" sz="1600">
                <a:solidFill>
                  <a:schemeClr val="accent6"/>
                </a:solidFill>
              </a:rPr>
              <a:t>in caso di aggiunta opzione VOCE UNLIMITED: </a:t>
            </a:r>
            <a:r>
              <a:rPr b="1" lang="it-IT" sz="1600" u="sng">
                <a:solidFill>
                  <a:schemeClr val="hlink"/>
                </a:solidFill>
                <a:hlinkClick action="ppaction://hlinksldjump" r:id="rId4"/>
              </a:rPr>
              <a:t>CLICCA QUI</a:t>
            </a:r>
            <a:endParaRPr sz="1600">
              <a:solidFill>
                <a:srgbClr val="1F3864"/>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7"/>
          <p:cNvSpPr txBox="1"/>
          <p:nvPr>
            <p:ph type="title"/>
          </p:nvPr>
        </p:nvSpPr>
        <p:spPr>
          <a:xfrm>
            <a:off x="0" y="0"/>
            <a:ext cx="12268200" cy="711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3600"/>
              <a:buFont typeface="Calibri"/>
              <a:buNone/>
            </a:pPr>
            <a:r>
              <a:rPr b="1" lang="it-IT" sz="3600">
                <a:solidFill>
                  <a:srgbClr val="002060"/>
                </a:solidFill>
              </a:rPr>
              <a:t>SUPER INTERNET CASA 5G FWA INDOOR &amp; NETFLIX con pubblicità</a:t>
            </a:r>
            <a:endParaRPr/>
          </a:p>
        </p:txBody>
      </p:sp>
      <p:sp>
        <p:nvSpPr>
          <p:cNvPr id="113" name="Google Shape;113;p17"/>
          <p:cNvSpPr txBox="1"/>
          <p:nvPr>
            <p:ph idx="2" type="body"/>
          </p:nvPr>
        </p:nvSpPr>
        <p:spPr>
          <a:xfrm>
            <a:off x="137161" y="798288"/>
            <a:ext cx="11873330" cy="4807858"/>
          </a:xfrm>
          <a:prstGeom prst="rect">
            <a:avLst/>
          </a:prstGeom>
          <a:noFill/>
          <a:ln cap="flat" cmpd="sng" w="9525">
            <a:solidFill>
              <a:srgbClr val="0070C0"/>
            </a:solidFill>
            <a:prstDash val="solid"/>
            <a:round/>
            <a:headEnd len="sm" w="sm" type="none"/>
            <a:tailEnd len="sm" w="sm" type="none"/>
          </a:ln>
        </p:spPr>
        <p:txBody>
          <a:bodyPr anchorCtr="0" anchor="t" bIns="45700" lIns="91425" spcFirstLastPara="1" rIns="91425" wrap="square" tIns="45700">
            <a:noAutofit/>
          </a:bodyPr>
          <a:lstStyle/>
          <a:p>
            <a:pPr indent="0" lvl="0" marL="0" rtl="0" algn="just">
              <a:lnSpc>
                <a:spcPct val="90000"/>
              </a:lnSpc>
              <a:spcBef>
                <a:spcPts val="0"/>
              </a:spcBef>
              <a:spcAft>
                <a:spcPts val="0"/>
              </a:spcAft>
              <a:buClr>
                <a:srgbClr val="1F3864"/>
              </a:buClr>
              <a:buSzPts val="1600"/>
              <a:buNone/>
            </a:pPr>
            <a:r>
              <a:rPr b="1" lang="it-IT" sz="1600">
                <a:solidFill>
                  <a:srgbClr val="1F3864"/>
                </a:solidFill>
              </a:rPr>
              <a:t>Super Internet Casa 5G FWA INDOOR &amp; NETFLIX con pubblicità </a:t>
            </a:r>
            <a:r>
              <a:rPr lang="it-IT" sz="1600">
                <a:solidFill>
                  <a:srgbClr val="1F3864"/>
                </a:solidFill>
              </a:rPr>
              <a:t>con modem WI-FI7. L’offerta prevede navigazione senza limiti fino a 300 mega </a:t>
            </a:r>
            <a:r>
              <a:rPr b="1" lang="it-IT" sz="1600">
                <a:solidFill>
                  <a:srgbClr val="1F3864"/>
                </a:solidFill>
              </a:rPr>
              <a:t>a 26,49€/mese e poi a 31,49€/mese </a:t>
            </a:r>
            <a:r>
              <a:rPr lang="it-IT" sz="1600">
                <a:solidFill>
                  <a:srgbClr val="1F3864"/>
                </a:solidFill>
              </a:rPr>
              <a:t>con chiamate a 0 cent./minuto e scatto alla risposta di 23 centesimi verso numeri fissi e mobili nazionali e modem e assistenza inclusi, ad eccezione dell’anticipo del modem di 10€. Le offerte si rinnovano ogni mese. Il servizio voce viene attivato sfruttando la tecnologia VoIP. Può condividere i Giga illimitati del fisso fino ad un massimo di 3 SIM compatibili. </a:t>
            </a:r>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In più 12 mesi di Prime.</a:t>
            </a:r>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Costo di attivazione 1,99 euro al mese per 24 mesi, salvo promozioni </a:t>
            </a:r>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Riepilogando, Il costo mensile di 26,49 euro è composto, per i primi 12 mesi, da 20,50 euro al mese di servizio e Prime e 5,99 euro al mese di modem, dal 13° mese, da 25,50 euro al mese di servizio e 5,99 euro al mese di modem, dal 49° mese, da 31,49 euro al mese di servizio.  </a:t>
            </a:r>
            <a:endParaRPr/>
          </a:p>
          <a:p>
            <a:pPr indent="0" lvl="0" marL="0" rtl="0" algn="just">
              <a:lnSpc>
                <a:spcPct val="90000"/>
              </a:lnSpc>
              <a:spcBef>
                <a:spcPts val="1000"/>
              </a:spcBef>
              <a:spcAft>
                <a:spcPts val="0"/>
              </a:spcAft>
              <a:buClr>
                <a:schemeClr val="dk1"/>
              </a:buClr>
              <a:buSzPts val="1600"/>
              <a:buNone/>
            </a:pPr>
            <a:r>
              <a:t/>
            </a:r>
            <a:endParaRPr sz="1600">
              <a:solidFill>
                <a:srgbClr val="1F3864"/>
              </a:solidFill>
            </a:endParaRPr>
          </a:p>
          <a:p>
            <a:pPr indent="0" lvl="0" marL="0" rtl="0" algn="just">
              <a:lnSpc>
                <a:spcPct val="90000"/>
              </a:lnSpc>
              <a:spcBef>
                <a:spcPts val="1000"/>
              </a:spcBef>
              <a:spcAft>
                <a:spcPts val="0"/>
              </a:spcAft>
              <a:buClr>
                <a:schemeClr val="accent6"/>
              </a:buClr>
              <a:buSzPts val="1600"/>
              <a:buNone/>
            </a:pPr>
            <a:r>
              <a:rPr b="1" lang="it-IT" sz="1600">
                <a:solidFill>
                  <a:schemeClr val="accent6"/>
                </a:solidFill>
              </a:rPr>
              <a:t>in caso di aggiunta opzione Più Sicuri Casa: </a:t>
            </a:r>
            <a:r>
              <a:rPr b="1" lang="it-IT" sz="1600" u="sng">
                <a:solidFill>
                  <a:schemeClr val="hlink"/>
                </a:solidFill>
                <a:hlinkClick action="ppaction://hlinksldjump" r:id="rId3"/>
              </a:rPr>
              <a:t>CLICCA QUI</a:t>
            </a:r>
            <a:endParaRPr sz="1600">
              <a:solidFill>
                <a:srgbClr val="1F3864"/>
              </a:solidFill>
            </a:endParaRPr>
          </a:p>
          <a:p>
            <a:pPr indent="0" lvl="0" marL="0" rtl="0" algn="just">
              <a:lnSpc>
                <a:spcPct val="90000"/>
              </a:lnSpc>
              <a:spcBef>
                <a:spcPts val="1000"/>
              </a:spcBef>
              <a:spcAft>
                <a:spcPts val="0"/>
              </a:spcAft>
              <a:buClr>
                <a:schemeClr val="accent6"/>
              </a:buClr>
              <a:buSzPts val="1600"/>
              <a:buNone/>
            </a:pPr>
            <a:r>
              <a:rPr b="1" lang="it-IT" sz="1600">
                <a:solidFill>
                  <a:schemeClr val="accent6"/>
                </a:solidFill>
              </a:rPr>
              <a:t>in caso di aggiunta opzione VOCE UNLIMITED: </a:t>
            </a:r>
            <a:r>
              <a:rPr b="1" lang="it-IT" sz="1600" u="sng">
                <a:solidFill>
                  <a:schemeClr val="hlink"/>
                </a:solidFill>
                <a:hlinkClick action="ppaction://hlinksldjump" r:id="rId4"/>
              </a:rPr>
              <a:t>CLICCA QUI</a:t>
            </a:r>
            <a:endParaRPr sz="1600">
              <a:solidFill>
                <a:srgbClr val="1F3864"/>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8"/>
          <p:cNvSpPr txBox="1"/>
          <p:nvPr>
            <p:ph type="title"/>
          </p:nvPr>
        </p:nvSpPr>
        <p:spPr>
          <a:xfrm>
            <a:off x="367442" y="36528"/>
            <a:ext cx="10515600" cy="711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4400"/>
              <a:buFont typeface="Calibri"/>
              <a:buNone/>
            </a:pPr>
            <a:r>
              <a:rPr b="1" lang="it-IT">
                <a:solidFill>
                  <a:srgbClr val="002060"/>
                </a:solidFill>
              </a:rPr>
              <a:t>OPZIONI</a:t>
            </a:r>
            <a:r>
              <a:rPr lang="it-IT">
                <a:solidFill>
                  <a:srgbClr val="002060"/>
                </a:solidFill>
              </a:rPr>
              <a:t> </a:t>
            </a:r>
            <a:endParaRPr/>
          </a:p>
        </p:txBody>
      </p:sp>
      <p:sp>
        <p:nvSpPr>
          <p:cNvPr id="119" name="Google Shape;119;p18"/>
          <p:cNvSpPr txBox="1"/>
          <p:nvPr/>
        </p:nvSpPr>
        <p:spPr>
          <a:xfrm>
            <a:off x="2605817" y="813821"/>
            <a:ext cx="8277225" cy="547036"/>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just">
              <a:lnSpc>
                <a:spcPct val="90000"/>
              </a:lnSpc>
              <a:spcBef>
                <a:spcPts val="0"/>
              </a:spcBef>
              <a:spcAft>
                <a:spcPts val="0"/>
              </a:spcAft>
              <a:buClr>
                <a:srgbClr val="002060"/>
              </a:buClr>
              <a:buSzPts val="1400"/>
              <a:buFont typeface="Arial"/>
              <a:buNone/>
            </a:pPr>
            <a:r>
              <a:rPr b="1" i="0" lang="it-IT" sz="1400" u="none" cap="none" strike="noStrike">
                <a:solidFill>
                  <a:srgbClr val="002060"/>
                </a:solidFill>
                <a:latin typeface="Calibri"/>
                <a:ea typeface="Calibri"/>
                <a:cs typeface="Calibri"/>
                <a:sym typeface="Calibri"/>
              </a:rPr>
              <a:t>INVISTA </a:t>
            </a:r>
            <a:r>
              <a:rPr b="0" i="0" lang="it-IT" sz="1400" u="none" cap="none" strike="noStrike">
                <a:solidFill>
                  <a:srgbClr val="002060"/>
                </a:solidFill>
                <a:latin typeface="Calibri"/>
                <a:ea typeface="Calibri"/>
                <a:cs typeface="Calibri"/>
                <a:sym typeface="Calibri"/>
              </a:rPr>
              <a:t>è il servizio che le permette di visualizzare il numero di chi la chiama sul display del suo telefono fisso al costo di </a:t>
            </a:r>
            <a:r>
              <a:rPr b="1" i="0" lang="it-IT" sz="1400" u="none" cap="none" strike="noStrike">
                <a:solidFill>
                  <a:srgbClr val="002060"/>
                </a:solidFill>
                <a:latin typeface="Calibri"/>
                <a:ea typeface="Calibri"/>
                <a:cs typeface="Calibri"/>
                <a:sym typeface="Calibri"/>
              </a:rPr>
              <a:t>2€/mese iva inclusa</a:t>
            </a:r>
            <a:r>
              <a:rPr b="0" i="0" lang="it-IT" sz="1400" u="none" cap="none" strike="noStrike">
                <a:solidFill>
                  <a:srgbClr val="002060"/>
                </a:solidFill>
                <a:latin typeface="Calibri"/>
                <a:ea typeface="Calibri"/>
                <a:cs typeface="Calibri"/>
                <a:sym typeface="Calibri"/>
              </a:rPr>
              <a:t>.</a:t>
            </a:r>
            <a:endParaRPr/>
          </a:p>
        </p:txBody>
      </p:sp>
      <p:sp>
        <p:nvSpPr>
          <p:cNvPr id="120" name="Google Shape;120;p18"/>
          <p:cNvSpPr txBox="1"/>
          <p:nvPr/>
        </p:nvSpPr>
        <p:spPr>
          <a:xfrm>
            <a:off x="367443" y="802709"/>
            <a:ext cx="1971675" cy="558148"/>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rmAutofit/>
          </a:bodyPr>
          <a:lstStyle/>
          <a:p>
            <a:pPr indent="-228600" lvl="0" marL="228600" marR="0" rtl="0" algn="l">
              <a:lnSpc>
                <a:spcPct val="90000"/>
              </a:lnSpc>
              <a:spcBef>
                <a:spcPts val="0"/>
              </a:spcBef>
              <a:spcAft>
                <a:spcPts val="0"/>
              </a:spcAft>
              <a:buClr>
                <a:srgbClr val="002060"/>
              </a:buClr>
              <a:buSzPts val="1800"/>
              <a:buFont typeface="Arial"/>
              <a:buChar char="•"/>
            </a:pPr>
            <a:r>
              <a:rPr b="0" i="0" lang="it-IT" sz="1800" u="none" cap="none" strike="noStrike">
                <a:solidFill>
                  <a:srgbClr val="002060"/>
                </a:solidFill>
                <a:latin typeface="Calibri"/>
                <a:ea typeface="Calibri"/>
                <a:cs typeface="Calibri"/>
                <a:sym typeface="Calibri"/>
              </a:rPr>
              <a:t>INVISTA</a:t>
            </a:r>
            <a:endParaRPr/>
          </a:p>
        </p:txBody>
      </p:sp>
      <p:sp>
        <p:nvSpPr>
          <p:cNvPr id="121" name="Google Shape;121;p18"/>
          <p:cNvSpPr txBox="1"/>
          <p:nvPr/>
        </p:nvSpPr>
        <p:spPr>
          <a:xfrm>
            <a:off x="2605812" y="2217267"/>
            <a:ext cx="8277225" cy="1068736"/>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2060"/>
              </a:buClr>
              <a:buSzPts val="1400"/>
              <a:buFont typeface="Arial"/>
              <a:buNone/>
            </a:pPr>
            <a:r>
              <a:rPr b="0" i="0" lang="it-IT" sz="1400" u="none" cap="none" strike="noStrike">
                <a:solidFill>
                  <a:srgbClr val="002060"/>
                </a:solidFill>
                <a:latin typeface="Calibri"/>
                <a:ea typeface="Calibri"/>
                <a:cs typeface="Calibri"/>
                <a:sym typeface="Calibri"/>
              </a:rPr>
              <a:t>Per il posizionamento di una nuova Presa Fibra in un punto diverso dalla presa principale è previsto un costo di </a:t>
            </a:r>
            <a:r>
              <a:rPr b="1" i="0" lang="it-IT" sz="1400" u="none" cap="none" strike="noStrike">
                <a:solidFill>
                  <a:srgbClr val="002060"/>
                </a:solidFill>
                <a:latin typeface="Calibri"/>
                <a:ea typeface="Calibri"/>
                <a:cs typeface="Calibri"/>
                <a:sym typeface="Calibri"/>
              </a:rPr>
              <a:t>65€.</a:t>
            </a:r>
            <a:endParaRPr/>
          </a:p>
          <a:p>
            <a:pPr indent="0" lvl="0" marL="0" marR="0" rtl="0" algn="l">
              <a:lnSpc>
                <a:spcPct val="90000"/>
              </a:lnSpc>
              <a:spcBef>
                <a:spcPts val="1000"/>
              </a:spcBef>
              <a:spcAft>
                <a:spcPts val="0"/>
              </a:spcAft>
              <a:buClr>
                <a:srgbClr val="002060"/>
              </a:buClr>
              <a:buSzPts val="1400"/>
              <a:buFont typeface="Arial"/>
              <a:buNone/>
            </a:pPr>
            <a:r>
              <a:rPr b="0" i="0" lang="it-IT" sz="1400" u="none" cap="none" strike="noStrike">
                <a:solidFill>
                  <a:srgbClr val="002060"/>
                </a:solidFill>
                <a:latin typeface="Calibri"/>
                <a:ea typeface="Calibri"/>
                <a:cs typeface="Calibri"/>
                <a:sym typeface="Calibri"/>
              </a:rPr>
              <a:t>Per</a:t>
            </a:r>
            <a:r>
              <a:rPr b="1" i="0" lang="it-IT" sz="1400" u="none" cap="none" strike="noStrike">
                <a:solidFill>
                  <a:srgbClr val="002060"/>
                </a:solidFill>
                <a:latin typeface="Calibri"/>
                <a:ea typeface="Calibri"/>
                <a:cs typeface="Calibri"/>
                <a:sym typeface="Calibri"/>
              </a:rPr>
              <a:t> </a:t>
            </a:r>
            <a:r>
              <a:rPr b="0" i="0" lang="it-IT" sz="1400" u="none" cap="none" strike="noStrike">
                <a:solidFill>
                  <a:srgbClr val="002060"/>
                </a:solidFill>
                <a:latin typeface="Calibri"/>
                <a:ea typeface="Calibri"/>
                <a:cs typeface="Calibri"/>
                <a:sym typeface="Calibri"/>
              </a:rPr>
              <a:t>abilitare altre prese telefoniche al collegamento di telefoni, fax, segreterie, centralini, sistemi di tele-allarmi, video-sorveglianza, o tele-soccorso è previsto un costo di </a:t>
            </a:r>
            <a:r>
              <a:rPr b="1" i="0" lang="it-IT" sz="1400" u="none" cap="none" strike="noStrike">
                <a:solidFill>
                  <a:srgbClr val="002060"/>
                </a:solidFill>
                <a:latin typeface="Calibri"/>
                <a:ea typeface="Calibri"/>
                <a:cs typeface="Calibri"/>
                <a:sym typeface="Calibri"/>
              </a:rPr>
              <a:t>35€.</a:t>
            </a:r>
            <a:endParaRPr b="0" i="0" sz="1400" u="none" cap="none" strike="noStrike">
              <a:solidFill>
                <a:srgbClr val="002060"/>
              </a:solidFill>
              <a:latin typeface="Calibri"/>
              <a:ea typeface="Calibri"/>
              <a:cs typeface="Calibri"/>
              <a:sym typeface="Calibri"/>
            </a:endParaRPr>
          </a:p>
        </p:txBody>
      </p:sp>
      <p:sp>
        <p:nvSpPr>
          <p:cNvPr id="122" name="Google Shape;122;p18"/>
          <p:cNvSpPr txBox="1"/>
          <p:nvPr/>
        </p:nvSpPr>
        <p:spPr>
          <a:xfrm>
            <a:off x="367442" y="2217267"/>
            <a:ext cx="2000250" cy="1068736"/>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rmAutofit/>
          </a:bodyPr>
          <a:lstStyle/>
          <a:p>
            <a:pPr indent="-228600" lvl="0" marL="228600" marR="0" rtl="0" algn="l">
              <a:lnSpc>
                <a:spcPct val="90000"/>
              </a:lnSpc>
              <a:spcBef>
                <a:spcPts val="0"/>
              </a:spcBef>
              <a:spcAft>
                <a:spcPts val="0"/>
              </a:spcAft>
              <a:buClr>
                <a:srgbClr val="002060"/>
              </a:buClr>
              <a:buSzPts val="1800"/>
              <a:buFont typeface="Arial"/>
              <a:buChar char="•"/>
            </a:pPr>
            <a:r>
              <a:rPr b="0" i="0" lang="it-IT" sz="1800" u="none" cap="none" strike="noStrike">
                <a:solidFill>
                  <a:srgbClr val="002060"/>
                </a:solidFill>
                <a:latin typeface="Calibri"/>
                <a:ea typeface="Calibri"/>
                <a:cs typeface="Calibri"/>
                <a:sym typeface="Calibri"/>
              </a:rPr>
              <a:t>SERVIZIO TECNICO</a:t>
            </a:r>
            <a:endParaRPr/>
          </a:p>
        </p:txBody>
      </p:sp>
      <p:sp>
        <p:nvSpPr>
          <p:cNvPr id="123" name="Google Shape;123;p18"/>
          <p:cNvSpPr txBox="1"/>
          <p:nvPr/>
        </p:nvSpPr>
        <p:spPr>
          <a:xfrm>
            <a:off x="2605815" y="1527990"/>
            <a:ext cx="8277225" cy="547036"/>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just">
              <a:lnSpc>
                <a:spcPct val="90000"/>
              </a:lnSpc>
              <a:spcBef>
                <a:spcPts val="0"/>
              </a:spcBef>
              <a:spcAft>
                <a:spcPts val="0"/>
              </a:spcAft>
              <a:buClr>
                <a:srgbClr val="002060"/>
              </a:buClr>
              <a:buSzPts val="1400"/>
              <a:buFont typeface="Arial"/>
              <a:buNone/>
            </a:pPr>
            <a:r>
              <a:rPr b="1" i="0" lang="it-IT" sz="1400" u="none" cap="none" strike="noStrike">
                <a:solidFill>
                  <a:srgbClr val="002060"/>
                </a:solidFill>
                <a:latin typeface="Calibri"/>
                <a:ea typeface="Calibri"/>
                <a:cs typeface="Calibri"/>
                <a:sym typeface="Calibri"/>
              </a:rPr>
              <a:t>CALL YOUR COUNTRY HOME </a:t>
            </a:r>
            <a:r>
              <a:rPr b="0" i="0" lang="it-IT" sz="1400" u="none" cap="none" strike="noStrike">
                <a:solidFill>
                  <a:srgbClr val="002060"/>
                </a:solidFill>
                <a:latin typeface="Calibri"/>
                <a:ea typeface="Calibri"/>
                <a:cs typeface="Calibri"/>
                <a:sym typeface="Calibri"/>
              </a:rPr>
              <a:t>è L'opzione CHE prevede chiamate illimitate verso un elenco di paesi esteri al costo di </a:t>
            </a:r>
            <a:r>
              <a:rPr b="1" i="0" lang="it-IT" sz="1400" u="none" cap="none" strike="noStrike">
                <a:solidFill>
                  <a:srgbClr val="002060"/>
                </a:solidFill>
                <a:latin typeface="Calibri"/>
                <a:ea typeface="Calibri"/>
                <a:cs typeface="Calibri"/>
                <a:sym typeface="Calibri"/>
              </a:rPr>
              <a:t>5€/mese</a:t>
            </a:r>
            <a:endParaRPr/>
          </a:p>
        </p:txBody>
      </p:sp>
      <p:sp>
        <p:nvSpPr>
          <p:cNvPr id="124" name="Google Shape;124;p18"/>
          <p:cNvSpPr txBox="1"/>
          <p:nvPr/>
        </p:nvSpPr>
        <p:spPr>
          <a:xfrm>
            <a:off x="338868" y="1484312"/>
            <a:ext cx="2000250" cy="558148"/>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rmAutofit/>
          </a:bodyPr>
          <a:lstStyle/>
          <a:p>
            <a:pPr indent="-228600" lvl="0" marL="228600" marR="0" rtl="0" algn="l">
              <a:lnSpc>
                <a:spcPct val="90000"/>
              </a:lnSpc>
              <a:spcBef>
                <a:spcPts val="0"/>
              </a:spcBef>
              <a:spcAft>
                <a:spcPts val="0"/>
              </a:spcAft>
              <a:buClr>
                <a:srgbClr val="002060"/>
              </a:buClr>
              <a:buSzPts val="1800"/>
              <a:buFont typeface="Arial"/>
              <a:buChar char="•"/>
            </a:pPr>
            <a:r>
              <a:rPr b="0" i="0" lang="it-IT" sz="1800" u="none" cap="none" strike="noStrike">
                <a:solidFill>
                  <a:srgbClr val="002060"/>
                </a:solidFill>
                <a:latin typeface="Calibri"/>
                <a:ea typeface="Calibri"/>
                <a:cs typeface="Calibri"/>
                <a:sym typeface="Calibri"/>
              </a:rPr>
              <a:t>CYC HOME</a:t>
            </a:r>
            <a:endParaRPr/>
          </a:p>
        </p:txBody>
      </p:sp>
      <p:sp>
        <p:nvSpPr>
          <p:cNvPr id="125" name="Google Shape;125;p18"/>
          <p:cNvSpPr txBox="1"/>
          <p:nvPr/>
        </p:nvSpPr>
        <p:spPr>
          <a:xfrm>
            <a:off x="367442" y="3328645"/>
            <a:ext cx="2000250" cy="613754"/>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rmAutofit/>
          </a:bodyPr>
          <a:lstStyle/>
          <a:p>
            <a:pPr indent="-228600" lvl="0" marL="228600" marR="0" rtl="0" algn="l">
              <a:lnSpc>
                <a:spcPct val="90000"/>
              </a:lnSpc>
              <a:spcBef>
                <a:spcPts val="0"/>
              </a:spcBef>
              <a:spcAft>
                <a:spcPts val="0"/>
              </a:spcAft>
              <a:buClr>
                <a:srgbClr val="002060"/>
              </a:buClr>
              <a:buSzPts val="1800"/>
              <a:buFont typeface="Arial"/>
              <a:buChar char="•"/>
            </a:pPr>
            <a:r>
              <a:rPr b="0" i="0" lang="it-IT" sz="1800" u="none" cap="none" strike="noStrike">
                <a:solidFill>
                  <a:srgbClr val="002060"/>
                </a:solidFill>
                <a:latin typeface="Calibri"/>
                <a:ea typeface="Calibri"/>
                <a:cs typeface="Calibri"/>
                <a:sym typeface="Calibri"/>
              </a:rPr>
              <a:t>PIU’ SICURI CASA</a:t>
            </a:r>
            <a:endParaRPr/>
          </a:p>
        </p:txBody>
      </p:sp>
      <p:sp>
        <p:nvSpPr>
          <p:cNvPr id="126" name="Google Shape;126;p18"/>
          <p:cNvSpPr txBox="1"/>
          <p:nvPr/>
        </p:nvSpPr>
        <p:spPr>
          <a:xfrm>
            <a:off x="2605811" y="3359366"/>
            <a:ext cx="8277225" cy="575254"/>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just">
              <a:lnSpc>
                <a:spcPct val="90000"/>
              </a:lnSpc>
              <a:spcBef>
                <a:spcPts val="0"/>
              </a:spcBef>
              <a:spcAft>
                <a:spcPts val="0"/>
              </a:spcAft>
              <a:buClr>
                <a:srgbClr val="1F3864"/>
              </a:buClr>
              <a:buSzPts val="1400"/>
              <a:buFont typeface="Arial"/>
              <a:buNone/>
            </a:pPr>
            <a:r>
              <a:rPr b="0" i="0" lang="it-IT" sz="1400" u="none" cap="none" strike="noStrike">
                <a:solidFill>
                  <a:srgbClr val="1F3864"/>
                </a:solidFill>
                <a:latin typeface="Calibri"/>
                <a:ea typeface="Calibri"/>
                <a:cs typeface="Calibri"/>
                <a:sym typeface="Calibri"/>
              </a:rPr>
              <a:t>a soli 1,99€ in più al mese e il primo mese gratuito, le permette di proteggere la rete di casa e tutti i dispostivi ad essa connessi.</a:t>
            </a:r>
            <a:endParaRPr/>
          </a:p>
        </p:txBody>
      </p:sp>
      <p:sp>
        <p:nvSpPr>
          <p:cNvPr id="127" name="Google Shape;127;p18"/>
          <p:cNvSpPr txBox="1"/>
          <p:nvPr/>
        </p:nvSpPr>
        <p:spPr>
          <a:xfrm>
            <a:off x="367442" y="4064113"/>
            <a:ext cx="2000250" cy="613754"/>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rmAutofit/>
          </a:bodyPr>
          <a:lstStyle/>
          <a:p>
            <a:pPr indent="-228600" lvl="0" marL="228600" marR="0" rtl="0" algn="l">
              <a:lnSpc>
                <a:spcPct val="90000"/>
              </a:lnSpc>
              <a:spcBef>
                <a:spcPts val="0"/>
              </a:spcBef>
              <a:spcAft>
                <a:spcPts val="0"/>
              </a:spcAft>
              <a:buClr>
                <a:srgbClr val="002060"/>
              </a:buClr>
              <a:buSzPts val="1800"/>
              <a:buFont typeface="Arial"/>
              <a:buChar char="•"/>
            </a:pPr>
            <a:r>
              <a:rPr b="0" i="0" lang="it-IT" sz="1800" u="none" cap="none" strike="noStrike">
                <a:solidFill>
                  <a:srgbClr val="002060"/>
                </a:solidFill>
                <a:latin typeface="Calibri"/>
                <a:ea typeface="Calibri"/>
                <a:cs typeface="Calibri"/>
                <a:sym typeface="Calibri"/>
              </a:rPr>
              <a:t>PIU’ SICURI MOBILE</a:t>
            </a:r>
            <a:endParaRPr/>
          </a:p>
        </p:txBody>
      </p:sp>
      <p:sp>
        <p:nvSpPr>
          <p:cNvPr id="128" name="Google Shape;128;p18"/>
          <p:cNvSpPr txBox="1"/>
          <p:nvPr/>
        </p:nvSpPr>
        <p:spPr>
          <a:xfrm>
            <a:off x="2605809" y="4064114"/>
            <a:ext cx="8277225" cy="613754"/>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1F3864"/>
              </a:buClr>
              <a:buSzPts val="1400"/>
              <a:buFont typeface="Arial"/>
              <a:buNone/>
            </a:pPr>
            <a:r>
              <a:rPr b="0" i="0" lang="it-IT" sz="1400" u="none" cap="none" strike="noStrike">
                <a:solidFill>
                  <a:srgbClr val="1F3864"/>
                </a:solidFill>
                <a:latin typeface="Calibri"/>
                <a:ea typeface="Calibri"/>
                <a:cs typeface="Calibri"/>
                <a:sym typeface="Calibri"/>
              </a:rPr>
              <a:t>a 0,99€/mese con il primo mese gratuito, addebitato su credito per un’esperienza di navigazione protetta su rete WINDTRE. Protezione attiva all’attivazione dell’opzione senza azioni del Cliente</a:t>
            </a:r>
            <a:endParaRPr/>
          </a:p>
        </p:txBody>
      </p:sp>
      <p:sp>
        <p:nvSpPr>
          <p:cNvPr id="129" name="Google Shape;129;p18"/>
          <p:cNvSpPr txBox="1"/>
          <p:nvPr/>
        </p:nvSpPr>
        <p:spPr>
          <a:xfrm>
            <a:off x="367442" y="4815350"/>
            <a:ext cx="2000250" cy="645876"/>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rmAutofit/>
          </a:bodyPr>
          <a:lstStyle/>
          <a:p>
            <a:pPr indent="-228600" lvl="0" marL="228600" marR="0" rtl="0" algn="l">
              <a:lnSpc>
                <a:spcPct val="90000"/>
              </a:lnSpc>
              <a:spcBef>
                <a:spcPts val="0"/>
              </a:spcBef>
              <a:spcAft>
                <a:spcPts val="0"/>
              </a:spcAft>
              <a:buClr>
                <a:srgbClr val="002060"/>
              </a:buClr>
              <a:buSzPts val="1800"/>
              <a:buFont typeface="Arial"/>
              <a:buChar char="•"/>
            </a:pPr>
            <a:r>
              <a:rPr b="0" i="0" lang="it-IT" sz="1800" u="none" cap="none" strike="noStrike">
                <a:solidFill>
                  <a:srgbClr val="002060"/>
                </a:solidFill>
                <a:latin typeface="Calibri"/>
                <a:ea typeface="Calibri"/>
                <a:cs typeface="Calibri"/>
                <a:sym typeface="Calibri"/>
              </a:rPr>
              <a:t>PIU’ SICURI MOBILE PRO</a:t>
            </a:r>
            <a:endParaRPr/>
          </a:p>
        </p:txBody>
      </p:sp>
      <p:sp>
        <p:nvSpPr>
          <p:cNvPr id="130" name="Google Shape;130;p18"/>
          <p:cNvSpPr txBox="1"/>
          <p:nvPr/>
        </p:nvSpPr>
        <p:spPr>
          <a:xfrm>
            <a:off x="2605808" y="4807363"/>
            <a:ext cx="8277225" cy="653864"/>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1F3864"/>
              </a:buClr>
              <a:buSzPts val="1400"/>
              <a:buFont typeface="Arial"/>
              <a:buNone/>
            </a:pPr>
            <a:r>
              <a:rPr b="0" i="0" lang="it-IT" sz="1400" u="none" cap="none" strike="noStrike">
                <a:solidFill>
                  <a:srgbClr val="1F3864"/>
                </a:solidFill>
                <a:latin typeface="Calibri"/>
                <a:ea typeface="Calibri"/>
                <a:cs typeface="Calibri"/>
                <a:sym typeface="Calibri"/>
              </a:rPr>
              <a:t>a soli 1.99€/mese con primo mese gratuito: Navigazione sicura su tutte le reti: WINDTRE, WiFi e Roaming. Acquisti online e transazioni finanziarie (Conto Corrente)  protette grazie alla VPN</a:t>
            </a:r>
            <a:endParaRPr/>
          </a:p>
        </p:txBody>
      </p:sp>
      <p:sp>
        <p:nvSpPr>
          <p:cNvPr id="131" name="Google Shape;131;p18"/>
          <p:cNvSpPr txBox="1"/>
          <p:nvPr/>
        </p:nvSpPr>
        <p:spPr>
          <a:xfrm>
            <a:off x="367442" y="5624058"/>
            <a:ext cx="2000250" cy="645876"/>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rmAutofit/>
          </a:bodyPr>
          <a:lstStyle/>
          <a:p>
            <a:pPr indent="-228600" lvl="0" marL="228600" marR="0" rtl="0" algn="l">
              <a:lnSpc>
                <a:spcPct val="90000"/>
              </a:lnSpc>
              <a:spcBef>
                <a:spcPts val="0"/>
              </a:spcBef>
              <a:spcAft>
                <a:spcPts val="0"/>
              </a:spcAft>
              <a:buClr>
                <a:srgbClr val="002060"/>
              </a:buClr>
              <a:buSzPts val="1800"/>
              <a:buFont typeface="Arial"/>
              <a:buChar char="•"/>
            </a:pPr>
            <a:r>
              <a:rPr b="0" i="0" lang="it-IT" sz="1800" u="none" cap="none" strike="noStrike">
                <a:solidFill>
                  <a:srgbClr val="002060"/>
                </a:solidFill>
                <a:latin typeface="Calibri"/>
                <a:ea typeface="Calibri"/>
                <a:cs typeface="Calibri"/>
                <a:sym typeface="Calibri"/>
              </a:rPr>
              <a:t>VOCE UNLIMITED</a:t>
            </a:r>
            <a:endParaRPr/>
          </a:p>
        </p:txBody>
      </p:sp>
      <p:sp>
        <p:nvSpPr>
          <p:cNvPr id="132" name="Google Shape;132;p18"/>
          <p:cNvSpPr txBox="1"/>
          <p:nvPr/>
        </p:nvSpPr>
        <p:spPr>
          <a:xfrm>
            <a:off x="2605808" y="5620064"/>
            <a:ext cx="8277225" cy="653864"/>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just">
              <a:lnSpc>
                <a:spcPct val="90000"/>
              </a:lnSpc>
              <a:spcBef>
                <a:spcPts val="0"/>
              </a:spcBef>
              <a:spcAft>
                <a:spcPts val="0"/>
              </a:spcAft>
              <a:buClr>
                <a:srgbClr val="1F3864"/>
              </a:buClr>
              <a:buSzPts val="1400"/>
              <a:buFont typeface="Arial"/>
              <a:buNone/>
            </a:pPr>
            <a:r>
              <a:rPr b="0" i="0" lang="it-IT" sz="1400" u="none" cap="none" strike="noStrike">
                <a:solidFill>
                  <a:srgbClr val="1F3864"/>
                </a:solidFill>
                <a:latin typeface="Calibri"/>
                <a:ea typeface="Calibri"/>
                <a:cs typeface="Calibri"/>
                <a:sym typeface="Calibri"/>
              </a:rPr>
              <a:t>il costo sarà di 3€ in più al mese e prevede Chiamate illimitate verso i fissi e mobili nazionali.</a:t>
            </a:r>
            <a:endParaRPr b="0" i="0" sz="1400" u="none" cap="none" strike="noStrike">
              <a:solidFill>
                <a:srgbClr val="1F3864"/>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Tema di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i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