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Montserrat"/>
      <p:regular r:id="rId14"/>
      <p:bold r:id="rId15"/>
      <p:italic r:id="rId16"/>
      <p:boldItalic r:id="rId17"/>
    </p:embeddedFont>
    <p:embeddedFont>
      <p:font typeface="Montserrat Black"/>
      <p:bold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slide" Target="slides/slide1.xml"/><Relationship Id="rId19" Type="http://schemas.openxmlformats.org/officeDocument/2006/relationships/font" Target="fonts/MontserratBlack-boldItalic.fntdata"/><Relationship Id="rId6" Type="http://schemas.openxmlformats.org/officeDocument/2006/relationships/slide" Target="slides/slide2.xml"/><Relationship Id="rId18" Type="http://schemas.openxmlformats.org/officeDocument/2006/relationships/font" Target="fonts/MontserratBlack-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 name="Google Shape;15;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18" name="Shape 18"/>
        <p:cNvGrpSpPr/>
        <p:nvPr/>
      </p:nvGrpSpPr>
      <p:grpSpPr>
        <a:xfrm>
          <a:off x="0" y="0"/>
          <a:ext cx="0" cy="0"/>
          <a:chOff x="0" y="0"/>
          <a:chExt cx="0" cy="0"/>
        </a:xfrm>
      </p:grpSpPr>
      <p:sp>
        <p:nvSpPr>
          <p:cNvPr id="19" name="Google Shape;1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23" name="Shape 23"/>
        <p:cNvGrpSpPr/>
        <p:nvPr/>
      </p:nvGrpSpPr>
      <p:grpSpPr>
        <a:xfrm>
          <a:off x="0" y="0"/>
          <a:ext cx="0" cy="0"/>
          <a:chOff x="0" y="0"/>
          <a:chExt cx="0" cy="0"/>
        </a:xfrm>
      </p:grpSpPr>
      <p:sp>
        <p:nvSpPr>
          <p:cNvPr id="24" name="Google Shape;24;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5" name="Shape 35"/>
        <p:cNvGrpSpPr/>
        <p:nvPr/>
      </p:nvGrpSpPr>
      <p:grpSpPr>
        <a:xfrm>
          <a:off x="0" y="0"/>
          <a:ext cx="0" cy="0"/>
          <a:chOff x="0" y="0"/>
          <a:chExt cx="0" cy="0"/>
        </a:xfrm>
      </p:grpSpPr>
      <p:sp>
        <p:nvSpPr>
          <p:cNvPr id="36" name="Google Shape;36;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OPEN FIBER &amp; NETFLIX con pubblicità</a:t>
            </a:r>
            <a:endParaRPr/>
          </a:p>
        </p:txBody>
      </p:sp>
      <p:sp>
        <p:nvSpPr>
          <p:cNvPr id="85" name="Google Shape;85;p13"/>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SUPER FIBRA &amp;Netflix con pubblicità </a:t>
            </a:r>
            <a:r>
              <a:rPr lang="it-IT" sz="1600">
                <a:solidFill>
                  <a:srgbClr val="1F3864"/>
                </a:solidFill>
              </a:rPr>
              <a:t>prevede navigazione senza limiti fino a 2,5 Gigabit a </a:t>
            </a:r>
            <a:r>
              <a:rPr b="1" lang="it-IT" sz="1600">
                <a:solidFill>
                  <a:srgbClr val="1F3864"/>
                </a:solidFill>
              </a:rPr>
              <a:t>36,49€/mese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b="1" lang="it-IT" sz="1600">
                <a:solidFill>
                  <a:srgbClr val="FF0000"/>
                </a:solidFill>
              </a:rPr>
              <a:t>Costo di attivazione in promo a 0 € invece che 1,99€ al mese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36,49 euro al mese è composto, per i primi 12 mesi, da 30,5 euro al mese di servizio e Prime e 5,99 euro al mese di modem, dal 13° mese, da 30.5 euro al mese di servizio e 5,99 euro al mese di modem, dal 48° mese, da 36,49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opzione Più Sicuri Casa: </a:t>
            </a:r>
            <a:r>
              <a:rPr b="1" lang="it-IT" sz="1600">
                <a:solidFill>
                  <a:srgbClr val="1F3864"/>
                </a:solidFill>
              </a:rPr>
              <a:t>Più Sicuri Casa,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EXTRA &amp; NETFLIX con pubblicità</a:t>
            </a:r>
            <a:endParaRPr/>
          </a:p>
        </p:txBody>
      </p:sp>
      <p:sp>
        <p:nvSpPr>
          <p:cNvPr id="91" name="Google Shape;91;p14"/>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SUPER FIBRA &amp;Netflix con pubblicità </a:t>
            </a:r>
            <a:r>
              <a:rPr lang="it-IT" sz="1600">
                <a:solidFill>
                  <a:srgbClr val="1F3864"/>
                </a:solidFill>
              </a:rPr>
              <a:t>prevede navigazione senza limiti fino a </a:t>
            </a:r>
            <a:r>
              <a:rPr b="1" lang="it-IT" sz="1600">
                <a:solidFill>
                  <a:srgbClr val="1F3864"/>
                </a:solidFill>
              </a:rPr>
              <a:t>2,5 Gigabit</a:t>
            </a:r>
            <a:r>
              <a:rPr lang="it-IT" sz="1600">
                <a:solidFill>
                  <a:srgbClr val="1F3864"/>
                </a:solidFill>
              </a:rPr>
              <a:t> a </a:t>
            </a:r>
            <a:r>
              <a:rPr b="1" lang="it-IT" sz="1600">
                <a:solidFill>
                  <a:srgbClr val="1F3864"/>
                </a:solidFill>
              </a:rPr>
              <a:t>36,49€/mese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
            </a:r>
            <a:r>
              <a:rPr lang="it-IT" sz="1600">
                <a:solidFill>
                  <a:schemeClr val="dk2"/>
                </a:solidFill>
              </a:rPr>
              <a:t>attivazione: 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36,49 euro al mese è composto, per i primi 12 mesi, da 30,5 euro al mese di servizio e Prime e 5,99 euro al mese di modem, dal 13° mese, da 30.5 euro al mese di servizio e 5,99 euro al mese di modem, dal 48° mese, da 36,49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opzione Più Sicuri Casa: </a:t>
            </a:r>
            <a:r>
              <a:rPr b="1" lang="it-IT" sz="1600">
                <a:solidFill>
                  <a:srgbClr val="1F3864"/>
                </a:solidFill>
              </a:rPr>
              <a:t>Più Sicuri Casa,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INTERNET 100/200 &amp; NETFLIX con pubblicità</a:t>
            </a:r>
            <a:endParaRPr/>
          </a:p>
        </p:txBody>
      </p:sp>
      <p:sp>
        <p:nvSpPr>
          <p:cNvPr id="97" name="Google Shape;97;p15"/>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Internet 100/200 &amp;Netflix con pubblicità </a:t>
            </a:r>
            <a:r>
              <a:rPr lang="it-IT" sz="1600">
                <a:solidFill>
                  <a:srgbClr val="1F3864"/>
                </a:solidFill>
              </a:rPr>
              <a:t>prevede navigazione senza limiti fino a 100/200 Mega a </a:t>
            </a:r>
            <a:r>
              <a:rPr b="1" lang="it-IT" sz="1600">
                <a:solidFill>
                  <a:srgbClr val="1F3864"/>
                </a:solidFill>
              </a:rPr>
              <a:t>36,49€/mese </a:t>
            </a:r>
            <a:r>
              <a:rPr lang="it-IT" sz="1600">
                <a:solidFill>
                  <a:srgbClr val="002060"/>
                </a:solidFill>
              </a:rPr>
              <a:t>chiamate illimitate verso numeri fissi e mobili nazionali.</a:t>
            </a:r>
            <a:r>
              <a:rPr lang="it-IT" sz="1600">
                <a:solidFill>
                  <a:srgbClr val="1F3864"/>
                </a:solidFill>
              </a:rPr>
              <a:t> modem WI FI 7e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a:t>
            </a:r>
            <a:r>
              <a:rPr lang="it-IT" sz="1600">
                <a:solidFill>
                  <a:schemeClr val="dk2"/>
                </a:solidFill>
              </a:rPr>
              <a:t>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36,49 euro al mese è composto, per i primi 12 mesi, da 30,5 euro al mese di servizio e Prime e 5,99 euro al mese di modem, dal 13° mese, da 30.5 euro al mese di servizio e 5,99 euro al mese di modem, dal 48° mese, da 36,49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opzione Più Sicuri Casa: </a:t>
            </a:r>
            <a:r>
              <a:rPr b="1" lang="it-IT" sz="1600">
                <a:solidFill>
                  <a:srgbClr val="1F3864"/>
                </a:solidFill>
              </a:rPr>
              <a:t>Più Sicuri Casa,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277403" y="139095"/>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FTTH C&amp;D &amp; NETFLIX con pubblicità</a:t>
            </a:r>
            <a:endParaRPr/>
          </a:p>
        </p:txBody>
      </p:sp>
      <p:sp>
        <p:nvSpPr>
          <p:cNvPr id="103" name="Google Shape;103;p16"/>
          <p:cNvSpPr txBox="1"/>
          <p:nvPr>
            <p:ph idx="2" type="body"/>
          </p:nvPr>
        </p:nvSpPr>
        <p:spPr>
          <a:xfrm>
            <a:off x="277403" y="850295"/>
            <a:ext cx="11465960" cy="5642579"/>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SUPER FIBRA Aree Bianche &amp;Netflix con pubblicità </a:t>
            </a:r>
            <a:r>
              <a:rPr lang="it-IT" sz="1600">
                <a:solidFill>
                  <a:srgbClr val="1F3864"/>
                </a:solidFill>
              </a:rPr>
              <a:t>prevede navigazione senza limiti fino a 1 Gigabit a </a:t>
            </a:r>
            <a:r>
              <a:rPr b="1" lang="it-IT" sz="1600">
                <a:solidFill>
                  <a:srgbClr val="1F3864"/>
                </a:solidFill>
              </a:rPr>
              <a:t>36,49€/mese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a:t>
            </a:r>
            <a:r>
              <a:rPr lang="it-IT" sz="1600">
                <a:solidFill>
                  <a:schemeClr val="dk2"/>
                </a:solidFill>
              </a:rPr>
              <a:t>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36,49 euro al mese è composto, per i primi 12 mesi, da 30,5 euro al mese di servizio e Prime e 5,99 euro al mese di modem, dal 13° mese, da 30.5 euro al mese di servizio e 5,99 euro al mese di modem, dal 48° mese, da 36,49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opzione Più Sicuri Casa: </a:t>
            </a:r>
            <a:r>
              <a:rPr b="1" lang="it-IT" sz="1600">
                <a:solidFill>
                  <a:srgbClr val="1F3864"/>
                </a:solidFill>
              </a:rPr>
              <a:t>Più Sicuri Casa,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0" y="0"/>
            <a:ext cx="12333514" cy="711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SUPER INTERNET CASA FWA 5G OUTDOOR &amp; NETFLIX con pubblicità </a:t>
            </a:r>
            <a:endParaRPr/>
          </a:p>
        </p:txBody>
      </p:sp>
      <p:sp>
        <p:nvSpPr>
          <p:cNvPr id="109" name="Google Shape;109;p17"/>
          <p:cNvSpPr txBox="1"/>
          <p:nvPr>
            <p:ph idx="2" type="body"/>
          </p:nvPr>
        </p:nvSpPr>
        <p:spPr>
          <a:xfrm>
            <a:off x="0" y="838200"/>
            <a:ext cx="12072135" cy="6019800"/>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Internet Casa Fwa 5G Outdoor &amp; Netflix con pubblicità </a:t>
            </a:r>
            <a:r>
              <a:rPr lang="it-IT" sz="1600">
                <a:solidFill>
                  <a:srgbClr val="1F3864"/>
                </a:solidFill>
              </a:rPr>
              <a:t>prevede navigazione senza limiti fino a</a:t>
            </a:r>
            <a:r>
              <a:rPr b="1" lang="it-IT" sz="1600">
                <a:solidFill>
                  <a:srgbClr val="1F3864"/>
                </a:solidFill>
              </a:rPr>
              <a:t> 300 Mega a 36,49€/mese </a:t>
            </a:r>
            <a:r>
              <a:rPr lang="it-IT" sz="1600">
                <a:solidFill>
                  <a:srgbClr val="1F3864"/>
                </a:solidFill>
              </a:rPr>
              <a:t>con </a:t>
            </a:r>
            <a:r>
              <a:rPr lang="it-IT" sz="1600">
                <a:solidFill>
                  <a:srgbClr val="002060"/>
                </a:solidFill>
              </a:rPr>
              <a:t>chiamate illimitate verso numeri fissi e mobili nazionali,</a:t>
            </a:r>
            <a:r>
              <a:rPr lang="it-IT" sz="1600">
                <a:solidFill>
                  <a:srgbClr val="1F3864"/>
                </a:solidFill>
              </a:rPr>
              <a:t> modem wi fi 7 e antenna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E’ previsto un costo di installazione:</a:t>
            </a:r>
            <a:endParaRPr/>
          </a:p>
          <a:p>
            <a:pPr indent="0" lvl="0" marL="0" rtl="0" algn="just">
              <a:lnSpc>
                <a:spcPct val="90000"/>
              </a:lnSpc>
              <a:spcBef>
                <a:spcPts val="1000"/>
              </a:spcBef>
              <a:spcAft>
                <a:spcPts val="0"/>
              </a:spcAft>
              <a:buClr>
                <a:srgbClr val="FF0000"/>
              </a:buClr>
              <a:buSzPts val="1600"/>
              <a:buNone/>
            </a:pPr>
            <a:r>
              <a:rPr b="1" lang="it-IT" sz="1600">
                <a:solidFill>
                  <a:srgbClr val="FF0000"/>
                </a:solidFill>
              </a:rPr>
              <a:t>Costo di attivazione in promo a 0€ </a:t>
            </a:r>
            <a:r>
              <a:rPr lang="it-IT" sz="1600">
                <a:solidFill>
                  <a:srgbClr val="1F3864"/>
                </a:solidFill>
              </a:rPr>
              <a:t>invece che 1,99€ al mese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36,49 euro al mese è composto, per i primi 12 mesi, da 23,5 euro al mese di servizio e Prime e 3 euro di rata del modem e 9,99 euro dell’antenna, dal 13° mese, da 23,5 euro di servizio e 3 euro di rata del modem e 9,99 euro dell’antenna, poi dal 48° mese 36,49 euro di servizio</a:t>
            </a:r>
            <a:r>
              <a:rPr lang="it-IT" sz="1800">
                <a:solidFill>
                  <a:srgbClr val="000000"/>
                </a:solidFill>
                <a:latin typeface="Arial"/>
                <a:ea typeface="Arial"/>
                <a:cs typeface="Arial"/>
                <a:sym typeface="Arial"/>
              </a:rPr>
              <a:t>. </a:t>
            </a:r>
            <a:r>
              <a:rPr lang="it-IT" sz="1600">
                <a:solidFill>
                  <a:srgbClr val="1F3864"/>
                </a:solidFill>
              </a:rPr>
              <a:t>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da parte di un tecnico, sarà quindi </a:t>
            </a:r>
            <a:r>
              <a:rPr b="1" lang="it-IT" sz="1600" u="sng">
                <a:solidFill>
                  <a:srgbClr val="1F3864"/>
                </a:solidFill>
              </a:rPr>
              <a:t>contattato per prendere un appuntamento per l’installazione</a:t>
            </a:r>
            <a:r>
              <a:rPr lang="it-IT" sz="1600">
                <a:solidFill>
                  <a:srgbClr val="1F3864"/>
                </a:solidFill>
              </a:rPr>
              <a:t>.</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prevede un’antenna installata all’esterno dell’abitazione nella posizione di migliore copertura mobile ed un modem interno, il cui collegamento avverrà tramite cavo ethernet. Nel corso dell’appuntamento si capirà se c’è esigenza di servizi extra (es installare l’antenna sul tetto invece che sul balcone, o se si è in presenza di cappotto termico) e se gestibile la richiesta.</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dell’opzione VOCE UNLIMITED</a:t>
            </a:r>
            <a:r>
              <a:rPr lang="it-IT" sz="1600">
                <a:solidFill>
                  <a:srgbClr val="92D050"/>
                </a:solidFill>
              </a:rPr>
              <a:t>: </a:t>
            </a:r>
            <a:r>
              <a:rPr b="1" lang="it-IT" sz="1600">
                <a:solidFill>
                  <a:srgbClr val="002060"/>
                </a:solidFill>
              </a:rPr>
              <a:t>Chiamate illimitate </a:t>
            </a:r>
            <a:r>
              <a:rPr lang="it-IT" sz="1600">
                <a:solidFill>
                  <a:srgbClr val="1F3864"/>
                </a:solidFill>
              </a:rPr>
              <a:t>il costo sarà di 3€ in più al mese e prevede Chiamate illimitate verso i fissi e mobili nazionali.</a:t>
            </a:r>
            <a:endParaRPr/>
          </a:p>
          <a:p>
            <a:pPr indent="0" lvl="0" marL="0" rtl="0" algn="just">
              <a:lnSpc>
                <a:spcPct val="90000"/>
              </a:lnSpc>
              <a:spcBef>
                <a:spcPts val="1000"/>
              </a:spcBef>
              <a:spcAft>
                <a:spcPts val="0"/>
              </a:spcAft>
              <a:buClr>
                <a:schemeClr val="accent6"/>
              </a:buClr>
              <a:buSzPts val="1800"/>
              <a:buNone/>
            </a:pPr>
            <a:r>
              <a:rPr b="1" lang="it-IT" sz="1800">
                <a:solidFill>
                  <a:schemeClr val="accent6"/>
                </a:solidFill>
              </a:rPr>
              <a:t>Da leggere in caso di aggiunta opzione Più Sicuri Casa: </a:t>
            </a:r>
            <a:r>
              <a:rPr b="1" lang="it-IT" sz="1800">
                <a:solidFill>
                  <a:srgbClr val="1F3864"/>
                </a:solidFill>
              </a:rPr>
              <a:t>Più Sicuri Casa,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0" y="0"/>
            <a:ext cx="12333514" cy="711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3600"/>
              <a:buFont typeface="Calibri"/>
              <a:buNone/>
            </a:pPr>
            <a:r>
              <a:rPr b="1" lang="it-IT" sz="3600">
                <a:solidFill>
                  <a:srgbClr val="002060"/>
                </a:solidFill>
              </a:rPr>
              <a:t>SUPER INTERNET CASA FWA 5G INDOOR &amp; NETFLIX con pubblicità </a:t>
            </a:r>
            <a:endParaRPr/>
          </a:p>
        </p:txBody>
      </p:sp>
      <p:sp>
        <p:nvSpPr>
          <p:cNvPr id="115" name="Google Shape;115;p18"/>
          <p:cNvSpPr txBox="1"/>
          <p:nvPr>
            <p:ph idx="2" type="body"/>
          </p:nvPr>
        </p:nvSpPr>
        <p:spPr>
          <a:xfrm>
            <a:off x="0" y="838200"/>
            <a:ext cx="12072135" cy="6019800"/>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Fissa Super Internet Casa Fwa 5G Indoor &amp; Netflix con pubblicità </a:t>
            </a:r>
            <a:r>
              <a:rPr lang="it-IT" sz="1600">
                <a:solidFill>
                  <a:srgbClr val="1F3864"/>
                </a:solidFill>
              </a:rPr>
              <a:t>prevede navigazione senza limiti fino a</a:t>
            </a:r>
            <a:r>
              <a:rPr b="1" lang="it-IT" sz="1600">
                <a:solidFill>
                  <a:srgbClr val="1F3864"/>
                </a:solidFill>
              </a:rPr>
              <a:t> 300 Mega a 36,49€/mese </a:t>
            </a:r>
            <a:r>
              <a:rPr lang="it-IT" sz="1600">
                <a:solidFill>
                  <a:srgbClr val="1F3864"/>
                </a:solidFill>
              </a:rPr>
              <a:t>con </a:t>
            </a:r>
            <a:r>
              <a:rPr lang="it-IT" sz="1600">
                <a:solidFill>
                  <a:srgbClr val="002060"/>
                </a:solidFill>
              </a:rPr>
              <a:t>chiamate illimitate verso numeri fissi e mobili nazionali,</a:t>
            </a:r>
            <a:r>
              <a:rPr lang="it-IT" sz="1600">
                <a:solidFill>
                  <a:srgbClr val="1F3864"/>
                </a:solidFill>
              </a:rPr>
              <a:t> modem wi fi 7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In più 12 mesi di Prime.</a:t>
            </a:r>
            <a:endParaRPr/>
          </a:p>
          <a:p>
            <a:pPr indent="0" lvl="0" marL="0" rtl="0" algn="just">
              <a:lnSpc>
                <a:spcPct val="90000"/>
              </a:lnSpc>
              <a:spcBef>
                <a:spcPts val="1000"/>
              </a:spcBef>
              <a:spcAft>
                <a:spcPts val="0"/>
              </a:spcAft>
              <a:buClr>
                <a:srgbClr val="FF0000"/>
              </a:buClr>
              <a:buSzPts val="1600"/>
              <a:buNone/>
            </a:pPr>
            <a:r>
              <a:rPr b="1" lang="it-IT" sz="1600">
                <a:solidFill>
                  <a:srgbClr val="FF0000"/>
                </a:solidFill>
              </a:rPr>
              <a:t>Costo di attivazione in promo a 0€ </a:t>
            </a:r>
            <a:r>
              <a:rPr lang="it-IT" sz="1600">
                <a:solidFill>
                  <a:srgbClr val="1F3864"/>
                </a:solidFill>
              </a:rPr>
              <a:t>invece che 1,99€ al mese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 canone di 36,49 euro al mese è composto, per i primi 12 mesi, da 30,5 euro al mese di servizio e Prime e 5,99 euro al mese di modem, dal 13° mese, da 30.5 euro al mese di servizio e 5,99 euro al mese di modem, dal 48° mese, da 36,49 euro al mese di servizio.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Il servizio FWA outdoor prevede l’installazione di un modem da parte di un tecnico, sarà quindi </a:t>
            </a:r>
            <a:r>
              <a:rPr b="1" lang="it-IT" sz="1600" u="sng">
                <a:solidFill>
                  <a:srgbClr val="1F3864"/>
                </a:solidFill>
              </a:rPr>
              <a:t>contattato per prendere un appuntamento per l’installazione</a:t>
            </a:r>
            <a:r>
              <a:rPr lang="it-IT" sz="1600">
                <a:solidFill>
                  <a:srgbClr val="1F3864"/>
                </a:solidFill>
              </a:rPr>
              <a:t>.</a:t>
            </a:r>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dell’opzione VOCE UNLIMITED</a:t>
            </a:r>
            <a:r>
              <a:rPr lang="it-IT" sz="1600">
                <a:solidFill>
                  <a:srgbClr val="92D050"/>
                </a:solidFill>
              </a:rPr>
              <a:t>: </a:t>
            </a:r>
            <a:r>
              <a:rPr b="1" lang="it-IT" sz="1600">
                <a:solidFill>
                  <a:srgbClr val="002060"/>
                </a:solidFill>
              </a:rPr>
              <a:t>Chiamate illimitate </a:t>
            </a:r>
            <a:r>
              <a:rPr lang="it-IT" sz="1600">
                <a:solidFill>
                  <a:srgbClr val="1F3864"/>
                </a:solidFill>
              </a:rPr>
              <a:t>il costo sarà di 3€ in più al mese e prevede Chiamate illimitate verso i fissi e mobili nazionali.</a:t>
            </a:r>
            <a:endParaRPr/>
          </a:p>
          <a:p>
            <a:pPr indent="0" lvl="0" marL="0" rtl="0" algn="just">
              <a:lnSpc>
                <a:spcPct val="90000"/>
              </a:lnSpc>
              <a:spcBef>
                <a:spcPts val="1000"/>
              </a:spcBef>
              <a:spcAft>
                <a:spcPts val="0"/>
              </a:spcAft>
              <a:buClr>
                <a:schemeClr val="accent6"/>
              </a:buClr>
              <a:buSzPts val="1800"/>
              <a:buNone/>
            </a:pPr>
            <a:r>
              <a:rPr b="1" lang="it-IT" sz="1800">
                <a:solidFill>
                  <a:schemeClr val="accent6"/>
                </a:solidFill>
              </a:rPr>
              <a:t>Da leggere in caso di aggiunta opzione Più Sicuri Casa: </a:t>
            </a:r>
            <a:r>
              <a:rPr b="1" lang="it-IT" sz="1800">
                <a:solidFill>
                  <a:srgbClr val="1F3864"/>
                </a:solidFill>
              </a:rPr>
              <a:t>Più Sicuri Casa, </a:t>
            </a:r>
            <a:r>
              <a:rPr lang="it-IT" sz="1600">
                <a:solidFill>
                  <a:srgbClr val="1F3864"/>
                </a:solidFill>
              </a:rPr>
              <a:t>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l">
              <a:lnSpc>
                <a:spcPct val="90000"/>
              </a:lnSpc>
              <a:spcBef>
                <a:spcPts val="1000"/>
              </a:spcBef>
              <a:spcAft>
                <a:spcPts val="0"/>
              </a:spcAft>
              <a:buClr>
                <a:schemeClr val="dk1"/>
              </a:buClr>
              <a:buSzPts val="1600"/>
              <a:buNone/>
            </a:pPr>
            <a:r>
              <a:t/>
            </a:r>
            <a:endParaRPr sz="1600">
              <a:solidFill>
                <a:srgbClr val="00206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152400" y="136526"/>
            <a:ext cx="10648950" cy="711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2060"/>
              </a:buClr>
              <a:buSzPct val="100000"/>
              <a:buFont typeface="Calibri"/>
              <a:buNone/>
            </a:pPr>
            <a:r>
              <a:rPr b="1" lang="it-IT">
                <a:solidFill>
                  <a:srgbClr val="002060"/>
                </a:solidFill>
              </a:rPr>
              <a:t>INTERNET 100/200 NGA &amp; NETFLIX con pubblicità</a:t>
            </a:r>
            <a:endParaRPr/>
          </a:p>
        </p:txBody>
      </p:sp>
      <p:sp>
        <p:nvSpPr>
          <p:cNvPr id="121" name="Google Shape;121;p19"/>
          <p:cNvSpPr txBox="1"/>
          <p:nvPr>
            <p:ph idx="2" type="body"/>
          </p:nvPr>
        </p:nvSpPr>
        <p:spPr>
          <a:xfrm>
            <a:off x="152401" y="847724"/>
            <a:ext cx="11765622" cy="576883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1F3864"/>
              </a:buClr>
              <a:buSzPts val="1600"/>
              <a:buNone/>
            </a:pPr>
            <a:r>
              <a:rPr b="1" lang="it-IT" sz="1600">
                <a:solidFill>
                  <a:srgbClr val="1F3864"/>
                </a:solidFill>
              </a:rPr>
              <a:t>L’offerta Internet Nga 100/200</a:t>
            </a:r>
            <a:r>
              <a:rPr lang="it-IT" sz="1600">
                <a:solidFill>
                  <a:srgbClr val="1F3864"/>
                </a:solidFill>
              </a:rPr>
              <a:t> prevede navigazione senza limiti fino </a:t>
            </a:r>
            <a:r>
              <a:rPr b="1" lang="it-IT" sz="1600">
                <a:solidFill>
                  <a:srgbClr val="1F3864"/>
                </a:solidFill>
              </a:rPr>
              <a:t>a </a:t>
            </a:r>
            <a:r>
              <a:rPr lang="it-IT" sz="1600">
                <a:solidFill>
                  <a:srgbClr val="1F3864"/>
                </a:solidFill>
              </a:rPr>
              <a:t>100/200 mega </a:t>
            </a:r>
            <a:r>
              <a:rPr b="1" lang="it-IT" sz="1600">
                <a:solidFill>
                  <a:srgbClr val="1F3864"/>
                </a:solidFill>
              </a:rPr>
              <a:t>a 36,40€/mese </a:t>
            </a:r>
            <a:r>
              <a:rPr lang="it-IT" sz="1600">
                <a:solidFill>
                  <a:srgbClr val="1F3864"/>
                </a:solidFill>
              </a:rPr>
              <a:t>con chiamate illimitate verso numeri fissi e mobili nazionali, modem e assistenza inclusi. Le offerte si rinnovano ogni mese. Il servizio voce viene attivato sfruttando la tecnologia VoIP. Può condividere i Giga illimitati del fisso fino ad un massimo di 3 SIM compatibili. </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Costo di attivazione: </a:t>
            </a:r>
            <a:r>
              <a:rPr lang="it-IT" sz="1600">
                <a:solidFill>
                  <a:schemeClr val="dk2"/>
                </a:solidFill>
              </a:rPr>
              <a:t>1,99€ per 24 mesi</a:t>
            </a:r>
            <a:endParaRPr/>
          </a:p>
          <a:p>
            <a:pPr indent="0" lvl="0" marL="0" rtl="0" algn="just">
              <a:lnSpc>
                <a:spcPct val="90000"/>
              </a:lnSpc>
              <a:spcBef>
                <a:spcPts val="1000"/>
              </a:spcBef>
              <a:spcAft>
                <a:spcPts val="0"/>
              </a:spcAft>
              <a:buClr>
                <a:srgbClr val="1F3864"/>
              </a:buClr>
              <a:buSzPts val="1600"/>
              <a:buNone/>
            </a:pPr>
            <a:r>
              <a:rPr lang="it-IT" sz="1600">
                <a:solidFill>
                  <a:srgbClr val="1F3864"/>
                </a:solidFill>
              </a:rPr>
              <a:t>Riepilogando, il</a:t>
            </a:r>
            <a:r>
              <a:rPr b="1" lang="it-IT" sz="1600">
                <a:solidFill>
                  <a:srgbClr val="1F3864"/>
                </a:solidFill>
              </a:rPr>
              <a:t> </a:t>
            </a:r>
            <a:r>
              <a:rPr lang="it-IT" sz="1600">
                <a:solidFill>
                  <a:srgbClr val="1F3864"/>
                </a:solidFill>
              </a:rPr>
              <a:t>costo mensile dell’offerta è di </a:t>
            </a:r>
            <a:r>
              <a:rPr b="1" lang="it-IT" sz="1600">
                <a:solidFill>
                  <a:srgbClr val="1F3864"/>
                </a:solidFill>
              </a:rPr>
              <a:t>36,40€/mese</a:t>
            </a:r>
            <a:r>
              <a:rPr lang="it-IT" sz="1600">
                <a:solidFill>
                  <a:srgbClr val="1F3864"/>
                </a:solidFill>
              </a:rPr>
              <a:t>, composto da 30,41€/mese di canone di servizio e 5,99€/mese di rata del modem per i primi 48 mesi dopo </a:t>
            </a:r>
            <a:r>
              <a:rPr b="1" lang="it-IT" sz="1600">
                <a:solidFill>
                  <a:srgbClr val="1F3864"/>
                </a:solidFill>
              </a:rPr>
              <a:t>36,40</a:t>
            </a:r>
            <a:r>
              <a:rPr lang="it-IT" sz="1600">
                <a:solidFill>
                  <a:srgbClr val="1F3864"/>
                </a:solidFill>
              </a:rPr>
              <a:t>€/mese E' inoltre previsto un costo di 10€ per anticipo del Modem.</a:t>
            </a:r>
            <a:endParaRPr/>
          </a:p>
          <a:p>
            <a:pPr indent="0" lvl="0" marL="0" rtl="0" algn="just">
              <a:lnSpc>
                <a:spcPct val="90000"/>
              </a:lnSpc>
              <a:spcBef>
                <a:spcPts val="1000"/>
              </a:spcBef>
              <a:spcAft>
                <a:spcPts val="0"/>
              </a:spcAft>
              <a:buClr>
                <a:schemeClr val="dk1"/>
              </a:buClr>
              <a:buSzPts val="1600"/>
              <a:buNone/>
            </a:pPr>
            <a:r>
              <a:t/>
            </a:r>
            <a:endParaRPr sz="1600">
              <a:solidFill>
                <a:srgbClr val="1F3864"/>
              </a:solidFill>
            </a:endParaRPr>
          </a:p>
          <a:p>
            <a:pPr indent="0" lvl="0" marL="0" rtl="0" algn="just">
              <a:lnSpc>
                <a:spcPct val="90000"/>
              </a:lnSpc>
              <a:spcBef>
                <a:spcPts val="1000"/>
              </a:spcBef>
              <a:spcAft>
                <a:spcPts val="0"/>
              </a:spcAft>
              <a:buClr>
                <a:schemeClr val="accent6"/>
              </a:buClr>
              <a:buSzPts val="1600"/>
              <a:buNone/>
            </a:pPr>
            <a:r>
              <a:rPr b="1" lang="it-IT" sz="1600">
                <a:solidFill>
                  <a:schemeClr val="accent6"/>
                </a:solidFill>
              </a:rPr>
              <a:t>Da leggere in caso di aggiunta opzione Più Sicuri Casa: </a:t>
            </a:r>
            <a:r>
              <a:rPr b="1" lang="it-IT" sz="1600">
                <a:solidFill>
                  <a:srgbClr val="1F3864"/>
                </a:solidFill>
              </a:rPr>
              <a:t>Più Sicuri Casa</a:t>
            </a:r>
            <a:r>
              <a:rPr lang="it-IT" sz="1600">
                <a:solidFill>
                  <a:srgbClr val="1F3864"/>
                </a:solidFill>
              </a:rPr>
              <a:t>, a soli 1,99€ in più al mese e il primo mese gratuito, le</a:t>
            </a:r>
            <a:r>
              <a:rPr lang="it-IT" sz="1600">
                <a:solidFill>
                  <a:srgbClr val="1F3864"/>
                </a:solidFill>
                <a:latin typeface="Calibri"/>
                <a:ea typeface="Calibri"/>
                <a:cs typeface="Calibri"/>
                <a:sym typeface="Calibri"/>
              </a:rPr>
              <a:t> permette di proteggere la rete di casa e tutti i dispostivi ad essa connessi</a:t>
            </a:r>
            <a:r>
              <a:rPr lang="it-IT" sz="1600">
                <a:solidFill>
                  <a:srgbClr val="1F3864"/>
                </a:solidFil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p:nvPr/>
        </p:nvSpPr>
        <p:spPr>
          <a:xfrm>
            <a:off x="-16547" y="30812"/>
            <a:ext cx="12192000" cy="75799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Calibri"/>
              <a:ea typeface="Calibri"/>
              <a:cs typeface="Calibri"/>
              <a:sym typeface="Calibri"/>
            </a:endParaRPr>
          </a:p>
        </p:txBody>
      </p:sp>
      <p:sp>
        <p:nvSpPr>
          <p:cNvPr id="127" name="Google Shape;127;p20"/>
          <p:cNvSpPr/>
          <p:nvPr/>
        </p:nvSpPr>
        <p:spPr>
          <a:xfrm>
            <a:off x="7470510" y="2130945"/>
            <a:ext cx="4678671" cy="902198"/>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grpSp>
        <p:nvGrpSpPr>
          <p:cNvPr id="128" name="Google Shape;128;p20"/>
          <p:cNvGrpSpPr/>
          <p:nvPr/>
        </p:nvGrpSpPr>
        <p:grpSpPr>
          <a:xfrm>
            <a:off x="770631" y="1913766"/>
            <a:ext cx="4380684" cy="4394282"/>
            <a:chOff x="3006242" y="1256122"/>
            <a:chExt cx="5040000" cy="5040000"/>
          </a:xfrm>
        </p:grpSpPr>
        <p:sp>
          <p:nvSpPr>
            <p:cNvPr id="129" name="Google Shape;129;p20"/>
            <p:cNvSpPr/>
            <p:nvPr/>
          </p:nvSpPr>
          <p:spPr>
            <a:xfrm>
              <a:off x="3006242" y="1256122"/>
              <a:ext cx="5040000" cy="5040000"/>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0" name="Google Shape;130;p20"/>
            <p:cNvSpPr/>
            <p:nvPr/>
          </p:nvSpPr>
          <p:spPr>
            <a:xfrm>
              <a:off x="3366243" y="1616122"/>
              <a:ext cx="4320001" cy="4320000"/>
            </a:xfrm>
            <a:prstGeom prst="ellipse">
              <a:avLst/>
            </a:prstGeom>
            <a:gradFill>
              <a:gsLst>
                <a:gs pos="0">
                  <a:srgbClr val="0070C0"/>
                </a:gs>
                <a:gs pos="22000">
                  <a:srgbClr val="0070C0"/>
                </a:gs>
                <a:gs pos="80000">
                  <a:srgbClr val="003B68"/>
                </a:gs>
                <a:gs pos="100000">
                  <a:srgbClr val="003B68"/>
                </a:gs>
              </a:gsLst>
              <a:lin ang="9600000" scaled="0"/>
            </a:gra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sp>
          <p:nvSpPr>
            <p:cNvPr id="131" name="Google Shape;131;p20"/>
            <p:cNvSpPr/>
            <p:nvPr/>
          </p:nvSpPr>
          <p:spPr>
            <a:xfrm>
              <a:off x="3573112" y="1822992"/>
              <a:ext cx="3906259" cy="3906259"/>
            </a:xfrm>
            <a:prstGeom prst="ellipse">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32" name="Google Shape;132;p20"/>
            <p:cNvSpPr/>
            <p:nvPr/>
          </p:nvSpPr>
          <p:spPr>
            <a:xfrm>
              <a:off x="3647678" y="1897558"/>
              <a:ext cx="3757125" cy="3757125"/>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133" name="Google Shape;133;p20"/>
          <p:cNvSpPr/>
          <p:nvPr/>
        </p:nvSpPr>
        <p:spPr>
          <a:xfrm>
            <a:off x="1331796" y="2478094"/>
            <a:ext cx="3265629" cy="3265627"/>
          </a:xfrm>
          <a:prstGeom prst="ellipse">
            <a:avLst/>
          </a:prstGeom>
          <a:gradFill>
            <a:gsLst>
              <a:gs pos="0">
                <a:srgbClr val="0070C0"/>
              </a:gs>
              <a:gs pos="22000">
                <a:srgbClr val="0070C0"/>
              </a:gs>
              <a:gs pos="80000">
                <a:srgbClr val="003B68"/>
              </a:gs>
              <a:gs pos="100000">
                <a:srgbClr val="003B68"/>
              </a:gs>
            </a:gsLst>
            <a:lin ang="9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pic>
        <p:nvPicPr>
          <p:cNvPr descr="Immagine che contiene Elettrodomestico&#10;&#10;Descrizione generata automaticamente" id="134" name="Google Shape;134;p20"/>
          <p:cNvPicPr preferRelativeResize="0"/>
          <p:nvPr/>
        </p:nvPicPr>
        <p:blipFill rotWithShape="1">
          <a:blip r:embed="rId3">
            <a:alphaModFix/>
          </a:blip>
          <a:srcRect b="0" l="0" r="0" t="0"/>
          <a:stretch/>
        </p:blipFill>
        <p:spPr>
          <a:xfrm>
            <a:off x="1692527" y="1915915"/>
            <a:ext cx="2536888" cy="4333277"/>
          </a:xfrm>
          <a:prstGeom prst="rect">
            <a:avLst/>
          </a:prstGeom>
          <a:noFill/>
          <a:ln>
            <a:noFill/>
          </a:ln>
        </p:spPr>
      </p:pic>
      <p:pic>
        <p:nvPicPr>
          <p:cNvPr id="135" name="Google Shape;135;p20"/>
          <p:cNvPicPr preferRelativeResize="0"/>
          <p:nvPr/>
        </p:nvPicPr>
        <p:blipFill rotWithShape="1">
          <a:blip r:embed="rId4">
            <a:alphaModFix/>
          </a:blip>
          <a:srcRect b="0" l="0" r="0" t="0"/>
          <a:stretch/>
        </p:blipFill>
        <p:spPr>
          <a:xfrm>
            <a:off x="515714" y="3662645"/>
            <a:ext cx="1537321" cy="827567"/>
          </a:xfrm>
          <a:prstGeom prst="rect">
            <a:avLst/>
          </a:prstGeom>
          <a:noFill/>
          <a:ln>
            <a:noFill/>
          </a:ln>
        </p:spPr>
      </p:pic>
      <p:sp>
        <p:nvSpPr>
          <p:cNvPr id="136" name="Google Shape;136;p20"/>
          <p:cNvSpPr txBox="1"/>
          <p:nvPr/>
        </p:nvSpPr>
        <p:spPr>
          <a:xfrm>
            <a:off x="7828246" y="2199018"/>
            <a:ext cx="4203832" cy="769441"/>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1100" u="none" cap="none" strike="noStrike">
                <a:solidFill>
                  <a:srgbClr val="686F75"/>
                </a:solidFill>
                <a:latin typeface="Montserrat"/>
                <a:ea typeface="Montserrat"/>
                <a:cs typeface="Montserrat"/>
                <a:sym typeface="Montserrat"/>
              </a:rPr>
              <a:t>Doppia rete Wireless a 2,4 Ghz e 5 Ghz </a:t>
            </a:r>
            <a:r>
              <a:rPr b="0" i="0" lang="it-IT" sz="1100" u="none" cap="none" strike="noStrike">
                <a:solidFill>
                  <a:srgbClr val="686F75"/>
                </a:solidFill>
                <a:latin typeface="Montserrat"/>
                <a:ea typeface="Montserrat"/>
                <a:cs typeface="Montserrat"/>
                <a:sym typeface="Montserrat"/>
              </a:rPr>
              <a:t>che garantisce la migliore copertura e minor rischio di interferenze</a:t>
            </a:r>
            <a:endParaRPr/>
          </a:p>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Il nuovo design garantisce un ottimale posizionamento delle antenne per una </a:t>
            </a:r>
            <a:r>
              <a:rPr b="1" i="0" lang="it-IT" sz="1100" u="none" cap="none" strike="noStrike">
                <a:solidFill>
                  <a:srgbClr val="686F75"/>
                </a:solidFill>
                <a:latin typeface="Montserrat"/>
                <a:ea typeface="Montserrat"/>
                <a:cs typeface="Montserrat"/>
                <a:sym typeface="Montserrat"/>
              </a:rPr>
              <a:t>migliore copertura </a:t>
            </a:r>
            <a:r>
              <a:rPr b="0" i="0" lang="it-IT" sz="1100" u="none" cap="none" strike="noStrike">
                <a:solidFill>
                  <a:srgbClr val="686F75"/>
                </a:solidFill>
                <a:latin typeface="Montserrat"/>
                <a:ea typeface="Montserrat"/>
                <a:cs typeface="Montserrat"/>
                <a:sym typeface="Montserrat"/>
              </a:rPr>
              <a:t>indoor </a:t>
            </a:r>
            <a:endParaRPr/>
          </a:p>
        </p:txBody>
      </p:sp>
      <p:sp>
        <p:nvSpPr>
          <p:cNvPr id="137" name="Google Shape;137;p20"/>
          <p:cNvSpPr/>
          <p:nvPr/>
        </p:nvSpPr>
        <p:spPr>
          <a:xfrm>
            <a:off x="7490994" y="3087134"/>
            <a:ext cx="4658187" cy="740480"/>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38" name="Google Shape;138;p20"/>
          <p:cNvSpPr txBox="1"/>
          <p:nvPr/>
        </p:nvSpPr>
        <p:spPr>
          <a:xfrm>
            <a:off x="7803898" y="3154996"/>
            <a:ext cx="4216787" cy="600164"/>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Grazie alle </a:t>
            </a:r>
            <a:r>
              <a:rPr b="1" i="0" lang="it-IT" sz="1100" u="none" cap="none" strike="noStrike">
                <a:solidFill>
                  <a:srgbClr val="686F75"/>
                </a:solidFill>
                <a:latin typeface="Montserrat"/>
                <a:ea typeface="Montserrat"/>
                <a:cs typeface="Montserrat"/>
                <a:sym typeface="Montserrat"/>
              </a:rPr>
              <a:t>8 antenne </a:t>
            </a:r>
            <a:r>
              <a:rPr b="0" i="0" lang="it-IT" sz="1100" u="none" cap="none" strike="noStrike">
                <a:solidFill>
                  <a:srgbClr val="686F75"/>
                </a:solidFill>
                <a:latin typeface="Montserrat"/>
                <a:ea typeface="Montserrat"/>
                <a:cs typeface="Montserrat"/>
                <a:sym typeface="Montserrat"/>
              </a:rPr>
              <a:t>hai più velocità e connetti fino a </a:t>
            </a:r>
            <a:r>
              <a:rPr b="1" i="0" lang="it-IT" sz="1100" u="none" cap="none" strike="noStrike">
                <a:solidFill>
                  <a:srgbClr val="686F75"/>
                </a:solidFill>
                <a:latin typeface="Montserrat"/>
                <a:ea typeface="Montserrat"/>
                <a:cs typeface="Montserrat"/>
                <a:sym typeface="Montserrat"/>
              </a:rPr>
              <a:t>256 device</a:t>
            </a:r>
            <a:r>
              <a:rPr b="0" i="0" lang="it-IT" sz="1100" u="none" cap="none" strike="noStrike">
                <a:solidFill>
                  <a:srgbClr val="686F75"/>
                </a:solidFill>
                <a:latin typeface="Montserrat"/>
                <a:ea typeface="Montserrat"/>
                <a:cs typeface="Montserrat"/>
                <a:sym typeface="Montserrat"/>
              </a:rPr>
              <a:t> contemporaneamente con la migliore </a:t>
            </a:r>
            <a:r>
              <a:rPr b="1" i="0" lang="it-IT" sz="1100" u="none" cap="none" strike="noStrike">
                <a:solidFill>
                  <a:srgbClr val="686F75"/>
                </a:solidFill>
                <a:latin typeface="Montserrat"/>
                <a:ea typeface="Montserrat"/>
                <a:cs typeface="Montserrat"/>
                <a:sym typeface="Montserrat"/>
              </a:rPr>
              <a:t>stabilità di connessione</a:t>
            </a:r>
            <a:endParaRPr/>
          </a:p>
        </p:txBody>
      </p:sp>
      <p:sp>
        <p:nvSpPr>
          <p:cNvPr id="139" name="Google Shape;139;p20"/>
          <p:cNvSpPr/>
          <p:nvPr/>
        </p:nvSpPr>
        <p:spPr>
          <a:xfrm>
            <a:off x="7429608" y="3889549"/>
            <a:ext cx="4696513" cy="617042"/>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0" name="Google Shape;140;p20"/>
          <p:cNvSpPr txBox="1"/>
          <p:nvPr/>
        </p:nvSpPr>
        <p:spPr>
          <a:xfrm>
            <a:off x="7871492" y="3976842"/>
            <a:ext cx="4149194" cy="442712"/>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1100" u="none" cap="none" strike="noStrike">
                <a:solidFill>
                  <a:srgbClr val="686F75"/>
                </a:solidFill>
                <a:latin typeface="Montserrat"/>
                <a:ea typeface="Montserrat"/>
                <a:cs typeface="Montserrat"/>
                <a:sym typeface="Montserrat"/>
              </a:rPr>
              <a:t>Maggiori performance </a:t>
            </a:r>
            <a:r>
              <a:rPr b="0" i="0" lang="it-IT" sz="1100" u="none" cap="none" strike="noStrike">
                <a:solidFill>
                  <a:srgbClr val="686F75"/>
                </a:solidFill>
                <a:latin typeface="Montserrat"/>
                <a:ea typeface="Montserrat"/>
                <a:cs typeface="Montserrat"/>
                <a:sym typeface="Montserrat"/>
              </a:rPr>
              <a:t>per streaming e gaming online grazie alla minore latenza presente sulla connessione</a:t>
            </a:r>
            <a:endParaRPr/>
          </a:p>
        </p:txBody>
      </p:sp>
      <p:sp>
        <p:nvSpPr>
          <p:cNvPr id="141" name="Google Shape;141;p20"/>
          <p:cNvSpPr/>
          <p:nvPr/>
        </p:nvSpPr>
        <p:spPr>
          <a:xfrm>
            <a:off x="7406548" y="4665829"/>
            <a:ext cx="4719573" cy="603465"/>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2" name="Google Shape;142;p20"/>
          <p:cNvSpPr txBox="1"/>
          <p:nvPr/>
        </p:nvSpPr>
        <p:spPr>
          <a:xfrm>
            <a:off x="7807024" y="4742855"/>
            <a:ext cx="4213661" cy="430887"/>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Consente un maggiore </a:t>
            </a:r>
            <a:r>
              <a:rPr b="1" i="0" lang="it-IT" sz="1100" u="none" cap="none" strike="noStrike">
                <a:solidFill>
                  <a:srgbClr val="686F75"/>
                </a:solidFill>
                <a:latin typeface="Montserrat"/>
                <a:ea typeface="Montserrat"/>
                <a:cs typeface="Montserrat"/>
                <a:sym typeface="Montserrat"/>
              </a:rPr>
              <a:t>risparmio energetico</a:t>
            </a:r>
            <a:r>
              <a:rPr b="0" i="0" lang="it-IT" sz="1100" u="none" cap="none" strike="noStrike">
                <a:solidFill>
                  <a:srgbClr val="686F75"/>
                </a:solidFill>
                <a:latin typeface="Montserrat"/>
                <a:ea typeface="Montserrat"/>
                <a:cs typeface="Montserrat"/>
                <a:sym typeface="Montserrat"/>
              </a:rPr>
              <a:t>. La batteria dei dispositivi mobili connessi in Wi-Fi durerà di più</a:t>
            </a:r>
            <a:endParaRPr/>
          </a:p>
        </p:txBody>
      </p:sp>
      <p:sp>
        <p:nvSpPr>
          <p:cNvPr id="143" name="Google Shape;143;p20"/>
          <p:cNvSpPr/>
          <p:nvPr/>
        </p:nvSpPr>
        <p:spPr>
          <a:xfrm>
            <a:off x="7408319" y="5442665"/>
            <a:ext cx="4719573" cy="603465"/>
          </a:xfrm>
          <a:prstGeom prst="roundRect">
            <a:avLst>
              <a:gd fmla="val 16667" name="adj"/>
            </a:avLst>
          </a:prstGeom>
          <a:gradFill>
            <a:gsLst>
              <a:gs pos="0">
                <a:srgbClr val="DE441E"/>
              </a:gs>
              <a:gs pos="18881">
                <a:srgbClr val="DE441E"/>
              </a:gs>
              <a:gs pos="55000">
                <a:srgbClr val="F67622"/>
              </a:gs>
              <a:gs pos="61000">
                <a:srgbClr val="FFC000"/>
              </a:gs>
              <a:gs pos="67000">
                <a:srgbClr val="FD841F"/>
              </a:gs>
              <a:gs pos="86000">
                <a:srgbClr val="EA5C1E"/>
              </a:gs>
              <a:gs pos="97203">
                <a:srgbClr val="DE441E"/>
              </a:gs>
              <a:gs pos="100000">
                <a:srgbClr val="DE441E"/>
              </a:gs>
            </a:gsLst>
            <a:lin ang="13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sp>
        <p:nvSpPr>
          <p:cNvPr id="144" name="Google Shape;144;p20"/>
          <p:cNvSpPr txBox="1"/>
          <p:nvPr/>
        </p:nvSpPr>
        <p:spPr>
          <a:xfrm>
            <a:off x="7808312" y="5525934"/>
            <a:ext cx="4212373" cy="430887"/>
          </a:xfrm>
          <a:prstGeom prst="rect">
            <a:avLst/>
          </a:prstGeom>
          <a:solidFill>
            <a:srgbClr val="FCFBF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1100" u="none" cap="none" strike="noStrike">
                <a:solidFill>
                  <a:srgbClr val="686F75"/>
                </a:solidFill>
                <a:latin typeface="Montserrat"/>
                <a:ea typeface="Montserrat"/>
                <a:cs typeface="Montserrat"/>
                <a:sym typeface="Montserrat"/>
              </a:rPr>
              <a:t>Imballaggio realizzato con </a:t>
            </a:r>
            <a:r>
              <a:rPr b="1" i="0" lang="it-IT" sz="1100" u="none" cap="none" strike="noStrike">
                <a:solidFill>
                  <a:srgbClr val="686F75"/>
                </a:solidFill>
                <a:latin typeface="Montserrat"/>
                <a:ea typeface="Montserrat"/>
                <a:cs typeface="Montserrat"/>
                <a:sym typeface="Montserrat"/>
              </a:rPr>
              <a:t>carta riciclata </a:t>
            </a:r>
            <a:r>
              <a:rPr b="0" i="0" lang="it-IT" sz="1100" u="none" cap="none" strike="noStrike">
                <a:solidFill>
                  <a:srgbClr val="686F75"/>
                </a:solidFill>
                <a:latin typeface="Montserrat"/>
                <a:ea typeface="Montserrat"/>
                <a:cs typeface="Montserrat"/>
                <a:sym typeface="Montserrat"/>
              </a:rPr>
              <a:t>e (per uno dei due modelli) il prodotto è realizzato con plastica riciclata </a:t>
            </a:r>
            <a:endParaRPr/>
          </a:p>
        </p:txBody>
      </p:sp>
      <p:sp>
        <p:nvSpPr>
          <p:cNvPr id="145" name="Google Shape;145;p20"/>
          <p:cNvSpPr/>
          <p:nvPr/>
        </p:nvSpPr>
        <p:spPr>
          <a:xfrm>
            <a:off x="5212198" y="3132565"/>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VELOCITA’</a:t>
            </a:r>
            <a:endParaRPr/>
          </a:p>
        </p:txBody>
      </p:sp>
      <p:sp>
        <p:nvSpPr>
          <p:cNvPr id="146" name="Google Shape;146;p20"/>
          <p:cNvSpPr/>
          <p:nvPr/>
        </p:nvSpPr>
        <p:spPr>
          <a:xfrm>
            <a:off x="5216127" y="3901631"/>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STREAMING e GAMING</a:t>
            </a:r>
            <a:endParaRPr/>
          </a:p>
        </p:txBody>
      </p:sp>
      <p:sp>
        <p:nvSpPr>
          <p:cNvPr id="147" name="Google Shape;147;p20"/>
          <p:cNvSpPr/>
          <p:nvPr/>
        </p:nvSpPr>
        <p:spPr>
          <a:xfrm>
            <a:off x="5216127" y="4666705"/>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RISPARMIO ENERGETICO</a:t>
            </a:r>
            <a:endParaRPr/>
          </a:p>
        </p:txBody>
      </p:sp>
      <p:sp>
        <p:nvSpPr>
          <p:cNvPr id="148" name="Google Shape;148;p20"/>
          <p:cNvSpPr/>
          <p:nvPr/>
        </p:nvSpPr>
        <p:spPr>
          <a:xfrm>
            <a:off x="5216126" y="5453551"/>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PLASTIC FREE</a:t>
            </a:r>
            <a:endParaRPr/>
          </a:p>
        </p:txBody>
      </p:sp>
      <p:sp>
        <p:nvSpPr>
          <p:cNvPr id="149" name="Google Shape;149;p20"/>
          <p:cNvSpPr/>
          <p:nvPr/>
        </p:nvSpPr>
        <p:spPr>
          <a:xfrm>
            <a:off x="5212199" y="2345315"/>
            <a:ext cx="2656195" cy="60496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it-IT" sz="1600" u="none" cap="none" strike="noStrike">
                <a:solidFill>
                  <a:schemeClr val="lt1"/>
                </a:solidFill>
                <a:latin typeface="Montserrat Black"/>
                <a:ea typeface="Montserrat Black"/>
                <a:cs typeface="Montserrat Black"/>
                <a:sym typeface="Montserrat Black"/>
              </a:rPr>
              <a:t>PIU’ COPERTURA IN TUTTA LA CASA</a:t>
            </a:r>
            <a:endParaRPr/>
          </a:p>
        </p:txBody>
      </p:sp>
      <p:sp>
        <p:nvSpPr>
          <p:cNvPr id="150" name="Google Shape;150;p20"/>
          <p:cNvSpPr txBox="1"/>
          <p:nvPr/>
        </p:nvSpPr>
        <p:spPr>
          <a:xfrm>
            <a:off x="165169" y="186766"/>
            <a:ext cx="10515600" cy="332399"/>
          </a:xfrm>
          <a:prstGeom prst="rect">
            <a:avLst/>
          </a:prstGeom>
          <a:noFill/>
          <a:ln>
            <a:noFill/>
          </a:ln>
        </p:spPr>
        <p:txBody>
          <a:bodyPr anchorCtr="0" anchor="t" bIns="45700" lIns="91425" spcFirstLastPara="1" rIns="91425" wrap="square" tIns="45700">
            <a:noAutofit/>
          </a:bodyPr>
          <a:lstStyle/>
          <a:p>
            <a:pPr indent="0" lvl="1" marL="279400" marR="0" rtl="0" algn="l">
              <a:lnSpc>
                <a:spcPct val="90000"/>
              </a:lnSpc>
              <a:spcBef>
                <a:spcPts val="0"/>
              </a:spcBef>
              <a:spcAft>
                <a:spcPts val="0"/>
              </a:spcAft>
              <a:buClr>
                <a:srgbClr val="000000"/>
              </a:buClr>
              <a:buSzPts val="2800"/>
              <a:buFont typeface="Arial"/>
              <a:buNone/>
            </a:pPr>
            <a:r>
              <a:rPr b="1" i="0" lang="it-IT" sz="2800" u="none" cap="none" strike="noStrike">
                <a:solidFill>
                  <a:srgbClr val="000000"/>
                </a:solidFill>
                <a:latin typeface="Montserrat"/>
                <a:ea typeface="Montserrat"/>
                <a:cs typeface="Montserrat"/>
                <a:sym typeface="Montserrat"/>
              </a:rPr>
              <a:t>NUOVO MODEM WI-FI 7 INCLUSO CON SUPER FIBRA</a:t>
            </a:r>
            <a:endParaRPr/>
          </a:p>
        </p:txBody>
      </p:sp>
      <p:sp>
        <p:nvSpPr>
          <p:cNvPr id="151" name="Google Shape;151;p20"/>
          <p:cNvSpPr/>
          <p:nvPr/>
        </p:nvSpPr>
        <p:spPr>
          <a:xfrm>
            <a:off x="2" y="1120344"/>
            <a:ext cx="12191998" cy="429222"/>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6A00"/>
              </a:buClr>
              <a:buSzPts val="1600"/>
              <a:buFont typeface="Montserrat"/>
              <a:buNone/>
            </a:pPr>
            <a:r>
              <a:rPr b="0" i="0" lang="it-IT" sz="1600" u="none" cap="none" strike="noStrike">
                <a:solidFill>
                  <a:srgbClr val="FF6A00"/>
                </a:solidFill>
                <a:latin typeface="Montserrat"/>
                <a:ea typeface="Montserrat"/>
                <a:cs typeface="Montserrat"/>
                <a:sym typeface="Montserrat"/>
              </a:rPr>
              <a:t>              </a:t>
            </a:r>
            <a:endParaRPr/>
          </a:p>
        </p:txBody>
      </p:sp>
      <p:sp>
        <p:nvSpPr>
          <p:cNvPr id="152" name="Google Shape;152;p20"/>
          <p:cNvSpPr txBox="1"/>
          <p:nvPr/>
        </p:nvSpPr>
        <p:spPr>
          <a:xfrm>
            <a:off x="2546098" y="1137461"/>
            <a:ext cx="7468734" cy="42299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A3838"/>
              </a:buClr>
              <a:buSzPts val="2000"/>
              <a:buFont typeface="Montserrat"/>
              <a:buNone/>
            </a:pPr>
            <a:r>
              <a:rPr b="1" i="0" lang="it-IT" sz="2000" u="none" cap="none" strike="noStrike">
                <a:solidFill>
                  <a:srgbClr val="3A3838"/>
                </a:solidFill>
                <a:latin typeface="Montserrat"/>
                <a:ea typeface="Montserrat"/>
                <a:cs typeface="Montserrat"/>
                <a:sym typeface="Montserrat"/>
              </a:rPr>
              <a:t>ANCORA PIÙ POTENZA E VELOCITÀ </a:t>
            </a:r>
            <a:endParaRPr/>
          </a:p>
        </p:txBody>
      </p:sp>
      <p:sp>
        <p:nvSpPr>
          <p:cNvPr id="153" name="Google Shape;153;p20"/>
          <p:cNvSpPr/>
          <p:nvPr/>
        </p:nvSpPr>
        <p:spPr>
          <a:xfrm flipH="1" rot="10800000">
            <a:off x="0" y="6485517"/>
            <a:ext cx="1882586" cy="372483"/>
          </a:xfrm>
          <a:custGeom>
            <a:rect b="b" l="l" r="r" t="t"/>
            <a:pathLst>
              <a:path extrusionOk="0" h="1276644" w="3589686">
                <a:moveTo>
                  <a:pt x="7525" y="0"/>
                </a:moveTo>
                <a:cubicBezTo>
                  <a:pt x="4953" y="3524"/>
                  <a:pt x="2477" y="7049"/>
                  <a:pt x="0" y="10668"/>
                </a:cubicBezTo>
                <a:lnTo>
                  <a:pt x="0" y="923449"/>
                </a:lnTo>
                <a:cubicBezTo>
                  <a:pt x="40672" y="982028"/>
                  <a:pt x="89154" y="1035177"/>
                  <a:pt x="143828" y="1081183"/>
                </a:cubicBezTo>
                <a:cubicBezTo>
                  <a:pt x="162973" y="1097280"/>
                  <a:pt x="182880" y="1112520"/>
                  <a:pt x="203359" y="1126808"/>
                </a:cubicBezTo>
                <a:cubicBezTo>
                  <a:pt x="249460" y="1159002"/>
                  <a:pt x="299180" y="1186148"/>
                  <a:pt x="351092" y="1207675"/>
                </a:cubicBezTo>
                <a:cubicBezTo>
                  <a:pt x="366046" y="1213866"/>
                  <a:pt x="381191" y="1219581"/>
                  <a:pt x="396431" y="1224820"/>
                </a:cubicBezTo>
                <a:cubicBezTo>
                  <a:pt x="455390" y="1245108"/>
                  <a:pt x="516731" y="1257395"/>
                  <a:pt x="578644" y="1264730"/>
                </a:cubicBezTo>
                <a:cubicBezTo>
                  <a:pt x="641985" y="1272254"/>
                  <a:pt x="706184" y="1275779"/>
                  <a:pt x="769906" y="1276541"/>
                </a:cubicBezTo>
                <a:cubicBezTo>
                  <a:pt x="834962" y="1277303"/>
                  <a:pt x="900017" y="1273874"/>
                  <a:pt x="964597" y="1265682"/>
                </a:cubicBezTo>
                <a:cubicBezTo>
                  <a:pt x="997077" y="1261586"/>
                  <a:pt x="1029557" y="1256443"/>
                  <a:pt x="1061752" y="1250252"/>
                </a:cubicBezTo>
                <a:cubicBezTo>
                  <a:pt x="1144810" y="1234440"/>
                  <a:pt x="1226820" y="1212342"/>
                  <a:pt x="1306639" y="1184529"/>
                </a:cubicBezTo>
                <a:cubicBezTo>
                  <a:pt x="1329881" y="1176433"/>
                  <a:pt x="1353026" y="1167765"/>
                  <a:pt x="1375886" y="1158716"/>
                </a:cubicBezTo>
                <a:cubicBezTo>
                  <a:pt x="1438275" y="1133951"/>
                  <a:pt x="1498759" y="1104710"/>
                  <a:pt x="1558100" y="1073372"/>
                </a:cubicBezTo>
                <a:cubicBezTo>
                  <a:pt x="1591818" y="1055561"/>
                  <a:pt x="1625156" y="1037082"/>
                  <a:pt x="1658303" y="1018413"/>
                </a:cubicBezTo>
                <a:cubicBezTo>
                  <a:pt x="1755267" y="963644"/>
                  <a:pt x="1846707" y="897065"/>
                  <a:pt x="1936147" y="830961"/>
                </a:cubicBezTo>
                <a:cubicBezTo>
                  <a:pt x="1987106" y="793337"/>
                  <a:pt x="2037398" y="754856"/>
                  <a:pt x="2087594" y="716280"/>
                </a:cubicBezTo>
                <a:cubicBezTo>
                  <a:pt x="2101310" y="705707"/>
                  <a:pt x="2115503" y="695706"/>
                  <a:pt x="2128742" y="684657"/>
                </a:cubicBezTo>
                <a:cubicBezTo>
                  <a:pt x="2187988" y="635318"/>
                  <a:pt x="2252758" y="589312"/>
                  <a:pt x="2315242" y="543497"/>
                </a:cubicBezTo>
                <a:cubicBezTo>
                  <a:pt x="2376869" y="498253"/>
                  <a:pt x="2439638" y="454343"/>
                  <a:pt x="2504028" y="413004"/>
                </a:cubicBezTo>
                <a:cubicBezTo>
                  <a:pt x="2540699" y="389477"/>
                  <a:pt x="2577941" y="366617"/>
                  <a:pt x="2615660" y="344805"/>
                </a:cubicBezTo>
                <a:cubicBezTo>
                  <a:pt x="2709958" y="290227"/>
                  <a:pt x="2807303" y="240983"/>
                  <a:pt x="2907221" y="197644"/>
                </a:cubicBezTo>
                <a:cubicBezTo>
                  <a:pt x="3005995" y="154686"/>
                  <a:pt x="3107246" y="117539"/>
                  <a:pt x="3210306" y="86392"/>
                </a:cubicBezTo>
                <a:cubicBezTo>
                  <a:pt x="3239167" y="77629"/>
                  <a:pt x="3268218" y="69437"/>
                  <a:pt x="3297365" y="61627"/>
                </a:cubicBezTo>
                <a:cubicBezTo>
                  <a:pt x="3312224" y="57626"/>
                  <a:pt x="3327178" y="53816"/>
                  <a:pt x="3342132" y="50102"/>
                </a:cubicBezTo>
                <a:cubicBezTo>
                  <a:pt x="3356039" y="46673"/>
                  <a:pt x="3372136" y="45053"/>
                  <a:pt x="3385471" y="39719"/>
                </a:cubicBezTo>
                <a:cubicBezTo>
                  <a:pt x="3453003" y="24098"/>
                  <a:pt x="3521107" y="10763"/>
                  <a:pt x="3589687" y="0"/>
                </a:cubicBezTo>
                <a:lnTo>
                  <a:pt x="7525" y="0"/>
                </a:lnTo>
                <a:close/>
              </a:path>
            </a:pathLst>
          </a:custGeom>
          <a:gradFill>
            <a:gsLst>
              <a:gs pos="0">
                <a:srgbClr val="E74011"/>
              </a:gs>
              <a:gs pos="12000">
                <a:srgbClr val="E74011"/>
              </a:gs>
              <a:gs pos="82000">
                <a:srgbClr val="EE7203"/>
              </a:gs>
              <a:gs pos="100000">
                <a:srgbClr val="EE7203"/>
              </a:gs>
            </a:gsLst>
            <a:lin ang="96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2F2F2F"/>
              </a:solidFill>
              <a:latin typeface="Arial"/>
              <a:ea typeface="Arial"/>
              <a:cs typeface="Arial"/>
              <a:sym typeface="Arial"/>
            </a:endParaRPr>
          </a:p>
        </p:txBody>
      </p:sp>
      <p:sp>
        <p:nvSpPr>
          <p:cNvPr id="154" name="Google Shape;154;p20"/>
          <p:cNvSpPr/>
          <p:nvPr/>
        </p:nvSpPr>
        <p:spPr>
          <a:xfrm>
            <a:off x="288174" y="6557435"/>
            <a:ext cx="354235" cy="221397"/>
          </a:xfrm>
          <a:prstGeom prst="rect">
            <a:avLst/>
          </a:prstGeom>
          <a:noFill/>
          <a:ln>
            <a:noFill/>
          </a:ln>
        </p:spPr>
      </p:sp>
      <p:sp>
        <p:nvSpPr>
          <p:cNvPr id="155" name="Google Shape;155;p20"/>
          <p:cNvSpPr txBox="1"/>
          <p:nvPr/>
        </p:nvSpPr>
        <p:spPr>
          <a:xfrm>
            <a:off x="4405667" y="6452329"/>
            <a:ext cx="5750695" cy="24622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7030A0"/>
              </a:buClr>
              <a:buSzPts val="1000"/>
              <a:buFont typeface="Arial"/>
              <a:buChar char="•"/>
            </a:pPr>
            <a:r>
              <a:rPr b="1" i="0" lang="it-IT" sz="1000" u="none" cap="none" strike="noStrike">
                <a:solidFill>
                  <a:schemeClr val="dk1"/>
                </a:solidFill>
                <a:latin typeface="Arial"/>
                <a:ea typeface="Arial"/>
                <a:cs typeface="Arial"/>
                <a:sym typeface="Arial"/>
              </a:rPr>
              <a:t>Solo su FTTC e FTTH AREE BIANCHE ( C&amp;D) viene dato il modem Wi-Fi 6</a:t>
            </a:r>
            <a:endParaRPr b="1" i="0" sz="1000" u="none" cap="none" strike="noStrike">
              <a:solidFill>
                <a:srgbClr val="FF6A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838200" y="365126"/>
            <a:ext cx="10515600" cy="711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it-IT">
                <a:solidFill>
                  <a:srgbClr val="002060"/>
                </a:solidFill>
              </a:rPr>
              <a:t>OPZIONI</a:t>
            </a:r>
            <a:r>
              <a:rPr lang="it-IT">
                <a:solidFill>
                  <a:srgbClr val="002060"/>
                </a:solidFill>
              </a:rPr>
              <a:t> </a:t>
            </a:r>
            <a:endParaRPr/>
          </a:p>
        </p:txBody>
      </p:sp>
      <p:sp>
        <p:nvSpPr>
          <p:cNvPr id="161" name="Google Shape;161;p21"/>
          <p:cNvSpPr txBox="1"/>
          <p:nvPr/>
        </p:nvSpPr>
        <p:spPr>
          <a:xfrm>
            <a:off x="2752724" y="1316979"/>
            <a:ext cx="8277225" cy="7734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600"/>
              <a:buFont typeface="Arial"/>
              <a:buNone/>
            </a:pPr>
            <a:r>
              <a:rPr b="1" i="0" lang="it-IT" sz="1600" u="none" cap="none" strike="noStrike">
                <a:solidFill>
                  <a:srgbClr val="002060"/>
                </a:solidFill>
                <a:latin typeface="Calibri"/>
                <a:ea typeface="Calibri"/>
                <a:cs typeface="Calibri"/>
                <a:sym typeface="Calibri"/>
              </a:rPr>
              <a:t>INVISTA </a:t>
            </a:r>
            <a:r>
              <a:rPr b="0" i="0" lang="it-IT" sz="1600" u="none" cap="none" strike="noStrike">
                <a:solidFill>
                  <a:srgbClr val="002060"/>
                </a:solidFill>
                <a:latin typeface="Calibri"/>
                <a:ea typeface="Calibri"/>
                <a:cs typeface="Calibri"/>
                <a:sym typeface="Calibri"/>
              </a:rPr>
              <a:t>è il servizio che le permette di visualizzare il numero di chi la chiama sul display del suo telefono fisso al costo di </a:t>
            </a:r>
            <a:r>
              <a:rPr b="1" i="0" lang="it-IT" sz="1600" u="none" cap="none" strike="noStrike">
                <a:solidFill>
                  <a:srgbClr val="002060"/>
                </a:solidFill>
                <a:latin typeface="Calibri"/>
                <a:ea typeface="Calibri"/>
                <a:cs typeface="Calibri"/>
                <a:sym typeface="Calibri"/>
              </a:rPr>
              <a:t>2€/mese iva inclusa</a:t>
            </a:r>
            <a:r>
              <a:rPr b="0" i="0" lang="it-IT" sz="1600" u="none" cap="none" strike="noStrike">
                <a:solidFill>
                  <a:srgbClr val="002060"/>
                </a:solidFill>
                <a:latin typeface="Calibri"/>
                <a:ea typeface="Calibri"/>
                <a:cs typeface="Calibri"/>
                <a:sym typeface="Calibri"/>
              </a:rPr>
              <a:t>.</a:t>
            </a:r>
            <a:endParaRPr/>
          </a:p>
        </p:txBody>
      </p:sp>
      <p:sp>
        <p:nvSpPr>
          <p:cNvPr id="162" name="Google Shape;162;p21"/>
          <p:cNvSpPr txBox="1"/>
          <p:nvPr/>
        </p:nvSpPr>
        <p:spPr>
          <a:xfrm>
            <a:off x="514350" y="1305867"/>
            <a:ext cx="1971675" cy="7734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INVISTA</a:t>
            </a:r>
            <a:endParaRPr/>
          </a:p>
        </p:txBody>
      </p:sp>
      <p:sp>
        <p:nvSpPr>
          <p:cNvPr id="163" name="Google Shape;163;p21"/>
          <p:cNvSpPr txBox="1"/>
          <p:nvPr/>
        </p:nvSpPr>
        <p:spPr>
          <a:xfrm>
            <a:off x="2762249" y="3349971"/>
            <a:ext cx="8277225"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1600"/>
              <a:buFont typeface="Arial"/>
              <a:buNone/>
            </a:pPr>
            <a:r>
              <a:rPr b="0" i="0" lang="it-IT" sz="1600" u="none" cap="none" strike="noStrike">
                <a:solidFill>
                  <a:srgbClr val="002060"/>
                </a:solidFill>
                <a:latin typeface="Calibri"/>
                <a:ea typeface="Calibri"/>
                <a:cs typeface="Calibri"/>
                <a:sym typeface="Calibri"/>
              </a:rPr>
              <a:t>Per il posizionamento di una nuova Presa Fibra in un punto diverso dalla presa principale è previsto un costo di </a:t>
            </a:r>
            <a:r>
              <a:rPr b="1" i="0" lang="it-IT" sz="1600" u="none" cap="none" strike="noStrike">
                <a:solidFill>
                  <a:srgbClr val="002060"/>
                </a:solidFill>
                <a:latin typeface="Calibri"/>
                <a:ea typeface="Calibri"/>
                <a:cs typeface="Calibri"/>
                <a:sym typeface="Calibri"/>
              </a:rPr>
              <a:t>65€.</a:t>
            </a:r>
            <a:endParaRPr/>
          </a:p>
          <a:p>
            <a:pPr indent="0" lvl="0" marL="0" marR="0" rtl="0" algn="l">
              <a:lnSpc>
                <a:spcPct val="90000"/>
              </a:lnSpc>
              <a:spcBef>
                <a:spcPts val="1000"/>
              </a:spcBef>
              <a:spcAft>
                <a:spcPts val="0"/>
              </a:spcAft>
              <a:buClr>
                <a:srgbClr val="002060"/>
              </a:buClr>
              <a:buSzPts val="1600"/>
              <a:buFont typeface="Arial"/>
              <a:buNone/>
            </a:pPr>
            <a:r>
              <a:rPr b="0" i="0" lang="it-IT" sz="1600" u="none" cap="none" strike="noStrike">
                <a:solidFill>
                  <a:srgbClr val="002060"/>
                </a:solidFill>
                <a:latin typeface="Calibri"/>
                <a:ea typeface="Calibri"/>
                <a:cs typeface="Calibri"/>
                <a:sym typeface="Calibri"/>
              </a:rPr>
              <a:t>Per</a:t>
            </a:r>
            <a:r>
              <a:rPr b="1" i="0" lang="it-IT" sz="1600" u="none" cap="none" strike="noStrike">
                <a:solidFill>
                  <a:srgbClr val="002060"/>
                </a:solidFill>
                <a:latin typeface="Calibri"/>
                <a:ea typeface="Calibri"/>
                <a:cs typeface="Calibri"/>
                <a:sym typeface="Calibri"/>
              </a:rPr>
              <a:t> </a:t>
            </a:r>
            <a:r>
              <a:rPr b="0" i="0" lang="it-IT" sz="1600" u="none" cap="none" strike="noStrike">
                <a:solidFill>
                  <a:srgbClr val="002060"/>
                </a:solidFill>
                <a:latin typeface="Calibri"/>
                <a:ea typeface="Calibri"/>
                <a:cs typeface="Calibri"/>
                <a:sym typeface="Calibri"/>
              </a:rPr>
              <a:t>abilitare altre prese telefoniche al collegamento di telefoni, fax, segreterie, centralini, sistemi di tele-allarmi, video-sorveglianza, o tele-soccorso è previsto un costo di </a:t>
            </a:r>
            <a:r>
              <a:rPr b="1" i="0" lang="it-IT" sz="1600" u="none" cap="none" strike="noStrike">
                <a:solidFill>
                  <a:srgbClr val="002060"/>
                </a:solidFill>
                <a:latin typeface="Calibri"/>
                <a:ea typeface="Calibri"/>
                <a:cs typeface="Calibri"/>
                <a:sym typeface="Calibri"/>
              </a:rPr>
              <a:t>35€.</a:t>
            </a:r>
            <a:endParaRPr b="0" i="0" sz="1600" u="none" cap="none" strike="noStrike">
              <a:solidFill>
                <a:srgbClr val="002060"/>
              </a:solidFill>
              <a:latin typeface="Calibri"/>
              <a:ea typeface="Calibri"/>
              <a:cs typeface="Calibri"/>
              <a:sym typeface="Calibri"/>
            </a:endParaRPr>
          </a:p>
        </p:txBody>
      </p:sp>
      <p:sp>
        <p:nvSpPr>
          <p:cNvPr id="164" name="Google Shape;164;p21"/>
          <p:cNvSpPr txBox="1"/>
          <p:nvPr/>
        </p:nvSpPr>
        <p:spPr>
          <a:xfrm>
            <a:off x="523876" y="3349971"/>
            <a:ext cx="2000250" cy="1068736"/>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SERVIZIO TECNICO</a:t>
            </a:r>
            <a:endParaRPr/>
          </a:p>
        </p:txBody>
      </p:sp>
      <p:sp>
        <p:nvSpPr>
          <p:cNvPr id="165" name="Google Shape;165;p21"/>
          <p:cNvSpPr txBox="1"/>
          <p:nvPr/>
        </p:nvSpPr>
        <p:spPr>
          <a:xfrm>
            <a:off x="2762249" y="2350143"/>
            <a:ext cx="8277225" cy="740123"/>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002060"/>
              </a:buClr>
              <a:buSzPts val="1600"/>
              <a:buFont typeface="Arial"/>
              <a:buNone/>
            </a:pPr>
            <a:r>
              <a:rPr b="1" i="0" lang="it-IT" sz="1600" u="none" cap="none" strike="noStrike">
                <a:solidFill>
                  <a:srgbClr val="002060"/>
                </a:solidFill>
                <a:latin typeface="Calibri"/>
                <a:ea typeface="Calibri"/>
                <a:cs typeface="Calibri"/>
                <a:sym typeface="Calibri"/>
              </a:rPr>
              <a:t>CALL YOUR COUNTRY HOME </a:t>
            </a:r>
            <a:r>
              <a:rPr b="0" i="0" lang="it-IT" sz="1600" u="none" cap="none" strike="noStrike">
                <a:solidFill>
                  <a:srgbClr val="002060"/>
                </a:solidFill>
                <a:latin typeface="Calibri"/>
                <a:ea typeface="Calibri"/>
                <a:cs typeface="Calibri"/>
                <a:sym typeface="Calibri"/>
              </a:rPr>
              <a:t>è L'opzione CHE prevede chiamate illimitate verso un elenco di paesi esteri al costo di </a:t>
            </a:r>
            <a:r>
              <a:rPr b="1" i="0" lang="it-IT" sz="1600" u="none" cap="none" strike="noStrike">
                <a:solidFill>
                  <a:srgbClr val="002060"/>
                </a:solidFill>
                <a:latin typeface="Calibri"/>
                <a:ea typeface="Calibri"/>
                <a:cs typeface="Calibri"/>
                <a:sym typeface="Calibri"/>
              </a:rPr>
              <a:t>5€/mese</a:t>
            </a:r>
            <a:endParaRPr/>
          </a:p>
        </p:txBody>
      </p:sp>
      <p:sp>
        <p:nvSpPr>
          <p:cNvPr id="166" name="Google Shape;166;p21"/>
          <p:cNvSpPr txBox="1"/>
          <p:nvPr/>
        </p:nvSpPr>
        <p:spPr>
          <a:xfrm>
            <a:off x="523875" y="2327919"/>
            <a:ext cx="1971675" cy="7734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2060"/>
              </a:buClr>
              <a:buSzPts val="2800"/>
              <a:buFont typeface="Arial"/>
              <a:buNone/>
            </a:pPr>
            <a:r>
              <a:rPr b="0" i="0" lang="it-IT" sz="2800" u="none" cap="none" strike="noStrike">
                <a:solidFill>
                  <a:srgbClr val="002060"/>
                </a:solidFill>
                <a:latin typeface="Calibri"/>
                <a:ea typeface="Calibri"/>
                <a:cs typeface="Calibri"/>
                <a:sym typeface="Calibri"/>
              </a:rPr>
              <a:t>CYC HOME</a:t>
            </a:r>
            <a:endParaRPr/>
          </a:p>
        </p:txBody>
      </p:sp>
      <p:sp>
        <p:nvSpPr>
          <p:cNvPr id="167" name="Google Shape;167;p21"/>
          <p:cNvSpPr txBox="1"/>
          <p:nvPr/>
        </p:nvSpPr>
        <p:spPr>
          <a:xfrm>
            <a:off x="523875" y="4678412"/>
            <a:ext cx="2009776" cy="91555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002060"/>
              </a:buClr>
              <a:buSzPts val="2800"/>
              <a:buFont typeface="Calibri"/>
              <a:buNone/>
            </a:pPr>
            <a:r>
              <a:rPr b="0" i="0" lang="it-IT" sz="2800" u="none" cap="none" strike="noStrike">
                <a:solidFill>
                  <a:srgbClr val="002060"/>
                </a:solidFill>
                <a:latin typeface="Calibri"/>
                <a:ea typeface="Calibri"/>
                <a:cs typeface="Calibri"/>
                <a:sym typeface="Calibri"/>
              </a:rPr>
              <a:t>PIU’ SICURI CASA</a:t>
            </a:r>
            <a:endParaRPr/>
          </a:p>
        </p:txBody>
      </p:sp>
      <p:sp>
        <p:nvSpPr>
          <p:cNvPr id="168" name="Google Shape;168;p21"/>
          <p:cNvSpPr txBox="1"/>
          <p:nvPr/>
        </p:nvSpPr>
        <p:spPr>
          <a:xfrm>
            <a:off x="2762244" y="4709133"/>
            <a:ext cx="8277225" cy="915555"/>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just">
              <a:spcBef>
                <a:spcPts val="0"/>
              </a:spcBef>
              <a:spcAft>
                <a:spcPts val="0"/>
              </a:spcAft>
              <a:buClr>
                <a:srgbClr val="002060"/>
              </a:buClr>
              <a:buSzPts val="1600"/>
              <a:buFont typeface="Calibri"/>
              <a:buNone/>
            </a:pPr>
            <a:r>
              <a:rPr b="0" i="0" lang="it-IT" sz="1600" u="none" cap="none" strike="noStrike">
                <a:solidFill>
                  <a:srgbClr val="002060"/>
                </a:solidFill>
                <a:latin typeface="Calibri"/>
                <a:ea typeface="Calibri"/>
                <a:cs typeface="Calibri"/>
                <a:sym typeface="Calibri"/>
              </a:rPr>
              <a:t>a soli 1,99€ in più al mese e il primo mese gratuito, le permette di proteggere la rete di casa e tutti i dispostivi ad essa connessi.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