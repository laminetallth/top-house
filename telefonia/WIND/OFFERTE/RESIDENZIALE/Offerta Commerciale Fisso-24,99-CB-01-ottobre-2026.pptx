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22" name="Shape 22"/>
        <p:cNvGrpSpPr/>
        <p:nvPr/>
      </p:nvGrpSpPr>
      <p:grpSpPr>
        <a:xfrm>
          <a:off x="0" y="0"/>
          <a:ext cx="0" cy="0"/>
          <a:chOff x="0" y="0"/>
          <a:chExt cx="0" cy="0"/>
        </a:xfrm>
      </p:grpSpPr>
      <p:sp>
        <p:nvSpPr>
          <p:cNvPr id="23" name="Google Shape;23;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8" name="Shape 28"/>
        <p:cNvGrpSpPr/>
        <p:nvPr/>
      </p:nvGrpSpPr>
      <p:grpSpPr>
        <a:xfrm>
          <a:off x="0" y="0"/>
          <a:ext cx="0" cy="0"/>
          <a:chOff x="0" y="0"/>
          <a:chExt cx="0" cy="0"/>
        </a:xfrm>
      </p:grpSpPr>
      <p:sp>
        <p:nvSpPr>
          <p:cNvPr id="29" name="Google Shape;2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4" name="Shape 34"/>
        <p:cNvGrpSpPr/>
        <p:nvPr/>
      </p:nvGrpSpPr>
      <p:grpSpPr>
        <a:xfrm>
          <a:off x="0" y="0"/>
          <a:ext cx="0" cy="0"/>
          <a:chOff x="0" y="0"/>
          <a:chExt cx="0" cy="0"/>
        </a:xfrm>
      </p:grpSpPr>
      <p:sp>
        <p:nvSpPr>
          <p:cNvPr id="35" name="Google Shape;35;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title"/>
          </p:nvPr>
        </p:nvSpPr>
        <p:spPr>
          <a:xfrm>
            <a:off x="0" y="-4743"/>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FTTH OPEN FIBER + EXTRA</a:t>
            </a:r>
            <a:endParaRPr/>
          </a:p>
        </p:txBody>
      </p:sp>
      <p:sp>
        <p:nvSpPr>
          <p:cNvPr id="89" name="Google Shape;89;p13"/>
          <p:cNvSpPr txBox="1"/>
          <p:nvPr>
            <p:ph idx="2" type="body"/>
          </p:nvPr>
        </p:nvSpPr>
        <p:spPr>
          <a:xfrm>
            <a:off x="82193" y="944440"/>
            <a:ext cx="12010490" cy="4935497"/>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SUPER FIBRA</a:t>
            </a:r>
            <a:r>
              <a:rPr lang="it-IT" sz="1600">
                <a:solidFill>
                  <a:srgbClr val="1F3864"/>
                </a:solidFill>
              </a:rPr>
              <a:t> con modem WI-FI7: L’offerta prevede navigazione senza limiti fino a </a:t>
            </a:r>
            <a:r>
              <a:rPr b="1" lang="it-IT" sz="1600">
                <a:solidFill>
                  <a:srgbClr val="1F3864"/>
                </a:solidFill>
              </a:rPr>
              <a:t>2,5 Gigabit</a:t>
            </a:r>
            <a:r>
              <a:rPr lang="it-IT" sz="1600">
                <a:solidFill>
                  <a:srgbClr val="1F3864"/>
                </a:solidFill>
              </a:rPr>
              <a:t> </a:t>
            </a:r>
            <a:r>
              <a:rPr b="1" lang="it-IT" sz="1600">
                <a:solidFill>
                  <a:srgbClr val="1F3864"/>
                </a:solidFill>
              </a:rPr>
              <a:t>a 24,99€/mese, </a:t>
            </a:r>
            <a:r>
              <a:rPr lang="it-IT" sz="1600">
                <a:solidFill>
                  <a:srgbClr val="1F3864"/>
                </a:solidFill>
              </a:rPr>
              <a:t>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24,99 euro è composto, per i primi 12 mesi, da 19,00 euro/mese di servizio e Prime, 5,99 euro di rata del modem. Dal 13° mese da 19,00 euro/mese di servizio, 5,99 euro/mese di rata del modem, poi dal 49° mese 24,99 euro di servizio.  </a:t>
            </a:r>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a:p>
            <a:pPr indent="0" lvl="0" marL="0" rtl="0" algn="just">
              <a:lnSpc>
                <a:spcPct val="90000"/>
              </a:lnSpc>
              <a:spcBef>
                <a:spcPts val="1000"/>
              </a:spcBef>
              <a:spcAft>
                <a:spcPts val="0"/>
              </a:spcAft>
              <a:buClr>
                <a:schemeClr val="dk1"/>
              </a:buClr>
              <a:buSzPts val="1400"/>
              <a:buNone/>
            </a:pPr>
            <a:r>
              <a:t/>
            </a:r>
            <a:endParaRPr sz="140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0" y="-6491"/>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3200"/>
              <a:buFont typeface="Calibri"/>
              <a:buNone/>
            </a:pPr>
            <a:r>
              <a:rPr b="1" lang="it-IT" sz="3200">
                <a:solidFill>
                  <a:srgbClr val="002060"/>
                </a:solidFill>
              </a:rPr>
              <a:t>SUPER FIBRA FTTH AREE BIANCHE</a:t>
            </a:r>
            <a:endParaRPr/>
          </a:p>
        </p:txBody>
      </p:sp>
      <p:sp>
        <p:nvSpPr>
          <p:cNvPr id="95" name="Google Shape;95;p14"/>
          <p:cNvSpPr txBox="1"/>
          <p:nvPr>
            <p:ph idx="2" type="body"/>
          </p:nvPr>
        </p:nvSpPr>
        <p:spPr>
          <a:xfrm>
            <a:off x="109346" y="584966"/>
            <a:ext cx="11800727" cy="6164177"/>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SUPER FIBRA FTTH AREE BIANCHE </a:t>
            </a:r>
            <a:r>
              <a:rPr lang="it-IT" sz="1600">
                <a:solidFill>
                  <a:srgbClr val="1F3864"/>
                </a:solidFill>
              </a:rPr>
              <a:t>con modem WI-FI7: l’offerta prevede navigazione senza limiti fino </a:t>
            </a:r>
            <a:r>
              <a:rPr b="1" lang="it-IT" sz="1600">
                <a:solidFill>
                  <a:srgbClr val="1F3864"/>
                </a:solidFill>
              </a:rPr>
              <a:t>a 1 Gigabit a 24,99€/mese </a:t>
            </a:r>
            <a:r>
              <a:rPr lang="it-IT" sz="1600">
                <a:solidFill>
                  <a:srgbClr val="1F3864"/>
                </a:solidFill>
              </a:rPr>
              <a:t>con 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24,99 euro è composto, per i primi 12 mesi, da 19 euro/mese di servizio e Prime, 5,99 euro di rata del modem. Dal 13° mese da 19 euro/mese di servizio, 5,99 euro/mese di rata del modem, poi dal 49° mese 24,99 euro di servizio.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La informiamo che per l'offerta SUPER FIBRA IN AREE BIANCHE date le particolari condizioni urbanistiche e geografiche, cercheremo di riutilizzare eventuali strutture preesistenti per il cablaggio della fibra ma dove questo non sia possibile, potrebbe essere necessario realizzare interventi che comporterebbero l’allungamento dei tempi di attivazione oltre i 30 giorni</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129283" y="108272"/>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INTERNET 100/200</a:t>
            </a:r>
            <a:endParaRPr/>
          </a:p>
        </p:txBody>
      </p:sp>
      <p:sp>
        <p:nvSpPr>
          <p:cNvPr id="101" name="Google Shape;101;p15"/>
          <p:cNvSpPr txBox="1"/>
          <p:nvPr>
            <p:ph idx="2" type="body"/>
          </p:nvPr>
        </p:nvSpPr>
        <p:spPr>
          <a:xfrm>
            <a:off x="129284" y="918124"/>
            <a:ext cx="11932578" cy="5831603"/>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Internet 100/200 </a:t>
            </a:r>
            <a:r>
              <a:rPr lang="it-IT" sz="1600">
                <a:solidFill>
                  <a:srgbClr val="1F3864"/>
                </a:solidFill>
              </a:rPr>
              <a:t>con modem WI-FI7</a:t>
            </a:r>
            <a:r>
              <a:rPr b="1" lang="it-IT" sz="1600">
                <a:solidFill>
                  <a:srgbClr val="1F3864"/>
                </a:solidFill>
              </a:rPr>
              <a:t>:</a:t>
            </a:r>
            <a:r>
              <a:rPr lang="it-IT" sz="1600">
                <a:solidFill>
                  <a:srgbClr val="1F3864"/>
                </a:solidFill>
              </a:rPr>
              <a:t> L’offerta prevede navigazione senza limiti fino a 200 mega </a:t>
            </a:r>
            <a:r>
              <a:rPr b="1" lang="it-IT" sz="1600">
                <a:solidFill>
                  <a:srgbClr val="1F3864"/>
                </a:solidFill>
              </a:rPr>
              <a:t>a 24,99€/mese </a:t>
            </a:r>
            <a:r>
              <a:rPr lang="it-IT" sz="1600">
                <a:solidFill>
                  <a:srgbClr val="1F3864"/>
                </a:solidFill>
              </a:rPr>
              <a:t>con 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24,99 euro è composto, per i primi 12 mesi, da 19 euro/mese di servizio e Prime, 5,99 euro di rata del modem. Dal 13° mese da 19 euro/mese di servizio, 5,99 euro/mese di rata del modem, poi dal 49° mese 24,99 euro di servizio.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190928" y="97604"/>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SUPER INTERNET CASA FWA 5G</a:t>
            </a:r>
            <a:endParaRPr/>
          </a:p>
        </p:txBody>
      </p:sp>
      <p:sp>
        <p:nvSpPr>
          <p:cNvPr id="107" name="Google Shape;107;p16"/>
          <p:cNvSpPr txBox="1"/>
          <p:nvPr>
            <p:ph idx="2" type="body"/>
          </p:nvPr>
        </p:nvSpPr>
        <p:spPr>
          <a:xfrm>
            <a:off x="190928" y="808804"/>
            <a:ext cx="11655176" cy="5684070"/>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500"/>
              <a:buNone/>
            </a:pPr>
            <a:r>
              <a:rPr b="1" lang="it-IT" sz="1500">
                <a:solidFill>
                  <a:srgbClr val="1F3864"/>
                </a:solidFill>
              </a:rPr>
              <a:t>Super Internet Casa Fwa 5G </a:t>
            </a:r>
            <a:r>
              <a:rPr lang="it-IT" sz="1400">
                <a:solidFill>
                  <a:srgbClr val="1F3864"/>
                </a:solidFill>
              </a:rPr>
              <a:t>con modem WI-FI7</a:t>
            </a:r>
            <a:r>
              <a:rPr lang="it-IT" sz="1500">
                <a:solidFill>
                  <a:srgbClr val="1F3864"/>
                </a:solidFill>
              </a:rPr>
              <a:t>: l’offerta prevede navigazione senza limiti fino a </a:t>
            </a:r>
            <a:r>
              <a:rPr b="1" lang="it-IT" sz="1500">
                <a:solidFill>
                  <a:srgbClr val="1F3864"/>
                </a:solidFill>
              </a:rPr>
              <a:t>300 mega a 24,99€/mese </a:t>
            </a:r>
            <a:r>
              <a:rPr lang="it-IT" sz="1500">
                <a:solidFill>
                  <a:srgbClr val="1F3864"/>
                </a:solidFill>
              </a:rPr>
              <a:t>con chiamate a 0 cent./minuto e scatto alla risposta di 23 centesimi verso numeri fissi e mobili nazionali </a:t>
            </a:r>
            <a:r>
              <a:rPr lang="it-IT" sz="1600">
                <a:solidFill>
                  <a:srgbClr val="1F3864"/>
                </a:solidFill>
              </a:rPr>
              <a:t>e modem, antenna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1F3864"/>
              </a:buClr>
              <a:buSzPts val="1500"/>
              <a:buNone/>
            </a:pPr>
            <a:r>
              <a:rPr lang="it-IT" sz="1500">
                <a:solidFill>
                  <a:srgbClr val="1F3864"/>
                </a:solidFill>
              </a:rPr>
              <a:t>Il costo mensile di 24,99 euro è composto, per i primi 12 mesi, da 12 euro al mese di servizio e Prime e 3 euro di rata del modem e 9,99 euro dell’antenna, dal 13° mese, da 12 euro di servizio e 3 euro di rata del modem e 9,99 euro dell’antenna, poi dal 49° mese 24,99 euro di servizio.</a:t>
            </a:r>
            <a:endParaRPr/>
          </a:p>
          <a:p>
            <a:pPr indent="0" lvl="0" marL="0" rtl="0" algn="just">
              <a:lnSpc>
                <a:spcPct val="90000"/>
              </a:lnSpc>
              <a:spcBef>
                <a:spcPts val="1000"/>
              </a:spcBef>
              <a:spcAft>
                <a:spcPts val="0"/>
              </a:spcAft>
              <a:buClr>
                <a:srgbClr val="1F3864"/>
              </a:buClr>
              <a:buSzPts val="1500"/>
              <a:buNone/>
            </a:pPr>
            <a:r>
              <a:rPr lang="it-IT" sz="1500">
                <a:solidFill>
                  <a:srgbClr val="1F3864"/>
                </a:solidFill>
              </a:rPr>
              <a:t>Il servizio FWA outdoor prevede l’installazione da parte di un tecnico, sarà quindi </a:t>
            </a:r>
            <a:r>
              <a:rPr b="1" lang="it-IT" sz="1500" u="sng">
                <a:solidFill>
                  <a:srgbClr val="1F3864"/>
                </a:solidFill>
              </a:rPr>
              <a:t>contattato per prendere un appuntamento per l’installazione</a:t>
            </a:r>
            <a:r>
              <a:rPr lang="it-IT" sz="1500">
                <a:solidFill>
                  <a:srgbClr val="1F3864"/>
                </a:solidFill>
              </a:rPr>
              <a:t>.</a:t>
            </a:r>
            <a:endParaRPr/>
          </a:p>
          <a:p>
            <a:pPr indent="0" lvl="0" marL="0" rtl="0" algn="just">
              <a:lnSpc>
                <a:spcPct val="90000"/>
              </a:lnSpc>
              <a:spcBef>
                <a:spcPts val="1000"/>
              </a:spcBef>
              <a:spcAft>
                <a:spcPts val="0"/>
              </a:spcAft>
              <a:buClr>
                <a:srgbClr val="1F3864"/>
              </a:buClr>
              <a:buSzPts val="1500"/>
              <a:buNone/>
            </a:pPr>
            <a:r>
              <a:rPr lang="it-IT" sz="1500">
                <a:solidFill>
                  <a:srgbClr val="1F3864"/>
                </a:solidFill>
              </a:rPr>
              <a:t>Il servizio 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a:p>
          <a:p>
            <a:pPr indent="0" lvl="0" marL="0" rtl="0" algn="just">
              <a:lnSpc>
                <a:spcPct val="90000"/>
              </a:lnSpc>
              <a:spcBef>
                <a:spcPts val="1000"/>
              </a:spcBef>
              <a:spcAft>
                <a:spcPts val="0"/>
              </a:spcAft>
              <a:buClr>
                <a:schemeClr val="dk1"/>
              </a:buClr>
              <a:buSzPts val="1500"/>
              <a:buNone/>
            </a:pPr>
            <a:r>
              <a:t/>
            </a:r>
            <a:endParaRPr sz="15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190928" y="97604"/>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3600"/>
              <a:buFont typeface="Calibri"/>
              <a:buNone/>
            </a:pPr>
            <a:r>
              <a:rPr b="1" lang="it-IT" sz="3600">
                <a:solidFill>
                  <a:srgbClr val="002060"/>
                </a:solidFill>
              </a:rPr>
              <a:t>SUPER INTERNET CASA FWA 5 G INDOOR</a:t>
            </a:r>
            <a:endParaRPr/>
          </a:p>
        </p:txBody>
      </p:sp>
      <p:sp>
        <p:nvSpPr>
          <p:cNvPr id="113" name="Google Shape;113;p17"/>
          <p:cNvSpPr txBox="1"/>
          <p:nvPr>
            <p:ph idx="2" type="body"/>
          </p:nvPr>
        </p:nvSpPr>
        <p:spPr>
          <a:xfrm>
            <a:off x="190928" y="808804"/>
            <a:ext cx="11655176" cy="5684070"/>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1500"/>
              <a:buNone/>
            </a:pPr>
            <a:r>
              <a:t/>
            </a:r>
            <a:endParaRPr b="1" sz="1500">
              <a:solidFill>
                <a:srgbClr val="1F3864"/>
              </a:solidFill>
            </a:endParaRPr>
          </a:p>
          <a:p>
            <a:pPr indent="0" lvl="0" marL="0" rtl="0" algn="just">
              <a:lnSpc>
                <a:spcPct val="90000"/>
              </a:lnSpc>
              <a:spcBef>
                <a:spcPts val="1000"/>
              </a:spcBef>
              <a:spcAft>
                <a:spcPts val="0"/>
              </a:spcAft>
              <a:buClr>
                <a:srgbClr val="1F3864"/>
              </a:buClr>
              <a:buSzPts val="1500"/>
              <a:buNone/>
            </a:pPr>
            <a:r>
              <a:rPr b="1" lang="it-IT" sz="1500">
                <a:solidFill>
                  <a:srgbClr val="1F3864"/>
                </a:solidFill>
              </a:rPr>
              <a:t>Super Internet Casa 5G FWA INDOOR </a:t>
            </a:r>
            <a:r>
              <a:rPr lang="it-IT" sz="1600">
                <a:solidFill>
                  <a:srgbClr val="1F3864"/>
                </a:solidFill>
              </a:rPr>
              <a:t>con modem WI-FI7: l’offerta prevede navigazione senza limiti fino a </a:t>
            </a:r>
            <a:r>
              <a:rPr b="1" lang="it-IT" sz="1500">
                <a:solidFill>
                  <a:srgbClr val="1F3864"/>
                </a:solidFill>
              </a:rPr>
              <a:t>300 mega a 24,99€/mese </a:t>
            </a:r>
            <a:r>
              <a:rPr lang="it-IT" sz="1500">
                <a:solidFill>
                  <a:srgbClr val="1F3864"/>
                </a:solidFill>
              </a:rPr>
              <a:t>con </a:t>
            </a:r>
            <a:r>
              <a:rPr lang="it-IT" sz="1600">
                <a:solidFill>
                  <a:srgbClr val="1F3864"/>
                </a:solidFill>
              </a:rPr>
              <a:t>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12 mesi di Prime.</a:t>
            </a:r>
            <a:endParaRPr/>
          </a:p>
          <a:p>
            <a:pPr indent="0" lvl="0" marL="0" rtl="0" algn="just">
              <a:lnSpc>
                <a:spcPct val="90000"/>
              </a:lnSpc>
              <a:spcBef>
                <a:spcPts val="1000"/>
              </a:spcBef>
              <a:spcAft>
                <a:spcPts val="0"/>
              </a:spcAft>
              <a:buClr>
                <a:srgbClr val="1F3864"/>
              </a:buClr>
              <a:buSzPts val="1500"/>
              <a:buNone/>
            </a:pPr>
            <a:r>
              <a:rPr lang="it-IT" sz="15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1F3864"/>
              </a:buClr>
              <a:buSzPts val="1500"/>
              <a:buNone/>
            </a:pPr>
            <a:r>
              <a:rPr lang="it-IT" sz="1500">
                <a:solidFill>
                  <a:srgbClr val="1F3864"/>
                </a:solidFill>
              </a:rPr>
              <a:t>Riepilogando, il costo mensile di 24,99 euro è composto, per i primi 12 mesi, da 19 euro/mese di servizio e Prime, 5,99 euro di rata del modem. Dal 13° mese da 19 euro/mese di servizio, 5,99 euro/mese di rata del modem, poi dal 49° mese 24,99 euro di servizio.  </a:t>
            </a:r>
            <a:endParaRPr/>
          </a:p>
          <a:p>
            <a:pPr indent="0" lvl="0" marL="0" rtl="0" algn="just">
              <a:lnSpc>
                <a:spcPct val="90000"/>
              </a:lnSpc>
              <a:spcBef>
                <a:spcPts val="1000"/>
              </a:spcBef>
              <a:spcAft>
                <a:spcPts val="0"/>
              </a:spcAft>
              <a:buClr>
                <a:schemeClr val="dk1"/>
              </a:buClr>
              <a:buSzPts val="1500"/>
              <a:buNone/>
            </a:pPr>
            <a:r>
              <a:t/>
            </a:r>
            <a:endParaRPr sz="15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67442" y="36528"/>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OPZIONI</a:t>
            </a:r>
            <a:r>
              <a:rPr lang="it-IT">
                <a:solidFill>
                  <a:srgbClr val="002060"/>
                </a:solidFill>
              </a:rPr>
              <a:t> </a:t>
            </a:r>
            <a:endParaRPr/>
          </a:p>
        </p:txBody>
      </p:sp>
      <p:sp>
        <p:nvSpPr>
          <p:cNvPr id="119" name="Google Shape;119;p18"/>
          <p:cNvSpPr txBox="1"/>
          <p:nvPr/>
        </p:nvSpPr>
        <p:spPr>
          <a:xfrm>
            <a:off x="2605817" y="813821"/>
            <a:ext cx="8277225" cy="5470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1" i="0" lang="it-IT" sz="1400" u="none" cap="none" strike="noStrike">
                <a:solidFill>
                  <a:srgbClr val="002060"/>
                </a:solidFill>
                <a:latin typeface="Calibri"/>
                <a:ea typeface="Calibri"/>
                <a:cs typeface="Calibri"/>
                <a:sym typeface="Calibri"/>
              </a:rPr>
              <a:t>INVISTA </a:t>
            </a:r>
            <a:r>
              <a:rPr b="0" i="0" lang="it-IT" sz="1400" u="none" cap="none" strike="noStrike">
                <a:solidFill>
                  <a:srgbClr val="002060"/>
                </a:solidFill>
                <a:latin typeface="Calibri"/>
                <a:ea typeface="Calibri"/>
                <a:cs typeface="Calibri"/>
                <a:sym typeface="Calibri"/>
              </a:rPr>
              <a:t>è il servizio che le permette di visualizzare il numero di chi la chiama sul display del suo telefono fisso al costo di </a:t>
            </a:r>
            <a:r>
              <a:rPr b="1" i="0" lang="it-IT" sz="1400" u="none" cap="none" strike="noStrike">
                <a:solidFill>
                  <a:srgbClr val="002060"/>
                </a:solidFill>
                <a:latin typeface="Calibri"/>
                <a:ea typeface="Calibri"/>
                <a:cs typeface="Calibri"/>
                <a:sym typeface="Calibri"/>
              </a:rPr>
              <a:t>2€/mese iva inclusa</a:t>
            </a:r>
            <a:r>
              <a:rPr b="0" i="0" lang="it-IT" sz="1400" u="none" cap="none" strike="noStrike">
                <a:solidFill>
                  <a:srgbClr val="002060"/>
                </a:solidFill>
                <a:latin typeface="Calibri"/>
                <a:ea typeface="Calibri"/>
                <a:cs typeface="Calibri"/>
                <a:sym typeface="Calibri"/>
              </a:rPr>
              <a:t>.</a:t>
            </a:r>
            <a:endParaRPr/>
          </a:p>
        </p:txBody>
      </p:sp>
      <p:sp>
        <p:nvSpPr>
          <p:cNvPr id="120" name="Google Shape;120;p18"/>
          <p:cNvSpPr txBox="1"/>
          <p:nvPr/>
        </p:nvSpPr>
        <p:spPr>
          <a:xfrm>
            <a:off x="367443" y="802709"/>
            <a:ext cx="1971675" cy="55814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INVISTA</a:t>
            </a:r>
            <a:endParaRPr/>
          </a:p>
        </p:txBody>
      </p:sp>
      <p:sp>
        <p:nvSpPr>
          <p:cNvPr id="121" name="Google Shape;121;p18"/>
          <p:cNvSpPr txBox="1"/>
          <p:nvPr/>
        </p:nvSpPr>
        <p:spPr>
          <a:xfrm>
            <a:off x="2605812" y="2217267"/>
            <a:ext cx="8277225"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Per il posizionamento di una nuova Presa Fibra in un punto diverso dalla presa principale è previsto un costo di </a:t>
            </a:r>
            <a:r>
              <a:rPr b="1" i="0" lang="it-IT" sz="1400" u="none" cap="none" strike="noStrike">
                <a:solidFill>
                  <a:srgbClr val="002060"/>
                </a:solidFill>
                <a:latin typeface="Calibri"/>
                <a:ea typeface="Calibri"/>
                <a:cs typeface="Calibri"/>
                <a:sym typeface="Calibri"/>
              </a:rPr>
              <a:t>65€.</a:t>
            </a:r>
            <a:endParaRPr/>
          </a:p>
          <a:p>
            <a:pPr indent="0" lvl="0" marL="0" marR="0" rtl="0" algn="l">
              <a:lnSpc>
                <a:spcPct val="90000"/>
              </a:lnSpc>
              <a:spcBef>
                <a:spcPts val="100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Per</a:t>
            </a:r>
            <a:r>
              <a:rPr b="1" i="0" lang="it-IT" sz="1400" u="none" cap="none" strike="noStrike">
                <a:solidFill>
                  <a:srgbClr val="002060"/>
                </a:solidFill>
                <a:latin typeface="Calibri"/>
                <a:ea typeface="Calibri"/>
                <a:cs typeface="Calibri"/>
                <a:sym typeface="Calibri"/>
              </a:rPr>
              <a:t> </a:t>
            </a:r>
            <a:r>
              <a:rPr b="0" i="0" lang="it-IT" sz="1400" u="none" cap="none" strike="noStrike">
                <a:solidFill>
                  <a:srgbClr val="002060"/>
                </a:solidFill>
                <a:latin typeface="Calibri"/>
                <a:ea typeface="Calibri"/>
                <a:cs typeface="Calibri"/>
                <a:sym typeface="Calibri"/>
              </a:rPr>
              <a:t>abilitare altre prese telefoniche al collegamento di telefoni, fax, segreterie, centralini, sistemi di tele-allarmi, video-sorveglianza, o tele-soccorso è previsto un costo di </a:t>
            </a:r>
            <a:r>
              <a:rPr b="1" i="0" lang="it-IT" sz="1400" u="none" cap="none" strike="noStrike">
                <a:solidFill>
                  <a:srgbClr val="002060"/>
                </a:solidFill>
                <a:latin typeface="Calibri"/>
                <a:ea typeface="Calibri"/>
                <a:cs typeface="Calibri"/>
                <a:sym typeface="Calibri"/>
              </a:rPr>
              <a:t>35€.</a:t>
            </a:r>
            <a:endParaRPr b="0" i="0" sz="1400" u="none" cap="none" strike="noStrike">
              <a:solidFill>
                <a:srgbClr val="002060"/>
              </a:solidFill>
              <a:latin typeface="Calibri"/>
              <a:ea typeface="Calibri"/>
              <a:cs typeface="Calibri"/>
              <a:sym typeface="Calibri"/>
            </a:endParaRPr>
          </a:p>
        </p:txBody>
      </p:sp>
      <p:sp>
        <p:nvSpPr>
          <p:cNvPr id="122" name="Google Shape;122;p18"/>
          <p:cNvSpPr txBox="1"/>
          <p:nvPr/>
        </p:nvSpPr>
        <p:spPr>
          <a:xfrm>
            <a:off x="367442" y="2217267"/>
            <a:ext cx="2000250"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SERVIZIO TECNICO</a:t>
            </a:r>
            <a:endParaRPr/>
          </a:p>
        </p:txBody>
      </p:sp>
      <p:sp>
        <p:nvSpPr>
          <p:cNvPr id="123" name="Google Shape;123;p18"/>
          <p:cNvSpPr txBox="1"/>
          <p:nvPr/>
        </p:nvSpPr>
        <p:spPr>
          <a:xfrm>
            <a:off x="2605815" y="1527990"/>
            <a:ext cx="8277225" cy="5470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1" i="0" lang="it-IT" sz="1400" u="none" cap="none" strike="noStrike">
                <a:solidFill>
                  <a:srgbClr val="002060"/>
                </a:solidFill>
                <a:latin typeface="Calibri"/>
                <a:ea typeface="Calibri"/>
                <a:cs typeface="Calibri"/>
                <a:sym typeface="Calibri"/>
              </a:rPr>
              <a:t>CALL YOUR COUNTRY HOME </a:t>
            </a:r>
            <a:r>
              <a:rPr b="0" i="0" lang="it-IT" sz="1400" u="none" cap="none" strike="noStrike">
                <a:solidFill>
                  <a:srgbClr val="002060"/>
                </a:solidFill>
                <a:latin typeface="Calibri"/>
                <a:ea typeface="Calibri"/>
                <a:cs typeface="Calibri"/>
                <a:sym typeface="Calibri"/>
              </a:rPr>
              <a:t>è L'opzione CHE prevede chiamate illimitate verso un elenco di paesi esteri al costo di </a:t>
            </a:r>
            <a:r>
              <a:rPr b="1" i="0" lang="it-IT" sz="1400" u="none" cap="none" strike="noStrike">
                <a:solidFill>
                  <a:srgbClr val="002060"/>
                </a:solidFill>
                <a:latin typeface="Calibri"/>
                <a:ea typeface="Calibri"/>
                <a:cs typeface="Calibri"/>
                <a:sym typeface="Calibri"/>
              </a:rPr>
              <a:t>5€/mese</a:t>
            </a:r>
            <a:endParaRPr/>
          </a:p>
        </p:txBody>
      </p:sp>
      <p:sp>
        <p:nvSpPr>
          <p:cNvPr id="124" name="Google Shape;124;p18"/>
          <p:cNvSpPr txBox="1"/>
          <p:nvPr/>
        </p:nvSpPr>
        <p:spPr>
          <a:xfrm>
            <a:off x="338868" y="1484312"/>
            <a:ext cx="2000250" cy="55814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CYC HOME</a:t>
            </a:r>
            <a:endParaRPr/>
          </a:p>
        </p:txBody>
      </p:sp>
      <p:sp>
        <p:nvSpPr>
          <p:cNvPr id="125" name="Google Shape;125;p18"/>
          <p:cNvSpPr txBox="1"/>
          <p:nvPr/>
        </p:nvSpPr>
        <p:spPr>
          <a:xfrm>
            <a:off x="367442" y="3328645"/>
            <a:ext cx="2000250"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CASA</a:t>
            </a:r>
            <a:endParaRPr/>
          </a:p>
        </p:txBody>
      </p:sp>
      <p:sp>
        <p:nvSpPr>
          <p:cNvPr id="126" name="Google Shape;126;p18"/>
          <p:cNvSpPr txBox="1"/>
          <p:nvPr/>
        </p:nvSpPr>
        <p:spPr>
          <a:xfrm>
            <a:off x="2605811" y="3359366"/>
            <a:ext cx="8277225" cy="5752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soli 1,99€ in più al mese e il primo mese gratuito, le permette di proteggere la rete di casa e tutti i dispostivi ad essa connessi.</a:t>
            </a:r>
            <a:endParaRPr/>
          </a:p>
        </p:txBody>
      </p:sp>
      <p:sp>
        <p:nvSpPr>
          <p:cNvPr id="127" name="Google Shape;127;p18"/>
          <p:cNvSpPr txBox="1"/>
          <p:nvPr/>
        </p:nvSpPr>
        <p:spPr>
          <a:xfrm>
            <a:off x="367442" y="4064113"/>
            <a:ext cx="2000250"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MOBILE</a:t>
            </a:r>
            <a:endParaRPr/>
          </a:p>
        </p:txBody>
      </p:sp>
      <p:sp>
        <p:nvSpPr>
          <p:cNvPr id="128" name="Google Shape;128;p18"/>
          <p:cNvSpPr txBox="1"/>
          <p:nvPr/>
        </p:nvSpPr>
        <p:spPr>
          <a:xfrm>
            <a:off x="2605809" y="4064114"/>
            <a:ext cx="8277225"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0,99€/mese con il primo mese gratuito, addebitato su credito per un’esperienza di navigazione protetta su rete WINDTRE. Protezione attiva all’attivazione dell’opzione senza azioni del Cliente</a:t>
            </a:r>
            <a:endParaRPr/>
          </a:p>
        </p:txBody>
      </p:sp>
      <p:sp>
        <p:nvSpPr>
          <p:cNvPr id="129" name="Google Shape;129;p18"/>
          <p:cNvSpPr txBox="1"/>
          <p:nvPr/>
        </p:nvSpPr>
        <p:spPr>
          <a:xfrm>
            <a:off x="367442" y="4815350"/>
            <a:ext cx="2000250" cy="64587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MOBILE PRO</a:t>
            </a:r>
            <a:endParaRPr/>
          </a:p>
        </p:txBody>
      </p:sp>
      <p:sp>
        <p:nvSpPr>
          <p:cNvPr id="130" name="Google Shape;130;p18"/>
          <p:cNvSpPr txBox="1"/>
          <p:nvPr/>
        </p:nvSpPr>
        <p:spPr>
          <a:xfrm>
            <a:off x="2605808" y="4807363"/>
            <a:ext cx="8277225" cy="65386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soli 1.99€/mese con primo mese gratuito: Navigazione sicura su tutte le reti: WINDTRE, WiFi e Roaming. Acquisti online e transazioni finanziarie (Conto Corrente)  protette grazie alla VPN</a:t>
            </a:r>
            <a:endParaRPr/>
          </a:p>
        </p:txBody>
      </p:sp>
      <p:sp>
        <p:nvSpPr>
          <p:cNvPr id="131" name="Google Shape;131;p18"/>
          <p:cNvSpPr txBox="1"/>
          <p:nvPr/>
        </p:nvSpPr>
        <p:spPr>
          <a:xfrm>
            <a:off x="367442" y="5624058"/>
            <a:ext cx="2000250" cy="64587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VOCE UNLIMITED</a:t>
            </a:r>
            <a:endParaRPr/>
          </a:p>
        </p:txBody>
      </p:sp>
      <p:sp>
        <p:nvSpPr>
          <p:cNvPr id="132" name="Google Shape;132;p18"/>
          <p:cNvSpPr txBox="1"/>
          <p:nvPr/>
        </p:nvSpPr>
        <p:spPr>
          <a:xfrm>
            <a:off x="2605808" y="5616070"/>
            <a:ext cx="8277225" cy="65386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il costo sarà di 3€ in più al mese e prevede Chiamate illimitate verso i fissi e mobili nazionali.</a:t>
            </a:r>
            <a:endParaRPr b="0" i="0" sz="1400" u="none" cap="none" strike="noStrike">
              <a:solidFill>
                <a:srgbClr val="1F3864"/>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