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it-IT"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e contenuti" type="twoObj">
  <p:cSld name="TWO_OBJECTS">
    <p:spTree>
      <p:nvGrpSpPr>
        <p:cNvPr id="15" name="Shape 15"/>
        <p:cNvGrpSpPr/>
        <p:nvPr/>
      </p:nvGrpSpPr>
      <p:grpSpPr>
        <a:xfrm>
          <a:off x="0" y="0"/>
          <a:ext cx="0" cy="0"/>
          <a:chOff x="0" y="0"/>
          <a:chExt cx="0" cy="0"/>
        </a:xfrm>
      </p:grpSpPr>
      <p:sp>
        <p:nvSpPr>
          <p:cNvPr id="16" name="Google Shape;1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22" name="Shape 22"/>
        <p:cNvGrpSpPr/>
        <p:nvPr/>
      </p:nvGrpSpPr>
      <p:grpSpPr>
        <a:xfrm>
          <a:off x="0" y="0"/>
          <a:ext cx="0" cy="0"/>
          <a:chOff x="0" y="0"/>
          <a:chExt cx="0" cy="0"/>
        </a:xfrm>
      </p:grpSpPr>
      <p:sp>
        <p:nvSpPr>
          <p:cNvPr id="23" name="Google Shape;23;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type="title">
  <p:cSld name="TITLE">
    <p:spTree>
      <p:nvGrpSpPr>
        <p:cNvPr id="28" name="Shape 28"/>
        <p:cNvGrpSpPr/>
        <p:nvPr/>
      </p:nvGrpSpPr>
      <p:grpSpPr>
        <a:xfrm>
          <a:off x="0" y="0"/>
          <a:ext cx="0" cy="0"/>
          <a:chOff x="0" y="0"/>
          <a:chExt cx="0" cy="0"/>
        </a:xfrm>
      </p:grpSpPr>
      <p:sp>
        <p:nvSpPr>
          <p:cNvPr id="29" name="Google Shape;29;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1" name="Google Shape;31;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sezione" type="secHead">
  <p:cSld name="SECTION_HEADER">
    <p:spTree>
      <p:nvGrpSpPr>
        <p:cNvPr id="34" name="Shape 34"/>
        <p:cNvGrpSpPr/>
        <p:nvPr/>
      </p:nvGrpSpPr>
      <p:grpSpPr>
        <a:xfrm>
          <a:off x="0" y="0"/>
          <a:ext cx="0" cy="0"/>
          <a:chOff x="0" y="0"/>
          <a:chExt cx="0" cy="0"/>
        </a:xfrm>
      </p:grpSpPr>
      <p:sp>
        <p:nvSpPr>
          <p:cNvPr id="35" name="Google Shape;35;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a"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con didascalia"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e con didascalia"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esto verticale"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olo e testo verticale"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slide" Target="/ppt/slides/slide9.xml"/><Relationship Id="rId4" Type="http://schemas.openxmlformats.org/officeDocument/2006/relationships/slide" Target="/ppt/slides/slide9.xml"/><Relationship Id="rId9" Type="http://schemas.openxmlformats.org/officeDocument/2006/relationships/slide" Target="/ppt/slides/slide8.xml"/><Relationship Id="rId5" Type="http://schemas.openxmlformats.org/officeDocument/2006/relationships/slide" Target="/ppt/slides/slide9.xml"/><Relationship Id="rId6" Type="http://schemas.openxmlformats.org/officeDocument/2006/relationships/slide" Target="/ppt/slides/slide9.xml"/><Relationship Id="rId7" Type="http://schemas.openxmlformats.org/officeDocument/2006/relationships/slide" Target="/ppt/slides/slide6.xml"/><Relationship Id="rId8" Type="http://schemas.openxmlformats.org/officeDocument/2006/relationships/slide" Target="/ppt/slid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slide" Target="/ppt/slides/slide9.xml"/><Relationship Id="rId4" Type="http://schemas.openxmlformats.org/officeDocument/2006/relationships/slide" Target="/ppt/slides/slide9.xml"/><Relationship Id="rId9" Type="http://schemas.openxmlformats.org/officeDocument/2006/relationships/slide" Target="/ppt/slides/slide8.xml"/><Relationship Id="rId5" Type="http://schemas.openxmlformats.org/officeDocument/2006/relationships/slide" Target="/ppt/slides/slide9.xml"/><Relationship Id="rId6" Type="http://schemas.openxmlformats.org/officeDocument/2006/relationships/slide" Target="/ppt/slides/slide9.xml"/><Relationship Id="rId7" Type="http://schemas.openxmlformats.org/officeDocument/2006/relationships/slide" Target="/ppt/slides/slide6.xml"/><Relationship Id="rId8" Type="http://schemas.openxmlformats.org/officeDocument/2006/relationships/slide" Target="/ppt/slides/slide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slide" Target="/ppt/slides/slide9.xml"/><Relationship Id="rId4" Type="http://schemas.openxmlformats.org/officeDocument/2006/relationships/slide" Target="/ppt/slides/slide9.xml"/><Relationship Id="rId9" Type="http://schemas.openxmlformats.org/officeDocument/2006/relationships/slide" Target="/ppt/slides/slide8.xml"/><Relationship Id="rId5" Type="http://schemas.openxmlformats.org/officeDocument/2006/relationships/slide" Target="/ppt/slides/slide9.xml"/><Relationship Id="rId6" Type="http://schemas.openxmlformats.org/officeDocument/2006/relationships/slide" Target="/ppt/slides/slide9.xml"/><Relationship Id="rId7" Type="http://schemas.openxmlformats.org/officeDocument/2006/relationships/slide" Target="/ppt/slides/slide6.xml"/><Relationship Id="rId8" Type="http://schemas.openxmlformats.org/officeDocument/2006/relationships/slide" Target="/ppt/slides/slide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slide" Target="/ppt/slides/slide9.xml"/><Relationship Id="rId4" Type="http://schemas.openxmlformats.org/officeDocument/2006/relationships/slide" Target="/ppt/slides/slide9.xml"/><Relationship Id="rId9" Type="http://schemas.openxmlformats.org/officeDocument/2006/relationships/slide" Target="/ppt/slides/slide8.xml"/><Relationship Id="rId5" Type="http://schemas.openxmlformats.org/officeDocument/2006/relationships/slide" Target="/ppt/slides/slide9.xml"/><Relationship Id="rId6" Type="http://schemas.openxmlformats.org/officeDocument/2006/relationships/slide" Target="/ppt/slides/slide9.xml"/><Relationship Id="rId7" Type="http://schemas.openxmlformats.org/officeDocument/2006/relationships/slide" Target="/ppt/slides/slide6.xml"/><Relationship Id="rId8" Type="http://schemas.openxmlformats.org/officeDocument/2006/relationships/slide" Target="/ppt/slides/slide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slide" Target="/ppt/slides/slide9.xml"/><Relationship Id="rId4" Type="http://schemas.openxmlformats.org/officeDocument/2006/relationships/slide" Target="/ppt/slides/slide9.xml"/><Relationship Id="rId9" Type="http://schemas.openxmlformats.org/officeDocument/2006/relationships/slide" Target="/ppt/slides/slide8.xml"/><Relationship Id="rId5" Type="http://schemas.openxmlformats.org/officeDocument/2006/relationships/slide" Target="/ppt/slides/slide9.xml"/><Relationship Id="rId6" Type="http://schemas.openxmlformats.org/officeDocument/2006/relationships/slide" Target="/ppt/slides/slide9.xml"/><Relationship Id="rId7" Type="http://schemas.openxmlformats.org/officeDocument/2006/relationships/slide" Target="/ppt/slides/slide6.xml"/><Relationship Id="rId8" Type="http://schemas.openxmlformats.org/officeDocument/2006/relationships/slide" Target="/ppt/slid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3"/>
          <p:cNvSpPr txBox="1"/>
          <p:nvPr>
            <p:ph type="title"/>
          </p:nvPr>
        </p:nvSpPr>
        <p:spPr>
          <a:xfrm>
            <a:off x="174662" y="23149"/>
            <a:ext cx="11842676"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Calibri"/>
              <a:buNone/>
            </a:pPr>
            <a:r>
              <a:rPr b="1" lang="it-IT" sz="2400">
                <a:solidFill>
                  <a:srgbClr val="002060"/>
                </a:solidFill>
              </a:rPr>
              <a:t>FTTH OPEN FIBER/EXTRA + GO UNLIMITED FIRE + 26,98€ per 12 mesi poi 31,98€</a:t>
            </a:r>
            <a:endParaRPr/>
          </a:p>
        </p:txBody>
      </p:sp>
      <p:sp>
        <p:nvSpPr>
          <p:cNvPr id="90" name="Google Shape;90;p13"/>
          <p:cNvSpPr txBox="1"/>
          <p:nvPr>
            <p:ph idx="2" type="body"/>
          </p:nvPr>
        </p:nvSpPr>
        <p:spPr>
          <a:xfrm>
            <a:off x="174662" y="1315221"/>
            <a:ext cx="11928296" cy="5519629"/>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L’offerta Fissa SUPER FIBRA </a:t>
            </a:r>
            <a:r>
              <a:rPr lang="it-IT" sz="1600">
                <a:solidFill>
                  <a:srgbClr val="1F3864"/>
                </a:solidFill>
              </a:rPr>
              <a:t>con modem WI-FI7 prevede navigazione senza limiti fino a </a:t>
            </a:r>
            <a:r>
              <a:rPr b="1" lang="it-IT" sz="1600">
                <a:solidFill>
                  <a:srgbClr val="1F3864"/>
                </a:solidFill>
              </a:rPr>
              <a:t>2,5 Gigabit</a:t>
            </a:r>
            <a:r>
              <a:rPr lang="it-IT" sz="1600">
                <a:solidFill>
                  <a:srgbClr val="1F3864"/>
                </a:solidFill>
              </a:rPr>
              <a:t> a </a:t>
            </a:r>
            <a:r>
              <a:rPr b="1" lang="it-IT" sz="1600">
                <a:solidFill>
                  <a:srgbClr val="1F3864"/>
                </a:solidFill>
              </a:rPr>
              <a:t>19,99€/mese per 12 mesi, poi 24,99€</a:t>
            </a:r>
            <a:r>
              <a:rPr lang="it-IT" sz="1600">
                <a:solidFill>
                  <a:srgbClr val="002060"/>
                </a:solidFill>
              </a:rPr>
              <a:t> con chiamate a 0 cent./minuto e scatto alla risposta di 23 centesimi verso numeri fissi e mobili nazionali e modem e assistenza inclusi. Le offerte si rinnovano ogni mese. Il servizio voce viene attivato sfruttando la tecnologia VoIP. Può condividere i Giga illimitati del fisso fino ad un massimo di 3 SIM compatibili. </a:t>
            </a:r>
            <a:r>
              <a:rPr b="0" i="0" lang="it-IT" sz="1800">
                <a:solidFill>
                  <a:srgbClr val="203864"/>
                </a:solidFill>
                <a:latin typeface="Calibri"/>
                <a:ea typeface="Calibri"/>
                <a:cs typeface="Calibri"/>
                <a:sym typeface="Calibri"/>
              </a:rPr>
              <a:t>​</a:t>
            </a:r>
            <a:endParaRPr b="0" i="0" sz="1600">
              <a:solidFill>
                <a:srgbClr val="1F3864"/>
              </a:solidFill>
              <a:latin typeface="Calibri"/>
              <a:ea typeface="Calibri"/>
              <a:cs typeface="Calibri"/>
              <a:sym typeface="Calibri"/>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12 mesi di Prime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Costo attivazione 1,99 euro al mese per 24 mesi, salvo promozioni</a:t>
            </a:r>
            <a:endParaRPr/>
          </a:p>
          <a:p>
            <a:pPr indent="0" lvl="0" marL="0" rtl="0" algn="just">
              <a:lnSpc>
                <a:spcPct val="90000"/>
              </a:lnSpc>
              <a:spcBef>
                <a:spcPts val="1000"/>
              </a:spcBef>
              <a:spcAft>
                <a:spcPts val="0"/>
              </a:spcAft>
              <a:buClr>
                <a:srgbClr val="002060"/>
              </a:buClr>
              <a:buSzPts val="1600"/>
              <a:buNone/>
            </a:pPr>
            <a:r>
              <a:rPr lang="it-IT" sz="1600">
                <a:solidFill>
                  <a:srgbClr val="002060"/>
                </a:solidFill>
              </a:rPr>
              <a:t>Riepilogando, Il costo mensile di 19,99 euro è composto, per i primi 12 mesi, da 14 euro di servizio e Prime e 5,99 euro di modem, dal 13° mese, da 19 euro di servizio e 5,99 euro di modem, dal 49° mese, da 24,99 euro di servizio.</a:t>
            </a:r>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Casa: </a:t>
            </a:r>
            <a:r>
              <a:rPr b="1" lang="it-IT" sz="1600" u="sng">
                <a:solidFill>
                  <a:schemeClr val="hlink"/>
                </a:solidFill>
                <a:hlinkClick action="ppaction://hlinksldjump" r:id="rId3"/>
              </a:rPr>
              <a:t>CLICCA QUI</a:t>
            </a:r>
            <a:endParaRPr sz="1600">
              <a:solidFill>
                <a:srgbClr val="1F3864"/>
              </a:solidFill>
            </a:endParaRPr>
          </a:p>
          <a:p>
            <a:pPr indent="0" lvl="0" marL="0" rtl="0" algn="l">
              <a:lnSpc>
                <a:spcPct val="90000"/>
              </a:lnSpc>
              <a:spcBef>
                <a:spcPts val="1000"/>
              </a:spcBef>
              <a:spcAft>
                <a:spcPts val="0"/>
              </a:spcAft>
              <a:buClr>
                <a:schemeClr val="accent6"/>
              </a:buClr>
              <a:buSzPts val="1600"/>
              <a:buNone/>
            </a:pPr>
            <a:r>
              <a:rPr b="1" lang="it-IT" sz="1600">
                <a:solidFill>
                  <a:schemeClr val="accent6"/>
                </a:solidFill>
              </a:rPr>
              <a:t>in caso di aggiunta opzione Più Sicuri Mobile: </a:t>
            </a:r>
            <a:r>
              <a:rPr b="1" lang="it-IT" sz="1600" u="sng">
                <a:solidFill>
                  <a:schemeClr val="hlink"/>
                </a:solidFill>
                <a:hlinkClick action="ppaction://hlinksldjump" r:id="rId4"/>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Mobile PRO: </a:t>
            </a:r>
            <a:r>
              <a:rPr b="1" lang="it-IT" sz="1600" u="sng">
                <a:solidFill>
                  <a:schemeClr val="hlink"/>
                </a:solidFill>
                <a:hlinkClick action="ppaction://hlinksldjump" r:id="rId5"/>
              </a:rPr>
              <a:t>CLICCA QUI</a:t>
            </a:r>
            <a:endParaRPr b="1"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VOCE UNLIMITED: </a:t>
            </a:r>
            <a:r>
              <a:rPr b="1" lang="it-IT" sz="1600" u="sng">
                <a:solidFill>
                  <a:schemeClr val="hlink"/>
                </a:solidFill>
                <a:hlinkClick action="ppaction://hlinksldjump" r:id="rId6"/>
              </a:rPr>
              <a:t>CLICCA QUI</a:t>
            </a:r>
            <a:endParaRPr sz="1600">
              <a:solidFill>
                <a:srgbClr val="1F3864"/>
              </a:solidFill>
            </a:endParaRPr>
          </a:p>
          <a:p>
            <a:pPr indent="0" lvl="0" marL="0" rtl="0" algn="just">
              <a:lnSpc>
                <a:spcPct val="90000"/>
              </a:lnSpc>
              <a:spcBef>
                <a:spcPts val="1000"/>
              </a:spcBef>
              <a:spcAft>
                <a:spcPts val="0"/>
              </a:spcAft>
              <a:buClr>
                <a:schemeClr val="dk1"/>
              </a:buClr>
              <a:buSzPts val="1600"/>
              <a:buNone/>
            </a:pPr>
            <a:r>
              <a:t/>
            </a:r>
            <a:endParaRPr b="1" sz="1600">
              <a:solidFill>
                <a:srgbClr val="002060"/>
              </a:solidFill>
            </a:endParaRPr>
          </a:p>
          <a:p>
            <a:pPr indent="0" lvl="0" marL="0" rtl="0" algn="just">
              <a:lnSpc>
                <a:spcPct val="90000"/>
              </a:lnSpc>
              <a:spcBef>
                <a:spcPts val="1000"/>
              </a:spcBef>
              <a:spcAft>
                <a:spcPts val="0"/>
              </a:spcAft>
              <a:buClr>
                <a:srgbClr val="002060"/>
              </a:buClr>
              <a:buSzPts val="1600"/>
              <a:buNone/>
            </a:pPr>
            <a:r>
              <a:rPr b="1" lang="it-IT" sz="1600">
                <a:solidFill>
                  <a:srgbClr val="002060"/>
                </a:solidFill>
              </a:rPr>
              <a:t>GO UNLIMITED FIRE + 5G NEW </a:t>
            </a:r>
            <a:r>
              <a:rPr b="1" lang="it-IT" sz="1600" u="sng">
                <a:solidFill>
                  <a:schemeClr val="hlink"/>
                </a:solidFill>
                <a:hlinkClick action="ppaction://hlinksldjump" r:id="rId7"/>
              </a:rPr>
              <a:t>CLICCA QUI</a:t>
            </a:r>
            <a:endParaRPr sz="1600">
              <a:solidFill>
                <a:srgbClr val="002060"/>
              </a:solidFill>
            </a:endParaRPr>
          </a:p>
          <a:p>
            <a:pPr indent="0" lvl="0" marL="0" rtl="0" algn="just">
              <a:lnSpc>
                <a:spcPct val="90000"/>
              </a:lnSpc>
              <a:spcBef>
                <a:spcPts val="1000"/>
              </a:spcBef>
              <a:spcAft>
                <a:spcPts val="0"/>
              </a:spcAft>
              <a:buClr>
                <a:srgbClr val="002060"/>
              </a:buClr>
              <a:buSzPts val="1600"/>
              <a:buNone/>
            </a:pPr>
            <a:r>
              <a:rPr b="1" lang="it-IT" sz="1600">
                <a:solidFill>
                  <a:srgbClr val="002060"/>
                </a:solidFill>
              </a:rPr>
              <a:t>GO UNLIMITED FIRE + EASY PAY ONLINE </a:t>
            </a:r>
            <a:r>
              <a:rPr b="1" lang="it-IT" sz="1600" u="sng">
                <a:solidFill>
                  <a:schemeClr val="hlink"/>
                </a:solidFill>
                <a:hlinkClick action="ppaction://hlinksldjump" r:id="rId8"/>
              </a:rPr>
              <a:t>CLICCA QUI</a:t>
            </a:r>
            <a:endParaRPr b="1" sz="1600">
              <a:solidFill>
                <a:srgbClr val="002060"/>
              </a:solidFill>
            </a:endParaRPr>
          </a:p>
          <a:p>
            <a:pPr indent="0" lvl="0" marL="0" rtl="0" algn="just">
              <a:lnSpc>
                <a:spcPct val="90000"/>
              </a:lnSpc>
              <a:spcBef>
                <a:spcPts val="1000"/>
              </a:spcBef>
              <a:spcAft>
                <a:spcPts val="0"/>
              </a:spcAft>
              <a:buClr>
                <a:srgbClr val="002060"/>
              </a:buClr>
              <a:buSzPts val="1600"/>
              <a:buNone/>
            </a:pPr>
            <a:r>
              <a:rPr b="1" lang="it-IT" sz="1600">
                <a:solidFill>
                  <a:srgbClr val="002060"/>
                </a:solidFill>
              </a:rPr>
              <a:t>GO UNLIMITED FIRE + 5G NEW EASY PAY ONLINE </a:t>
            </a:r>
            <a:r>
              <a:rPr b="1" lang="it-IT" sz="1600" u="sng">
                <a:solidFill>
                  <a:schemeClr val="hlink"/>
                </a:solidFill>
                <a:hlinkClick action="ppaction://hlinksldjump" r:id="rId9"/>
              </a:rPr>
              <a:t>CLICCA QUI</a:t>
            </a:r>
            <a:endParaRPr sz="1600">
              <a:solidFill>
                <a:srgbClr val="002060"/>
              </a:solidFill>
            </a:endParaRPr>
          </a:p>
          <a:p>
            <a:pPr indent="0" lvl="0" marL="0" rtl="0" algn="just">
              <a:lnSpc>
                <a:spcPct val="90000"/>
              </a:lnSpc>
              <a:spcBef>
                <a:spcPts val="1000"/>
              </a:spcBef>
              <a:spcAft>
                <a:spcPts val="0"/>
              </a:spcAft>
              <a:buClr>
                <a:schemeClr val="dk1"/>
              </a:buClr>
              <a:buSzPts val="1600"/>
              <a:buNone/>
            </a:pPr>
            <a:r>
              <a:t/>
            </a:r>
            <a:endParaRPr sz="1600">
              <a:solidFill>
                <a:srgbClr val="002060"/>
              </a:solidFill>
            </a:endParaRPr>
          </a:p>
        </p:txBody>
      </p:sp>
      <p:sp>
        <p:nvSpPr>
          <p:cNvPr id="91" name="Google Shape;91;p13"/>
          <p:cNvSpPr txBox="1"/>
          <p:nvPr/>
        </p:nvSpPr>
        <p:spPr>
          <a:xfrm>
            <a:off x="174662" y="667820"/>
            <a:ext cx="11842676" cy="423225"/>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002060"/>
              </a:buClr>
              <a:buSzPts val="2400"/>
              <a:buFont typeface="Calibri"/>
              <a:buNone/>
            </a:pPr>
            <a:r>
              <a:rPr b="1" i="0" lang="it-IT" sz="2400" u="none" cap="none" strike="noStrike">
                <a:solidFill>
                  <a:srgbClr val="002060"/>
                </a:solidFill>
                <a:latin typeface="Calibri"/>
                <a:ea typeface="Calibri"/>
                <a:cs typeface="Calibri"/>
                <a:sym typeface="Calibri"/>
              </a:rPr>
              <a:t>FTTH OPEN FIBER/EXTRA + GO UNLIMITED FIRE +5G NEW 27,98€ per 12 mesi poi 32,98€</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4"/>
          <p:cNvSpPr txBox="1"/>
          <p:nvPr>
            <p:ph type="title"/>
          </p:nvPr>
        </p:nvSpPr>
        <p:spPr>
          <a:xfrm>
            <a:off x="-1" y="0"/>
            <a:ext cx="11661169"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Calibri"/>
              <a:buNone/>
            </a:pPr>
            <a:r>
              <a:rPr b="1" lang="it-IT" sz="2400">
                <a:solidFill>
                  <a:srgbClr val="002060"/>
                </a:solidFill>
              </a:rPr>
              <a:t>INTERNET 100/200 + GO UNLIMITED FIRE + 26,98€ per 12 mesi poi 31,98€</a:t>
            </a:r>
            <a:endParaRPr/>
          </a:p>
        </p:txBody>
      </p:sp>
      <p:sp>
        <p:nvSpPr>
          <p:cNvPr id="97" name="Google Shape;97;p14"/>
          <p:cNvSpPr txBox="1"/>
          <p:nvPr>
            <p:ph idx="2" type="body"/>
          </p:nvPr>
        </p:nvSpPr>
        <p:spPr>
          <a:xfrm>
            <a:off x="94608" y="1370956"/>
            <a:ext cx="12097392" cy="5403917"/>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L’offerta Fissa Internet Casa </a:t>
            </a:r>
            <a:r>
              <a:rPr lang="it-IT" sz="1600">
                <a:solidFill>
                  <a:srgbClr val="1F3864"/>
                </a:solidFill>
              </a:rPr>
              <a:t>con modem WI-FI7 prevede navigazione senza limiti fino a </a:t>
            </a:r>
            <a:r>
              <a:rPr b="1" lang="it-IT" sz="1600">
                <a:solidFill>
                  <a:srgbClr val="1F3864"/>
                </a:solidFill>
              </a:rPr>
              <a:t>100/200 Mega a 19,99€/mese per 12 mesi, poi 24,99€</a:t>
            </a:r>
            <a:r>
              <a:rPr b="1" lang="it-IT" sz="1600">
                <a:solidFill>
                  <a:srgbClr val="002060"/>
                </a:solidFill>
              </a:rPr>
              <a:t> </a:t>
            </a:r>
            <a:r>
              <a:rPr lang="it-IT" sz="1600">
                <a:solidFill>
                  <a:srgbClr val="002060"/>
                </a:solidFill>
              </a:rPr>
              <a:t>con chiamate a 0 cent./minuto e scatto alla risposta di 23 centesimi verso numeri fissi e mobili nazionali e modem e assistenza inclusi. Le offerte si rinnovano ogni mese. Il servizio voce viene attivato sfruttando la tecnologia VoIP. Può condividere i Giga illimitati del fisso fino ad un massimo di 3 SIM compatibili. </a:t>
            </a:r>
            <a:r>
              <a:rPr b="0" i="0" lang="it-IT" sz="1600">
                <a:solidFill>
                  <a:srgbClr val="203864"/>
                </a:solidFill>
                <a:latin typeface="Calibri"/>
                <a:ea typeface="Calibri"/>
                <a:cs typeface="Calibri"/>
                <a:sym typeface="Calibri"/>
              </a:rPr>
              <a:t>​</a:t>
            </a:r>
            <a:endParaRPr/>
          </a:p>
          <a:p>
            <a:pPr indent="0" lvl="0" marL="0" rtl="0" algn="just">
              <a:lnSpc>
                <a:spcPct val="90000"/>
              </a:lnSpc>
              <a:spcBef>
                <a:spcPts val="1000"/>
              </a:spcBef>
              <a:spcAft>
                <a:spcPts val="0"/>
              </a:spcAft>
              <a:buClr>
                <a:srgbClr val="002060"/>
              </a:buClr>
              <a:buSzPts val="1600"/>
              <a:buNone/>
            </a:pPr>
            <a:r>
              <a:rPr lang="it-IT" sz="1600">
                <a:solidFill>
                  <a:srgbClr val="002060"/>
                </a:solidFill>
              </a:rPr>
              <a:t>12 mesi di Prime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Costo attivazione 1,99 euro al mese per 24 mesi, salvo promozioni</a:t>
            </a:r>
            <a:endParaRPr/>
          </a:p>
          <a:p>
            <a:pPr indent="0" lvl="0" marL="0" rtl="0" algn="just">
              <a:lnSpc>
                <a:spcPct val="90000"/>
              </a:lnSpc>
              <a:spcBef>
                <a:spcPts val="1000"/>
              </a:spcBef>
              <a:spcAft>
                <a:spcPts val="0"/>
              </a:spcAft>
              <a:buClr>
                <a:srgbClr val="002060"/>
              </a:buClr>
              <a:buSzPts val="1600"/>
              <a:buNone/>
            </a:pPr>
            <a:r>
              <a:rPr lang="it-IT" sz="1600">
                <a:solidFill>
                  <a:srgbClr val="002060"/>
                </a:solidFill>
              </a:rPr>
              <a:t>Riepilogando, Il costo mensile di 19,99 euro è composto, per i primi 12 mesi, da 14 euro di servizio e Prime e 5,99 euro di modem, dal 13° mese, da 19 euro di servizio e 5,99 euro di modem, dal 49° mese, da 24,99 euro di servizio.</a:t>
            </a:r>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Casa: </a:t>
            </a:r>
            <a:r>
              <a:rPr b="1" lang="it-IT" sz="1600" u="sng">
                <a:solidFill>
                  <a:schemeClr val="hlink"/>
                </a:solidFill>
                <a:hlinkClick action="ppaction://hlinksldjump" r:id="rId3"/>
              </a:rPr>
              <a:t>CLICCA QUI</a:t>
            </a:r>
            <a:endParaRPr sz="1600">
              <a:solidFill>
                <a:srgbClr val="1F3864"/>
              </a:solidFill>
            </a:endParaRPr>
          </a:p>
          <a:p>
            <a:pPr indent="0" lvl="0" marL="0" rtl="0" algn="l">
              <a:lnSpc>
                <a:spcPct val="90000"/>
              </a:lnSpc>
              <a:spcBef>
                <a:spcPts val="1000"/>
              </a:spcBef>
              <a:spcAft>
                <a:spcPts val="0"/>
              </a:spcAft>
              <a:buClr>
                <a:schemeClr val="accent6"/>
              </a:buClr>
              <a:buSzPts val="1600"/>
              <a:buNone/>
            </a:pPr>
            <a:r>
              <a:rPr b="1" lang="it-IT" sz="1600">
                <a:solidFill>
                  <a:schemeClr val="accent6"/>
                </a:solidFill>
              </a:rPr>
              <a:t>in caso di aggiunta opzione Più Sicuri Mobile: </a:t>
            </a:r>
            <a:r>
              <a:rPr b="1" lang="it-IT" sz="1600" u="sng">
                <a:solidFill>
                  <a:schemeClr val="hlink"/>
                </a:solidFill>
                <a:hlinkClick action="ppaction://hlinksldjump" r:id="rId4"/>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Mobile PRO: </a:t>
            </a:r>
            <a:r>
              <a:rPr b="1" lang="it-IT" sz="1600" u="sng">
                <a:solidFill>
                  <a:schemeClr val="hlink"/>
                </a:solidFill>
                <a:hlinkClick action="ppaction://hlinksldjump" r:id="rId5"/>
              </a:rPr>
              <a:t>CLICCA QUI</a:t>
            </a:r>
            <a:endParaRPr b="1"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VOCE UNLIMITED: </a:t>
            </a:r>
            <a:r>
              <a:rPr b="1" lang="it-IT" sz="1600" u="sng">
                <a:solidFill>
                  <a:schemeClr val="hlink"/>
                </a:solidFill>
                <a:hlinkClick action="ppaction://hlinksldjump" r:id="rId6"/>
              </a:rPr>
              <a:t>CLICCA QUI</a:t>
            </a:r>
            <a:endParaRPr b="1" sz="1600">
              <a:solidFill>
                <a:srgbClr val="1F3864"/>
              </a:solidFill>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just">
              <a:lnSpc>
                <a:spcPct val="90000"/>
              </a:lnSpc>
              <a:spcBef>
                <a:spcPts val="1000"/>
              </a:spcBef>
              <a:spcAft>
                <a:spcPts val="0"/>
              </a:spcAft>
              <a:buClr>
                <a:srgbClr val="002060"/>
              </a:buClr>
              <a:buSzPts val="1600"/>
              <a:buNone/>
            </a:pPr>
            <a:r>
              <a:rPr b="1" lang="it-IT" sz="1600">
                <a:solidFill>
                  <a:srgbClr val="002060"/>
                </a:solidFill>
              </a:rPr>
              <a:t>GO UNLIMITED FIRE + 5G NEW </a:t>
            </a:r>
            <a:r>
              <a:rPr b="1" lang="it-IT" sz="1600" u="sng">
                <a:solidFill>
                  <a:schemeClr val="hlink"/>
                </a:solidFill>
                <a:hlinkClick action="ppaction://hlinksldjump" r:id="rId7"/>
              </a:rPr>
              <a:t>CLICCA QUI</a:t>
            </a:r>
            <a:endParaRPr sz="1600">
              <a:solidFill>
                <a:srgbClr val="002060"/>
              </a:solidFill>
            </a:endParaRPr>
          </a:p>
          <a:p>
            <a:pPr indent="0" lvl="0" marL="0" rtl="0" algn="just">
              <a:lnSpc>
                <a:spcPct val="90000"/>
              </a:lnSpc>
              <a:spcBef>
                <a:spcPts val="1000"/>
              </a:spcBef>
              <a:spcAft>
                <a:spcPts val="0"/>
              </a:spcAft>
              <a:buClr>
                <a:srgbClr val="002060"/>
              </a:buClr>
              <a:buSzPts val="1600"/>
              <a:buNone/>
            </a:pPr>
            <a:r>
              <a:rPr b="1" lang="it-IT" sz="1600">
                <a:solidFill>
                  <a:srgbClr val="002060"/>
                </a:solidFill>
              </a:rPr>
              <a:t>GO UNLIMITED FIRE + EASY PAY ONLINE </a:t>
            </a:r>
            <a:r>
              <a:rPr b="1" lang="it-IT" sz="1600" u="sng">
                <a:solidFill>
                  <a:schemeClr val="hlink"/>
                </a:solidFill>
                <a:hlinkClick action="ppaction://hlinksldjump" r:id="rId8"/>
              </a:rPr>
              <a:t>CLICCA QUI</a:t>
            </a:r>
            <a:endParaRPr b="1" sz="1600">
              <a:solidFill>
                <a:srgbClr val="002060"/>
              </a:solidFill>
            </a:endParaRPr>
          </a:p>
          <a:p>
            <a:pPr indent="0" lvl="0" marL="0" rtl="0" algn="just">
              <a:lnSpc>
                <a:spcPct val="90000"/>
              </a:lnSpc>
              <a:spcBef>
                <a:spcPts val="1000"/>
              </a:spcBef>
              <a:spcAft>
                <a:spcPts val="0"/>
              </a:spcAft>
              <a:buClr>
                <a:srgbClr val="002060"/>
              </a:buClr>
              <a:buSzPts val="1600"/>
              <a:buNone/>
            </a:pPr>
            <a:r>
              <a:rPr b="1" lang="it-IT" sz="1600">
                <a:solidFill>
                  <a:srgbClr val="002060"/>
                </a:solidFill>
              </a:rPr>
              <a:t>GO UNLIMITED FIRE + 5G NEW EASY PAY ONLINE </a:t>
            </a:r>
            <a:r>
              <a:rPr b="1" lang="it-IT" sz="1600" u="sng">
                <a:solidFill>
                  <a:schemeClr val="hlink"/>
                </a:solidFill>
                <a:hlinkClick action="ppaction://hlinksldjump" r:id="rId9"/>
              </a:rPr>
              <a:t>CLICCA QUI</a:t>
            </a:r>
            <a:endParaRPr sz="1600">
              <a:solidFill>
                <a:srgbClr val="002060"/>
              </a:solidFill>
            </a:endParaRPr>
          </a:p>
          <a:p>
            <a:pPr indent="0" lvl="0" marL="0" rtl="0" algn="just">
              <a:lnSpc>
                <a:spcPct val="90000"/>
              </a:lnSpc>
              <a:spcBef>
                <a:spcPts val="1000"/>
              </a:spcBef>
              <a:spcAft>
                <a:spcPts val="0"/>
              </a:spcAft>
              <a:buClr>
                <a:schemeClr val="dk1"/>
              </a:buClr>
              <a:buSzPts val="1600"/>
              <a:buNone/>
            </a:pPr>
            <a:r>
              <a:t/>
            </a:r>
            <a:endParaRPr sz="1600">
              <a:solidFill>
                <a:srgbClr val="002060"/>
              </a:solidFill>
            </a:endParaRPr>
          </a:p>
          <a:p>
            <a:pPr indent="0" lvl="0" marL="0" rtl="0" algn="l">
              <a:lnSpc>
                <a:spcPct val="90000"/>
              </a:lnSpc>
              <a:spcBef>
                <a:spcPts val="1000"/>
              </a:spcBef>
              <a:spcAft>
                <a:spcPts val="0"/>
              </a:spcAft>
              <a:buClr>
                <a:schemeClr val="dk1"/>
              </a:buClr>
              <a:buSzPts val="1400"/>
              <a:buNone/>
            </a:pPr>
            <a:r>
              <a:t/>
            </a:r>
            <a:endParaRPr sz="1400">
              <a:solidFill>
                <a:srgbClr val="002060"/>
              </a:solidFill>
            </a:endParaRPr>
          </a:p>
        </p:txBody>
      </p:sp>
      <p:sp>
        <p:nvSpPr>
          <p:cNvPr id="98" name="Google Shape;98;p14"/>
          <p:cNvSpPr txBox="1"/>
          <p:nvPr/>
        </p:nvSpPr>
        <p:spPr>
          <a:xfrm>
            <a:off x="-2" y="522790"/>
            <a:ext cx="11661169" cy="7112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002060"/>
              </a:buClr>
              <a:buSzPts val="2400"/>
              <a:buFont typeface="Calibri"/>
              <a:buNone/>
            </a:pPr>
            <a:r>
              <a:rPr b="1" i="0" lang="it-IT" sz="2400" u="none" cap="none" strike="noStrike">
                <a:solidFill>
                  <a:srgbClr val="002060"/>
                </a:solidFill>
                <a:latin typeface="Calibri"/>
                <a:ea typeface="Calibri"/>
                <a:cs typeface="Calibri"/>
                <a:sym typeface="Calibri"/>
              </a:rPr>
              <a:t>INTERNET 100/200 + GO UNLIMITED FIRE + 5G NEW 27,98€ per 12 mesi poi 32,98€</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5"/>
          <p:cNvSpPr txBox="1"/>
          <p:nvPr>
            <p:ph type="title"/>
          </p:nvPr>
        </p:nvSpPr>
        <p:spPr>
          <a:xfrm>
            <a:off x="-71438" y="-44709"/>
            <a:ext cx="12263919" cy="57535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2060"/>
              </a:buClr>
              <a:buSzPts val="2400"/>
              <a:buFont typeface="Calibri"/>
              <a:buNone/>
            </a:pPr>
            <a:r>
              <a:rPr b="1" lang="it-IT" sz="2400">
                <a:solidFill>
                  <a:srgbClr val="002060"/>
                </a:solidFill>
              </a:rPr>
              <a:t>SUPER FIBRA FTTH AREE BIANCHE+ GO UNLIMITED FIRE + 26,98€ per 12 mesi poi 31,98€</a:t>
            </a:r>
            <a:endParaRPr/>
          </a:p>
        </p:txBody>
      </p:sp>
      <p:sp>
        <p:nvSpPr>
          <p:cNvPr id="104" name="Google Shape;104;p15"/>
          <p:cNvSpPr txBox="1"/>
          <p:nvPr>
            <p:ph idx="2" type="body"/>
          </p:nvPr>
        </p:nvSpPr>
        <p:spPr>
          <a:xfrm>
            <a:off x="0" y="868583"/>
            <a:ext cx="12121044" cy="5989417"/>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L’offerta Fissa </a:t>
            </a:r>
            <a:r>
              <a:rPr b="1" lang="it-IT" sz="1600">
                <a:solidFill>
                  <a:srgbClr val="002060"/>
                </a:solidFill>
              </a:rPr>
              <a:t>SUPER FIBRA AREE BIANCHE </a:t>
            </a:r>
            <a:r>
              <a:rPr lang="it-IT" sz="1600">
                <a:solidFill>
                  <a:srgbClr val="1F3864"/>
                </a:solidFill>
              </a:rPr>
              <a:t>con modem WI-FI 7 prevede navigazione senza limiti fino a </a:t>
            </a:r>
            <a:r>
              <a:rPr b="1" lang="it-IT" sz="1600">
                <a:solidFill>
                  <a:srgbClr val="1F3864"/>
                </a:solidFill>
              </a:rPr>
              <a:t>1 Giga a 19,99€/mese per 12 mesi, poi 24,99€</a:t>
            </a:r>
            <a:r>
              <a:rPr b="1" lang="it-IT" sz="1600">
                <a:solidFill>
                  <a:srgbClr val="002060"/>
                </a:solidFill>
              </a:rPr>
              <a:t> </a:t>
            </a:r>
            <a:r>
              <a:rPr lang="it-IT" sz="1600">
                <a:solidFill>
                  <a:srgbClr val="002060"/>
                </a:solidFill>
              </a:rPr>
              <a:t>con chiamate a 0 cent./minuto e scatto alla risposta di 23 centesimi verso numeri fissi e mobili nazionali e modem e assistenza inclusi. Le offerte si rinnovano ogni mese. Il servizio voce viene attivato sfruttando la tecnologia VoIP. Può condividere i Giga illimitati del fisso fino ad un massimo di 3 SIM compatibili.</a:t>
            </a:r>
            <a:endParaRPr b="0" i="0" sz="1600">
              <a:solidFill>
                <a:srgbClr val="203864"/>
              </a:solidFill>
              <a:latin typeface="Calibri"/>
              <a:ea typeface="Calibri"/>
              <a:cs typeface="Calibri"/>
              <a:sym typeface="Calibri"/>
            </a:endParaRPr>
          </a:p>
          <a:p>
            <a:pPr indent="0" lvl="0" marL="0" rtl="0" algn="just">
              <a:lnSpc>
                <a:spcPct val="90000"/>
              </a:lnSpc>
              <a:spcBef>
                <a:spcPts val="1000"/>
              </a:spcBef>
              <a:spcAft>
                <a:spcPts val="0"/>
              </a:spcAft>
              <a:buClr>
                <a:srgbClr val="002060"/>
              </a:buClr>
              <a:buSzPts val="1600"/>
              <a:buNone/>
            </a:pPr>
            <a:r>
              <a:rPr lang="it-IT" sz="1600">
                <a:solidFill>
                  <a:srgbClr val="002060"/>
                </a:solidFill>
              </a:rPr>
              <a:t>12 mesi di Prime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Costo attivazione 1,99 euro al mese per 24 mesi, salvo promozioni</a:t>
            </a:r>
            <a:endParaRPr/>
          </a:p>
          <a:p>
            <a:pPr indent="0" lvl="0" marL="0" rtl="0" algn="just">
              <a:lnSpc>
                <a:spcPct val="90000"/>
              </a:lnSpc>
              <a:spcBef>
                <a:spcPts val="1000"/>
              </a:spcBef>
              <a:spcAft>
                <a:spcPts val="0"/>
              </a:spcAft>
              <a:buClr>
                <a:srgbClr val="002060"/>
              </a:buClr>
              <a:buSzPts val="1600"/>
              <a:buNone/>
            </a:pPr>
            <a:r>
              <a:rPr lang="it-IT" sz="1600">
                <a:solidFill>
                  <a:srgbClr val="002060"/>
                </a:solidFill>
              </a:rPr>
              <a:t>Riepilogando, Il costo mensile di 19,99 euro è composto, per i primi 12 mesi, da 14 euro di servizio e Prime e 5,99 euro di modem, dal 13° mese, da 19 euro di servizio e 5,99 euro di modem, dal 49° mese, da 24,99 euro di servizio.</a:t>
            </a:r>
            <a:endParaRPr/>
          </a:p>
          <a:p>
            <a:pPr indent="0" lvl="0" marL="0" rtl="0" algn="just">
              <a:lnSpc>
                <a:spcPct val="90000"/>
              </a:lnSpc>
              <a:spcBef>
                <a:spcPts val="1000"/>
              </a:spcBef>
              <a:spcAft>
                <a:spcPts val="0"/>
              </a:spcAft>
              <a:buClr>
                <a:srgbClr val="002060"/>
              </a:buClr>
              <a:buSzPts val="1600"/>
              <a:buNone/>
            </a:pPr>
            <a:r>
              <a:rPr lang="it-IT" sz="1600">
                <a:solidFill>
                  <a:srgbClr val="002060"/>
                </a:solidFill>
              </a:rPr>
              <a:t>La informiamo che per l'offerta SUPER FIBRA IN AREE BIANCHE date le particolari condizioni urbanistiche e geografiche, cercheremo di riutilizzare eventuali strutture preesistenti per il cablaggio della fibra ma dove questo non sia possibile, potrebbe essere necessario realizzare interventi che comporterebbero l’allungamento dei tempi di attivazione oltre i 30 giorni. </a:t>
            </a:r>
            <a:endParaRPr/>
          </a:p>
          <a:p>
            <a:pPr indent="0" lvl="0" marL="0" rtl="0" algn="just">
              <a:lnSpc>
                <a:spcPct val="90000"/>
              </a:lnSpc>
              <a:spcBef>
                <a:spcPts val="1000"/>
              </a:spcBef>
              <a:spcAft>
                <a:spcPts val="0"/>
              </a:spcAft>
              <a:buClr>
                <a:schemeClr val="accent6"/>
              </a:buClr>
              <a:buSzPts val="1400"/>
              <a:buNone/>
            </a:pPr>
            <a:r>
              <a:rPr b="1" lang="it-IT" sz="1400">
                <a:solidFill>
                  <a:schemeClr val="accent6"/>
                </a:solidFill>
              </a:rPr>
              <a:t>in caso di aggiunta opzione Più Sicuri Casa: </a:t>
            </a:r>
            <a:r>
              <a:rPr b="1" lang="it-IT" sz="1400" u="sng">
                <a:solidFill>
                  <a:schemeClr val="hlink"/>
                </a:solidFill>
                <a:hlinkClick action="ppaction://hlinksldjump" r:id="rId3"/>
              </a:rPr>
              <a:t>CLICCA QUI</a:t>
            </a:r>
            <a:endParaRPr sz="1400">
              <a:solidFill>
                <a:srgbClr val="1F3864"/>
              </a:solidFill>
            </a:endParaRPr>
          </a:p>
          <a:p>
            <a:pPr indent="0" lvl="0" marL="0" rtl="0" algn="l">
              <a:lnSpc>
                <a:spcPct val="90000"/>
              </a:lnSpc>
              <a:spcBef>
                <a:spcPts val="1000"/>
              </a:spcBef>
              <a:spcAft>
                <a:spcPts val="0"/>
              </a:spcAft>
              <a:buClr>
                <a:schemeClr val="accent6"/>
              </a:buClr>
              <a:buSzPts val="1400"/>
              <a:buNone/>
            </a:pPr>
            <a:r>
              <a:rPr b="1" lang="it-IT" sz="1400">
                <a:solidFill>
                  <a:schemeClr val="accent6"/>
                </a:solidFill>
              </a:rPr>
              <a:t>in caso di aggiunta opzione Più Sicuri Mobile: </a:t>
            </a:r>
            <a:r>
              <a:rPr b="1" lang="it-IT" sz="1400" u="sng">
                <a:solidFill>
                  <a:schemeClr val="hlink"/>
                </a:solidFill>
                <a:hlinkClick action="ppaction://hlinksldjump" r:id="rId4"/>
              </a:rPr>
              <a:t>CLICCA QUI</a:t>
            </a:r>
            <a:endParaRPr sz="1400">
              <a:solidFill>
                <a:srgbClr val="1F3864"/>
              </a:solidFill>
            </a:endParaRPr>
          </a:p>
          <a:p>
            <a:pPr indent="0" lvl="0" marL="0" rtl="0" algn="just">
              <a:lnSpc>
                <a:spcPct val="90000"/>
              </a:lnSpc>
              <a:spcBef>
                <a:spcPts val="1000"/>
              </a:spcBef>
              <a:spcAft>
                <a:spcPts val="0"/>
              </a:spcAft>
              <a:buClr>
                <a:schemeClr val="accent6"/>
              </a:buClr>
              <a:buSzPts val="1400"/>
              <a:buNone/>
            </a:pPr>
            <a:r>
              <a:rPr b="1" lang="it-IT" sz="1400">
                <a:solidFill>
                  <a:schemeClr val="accent6"/>
                </a:solidFill>
              </a:rPr>
              <a:t>in caso di aggiunta opzione Più Sicuri Mobile PRO: </a:t>
            </a:r>
            <a:r>
              <a:rPr b="1" lang="it-IT" sz="1400" u="sng">
                <a:solidFill>
                  <a:schemeClr val="hlink"/>
                </a:solidFill>
                <a:hlinkClick action="ppaction://hlinksldjump" r:id="rId5"/>
              </a:rPr>
              <a:t>CLICCA QUI</a:t>
            </a:r>
            <a:endParaRPr b="1" sz="1400">
              <a:solidFill>
                <a:srgbClr val="1F3864"/>
              </a:solidFill>
            </a:endParaRPr>
          </a:p>
          <a:p>
            <a:pPr indent="0" lvl="0" marL="0" rtl="0" algn="just">
              <a:lnSpc>
                <a:spcPct val="90000"/>
              </a:lnSpc>
              <a:spcBef>
                <a:spcPts val="1000"/>
              </a:spcBef>
              <a:spcAft>
                <a:spcPts val="0"/>
              </a:spcAft>
              <a:buClr>
                <a:schemeClr val="accent6"/>
              </a:buClr>
              <a:buSzPts val="1400"/>
              <a:buNone/>
            </a:pPr>
            <a:r>
              <a:rPr b="1" lang="it-IT" sz="1400">
                <a:solidFill>
                  <a:schemeClr val="accent6"/>
                </a:solidFill>
              </a:rPr>
              <a:t>in caso di aggiunta opzione VOCE UNLIMITED: </a:t>
            </a:r>
            <a:r>
              <a:rPr b="1" lang="it-IT" sz="1400" u="sng">
                <a:solidFill>
                  <a:schemeClr val="hlink"/>
                </a:solidFill>
                <a:hlinkClick action="ppaction://hlinksldjump" r:id="rId6"/>
              </a:rPr>
              <a:t>CLICCA QUI</a:t>
            </a:r>
            <a:endParaRPr b="1" sz="1400">
              <a:solidFill>
                <a:srgbClr val="1F3864"/>
              </a:solidFill>
            </a:endParaRPr>
          </a:p>
          <a:p>
            <a:pPr indent="0" lvl="0" marL="0" rtl="0" algn="just">
              <a:lnSpc>
                <a:spcPct val="90000"/>
              </a:lnSpc>
              <a:spcBef>
                <a:spcPts val="1000"/>
              </a:spcBef>
              <a:spcAft>
                <a:spcPts val="0"/>
              </a:spcAft>
              <a:buClr>
                <a:schemeClr val="dk1"/>
              </a:buClr>
              <a:buSzPts val="1400"/>
              <a:buNone/>
            </a:pPr>
            <a:r>
              <a:t/>
            </a:r>
            <a:endParaRPr sz="1400">
              <a:solidFill>
                <a:srgbClr val="1F3864"/>
              </a:solidFill>
            </a:endParaRPr>
          </a:p>
          <a:p>
            <a:pPr indent="0" lvl="0" marL="0" rtl="0" algn="just">
              <a:lnSpc>
                <a:spcPct val="90000"/>
              </a:lnSpc>
              <a:spcBef>
                <a:spcPts val="1000"/>
              </a:spcBef>
              <a:spcAft>
                <a:spcPts val="0"/>
              </a:spcAft>
              <a:buClr>
                <a:srgbClr val="002060"/>
              </a:buClr>
              <a:buSzPts val="1400"/>
              <a:buNone/>
            </a:pPr>
            <a:r>
              <a:rPr b="1" lang="it-IT" sz="1400">
                <a:solidFill>
                  <a:srgbClr val="002060"/>
                </a:solidFill>
              </a:rPr>
              <a:t>GO UNLIMITED FIRE + 5G NEW </a:t>
            </a:r>
            <a:r>
              <a:rPr b="1" lang="it-IT" sz="1400" u="sng">
                <a:solidFill>
                  <a:schemeClr val="hlink"/>
                </a:solidFill>
                <a:hlinkClick action="ppaction://hlinksldjump" r:id="rId7"/>
              </a:rPr>
              <a:t>CLICCA QUI</a:t>
            </a:r>
            <a:endParaRPr sz="1400">
              <a:solidFill>
                <a:srgbClr val="002060"/>
              </a:solidFill>
            </a:endParaRPr>
          </a:p>
          <a:p>
            <a:pPr indent="0" lvl="0" marL="0" rtl="0" algn="just">
              <a:lnSpc>
                <a:spcPct val="90000"/>
              </a:lnSpc>
              <a:spcBef>
                <a:spcPts val="1000"/>
              </a:spcBef>
              <a:spcAft>
                <a:spcPts val="0"/>
              </a:spcAft>
              <a:buClr>
                <a:srgbClr val="002060"/>
              </a:buClr>
              <a:buSzPts val="1400"/>
              <a:buNone/>
            </a:pPr>
            <a:r>
              <a:rPr b="1" lang="it-IT" sz="1400">
                <a:solidFill>
                  <a:srgbClr val="002060"/>
                </a:solidFill>
              </a:rPr>
              <a:t>GO UNLIMITED FIRE + EASY PAY ONLINE </a:t>
            </a:r>
            <a:r>
              <a:rPr b="1" lang="it-IT" sz="1400" u="sng">
                <a:solidFill>
                  <a:schemeClr val="hlink"/>
                </a:solidFill>
                <a:hlinkClick action="ppaction://hlinksldjump" r:id="rId8"/>
              </a:rPr>
              <a:t>CLICCA QUI</a:t>
            </a:r>
            <a:endParaRPr b="1" sz="1400">
              <a:solidFill>
                <a:srgbClr val="002060"/>
              </a:solidFill>
            </a:endParaRPr>
          </a:p>
          <a:p>
            <a:pPr indent="0" lvl="0" marL="0" rtl="0" algn="just">
              <a:lnSpc>
                <a:spcPct val="90000"/>
              </a:lnSpc>
              <a:spcBef>
                <a:spcPts val="1000"/>
              </a:spcBef>
              <a:spcAft>
                <a:spcPts val="0"/>
              </a:spcAft>
              <a:buClr>
                <a:srgbClr val="002060"/>
              </a:buClr>
              <a:buSzPts val="1400"/>
              <a:buNone/>
            </a:pPr>
            <a:r>
              <a:rPr b="1" lang="it-IT" sz="1400">
                <a:solidFill>
                  <a:srgbClr val="002060"/>
                </a:solidFill>
              </a:rPr>
              <a:t>GO UNLIMITED FIRE + 5G NEW EASY PAY ONLINE </a:t>
            </a:r>
            <a:r>
              <a:rPr b="1" lang="it-IT" sz="1400" u="sng">
                <a:solidFill>
                  <a:schemeClr val="hlink"/>
                </a:solidFill>
                <a:hlinkClick action="ppaction://hlinksldjump" r:id="rId9"/>
              </a:rPr>
              <a:t>CLICCA QUI</a:t>
            </a:r>
            <a:endParaRPr sz="1400">
              <a:solidFill>
                <a:srgbClr val="002060"/>
              </a:solidFill>
            </a:endParaRPr>
          </a:p>
          <a:p>
            <a:pPr indent="0" lvl="0" marL="0" rtl="0" algn="just">
              <a:lnSpc>
                <a:spcPct val="90000"/>
              </a:lnSpc>
              <a:spcBef>
                <a:spcPts val="1000"/>
              </a:spcBef>
              <a:spcAft>
                <a:spcPts val="0"/>
              </a:spcAft>
              <a:buClr>
                <a:schemeClr val="dk1"/>
              </a:buClr>
              <a:buSzPts val="1400"/>
              <a:buNone/>
            </a:pPr>
            <a:r>
              <a:t/>
            </a:r>
            <a:endParaRPr sz="1400">
              <a:solidFill>
                <a:srgbClr val="002060"/>
              </a:solidFill>
            </a:endParaRPr>
          </a:p>
          <a:p>
            <a:pPr indent="0" lvl="0" marL="0" rtl="0" algn="l">
              <a:lnSpc>
                <a:spcPct val="90000"/>
              </a:lnSpc>
              <a:spcBef>
                <a:spcPts val="1000"/>
              </a:spcBef>
              <a:spcAft>
                <a:spcPts val="0"/>
              </a:spcAft>
              <a:buClr>
                <a:schemeClr val="dk1"/>
              </a:buClr>
              <a:buSzPts val="1400"/>
              <a:buNone/>
            </a:pPr>
            <a:r>
              <a:t/>
            </a:r>
            <a:endParaRPr sz="1400">
              <a:solidFill>
                <a:srgbClr val="002060"/>
              </a:solidFill>
            </a:endParaRPr>
          </a:p>
          <a:p>
            <a:pPr indent="0" lvl="0" marL="0" rtl="0" algn="l">
              <a:lnSpc>
                <a:spcPct val="90000"/>
              </a:lnSpc>
              <a:spcBef>
                <a:spcPts val="1000"/>
              </a:spcBef>
              <a:spcAft>
                <a:spcPts val="0"/>
              </a:spcAft>
              <a:buClr>
                <a:schemeClr val="dk1"/>
              </a:buClr>
              <a:buSzPts val="1400"/>
              <a:buNone/>
            </a:pPr>
            <a:r>
              <a:t/>
            </a:r>
            <a:endParaRPr sz="1400">
              <a:solidFill>
                <a:srgbClr val="002060"/>
              </a:solidFill>
            </a:endParaRPr>
          </a:p>
        </p:txBody>
      </p:sp>
      <p:sp>
        <p:nvSpPr>
          <p:cNvPr id="105" name="Google Shape;105;p15"/>
          <p:cNvSpPr txBox="1"/>
          <p:nvPr/>
        </p:nvSpPr>
        <p:spPr>
          <a:xfrm>
            <a:off x="-35960" y="363349"/>
            <a:ext cx="12263919" cy="57535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2060"/>
              </a:buClr>
              <a:buSzPts val="2400"/>
              <a:buFont typeface="Calibri"/>
              <a:buNone/>
            </a:pPr>
            <a:r>
              <a:rPr b="1" i="0" lang="it-IT" sz="2400" u="none" cap="none" strike="noStrike">
                <a:solidFill>
                  <a:srgbClr val="002060"/>
                </a:solidFill>
                <a:latin typeface="Calibri"/>
                <a:ea typeface="Calibri"/>
                <a:cs typeface="Calibri"/>
                <a:sym typeface="Calibri"/>
              </a:rPr>
              <a:t>SUPER FIBRA FTTH AREE BIANCHE+ GO UNLIMITED FIRE + 5G NEW 27,98€ per 12 mesi poi 32,98€</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txBox="1"/>
          <p:nvPr>
            <p:ph type="title"/>
          </p:nvPr>
        </p:nvSpPr>
        <p:spPr>
          <a:xfrm>
            <a:off x="0" y="242981"/>
            <a:ext cx="12383784" cy="711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2060"/>
              </a:buClr>
              <a:buSzPts val="2400"/>
              <a:buFont typeface="Calibri"/>
              <a:buNone/>
            </a:pPr>
            <a:r>
              <a:rPr b="1" lang="it-IT" sz="2400">
                <a:solidFill>
                  <a:srgbClr val="002060"/>
                </a:solidFill>
              </a:rPr>
              <a:t>SUPER INTERNET CASA FWA 5G + GO UNLIMITED FIRE + 5G NEW 27,98€ per 12 mesi poi 32,98€</a:t>
            </a:r>
            <a:endParaRPr/>
          </a:p>
        </p:txBody>
      </p:sp>
      <p:sp>
        <p:nvSpPr>
          <p:cNvPr id="111" name="Google Shape;111;p16"/>
          <p:cNvSpPr txBox="1"/>
          <p:nvPr>
            <p:ph idx="2" type="body"/>
          </p:nvPr>
        </p:nvSpPr>
        <p:spPr>
          <a:xfrm>
            <a:off x="89043" y="839077"/>
            <a:ext cx="12013914" cy="6120523"/>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L’offerta Fissa Super Internet Casa Fwa 5G </a:t>
            </a:r>
            <a:r>
              <a:rPr lang="it-IT" sz="1600">
                <a:solidFill>
                  <a:srgbClr val="1F3864"/>
                </a:solidFill>
              </a:rPr>
              <a:t>con modem WI-FI7 prevede navigazione senza limiti fino a</a:t>
            </a:r>
            <a:r>
              <a:rPr b="1" lang="it-IT" sz="1600">
                <a:solidFill>
                  <a:srgbClr val="1F3864"/>
                </a:solidFill>
              </a:rPr>
              <a:t> 300 Mega a 19,99€/mese per 12 mesi, poi 24,99€</a:t>
            </a:r>
            <a:r>
              <a:rPr lang="it-IT" sz="1600">
                <a:solidFill>
                  <a:srgbClr val="002060"/>
                </a:solidFill>
              </a:rPr>
              <a:t> </a:t>
            </a:r>
            <a:r>
              <a:rPr lang="it-IT" sz="1600">
                <a:solidFill>
                  <a:srgbClr val="1F3864"/>
                </a:solidFill>
              </a:rPr>
              <a:t>con chiamate a 0 cent./minuto e scatto alla risposta di 23 centesimi verso numeri fissi e mobili nazionali e modem, antenna e assistenza inclusi.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002060"/>
              </a:buClr>
              <a:buSzPts val="1600"/>
              <a:buNone/>
            </a:pPr>
            <a:r>
              <a:rPr lang="it-IT" sz="1600">
                <a:solidFill>
                  <a:srgbClr val="002060"/>
                </a:solidFill>
              </a:rPr>
              <a:t>12 mesi di Prime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Costo attivazione 1,99 euro al mese per 24 mesi, salvo promozioni</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costo mensile di 19,99 euro è composto, per i primi 12 mesi, da 7 euro di servizio e Prime, 3 euro di modem e 9,99€ di antenna, dal 13° mese, da 12 euro di servizio, 3 euro di modem e 9,99€ di antenna, dal 49° mese, da 24,99 euro di servizio</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Il servizio FWA outdoor prevede l’installazione da parte di un tecnico, sarà quindi </a:t>
            </a:r>
            <a:r>
              <a:rPr b="1" lang="it-IT" sz="1600" u="sng">
                <a:solidFill>
                  <a:srgbClr val="1F3864"/>
                </a:solidFill>
              </a:rPr>
              <a:t>contattato per prendere un appuntamento per l’installazione</a:t>
            </a:r>
            <a:r>
              <a:rPr lang="it-IT" sz="1600">
                <a:solidFill>
                  <a:srgbClr val="1F3864"/>
                </a:solidFill>
              </a:rPr>
              <a:t>. Il servizio prevede un’antenna installata all’esterno dell’abitazione nella posizione di migliore copertura mobile ed un modem interno, il cui collegamento avverrà tramite cavo ethernet. Nel corso dell’appuntamento si capirà se c’è esigenza di servizi extra (es installare l’antenna sul tetto invece che sul balcone, o se si è in presenza di cappotto termico) e se gestibile la richiesta.</a:t>
            </a:r>
            <a:endParaRPr sz="1600">
              <a:solidFill>
                <a:srgbClr val="1F3864"/>
              </a:solidFill>
            </a:endParaRPr>
          </a:p>
          <a:p>
            <a:pPr indent="0" lvl="0" marL="0" rtl="0" algn="just">
              <a:lnSpc>
                <a:spcPct val="90000"/>
              </a:lnSpc>
              <a:spcBef>
                <a:spcPts val="1000"/>
              </a:spcBef>
              <a:spcAft>
                <a:spcPts val="0"/>
              </a:spcAft>
              <a:buClr>
                <a:schemeClr val="dk1"/>
              </a:buClr>
              <a:buSzPts val="1200"/>
              <a:buNone/>
            </a:pPr>
            <a:r>
              <a:t/>
            </a:r>
            <a:endParaRPr b="1" sz="1200">
              <a:solidFill>
                <a:schemeClr val="accent6"/>
              </a:solidFill>
            </a:endParaRPr>
          </a:p>
          <a:p>
            <a:pPr indent="0" lvl="0" marL="0" rtl="0" algn="just">
              <a:lnSpc>
                <a:spcPct val="90000"/>
              </a:lnSpc>
              <a:spcBef>
                <a:spcPts val="1000"/>
              </a:spcBef>
              <a:spcAft>
                <a:spcPts val="0"/>
              </a:spcAft>
              <a:buClr>
                <a:schemeClr val="accent6"/>
              </a:buClr>
              <a:buSzPts val="1200"/>
              <a:buNone/>
            </a:pPr>
            <a:r>
              <a:rPr b="1" lang="it-IT" sz="1200">
                <a:solidFill>
                  <a:schemeClr val="accent6"/>
                </a:solidFill>
              </a:rPr>
              <a:t>in caso di aggiunta opzione Più Sicuri Casa: </a:t>
            </a:r>
            <a:r>
              <a:rPr b="1" lang="it-IT" sz="1200" u="sng">
                <a:solidFill>
                  <a:schemeClr val="hlink"/>
                </a:solidFill>
                <a:hlinkClick action="ppaction://hlinksldjump" r:id="rId3"/>
              </a:rPr>
              <a:t>CLICCA QUI</a:t>
            </a:r>
            <a:endParaRPr sz="1200">
              <a:solidFill>
                <a:srgbClr val="1F3864"/>
              </a:solidFill>
            </a:endParaRPr>
          </a:p>
          <a:p>
            <a:pPr indent="0" lvl="0" marL="0" rtl="0" algn="l">
              <a:lnSpc>
                <a:spcPct val="90000"/>
              </a:lnSpc>
              <a:spcBef>
                <a:spcPts val="1000"/>
              </a:spcBef>
              <a:spcAft>
                <a:spcPts val="0"/>
              </a:spcAft>
              <a:buClr>
                <a:schemeClr val="accent6"/>
              </a:buClr>
              <a:buSzPts val="1200"/>
              <a:buNone/>
            </a:pPr>
            <a:r>
              <a:rPr b="1" lang="it-IT" sz="1200">
                <a:solidFill>
                  <a:schemeClr val="accent6"/>
                </a:solidFill>
              </a:rPr>
              <a:t>in caso di aggiunta opzione Più Sicuri Mobile: </a:t>
            </a:r>
            <a:r>
              <a:rPr b="1" lang="it-IT" sz="1200" u="sng">
                <a:solidFill>
                  <a:schemeClr val="hlink"/>
                </a:solidFill>
                <a:hlinkClick action="ppaction://hlinksldjump" r:id="rId4"/>
              </a:rPr>
              <a:t>CLICCA QUI</a:t>
            </a:r>
            <a:endParaRPr sz="1200">
              <a:solidFill>
                <a:srgbClr val="1F3864"/>
              </a:solidFill>
            </a:endParaRPr>
          </a:p>
          <a:p>
            <a:pPr indent="0" lvl="0" marL="0" rtl="0" algn="just">
              <a:lnSpc>
                <a:spcPct val="90000"/>
              </a:lnSpc>
              <a:spcBef>
                <a:spcPts val="1000"/>
              </a:spcBef>
              <a:spcAft>
                <a:spcPts val="0"/>
              </a:spcAft>
              <a:buClr>
                <a:schemeClr val="accent6"/>
              </a:buClr>
              <a:buSzPts val="1200"/>
              <a:buNone/>
            </a:pPr>
            <a:r>
              <a:rPr b="1" lang="it-IT" sz="1200">
                <a:solidFill>
                  <a:schemeClr val="accent6"/>
                </a:solidFill>
              </a:rPr>
              <a:t>in caso di aggiunta opzione Più Sicuri Mobile PRO: </a:t>
            </a:r>
            <a:r>
              <a:rPr b="1" lang="it-IT" sz="1200" u="sng">
                <a:solidFill>
                  <a:schemeClr val="hlink"/>
                </a:solidFill>
                <a:hlinkClick action="ppaction://hlinksldjump" r:id="rId5"/>
              </a:rPr>
              <a:t>CLICCA QUI</a:t>
            </a:r>
            <a:endParaRPr b="1" sz="1200">
              <a:solidFill>
                <a:srgbClr val="1F3864"/>
              </a:solidFill>
            </a:endParaRPr>
          </a:p>
          <a:p>
            <a:pPr indent="0" lvl="0" marL="0" rtl="0" algn="just">
              <a:lnSpc>
                <a:spcPct val="90000"/>
              </a:lnSpc>
              <a:spcBef>
                <a:spcPts val="1000"/>
              </a:spcBef>
              <a:spcAft>
                <a:spcPts val="0"/>
              </a:spcAft>
              <a:buClr>
                <a:schemeClr val="accent6"/>
              </a:buClr>
              <a:buSzPts val="1200"/>
              <a:buNone/>
            </a:pPr>
            <a:r>
              <a:rPr b="1" lang="it-IT" sz="1200">
                <a:solidFill>
                  <a:schemeClr val="accent6"/>
                </a:solidFill>
              </a:rPr>
              <a:t>in caso di aggiunta opzione VOCE UNLIMITED: </a:t>
            </a:r>
            <a:r>
              <a:rPr b="1" lang="it-IT" sz="1200" u="sng">
                <a:solidFill>
                  <a:schemeClr val="hlink"/>
                </a:solidFill>
                <a:hlinkClick action="ppaction://hlinksldjump" r:id="rId6"/>
              </a:rPr>
              <a:t>CLICCA QUI</a:t>
            </a:r>
            <a:endParaRPr b="1" sz="1200">
              <a:solidFill>
                <a:srgbClr val="1F3864"/>
              </a:solidFill>
            </a:endParaRPr>
          </a:p>
          <a:p>
            <a:pPr indent="0" lvl="0" marL="0" rtl="0" algn="just">
              <a:lnSpc>
                <a:spcPct val="90000"/>
              </a:lnSpc>
              <a:spcBef>
                <a:spcPts val="1000"/>
              </a:spcBef>
              <a:spcAft>
                <a:spcPts val="0"/>
              </a:spcAft>
              <a:buClr>
                <a:schemeClr val="dk1"/>
              </a:buClr>
              <a:buSzPts val="1200"/>
              <a:buNone/>
            </a:pPr>
            <a:r>
              <a:t/>
            </a:r>
            <a:endParaRPr sz="1200">
              <a:solidFill>
                <a:srgbClr val="1F3864"/>
              </a:solidFill>
            </a:endParaRPr>
          </a:p>
          <a:p>
            <a:pPr indent="0" lvl="0" marL="0" rtl="0" algn="just">
              <a:lnSpc>
                <a:spcPct val="90000"/>
              </a:lnSpc>
              <a:spcBef>
                <a:spcPts val="1000"/>
              </a:spcBef>
              <a:spcAft>
                <a:spcPts val="0"/>
              </a:spcAft>
              <a:buClr>
                <a:srgbClr val="002060"/>
              </a:buClr>
              <a:buSzPts val="1200"/>
              <a:buNone/>
            </a:pPr>
            <a:r>
              <a:rPr b="1" lang="it-IT" sz="1200">
                <a:solidFill>
                  <a:srgbClr val="002060"/>
                </a:solidFill>
              </a:rPr>
              <a:t>GO UNLIMITED FIRE + 5G NEW </a:t>
            </a:r>
            <a:r>
              <a:rPr b="1" lang="it-IT" sz="1200" u="sng">
                <a:solidFill>
                  <a:schemeClr val="hlink"/>
                </a:solidFill>
                <a:hlinkClick action="ppaction://hlinksldjump" r:id="rId7"/>
              </a:rPr>
              <a:t>CLICCA QUI</a:t>
            </a:r>
            <a:endParaRPr sz="1200">
              <a:solidFill>
                <a:srgbClr val="002060"/>
              </a:solidFill>
            </a:endParaRPr>
          </a:p>
          <a:p>
            <a:pPr indent="0" lvl="0" marL="0" rtl="0" algn="just">
              <a:lnSpc>
                <a:spcPct val="90000"/>
              </a:lnSpc>
              <a:spcBef>
                <a:spcPts val="1000"/>
              </a:spcBef>
              <a:spcAft>
                <a:spcPts val="0"/>
              </a:spcAft>
              <a:buClr>
                <a:srgbClr val="002060"/>
              </a:buClr>
              <a:buSzPts val="1200"/>
              <a:buNone/>
            </a:pPr>
            <a:r>
              <a:rPr b="1" lang="it-IT" sz="1200">
                <a:solidFill>
                  <a:srgbClr val="002060"/>
                </a:solidFill>
              </a:rPr>
              <a:t>GO UNLIMITED FIRE + EASY PAY ONLINE </a:t>
            </a:r>
            <a:r>
              <a:rPr b="1" lang="it-IT" sz="1200" u="sng">
                <a:solidFill>
                  <a:schemeClr val="hlink"/>
                </a:solidFill>
                <a:hlinkClick action="ppaction://hlinksldjump" r:id="rId8"/>
              </a:rPr>
              <a:t>CLICCA QUI</a:t>
            </a:r>
            <a:endParaRPr b="1" sz="1200">
              <a:solidFill>
                <a:srgbClr val="002060"/>
              </a:solidFill>
            </a:endParaRPr>
          </a:p>
          <a:p>
            <a:pPr indent="0" lvl="0" marL="0" rtl="0" algn="just">
              <a:lnSpc>
                <a:spcPct val="90000"/>
              </a:lnSpc>
              <a:spcBef>
                <a:spcPts val="1000"/>
              </a:spcBef>
              <a:spcAft>
                <a:spcPts val="0"/>
              </a:spcAft>
              <a:buClr>
                <a:srgbClr val="002060"/>
              </a:buClr>
              <a:buSzPts val="1200"/>
              <a:buNone/>
            </a:pPr>
            <a:r>
              <a:rPr b="1" lang="it-IT" sz="1200">
                <a:solidFill>
                  <a:srgbClr val="002060"/>
                </a:solidFill>
              </a:rPr>
              <a:t>GO UNLIMITED FIRE + 5G NEW EASY PAY ONLINE </a:t>
            </a:r>
            <a:r>
              <a:rPr b="1" lang="it-IT" sz="1200" u="sng">
                <a:solidFill>
                  <a:schemeClr val="hlink"/>
                </a:solidFill>
                <a:hlinkClick action="ppaction://hlinksldjump" r:id="rId9"/>
              </a:rPr>
              <a:t>CLICCA QUI</a:t>
            </a:r>
            <a:endParaRPr sz="1200">
              <a:solidFill>
                <a:srgbClr val="002060"/>
              </a:solidFill>
            </a:endParaRPr>
          </a:p>
          <a:p>
            <a:pPr indent="0" lvl="0" marL="0" rtl="0" algn="just">
              <a:lnSpc>
                <a:spcPct val="90000"/>
              </a:lnSpc>
              <a:spcBef>
                <a:spcPts val="1000"/>
              </a:spcBef>
              <a:spcAft>
                <a:spcPts val="0"/>
              </a:spcAft>
              <a:buClr>
                <a:schemeClr val="dk1"/>
              </a:buClr>
              <a:buSzPts val="1400"/>
              <a:buNone/>
            </a:pPr>
            <a:r>
              <a:t/>
            </a:r>
            <a:endParaRPr sz="1400">
              <a:solidFill>
                <a:srgbClr val="002060"/>
              </a:solidFill>
            </a:endParaRPr>
          </a:p>
        </p:txBody>
      </p:sp>
      <p:sp>
        <p:nvSpPr>
          <p:cNvPr id="112" name="Google Shape;112;p16"/>
          <p:cNvSpPr txBox="1"/>
          <p:nvPr/>
        </p:nvSpPr>
        <p:spPr>
          <a:xfrm>
            <a:off x="0" y="-167101"/>
            <a:ext cx="12383784" cy="7112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002060"/>
              </a:buClr>
              <a:buSzPts val="2400"/>
              <a:buFont typeface="Calibri"/>
              <a:buNone/>
            </a:pPr>
            <a:r>
              <a:rPr b="1" i="0" lang="it-IT" sz="2400" u="none" cap="none" strike="noStrike">
                <a:solidFill>
                  <a:srgbClr val="002060"/>
                </a:solidFill>
                <a:latin typeface="Calibri"/>
                <a:ea typeface="Calibri"/>
                <a:cs typeface="Calibri"/>
                <a:sym typeface="Calibri"/>
              </a:rPr>
              <a:t>SUPER INTERNET CASA FWA 5G + GO UNLIMITED FIRE + 26,98€ per 12 mesi poi 31,98€</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7"/>
          <p:cNvSpPr txBox="1"/>
          <p:nvPr>
            <p:ph idx="2" type="body"/>
          </p:nvPr>
        </p:nvSpPr>
        <p:spPr>
          <a:xfrm>
            <a:off x="89043" y="839077"/>
            <a:ext cx="12013914" cy="6120523"/>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L’offerta Fissa Super Internet Casa 5G FWA INDOOR </a:t>
            </a:r>
            <a:r>
              <a:rPr lang="it-IT" sz="1600">
                <a:solidFill>
                  <a:srgbClr val="1F3864"/>
                </a:solidFill>
              </a:rPr>
              <a:t>con modem WI-FI 7 prevede navigazione senza limiti fino a</a:t>
            </a:r>
            <a:r>
              <a:rPr b="1" lang="it-IT" sz="1600">
                <a:solidFill>
                  <a:srgbClr val="1F3864"/>
                </a:solidFill>
              </a:rPr>
              <a:t> 300 Mega a 19,99€/mese per 12 mesi, poi 24,99€</a:t>
            </a:r>
            <a:r>
              <a:rPr b="1" lang="it-IT" sz="1600">
                <a:solidFill>
                  <a:srgbClr val="002060"/>
                </a:solidFill>
              </a:rPr>
              <a:t> </a:t>
            </a:r>
            <a:r>
              <a:rPr lang="it-IT" sz="1600">
                <a:solidFill>
                  <a:srgbClr val="1F3864"/>
                </a:solidFill>
              </a:rPr>
              <a:t>con chiamate a 0 cent./minuto e scatto alla risposta di 23 centesimi verso numeri fissi e mobili nazionali e modem e assistenza inclusi. Le offerte si rinnovano ogni mese. Il servizio voce viene attivato sfruttando la tecnologia VoIP. Può condividere i Giga illimitati del fisso fino ad un massimo di 3 SIM compatibili. </a:t>
            </a:r>
            <a:endParaRPr sz="1600">
              <a:solidFill>
                <a:srgbClr val="002060"/>
              </a:solidFill>
            </a:endParaRPr>
          </a:p>
          <a:p>
            <a:pPr indent="0" lvl="0" marL="0" rtl="0" algn="just">
              <a:lnSpc>
                <a:spcPct val="90000"/>
              </a:lnSpc>
              <a:spcBef>
                <a:spcPts val="1000"/>
              </a:spcBef>
              <a:spcAft>
                <a:spcPts val="0"/>
              </a:spcAft>
              <a:buClr>
                <a:srgbClr val="002060"/>
              </a:buClr>
              <a:buSzPts val="1600"/>
              <a:buNone/>
            </a:pPr>
            <a:r>
              <a:rPr lang="it-IT" sz="1600">
                <a:solidFill>
                  <a:srgbClr val="002060"/>
                </a:solidFill>
              </a:rPr>
              <a:t>12 mesi di Prime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Costo attivazione 1,99 euro al mese per 24 mesi, salvo promozioni</a:t>
            </a:r>
            <a:endParaRPr/>
          </a:p>
          <a:p>
            <a:pPr indent="0" lvl="0" marL="0" rtl="0" algn="just">
              <a:lnSpc>
                <a:spcPct val="90000"/>
              </a:lnSpc>
              <a:spcBef>
                <a:spcPts val="1000"/>
              </a:spcBef>
              <a:spcAft>
                <a:spcPts val="0"/>
              </a:spcAft>
              <a:buClr>
                <a:srgbClr val="002060"/>
              </a:buClr>
              <a:buSzPts val="1600"/>
              <a:buNone/>
            </a:pPr>
            <a:r>
              <a:rPr lang="it-IT" sz="1600">
                <a:solidFill>
                  <a:srgbClr val="002060"/>
                </a:solidFill>
              </a:rPr>
              <a:t>Riepilogando, Il costo mensile di 19,99 euro è composto, per i primi 12 mesi, da 14 euro di servizio e Prime e 5,99 euro di modem, dal 13° mese, da 19 euro di servizio e 5,99 euro di modem, dal 49° mese, da 24,99 euro di servizio.</a:t>
            </a:r>
            <a:endParaRPr/>
          </a:p>
          <a:p>
            <a:pPr indent="0" lvl="0" marL="0" rtl="0" algn="just">
              <a:lnSpc>
                <a:spcPct val="90000"/>
              </a:lnSpc>
              <a:spcBef>
                <a:spcPts val="1000"/>
              </a:spcBef>
              <a:spcAft>
                <a:spcPts val="0"/>
              </a:spcAft>
              <a:buClr>
                <a:schemeClr val="dk1"/>
              </a:buClr>
              <a:buSzPts val="1400"/>
              <a:buNone/>
            </a:pPr>
            <a:r>
              <a:t/>
            </a:r>
            <a:endParaRPr sz="1400">
              <a:solidFill>
                <a:srgbClr val="002060"/>
              </a:solidFill>
            </a:endParaRPr>
          </a:p>
          <a:p>
            <a:pPr indent="0" lvl="0" marL="0" rtl="0" algn="just">
              <a:lnSpc>
                <a:spcPct val="90000"/>
              </a:lnSpc>
              <a:spcBef>
                <a:spcPts val="1000"/>
              </a:spcBef>
              <a:spcAft>
                <a:spcPts val="0"/>
              </a:spcAft>
              <a:buClr>
                <a:schemeClr val="accent6"/>
              </a:buClr>
              <a:buSzPts val="1400"/>
              <a:buNone/>
            </a:pPr>
            <a:r>
              <a:rPr b="1" lang="it-IT" sz="1400">
                <a:solidFill>
                  <a:schemeClr val="accent6"/>
                </a:solidFill>
              </a:rPr>
              <a:t>in caso di aggiunta opzione Più Sicuri Casa: </a:t>
            </a:r>
            <a:r>
              <a:rPr b="1" lang="it-IT" sz="1400" u="sng">
                <a:solidFill>
                  <a:schemeClr val="hlink"/>
                </a:solidFill>
                <a:hlinkClick action="ppaction://hlinksldjump" r:id="rId3"/>
              </a:rPr>
              <a:t>CLICCA QUI</a:t>
            </a:r>
            <a:endParaRPr sz="1400">
              <a:solidFill>
                <a:srgbClr val="1F3864"/>
              </a:solidFill>
            </a:endParaRPr>
          </a:p>
          <a:p>
            <a:pPr indent="0" lvl="0" marL="0" rtl="0" algn="l">
              <a:lnSpc>
                <a:spcPct val="90000"/>
              </a:lnSpc>
              <a:spcBef>
                <a:spcPts val="1000"/>
              </a:spcBef>
              <a:spcAft>
                <a:spcPts val="0"/>
              </a:spcAft>
              <a:buClr>
                <a:schemeClr val="accent6"/>
              </a:buClr>
              <a:buSzPts val="1400"/>
              <a:buNone/>
            </a:pPr>
            <a:r>
              <a:rPr b="1" lang="it-IT" sz="1400">
                <a:solidFill>
                  <a:schemeClr val="accent6"/>
                </a:solidFill>
              </a:rPr>
              <a:t>in caso di aggiunta opzione Più Sicuri Mobile: </a:t>
            </a:r>
            <a:r>
              <a:rPr b="1" lang="it-IT" sz="1400" u="sng">
                <a:solidFill>
                  <a:schemeClr val="hlink"/>
                </a:solidFill>
                <a:hlinkClick action="ppaction://hlinksldjump" r:id="rId4"/>
              </a:rPr>
              <a:t>CLICCA QUI</a:t>
            </a:r>
            <a:endParaRPr sz="1400">
              <a:solidFill>
                <a:srgbClr val="1F3864"/>
              </a:solidFill>
            </a:endParaRPr>
          </a:p>
          <a:p>
            <a:pPr indent="0" lvl="0" marL="0" rtl="0" algn="just">
              <a:lnSpc>
                <a:spcPct val="90000"/>
              </a:lnSpc>
              <a:spcBef>
                <a:spcPts val="1000"/>
              </a:spcBef>
              <a:spcAft>
                <a:spcPts val="0"/>
              </a:spcAft>
              <a:buClr>
                <a:schemeClr val="accent6"/>
              </a:buClr>
              <a:buSzPts val="1400"/>
              <a:buNone/>
            </a:pPr>
            <a:r>
              <a:rPr b="1" lang="it-IT" sz="1400">
                <a:solidFill>
                  <a:schemeClr val="accent6"/>
                </a:solidFill>
              </a:rPr>
              <a:t>in caso di aggiunta opzione Più Sicuri Mobile PRO: </a:t>
            </a:r>
            <a:r>
              <a:rPr b="1" lang="it-IT" sz="1400" u="sng">
                <a:solidFill>
                  <a:schemeClr val="hlink"/>
                </a:solidFill>
                <a:hlinkClick action="ppaction://hlinksldjump" r:id="rId5"/>
              </a:rPr>
              <a:t>CLICCA QUI</a:t>
            </a:r>
            <a:endParaRPr b="1" sz="1400">
              <a:solidFill>
                <a:srgbClr val="1F3864"/>
              </a:solidFill>
            </a:endParaRPr>
          </a:p>
          <a:p>
            <a:pPr indent="0" lvl="0" marL="0" rtl="0" algn="just">
              <a:lnSpc>
                <a:spcPct val="90000"/>
              </a:lnSpc>
              <a:spcBef>
                <a:spcPts val="1000"/>
              </a:spcBef>
              <a:spcAft>
                <a:spcPts val="0"/>
              </a:spcAft>
              <a:buClr>
                <a:schemeClr val="accent6"/>
              </a:buClr>
              <a:buSzPts val="1400"/>
              <a:buNone/>
            </a:pPr>
            <a:r>
              <a:rPr b="1" lang="it-IT" sz="1400">
                <a:solidFill>
                  <a:schemeClr val="accent6"/>
                </a:solidFill>
              </a:rPr>
              <a:t>in caso di aggiunta opzione VOCE UNLIMITED: </a:t>
            </a:r>
            <a:r>
              <a:rPr b="1" lang="it-IT" sz="1400" u="sng">
                <a:solidFill>
                  <a:schemeClr val="hlink"/>
                </a:solidFill>
                <a:hlinkClick action="ppaction://hlinksldjump" r:id="rId6"/>
              </a:rPr>
              <a:t>CLICCA QUI</a:t>
            </a:r>
            <a:endParaRPr b="1" sz="1400">
              <a:solidFill>
                <a:srgbClr val="1F3864"/>
              </a:solidFill>
            </a:endParaRPr>
          </a:p>
          <a:p>
            <a:pPr indent="0" lvl="0" marL="0" rtl="0" algn="just">
              <a:lnSpc>
                <a:spcPct val="90000"/>
              </a:lnSpc>
              <a:spcBef>
                <a:spcPts val="1000"/>
              </a:spcBef>
              <a:spcAft>
                <a:spcPts val="0"/>
              </a:spcAft>
              <a:buClr>
                <a:schemeClr val="dk1"/>
              </a:buClr>
              <a:buSzPts val="1400"/>
              <a:buNone/>
            </a:pPr>
            <a:r>
              <a:t/>
            </a:r>
            <a:endParaRPr sz="1400">
              <a:solidFill>
                <a:srgbClr val="1F3864"/>
              </a:solidFill>
            </a:endParaRPr>
          </a:p>
          <a:p>
            <a:pPr indent="0" lvl="0" marL="0" rtl="0" algn="just">
              <a:lnSpc>
                <a:spcPct val="90000"/>
              </a:lnSpc>
              <a:spcBef>
                <a:spcPts val="1000"/>
              </a:spcBef>
              <a:spcAft>
                <a:spcPts val="0"/>
              </a:spcAft>
              <a:buClr>
                <a:srgbClr val="002060"/>
              </a:buClr>
              <a:buSzPts val="1400"/>
              <a:buNone/>
            </a:pPr>
            <a:r>
              <a:rPr b="1" lang="it-IT" sz="1400">
                <a:solidFill>
                  <a:srgbClr val="002060"/>
                </a:solidFill>
              </a:rPr>
              <a:t>GO UNLIMITED FIRE + 5G NEW </a:t>
            </a:r>
            <a:r>
              <a:rPr b="1" lang="it-IT" sz="1400" u="sng">
                <a:solidFill>
                  <a:schemeClr val="hlink"/>
                </a:solidFill>
                <a:hlinkClick action="ppaction://hlinksldjump" r:id="rId7"/>
              </a:rPr>
              <a:t>CLICCA QUI</a:t>
            </a:r>
            <a:endParaRPr sz="1400">
              <a:solidFill>
                <a:srgbClr val="002060"/>
              </a:solidFill>
            </a:endParaRPr>
          </a:p>
          <a:p>
            <a:pPr indent="0" lvl="0" marL="0" rtl="0" algn="just">
              <a:lnSpc>
                <a:spcPct val="90000"/>
              </a:lnSpc>
              <a:spcBef>
                <a:spcPts val="1000"/>
              </a:spcBef>
              <a:spcAft>
                <a:spcPts val="0"/>
              </a:spcAft>
              <a:buClr>
                <a:srgbClr val="002060"/>
              </a:buClr>
              <a:buSzPts val="1400"/>
              <a:buNone/>
            </a:pPr>
            <a:r>
              <a:rPr b="1" lang="it-IT" sz="1400">
                <a:solidFill>
                  <a:srgbClr val="002060"/>
                </a:solidFill>
              </a:rPr>
              <a:t>GO UNLIMITED FIRE + EASY PAY ONLINE </a:t>
            </a:r>
            <a:r>
              <a:rPr b="1" lang="it-IT" sz="1400" u="sng">
                <a:solidFill>
                  <a:schemeClr val="hlink"/>
                </a:solidFill>
                <a:hlinkClick action="ppaction://hlinksldjump" r:id="rId8"/>
              </a:rPr>
              <a:t>CLICCA QUI</a:t>
            </a:r>
            <a:endParaRPr b="1" sz="1400">
              <a:solidFill>
                <a:srgbClr val="002060"/>
              </a:solidFill>
            </a:endParaRPr>
          </a:p>
          <a:p>
            <a:pPr indent="0" lvl="0" marL="0" rtl="0" algn="just">
              <a:lnSpc>
                <a:spcPct val="90000"/>
              </a:lnSpc>
              <a:spcBef>
                <a:spcPts val="1000"/>
              </a:spcBef>
              <a:spcAft>
                <a:spcPts val="0"/>
              </a:spcAft>
              <a:buClr>
                <a:srgbClr val="002060"/>
              </a:buClr>
              <a:buSzPts val="1400"/>
              <a:buNone/>
            </a:pPr>
            <a:r>
              <a:rPr b="1" lang="it-IT" sz="1400">
                <a:solidFill>
                  <a:srgbClr val="002060"/>
                </a:solidFill>
              </a:rPr>
              <a:t>GO UNLIMITED FIRE + 5G NEW EASY PAY ONLINE </a:t>
            </a:r>
            <a:r>
              <a:rPr b="1" lang="it-IT" sz="1400" u="sng">
                <a:solidFill>
                  <a:schemeClr val="hlink"/>
                </a:solidFill>
                <a:hlinkClick action="ppaction://hlinksldjump" r:id="rId9"/>
              </a:rPr>
              <a:t>CLICCA QUI</a:t>
            </a:r>
            <a:endParaRPr sz="1400">
              <a:solidFill>
                <a:srgbClr val="002060"/>
              </a:solidFill>
            </a:endParaRPr>
          </a:p>
          <a:p>
            <a:pPr indent="0" lvl="0" marL="0" rtl="0" algn="just">
              <a:lnSpc>
                <a:spcPct val="90000"/>
              </a:lnSpc>
              <a:spcBef>
                <a:spcPts val="1000"/>
              </a:spcBef>
              <a:spcAft>
                <a:spcPts val="0"/>
              </a:spcAft>
              <a:buClr>
                <a:schemeClr val="dk1"/>
              </a:buClr>
              <a:buSzPts val="1400"/>
              <a:buNone/>
            </a:pPr>
            <a:r>
              <a:t/>
            </a:r>
            <a:endParaRPr sz="1400">
              <a:solidFill>
                <a:srgbClr val="002060"/>
              </a:solidFill>
            </a:endParaRPr>
          </a:p>
        </p:txBody>
      </p:sp>
      <p:sp>
        <p:nvSpPr>
          <p:cNvPr id="118" name="Google Shape;118;p17"/>
          <p:cNvSpPr txBox="1"/>
          <p:nvPr/>
        </p:nvSpPr>
        <p:spPr>
          <a:xfrm>
            <a:off x="89043" y="127877"/>
            <a:ext cx="12383784" cy="71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2060"/>
              </a:buClr>
              <a:buSzPts val="2200"/>
              <a:buFont typeface="Calibri"/>
              <a:buNone/>
            </a:pPr>
            <a:r>
              <a:rPr b="1" i="0" lang="it-IT" sz="2200" u="none" cap="none" strike="noStrike">
                <a:solidFill>
                  <a:srgbClr val="002060"/>
                </a:solidFill>
                <a:latin typeface="Calibri"/>
                <a:ea typeface="Calibri"/>
                <a:cs typeface="Calibri"/>
                <a:sym typeface="Calibri"/>
              </a:rPr>
              <a:t>SUPER INTERNET CASA 5G FWA INDOOR+ GO UNLIMITED FIRE + 26,98€ per 12 mesi poi 31,98€</a:t>
            </a:r>
            <a:endParaRPr/>
          </a:p>
          <a:p>
            <a:pPr indent="0" lvl="0" marL="0" marR="0" rtl="0" algn="l">
              <a:lnSpc>
                <a:spcPct val="90000"/>
              </a:lnSpc>
              <a:spcBef>
                <a:spcPts val="0"/>
              </a:spcBef>
              <a:spcAft>
                <a:spcPts val="0"/>
              </a:spcAft>
              <a:buClr>
                <a:srgbClr val="002060"/>
              </a:buClr>
              <a:buSzPts val="2200"/>
              <a:buFont typeface="Calibri"/>
              <a:buNone/>
            </a:pPr>
            <a:r>
              <a:rPr b="1" i="0" lang="it-IT" sz="2200" u="none" cap="none" strike="noStrike">
                <a:solidFill>
                  <a:srgbClr val="002060"/>
                </a:solidFill>
                <a:latin typeface="Calibri"/>
                <a:ea typeface="Calibri"/>
                <a:cs typeface="Calibri"/>
                <a:sym typeface="Calibri"/>
              </a:rPr>
              <a:t>SUPER INTERNET CASA 5G FWA INDOOR + GO UNLIMITED FIRE + 5G NEW 27,98€ per 12 mesi poi 32,98€</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8"/>
          <p:cNvSpPr txBox="1"/>
          <p:nvPr/>
        </p:nvSpPr>
        <p:spPr>
          <a:xfrm>
            <a:off x="97971" y="1019637"/>
            <a:ext cx="11702143" cy="6032421"/>
          </a:xfrm>
          <a:prstGeom prst="rect">
            <a:avLst/>
          </a:prstGeom>
          <a:noFill/>
          <a:ln cap="flat" cmpd="sng" w="9525">
            <a:solidFill>
              <a:srgbClr val="00206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it-IT" sz="1500" u="none" cap="none" strike="noStrike">
                <a:solidFill>
                  <a:srgbClr val="1F3864"/>
                </a:solidFill>
                <a:latin typeface="Calibri"/>
                <a:ea typeface="Calibri"/>
                <a:cs typeface="Calibri"/>
                <a:sym typeface="Calibri"/>
              </a:rPr>
              <a:t>GO UNLIMITED FIRE + 5G NEW </a:t>
            </a:r>
            <a:r>
              <a:rPr b="0" i="0" lang="it-IT" sz="1500" u="none" cap="none" strike="noStrike">
                <a:solidFill>
                  <a:srgbClr val="1F3864"/>
                </a:solidFill>
                <a:latin typeface="Calibri"/>
                <a:ea typeface="Calibri"/>
                <a:cs typeface="Calibri"/>
                <a:sym typeface="Calibri"/>
              </a:rPr>
              <a:t>al costo di 7,99€ al mese prevede: minuti illimitati verso tutti, 200 SMS e 50 Giga in 5G alla massima velocità disponibile di 2Gbps che diventano illimitati a seguito dell'attivazione del fisso. Le ricordiamo di attivarli su Area Clienti o su APP WINDTRE. L'offerta si rinnova automaticamente ogni mese a partire dalla data di attivazione. Riceverà la nuova SIM con un credito pari al primo costo mensile dell’offerta direttamente a casa e pagherà 7,99€ al corriere. Il costo di attivazione è in promozione a 0€ INVECE DI 10€ per i clienti che mantengono attiva la SIM per 24 mesi, altrimenti l'importo di 10€ scontati nella promozione sarà addebitato sul credito residuo. I GIGA illimitati non concorrono a incrementare i GIGA disponibili a condizioni domestiche. Se alla data di rinnovo dell’offerta il credito fosse insufficiente, il traffico incluso non verrà più bloccato e, per assicurare la continuità del servizio, sarà comunque reso disponibile in anticipo per 1 giorno solare, fino alle 23:59 al costo di 0,99€. Qualora il giorno successivo il credito fosse ancora insufficiente, il traffico incluso sarà nuovamente disponibile per ulteriori 2 giorni, sempre al costo di 0,99€. </a:t>
            </a:r>
            <a:endParaRPr/>
          </a:p>
          <a:p>
            <a:pPr indent="0" lvl="0" marL="0" marR="0" rtl="0" algn="just">
              <a:lnSpc>
                <a:spcPct val="100000"/>
              </a:lnSpc>
              <a:spcBef>
                <a:spcPts val="0"/>
              </a:spcBef>
              <a:spcAft>
                <a:spcPts val="0"/>
              </a:spcAft>
              <a:buClr>
                <a:schemeClr val="dk1"/>
              </a:buClr>
              <a:buSzPts val="1500"/>
              <a:buFont typeface="Calibri"/>
              <a:buNone/>
            </a:pPr>
            <a:r>
              <a:t/>
            </a:r>
            <a:endParaRPr b="0" i="0" sz="1500" u="none" cap="none" strike="noStrike">
              <a:solidFill>
                <a:srgbClr val="1F3864"/>
              </a:solidFill>
              <a:latin typeface="Calibri"/>
              <a:ea typeface="Calibri"/>
              <a:cs typeface="Calibri"/>
              <a:sym typeface="Calibri"/>
            </a:endParaRPr>
          </a:p>
          <a:p>
            <a:pPr indent="0" lvl="0" marL="0" marR="0" rtl="0" algn="just">
              <a:spcBef>
                <a:spcPts val="0"/>
              </a:spcBef>
              <a:spcAft>
                <a:spcPts val="0"/>
              </a:spcAft>
              <a:buNone/>
            </a:pPr>
            <a:r>
              <a:rPr b="0" i="0" lang="it-IT" sz="1600" u="none" cap="none" strike="noStrike">
                <a:solidFill>
                  <a:srgbClr val="1F3864"/>
                </a:solidFill>
                <a:latin typeface="Calibri"/>
                <a:ea typeface="Calibri"/>
                <a:cs typeface="Calibri"/>
                <a:sym typeface="Calibri"/>
              </a:rPr>
              <a:t>E’ disponibile anche la </a:t>
            </a:r>
            <a:r>
              <a:rPr b="1" i="0" lang="it-IT" sz="1600" u="none" cap="none" strike="noStrike">
                <a:solidFill>
                  <a:srgbClr val="1F3864"/>
                </a:solidFill>
                <a:latin typeface="Calibri"/>
                <a:ea typeface="Calibri"/>
                <a:cs typeface="Calibri"/>
                <a:sym typeface="Calibri"/>
              </a:rPr>
              <a:t>E-sim ossia una SIM virtuale </a:t>
            </a:r>
            <a:r>
              <a:rPr b="0" i="0" lang="it-IT" sz="1600" u="none" cap="none" strike="noStrike">
                <a:solidFill>
                  <a:srgbClr val="1F3864"/>
                </a:solidFill>
                <a:latin typeface="Calibri"/>
                <a:ea typeface="Calibri"/>
                <a:cs typeface="Calibri"/>
                <a:sym typeface="Calibri"/>
              </a:rPr>
              <a:t>che svolge le medesime funzioni della SIM classica. Se il device è compatibile (vedi lista su https://www.windtre.it/ecommerce/elenco-device-compatibili-esim) per installare la e-sim sarà sufficiente scansionare il QR-Code contenuto nell'email che si riceve al momento dell'attivazione dell’offerta prescelta. </a:t>
            </a:r>
            <a:endParaRPr/>
          </a:p>
          <a:p>
            <a:pPr indent="0" lvl="0" marL="0" marR="0" rtl="0" algn="just">
              <a:spcBef>
                <a:spcPts val="0"/>
              </a:spcBef>
              <a:spcAft>
                <a:spcPts val="0"/>
              </a:spcAft>
              <a:buNone/>
            </a:pPr>
            <a:r>
              <a:t/>
            </a:r>
            <a:endParaRPr b="0" i="0" sz="1600" u="none" cap="none" strike="noStrike">
              <a:solidFill>
                <a:srgbClr val="1F3864"/>
              </a:solidFill>
              <a:latin typeface="Calibri"/>
              <a:ea typeface="Calibri"/>
              <a:cs typeface="Calibri"/>
              <a:sym typeface="Calibri"/>
            </a:endParaRPr>
          </a:p>
          <a:p>
            <a:pPr indent="0" lvl="0" marL="0" marR="0" rtl="0" algn="just">
              <a:spcBef>
                <a:spcPts val="0"/>
              </a:spcBef>
              <a:spcAft>
                <a:spcPts val="0"/>
              </a:spcAft>
              <a:buNone/>
            </a:pPr>
            <a:r>
              <a:rPr b="0" i="0" lang="it-IT" sz="1600" u="none" cap="none" strike="noStrike">
                <a:solidFill>
                  <a:srgbClr val="1F3864"/>
                </a:solidFill>
                <a:latin typeface="Calibri"/>
                <a:ea typeface="Calibri"/>
                <a:cs typeface="Calibri"/>
                <a:sym typeface="Calibri"/>
              </a:rPr>
              <a:t>La E-sim potrà essere venduta </a:t>
            </a:r>
            <a:r>
              <a:rPr b="1" i="0" lang="it-IT" sz="1600" u="none" cap="none" strike="noStrike">
                <a:solidFill>
                  <a:srgbClr val="1F3864"/>
                </a:solidFill>
                <a:latin typeface="Calibri"/>
                <a:ea typeface="Calibri"/>
                <a:cs typeface="Calibri"/>
                <a:sym typeface="Calibri"/>
              </a:rPr>
              <a:t>tramite Pay by link o SDD, in base alla scelta del cliente, </a:t>
            </a:r>
            <a:r>
              <a:rPr b="0" i="0" lang="it-IT" sz="1600" u="none" cap="none" strike="noStrike">
                <a:solidFill>
                  <a:srgbClr val="1F3864"/>
                </a:solidFill>
                <a:latin typeface="Calibri"/>
                <a:ea typeface="Calibri"/>
                <a:cs typeface="Calibri"/>
                <a:sym typeface="Calibri"/>
              </a:rPr>
              <a:t>il costo è 0€. Il cliente riceverà via e-mail, il QRcode per installare la nuova SIM. Il link ha una validità di 24 ore, oltre le quali non sarà più valido e l’ordine verrà annullato.</a:t>
            </a:r>
            <a:endParaRPr/>
          </a:p>
          <a:p>
            <a:pPr indent="0" lvl="0" marL="0" marR="0" rtl="0" algn="just">
              <a:spcBef>
                <a:spcPts val="0"/>
              </a:spcBef>
              <a:spcAft>
                <a:spcPts val="0"/>
              </a:spcAft>
              <a:buNone/>
            </a:pPr>
            <a:r>
              <a:t/>
            </a:r>
            <a:endParaRPr b="0" i="0" sz="1600" u="none" cap="none" strike="noStrike">
              <a:solidFill>
                <a:srgbClr val="1F3864"/>
              </a:solidFill>
              <a:latin typeface="Calibri"/>
              <a:ea typeface="Calibri"/>
              <a:cs typeface="Calibri"/>
              <a:sym typeface="Calibri"/>
            </a:endParaRPr>
          </a:p>
          <a:p>
            <a:pPr indent="0" lvl="0" marL="0" marR="0" rtl="0" algn="just">
              <a:spcBef>
                <a:spcPts val="0"/>
              </a:spcBef>
              <a:spcAft>
                <a:spcPts val="0"/>
              </a:spcAft>
              <a:buNone/>
            </a:pPr>
            <a:r>
              <a:rPr b="1" i="0" lang="it-IT" sz="1600" u="none" cap="none" strike="noStrike">
                <a:solidFill>
                  <a:srgbClr val="1F3864"/>
                </a:solidFill>
                <a:latin typeface="Calibri"/>
                <a:ea typeface="Calibri"/>
                <a:cs typeface="Calibri"/>
                <a:sym typeface="Calibri"/>
              </a:rPr>
              <a:t>IL PAGAMENTO TRAMITE PAY BY LINK:</a:t>
            </a:r>
            <a:endParaRPr/>
          </a:p>
          <a:p>
            <a:pPr indent="0" lvl="0" marL="0" marR="0" rtl="0" algn="just">
              <a:spcBef>
                <a:spcPts val="0"/>
              </a:spcBef>
              <a:spcAft>
                <a:spcPts val="0"/>
              </a:spcAft>
              <a:buNone/>
            </a:pPr>
            <a:r>
              <a:rPr b="0" i="0" lang="it-IT" sz="1600" u="none" cap="none" strike="noStrike">
                <a:solidFill>
                  <a:srgbClr val="1F3864"/>
                </a:solidFill>
                <a:latin typeface="Calibri"/>
                <a:ea typeface="Calibri"/>
                <a:cs typeface="Calibri"/>
                <a:sym typeface="Calibri"/>
              </a:rPr>
              <a:t>Riceverà, direttamente a casa, la nuova SIM o tramite mail il QR CODE per e-sim. Per il pagamento del primo canone dell’offerta verrà inviato un link, al numero fornito dal cliente, tramite il quale potrà effettuare il pagamento inserendo i dati della sua carta di credito. Il link ha una validità di 24 ore, oltre le quali non sarà più valido e l’ordine verrà annullato. La carta di credito inserita sarà utilizzata come metodo di pagamento.</a:t>
            </a:r>
            <a:endParaRPr/>
          </a:p>
          <a:p>
            <a:pPr indent="0" lvl="0" marL="0" marR="0" rtl="0" algn="just">
              <a:lnSpc>
                <a:spcPct val="100000"/>
              </a:lnSpc>
              <a:spcBef>
                <a:spcPts val="0"/>
              </a:spcBef>
              <a:spcAft>
                <a:spcPts val="0"/>
              </a:spcAft>
              <a:buClr>
                <a:schemeClr val="dk1"/>
              </a:buClr>
              <a:buSzPts val="1500"/>
              <a:buFont typeface="Calibri"/>
              <a:buNone/>
            </a:pPr>
            <a:r>
              <a:t/>
            </a:r>
            <a:endParaRPr b="0" i="0" sz="1500" u="none" cap="none" strike="noStrike">
              <a:solidFill>
                <a:srgbClr val="1F3864"/>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500"/>
              <a:buFont typeface="Calibri"/>
              <a:buNone/>
            </a:pPr>
            <a:r>
              <a:t/>
            </a:r>
            <a:endParaRPr b="0" i="0" sz="1500" u="none" cap="none" strike="noStrike">
              <a:solidFill>
                <a:srgbClr val="1F3864"/>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400"/>
              <a:buFont typeface="Calibri"/>
              <a:buNone/>
            </a:pPr>
            <a:r>
              <a:t/>
            </a:r>
            <a:endParaRPr b="0" i="0" sz="1400" u="none" cap="none" strike="noStrike">
              <a:solidFill>
                <a:srgbClr val="1F3864"/>
              </a:solidFill>
              <a:latin typeface="Calibri"/>
              <a:ea typeface="Calibri"/>
              <a:cs typeface="Calibri"/>
              <a:sym typeface="Calibri"/>
            </a:endParaRPr>
          </a:p>
        </p:txBody>
      </p:sp>
      <p:sp>
        <p:nvSpPr>
          <p:cNvPr id="124" name="Google Shape;124;p18"/>
          <p:cNvSpPr txBox="1"/>
          <p:nvPr/>
        </p:nvSpPr>
        <p:spPr>
          <a:xfrm>
            <a:off x="45357" y="73364"/>
            <a:ext cx="6096000" cy="58477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it-IT" sz="3200" u="none" cap="none" strike="noStrike">
                <a:solidFill>
                  <a:srgbClr val="1F3864"/>
                </a:solidFill>
                <a:latin typeface="Calibri"/>
                <a:ea typeface="Calibri"/>
                <a:cs typeface="Calibri"/>
                <a:sym typeface="Calibri"/>
              </a:rPr>
              <a:t>GO UNLIMITED FIRE + 5G NEW</a:t>
            </a:r>
            <a:endParaRPr b="0" i="0" sz="3200" u="none" cap="none" strike="noStrike">
              <a:solidFill>
                <a:srgbClr val="1F3864"/>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9"/>
          <p:cNvSpPr txBox="1"/>
          <p:nvPr>
            <p:ph type="title"/>
          </p:nvPr>
        </p:nvSpPr>
        <p:spPr>
          <a:xfrm>
            <a:off x="108857" y="75415"/>
            <a:ext cx="10515600" cy="708131"/>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rgbClr val="1F3864"/>
              </a:buClr>
              <a:buSzPts val="3200"/>
              <a:buFont typeface="Calibri"/>
              <a:buNone/>
            </a:pPr>
            <a:r>
              <a:rPr lang="it-IT" sz="3200">
                <a:solidFill>
                  <a:srgbClr val="1F3864"/>
                </a:solidFill>
                <a:latin typeface="Calibri"/>
                <a:ea typeface="Calibri"/>
                <a:cs typeface="Calibri"/>
                <a:sym typeface="Calibri"/>
              </a:rPr>
              <a:t>GO UNLIMITED FIRE + EASY PAY ONLINE</a:t>
            </a:r>
            <a:endParaRPr/>
          </a:p>
        </p:txBody>
      </p:sp>
      <p:sp>
        <p:nvSpPr>
          <p:cNvPr id="131" name="Google Shape;131;p19"/>
          <p:cNvSpPr txBox="1"/>
          <p:nvPr>
            <p:ph idx="1" type="body"/>
          </p:nvPr>
        </p:nvSpPr>
        <p:spPr>
          <a:xfrm>
            <a:off x="141511" y="1088568"/>
            <a:ext cx="11832772" cy="5011289"/>
          </a:xfrm>
          <a:prstGeom prst="rect">
            <a:avLst/>
          </a:prstGeom>
          <a:noFill/>
          <a:ln>
            <a:noFill/>
          </a:ln>
        </p:spPr>
        <p:txBody>
          <a:bodyPr anchorCtr="0" anchor="t" bIns="45700" lIns="91425" spcFirstLastPara="1" rIns="91425" wrap="square" tIns="45700">
            <a:normAutofit fontScale="25000" lnSpcReduction="20000"/>
          </a:bodyPr>
          <a:lstStyle/>
          <a:p>
            <a:pPr indent="0" lvl="0" marL="0" rtl="0" algn="just">
              <a:lnSpc>
                <a:spcPct val="100000"/>
              </a:lnSpc>
              <a:spcBef>
                <a:spcPts val="0"/>
              </a:spcBef>
              <a:spcAft>
                <a:spcPts val="0"/>
              </a:spcAft>
              <a:buClr>
                <a:srgbClr val="1F3864"/>
              </a:buClr>
              <a:buSzPct val="100000"/>
              <a:buNone/>
            </a:pPr>
            <a:r>
              <a:rPr b="1" lang="it-IT" sz="6400">
                <a:solidFill>
                  <a:srgbClr val="1F3864"/>
                </a:solidFill>
              </a:rPr>
              <a:t>GO UNLIMITED FIRE + EASY PAY ONLINE </a:t>
            </a:r>
            <a:r>
              <a:rPr lang="it-IT" sz="6400">
                <a:solidFill>
                  <a:srgbClr val="1F3864"/>
                </a:solidFill>
              </a:rPr>
              <a:t>al costo di 6,99€ al mese prevede: minuti illimitati verso tutti, 200 SMS e 100 Giga alla velocità massima di 2 Gigabyte per secondo che diventano illimitati a seguito dell'attivazione del fisso. Le ricordiamo di attivarli su Area Clienti o su APP WINDTRE. L'offerta si rinnova automaticamente ogni mese a partire dalla data di attivazione. Riceverà la nuova SIM direttamente a casa. Attivazione gratuita</a:t>
            </a:r>
            <a:endParaRPr b="1" sz="6400">
              <a:solidFill>
                <a:srgbClr val="1F3864"/>
              </a:solidFill>
            </a:endParaRPr>
          </a:p>
          <a:p>
            <a:pPr indent="0" lvl="0" marL="0" rtl="0" algn="just">
              <a:lnSpc>
                <a:spcPct val="100000"/>
              </a:lnSpc>
              <a:spcBef>
                <a:spcPts val="1000"/>
              </a:spcBef>
              <a:spcAft>
                <a:spcPts val="0"/>
              </a:spcAft>
              <a:buClr>
                <a:srgbClr val="1F3864"/>
              </a:buClr>
              <a:buSzPct val="100000"/>
              <a:buNone/>
            </a:pPr>
            <a:r>
              <a:rPr lang="it-IT" sz="6400">
                <a:solidFill>
                  <a:srgbClr val="1F3864"/>
                </a:solidFill>
              </a:rPr>
              <a:t>I GIGA illimitati non concorrono a incrementare i GIGA disponibili a condizioni domestiche. </a:t>
            </a:r>
            <a:endParaRPr/>
          </a:p>
          <a:p>
            <a:pPr indent="0" lvl="0" marL="0" rtl="0" algn="just">
              <a:lnSpc>
                <a:spcPct val="100000"/>
              </a:lnSpc>
              <a:spcBef>
                <a:spcPts val="1000"/>
              </a:spcBef>
              <a:spcAft>
                <a:spcPts val="0"/>
              </a:spcAft>
              <a:buClr>
                <a:srgbClr val="1F3864"/>
              </a:buClr>
              <a:buSzPct val="100000"/>
              <a:buNone/>
            </a:pPr>
            <a:r>
              <a:rPr lang="it-IT" sz="6400">
                <a:solidFill>
                  <a:srgbClr val="1F3864"/>
                </a:solidFill>
              </a:rPr>
              <a:t>Il cliente ha la possibilità di richiedere la SIM fisica al costo di 0 euro in promozione.</a:t>
            </a:r>
            <a:endParaRPr/>
          </a:p>
          <a:p>
            <a:pPr indent="-228600" lvl="0" marL="228600" rtl="0" algn="just">
              <a:lnSpc>
                <a:spcPct val="90000"/>
              </a:lnSpc>
              <a:spcBef>
                <a:spcPts val="1000"/>
              </a:spcBef>
              <a:spcAft>
                <a:spcPts val="0"/>
              </a:spcAft>
              <a:buClr>
                <a:srgbClr val="1F3864"/>
              </a:buClr>
              <a:buSzPct val="100000"/>
              <a:buChar char="•"/>
            </a:pPr>
            <a:r>
              <a:rPr lang="it-IT" sz="6600">
                <a:solidFill>
                  <a:srgbClr val="1F3864"/>
                </a:solidFill>
              </a:rPr>
              <a:t>E’ disponibile anche la </a:t>
            </a:r>
            <a:r>
              <a:rPr b="1" lang="it-IT" sz="6600">
                <a:solidFill>
                  <a:srgbClr val="1F3864"/>
                </a:solidFill>
              </a:rPr>
              <a:t>E-sim ossia una SIM virtuale </a:t>
            </a:r>
            <a:r>
              <a:rPr lang="it-IT" sz="6600">
                <a:solidFill>
                  <a:srgbClr val="1F3864"/>
                </a:solidFill>
              </a:rPr>
              <a:t>che svolge le medesime funzioni della SIM classica. Se il device è compatibile (vedi lista su https://www.windtre.it/ecommerce/elenco-device-compatibili-esim) per installare la e-sim sarà sufficiente scansionare il QR-Code contenuto nell'email che si riceve al momento dell'attivazione dell’offerta prescelta. </a:t>
            </a:r>
            <a:endParaRPr/>
          </a:p>
          <a:p>
            <a:pPr indent="0" lvl="0" marL="0" rtl="0" algn="just">
              <a:lnSpc>
                <a:spcPct val="90000"/>
              </a:lnSpc>
              <a:spcBef>
                <a:spcPts val="1000"/>
              </a:spcBef>
              <a:spcAft>
                <a:spcPts val="0"/>
              </a:spcAft>
              <a:buClr>
                <a:srgbClr val="1F3864"/>
              </a:buClr>
              <a:buSzPct val="100000"/>
              <a:buNone/>
            </a:pPr>
            <a:r>
              <a:rPr lang="it-IT" sz="6600">
                <a:solidFill>
                  <a:srgbClr val="1F3864"/>
                </a:solidFill>
              </a:rPr>
              <a:t>La E-sim potrà essere venduta </a:t>
            </a:r>
            <a:r>
              <a:rPr b="1" lang="it-IT" sz="6600">
                <a:solidFill>
                  <a:srgbClr val="1F3864"/>
                </a:solidFill>
              </a:rPr>
              <a:t>tramite Pay by link o SDD, in base alla scelta del cliente, </a:t>
            </a:r>
            <a:r>
              <a:rPr lang="it-IT" sz="6600">
                <a:solidFill>
                  <a:srgbClr val="1F3864"/>
                </a:solidFill>
              </a:rPr>
              <a:t>il costo è 0€. Il cliente riceverà via e-mail, il QRcode per installare la nuova SIM. Il link ha una validità di 24 ore, oltre le quali non sarà più valido e l’ordine verrà annullato.</a:t>
            </a:r>
            <a:endParaRPr/>
          </a:p>
          <a:p>
            <a:pPr indent="0" lvl="0" marL="0" rtl="0" algn="just">
              <a:lnSpc>
                <a:spcPct val="100000"/>
              </a:lnSpc>
              <a:spcBef>
                <a:spcPts val="1000"/>
              </a:spcBef>
              <a:spcAft>
                <a:spcPts val="0"/>
              </a:spcAft>
              <a:buClr>
                <a:schemeClr val="dk1"/>
              </a:buClr>
              <a:buSzPct val="100000"/>
              <a:buNone/>
            </a:pPr>
            <a:r>
              <a:t/>
            </a:r>
            <a:endParaRPr sz="6600">
              <a:solidFill>
                <a:srgbClr val="1F3864"/>
              </a:solidFill>
            </a:endParaRPr>
          </a:p>
          <a:p>
            <a:pPr indent="0" lvl="0" marL="0" rtl="0" algn="just">
              <a:lnSpc>
                <a:spcPct val="90000"/>
              </a:lnSpc>
              <a:spcBef>
                <a:spcPts val="1000"/>
              </a:spcBef>
              <a:spcAft>
                <a:spcPts val="0"/>
              </a:spcAft>
              <a:buClr>
                <a:srgbClr val="1F3864"/>
              </a:buClr>
              <a:buSzPct val="100000"/>
              <a:buNone/>
            </a:pPr>
            <a:r>
              <a:rPr b="1" lang="it-IT" sz="6600">
                <a:solidFill>
                  <a:srgbClr val="1F3864"/>
                </a:solidFill>
              </a:rPr>
              <a:t>IL PAGAMENTO TRAMITE PAY BY LINK:</a:t>
            </a:r>
            <a:endParaRPr/>
          </a:p>
          <a:p>
            <a:pPr indent="0" lvl="0" marL="0" rtl="0" algn="just">
              <a:lnSpc>
                <a:spcPct val="90000"/>
              </a:lnSpc>
              <a:spcBef>
                <a:spcPts val="1000"/>
              </a:spcBef>
              <a:spcAft>
                <a:spcPts val="0"/>
              </a:spcAft>
              <a:buClr>
                <a:srgbClr val="1F3864"/>
              </a:buClr>
              <a:buSzPct val="100000"/>
              <a:buNone/>
            </a:pPr>
            <a:r>
              <a:rPr lang="it-IT" sz="6600">
                <a:solidFill>
                  <a:srgbClr val="1F3864"/>
                </a:solidFill>
              </a:rPr>
              <a:t>Riceverà, direttamente a casa, la nuova SIM o tramite mail il QR CODE per e-sim. Per il pagamento del primo canone dell’offerta verrà inviato un link, al numero fornito dal cliente, tramite il quale potrà effettuare il pagamento inserendo i dati della sua carta di credito. Il link ha una validità di 24 ore, oltre le quali non sarà più valido e l’ordine verrà annullato. La carta di credito inserita sarà utilizzata come metodo di pagamento.</a:t>
            </a:r>
            <a:endParaRPr/>
          </a:p>
          <a:p>
            <a:pPr indent="0" lvl="0" marL="0" rtl="0" algn="just">
              <a:lnSpc>
                <a:spcPct val="100000"/>
              </a:lnSpc>
              <a:spcBef>
                <a:spcPts val="1000"/>
              </a:spcBef>
              <a:spcAft>
                <a:spcPts val="0"/>
              </a:spcAft>
              <a:buClr>
                <a:schemeClr val="dk1"/>
              </a:buClr>
              <a:buSzPct val="100000"/>
              <a:buNone/>
            </a:pPr>
            <a:r>
              <a:t/>
            </a:r>
            <a:endParaRPr sz="1500">
              <a:solidFill>
                <a:srgbClr val="1F3864"/>
              </a:solidFill>
            </a:endParaRPr>
          </a:p>
          <a:p>
            <a:pPr indent="0" lvl="0" marL="0" rtl="0" algn="just">
              <a:lnSpc>
                <a:spcPct val="100000"/>
              </a:lnSpc>
              <a:spcBef>
                <a:spcPts val="1000"/>
              </a:spcBef>
              <a:spcAft>
                <a:spcPts val="0"/>
              </a:spcAft>
              <a:buClr>
                <a:schemeClr val="dk1"/>
              </a:buClr>
              <a:buSzPct val="100000"/>
              <a:buNone/>
            </a:pPr>
            <a:r>
              <a:t/>
            </a:r>
            <a:endParaRPr sz="1500">
              <a:solidFill>
                <a:srgbClr val="1F3864"/>
              </a:solidFill>
            </a:endParaRPr>
          </a:p>
          <a:p>
            <a:pPr indent="-184150" lvl="0" marL="228600" rtl="0" algn="l">
              <a:lnSpc>
                <a:spcPct val="90000"/>
              </a:lnSpc>
              <a:spcBef>
                <a:spcPts val="1000"/>
              </a:spcBef>
              <a:spcAft>
                <a:spcPts val="0"/>
              </a:spcAft>
              <a:buClr>
                <a:schemeClr val="dk1"/>
              </a:buClr>
              <a:buSzPct val="100000"/>
              <a:buNone/>
            </a:pPr>
            <a:r>
              <a:t/>
            </a:r>
            <a:endParaRPr/>
          </a:p>
        </p:txBody>
      </p:sp>
      <p:sp>
        <p:nvSpPr>
          <p:cNvPr id="132" name="Google Shape;132;p19"/>
          <p:cNvSpPr txBox="1"/>
          <p:nvPr/>
        </p:nvSpPr>
        <p:spPr>
          <a:xfrm>
            <a:off x="97971" y="979716"/>
            <a:ext cx="12013914" cy="5120142"/>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002060"/>
              </a:buClr>
              <a:buSzPts val="1400"/>
              <a:buFont typeface="Arial"/>
              <a:buNone/>
            </a:pPr>
            <a:r>
              <a:rPr b="0" i="0" lang="it-IT" sz="1400" u="none" cap="none" strike="noStrike">
                <a:solidFill>
                  <a:srgbClr val="002060"/>
                </a:solidFill>
                <a:latin typeface="Calibri"/>
                <a:ea typeface="Calibri"/>
                <a:cs typeface="Calibri"/>
                <a:sym typeface="Calibri"/>
              </a:rPr>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0"/>
          <p:cNvSpPr txBox="1"/>
          <p:nvPr/>
        </p:nvSpPr>
        <p:spPr>
          <a:xfrm>
            <a:off x="97971" y="1019637"/>
            <a:ext cx="11702143" cy="5232202"/>
          </a:xfrm>
          <a:prstGeom prst="rect">
            <a:avLst/>
          </a:prstGeom>
          <a:noFill/>
          <a:ln cap="flat" cmpd="sng" w="9525">
            <a:solidFill>
              <a:srgbClr val="00206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it-IT" sz="1600" u="none" cap="none" strike="noStrike">
                <a:solidFill>
                  <a:srgbClr val="1F3864"/>
                </a:solidFill>
                <a:latin typeface="Calibri"/>
                <a:ea typeface="Calibri"/>
                <a:cs typeface="Calibri"/>
                <a:sym typeface="Calibri"/>
              </a:rPr>
              <a:t>GO UNLIMITED FIRE + 5G NEW EASY PAY ONLINE </a:t>
            </a:r>
            <a:r>
              <a:rPr b="0" i="0" lang="it-IT" sz="1600" u="none" cap="none" strike="noStrike">
                <a:solidFill>
                  <a:srgbClr val="1F3864"/>
                </a:solidFill>
                <a:latin typeface="Calibri"/>
                <a:ea typeface="Calibri"/>
                <a:cs typeface="Calibri"/>
                <a:sym typeface="Calibri"/>
              </a:rPr>
              <a:t>al costo di 7,99€ al mese prevede: minuti illimitati verso tutti, 200 SMS e 100 Giga in 5G alla massima velocità disponibile di 2Gbps che diventano illimitati a seguito dell'attivazione del fisso. Le ricordiamo di attivarli su Area Clienti o su APP WINDTRE. L'offerta si rinnova automaticamente ogni mese a partire dalla data di attivazione. Riceverà la nuova SIM direttamente a casa. Attivazione gratuita</a:t>
            </a:r>
            <a:endParaRPr b="1" i="0" sz="1600" u="none" cap="none" strike="noStrike">
              <a:solidFill>
                <a:srgbClr val="1F3864"/>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600"/>
              <a:buFont typeface="Calibri"/>
              <a:buNone/>
            </a:pPr>
            <a:r>
              <a:t/>
            </a:r>
            <a:endParaRPr b="1" i="0" sz="1600" u="none" cap="none" strike="noStrike">
              <a:solidFill>
                <a:srgbClr val="1F3864"/>
              </a:solidFill>
              <a:latin typeface="Calibri"/>
              <a:ea typeface="Calibri"/>
              <a:cs typeface="Calibri"/>
              <a:sym typeface="Calibri"/>
            </a:endParaRPr>
          </a:p>
          <a:p>
            <a:pPr indent="0" lvl="0" marL="0" marR="0" rtl="0" algn="just">
              <a:spcBef>
                <a:spcPts val="0"/>
              </a:spcBef>
              <a:spcAft>
                <a:spcPts val="0"/>
              </a:spcAft>
              <a:buNone/>
            </a:pPr>
            <a:r>
              <a:rPr b="0" i="0" lang="it-IT" sz="1600" u="none" cap="none" strike="noStrike">
                <a:solidFill>
                  <a:srgbClr val="1F3864"/>
                </a:solidFill>
                <a:latin typeface="Calibri"/>
                <a:ea typeface="Calibri"/>
                <a:cs typeface="Calibri"/>
                <a:sym typeface="Calibri"/>
              </a:rPr>
              <a:t>I GIGA illimitati non concorrono a incrementare i GIGA disponibili a condizioni domestiche. </a:t>
            </a:r>
            <a:endParaRPr/>
          </a:p>
          <a:p>
            <a:pPr indent="0" lvl="0" marL="0" marR="0" rtl="0" algn="just">
              <a:spcBef>
                <a:spcPts val="0"/>
              </a:spcBef>
              <a:spcAft>
                <a:spcPts val="0"/>
              </a:spcAft>
              <a:buNone/>
            </a:pPr>
            <a:r>
              <a:t/>
            </a:r>
            <a:endParaRPr b="0" i="0" sz="1600" u="none" cap="none" strike="noStrike">
              <a:solidFill>
                <a:srgbClr val="1F3864"/>
              </a:solidFill>
              <a:latin typeface="Calibri"/>
              <a:ea typeface="Calibri"/>
              <a:cs typeface="Calibri"/>
              <a:sym typeface="Calibri"/>
            </a:endParaRPr>
          </a:p>
          <a:p>
            <a:pPr indent="0" lvl="0" marL="0" marR="0" rtl="0" algn="just">
              <a:spcBef>
                <a:spcPts val="0"/>
              </a:spcBef>
              <a:spcAft>
                <a:spcPts val="0"/>
              </a:spcAft>
              <a:buNone/>
            </a:pPr>
            <a:r>
              <a:rPr b="0" i="0" lang="it-IT" sz="1600" u="none" cap="none" strike="noStrike">
                <a:solidFill>
                  <a:srgbClr val="1F3864"/>
                </a:solidFill>
                <a:latin typeface="Calibri"/>
                <a:ea typeface="Calibri"/>
                <a:cs typeface="Calibri"/>
                <a:sym typeface="Calibri"/>
              </a:rPr>
              <a:t>Il cliente ha la possibilità di richiedere la SIM fisica al costo di 0 euro in promozione.</a:t>
            </a:r>
            <a:endParaRPr/>
          </a:p>
          <a:p>
            <a:pPr indent="0" lvl="0" marL="0" marR="0" rtl="0" algn="just">
              <a:spcBef>
                <a:spcPts val="0"/>
              </a:spcBef>
              <a:spcAft>
                <a:spcPts val="0"/>
              </a:spcAft>
              <a:buNone/>
            </a:pPr>
            <a:r>
              <a:t/>
            </a:r>
            <a:endParaRPr b="0" i="0" sz="1600" u="none" cap="none" strike="noStrike">
              <a:solidFill>
                <a:srgbClr val="1F3864"/>
              </a:solidFill>
              <a:latin typeface="Calibri"/>
              <a:ea typeface="Calibri"/>
              <a:cs typeface="Calibri"/>
              <a:sym typeface="Calibri"/>
            </a:endParaRPr>
          </a:p>
          <a:p>
            <a:pPr indent="0" lvl="0" marL="0" marR="0" rtl="0" algn="just">
              <a:spcBef>
                <a:spcPts val="0"/>
              </a:spcBef>
              <a:spcAft>
                <a:spcPts val="0"/>
              </a:spcAft>
              <a:buNone/>
            </a:pPr>
            <a:r>
              <a:rPr b="0" i="0" lang="it-IT" sz="1600" u="none" cap="none" strike="noStrike">
                <a:solidFill>
                  <a:srgbClr val="1F3864"/>
                </a:solidFill>
                <a:latin typeface="Calibri"/>
                <a:ea typeface="Calibri"/>
                <a:cs typeface="Calibri"/>
                <a:sym typeface="Calibri"/>
              </a:rPr>
              <a:t>E’ disponibile anche la </a:t>
            </a:r>
            <a:r>
              <a:rPr b="1" i="0" lang="it-IT" sz="1600" u="none" cap="none" strike="noStrike">
                <a:solidFill>
                  <a:srgbClr val="1F3864"/>
                </a:solidFill>
                <a:latin typeface="Calibri"/>
                <a:ea typeface="Calibri"/>
                <a:cs typeface="Calibri"/>
                <a:sym typeface="Calibri"/>
              </a:rPr>
              <a:t>E-sim ossia una SIM virtuale </a:t>
            </a:r>
            <a:r>
              <a:rPr b="0" i="0" lang="it-IT" sz="1600" u="none" cap="none" strike="noStrike">
                <a:solidFill>
                  <a:srgbClr val="1F3864"/>
                </a:solidFill>
                <a:latin typeface="Calibri"/>
                <a:ea typeface="Calibri"/>
                <a:cs typeface="Calibri"/>
                <a:sym typeface="Calibri"/>
              </a:rPr>
              <a:t>che svolge le medesime funzioni della SIM classica. Se il device è compatibile (vedi lista su https://www.windtre.it/ecommerce/elenco-device-compatibili-esim) per installare la e-sim sarà sufficiente scansionare il QR-Code contenuto nell'email che si riceve al momento dell'attivazione dell’offerta prescelta. </a:t>
            </a:r>
            <a:endParaRPr/>
          </a:p>
          <a:p>
            <a:pPr indent="0" lvl="0" marL="0" marR="0" rtl="0" algn="just">
              <a:spcBef>
                <a:spcPts val="0"/>
              </a:spcBef>
              <a:spcAft>
                <a:spcPts val="0"/>
              </a:spcAft>
              <a:buNone/>
            </a:pPr>
            <a:r>
              <a:rPr b="0" i="0" lang="it-IT" sz="1600" u="none" cap="none" strike="noStrike">
                <a:solidFill>
                  <a:srgbClr val="1F3864"/>
                </a:solidFill>
                <a:latin typeface="Calibri"/>
                <a:ea typeface="Calibri"/>
                <a:cs typeface="Calibri"/>
                <a:sym typeface="Calibri"/>
              </a:rPr>
              <a:t>La E-sim potrà essere venduta </a:t>
            </a:r>
            <a:r>
              <a:rPr b="1" i="0" lang="it-IT" sz="1600" u="none" cap="none" strike="noStrike">
                <a:solidFill>
                  <a:srgbClr val="1F3864"/>
                </a:solidFill>
                <a:latin typeface="Calibri"/>
                <a:ea typeface="Calibri"/>
                <a:cs typeface="Calibri"/>
                <a:sym typeface="Calibri"/>
              </a:rPr>
              <a:t>tramite Pay by link o SDD, in base alla scelta del cliente, </a:t>
            </a:r>
            <a:r>
              <a:rPr b="0" i="0" lang="it-IT" sz="1600" u="none" cap="none" strike="noStrike">
                <a:solidFill>
                  <a:srgbClr val="1F3864"/>
                </a:solidFill>
                <a:latin typeface="Calibri"/>
                <a:ea typeface="Calibri"/>
                <a:cs typeface="Calibri"/>
                <a:sym typeface="Calibri"/>
              </a:rPr>
              <a:t>il costo è 0€. Il cliente riceverà via e-mail, il QRcode per installare la nuova SIM. Il link ha una validità di 24 ore, oltre le quali non sarà più valido e l’ordine verrà annullato.</a:t>
            </a:r>
            <a:endParaRPr/>
          </a:p>
          <a:p>
            <a:pPr indent="0" lvl="0" marL="0" marR="0" rtl="0" algn="just">
              <a:spcBef>
                <a:spcPts val="0"/>
              </a:spcBef>
              <a:spcAft>
                <a:spcPts val="0"/>
              </a:spcAft>
              <a:buNone/>
            </a:pPr>
            <a:r>
              <a:t/>
            </a:r>
            <a:endParaRPr b="0" i="0" sz="1600" u="none" cap="none" strike="noStrike">
              <a:solidFill>
                <a:srgbClr val="1F3864"/>
              </a:solidFill>
              <a:latin typeface="Calibri"/>
              <a:ea typeface="Calibri"/>
              <a:cs typeface="Calibri"/>
              <a:sym typeface="Calibri"/>
            </a:endParaRPr>
          </a:p>
          <a:p>
            <a:pPr indent="0" lvl="0" marL="0" marR="0" rtl="0" algn="just">
              <a:spcBef>
                <a:spcPts val="0"/>
              </a:spcBef>
              <a:spcAft>
                <a:spcPts val="0"/>
              </a:spcAft>
              <a:buNone/>
            </a:pPr>
            <a:r>
              <a:rPr b="1" i="0" lang="it-IT" sz="1600" u="none" cap="none" strike="noStrike">
                <a:solidFill>
                  <a:srgbClr val="1F3864"/>
                </a:solidFill>
                <a:latin typeface="Calibri"/>
                <a:ea typeface="Calibri"/>
                <a:cs typeface="Calibri"/>
                <a:sym typeface="Calibri"/>
              </a:rPr>
              <a:t>IL PAGAMENTO TRAMITE PAY BY LINK:</a:t>
            </a:r>
            <a:endParaRPr/>
          </a:p>
          <a:p>
            <a:pPr indent="0" lvl="0" marL="0" marR="0" rtl="0" algn="just">
              <a:spcBef>
                <a:spcPts val="0"/>
              </a:spcBef>
              <a:spcAft>
                <a:spcPts val="0"/>
              </a:spcAft>
              <a:buNone/>
            </a:pPr>
            <a:r>
              <a:rPr b="0" i="0" lang="it-IT" sz="1600" u="none" cap="none" strike="noStrike">
                <a:solidFill>
                  <a:srgbClr val="1F3864"/>
                </a:solidFill>
                <a:latin typeface="Calibri"/>
                <a:ea typeface="Calibri"/>
                <a:cs typeface="Calibri"/>
                <a:sym typeface="Calibri"/>
              </a:rPr>
              <a:t>Riceverà, direttamente a casa, la nuova SIM o tramite mail il QR CODE per e-sim. Per il pagamento del primo canone dell’offerta verrà inviato un link, al numero fornito dal cliente, tramite il quale potrà effettuare il pagamento inserendo i dati della sua carta di credito. Il link ha una validità di 24 ore, oltre le quali non sarà più valido e l’ordine verrà annullato. La carta di credito inserita sarà utilizzata come metodo di pagamento.</a:t>
            </a:r>
            <a:endParaRPr/>
          </a:p>
          <a:p>
            <a:pPr indent="0" lvl="0" marL="0" marR="0" rtl="0" algn="just">
              <a:lnSpc>
                <a:spcPct val="100000"/>
              </a:lnSpc>
              <a:spcBef>
                <a:spcPts val="0"/>
              </a:spcBef>
              <a:spcAft>
                <a:spcPts val="0"/>
              </a:spcAft>
              <a:buClr>
                <a:schemeClr val="dk1"/>
              </a:buClr>
              <a:buSzPts val="1400"/>
              <a:buFont typeface="Calibri"/>
              <a:buNone/>
            </a:pPr>
            <a:r>
              <a:t/>
            </a:r>
            <a:endParaRPr b="0" i="0" sz="1400" u="none" cap="none" strike="noStrike">
              <a:solidFill>
                <a:srgbClr val="1F3864"/>
              </a:solidFill>
              <a:latin typeface="Calibri"/>
              <a:ea typeface="Calibri"/>
              <a:cs typeface="Calibri"/>
              <a:sym typeface="Calibri"/>
            </a:endParaRPr>
          </a:p>
        </p:txBody>
      </p:sp>
      <p:sp>
        <p:nvSpPr>
          <p:cNvPr id="138" name="Google Shape;138;p20"/>
          <p:cNvSpPr txBox="1"/>
          <p:nvPr/>
        </p:nvSpPr>
        <p:spPr>
          <a:xfrm>
            <a:off x="45356" y="124690"/>
            <a:ext cx="9088253" cy="58477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it-IT" sz="3200" u="none" cap="none" strike="noStrike">
                <a:solidFill>
                  <a:srgbClr val="1F3864"/>
                </a:solidFill>
                <a:latin typeface="Calibri"/>
                <a:ea typeface="Calibri"/>
                <a:cs typeface="Calibri"/>
                <a:sym typeface="Calibri"/>
              </a:rPr>
              <a:t>GO UNLIMITED FIRE + 5G NEW EASY PAY ONLINE</a:t>
            </a:r>
            <a:endParaRPr b="0" i="0" sz="3200" u="none" cap="none" strike="noStrike">
              <a:solidFill>
                <a:srgbClr val="1F3864"/>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1"/>
          <p:cNvSpPr txBox="1"/>
          <p:nvPr>
            <p:ph type="title"/>
          </p:nvPr>
        </p:nvSpPr>
        <p:spPr>
          <a:xfrm>
            <a:off x="367442" y="36528"/>
            <a:ext cx="10515600"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Calibri"/>
              <a:buNone/>
            </a:pPr>
            <a:r>
              <a:rPr b="1" lang="it-IT">
                <a:solidFill>
                  <a:srgbClr val="002060"/>
                </a:solidFill>
              </a:rPr>
              <a:t>OPZIONI</a:t>
            </a:r>
            <a:r>
              <a:rPr lang="it-IT">
                <a:solidFill>
                  <a:srgbClr val="002060"/>
                </a:solidFill>
              </a:rPr>
              <a:t> </a:t>
            </a:r>
            <a:endParaRPr/>
          </a:p>
        </p:txBody>
      </p:sp>
      <p:sp>
        <p:nvSpPr>
          <p:cNvPr id="144" name="Google Shape;144;p21"/>
          <p:cNvSpPr txBox="1"/>
          <p:nvPr/>
        </p:nvSpPr>
        <p:spPr>
          <a:xfrm>
            <a:off x="2605817" y="628621"/>
            <a:ext cx="8277225" cy="54703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002060"/>
              </a:buClr>
              <a:buSzPts val="1400"/>
              <a:buFont typeface="Arial"/>
              <a:buNone/>
            </a:pPr>
            <a:r>
              <a:rPr b="1" i="0" lang="it-IT" sz="1400" u="none" cap="none" strike="noStrike">
                <a:solidFill>
                  <a:srgbClr val="002060"/>
                </a:solidFill>
                <a:latin typeface="Calibri"/>
                <a:ea typeface="Calibri"/>
                <a:cs typeface="Calibri"/>
                <a:sym typeface="Calibri"/>
              </a:rPr>
              <a:t>INVISTA </a:t>
            </a:r>
            <a:r>
              <a:rPr b="0" i="0" lang="it-IT" sz="1400" u="none" cap="none" strike="noStrike">
                <a:solidFill>
                  <a:srgbClr val="002060"/>
                </a:solidFill>
                <a:latin typeface="Calibri"/>
                <a:ea typeface="Calibri"/>
                <a:cs typeface="Calibri"/>
                <a:sym typeface="Calibri"/>
              </a:rPr>
              <a:t>è il servizio che le permette di visualizzare il numero di chi la chiama sul display del suo telefono fisso al costo di </a:t>
            </a:r>
            <a:r>
              <a:rPr b="1" i="0" lang="it-IT" sz="1400" u="none" cap="none" strike="noStrike">
                <a:solidFill>
                  <a:srgbClr val="002060"/>
                </a:solidFill>
                <a:latin typeface="Calibri"/>
                <a:ea typeface="Calibri"/>
                <a:cs typeface="Calibri"/>
                <a:sym typeface="Calibri"/>
              </a:rPr>
              <a:t>2€/mese iva inclusa</a:t>
            </a:r>
            <a:r>
              <a:rPr b="0" i="0" lang="it-IT" sz="1400" u="none" cap="none" strike="noStrike">
                <a:solidFill>
                  <a:srgbClr val="002060"/>
                </a:solidFill>
                <a:latin typeface="Calibri"/>
                <a:ea typeface="Calibri"/>
                <a:cs typeface="Calibri"/>
                <a:sym typeface="Calibri"/>
              </a:rPr>
              <a:t>.</a:t>
            </a:r>
            <a:endParaRPr/>
          </a:p>
        </p:txBody>
      </p:sp>
      <p:sp>
        <p:nvSpPr>
          <p:cNvPr id="145" name="Google Shape;145;p21"/>
          <p:cNvSpPr txBox="1"/>
          <p:nvPr/>
        </p:nvSpPr>
        <p:spPr>
          <a:xfrm>
            <a:off x="367443" y="617509"/>
            <a:ext cx="1971675" cy="558148"/>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INVISTA</a:t>
            </a:r>
            <a:endParaRPr/>
          </a:p>
        </p:txBody>
      </p:sp>
      <p:sp>
        <p:nvSpPr>
          <p:cNvPr id="146" name="Google Shape;146;p21"/>
          <p:cNvSpPr txBox="1"/>
          <p:nvPr/>
        </p:nvSpPr>
        <p:spPr>
          <a:xfrm>
            <a:off x="2605812" y="2032067"/>
            <a:ext cx="8277225" cy="106873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1400"/>
              <a:buFont typeface="Arial"/>
              <a:buNone/>
            </a:pPr>
            <a:r>
              <a:rPr b="0" i="0" lang="it-IT" sz="1400" u="none" cap="none" strike="noStrike">
                <a:solidFill>
                  <a:srgbClr val="002060"/>
                </a:solidFill>
                <a:latin typeface="Calibri"/>
                <a:ea typeface="Calibri"/>
                <a:cs typeface="Calibri"/>
                <a:sym typeface="Calibri"/>
              </a:rPr>
              <a:t>Per il posizionamento di una nuova Presa Fibra in un punto diverso dalla presa principale è previsto un costo di </a:t>
            </a:r>
            <a:r>
              <a:rPr b="1" i="0" lang="it-IT" sz="1400" u="none" cap="none" strike="noStrike">
                <a:solidFill>
                  <a:srgbClr val="002060"/>
                </a:solidFill>
                <a:latin typeface="Calibri"/>
                <a:ea typeface="Calibri"/>
                <a:cs typeface="Calibri"/>
                <a:sym typeface="Calibri"/>
              </a:rPr>
              <a:t>65€.</a:t>
            </a:r>
            <a:endParaRPr/>
          </a:p>
          <a:p>
            <a:pPr indent="0" lvl="0" marL="0" marR="0" rtl="0" algn="l">
              <a:lnSpc>
                <a:spcPct val="90000"/>
              </a:lnSpc>
              <a:spcBef>
                <a:spcPts val="1000"/>
              </a:spcBef>
              <a:spcAft>
                <a:spcPts val="0"/>
              </a:spcAft>
              <a:buClr>
                <a:srgbClr val="002060"/>
              </a:buClr>
              <a:buSzPts val="1400"/>
              <a:buFont typeface="Arial"/>
              <a:buNone/>
            </a:pPr>
            <a:r>
              <a:rPr b="0" i="0" lang="it-IT" sz="1400" u="none" cap="none" strike="noStrike">
                <a:solidFill>
                  <a:srgbClr val="002060"/>
                </a:solidFill>
                <a:latin typeface="Calibri"/>
                <a:ea typeface="Calibri"/>
                <a:cs typeface="Calibri"/>
                <a:sym typeface="Calibri"/>
              </a:rPr>
              <a:t>Per</a:t>
            </a:r>
            <a:r>
              <a:rPr b="1" i="0" lang="it-IT" sz="1400" u="none" cap="none" strike="noStrike">
                <a:solidFill>
                  <a:srgbClr val="002060"/>
                </a:solidFill>
                <a:latin typeface="Calibri"/>
                <a:ea typeface="Calibri"/>
                <a:cs typeface="Calibri"/>
                <a:sym typeface="Calibri"/>
              </a:rPr>
              <a:t> </a:t>
            </a:r>
            <a:r>
              <a:rPr b="0" i="0" lang="it-IT" sz="1400" u="none" cap="none" strike="noStrike">
                <a:solidFill>
                  <a:srgbClr val="002060"/>
                </a:solidFill>
                <a:latin typeface="Calibri"/>
                <a:ea typeface="Calibri"/>
                <a:cs typeface="Calibri"/>
                <a:sym typeface="Calibri"/>
              </a:rPr>
              <a:t>abilitare altre prese telefoniche al collegamento di telefoni, fax, segreterie, centralini, sistemi di tele-allarmi, video-sorveglianza, o tele-soccorso è previsto un costo di </a:t>
            </a:r>
            <a:r>
              <a:rPr b="1" i="0" lang="it-IT" sz="1400" u="none" cap="none" strike="noStrike">
                <a:solidFill>
                  <a:srgbClr val="002060"/>
                </a:solidFill>
                <a:latin typeface="Calibri"/>
                <a:ea typeface="Calibri"/>
                <a:cs typeface="Calibri"/>
                <a:sym typeface="Calibri"/>
              </a:rPr>
              <a:t>35€.</a:t>
            </a:r>
            <a:endParaRPr b="0" i="0" sz="1400" u="none" cap="none" strike="noStrike">
              <a:solidFill>
                <a:srgbClr val="002060"/>
              </a:solidFill>
              <a:latin typeface="Calibri"/>
              <a:ea typeface="Calibri"/>
              <a:cs typeface="Calibri"/>
              <a:sym typeface="Calibri"/>
            </a:endParaRPr>
          </a:p>
        </p:txBody>
      </p:sp>
      <p:sp>
        <p:nvSpPr>
          <p:cNvPr id="147" name="Google Shape;147;p21"/>
          <p:cNvSpPr txBox="1"/>
          <p:nvPr/>
        </p:nvSpPr>
        <p:spPr>
          <a:xfrm>
            <a:off x="367442" y="2032067"/>
            <a:ext cx="2000250" cy="106873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SERVIZIO TECNICO</a:t>
            </a:r>
            <a:endParaRPr/>
          </a:p>
        </p:txBody>
      </p:sp>
      <p:sp>
        <p:nvSpPr>
          <p:cNvPr id="148" name="Google Shape;148;p21"/>
          <p:cNvSpPr txBox="1"/>
          <p:nvPr/>
        </p:nvSpPr>
        <p:spPr>
          <a:xfrm>
            <a:off x="2605815" y="1342790"/>
            <a:ext cx="8277225" cy="54703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002060"/>
              </a:buClr>
              <a:buSzPts val="1400"/>
              <a:buFont typeface="Arial"/>
              <a:buNone/>
            </a:pPr>
            <a:r>
              <a:rPr b="1" i="0" lang="it-IT" sz="1400" u="none" cap="none" strike="noStrike">
                <a:solidFill>
                  <a:srgbClr val="002060"/>
                </a:solidFill>
                <a:latin typeface="Calibri"/>
                <a:ea typeface="Calibri"/>
                <a:cs typeface="Calibri"/>
                <a:sym typeface="Calibri"/>
              </a:rPr>
              <a:t>CALL YOUR COUNTRY HOME </a:t>
            </a:r>
            <a:r>
              <a:rPr b="0" i="0" lang="it-IT" sz="1400" u="none" cap="none" strike="noStrike">
                <a:solidFill>
                  <a:srgbClr val="002060"/>
                </a:solidFill>
                <a:latin typeface="Calibri"/>
                <a:ea typeface="Calibri"/>
                <a:cs typeface="Calibri"/>
                <a:sym typeface="Calibri"/>
              </a:rPr>
              <a:t>è L'opzione CHE prevede chiamate illimitate verso un elenco di paesi esteri al costo di </a:t>
            </a:r>
            <a:r>
              <a:rPr b="1" i="0" lang="it-IT" sz="1400" u="none" cap="none" strike="noStrike">
                <a:solidFill>
                  <a:srgbClr val="002060"/>
                </a:solidFill>
                <a:latin typeface="Calibri"/>
                <a:ea typeface="Calibri"/>
                <a:cs typeface="Calibri"/>
                <a:sym typeface="Calibri"/>
              </a:rPr>
              <a:t>5€/mese</a:t>
            </a:r>
            <a:endParaRPr/>
          </a:p>
        </p:txBody>
      </p:sp>
      <p:sp>
        <p:nvSpPr>
          <p:cNvPr id="149" name="Google Shape;149;p21"/>
          <p:cNvSpPr txBox="1"/>
          <p:nvPr/>
        </p:nvSpPr>
        <p:spPr>
          <a:xfrm>
            <a:off x="338868" y="1299112"/>
            <a:ext cx="2000250" cy="558148"/>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CYC HOME</a:t>
            </a:r>
            <a:endParaRPr/>
          </a:p>
        </p:txBody>
      </p:sp>
      <p:sp>
        <p:nvSpPr>
          <p:cNvPr id="150" name="Google Shape;150;p21"/>
          <p:cNvSpPr txBox="1"/>
          <p:nvPr/>
        </p:nvSpPr>
        <p:spPr>
          <a:xfrm>
            <a:off x="367442" y="3143445"/>
            <a:ext cx="2000250" cy="61375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PIU’ SICURI CASA</a:t>
            </a:r>
            <a:endParaRPr/>
          </a:p>
        </p:txBody>
      </p:sp>
      <p:sp>
        <p:nvSpPr>
          <p:cNvPr id="151" name="Google Shape;151;p21"/>
          <p:cNvSpPr txBox="1"/>
          <p:nvPr/>
        </p:nvSpPr>
        <p:spPr>
          <a:xfrm>
            <a:off x="2605811" y="3174166"/>
            <a:ext cx="8277225" cy="57525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1F3864"/>
              </a:buClr>
              <a:buSzPts val="1400"/>
              <a:buFont typeface="Arial"/>
              <a:buNone/>
            </a:pPr>
            <a:r>
              <a:rPr b="0" i="0" lang="it-IT" sz="1400" u="none" cap="none" strike="noStrike">
                <a:solidFill>
                  <a:srgbClr val="1F3864"/>
                </a:solidFill>
                <a:latin typeface="Calibri"/>
                <a:ea typeface="Calibri"/>
                <a:cs typeface="Calibri"/>
                <a:sym typeface="Calibri"/>
              </a:rPr>
              <a:t>a soli 1,99€ in più al mese e il primo mese gratuito, le permette di proteggere la rete di casa e tutti i dispostivi ad essa connessi.</a:t>
            </a:r>
            <a:endParaRPr/>
          </a:p>
        </p:txBody>
      </p:sp>
      <p:sp>
        <p:nvSpPr>
          <p:cNvPr id="152" name="Google Shape;152;p21"/>
          <p:cNvSpPr txBox="1"/>
          <p:nvPr/>
        </p:nvSpPr>
        <p:spPr>
          <a:xfrm>
            <a:off x="367442" y="3878913"/>
            <a:ext cx="2000250" cy="61375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PIU’ SICURI MOBILE</a:t>
            </a:r>
            <a:endParaRPr/>
          </a:p>
        </p:txBody>
      </p:sp>
      <p:sp>
        <p:nvSpPr>
          <p:cNvPr id="153" name="Google Shape;153;p21"/>
          <p:cNvSpPr txBox="1"/>
          <p:nvPr/>
        </p:nvSpPr>
        <p:spPr>
          <a:xfrm>
            <a:off x="2605809" y="3878914"/>
            <a:ext cx="8277225" cy="61375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1F3864"/>
              </a:buClr>
              <a:buSzPts val="1400"/>
              <a:buFont typeface="Arial"/>
              <a:buNone/>
            </a:pPr>
            <a:r>
              <a:rPr b="0" i="0" lang="it-IT" sz="1400" u="none" cap="none" strike="noStrike">
                <a:solidFill>
                  <a:srgbClr val="1F3864"/>
                </a:solidFill>
                <a:latin typeface="Calibri"/>
                <a:ea typeface="Calibri"/>
                <a:cs typeface="Calibri"/>
                <a:sym typeface="Calibri"/>
              </a:rPr>
              <a:t>a 0,99€/mese con il primo mese gratuito, addebitato su credito per un’esperienza di navigazione protetta su rete WINDTRE. Protezione attiva all’attivazione dell’opzione senza azioni del Cliente</a:t>
            </a:r>
            <a:endParaRPr/>
          </a:p>
        </p:txBody>
      </p:sp>
      <p:sp>
        <p:nvSpPr>
          <p:cNvPr id="154" name="Google Shape;154;p21"/>
          <p:cNvSpPr txBox="1"/>
          <p:nvPr/>
        </p:nvSpPr>
        <p:spPr>
          <a:xfrm>
            <a:off x="367442" y="4630150"/>
            <a:ext cx="2000250" cy="64587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PIU’ SICURI MOBILE PRO</a:t>
            </a:r>
            <a:endParaRPr/>
          </a:p>
        </p:txBody>
      </p:sp>
      <p:sp>
        <p:nvSpPr>
          <p:cNvPr id="155" name="Google Shape;155;p21"/>
          <p:cNvSpPr txBox="1"/>
          <p:nvPr/>
        </p:nvSpPr>
        <p:spPr>
          <a:xfrm>
            <a:off x="2605808" y="4622163"/>
            <a:ext cx="8277225" cy="65386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1F3864"/>
              </a:buClr>
              <a:buSzPts val="1400"/>
              <a:buFont typeface="Arial"/>
              <a:buNone/>
            </a:pPr>
            <a:r>
              <a:rPr b="0" i="0" lang="it-IT" sz="1400" u="none" cap="none" strike="noStrike">
                <a:solidFill>
                  <a:srgbClr val="1F3864"/>
                </a:solidFill>
                <a:latin typeface="Calibri"/>
                <a:ea typeface="Calibri"/>
                <a:cs typeface="Calibri"/>
                <a:sym typeface="Calibri"/>
              </a:rPr>
              <a:t>a soli 1.99€/mese con primo mese gratuito: Navigazione sicura su tutte le reti: WINDTRE, WiFi e Roaming. Acquisti online e transazioni finanziarie (Conto Corrente)  protette grazie alla VPN</a:t>
            </a:r>
            <a:endParaRPr/>
          </a:p>
        </p:txBody>
      </p:sp>
      <p:sp>
        <p:nvSpPr>
          <p:cNvPr id="156" name="Google Shape;156;p21"/>
          <p:cNvSpPr txBox="1"/>
          <p:nvPr/>
        </p:nvSpPr>
        <p:spPr>
          <a:xfrm>
            <a:off x="367442" y="5438858"/>
            <a:ext cx="2000250" cy="64587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VOCE UNLIMITED</a:t>
            </a:r>
            <a:endParaRPr/>
          </a:p>
        </p:txBody>
      </p:sp>
      <p:sp>
        <p:nvSpPr>
          <p:cNvPr id="157" name="Google Shape;157;p21"/>
          <p:cNvSpPr txBox="1"/>
          <p:nvPr/>
        </p:nvSpPr>
        <p:spPr>
          <a:xfrm>
            <a:off x="2605808" y="5434864"/>
            <a:ext cx="8277225" cy="65386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1F3864"/>
              </a:buClr>
              <a:buSzPts val="1400"/>
              <a:buFont typeface="Arial"/>
              <a:buNone/>
            </a:pPr>
            <a:r>
              <a:rPr b="0" i="0" lang="it-IT" sz="1400" u="none" cap="none" strike="noStrike">
                <a:solidFill>
                  <a:srgbClr val="1F3864"/>
                </a:solidFill>
                <a:latin typeface="Calibri"/>
                <a:ea typeface="Calibri"/>
                <a:cs typeface="Calibri"/>
                <a:sym typeface="Calibri"/>
              </a:rPr>
              <a:t>il costo sarà di 3€ in più al mese e prevede Chiamate illimitate verso i fissi e mobili nazionali.</a:t>
            </a:r>
            <a:endParaRPr b="0" i="0" sz="1400" u="none" cap="none" strike="noStrike">
              <a:solidFill>
                <a:srgbClr val="1F3864"/>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