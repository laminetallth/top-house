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4" r:id="rId8"/>
    <p:sldId id="265" r:id="rId9"/>
    <p:sldId id="266" r:id="rId10"/>
  </p:sldIdLst>
  <p:sldSz cx="12192000" cy="6858000"/>
  <p:notesSz cx="6858000" cy="9144000"/>
  <p:embeddedFontLst>
    <p:embeddedFont>
      <p:font typeface="Montserrat" panose="00000500000000000000" pitchFamily="2" charset="0"/>
      <p:regular r:id="rId12"/>
      <p:bold r:id="rId13"/>
      <p:italic r:id="rId14"/>
      <p:boldItalic r:id="rId15"/>
    </p:embeddedFont>
    <p:embeddedFont>
      <p:font typeface="Montserrat Black" panose="00000A00000000000000" pitchFamily="2" charset="0"/>
      <p:bold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a Martinenghi" userId="008c41ee-9ae3-4361-a904-88980b592d10" providerId="ADAL" clId="{6870D8DF-005B-4965-9771-37F409070CEE}"/>
    <pc:docChg chg="delSld">
      <pc:chgData name="Claudia Martinenghi" userId="008c41ee-9ae3-4361-a904-88980b592d10" providerId="ADAL" clId="{6870D8DF-005B-4965-9771-37F409070CEE}" dt="2026-10-05T13:00:08.953" v="1" actId="47"/>
      <pc:docMkLst>
        <pc:docMk/>
      </pc:docMkLst>
      <pc:sldChg chg="del">
        <pc:chgData name="Claudia Martinenghi" userId="008c41ee-9ae3-4361-a904-88980b592d10" providerId="ADAL" clId="{6870D8DF-005B-4965-9771-37F409070CEE}" dt="2026-10-05T13:00:07.788" v="0" actId="47"/>
        <pc:sldMkLst>
          <pc:docMk/>
          <pc:sldMk cId="0" sldId="262"/>
        </pc:sldMkLst>
      </pc:sldChg>
      <pc:sldChg chg="del">
        <pc:chgData name="Claudia Martinenghi" userId="008c41ee-9ae3-4361-a904-88980b592d10" providerId="ADAL" clId="{6870D8DF-005B-4965-9771-37F409070CEE}" dt="2026-10-05T13:00:08.953" v="1" actId="47"/>
        <pc:sldMkLst>
          <pc:docMk/>
          <pc:sldMk cId="0" sldId="2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ue contenuti" type="twoObj">
  <p:cSld name="TWO_OBJECTS">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 name="Google Shape;15;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olo titolo" type="titleOnly">
  <p:cSld name="TITLE_ONLY">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apositiva titolo"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8" name="Google Shape;3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fronto" type="twoTxTwoObj">
  <p:cSld name="TWO_OBJECTS_WITH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uota"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to con didascalia"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magine con didascalia"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olo e testo verticale"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olo e testo verticale"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t-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t-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277402" y="139095"/>
            <a:ext cx="11914597"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FTTH OPEN FIBER</a:t>
            </a:r>
            <a:endParaRPr/>
          </a:p>
        </p:txBody>
      </p:sp>
      <p:sp>
        <p:nvSpPr>
          <p:cNvPr id="85" name="Google Shape;85;p13"/>
          <p:cNvSpPr txBox="1">
            <a:spLocks noGrp="1"/>
          </p:cNvSpPr>
          <p:nvPr>
            <p:ph type="body" idx="2"/>
          </p:nvPr>
        </p:nvSpPr>
        <p:spPr>
          <a:xfrm>
            <a:off x="277403" y="850295"/>
            <a:ext cx="11637194" cy="5642579"/>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600"/>
              <a:buNone/>
            </a:pPr>
            <a:r>
              <a:rPr lang="it-IT" sz="1600" b="1">
                <a:solidFill>
                  <a:srgbClr val="1F3864"/>
                </a:solidFill>
              </a:rPr>
              <a:t>L’offerta SUPER FIBRA </a:t>
            </a:r>
            <a:r>
              <a:rPr lang="it-IT" sz="1600">
                <a:solidFill>
                  <a:srgbClr val="1F3864"/>
                </a:solidFill>
              </a:rPr>
              <a:t>prevede navigazione senza limiti fino a 2,5 Gigabit a </a:t>
            </a:r>
            <a:r>
              <a:rPr lang="it-IT" sz="1600" b="1">
                <a:solidFill>
                  <a:srgbClr val="1F3864"/>
                </a:solidFill>
              </a:rPr>
              <a:t>29,99€ </a:t>
            </a:r>
            <a:r>
              <a:rPr lang="it-IT" sz="1600">
                <a:solidFill>
                  <a:srgbClr val="1F3864"/>
                </a:solidFill>
              </a:rPr>
              <a:t>con chiamate illimitate verso numeri fissi e mobili nazionali, modem WI FI 7 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marL="0" lvl="0" indent="0" algn="just" rtl="0">
              <a:lnSpc>
                <a:spcPct val="90000"/>
              </a:lnSpc>
              <a:spcBef>
                <a:spcPts val="1000"/>
              </a:spcBef>
              <a:spcAft>
                <a:spcPts val="0"/>
              </a:spcAft>
              <a:buClr>
                <a:srgbClr val="FF0000"/>
              </a:buClr>
              <a:buSzPts val="1600"/>
              <a:buNone/>
            </a:pPr>
            <a:r>
              <a:rPr lang="it-IT" sz="1600" b="1">
                <a:solidFill>
                  <a:srgbClr val="FF0000"/>
                </a:solidFill>
              </a:rPr>
              <a:t>Costo di attivazione in promo a 0 € invece che 1,99€ al mese per 24 mesi.</a:t>
            </a:r>
            <a:endParaRPr/>
          </a:p>
          <a:p>
            <a:pPr marL="0" lvl="0" indent="0" algn="just" rtl="0">
              <a:lnSpc>
                <a:spcPct val="90000"/>
              </a:lnSpc>
              <a:spcBef>
                <a:spcPts val="1000"/>
              </a:spcBef>
              <a:spcAft>
                <a:spcPts val="0"/>
              </a:spcAft>
              <a:buClr>
                <a:schemeClr val="dk1"/>
              </a:buClr>
              <a:buSzPts val="1600"/>
              <a:buNone/>
            </a:pPr>
            <a:endParaRPr sz="1600">
              <a:solidFill>
                <a:srgbClr val="FF0000"/>
              </a:solidFill>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29,99 euro al mese è composto, per i primi 12 mesi, da 24 euro al mese di servizio e Prime e 5,99 euro al mese di modem, dal 13° mese, da 24 euro al mese di servizio e 5,99 euro al mese di modem, dal 48° mese, da 29,99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Casa: </a:t>
            </a:r>
            <a:r>
              <a:rPr lang="it-IT" sz="1600" b="1">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marL="0" lvl="0" indent="0" algn="l" rtl="0">
              <a:lnSpc>
                <a:spcPct val="90000"/>
              </a:lnSpc>
              <a:spcBef>
                <a:spcPts val="1000"/>
              </a:spcBef>
              <a:spcAft>
                <a:spcPts val="0"/>
              </a:spcAft>
              <a:buClr>
                <a:schemeClr val="dk1"/>
              </a:buClr>
              <a:buSzPts val="1600"/>
              <a:buNone/>
            </a:pPr>
            <a:endParaRPr sz="160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277403" y="139095"/>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FTTH EXTRA</a:t>
            </a:r>
            <a:endParaRPr/>
          </a:p>
        </p:txBody>
      </p:sp>
      <p:sp>
        <p:nvSpPr>
          <p:cNvPr id="91" name="Google Shape;91;p14"/>
          <p:cNvSpPr txBox="1">
            <a:spLocks noGrp="1"/>
          </p:cNvSpPr>
          <p:nvPr>
            <p:ph type="body" idx="2"/>
          </p:nvPr>
        </p:nvSpPr>
        <p:spPr>
          <a:xfrm>
            <a:off x="277403" y="850295"/>
            <a:ext cx="11465960" cy="5642579"/>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600"/>
              <a:buNone/>
            </a:pPr>
            <a:r>
              <a:rPr lang="it-IT" sz="1600" b="1">
                <a:solidFill>
                  <a:srgbClr val="1F3864"/>
                </a:solidFill>
              </a:rPr>
              <a:t>L’offerta SUPER FIBRA </a:t>
            </a:r>
            <a:r>
              <a:rPr lang="it-IT" sz="1600">
                <a:solidFill>
                  <a:srgbClr val="1F3864"/>
                </a:solidFill>
              </a:rPr>
              <a:t>prevede navigazione senza limiti fino a </a:t>
            </a:r>
            <a:r>
              <a:rPr lang="it-IT" sz="1600" b="1">
                <a:solidFill>
                  <a:srgbClr val="1F3864"/>
                </a:solidFill>
              </a:rPr>
              <a:t>2,5 Gigabit a 29,99€/mese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Costo di attivazione di </a:t>
            </a:r>
            <a:r>
              <a:rPr lang="it-IT" sz="1600" b="1">
                <a:solidFill>
                  <a:srgbClr val="FF0000"/>
                </a:solidFill>
              </a:rPr>
              <a:t> 1,99€ al mese per 24 mesi.</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29,99 euro al mese è composto, per i primi 12 mesi, da 24 euro al mese di servizio e Prime e 5,99 euro al mese di modem, dal 13° mese, da 24 euro al mese di servizio e 5,99 euro al mese di modem, dal 48° mese, da 29,99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Casa: </a:t>
            </a:r>
            <a:r>
              <a:rPr lang="it-IT" sz="1600" b="1">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marL="0" lvl="0" indent="0" algn="l" rtl="0">
              <a:lnSpc>
                <a:spcPct val="90000"/>
              </a:lnSpc>
              <a:spcBef>
                <a:spcPts val="1000"/>
              </a:spcBef>
              <a:spcAft>
                <a:spcPts val="0"/>
              </a:spcAft>
              <a:buClr>
                <a:schemeClr val="dk1"/>
              </a:buClr>
              <a:buSzPts val="1600"/>
              <a:buNone/>
            </a:pPr>
            <a:endParaRPr sz="1600">
              <a:solidFill>
                <a:srgbClr val="00206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277403" y="139095"/>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INTERNET 100/200</a:t>
            </a:r>
            <a:endParaRPr/>
          </a:p>
        </p:txBody>
      </p:sp>
      <p:sp>
        <p:nvSpPr>
          <p:cNvPr id="97" name="Google Shape;97;p15"/>
          <p:cNvSpPr txBox="1">
            <a:spLocks noGrp="1"/>
          </p:cNvSpPr>
          <p:nvPr>
            <p:ph type="body" idx="2"/>
          </p:nvPr>
        </p:nvSpPr>
        <p:spPr>
          <a:xfrm>
            <a:off x="277403" y="850295"/>
            <a:ext cx="11465960" cy="5642579"/>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600"/>
              <a:buNone/>
            </a:pPr>
            <a:r>
              <a:rPr lang="it-IT" sz="1600" b="1">
                <a:solidFill>
                  <a:srgbClr val="1F3864"/>
                </a:solidFill>
              </a:rPr>
              <a:t>L’offerta Internet 100/200 </a:t>
            </a:r>
            <a:r>
              <a:rPr lang="it-IT" sz="1600">
                <a:solidFill>
                  <a:srgbClr val="1F3864"/>
                </a:solidFill>
              </a:rPr>
              <a:t>prevede navigazione senza limiti fino a 100/200 Mega a </a:t>
            </a:r>
            <a:r>
              <a:rPr lang="it-IT" sz="1600" b="1">
                <a:solidFill>
                  <a:srgbClr val="1F3864"/>
                </a:solidFill>
              </a:rPr>
              <a:t>29,99€/mese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Costo di attivazione di </a:t>
            </a:r>
            <a:r>
              <a:rPr lang="it-IT" sz="1600" b="1">
                <a:solidFill>
                  <a:srgbClr val="FF0000"/>
                </a:solidFill>
              </a:rPr>
              <a:t> 1,99€ al mese per 24 mesi.</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29,99 euro al mese è composto, per i primi 12 mesi, da 24 euro al mese di servizio e Prime e 5,99 euro al mese di modem, dal 13° mese, da 24 euro al mese di servizio e 5,99 euro al mese di modem, dal 48° mese, da 29,99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Casa: </a:t>
            </a:r>
            <a:r>
              <a:rPr lang="it-IT" sz="1600" b="1">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marL="0" lvl="0" indent="0" algn="l" rtl="0">
              <a:lnSpc>
                <a:spcPct val="90000"/>
              </a:lnSpc>
              <a:spcBef>
                <a:spcPts val="1000"/>
              </a:spcBef>
              <a:spcAft>
                <a:spcPts val="0"/>
              </a:spcAft>
              <a:buClr>
                <a:schemeClr val="dk1"/>
              </a:buClr>
              <a:buSzPts val="1600"/>
              <a:buNone/>
            </a:pPr>
            <a:endParaRPr sz="1600">
              <a:solidFill>
                <a:srgbClr val="00206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277403" y="139095"/>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FTTH AREE BIANCHE</a:t>
            </a:r>
            <a:endParaRPr/>
          </a:p>
        </p:txBody>
      </p:sp>
      <p:sp>
        <p:nvSpPr>
          <p:cNvPr id="103" name="Google Shape;103;p16"/>
          <p:cNvSpPr txBox="1">
            <a:spLocks noGrp="1"/>
          </p:cNvSpPr>
          <p:nvPr>
            <p:ph type="body" idx="2"/>
          </p:nvPr>
        </p:nvSpPr>
        <p:spPr>
          <a:xfrm>
            <a:off x="277403" y="850295"/>
            <a:ext cx="11465960" cy="5642579"/>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600"/>
              <a:buNone/>
            </a:pPr>
            <a:r>
              <a:rPr lang="it-IT" sz="1600" b="1">
                <a:solidFill>
                  <a:srgbClr val="1F3864"/>
                </a:solidFill>
              </a:rPr>
              <a:t>L’offerta SUPER FIBRA Aree Bianche </a:t>
            </a:r>
            <a:r>
              <a:rPr lang="it-IT" sz="1600">
                <a:solidFill>
                  <a:srgbClr val="1F3864"/>
                </a:solidFill>
              </a:rPr>
              <a:t>prevede navigazione senza limiti fino a 1 Gigabit a </a:t>
            </a:r>
            <a:r>
              <a:rPr lang="it-IT" sz="1600" b="1">
                <a:solidFill>
                  <a:srgbClr val="1F3864"/>
                </a:solidFill>
              </a:rPr>
              <a:t>29,99€/mese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marL="0" lvl="0" indent="0" algn="just" rtl="0">
              <a:lnSpc>
                <a:spcPct val="90000"/>
              </a:lnSpc>
              <a:spcBef>
                <a:spcPts val="1000"/>
              </a:spcBef>
              <a:spcAft>
                <a:spcPts val="0"/>
              </a:spcAft>
              <a:buClr>
                <a:srgbClr val="FF0000"/>
              </a:buClr>
              <a:buSzPts val="1600"/>
              <a:buNone/>
            </a:pPr>
            <a:r>
              <a:rPr lang="it-IT" sz="1600" b="1">
                <a:solidFill>
                  <a:srgbClr val="FF0000"/>
                </a:solidFill>
              </a:rPr>
              <a:t>Costo d’attivazione :1,99€ al mese per 24 mesi.</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29,99 euro al mese è composto, per i primi 12 mesi, da 24 euro al mese di servizio e Prime e 5,99 euro al mese di modem, dal 13° mese, da 24 euro al mese di servizio e 5,99 euro al mese di modem, dal 48° mese, da 29,99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Casa: </a:t>
            </a:r>
            <a:r>
              <a:rPr lang="it-IT" sz="1600" b="1">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marL="0" lvl="0" indent="0" algn="l" rtl="0">
              <a:lnSpc>
                <a:spcPct val="90000"/>
              </a:lnSpc>
              <a:spcBef>
                <a:spcPts val="1000"/>
              </a:spcBef>
              <a:spcAft>
                <a:spcPts val="0"/>
              </a:spcAft>
              <a:buClr>
                <a:schemeClr val="dk1"/>
              </a:buClr>
              <a:buSzPts val="1600"/>
              <a:buNone/>
            </a:pPr>
            <a:endParaRPr sz="1600">
              <a:solidFill>
                <a:srgbClr val="00206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0" y="7991"/>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SUPER INTERNET CASA FWA 5G OUTDOOR</a:t>
            </a:r>
            <a:endParaRPr/>
          </a:p>
        </p:txBody>
      </p:sp>
      <p:sp>
        <p:nvSpPr>
          <p:cNvPr id="109" name="Google Shape;109;p17"/>
          <p:cNvSpPr txBox="1">
            <a:spLocks noGrp="1"/>
          </p:cNvSpPr>
          <p:nvPr>
            <p:ph type="body" idx="2"/>
          </p:nvPr>
        </p:nvSpPr>
        <p:spPr>
          <a:xfrm>
            <a:off x="123290" y="585627"/>
            <a:ext cx="12068709" cy="6185043"/>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600"/>
              <a:buNone/>
            </a:pPr>
            <a:r>
              <a:rPr lang="it-IT" sz="1600" b="1">
                <a:solidFill>
                  <a:srgbClr val="1F3864"/>
                </a:solidFill>
              </a:rPr>
              <a:t>L’offerta Fissa Super Internet Casa Fwa 5G Outdoor </a:t>
            </a:r>
            <a:r>
              <a:rPr lang="it-IT" sz="1600">
                <a:solidFill>
                  <a:srgbClr val="1F3864"/>
                </a:solidFill>
              </a:rPr>
              <a:t>prevede navigazione senza limiti fino a</a:t>
            </a:r>
            <a:r>
              <a:rPr lang="it-IT" sz="1600" b="1">
                <a:solidFill>
                  <a:srgbClr val="1F3864"/>
                </a:solidFill>
              </a:rPr>
              <a:t> 300 Mega a 29,99€/mese </a:t>
            </a:r>
            <a:r>
              <a:rPr lang="it-IT" sz="1600">
                <a:solidFill>
                  <a:srgbClr val="1F3864"/>
                </a:solidFill>
              </a:rPr>
              <a:t>con chiamate illimitate verso numeri fissi e mobili nazionali, modem WI FI 7 + antenna 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marL="0" lvl="0" indent="0" algn="just" rtl="0">
              <a:lnSpc>
                <a:spcPct val="90000"/>
              </a:lnSpc>
              <a:spcBef>
                <a:spcPts val="1000"/>
              </a:spcBef>
              <a:spcAft>
                <a:spcPts val="0"/>
              </a:spcAft>
              <a:buClr>
                <a:srgbClr val="FF0000"/>
              </a:buClr>
              <a:buSzPts val="1600"/>
              <a:buNone/>
            </a:pPr>
            <a:r>
              <a:rPr lang="it-IT" sz="1600" b="1">
                <a:solidFill>
                  <a:srgbClr val="FF0000"/>
                </a:solidFill>
              </a:rPr>
              <a:t>Costo di attivazione in promo a 0€ </a:t>
            </a:r>
            <a:r>
              <a:rPr lang="it-IT" sz="1600">
                <a:solidFill>
                  <a:srgbClr val="1F3864"/>
                </a:solidFill>
              </a:rPr>
              <a:t>invece che 1,99€ al mese per 24 mesi.</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29,99 euro al mese è composto, per i primi 12 mesi, da 17 euro al mese di servizio e Prime e 3 euro di rata del modem e 9,99 euro dell’antenna, dal 13° mese, da 17 euro di servizio e 3 euro di rata del modem e 9,99 euro dell’antenna, poi dal 48° mese, 29,99 euro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Il servizio FWA outdoor prevede l’installazione da parte di un tecnico, sarà quindi </a:t>
            </a:r>
            <a:r>
              <a:rPr lang="it-IT" sz="1600" b="1" u="sng">
                <a:solidFill>
                  <a:srgbClr val="1F3864"/>
                </a:solidFill>
              </a:rPr>
              <a:t>contattato per prendere un appuntamento per l’installazione</a:t>
            </a:r>
            <a:r>
              <a:rPr lang="it-IT" sz="1600">
                <a:solidFill>
                  <a:srgbClr val="1F3864"/>
                </a:solidFill>
              </a:rPr>
              <a:t>.</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Il servizio 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Casa: </a:t>
            </a:r>
            <a:r>
              <a:rPr lang="it-IT" sz="1600" b="1">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l" rtl="0">
              <a:lnSpc>
                <a:spcPct val="90000"/>
              </a:lnSpc>
              <a:spcBef>
                <a:spcPts val="1000"/>
              </a:spcBef>
              <a:spcAft>
                <a:spcPts val="0"/>
              </a:spcAft>
              <a:buClr>
                <a:schemeClr val="dk1"/>
              </a:buClr>
              <a:buSzPts val="1600"/>
              <a:buNone/>
            </a:pPr>
            <a:endParaRPr sz="1600">
              <a:solidFill>
                <a:srgbClr val="00206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0" y="7991"/>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SUPER INTERNET CASA FWA 5G INDOOR</a:t>
            </a:r>
            <a:endParaRPr/>
          </a:p>
        </p:txBody>
      </p:sp>
      <p:sp>
        <p:nvSpPr>
          <p:cNvPr id="115" name="Google Shape;115;p18"/>
          <p:cNvSpPr txBox="1">
            <a:spLocks noGrp="1"/>
          </p:cNvSpPr>
          <p:nvPr>
            <p:ph type="body" idx="2"/>
          </p:nvPr>
        </p:nvSpPr>
        <p:spPr>
          <a:xfrm>
            <a:off x="123290" y="585627"/>
            <a:ext cx="12068709" cy="6185043"/>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600"/>
              <a:buNone/>
            </a:pPr>
            <a:r>
              <a:rPr lang="it-IT" sz="1600" b="1">
                <a:solidFill>
                  <a:srgbClr val="1F3864"/>
                </a:solidFill>
              </a:rPr>
              <a:t>L’offerta Fissa Super Internet Casa Fwa 5G Indoor </a:t>
            </a:r>
            <a:r>
              <a:rPr lang="it-IT" sz="1600">
                <a:solidFill>
                  <a:srgbClr val="1F3864"/>
                </a:solidFill>
              </a:rPr>
              <a:t>prevede navigazione senza limiti fino a</a:t>
            </a:r>
            <a:r>
              <a:rPr lang="it-IT" sz="1600" b="1">
                <a:solidFill>
                  <a:srgbClr val="1F3864"/>
                </a:solidFill>
              </a:rPr>
              <a:t> 300 Mega a 29,99€/mese </a:t>
            </a:r>
            <a:r>
              <a:rPr lang="it-IT" sz="1600">
                <a:solidFill>
                  <a:srgbClr val="1F3864"/>
                </a:solidFill>
              </a:rPr>
              <a:t>con chiamate con chiamate illimitate verso numeri fissi e mobili nazionali, modem WI FI 7 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marL="0" lvl="0" indent="0" algn="just" rtl="0">
              <a:lnSpc>
                <a:spcPct val="90000"/>
              </a:lnSpc>
              <a:spcBef>
                <a:spcPts val="1000"/>
              </a:spcBef>
              <a:spcAft>
                <a:spcPts val="0"/>
              </a:spcAft>
              <a:buClr>
                <a:srgbClr val="FF0000"/>
              </a:buClr>
              <a:buSzPts val="1600"/>
              <a:buNone/>
            </a:pPr>
            <a:r>
              <a:rPr lang="it-IT" sz="1600" b="1">
                <a:solidFill>
                  <a:srgbClr val="FF0000"/>
                </a:solidFill>
              </a:rPr>
              <a:t>Costo di attivazione in promo a 0€ </a:t>
            </a:r>
            <a:r>
              <a:rPr lang="it-IT" sz="1600">
                <a:solidFill>
                  <a:srgbClr val="1F3864"/>
                </a:solidFill>
              </a:rPr>
              <a:t>invece che 1,99€ al mese per 24 mesi.</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 </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 canone di 29,99 euro al mese è composto, per i primi 12 mesi, da 24 euro al mese di servizio e Prime e 5,99 euro al mese di modem, dal 13° mese, da 24 euro al mese di servizio e 5,99 euro al mese di modem, dal 48° mese, da 29,99 euro al mese di servizio.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Il servizio FWA indoor prevede la consegna e l’installazione del modem da parte di un tecnico, sarà quindi </a:t>
            </a:r>
            <a:r>
              <a:rPr lang="it-IT" sz="1600" b="1" u="sng">
                <a:solidFill>
                  <a:srgbClr val="1F3864"/>
                </a:solidFill>
              </a:rPr>
              <a:t>contattato per prendere un appuntamento </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Casa: </a:t>
            </a:r>
            <a:r>
              <a:rPr lang="it-IT" sz="1600" b="1">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l" rtl="0">
              <a:lnSpc>
                <a:spcPct val="90000"/>
              </a:lnSpc>
              <a:spcBef>
                <a:spcPts val="1000"/>
              </a:spcBef>
              <a:spcAft>
                <a:spcPts val="0"/>
              </a:spcAft>
              <a:buClr>
                <a:schemeClr val="dk1"/>
              </a:buClr>
              <a:buSzPts val="1600"/>
              <a:buNone/>
            </a:pPr>
            <a:endParaRPr sz="1600">
              <a:solidFill>
                <a:srgbClr val="00206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152400" y="136526"/>
            <a:ext cx="1064895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INTERNET 100/200 NGA</a:t>
            </a:r>
            <a:endParaRPr/>
          </a:p>
        </p:txBody>
      </p:sp>
      <p:sp>
        <p:nvSpPr>
          <p:cNvPr id="133" name="Google Shape;133;p21"/>
          <p:cNvSpPr txBox="1">
            <a:spLocks noGrp="1"/>
          </p:cNvSpPr>
          <p:nvPr>
            <p:ph type="body" idx="2"/>
          </p:nvPr>
        </p:nvSpPr>
        <p:spPr>
          <a:xfrm>
            <a:off x="152401" y="847724"/>
            <a:ext cx="11765622" cy="5768833"/>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1F3864"/>
              </a:buClr>
              <a:buSzPts val="1600"/>
              <a:buNone/>
            </a:pPr>
            <a:r>
              <a:rPr lang="it-IT" sz="1600" b="1">
                <a:solidFill>
                  <a:srgbClr val="1F3864"/>
                </a:solidFill>
              </a:rPr>
              <a:t>L’offerta Internet Nga 100/200</a:t>
            </a:r>
            <a:r>
              <a:rPr lang="it-IT" sz="1600">
                <a:solidFill>
                  <a:srgbClr val="1F3864"/>
                </a:solidFill>
              </a:rPr>
              <a:t> prevede navigazione senza limiti fino </a:t>
            </a:r>
            <a:r>
              <a:rPr lang="it-IT" sz="1600" b="1">
                <a:solidFill>
                  <a:srgbClr val="1F3864"/>
                </a:solidFill>
              </a:rPr>
              <a:t>a </a:t>
            </a:r>
            <a:r>
              <a:rPr lang="it-IT" sz="1600">
                <a:solidFill>
                  <a:srgbClr val="1F3864"/>
                </a:solidFill>
              </a:rPr>
              <a:t>100/200 mega </a:t>
            </a:r>
            <a:r>
              <a:rPr lang="it-IT" sz="1600" b="1">
                <a:solidFill>
                  <a:srgbClr val="1F3864"/>
                </a:solidFill>
              </a:rPr>
              <a:t>a 29,99€/mese </a:t>
            </a:r>
            <a:r>
              <a:rPr lang="it-IT" sz="1600">
                <a:solidFill>
                  <a:srgbClr val="1F3864"/>
                </a:solidFill>
              </a:rPr>
              <a:t>con chiamate illimitate verso numeri fissi e mobili nazionali, modem e assistenza inclusi. Le offerte si rinnovano ogni mese. Il servizio voce viene attivato sfruttando la tecnologia VoIP. Può condividere i Giga illimitati del fisso fino ad un massimo di 3 SIM compatibili. </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Costo di attivazione di </a:t>
            </a:r>
            <a:r>
              <a:rPr lang="it-IT" sz="1600" b="1">
                <a:solidFill>
                  <a:srgbClr val="FF0000"/>
                </a:solidFill>
              </a:rPr>
              <a:t> 1,99€ al mese per 24 mesi.</a:t>
            </a:r>
            <a:endParaRPr/>
          </a:p>
          <a:p>
            <a:pPr marL="0" lvl="0" indent="0" algn="just" rtl="0">
              <a:lnSpc>
                <a:spcPct val="90000"/>
              </a:lnSpc>
              <a:spcBef>
                <a:spcPts val="1000"/>
              </a:spcBef>
              <a:spcAft>
                <a:spcPts val="0"/>
              </a:spcAft>
              <a:buClr>
                <a:srgbClr val="1F3864"/>
              </a:buClr>
              <a:buSzPts val="1600"/>
              <a:buNone/>
            </a:pPr>
            <a:r>
              <a:rPr lang="it-IT" sz="1600">
                <a:solidFill>
                  <a:srgbClr val="1F3864"/>
                </a:solidFill>
              </a:rPr>
              <a:t>Riepilogando, il</a:t>
            </a:r>
            <a:r>
              <a:rPr lang="it-IT" sz="1600" b="1">
                <a:solidFill>
                  <a:srgbClr val="1F3864"/>
                </a:solidFill>
              </a:rPr>
              <a:t> </a:t>
            </a:r>
            <a:r>
              <a:rPr lang="it-IT" sz="1600">
                <a:solidFill>
                  <a:srgbClr val="1F3864"/>
                </a:solidFill>
              </a:rPr>
              <a:t>costo mensile dell’offerta è di </a:t>
            </a:r>
            <a:r>
              <a:rPr lang="it-IT" sz="1600" b="1">
                <a:solidFill>
                  <a:srgbClr val="1F3864"/>
                </a:solidFill>
              </a:rPr>
              <a:t>29,99€/mese</a:t>
            </a:r>
            <a:r>
              <a:rPr lang="it-IT" sz="1600">
                <a:solidFill>
                  <a:srgbClr val="1F3864"/>
                </a:solidFill>
              </a:rPr>
              <a:t>, composto da 23,91€/mese di canone di servizio e 5,99€/mese di rata del modem per i primi 48 mesi dopo 29,90€/mese E' inoltre previsto un costo di 10€ per anticipo del Modem.</a:t>
            </a:r>
            <a:endParaRPr/>
          </a:p>
          <a:p>
            <a:pPr marL="0" lvl="0" indent="0" algn="just" rtl="0">
              <a:lnSpc>
                <a:spcPct val="90000"/>
              </a:lnSpc>
              <a:spcBef>
                <a:spcPts val="1000"/>
              </a:spcBef>
              <a:spcAft>
                <a:spcPts val="0"/>
              </a:spcAft>
              <a:buClr>
                <a:schemeClr val="dk1"/>
              </a:buClr>
              <a:buSzPts val="1600"/>
              <a:buNone/>
            </a:pPr>
            <a:endParaRPr sz="1600">
              <a:solidFill>
                <a:srgbClr val="1F3864"/>
              </a:solidFill>
            </a:endParaRPr>
          </a:p>
          <a:p>
            <a:pPr marL="0" lvl="0" indent="0" algn="just" rtl="0">
              <a:lnSpc>
                <a:spcPct val="90000"/>
              </a:lnSpc>
              <a:spcBef>
                <a:spcPts val="1000"/>
              </a:spcBef>
              <a:spcAft>
                <a:spcPts val="0"/>
              </a:spcAft>
              <a:buClr>
                <a:schemeClr val="accent6"/>
              </a:buClr>
              <a:buSzPts val="1600"/>
              <a:buNone/>
            </a:pPr>
            <a:r>
              <a:rPr lang="it-IT" sz="1600" b="1">
                <a:solidFill>
                  <a:schemeClr val="accent6"/>
                </a:solidFill>
              </a:rPr>
              <a:t>Da leggere in caso di aggiunta opzione Più Sicuri Casa: </a:t>
            </a:r>
            <a:r>
              <a:rPr lang="it-IT" sz="1600" b="1">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p:nvPr/>
        </p:nvSpPr>
        <p:spPr>
          <a:xfrm>
            <a:off x="-16547" y="30812"/>
            <a:ext cx="12192000" cy="75799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Calibri"/>
              <a:buNone/>
            </a:pPr>
            <a:endParaRPr sz="3200" b="1" i="0" u="none" strike="noStrike" cap="none">
              <a:solidFill>
                <a:srgbClr val="FFFFFF"/>
              </a:solidFill>
              <a:latin typeface="Calibri"/>
              <a:ea typeface="Calibri"/>
              <a:cs typeface="Calibri"/>
              <a:sym typeface="Calibri"/>
            </a:endParaRPr>
          </a:p>
        </p:txBody>
      </p:sp>
      <p:sp>
        <p:nvSpPr>
          <p:cNvPr id="139" name="Google Shape;139;p22"/>
          <p:cNvSpPr/>
          <p:nvPr/>
        </p:nvSpPr>
        <p:spPr>
          <a:xfrm>
            <a:off x="7470510" y="2130945"/>
            <a:ext cx="4678671" cy="902198"/>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grpSp>
        <p:nvGrpSpPr>
          <p:cNvPr id="140" name="Google Shape;140;p22"/>
          <p:cNvGrpSpPr/>
          <p:nvPr/>
        </p:nvGrpSpPr>
        <p:grpSpPr>
          <a:xfrm>
            <a:off x="770631" y="1913766"/>
            <a:ext cx="4380684" cy="4394282"/>
            <a:chOff x="3006242" y="1256122"/>
            <a:chExt cx="5040000" cy="5040000"/>
          </a:xfrm>
        </p:grpSpPr>
        <p:sp>
          <p:nvSpPr>
            <p:cNvPr id="141" name="Google Shape;141;p22"/>
            <p:cNvSpPr/>
            <p:nvPr/>
          </p:nvSpPr>
          <p:spPr>
            <a:xfrm>
              <a:off x="3006242" y="1256122"/>
              <a:ext cx="5040000" cy="5040000"/>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142" name="Google Shape;142;p22"/>
            <p:cNvSpPr/>
            <p:nvPr/>
          </p:nvSpPr>
          <p:spPr>
            <a:xfrm>
              <a:off x="3366243" y="1616122"/>
              <a:ext cx="4320001" cy="4320000"/>
            </a:xfrm>
            <a:prstGeom prst="ellipse">
              <a:avLst/>
            </a:prstGeom>
            <a:gradFill>
              <a:gsLst>
                <a:gs pos="0">
                  <a:srgbClr val="0070C0"/>
                </a:gs>
                <a:gs pos="22000">
                  <a:srgbClr val="0070C0"/>
                </a:gs>
                <a:gs pos="80000">
                  <a:srgbClr val="003B68"/>
                </a:gs>
                <a:gs pos="100000">
                  <a:srgbClr val="003B68"/>
                </a:gs>
              </a:gsLst>
              <a:lin ang="96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143" name="Google Shape;143;p22"/>
            <p:cNvSpPr/>
            <p:nvPr/>
          </p:nvSpPr>
          <p:spPr>
            <a:xfrm>
              <a:off x="3573112" y="1822992"/>
              <a:ext cx="3906259" cy="3906259"/>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144" name="Google Shape;144;p22"/>
            <p:cNvSpPr/>
            <p:nvPr/>
          </p:nvSpPr>
          <p:spPr>
            <a:xfrm>
              <a:off x="3647678" y="1897558"/>
              <a:ext cx="3757125" cy="3757125"/>
            </a:xfrm>
            <a:prstGeom prst="ellipse">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Arial"/>
                <a:ea typeface="Arial"/>
                <a:cs typeface="Arial"/>
                <a:sym typeface="Arial"/>
              </a:endParaRPr>
            </a:p>
          </p:txBody>
        </p:sp>
      </p:grpSp>
      <p:sp>
        <p:nvSpPr>
          <p:cNvPr id="145" name="Google Shape;145;p22"/>
          <p:cNvSpPr/>
          <p:nvPr/>
        </p:nvSpPr>
        <p:spPr>
          <a:xfrm>
            <a:off x="1331796" y="2478094"/>
            <a:ext cx="3265629" cy="3265627"/>
          </a:xfrm>
          <a:prstGeom prst="ellipse">
            <a:avLst/>
          </a:prstGeom>
          <a:gradFill>
            <a:gsLst>
              <a:gs pos="0">
                <a:srgbClr val="0070C0"/>
              </a:gs>
              <a:gs pos="22000">
                <a:srgbClr val="0070C0"/>
              </a:gs>
              <a:gs pos="80000">
                <a:srgbClr val="003B68"/>
              </a:gs>
              <a:gs pos="100000">
                <a:srgbClr val="003B68"/>
              </a:gs>
            </a:gsLst>
            <a:lin ang="9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pic>
        <p:nvPicPr>
          <p:cNvPr id="146" name="Google Shape;146;p22" descr="Immagine che contiene Elettrodomestico&#10;&#10;Descrizione generata automaticamente"/>
          <p:cNvPicPr preferRelativeResize="0"/>
          <p:nvPr/>
        </p:nvPicPr>
        <p:blipFill rotWithShape="1">
          <a:blip r:embed="rId3">
            <a:alphaModFix/>
          </a:blip>
          <a:srcRect/>
          <a:stretch/>
        </p:blipFill>
        <p:spPr>
          <a:xfrm>
            <a:off x="1692527" y="1915915"/>
            <a:ext cx="2536888" cy="4333277"/>
          </a:xfrm>
          <a:prstGeom prst="rect">
            <a:avLst/>
          </a:prstGeom>
          <a:noFill/>
          <a:ln>
            <a:noFill/>
          </a:ln>
        </p:spPr>
      </p:pic>
      <p:pic>
        <p:nvPicPr>
          <p:cNvPr id="147" name="Google Shape;147;p22"/>
          <p:cNvPicPr preferRelativeResize="0"/>
          <p:nvPr/>
        </p:nvPicPr>
        <p:blipFill rotWithShape="1">
          <a:blip r:embed="rId4">
            <a:alphaModFix/>
          </a:blip>
          <a:srcRect/>
          <a:stretch/>
        </p:blipFill>
        <p:spPr>
          <a:xfrm>
            <a:off x="515714" y="3662645"/>
            <a:ext cx="1537321" cy="827567"/>
          </a:xfrm>
          <a:prstGeom prst="rect">
            <a:avLst/>
          </a:prstGeom>
          <a:noFill/>
          <a:ln>
            <a:noFill/>
          </a:ln>
        </p:spPr>
      </p:pic>
      <p:sp>
        <p:nvSpPr>
          <p:cNvPr id="148" name="Google Shape;148;p22"/>
          <p:cNvSpPr txBox="1"/>
          <p:nvPr/>
        </p:nvSpPr>
        <p:spPr>
          <a:xfrm>
            <a:off x="7828246" y="2199018"/>
            <a:ext cx="4203832" cy="769441"/>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1" i="0" u="none" strike="noStrike" cap="none">
                <a:solidFill>
                  <a:srgbClr val="686F75"/>
                </a:solidFill>
                <a:latin typeface="Montserrat"/>
                <a:ea typeface="Montserrat"/>
                <a:cs typeface="Montserrat"/>
                <a:sym typeface="Montserrat"/>
              </a:rPr>
              <a:t>Doppia rete Wireless a 2,4 Ghz e 5 Ghz </a:t>
            </a:r>
            <a:r>
              <a:rPr lang="it-IT" sz="1100" b="0" i="0" u="none" strike="noStrike" cap="none">
                <a:solidFill>
                  <a:srgbClr val="686F75"/>
                </a:solidFill>
                <a:latin typeface="Montserrat"/>
                <a:ea typeface="Montserrat"/>
                <a:cs typeface="Montserrat"/>
                <a:sym typeface="Montserrat"/>
              </a:rPr>
              <a:t>che garantisce la migliore copertura e minor rischio di interferenze</a:t>
            </a:r>
            <a:endParaRPr/>
          </a:p>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Il nuovo design garantisce un ottimale posizionamento delle antenne per una </a:t>
            </a:r>
            <a:r>
              <a:rPr lang="it-IT" sz="1100" b="1" i="0" u="none" strike="noStrike" cap="none">
                <a:solidFill>
                  <a:srgbClr val="686F75"/>
                </a:solidFill>
                <a:latin typeface="Montserrat"/>
                <a:ea typeface="Montserrat"/>
                <a:cs typeface="Montserrat"/>
                <a:sym typeface="Montserrat"/>
              </a:rPr>
              <a:t>migliore copertura </a:t>
            </a:r>
            <a:r>
              <a:rPr lang="it-IT" sz="1100" b="0" i="0" u="none" strike="noStrike" cap="none">
                <a:solidFill>
                  <a:srgbClr val="686F75"/>
                </a:solidFill>
                <a:latin typeface="Montserrat"/>
                <a:ea typeface="Montserrat"/>
                <a:cs typeface="Montserrat"/>
                <a:sym typeface="Montserrat"/>
              </a:rPr>
              <a:t>indoor </a:t>
            </a:r>
            <a:endParaRPr/>
          </a:p>
        </p:txBody>
      </p:sp>
      <p:sp>
        <p:nvSpPr>
          <p:cNvPr id="149" name="Google Shape;149;p22"/>
          <p:cNvSpPr/>
          <p:nvPr/>
        </p:nvSpPr>
        <p:spPr>
          <a:xfrm>
            <a:off x="7490994" y="3087134"/>
            <a:ext cx="4658187" cy="740480"/>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50" name="Google Shape;150;p22"/>
          <p:cNvSpPr txBox="1"/>
          <p:nvPr/>
        </p:nvSpPr>
        <p:spPr>
          <a:xfrm>
            <a:off x="7803898" y="3154996"/>
            <a:ext cx="4216787" cy="600164"/>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Grazie alle </a:t>
            </a:r>
            <a:r>
              <a:rPr lang="it-IT" sz="1100" b="1" i="0" u="none" strike="noStrike" cap="none">
                <a:solidFill>
                  <a:srgbClr val="686F75"/>
                </a:solidFill>
                <a:latin typeface="Montserrat"/>
                <a:ea typeface="Montserrat"/>
                <a:cs typeface="Montserrat"/>
                <a:sym typeface="Montserrat"/>
              </a:rPr>
              <a:t>8 antenne </a:t>
            </a:r>
            <a:r>
              <a:rPr lang="it-IT" sz="1100" b="0" i="0" u="none" strike="noStrike" cap="none">
                <a:solidFill>
                  <a:srgbClr val="686F75"/>
                </a:solidFill>
                <a:latin typeface="Montserrat"/>
                <a:ea typeface="Montserrat"/>
                <a:cs typeface="Montserrat"/>
                <a:sym typeface="Montserrat"/>
              </a:rPr>
              <a:t>hai più velocità e connetti fino a </a:t>
            </a:r>
            <a:r>
              <a:rPr lang="it-IT" sz="1100" b="1" i="0" u="none" strike="noStrike" cap="none">
                <a:solidFill>
                  <a:srgbClr val="686F75"/>
                </a:solidFill>
                <a:latin typeface="Montserrat"/>
                <a:ea typeface="Montserrat"/>
                <a:cs typeface="Montserrat"/>
                <a:sym typeface="Montserrat"/>
              </a:rPr>
              <a:t>256 device</a:t>
            </a:r>
            <a:r>
              <a:rPr lang="it-IT" sz="1100" b="0" i="0" u="none" strike="noStrike" cap="none">
                <a:solidFill>
                  <a:srgbClr val="686F75"/>
                </a:solidFill>
                <a:latin typeface="Montserrat"/>
                <a:ea typeface="Montserrat"/>
                <a:cs typeface="Montserrat"/>
                <a:sym typeface="Montserrat"/>
              </a:rPr>
              <a:t> contemporaneamente con la migliore </a:t>
            </a:r>
            <a:r>
              <a:rPr lang="it-IT" sz="1100" b="1" i="0" u="none" strike="noStrike" cap="none">
                <a:solidFill>
                  <a:srgbClr val="686F75"/>
                </a:solidFill>
                <a:latin typeface="Montserrat"/>
                <a:ea typeface="Montserrat"/>
                <a:cs typeface="Montserrat"/>
                <a:sym typeface="Montserrat"/>
              </a:rPr>
              <a:t>stabilità di connessione</a:t>
            </a:r>
            <a:endParaRPr/>
          </a:p>
        </p:txBody>
      </p:sp>
      <p:sp>
        <p:nvSpPr>
          <p:cNvPr id="151" name="Google Shape;151;p22"/>
          <p:cNvSpPr/>
          <p:nvPr/>
        </p:nvSpPr>
        <p:spPr>
          <a:xfrm>
            <a:off x="7429608" y="3889549"/>
            <a:ext cx="4696513" cy="617042"/>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52" name="Google Shape;152;p22"/>
          <p:cNvSpPr txBox="1"/>
          <p:nvPr/>
        </p:nvSpPr>
        <p:spPr>
          <a:xfrm>
            <a:off x="7871492" y="3976842"/>
            <a:ext cx="4149194" cy="442712"/>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1" i="0" u="none" strike="noStrike" cap="none">
                <a:solidFill>
                  <a:srgbClr val="686F75"/>
                </a:solidFill>
                <a:latin typeface="Montserrat"/>
                <a:ea typeface="Montserrat"/>
                <a:cs typeface="Montserrat"/>
                <a:sym typeface="Montserrat"/>
              </a:rPr>
              <a:t>Maggiori performance </a:t>
            </a:r>
            <a:r>
              <a:rPr lang="it-IT" sz="1100" b="0" i="0" u="none" strike="noStrike" cap="none">
                <a:solidFill>
                  <a:srgbClr val="686F75"/>
                </a:solidFill>
                <a:latin typeface="Montserrat"/>
                <a:ea typeface="Montserrat"/>
                <a:cs typeface="Montserrat"/>
                <a:sym typeface="Montserrat"/>
              </a:rPr>
              <a:t>per streaming e gaming online grazie alla minore latenza presente sulla connessione</a:t>
            </a:r>
            <a:endParaRPr/>
          </a:p>
        </p:txBody>
      </p:sp>
      <p:sp>
        <p:nvSpPr>
          <p:cNvPr id="153" name="Google Shape;153;p22"/>
          <p:cNvSpPr/>
          <p:nvPr/>
        </p:nvSpPr>
        <p:spPr>
          <a:xfrm>
            <a:off x="7406548" y="4665829"/>
            <a:ext cx="4719573" cy="603465"/>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54" name="Google Shape;154;p22"/>
          <p:cNvSpPr txBox="1"/>
          <p:nvPr/>
        </p:nvSpPr>
        <p:spPr>
          <a:xfrm>
            <a:off x="7807024" y="4742855"/>
            <a:ext cx="4213661" cy="430887"/>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Consente un maggiore </a:t>
            </a:r>
            <a:r>
              <a:rPr lang="it-IT" sz="1100" b="1" i="0" u="none" strike="noStrike" cap="none">
                <a:solidFill>
                  <a:srgbClr val="686F75"/>
                </a:solidFill>
                <a:latin typeface="Montserrat"/>
                <a:ea typeface="Montserrat"/>
                <a:cs typeface="Montserrat"/>
                <a:sym typeface="Montserrat"/>
              </a:rPr>
              <a:t>risparmio energetico</a:t>
            </a:r>
            <a:r>
              <a:rPr lang="it-IT" sz="1100" b="0" i="0" u="none" strike="noStrike" cap="none">
                <a:solidFill>
                  <a:srgbClr val="686F75"/>
                </a:solidFill>
                <a:latin typeface="Montserrat"/>
                <a:ea typeface="Montserrat"/>
                <a:cs typeface="Montserrat"/>
                <a:sym typeface="Montserrat"/>
              </a:rPr>
              <a:t>. La batteria dei dispositivi mobili connessi in Wi-Fi durerà di più</a:t>
            </a:r>
            <a:endParaRPr/>
          </a:p>
        </p:txBody>
      </p:sp>
      <p:sp>
        <p:nvSpPr>
          <p:cNvPr id="155" name="Google Shape;155;p22"/>
          <p:cNvSpPr/>
          <p:nvPr/>
        </p:nvSpPr>
        <p:spPr>
          <a:xfrm>
            <a:off x="7408319" y="5442665"/>
            <a:ext cx="4719573" cy="603465"/>
          </a:xfrm>
          <a:prstGeom prst="roundRect">
            <a:avLst>
              <a:gd name="adj" fmla="val 16667"/>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56" name="Google Shape;156;p22"/>
          <p:cNvSpPr txBox="1"/>
          <p:nvPr/>
        </p:nvSpPr>
        <p:spPr>
          <a:xfrm>
            <a:off x="7808312" y="5525934"/>
            <a:ext cx="4212373" cy="430887"/>
          </a:xfrm>
          <a:prstGeom prst="rect">
            <a:avLst/>
          </a:prstGeom>
          <a:solidFill>
            <a:srgbClr val="FCFBF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100" b="0" i="0" u="none" strike="noStrike" cap="none">
                <a:solidFill>
                  <a:srgbClr val="686F75"/>
                </a:solidFill>
                <a:latin typeface="Montserrat"/>
                <a:ea typeface="Montserrat"/>
                <a:cs typeface="Montserrat"/>
                <a:sym typeface="Montserrat"/>
              </a:rPr>
              <a:t>Imballaggio realizzato con </a:t>
            </a:r>
            <a:r>
              <a:rPr lang="it-IT" sz="1100" b="1" i="0" u="none" strike="noStrike" cap="none">
                <a:solidFill>
                  <a:srgbClr val="686F75"/>
                </a:solidFill>
                <a:latin typeface="Montserrat"/>
                <a:ea typeface="Montserrat"/>
                <a:cs typeface="Montserrat"/>
                <a:sym typeface="Montserrat"/>
              </a:rPr>
              <a:t>carta riciclata </a:t>
            </a:r>
            <a:r>
              <a:rPr lang="it-IT" sz="1100" b="0" i="0" u="none" strike="noStrike" cap="none">
                <a:solidFill>
                  <a:srgbClr val="686F75"/>
                </a:solidFill>
                <a:latin typeface="Montserrat"/>
                <a:ea typeface="Montserrat"/>
                <a:cs typeface="Montserrat"/>
                <a:sym typeface="Montserrat"/>
              </a:rPr>
              <a:t>e (per uno dei due modelli) il prodotto è realizzato con plastica riciclata </a:t>
            </a:r>
            <a:endParaRPr/>
          </a:p>
        </p:txBody>
      </p:sp>
      <p:sp>
        <p:nvSpPr>
          <p:cNvPr id="157" name="Google Shape;157;p22"/>
          <p:cNvSpPr/>
          <p:nvPr/>
        </p:nvSpPr>
        <p:spPr>
          <a:xfrm>
            <a:off x="5212198" y="313256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VELOCITA’</a:t>
            </a:r>
            <a:endParaRPr/>
          </a:p>
        </p:txBody>
      </p:sp>
      <p:sp>
        <p:nvSpPr>
          <p:cNvPr id="158" name="Google Shape;158;p22"/>
          <p:cNvSpPr/>
          <p:nvPr/>
        </p:nvSpPr>
        <p:spPr>
          <a:xfrm>
            <a:off x="5216127" y="3901631"/>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STREAMING e GAMING</a:t>
            </a:r>
            <a:endParaRPr/>
          </a:p>
        </p:txBody>
      </p:sp>
      <p:sp>
        <p:nvSpPr>
          <p:cNvPr id="159" name="Google Shape;159;p22"/>
          <p:cNvSpPr/>
          <p:nvPr/>
        </p:nvSpPr>
        <p:spPr>
          <a:xfrm>
            <a:off x="5216127" y="466670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RISPARMIO ENERGETICO</a:t>
            </a:r>
            <a:endParaRPr/>
          </a:p>
        </p:txBody>
      </p:sp>
      <p:sp>
        <p:nvSpPr>
          <p:cNvPr id="160" name="Google Shape;160;p22"/>
          <p:cNvSpPr/>
          <p:nvPr/>
        </p:nvSpPr>
        <p:spPr>
          <a:xfrm>
            <a:off x="5216126" y="5453551"/>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PLASTIC FREE</a:t>
            </a:r>
            <a:endParaRPr/>
          </a:p>
        </p:txBody>
      </p:sp>
      <p:sp>
        <p:nvSpPr>
          <p:cNvPr id="161" name="Google Shape;161;p22"/>
          <p:cNvSpPr/>
          <p:nvPr/>
        </p:nvSpPr>
        <p:spPr>
          <a:xfrm>
            <a:off x="5212199" y="2345315"/>
            <a:ext cx="2656195" cy="604960"/>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b="1" i="0" u="none" strike="noStrike" cap="none">
                <a:solidFill>
                  <a:schemeClr val="lt1"/>
                </a:solidFill>
                <a:latin typeface="Montserrat Black"/>
                <a:ea typeface="Montserrat Black"/>
                <a:cs typeface="Montserrat Black"/>
                <a:sym typeface="Montserrat Black"/>
              </a:rPr>
              <a:t>PIU’ COPERTURA IN TUTTA LA CASA</a:t>
            </a:r>
            <a:endParaRPr/>
          </a:p>
        </p:txBody>
      </p:sp>
      <p:sp>
        <p:nvSpPr>
          <p:cNvPr id="162" name="Google Shape;162;p22"/>
          <p:cNvSpPr txBox="1"/>
          <p:nvPr/>
        </p:nvSpPr>
        <p:spPr>
          <a:xfrm>
            <a:off x="165169" y="186766"/>
            <a:ext cx="10515600" cy="332399"/>
          </a:xfrm>
          <a:prstGeom prst="rect">
            <a:avLst/>
          </a:prstGeom>
          <a:noFill/>
          <a:ln>
            <a:noFill/>
          </a:ln>
        </p:spPr>
        <p:txBody>
          <a:bodyPr spcFirstLastPara="1" wrap="square" lIns="91425" tIns="45700" rIns="91425" bIns="45700" anchor="t" anchorCtr="0">
            <a:noAutofit/>
          </a:bodyPr>
          <a:lstStyle/>
          <a:p>
            <a:pPr marL="279400" marR="0" lvl="1" indent="0" algn="l" rtl="0">
              <a:lnSpc>
                <a:spcPct val="90000"/>
              </a:lnSpc>
              <a:spcBef>
                <a:spcPts val="0"/>
              </a:spcBef>
              <a:spcAft>
                <a:spcPts val="0"/>
              </a:spcAft>
              <a:buClr>
                <a:srgbClr val="000000"/>
              </a:buClr>
              <a:buSzPts val="2800"/>
              <a:buFont typeface="Arial"/>
              <a:buNone/>
            </a:pPr>
            <a:r>
              <a:rPr lang="it-IT" sz="2800" b="1" i="0" u="none" strike="noStrike" cap="none">
                <a:solidFill>
                  <a:srgbClr val="000000"/>
                </a:solidFill>
                <a:latin typeface="Montserrat"/>
                <a:ea typeface="Montserrat"/>
                <a:cs typeface="Montserrat"/>
                <a:sym typeface="Montserrat"/>
              </a:rPr>
              <a:t>NUOVO MODEM WI-FI 7 INCLUSO CON SUPER FIBRA</a:t>
            </a:r>
            <a:endParaRPr/>
          </a:p>
        </p:txBody>
      </p:sp>
      <p:sp>
        <p:nvSpPr>
          <p:cNvPr id="163" name="Google Shape;163;p22"/>
          <p:cNvSpPr/>
          <p:nvPr/>
        </p:nvSpPr>
        <p:spPr>
          <a:xfrm>
            <a:off x="2" y="1120344"/>
            <a:ext cx="12191998" cy="429222"/>
          </a:xfrm>
          <a:prstGeom prst="rect">
            <a:avLst/>
          </a:pr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6A00"/>
              </a:buClr>
              <a:buSzPts val="1600"/>
              <a:buFont typeface="Montserrat"/>
              <a:buNone/>
            </a:pPr>
            <a:r>
              <a:rPr lang="it-IT" sz="1600" b="0" i="0" u="none" strike="noStrike" cap="none">
                <a:solidFill>
                  <a:srgbClr val="FF6A00"/>
                </a:solidFill>
                <a:latin typeface="Montserrat"/>
                <a:ea typeface="Montserrat"/>
                <a:cs typeface="Montserrat"/>
                <a:sym typeface="Montserrat"/>
              </a:rPr>
              <a:t>              </a:t>
            </a:r>
            <a:endParaRPr/>
          </a:p>
        </p:txBody>
      </p:sp>
      <p:sp>
        <p:nvSpPr>
          <p:cNvPr id="164" name="Google Shape;164;p22"/>
          <p:cNvSpPr txBox="1"/>
          <p:nvPr/>
        </p:nvSpPr>
        <p:spPr>
          <a:xfrm>
            <a:off x="2546098" y="1137461"/>
            <a:ext cx="7468734" cy="42299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A3838"/>
              </a:buClr>
              <a:buSzPts val="2000"/>
              <a:buFont typeface="Montserrat"/>
              <a:buNone/>
            </a:pPr>
            <a:r>
              <a:rPr lang="it-IT" sz="2000" b="1" i="0" u="none" strike="noStrike" cap="none">
                <a:solidFill>
                  <a:srgbClr val="3A3838"/>
                </a:solidFill>
                <a:latin typeface="Montserrat"/>
                <a:ea typeface="Montserrat"/>
                <a:cs typeface="Montserrat"/>
                <a:sym typeface="Montserrat"/>
              </a:rPr>
              <a:t>ANCORA PIÙ POTENZA E VELOCITÀ </a:t>
            </a:r>
            <a:endParaRPr/>
          </a:p>
        </p:txBody>
      </p:sp>
      <p:sp>
        <p:nvSpPr>
          <p:cNvPr id="165" name="Google Shape;165;p22"/>
          <p:cNvSpPr/>
          <p:nvPr/>
        </p:nvSpPr>
        <p:spPr>
          <a:xfrm rot="10800000" flipH="1">
            <a:off x="0" y="6485517"/>
            <a:ext cx="1882586" cy="372483"/>
          </a:xfrm>
          <a:custGeom>
            <a:avLst/>
            <a:gdLst/>
            <a:ahLst/>
            <a:cxnLst/>
            <a:rect l="l" t="t" r="r" b="b"/>
            <a:pathLst>
              <a:path w="3589686" h="1276644" extrusionOk="0">
                <a:moveTo>
                  <a:pt x="7525" y="0"/>
                </a:moveTo>
                <a:cubicBezTo>
                  <a:pt x="4953" y="3524"/>
                  <a:pt x="2477" y="7049"/>
                  <a:pt x="0" y="10668"/>
                </a:cubicBezTo>
                <a:lnTo>
                  <a:pt x="0" y="923449"/>
                </a:lnTo>
                <a:cubicBezTo>
                  <a:pt x="40672" y="982028"/>
                  <a:pt x="89154" y="1035177"/>
                  <a:pt x="143828" y="1081183"/>
                </a:cubicBezTo>
                <a:cubicBezTo>
                  <a:pt x="162973" y="1097280"/>
                  <a:pt x="182880" y="1112520"/>
                  <a:pt x="203359" y="1126808"/>
                </a:cubicBezTo>
                <a:cubicBezTo>
                  <a:pt x="249460" y="1159002"/>
                  <a:pt x="299180" y="1186148"/>
                  <a:pt x="351092" y="1207675"/>
                </a:cubicBezTo>
                <a:cubicBezTo>
                  <a:pt x="366046" y="1213866"/>
                  <a:pt x="381191" y="1219581"/>
                  <a:pt x="396431" y="1224820"/>
                </a:cubicBezTo>
                <a:cubicBezTo>
                  <a:pt x="455390" y="1245108"/>
                  <a:pt x="516731" y="1257395"/>
                  <a:pt x="578644" y="1264730"/>
                </a:cubicBezTo>
                <a:cubicBezTo>
                  <a:pt x="641985" y="1272254"/>
                  <a:pt x="706184" y="1275779"/>
                  <a:pt x="769906" y="1276541"/>
                </a:cubicBezTo>
                <a:cubicBezTo>
                  <a:pt x="834962" y="1277303"/>
                  <a:pt x="900017" y="1273874"/>
                  <a:pt x="964597" y="1265682"/>
                </a:cubicBezTo>
                <a:cubicBezTo>
                  <a:pt x="997077" y="1261586"/>
                  <a:pt x="1029557" y="1256443"/>
                  <a:pt x="1061752" y="1250252"/>
                </a:cubicBezTo>
                <a:cubicBezTo>
                  <a:pt x="1144810" y="1234440"/>
                  <a:pt x="1226820" y="1212342"/>
                  <a:pt x="1306639" y="1184529"/>
                </a:cubicBezTo>
                <a:cubicBezTo>
                  <a:pt x="1329881" y="1176433"/>
                  <a:pt x="1353026" y="1167765"/>
                  <a:pt x="1375886" y="1158716"/>
                </a:cubicBezTo>
                <a:cubicBezTo>
                  <a:pt x="1438275" y="1133951"/>
                  <a:pt x="1498759" y="1104710"/>
                  <a:pt x="1558100" y="1073372"/>
                </a:cubicBezTo>
                <a:cubicBezTo>
                  <a:pt x="1591818" y="1055561"/>
                  <a:pt x="1625156" y="1037082"/>
                  <a:pt x="1658303" y="1018413"/>
                </a:cubicBezTo>
                <a:cubicBezTo>
                  <a:pt x="1755267" y="963644"/>
                  <a:pt x="1846707" y="897065"/>
                  <a:pt x="1936147" y="830961"/>
                </a:cubicBezTo>
                <a:cubicBezTo>
                  <a:pt x="1987106" y="793337"/>
                  <a:pt x="2037398" y="754856"/>
                  <a:pt x="2087594" y="716280"/>
                </a:cubicBezTo>
                <a:cubicBezTo>
                  <a:pt x="2101310" y="705707"/>
                  <a:pt x="2115503" y="695706"/>
                  <a:pt x="2128742" y="684657"/>
                </a:cubicBezTo>
                <a:cubicBezTo>
                  <a:pt x="2187988" y="635318"/>
                  <a:pt x="2252758" y="589312"/>
                  <a:pt x="2315242" y="543497"/>
                </a:cubicBezTo>
                <a:cubicBezTo>
                  <a:pt x="2376869" y="498253"/>
                  <a:pt x="2439638" y="454343"/>
                  <a:pt x="2504028" y="413004"/>
                </a:cubicBezTo>
                <a:cubicBezTo>
                  <a:pt x="2540699" y="389477"/>
                  <a:pt x="2577941" y="366617"/>
                  <a:pt x="2615660" y="344805"/>
                </a:cubicBezTo>
                <a:cubicBezTo>
                  <a:pt x="2709958" y="290227"/>
                  <a:pt x="2807303" y="240983"/>
                  <a:pt x="2907221" y="197644"/>
                </a:cubicBezTo>
                <a:cubicBezTo>
                  <a:pt x="3005995" y="154686"/>
                  <a:pt x="3107246" y="117539"/>
                  <a:pt x="3210306" y="86392"/>
                </a:cubicBezTo>
                <a:cubicBezTo>
                  <a:pt x="3239167" y="77629"/>
                  <a:pt x="3268218" y="69437"/>
                  <a:pt x="3297365" y="61627"/>
                </a:cubicBezTo>
                <a:cubicBezTo>
                  <a:pt x="3312224" y="57626"/>
                  <a:pt x="3327178" y="53816"/>
                  <a:pt x="3342132" y="50102"/>
                </a:cubicBezTo>
                <a:cubicBezTo>
                  <a:pt x="3356039" y="46673"/>
                  <a:pt x="3372136" y="45053"/>
                  <a:pt x="3385471" y="39719"/>
                </a:cubicBezTo>
                <a:cubicBezTo>
                  <a:pt x="3453003" y="24098"/>
                  <a:pt x="3521107" y="10763"/>
                  <a:pt x="3589687" y="0"/>
                </a:cubicBezTo>
                <a:lnTo>
                  <a:pt x="7525" y="0"/>
                </a:lnTo>
                <a:close/>
              </a:path>
            </a:pathLst>
          </a:custGeom>
          <a:gradFill>
            <a:gsLst>
              <a:gs pos="0">
                <a:srgbClr val="E74011"/>
              </a:gs>
              <a:gs pos="12000">
                <a:srgbClr val="E74011"/>
              </a:gs>
              <a:gs pos="82000">
                <a:srgbClr val="EE7203"/>
              </a:gs>
              <a:gs pos="100000">
                <a:srgbClr val="EE7203"/>
              </a:gs>
            </a:gsLst>
            <a:lin ang="96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2F2F2F"/>
              </a:solidFill>
              <a:latin typeface="Arial"/>
              <a:ea typeface="Arial"/>
              <a:cs typeface="Arial"/>
              <a:sym typeface="Arial"/>
            </a:endParaRPr>
          </a:p>
        </p:txBody>
      </p:sp>
      <p:sp>
        <p:nvSpPr>
          <p:cNvPr id="166" name="Google Shape;166;p22"/>
          <p:cNvSpPr/>
          <p:nvPr/>
        </p:nvSpPr>
        <p:spPr>
          <a:xfrm>
            <a:off x="288174" y="6557435"/>
            <a:ext cx="354235" cy="221397"/>
          </a:xfrm>
          <a:prstGeom prst="rect">
            <a:avLst/>
          </a:prstGeom>
          <a:noFill/>
          <a:ln>
            <a:noFill/>
          </a:ln>
        </p:spPr>
        <p:txBody>
          <a:bodyPr/>
          <a:lstStyle/>
          <a:p>
            <a:endParaRPr lang="it-IT"/>
          </a:p>
        </p:txBody>
      </p:sp>
      <p:sp>
        <p:nvSpPr>
          <p:cNvPr id="167" name="Google Shape;167;p22"/>
          <p:cNvSpPr txBox="1"/>
          <p:nvPr/>
        </p:nvSpPr>
        <p:spPr>
          <a:xfrm>
            <a:off x="4405667" y="6452329"/>
            <a:ext cx="5750695" cy="246221"/>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7030A0"/>
              </a:buClr>
              <a:buSzPts val="1000"/>
              <a:buFont typeface="Arial"/>
              <a:buChar char="•"/>
            </a:pPr>
            <a:r>
              <a:rPr lang="it-IT" sz="1000" b="1" i="0" u="none" strike="noStrike" cap="none">
                <a:solidFill>
                  <a:schemeClr val="dk1"/>
                </a:solidFill>
                <a:latin typeface="Arial"/>
                <a:ea typeface="Arial"/>
                <a:cs typeface="Arial"/>
                <a:sym typeface="Arial"/>
              </a:rPr>
              <a:t>Solo su FTTC e FTTH AREE BIANCHE ( C&amp;D) viene dato il modem Wi-Fi 6</a:t>
            </a:r>
            <a:endParaRPr sz="1000" b="1" i="0" u="none" strike="noStrike" cap="none">
              <a:solidFill>
                <a:srgbClr val="FF6A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3"/>
          <p:cNvSpPr txBox="1">
            <a:spLocks noGrp="1"/>
          </p:cNvSpPr>
          <p:nvPr>
            <p:ph type="title"/>
          </p:nvPr>
        </p:nvSpPr>
        <p:spPr>
          <a:xfrm>
            <a:off x="838200" y="365126"/>
            <a:ext cx="10515600" cy="71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it-IT" b="1">
                <a:solidFill>
                  <a:srgbClr val="002060"/>
                </a:solidFill>
              </a:rPr>
              <a:t>OPZIONI</a:t>
            </a:r>
            <a:r>
              <a:rPr lang="it-IT">
                <a:solidFill>
                  <a:srgbClr val="002060"/>
                </a:solidFill>
              </a:rPr>
              <a:t> </a:t>
            </a:r>
            <a:endParaRPr/>
          </a:p>
        </p:txBody>
      </p:sp>
      <p:sp>
        <p:nvSpPr>
          <p:cNvPr id="173" name="Google Shape;173;p23"/>
          <p:cNvSpPr txBox="1"/>
          <p:nvPr/>
        </p:nvSpPr>
        <p:spPr>
          <a:xfrm>
            <a:off x="2847546" y="1353367"/>
            <a:ext cx="827722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2060"/>
              </a:buClr>
              <a:buSzPts val="1600"/>
              <a:buFont typeface="Arial"/>
              <a:buNone/>
            </a:pPr>
            <a:r>
              <a:rPr lang="it-IT" sz="1600" b="1" i="0" u="none" strike="noStrike" cap="none">
                <a:solidFill>
                  <a:srgbClr val="002060"/>
                </a:solidFill>
                <a:latin typeface="Calibri"/>
                <a:ea typeface="Calibri"/>
                <a:cs typeface="Calibri"/>
                <a:sym typeface="Calibri"/>
              </a:rPr>
              <a:t>INVISTA </a:t>
            </a:r>
            <a:r>
              <a:rPr lang="it-IT" sz="1600" b="0" i="0" u="none" strike="noStrike" cap="none">
                <a:solidFill>
                  <a:srgbClr val="002060"/>
                </a:solidFill>
                <a:latin typeface="Calibri"/>
                <a:ea typeface="Calibri"/>
                <a:cs typeface="Calibri"/>
                <a:sym typeface="Calibri"/>
              </a:rPr>
              <a:t>è il servizio che le permette di visualizzare il numero di chi la chiama sul display del suo telefono fisso al costo di </a:t>
            </a:r>
            <a:r>
              <a:rPr lang="it-IT" sz="1600" b="1" i="0" u="none" strike="noStrike" cap="none">
                <a:solidFill>
                  <a:srgbClr val="002060"/>
                </a:solidFill>
                <a:latin typeface="Calibri"/>
                <a:ea typeface="Calibri"/>
                <a:cs typeface="Calibri"/>
                <a:sym typeface="Calibri"/>
              </a:rPr>
              <a:t>2€/mese iva inclusa</a:t>
            </a:r>
            <a:r>
              <a:rPr lang="it-IT" sz="1600" b="0" i="0" u="none" strike="noStrike" cap="none">
                <a:solidFill>
                  <a:srgbClr val="002060"/>
                </a:solidFill>
                <a:latin typeface="Calibri"/>
                <a:ea typeface="Calibri"/>
                <a:cs typeface="Calibri"/>
                <a:sym typeface="Calibri"/>
              </a:rPr>
              <a:t>.</a:t>
            </a:r>
            <a:endParaRPr/>
          </a:p>
        </p:txBody>
      </p:sp>
      <p:sp>
        <p:nvSpPr>
          <p:cNvPr id="174" name="Google Shape;174;p23"/>
          <p:cNvSpPr txBox="1"/>
          <p:nvPr/>
        </p:nvSpPr>
        <p:spPr>
          <a:xfrm>
            <a:off x="609172" y="1342255"/>
            <a:ext cx="197167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2060"/>
              </a:buClr>
              <a:buSzPts val="2800"/>
              <a:buFont typeface="Arial"/>
              <a:buChar char="•"/>
            </a:pPr>
            <a:r>
              <a:rPr lang="it-IT" sz="2800" b="0" i="0" u="none" strike="noStrike" cap="none">
                <a:solidFill>
                  <a:srgbClr val="002060"/>
                </a:solidFill>
                <a:latin typeface="Calibri"/>
                <a:ea typeface="Calibri"/>
                <a:cs typeface="Calibri"/>
                <a:sym typeface="Calibri"/>
              </a:rPr>
              <a:t>INVISTA</a:t>
            </a:r>
            <a:endParaRPr/>
          </a:p>
        </p:txBody>
      </p:sp>
      <p:sp>
        <p:nvSpPr>
          <p:cNvPr id="175" name="Google Shape;175;p23"/>
          <p:cNvSpPr txBox="1"/>
          <p:nvPr/>
        </p:nvSpPr>
        <p:spPr>
          <a:xfrm>
            <a:off x="2857071" y="3386359"/>
            <a:ext cx="8277225" cy="106873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ts val="1600"/>
              <a:buFont typeface="Arial"/>
              <a:buNone/>
            </a:pPr>
            <a:r>
              <a:rPr lang="it-IT" sz="1600" b="0" i="0" u="none" strike="noStrike" cap="none">
                <a:solidFill>
                  <a:srgbClr val="002060"/>
                </a:solidFill>
                <a:latin typeface="Calibri"/>
                <a:ea typeface="Calibri"/>
                <a:cs typeface="Calibri"/>
                <a:sym typeface="Calibri"/>
              </a:rPr>
              <a:t>Per il posizionamento di una nuova Presa Fibra in un punto diverso dalla presa principale è previsto un costo di </a:t>
            </a:r>
            <a:r>
              <a:rPr lang="it-IT" sz="1600" b="1" i="0" u="none" strike="noStrike" cap="none">
                <a:solidFill>
                  <a:srgbClr val="002060"/>
                </a:solidFill>
                <a:latin typeface="Calibri"/>
                <a:ea typeface="Calibri"/>
                <a:cs typeface="Calibri"/>
                <a:sym typeface="Calibri"/>
              </a:rPr>
              <a:t>65€.</a:t>
            </a:r>
            <a:endParaRPr/>
          </a:p>
          <a:p>
            <a:pPr marL="0" marR="0" lvl="0" indent="0" algn="l" rtl="0">
              <a:lnSpc>
                <a:spcPct val="90000"/>
              </a:lnSpc>
              <a:spcBef>
                <a:spcPts val="1000"/>
              </a:spcBef>
              <a:spcAft>
                <a:spcPts val="0"/>
              </a:spcAft>
              <a:buClr>
                <a:srgbClr val="002060"/>
              </a:buClr>
              <a:buSzPts val="1600"/>
              <a:buFont typeface="Arial"/>
              <a:buNone/>
            </a:pPr>
            <a:r>
              <a:rPr lang="it-IT" sz="1600" b="0" i="0" u="none" strike="noStrike" cap="none">
                <a:solidFill>
                  <a:srgbClr val="002060"/>
                </a:solidFill>
                <a:latin typeface="Calibri"/>
                <a:ea typeface="Calibri"/>
                <a:cs typeface="Calibri"/>
                <a:sym typeface="Calibri"/>
              </a:rPr>
              <a:t>Per</a:t>
            </a:r>
            <a:r>
              <a:rPr lang="it-IT" sz="1600" b="1" i="0" u="none" strike="noStrike" cap="none">
                <a:solidFill>
                  <a:srgbClr val="002060"/>
                </a:solidFill>
                <a:latin typeface="Calibri"/>
                <a:ea typeface="Calibri"/>
                <a:cs typeface="Calibri"/>
                <a:sym typeface="Calibri"/>
              </a:rPr>
              <a:t> </a:t>
            </a:r>
            <a:r>
              <a:rPr lang="it-IT" sz="1600" b="0" i="0" u="none" strike="noStrike" cap="none">
                <a:solidFill>
                  <a:srgbClr val="002060"/>
                </a:solidFill>
                <a:latin typeface="Calibri"/>
                <a:ea typeface="Calibri"/>
                <a:cs typeface="Calibri"/>
                <a:sym typeface="Calibri"/>
              </a:rPr>
              <a:t>abilitare altre prese telefoniche al collegamento di telefoni, fax, segreterie, centralini, sistemi di tele-allarmi, video-sorveglianza, o tele-soccorso è previsto un costo di </a:t>
            </a:r>
            <a:r>
              <a:rPr lang="it-IT" sz="1600" b="1" i="0" u="none" strike="noStrike" cap="none">
                <a:solidFill>
                  <a:srgbClr val="002060"/>
                </a:solidFill>
                <a:latin typeface="Calibri"/>
                <a:ea typeface="Calibri"/>
                <a:cs typeface="Calibri"/>
                <a:sym typeface="Calibri"/>
              </a:rPr>
              <a:t>35€.</a:t>
            </a:r>
            <a:endParaRPr sz="1600" b="0" i="0" u="none" strike="noStrike" cap="none">
              <a:solidFill>
                <a:srgbClr val="002060"/>
              </a:solidFill>
              <a:latin typeface="Calibri"/>
              <a:ea typeface="Calibri"/>
              <a:cs typeface="Calibri"/>
              <a:sym typeface="Calibri"/>
            </a:endParaRPr>
          </a:p>
        </p:txBody>
      </p:sp>
      <p:sp>
        <p:nvSpPr>
          <p:cNvPr id="176" name="Google Shape;176;p23"/>
          <p:cNvSpPr txBox="1"/>
          <p:nvPr/>
        </p:nvSpPr>
        <p:spPr>
          <a:xfrm>
            <a:off x="618698" y="3386359"/>
            <a:ext cx="2000250" cy="106873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2060"/>
              </a:buClr>
              <a:buSzPts val="2800"/>
              <a:buFont typeface="Arial"/>
              <a:buChar char="•"/>
            </a:pPr>
            <a:r>
              <a:rPr lang="it-IT" sz="2800" b="0" i="0" u="none" strike="noStrike" cap="none">
                <a:solidFill>
                  <a:srgbClr val="002060"/>
                </a:solidFill>
                <a:latin typeface="Calibri"/>
                <a:ea typeface="Calibri"/>
                <a:cs typeface="Calibri"/>
                <a:sym typeface="Calibri"/>
              </a:rPr>
              <a:t>SERVIZIO TECNICO</a:t>
            </a:r>
            <a:endParaRPr/>
          </a:p>
        </p:txBody>
      </p:sp>
      <p:sp>
        <p:nvSpPr>
          <p:cNvPr id="177" name="Google Shape;177;p23"/>
          <p:cNvSpPr txBox="1"/>
          <p:nvPr/>
        </p:nvSpPr>
        <p:spPr>
          <a:xfrm>
            <a:off x="2857071" y="2386531"/>
            <a:ext cx="8277225" cy="74012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2060"/>
              </a:buClr>
              <a:buSzPts val="1600"/>
              <a:buFont typeface="Arial"/>
              <a:buNone/>
            </a:pPr>
            <a:r>
              <a:rPr lang="it-IT" sz="1600" b="1" i="0" u="none" strike="noStrike" cap="none">
                <a:solidFill>
                  <a:srgbClr val="002060"/>
                </a:solidFill>
                <a:latin typeface="Calibri"/>
                <a:ea typeface="Calibri"/>
                <a:cs typeface="Calibri"/>
                <a:sym typeface="Calibri"/>
              </a:rPr>
              <a:t>CALL YOUR COUNTRY HOME </a:t>
            </a:r>
            <a:r>
              <a:rPr lang="it-IT" sz="1600" b="0" i="0" u="none" strike="noStrike" cap="none">
                <a:solidFill>
                  <a:srgbClr val="002060"/>
                </a:solidFill>
                <a:latin typeface="Calibri"/>
                <a:ea typeface="Calibri"/>
                <a:cs typeface="Calibri"/>
                <a:sym typeface="Calibri"/>
              </a:rPr>
              <a:t>è L'opzione CHE prevede chiamate illimitate verso un elenco di paesi esteri al costo di </a:t>
            </a:r>
            <a:r>
              <a:rPr lang="it-IT" sz="1600" b="1" i="0" u="none" strike="noStrike" cap="none">
                <a:solidFill>
                  <a:srgbClr val="002060"/>
                </a:solidFill>
                <a:latin typeface="Calibri"/>
                <a:ea typeface="Calibri"/>
                <a:cs typeface="Calibri"/>
                <a:sym typeface="Calibri"/>
              </a:rPr>
              <a:t>5€/mese</a:t>
            </a:r>
            <a:endParaRPr/>
          </a:p>
        </p:txBody>
      </p:sp>
      <p:sp>
        <p:nvSpPr>
          <p:cNvPr id="178" name="Google Shape;178;p23"/>
          <p:cNvSpPr txBox="1"/>
          <p:nvPr/>
        </p:nvSpPr>
        <p:spPr>
          <a:xfrm>
            <a:off x="609171" y="2435668"/>
            <a:ext cx="1971675" cy="773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2060"/>
              </a:buClr>
              <a:buSzPts val="2800"/>
              <a:buFont typeface="Arial"/>
              <a:buChar char="•"/>
            </a:pPr>
            <a:r>
              <a:rPr lang="it-IT" sz="2800" b="0" i="0" u="none" strike="noStrike" cap="none">
                <a:solidFill>
                  <a:srgbClr val="002060"/>
                </a:solidFill>
                <a:latin typeface="Calibri"/>
                <a:ea typeface="Calibri"/>
                <a:cs typeface="Calibri"/>
                <a:sym typeface="Calibri"/>
              </a:rPr>
              <a:t>CYC HOME</a:t>
            </a:r>
            <a:endParaRPr/>
          </a:p>
        </p:txBody>
      </p:sp>
      <p:sp>
        <p:nvSpPr>
          <p:cNvPr id="179" name="Google Shape;179;p23"/>
          <p:cNvSpPr txBox="1"/>
          <p:nvPr/>
        </p:nvSpPr>
        <p:spPr>
          <a:xfrm>
            <a:off x="618702" y="4632326"/>
            <a:ext cx="2009776" cy="91555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ts val="2800"/>
              <a:buFont typeface="Arial"/>
              <a:buNone/>
            </a:pPr>
            <a:r>
              <a:rPr lang="it-IT" sz="2800" b="0" i="0" u="none" strike="noStrike" cap="none">
                <a:solidFill>
                  <a:srgbClr val="002060"/>
                </a:solidFill>
                <a:latin typeface="Calibri"/>
                <a:ea typeface="Calibri"/>
                <a:cs typeface="Calibri"/>
                <a:sym typeface="Calibri"/>
              </a:rPr>
              <a:t>PIU’ SICURI CASA</a:t>
            </a:r>
            <a:endParaRPr/>
          </a:p>
        </p:txBody>
      </p:sp>
      <p:sp>
        <p:nvSpPr>
          <p:cNvPr id="180" name="Google Shape;180;p23"/>
          <p:cNvSpPr txBox="1"/>
          <p:nvPr/>
        </p:nvSpPr>
        <p:spPr>
          <a:xfrm>
            <a:off x="2857071" y="4663047"/>
            <a:ext cx="8277225" cy="91555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2060"/>
              </a:buClr>
              <a:buSzPts val="1600"/>
              <a:buFont typeface="Arial"/>
              <a:buNone/>
            </a:pPr>
            <a:r>
              <a:rPr lang="it-IT" sz="1600" b="0" i="0" u="none" strike="noStrike" cap="none">
                <a:solidFill>
                  <a:srgbClr val="002060"/>
                </a:solidFill>
                <a:latin typeface="Calibri"/>
                <a:ea typeface="Calibri"/>
                <a:cs typeface="Calibri"/>
                <a:sym typeface="Calibri"/>
              </a:rPr>
              <a:t>a soli 1,99€ in più al mese e il primo mese gratuito, le permette di proteggere la rete di casa e tutti i dispostivi ad essa connessi.</a:t>
            </a:r>
            <a:endParaRPr/>
          </a:p>
        </p:txBody>
      </p:sp>
    </p:spTree>
  </p:cSld>
  <p:clrMapOvr>
    <a:masterClrMapping/>
  </p:clrMapOvr>
</p:sld>
</file>

<file path=ppt/theme/theme1.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1918</Words>
  <Application>Microsoft Office PowerPoint</Application>
  <PresentationFormat>Widescreen</PresentationFormat>
  <Paragraphs>82</Paragraphs>
  <Slides>9</Slides>
  <Notes>9</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9</vt:i4>
      </vt:variant>
    </vt:vector>
  </HeadingPairs>
  <TitlesOfParts>
    <vt:vector size="14" baseType="lpstr">
      <vt:lpstr>Montserrat Black</vt:lpstr>
      <vt:lpstr>Calibri</vt:lpstr>
      <vt:lpstr>Arial</vt:lpstr>
      <vt:lpstr>Montserrat</vt:lpstr>
      <vt:lpstr>Tema di Office</vt:lpstr>
      <vt:lpstr>FTTH OPEN FIBER</vt:lpstr>
      <vt:lpstr>FTTH EXTRA</vt:lpstr>
      <vt:lpstr>INTERNET 100/200</vt:lpstr>
      <vt:lpstr>FTTH AREE BIANCHE</vt:lpstr>
      <vt:lpstr>SUPER INTERNET CASA FWA 5G OUTDOOR</vt:lpstr>
      <vt:lpstr>SUPER INTERNET CASA FWA 5G INDOOR</vt:lpstr>
      <vt:lpstr>INTERNET 100/200 NGA</vt:lpstr>
      <vt:lpstr>Presentazione standard di PowerPoint</vt:lpstr>
      <vt:lpstr>OPZIONI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Claudia Martinenghi</cp:lastModifiedBy>
  <cp:revision>1</cp:revision>
  <dcterms:modified xsi:type="dcterms:W3CDTF">2026-10-05T13:00:10Z</dcterms:modified>
</cp:coreProperties>
</file>