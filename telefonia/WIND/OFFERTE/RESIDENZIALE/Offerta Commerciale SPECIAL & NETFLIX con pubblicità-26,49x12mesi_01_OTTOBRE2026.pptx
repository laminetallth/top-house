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28" name="Shape 28"/>
        <p:cNvGrpSpPr/>
        <p:nvPr/>
      </p:nvGrpSpPr>
      <p:grpSpPr>
        <a:xfrm>
          <a:off x="0" y="0"/>
          <a:ext cx="0" cy="0"/>
          <a:chOff x="0" y="0"/>
          <a:chExt cx="0" cy="0"/>
        </a:xfrm>
      </p:grpSpPr>
      <p:sp>
        <p:nvSpPr>
          <p:cNvPr id="29" name="Google Shape;29;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0" y="72737"/>
            <a:ext cx="11887199" cy="3833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2200"/>
              <a:buFont typeface="Calibri"/>
              <a:buNone/>
            </a:pPr>
            <a:r>
              <a:rPr b="1" lang="it-IT" sz="2200">
                <a:solidFill>
                  <a:srgbClr val="002060"/>
                </a:solidFill>
              </a:rPr>
              <a:t>FTTH OPEN FIBER/EXTRA &amp; NETFLIX con pubblicità + GO UNLIMITED FIRE+ 33,48€ per 12 mesi poi 38,48€</a:t>
            </a:r>
            <a:endParaRPr/>
          </a:p>
        </p:txBody>
      </p:sp>
      <p:sp>
        <p:nvSpPr>
          <p:cNvPr id="89" name="Google Shape;89;p13"/>
          <p:cNvSpPr txBox="1"/>
          <p:nvPr>
            <p:ph idx="2" type="body"/>
          </p:nvPr>
        </p:nvSpPr>
        <p:spPr>
          <a:xfrm>
            <a:off x="0" y="1273021"/>
            <a:ext cx="11807386" cy="55849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2060"/>
              </a:buClr>
              <a:buSzPts val="1600"/>
              <a:buNone/>
            </a:pPr>
            <a:r>
              <a:rPr b="1" lang="it-IT" sz="1600">
                <a:solidFill>
                  <a:srgbClr val="002060"/>
                </a:solidFill>
              </a:rPr>
              <a:t>SUPER FIBRA &amp; NETFLIX con pubblicità </a:t>
            </a:r>
            <a:r>
              <a:rPr lang="it-IT" sz="1600">
                <a:solidFill>
                  <a:srgbClr val="1F3864"/>
                </a:solidFill>
              </a:rPr>
              <a:t>con modem WI-FI7 prevede navigazione senza limiti fino a 2,5 Gigabit a </a:t>
            </a:r>
            <a:r>
              <a:rPr b="1" lang="it-IT" sz="1600">
                <a:solidFill>
                  <a:srgbClr val="1F3864"/>
                </a:solidFill>
              </a:rPr>
              <a:t>26,49€/mese per 12 mesi, poi 31,49€ </a:t>
            </a:r>
            <a:r>
              <a:rPr lang="it-IT" sz="1600">
                <a:solidFill>
                  <a:srgbClr val="1F3864"/>
                </a:solidFill>
              </a:rPr>
              <a:t>con chiamate a 0 cent./minuto e scatto alla risposta di 23 centesimi verso numeri fissi e mobili nazionali e modem e assistenza inclusi, </a:t>
            </a:r>
            <a:r>
              <a:rPr b="1" lang="it-IT" sz="1600">
                <a:solidFill>
                  <a:srgbClr val="1F3864"/>
                </a:solidFill>
              </a:rPr>
              <a:t>ad eccezione dell’anticipo del Modem di 10€</a:t>
            </a:r>
            <a:r>
              <a:rPr lang="it-IT" sz="1600">
                <a:solidFill>
                  <a:srgbClr val="1F3864"/>
                </a:solidFill>
              </a:rPr>
              <a:t>.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di servizio e Prime e 5,99 euro di modem, dal 13° mese, da 25,50 euro di servizio e 5,99 euro di modem, dal 49° mese, da 31,49 euro di servizio </a:t>
            </a:r>
            <a:endParaRPr/>
          </a:p>
          <a:p>
            <a:pPr indent="0" lvl="0" marL="0" rtl="0" algn="just">
              <a:lnSpc>
                <a:spcPct val="90000"/>
              </a:lnSpc>
              <a:spcBef>
                <a:spcPts val="1800"/>
              </a:spcBef>
              <a:spcAft>
                <a:spcPts val="0"/>
              </a:spcAft>
              <a:buClr>
                <a:schemeClr val="accent6"/>
              </a:buClr>
              <a:buSzPts val="1500"/>
              <a:buNone/>
            </a:pPr>
            <a:r>
              <a:rPr b="1" lang="it-IT" sz="1500">
                <a:solidFill>
                  <a:schemeClr val="accent6"/>
                </a:solidFill>
              </a:rPr>
              <a:t>in caso di aggiunta opzione Più Sicuri Casa: </a:t>
            </a:r>
            <a:r>
              <a:rPr b="1" lang="it-IT" sz="1500" u="sng">
                <a:solidFill>
                  <a:schemeClr val="hlink"/>
                </a:solidFill>
                <a:hlinkClick action="ppaction://hlinksldjump" r:id="rId3"/>
              </a:rPr>
              <a:t>CLICCA QUI</a:t>
            </a:r>
            <a:endParaRPr sz="1500">
              <a:solidFill>
                <a:srgbClr val="1F3864"/>
              </a:solidFill>
            </a:endParaRPr>
          </a:p>
          <a:p>
            <a:pPr indent="0" lvl="0" marL="0" rtl="0" algn="l">
              <a:lnSpc>
                <a:spcPct val="90000"/>
              </a:lnSpc>
              <a:spcBef>
                <a:spcPts val="1000"/>
              </a:spcBef>
              <a:spcAft>
                <a:spcPts val="0"/>
              </a:spcAft>
              <a:buClr>
                <a:schemeClr val="accent6"/>
              </a:buClr>
              <a:buSzPts val="1500"/>
              <a:buNone/>
            </a:pPr>
            <a:r>
              <a:rPr b="1" lang="it-IT" sz="1500">
                <a:solidFill>
                  <a:schemeClr val="accent6"/>
                </a:solidFill>
              </a:rPr>
              <a:t>in caso di aggiunta opzione Più Sicuri Mobile: </a:t>
            </a:r>
            <a:r>
              <a:rPr b="1" lang="it-IT" sz="1500" u="sng">
                <a:solidFill>
                  <a:schemeClr val="hlink"/>
                </a:solidFill>
                <a:hlinkClick action="ppaction://hlinksldjump" r:id="rId4"/>
              </a:rPr>
              <a:t>CLICCA QUI</a:t>
            </a:r>
            <a:endParaRPr sz="1500">
              <a:solidFill>
                <a:srgbClr val="1F3864"/>
              </a:solidFill>
            </a:endParaRPr>
          </a:p>
          <a:p>
            <a:pPr indent="0" lvl="0" marL="0" rtl="0" algn="just">
              <a:lnSpc>
                <a:spcPct val="90000"/>
              </a:lnSpc>
              <a:spcBef>
                <a:spcPts val="1000"/>
              </a:spcBef>
              <a:spcAft>
                <a:spcPts val="0"/>
              </a:spcAft>
              <a:buClr>
                <a:schemeClr val="accent6"/>
              </a:buClr>
              <a:buSzPts val="1500"/>
              <a:buNone/>
            </a:pPr>
            <a:r>
              <a:rPr b="1" lang="it-IT" sz="1500">
                <a:solidFill>
                  <a:schemeClr val="accent6"/>
                </a:solidFill>
              </a:rPr>
              <a:t>in caso di aggiunta opzione Più Sicuri Mobile PRO: </a:t>
            </a:r>
            <a:r>
              <a:rPr b="1" lang="it-IT" sz="1500" u="sng">
                <a:solidFill>
                  <a:schemeClr val="hlink"/>
                </a:solidFill>
                <a:hlinkClick action="ppaction://hlinksldjump" r:id="rId5"/>
              </a:rPr>
              <a:t>CLICCA QUI</a:t>
            </a:r>
            <a:endParaRPr b="1" sz="1500">
              <a:solidFill>
                <a:srgbClr val="1F3864"/>
              </a:solidFill>
            </a:endParaRPr>
          </a:p>
          <a:p>
            <a:pPr indent="0" lvl="0" marL="0" rtl="0" algn="just">
              <a:lnSpc>
                <a:spcPct val="90000"/>
              </a:lnSpc>
              <a:spcBef>
                <a:spcPts val="1000"/>
              </a:spcBef>
              <a:spcAft>
                <a:spcPts val="0"/>
              </a:spcAft>
              <a:buClr>
                <a:schemeClr val="accent6"/>
              </a:buClr>
              <a:buSzPts val="1500"/>
              <a:buNone/>
            </a:pPr>
            <a:r>
              <a:rPr b="1" lang="it-IT" sz="1500">
                <a:solidFill>
                  <a:schemeClr val="accent6"/>
                </a:solidFill>
              </a:rPr>
              <a:t>in caso di aggiunta opzione VOCE UNLIMITED: </a:t>
            </a:r>
            <a:r>
              <a:rPr b="1" lang="it-IT" sz="1500" u="sng">
                <a:solidFill>
                  <a:schemeClr val="hlink"/>
                </a:solidFill>
                <a:hlinkClick action="ppaction://hlinksldjump" r:id="rId6"/>
              </a:rPr>
              <a:t>CLICCA QUI</a:t>
            </a:r>
            <a:endParaRPr b="1" sz="1500">
              <a:solidFill>
                <a:srgbClr val="1F3864"/>
              </a:solidFill>
            </a:endParaRPr>
          </a:p>
          <a:p>
            <a:pPr indent="0" lvl="0" marL="0" rtl="0" algn="just">
              <a:lnSpc>
                <a:spcPct val="90000"/>
              </a:lnSpc>
              <a:spcBef>
                <a:spcPts val="1000"/>
              </a:spcBef>
              <a:spcAft>
                <a:spcPts val="0"/>
              </a:spcAft>
              <a:buClr>
                <a:schemeClr val="dk1"/>
              </a:buClr>
              <a:buSzPts val="1500"/>
              <a:buNone/>
            </a:pPr>
            <a:r>
              <a:t/>
            </a:r>
            <a:endParaRPr sz="1500">
              <a:solidFill>
                <a:srgbClr val="1F3864"/>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+ 5G NEW </a:t>
            </a:r>
            <a:r>
              <a:rPr b="1" lang="it-IT" sz="1600" u="sng">
                <a:solidFill>
                  <a:schemeClr val="hlink"/>
                </a:solidFill>
                <a:hlinkClick action="ppaction://hlinksldjump" r:id="rId7"/>
              </a:rPr>
              <a:t>CLICCA QUI</a:t>
            </a:r>
            <a:endParaRPr b="1" sz="1600">
              <a:solidFill>
                <a:srgbClr val="002060"/>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EASY PAY ONLINE </a:t>
            </a:r>
            <a:r>
              <a:rPr b="1" lang="it-IT" sz="1600" u="sng">
                <a:solidFill>
                  <a:schemeClr val="hlink"/>
                </a:solidFill>
                <a:hlinkClick action="ppaction://hlinksldjump" r:id="rId8"/>
              </a:rPr>
              <a:t>CLICCA QUI</a:t>
            </a:r>
            <a:endParaRPr b="1" sz="1600">
              <a:solidFill>
                <a:srgbClr val="002060"/>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+ 5G NEW EASY PAY ONLINE </a:t>
            </a:r>
            <a:r>
              <a:rPr b="1" lang="it-IT" sz="1600" u="sng">
                <a:solidFill>
                  <a:schemeClr val="hlink"/>
                </a:solidFill>
                <a:hlinkClick action="ppaction://hlinksldjump" r:id="rId9"/>
              </a:rPr>
              <a:t>CLICCA QUI</a:t>
            </a:r>
            <a:endParaRPr sz="1600">
              <a:solidFill>
                <a:srgbClr val="002060"/>
              </a:solidFill>
            </a:endParaRPr>
          </a:p>
          <a:p>
            <a:pPr indent="0" lvl="0" marL="0" rtl="0" algn="l">
              <a:lnSpc>
                <a:spcPct val="90000"/>
              </a:lnSpc>
              <a:spcBef>
                <a:spcPts val="1000"/>
              </a:spcBef>
              <a:spcAft>
                <a:spcPts val="0"/>
              </a:spcAft>
              <a:buClr>
                <a:schemeClr val="dk1"/>
              </a:buClr>
              <a:buSzPts val="1500"/>
              <a:buNone/>
            </a:pPr>
            <a:r>
              <a:t/>
            </a:r>
            <a:endParaRPr sz="15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p:txBody>
      </p:sp>
      <p:sp>
        <p:nvSpPr>
          <p:cNvPr id="90" name="Google Shape;90;p13"/>
          <p:cNvSpPr txBox="1"/>
          <p:nvPr/>
        </p:nvSpPr>
        <p:spPr>
          <a:xfrm>
            <a:off x="0" y="672879"/>
            <a:ext cx="11887199" cy="38331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2060"/>
              </a:buClr>
              <a:buSzPts val="2200"/>
              <a:buFont typeface="Calibri"/>
              <a:buNone/>
            </a:pPr>
            <a:r>
              <a:rPr b="1" i="0" lang="it-IT" sz="2200" u="none" cap="none" strike="noStrike">
                <a:solidFill>
                  <a:srgbClr val="002060"/>
                </a:solidFill>
                <a:latin typeface="Calibri"/>
                <a:ea typeface="Calibri"/>
                <a:cs typeface="Calibri"/>
                <a:sym typeface="Calibri"/>
              </a:rPr>
              <a:t>FTTH OPEN FIBER/EXTRA &amp; NETFLIX con pubblicità + GO UNLIMITED FIRE+ 5G NEW 34,48€ per 12 mesi poi 39,48€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0" y="0"/>
            <a:ext cx="12646152"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Calibri"/>
              <a:buNone/>
            </a:pPr>
            <a:r>
              <a:rPr b="1" lang="it-IT" sz="2200">
                <a:solidFill>
                  <a:srgbClr val="002060"/>
                </a:solidFill>
              </a:rPr>
              <a:t>INTERNET 100/200 &amp; NETFLIX con pubblicità + GO UNLIMITED FIRE+ 33,48€ per 12 mesi poi 38,48€</a:t>
            </a:r>
            <a:endParaRPr/>
          </a:p>
        </p:txBody>
      </p:sp>
      <p:sp>
        <p:nvSpPr>
          <p:cNvPr id="96" name="Google Shape;96;p14"/>
          <p:cNvSpPr txBox="1"/>
          <p:nvPr>
            <p:ph idx="2" type="body"/>
          </p:nvPr>
        </p:nvSpPr>
        <p:spPr>
          <a:xfrm>
            <a:off x="0" y="1284790"/>
            <a:ext cx="11976598" cy="5451676"/>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2060"/>
              </a:buClr>
              <a:buSzPts val="1600"/>
              <a:buNone/>
            </a:pPr>
            <a:r>
              <a:rPr b="1" lang="it-IT" sz="1600">
                <a:solidFill>
                  <a:srgbClr val="002060"/>
                </a:solidFill>
              </a:rPr>
              <a:t>INTERNET 100/200 &amp; NETFLIX con pubblicità </a:t>
            </a:r>
            <a:r>
              <a:rPr lang="it-IT" sz="1600">
                <a:solidFill>
                  <a:srgbClr val="1F3864"/>
                </a:solidFill>
              </a:rPr>
              <a:t>con modem WI-FI7 prevede navigazione senza limiti fino a </a:t>
            </a:r>
            <a:r>
              <a:rPr b="1" lang="it-IT" sz="1600">
                <a:solidFill>
                  <a:srgbClr val="1F3864"/>
                </a:solidFill>
              </a:rPr>
              <a:t>100/200 Mega a 26,49€/mese per 12 mesi, poi 31,49€ </a:t>
            </a:r>
            <a:r>
              <a:rPr lang="it-IT" sz="1600">
                <a:solidFill>
                  <a:srgbClr val="002060"/>
                </a:solidFill>
              </a:rPr>
              <a:t>con chiamate a 0 cent./minuto e scatto alla risposta di 23 centesimi verso numeri fissi e mobili nazionali e modem e assistenza inclusi,</a:t>
            </a:r>
            <a:r>
              <a:rPr lang="it-IT" sz="1600">
                <a:solidFill>
                  <a:srgbClr val="1F3864"/>
                </a:solidFill>
              </a:rPr>
              <a:t> </a:t>
            </a:r>
            <a:r>
              <a:rPr b="1" lang="it-IT" sz="1600">
                <a:solidFill>
                  <a:srgbClr val="1F3864"/>
                </a:solidFill>
              </a:rPr>
              <a:t>ad eccezione dell’anticipo del Modem di 10€.</a:t>
            </a:r>
            <a:r>
              <a:rPr b="1" lang="it-IT" sz="1600">
                <a:solidFill>
                  <a:srgbClr val="002060"/>
                </a:solidFill>
              </a:rPr>
              <a:t> </a:t>
            </a:r>
            <a:r>
              <a:rPr lang="it-IT" sz="1600">
                <a:solidFill>
                  <a:srgbClr val="002060"/>
                </a:solidFill>
              </a:rPr>
              <a:t>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 </a:t>
            </a:r>
            <a:endParaRPr sz="1600">
              <a:solidFill>
                <a:srgbClr val="002060"/>
              </a:solidFill>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di servizio e Prime e 5,99 euro di modem, dal 13° mese, da 25,50 euro di servizio e 5,99 euro di modem, dal 49° mese, da 31,49 euro di servizio </a:t>
            </a:r>
            <a:endParaRPr/>
          </a:p>
          <a:p>
            <a:pPr indent="0" lvl="0" marL="0" rtl="0" algn="just">
              <a:lnSpc>
                <a:spcPct val="90000"/>
              </a:lnSpc>
              <a:spcBef>
                <a:spcPts val="18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l">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b="1"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b="1" sz="1600">
              <a:solidFill>
                <a:srgbClr val="1F3864"/>
              </a:solidFill>
            </a:endParaRPr>
          </a:p>
          <a:p>
            <a:pPr indent="0" lvl="0" marL="0" rtl="0" algn="just">
              <a:lnSpc>
                <a:spcPct val="90000"/>
              </a:lnSpc>
              <a:spcBef>
                <a:spcPts val="1000"/>
              </a:spcBef>
              <a:spcAft>
                <a:spcPts val="0"/>
              </a:spcAft>
              <a:buClr>
                <a:schemeClr val="dk1"/>
              </a:buClr>
              <a:buSzPts val="1600"/>
              <a:buNone/>
            </a:pPr>
            <a:r>
              <a:t/>
            </a:r>
            <a:endParaRPr b="1" sz="1600">
              <a:solidFill>
                <a:srgbClr val="002060"/>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+ 5G NEW </a:t>
            </a:r>
            <a:r>
              <a:rPr b="1" lang="it-IT" sz="1400" u="sng">
                <a:solidFill>
                  <a:schemeClr val="hlink"/>
                </a:solidFill>
                <a:hlinkClick action="ppaction://hlinksldjump" r:id="rId7"/>
              </a:rPr>
              <a:t>CLICCA QUI</a:t>
            </a:r>
            <a:endParaRPr b="1" sz="1400">
              <a:solidFill>
                <a:srgbClr val="002060"/>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EASY PAY ONLINE </a:t>
            </a:r>
            <a:r>
              <a:rPr b="1" lang="it-IT" sz="1400" u="sng">
                <a:solidFill>
                  <a:schemeClr val="hlink"/>
                </a:solidFill>
                <a:hlinkClick action="ppaction://hlinksldjump" r:id="rId8"/>
              </a:rPr>
              <a:t>CLICCA QUI</a:t>
            </a:r>
            <a:endParaRPr b="1" sz="1400">
              <a:solidFill>
                <a:srgbClr val="002060"/>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+ 5G NEW EASY PAY ONLINE </a:t>
            </a:r>
            <a:r>
              <a:rPr b="1" lang="it-IT" sz="1400" u="sng">
                <a:solidFill>
                  <a:schemeClr val="hlink"/>
                </a:solidFill>
                <a:hlinkClick action="ppaction://hlinksldjump" r:id="rId9"/>
              </a:rPr>
              <a:t>CLICCA QUI</a:t>
            </a:r>
            <a:endParaRPr sz="14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1F3864"/>
              </a:solidFill>
            </a:endParaRPr>
          </a:p>
          <a:p>
            <a:pPr indent="0" lvl="0" marL="0" rtl="0" algn="just">
              <a:lnSpc>
                <a:spcPct val="90000"/>
              </a:lnSpc>
              <a:spcBef>
                <a:spcPts val="1000"/>
              </a:spcBef>
              <a:spcAft>
                <a:spcPts val="0"/>
              </a:spcAft>
              <a:buClr>
                <a:srgbClr val="1F3864"/>
              </a:buClr>
              <a:buSzPts val="1400"/>
              <a:buNone/>
            </a:pPr>
            <a:r>
              <a:rPr lang="it-IT" sz="1400">
                <a:solidFill>
                  <a:srgbClr val="1F3864"/>
                </a:solidFill>
              </a:rPr>
              <a:t>. </a:t>
            </a:r>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p:txBody>
      </p:sp>
      <p:sp>
        <p:nvSpPr>
          <p:cNvPr id="97" name="Google Shape;97;p14"/>
          <p:cNvSpPr txBox="1"/>
          <p:nvPr/>
        </p:nvSpPr>
        <p:spPr>
          <a:xfrm>
            <a:off x="0" y="711199"/>
            <a:ext cx="12646152" cy="41926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2060"/>
              </a:buClr>
              <a:buSzPts val="2200"/>
              <a:buFont typeface="Calibri"/>
              <a:buNone/>
            </a:pPr>
            <a:r>
              <a:rPr b="1" i="0" lang="it-IT" sz="2200" u="none" cap="none" strike="noStrike">
                <a:solidFill>
                  <a:srgbClr val="002060"/>
                </a:solidFill>
                <a:latin typeface="Calibri"/>
                <a:ea typeface="Calibri"/>
                <a:cs typeface="Calibri"/>
                <a:sym typeface="Calibri"/>
              </a:rPr>
              <a:t>INTERNET 100/200 &amp; NETFLIX con pubblicità + GO UNLIMITED FIRE+ 5G NEW 34,48€ per 12 mesi poi 39,48€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0" y="-30984"/>
            <a:ext cx="12109807"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000"/>
              <a:buFont typeface="Calibri"/>
              <a:buNone/>
            </a:pPr>
            <a:r>
              <a:rPr b="1" lang="it-IT" sz="2000">
                <a:solidFill>
                  <a:srgbClr val="002060"/>
                </a:solidFill>
              </a:rPr>
              <a:t>SUPER FIBRA FTTH AREE BIANCHE &amp; NETFLIX con pubblicità + GO UNLIMITED FIRE+ 33,48€ per 12 mesi poi 38,48€</a:t>
            </a:r>
            <a:endParaRPr/>
          </a:p>
        </p:txBody>
      </p:sp>
      <p:sp>
        <p:nvSpPr>
          <p:cNvPr id="103" name="Google Shape;103;p15"/>
          <p:cNvSpPr txBox="1"/>
          <p:nvPr>
            <p:ph idx="2" type="body"/>
          </p:nvPr>
        </p:nvSpPr>
        <p:spPr>
          <a:xfrm>
            <a:off x="-1" y="1205344"/>
            <a:ext cx="12109808" cy="5606355"/>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FIBRA AREE BIANCHE &amp; NETFLIX </a:t>
            </a:r>
            <a:r>
              <a:rPr lang="it-IT" sz="1600">
                <a:solidFill>
                  <a:srgbClr val="1F3864"/>
                </a:solidFill>
              </a:rPr>
              <a:t>con pubblicità con modem WI-FI 7 prevede navigazione senza limiti fino a 1 Giga a </a:t>
            </a:r>
            <a:r>
              <a:rPr b="1" lang="it-IT" sz="1600">
                <a:solidFill>
                  <a:srgbClr val="1F3864"/>
                </a:solidFill>
              </a:rPr>
              <a:t>26,49€/mese per 12 mesi e poi a 31,49€/mese</a:t>
            </a:r>
            <a:r>
              <a:rPr lang="it-IT" sz="1600">
                <a:solidFill>
                  <a:srgbClr val="1F3864"/>
                </a:solidFill>
              </a:rPr>
              <a:t> con chiamate a 0 cent./minuto e scatto alla risposta di 23 centesimi verso numeri fissi e mobili nazionali e modem e assistenza inclusi, </a:t>
            </a:r>
            <a:r>
              <a:rPr b="1" lang="it-IT" sz="1600">
                <a:solidFill>
                  <a:srgbClr val="1F3864"/>
                </a:solidFill>
              </a:rPr>
              <a:t>ad eccezione dell’anticipo del Modem di 10€</a:t>
            </a:r>
            <a:r>
              <a:rPr lang="it-IT" sz="1600">
                <a:solidFill>
                  <a:srgbClr val="1F3864"/>
                </a:solidFill>
              </a:rPr>
              <a:t>.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di servizio e Prime e 5,99 euro di modem, dal 13° mese, da 25,50 euro di servizio e 5,99 euro di modem, dal 49° mese, da 31,49 euro di servizio </a:t>
            </a:r>
            <a:endParaRPr/>
          </a:p>
          <a:p>
            <a:pPr indent="0" lvl="0" marL="0" rtl="0" algn="just">
              <a:lnSpc>
                <a:spcPct val="90000"/>
              </a:lnSpc>
              <a:spcBef>
                <a:spcPts val="1800"/>
              </a:spcBef>
              <a:spcAft>
                <a:spcPts val="0"/>
              </a:spcAft>
              <a:buClr>
                <a:srgbClr val="1F3864"/>
              </a:buClr>
              <a:buSzPts val="1600"/>
              <a:buNone/>
            </a:pPr>
            <a:r>
              <a:rPr lang="it-IT" sz="1600">
                <a:solidFill>
                  <a:srgbClr val="1F3864"/>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 </a:t>
            </a:r>
            <a:endParaRPr/>
          </a:p>
          <a:p>
            <a:pPr indent="0" lvl="0" marL="0" rtl="0" algn="just">
              <a:lnSpc>
                <a:spcPct val="90000"/>
              </a:lnSpc>
              <a:spcBef>
                <a:spcPts val="1800"/>
              </a:spcBef>
              <a:spcAft>
                <a:spcPts val="0"/>
              </a:spcAft>
              <a:buClr>
                <a:schemeClr val="accent6"/>
              </a:buClr>
              <a:buSzPts val="1200"/>
              <a:buNone/>
            </a:pPr>
            <a:r>
              <a:rPr b="1" lang="it-IT" sz="1200">
                <a:solidFill>
                  <a:schemeClr val="accent6"/>
                </a:solidFill>
              </a:rPr>
              <a:t>in caso di aggiunta opzione Più Sicuri Casa: </a:t>
            </a:r>
            <a:r>
              <a:rPr b="1" lang="it-IT" sz="1200" u="sng">
                <a:solidFill>
                  <a:schemeClr val="hlink"/>
                </a:solidFill>
                <a:hlinkClick action="ppaction://hlinksldjump" r:id="rId3"/>
              </a:rPr>
              <a:t>CLICCA QUI</a:t>
            </a:r>
            <a:endParaRPr sz="1200">
              <a:solidFill>
                <a:srgbClr val="1F3864"/>
              </a:solidFill>
            </a:endParaRPr>
          </a:p>
          <a:p>
            <a:pPr indent="0" lvl="0" marL="0" rtl="0" algn="l">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a:t>
            </a:r>
            <a:r>
              <a:rPr b="1" lang="it-IT" sz="1200" u="sng">
                <a:solidFill>
                  <a:schemeClr val="hlink"/>
                </a:solidFill>
                <a:hlinkClick action="ppaction://hlinksldjump" r:id="rId4"/>
              </a:rPr>
              <a:t>CLICCA QUI</a:t>
            </a:r>
            <a:endParaRPr sz="1200">
              <a:solidFill>
                <a:srgbClr val="1F3864"/>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PRO: </a:t>
            </a:r>
            <a:r>
              <a:rPr b="1" lang="it-IT" sz="1200" u="sng">
                <a:solidFill>
                  <a:schemeClr val="hlink"/>
                </a:solidFill>
                <a:hlinkClick action="ppaction://hlinksldjump" r:id="rId5"/>
              </a:rPr>
              <a:t>CLICCA QUI</a:t>
            </a:r>
            <a:endParaRPr b="1" sz="1200">
              <a:solidFill>
                <a:srgbClr val="1F3864"/>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VOCE UNLIMITED: </a:t>
            </a:r>
            <a:r>
              <a:rPr b="1" lang="it-IT" sz="1200" u="sng">
                <a:solidFill>
                  <a:schemeClr val="hlink"/>
                </a:solidFill>
                <a:hlinkClick action="ppaction://hlinksldjump" r:id="rId6"/>
              </a:rPr>
              <a:t>CLICCA QUI</a:t>
            </a:r>
            <a:endParaRPr sz="1200">
              <a:solidFill>
                <a:srgbClr val="1F3864"/>
              </a:solidFill>
            </a:endParaRPr>
          </a:p>
          <a:p>
            <a:pPr indent="0" lvl="0" marL="0" rtl="0" algn="just">
              <a:lnSpc>
                <a:spcPct val="90000"/>
              </a:lnSpc>
              <a:spcBef>
                <a:spcPts val="1000"/>
              </a:spcBef>
              <a:spcAft>
                <a:spcPts val="0"/>
              </a:spcAft>
              <a:buClr>
                <a:schemeClr val="dk1"/>
              </a:buClr>
              <a:buSzPts val="1200"/>
              <a:buNone/>
            </a:pPr>
            <a:r>
              <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a:t>
            </a:r>
            <a:r>
              <a:rPr b="1" lang="it-IT" sz="1200" u="sng">
                <a:solidFill>
                  <a:schemeClr val="hlink"/>
                </a:solidFill>
                <a:hlinkClick action="ppaction://hlinksldjump" r:id="rId7"/>
              </a:rPr>
              <a:t>CLICCA QUI</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EASY PAY ONLINE </a:t>
            </a:r>
            <a:r>
              <a:rPr b="1" lang="it-IT" sz="1200" u="sng">
                <a:solidFill>
                  <a:schemeClr val="hlink"/>
                </a:solidFill>
                <a:hlinkClick action="ppaction://hlinksldjump" r:id="rId8"/>
              </a:rPr>
              <a:t>CLICCA QUI</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EASY PAY ONLINE </a:t>
            </a:r>
            <a:r>
              <a:rPr b="1" lang="it-IT" sz="1200" u="sng">
                <a:solidFill>
                  <a:schemeClr val="hlink"/>
                </a:solidFill>
                <a:hlinkClick action="ppaction://hlinksldjump" r:id="rId9"/>
              </a:rPr>
              <a:t>CLICCA QUI</a:t>
            </a:r>
            <a:endParaRPr sz="12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p:txBody>
      </p:sp>
      <p:sp>
        <p:nvSpPr>
          <p:cNvPr id="104" name="Google Shape;104;p15"/>
          <p:cNvSpPr txBox="1"/>
          <p:nvPr/>
        </p:nvSpPr>
        <p:spPr>
          <a:xfrm>
            <a:off x="0" y="581891"/>
            <a:ext cx="12109806" cy="60413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Calibri"/>
              <a:buNone/>
            </a:pPr>
            <a:r>
              <a:rPr b="1" i="0" lang="it-IT" sz="2000" u="none" cap="none" strike="noStrike">
                <a:solidFill>
                  <a:srgbClr val="002060"/>
                </a:solidFill>
                <a:latin typeface="Calibri"/>
                <a:ea typeface="Calibri"/>
                <a:cs typeface="Calibri"/>
                <a:sym typeface="Calibri"/>
              </a:rPr>
              <a:t>SUPER FIBRA FTTH AREE BIANCHE &amp; NETFLIX con pubblicità + GO UNLIMITED FIRE+ 5G NEW 34,48€ per 12 mesi poi 39,48€</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0" y="-106807"/>
            <a:ext cx="14106418"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000"/>
              <a:buFont typeface="Calibri"/>
              <a:buNone/>
            </a:pPr>
            <a:r>
              <a:rPr b="1" lang="it-IT" sz="2000">
                <a:solidFill>
                  <a:srgbClr val="002060"/>
                </a:solidFill>
              </a:rPr>
              <a:t>SUPER INTERNET CASA FWA 5G &amp; NETFLIX con pubblicità + GO UNLIMITED FIRE+ 33,48€ per 12 mesi poi 38,48€</a:t>
            </a:r>
            <a:endParaRPr/>
          </a:p>
        </p:txBody>
      </p:sp>
      <p:sp>
        <p:nvSpPr>
          <p:cNvPr id="111" name="Google Shape;111;p16"/>
          <p:cNvSpPr txBox="1"/>
          <p:nvPr>
            <p:ph idx="2" type="body"/>
          </p:nvPr>
        </p:nvSpPr>
        <p:spPr>
          <a:xfrm>
            <a:off x="1" y="955963"/>
            <a:ext cx="12191999" cy="579812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2060"/>
              </a:buClr>
              <a:buSzPts val="1600"/>
              <a:buNone/>
            </a:pPr>
            <a:r>
              <a:rPr b="1" lang="it-IT" sz="1600">
                <a:solidFill>
                  <a:srgbClr val="002060"/>
                </a:solidFill>
              </a:rPr>
              <a:t>SUPER INTERNET CASA FWA 5G &amp; NETFLIX </a:t>
            </a:r>
            <a:r>
              <a:rPr lang="it-IT" sz="1600">
                <a:solidFill>
                  <a:srgbClr val="002060"/>
                </a:solidFill>
              </a:rPr>
              <a:t>con modem WI-FI 7 </a:t>
            </a:r>
            <a:r>
              <a:rPr lang="it-IT" sz="1600">
                <a:solidFill>
                  <a:srgbClr val="1F3864"/>
                </a:solidFill>
              </a:rPr>
              <a:t>prevede navigazione senza limiti fino a</a:t>
            </a:r>
            <a:r>
              <a:rPr b="1" lang="it-IT" sz="1600">
                <a:solidFill>
                  <a:srgbClr val="1F3864"/>
                </a:solidFill>
              </a:rPr>
              <a:t> 300 Mega a 26,49€/mese per 12 mesi, poi 31,49€ </a:t>
            </a:r>
            <a:r>
              <a:rPr lang="it-IT" sz="1600">
                <a:solidFill>
                  <a:srgbClr val="1F3864"/>
                </a:solidFill>
              </a:rPr>
              <a:t>con chiamate a 0 cent./minuto e scatto alla risposta di 23 centesimi verso numeri fissi e mobili nazionali e modem e assistenza inclusi, ad </a:t>
            </a:r>
            <a:r>
              <a:rPr b="1" lang="it-IT" sz="1600">
                <a:solidFill>
                  <a:srgbClr val="1F3864"/>
                </a:solidFill>
              </a:rPr>
              <a:t>eccezione dell’anticipo del Modem di 10€</a:t>
            </a:r>
            <a:r>
              <a:rPr lang="it-IT" sz="1600">
                <a:solidFill>
                  <a:srgbClr val="1F3864"/>
                </a:solidFill>
              </a:rPr>
              <a:t>.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13,50 euro di servizio, Prime, 3 euro di modem e 9,99€ di antenna, dal 13° mese, da 18,50 euro di servizio, 3 euro di modem e 9,99€ di antenna, dal 49° mese, da 31,49 euro di servizio </a:t>
            </a:r>
            <a:endParaRPr/>
          </a:p>
          <a:p>
            <a:pPr indent="0" lvl="0" marL="0" rtl="0" algn="just">
              <a:lnSpc>
                <a:spcPct val="90000"/>
              </a:lnSpc>
              <a:spcBef>
                <a:spcPts val="1800"/>
              </a:spcBef>
              <a:spcAft>
                <a:spcPts val="0"/>
              </a:spcAft>
              <a:buClr>
                <a:srgbClr val="1F3864"/>
              </a:buClr>
              <a:buSzPts val="1400"/>
              <a:buNone/>
            </a:pPr>
            <a:r>
              <a:rPr lang="it-IT" sz="1400">
                <a:solidFill>
                  <a:srgbClr val="1F3864"/>
                </a:solidFill>
              </a:rPr>
              <a:t>Il servizio FWA outdoor prevede l’installazione da parte di un tecnico, sarà quindi </a:t>
            </a:r>
            <a:r>
              <a:rPr b="1" lang="it-IT" sz="1400" u="sng">
                <a:solidFill>
                  <a:srgbClr val="1F3864"/>
                </a:solidFill>
              </a:rPr>
              <a:t>contattato per prendere un appuntamento per l’installazione</a:t>
            </a:r>
            <a:r>
              <a:rPr lang="it-IT" sz="1400">
                <a:solidFill>
                  <a:srgbClr val="1F3864"/>
                </a:solidFill>
              </a:rPr>
              <a:t>.</a:t>
            </a:r>
            <a:endParaRPr/>
          </a:p>
          <a:p>
            <a:pPr indent="0" lvl="0" marL="0" rtl="0" algn="just">
              <a:lnSpc>
                <a:spcPct val="90000"/>
              </a:lnSpc>
              <a:spcBef>
                <a:spcPts val="1000"/>
              </a:spcBef>
              <a:spcAft>
                <a:spcPts val="0"/>
              </a:spcAft>
              <a:buClr>
                <a:srgbClr val="1F3864"/>
              </a:buClr>
              <a:buSzPts val="1400"/>
              <a:buNone/>
            </a:pPr>
            <a:r>
              <a:rPr lang="it-IT" sz="14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Più Sicuri Casa: </a:t>
            </a:r>
            <a:r>
              <a:rPr b="1" lang="it-IT" sz="1200" u="sng">
                <a:solidFill>
                  <a:schemeClr val="hlink"/>
                </a:solidFill>
                <a:hlinkClick action="ppaction://hlinksldjump" r:id="rId3"/>
              </a:rPr>
              <a:t>CLICCA QUI</a:t>
            </a:r>
            <a:endParaRPr sz="1200">
              <a:solidFill>
                <a:srgbClr val="1F3864"/>
              </a:solidFill>
            </a:endParaRPr>
          </a:p>
          <a:p>
            <a:pPr indent="0" lvl="0" marL="0" rtl="0" algn="l">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a:t>
            </a:r>
            <a:r>
              <a:rPr b="1" lang="it-IT" sz="1200" u="sng">
                <a:solidFill>
                  <a:schemeClr val="hlink"/>
                </a:solidFill>
                <a:hlinkClick action="ppaction://hlinksldjump" r:id="rId4"/>
              </a:rPr>
              <a:t>CLICCA QUI</a:t>
            </a:r>
            <a:endParaRPr sz="1200">
              <a:solidFill>
                <a:srgbClr val="1F3864"/>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PRO: </a:t>
            </a:r>
            <a:r>
              <a:rPr b="1" lang="it-IT" sz="1200" u="sng">
                <a:solidFill>
                  <a:schemeClr val="hlink"/>
                </a:solidFill>
                <a:hlinkClick action="ppaction://hlinksldjump" r:id="rId5"/>
              </a:rPr>
              <a:t>CLICCA QUI</a:t>
            </a:r>
            <a:endParaRPr b="1" sz="1200">
              <a:solidFill>
                <a:srgbClr val="1F3864"/>
              </a:solidFill>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VOCE UNLIMITED: </a:t>
            </a:r>
            <a:r>
              <a:rPr b="1" lang="it-IT" sz="1400" u="sng">
                <a:solidFill>
                  <a:schemeClr val="hlink"/>
                </a:solidFill>
                <a:hlinkClick action="ppaction://hlinksldjump" r:id="rId6"/>
              </a:rPr>
              <a:t>CLICCA QUI</a:t>
            </a:r>
            <a:endParaRPr b="1" sz="1400">
              <a:solidFill>
                <a:srgbClr val="1F3864"/>
              </a:solidFill>
            </a:endParaRPr>
          </a:p>
          <a:p>
            <a:pPr indent="0" lvl="0" marL="0" rtl="0" algn="just">
              <a:lnSpc>
                <a:spcPct val="90000"/>
              </a:lnSpc>
              <a:spcBef>
                <a:spcPts val="1000"/>
              </a:spcBef>
              <a:spcAft>
                <a:spcPts val="0"/>
              </a:spcAft>
              <a:buClr>
                <a:schemeClr val="dk1"/>
              </a:buClr>
              <a:buSzPts val="1200"/>
              <a:buNone/>
            </a:pPr>
            <a:r>
              <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a:t>
            </a:r>
            <a:r>
              <a:rPr b="1" lang="it-IT" sz="1200" u="sng">
                <a:solidFill>
                  <a:schemeClr val="hlink"/>
                </a:solidFill>
                <a:hlinkClick action="ppaction://hlinksldjump" r:id="rId7"/>
              </a:rPr>
              <a:t>CLICCA QUI</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EASY PAY ONLINE </a:t>
            </a:r>
            <a:r>
              <a:rPr b="1" lang="it-IT" sz="1200" u="sng">
                <a:solidFill>
                  <a:schemeClr val="hlink"/>
                </a:solidFill>
                <a:hlinkClick action="ppaction://hlinksldjump" r:id="rId8"/>
              </a:rPr>
              <a:t>CLICCA QUI</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EASY PAY ONLINE </a:t>
            </a:r>
            <a:r>
              <a:rPr b="1" lang="it-IT" sz="1200" u="sng">
                <a:solidFill>
                  <a:schemeClr val="hlink"/>
                </a:solidFill>
                <a:hlinkClick action="ppaction://hlinksldjump" r:id="rId9"/>
              </a:rPr>
              <a:t>CLICCA QUI</a:t>
            </a:r>
            <a:endParaRPr sz="12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p:txBody>
      </p:sp>
      <p:sp>
        <p:nvSpPr>
          <p:cNvPr id="112" name="Google Shape;112;p16"/>
          <p:cNvSpPr txBox="1"/>
          <p:nvPr/>
        </p:nvSpPr>
        <p:spPr>
          <a:xfrm>
            <a:off x="0" y="295153"/>
            <a:ext cx="14106418" cy="7112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000"/>
              <a:buFont typeface="Calibri"/>
              <a:buNone/>
            </a:pPr>
            <a:r>
              <a:rPr b="1" i="0" lang="it-IT" sz="2000" u="none" cap="none" strike="noStrike">
                <a:solidFill>
                  <a:srgbClr val="002060"/>
                </a:solidFill>
                <a:latin typeface="Calibri"/>
                <a:ea typeface="Calibri"/>
                <a:cs typeface="Calibri"/>
                <a:sym typeface="Calibri"/>
              </a:rPr>
              <a:t>SUPER INTERNET CASA FWA 5G &amp; NETFLIX con pubblicità + GO UNLIMITED FIRE+ 5G NEW 34,48€ per 12 mesi poi 39,48€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0" y="0"/>
            <a:ext cx="14106418"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1900"/>
              <a:buFont typeface="Calibri"/>
              <a:buNone/>
            </a:pPr>
            <a:r>
              <a:rPr b="1" lang="it-IT" sz="1900">
                <a:solidFill>
                  <a:srgbClr val="002060"/>
                </a:solidFill>
              </a:rPr>
              <a:t>SUPER INTERNET CASA 5G FWA INDOOR &amp; NETFLIX con pubblicità + GO UNLIMITED FIRE+ 33,48€ per 12 mesi poi 38,48€</a:t>
            </a:r>
            <a:endParaRPr/>
          </a:p>
        </p:txBody>
      </p:sp>
      <p:sp>
        <p:nvSpPr>
          <p:cNvPr id="119" name="Google Shape;119;p17"/>
          <p:cNvSpPr txBox="1"/>
          <p:nvPr>
            <p:ph idx="2" type="body"/>
          </p:nvPr>
        </p:nvSpPr>
        <p:spPr>
          <a:xfrm>
            <a:off x="71437" y="873289"/>
            <a:ext cx="12049125" cy="5874751"/>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2060"/>
              </a:buClr>
              <a:buSzPts val="1600"/>
              <a:buNone/>
            </a:pPr>
            <a:r>
              <a:rPr b="1" lang="it-IT" sz="1600">
                <a:solidFill>
                  <a:srgbClr val="002060"/>
                </a:solidFill>
              </a:rPr>
              <a:t>SUPER INTERNET CASA 5G FWA INDOOR &amp; NETFLIX con modem WI-FI7 </a:t>
            </a:r>
            <a:r>
              <a:rPr lang="it-IT" sz="1600">
                <a:solidFill>
                  <a:srgbClr val="1F3864"/>
                </a:solidFill>
              </a:rPr>
              <a:t>prevede navigazione senza limiti fino a</a:t>
            </a:r>
            <a:r>
              <a:rPr b="1" lang="it-IT" sz="1600">
                <a:solidFill>
                  <a:srgbClr val="1F3864"/>
                </a:solidFill>
              </a:rPr>
              <a:t> 300 Mega a 26,49€/mese per 12 mesi, poi 31,49€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12 mesi di Prime </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di servizio e Prime e 5,99 euro di modem, dal 13° mese, da 25,50 euro di servizio e 5,99 euro di modem, dal 49° mese, da 31,49 euro di servizio </a:t>
            </a:r>
            <a:endParaRPr/>
          </a:p>
          <a:p>
            <a:pPr indent="0" lvl="0" marL="0" rtl="0" algn="just">
              <a:lnSpc>
                <a:spcPct val="90000"/>
              </a:lnSpc>
              <a:spcBef>
                <a:spcPts val="1800"/>
              </a:spcBef>
              <a:spcAft>
                <a:spcPts val="0"/>
              </a:spcAft>
              <a:buClr>
                <a:schemeClr val="dk1"/>
              </a:buClr>
              <a:buSzPts val="1100"/>
              <a:buNone/>
            </a:pPr>
            <a:r>
              <a:t/>
            </a:r>
            <a:endParaRPr b="1" sz="1100">
              <a:solidFill>
                <a:schemeClr val="accent6"/>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Più Sicuri Casa: </a:t>
            </a:r>
            <a:r>
              <a:rPr b="1" lang="it-IT" sz="1200" u="sng">
                <a:solidFill>
                  <a:schemeClr val="hlink"/>
                </a:solidFill>
                <a:hlinkClick action="ppaction://hlinksldjump" r:id="rId3"/>
              </a:rPr>
              <a:t>CLICCA QUI</a:t>
            </a:r>
            <a:endParaRPr sz="1200">
              <a:solidFill>
                <a:srgbClr val="1F3864"/>
              </a:solidFill>
            </a:endParaRPr>
          </a:p>
          <a:p>
            <a:pPr indent="0" lvl="0" marL="0" rtl="0" algn="l">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a:t>
            </a:r>
            <a:r>
              <a:rPr b="1" lang="it-IT" sz="1200" u="sng">
                <a:solidFill>
                  <a:schemeClr val="hlink"/>
                </a:solidFill>
                <a:hlinkClick action="ppaction://hlinksldjump" r:id="rId4"/>
              </a:rPr>
              <a:t>CLICCA QUI</a:t>
            </a:r>
            <a:endParaRPr sz="1200">
              <a:solidFill>
                <a:srgbClr val="1F3864"/>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PRO: </a:t>
            </a:r>
            <a:r>
              <a:rPr b="1" lang="it-IT" sz="1200" u="sng">
                <a:solidFill>
                  <a:schemeClr val="hlink"/>
                </a:solidFill>
                <a:hlinkClick action="ppaction://hlinksldjump" r:id="rId5"/>
              </a:rPr>
              <a:t>CLICCA QUI</a:t>
            </a:r>
            <a:endParaRPr b="1" sz="1200">
              <a:solidFill>
                <a:srgbClr val="1F3864"/>
              </a:solidFill>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VOCE UNLIMITED: </a:t>
            </a:r>
            <a:r>
              <a:rPr b="1" lang="it-IT" sz="1400" u="sng">
                <a:solidFill>
                  <a:schemeClr val="hlink"/>
                </a:solidFill>
                <a:hlinkClick action="ppaction://hlinksldjump" r:id="rId6"/>
              </a:rPr>
              <a:t>CLICCA QUI</a:t>
            </a:r>
            <a:endParaRPr b="1" sz="14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1F3864"/>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a:t>
            </a:r>
            <a:r>
              <a:rPr b="1" lang="it-IT" sz="1200" u="sng">
                <a:solidFill>
                  <a:schemeClr val="hlink"/>
                </a:solidFill>
                <a:hlinkClick action="ppaction://hlinksldjump" r:id="rId7"/>
              </a:rPr>
              <a:t>CLICCA QUI</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EASY PAY ONLINE </a:t>
            </a:r>
            <a:r>
              <a:rPr b="1" lang="it-IT" sz="1200" u="sng">
                <a:solidFill>
                  <a:schemeClr val="hlink"/>
                </a:solidFill>
                <a:hlinkClick action="ppaction://hlinksldjump" r:id="rId8"/>
              </a:rPr>
              <a:t>CLICCA QUI</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EASY PAY ONLINE </a:t>
            </a:r>
            <a:r>
              <a:rPr b="1" lang="it-IT" sz="1200" u="sng">
                <a:solidFill>
                  <a:schemeClr val="hlink"/>
                </a:solidFill>
                <a:hlinkClick action="ppaction://hlinksldjump" r:id="rId9"/>
              </a:rPr>
              <a:t>CLICCA QUI</a:t>
            </a:r>
            <a:endParaRPr sz="1200">
              <a:solidFill>
                <a:srgbClr val="002060"/>
              </a:solidFill>
            </a:endParaRPr>
          </a:p>
          <a:p>
            <a:pPr indent="0" lvl="0" marL="0" rtl="0" algn="just">
              <a:lnSpc>
                <a:spcPct val="90000"/>
              </a:lnSpc>
              <a:spcBef>
                <a:spcPts val="1000"/>
              </a:spcBef>
              <a:spcAft>
                <a:spcPts val="0"/>
              </a:spcAft>
              <a:buClr>
                <a:schemeClr val="dk1"/>
              </a:buClr>
              <a:buSzPts val="1100"/>
              <a:buNone/>
            </a:pPr>
            <a:r>
              <a:t/>
            </a:r>
            <a:endParaRPr sz="11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p:txBody>
      </p:sp>
      <p:sp>
        <p:nvSpPr>
          <p:cNvPr id="120" name="Google Shape;120;p17"/>
          <p:cNvSpPr txBox="1"/>
          <p:nvPr/>
        </p:nvSpPr>
        <p:spPr>
          <a:xfrm>
            <a:off x="0" y="295153"/>
            <a:ext cx="14106418" cy="7112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1800"/>
              <a:buFont typeface="Calibri"/>
              <a:buNone/>
            </a:pPr>
            <a:r>
              <a:rPr b="1" i="0" lang="it-IT" sz="1800" u="none" cap="none" strike="noStrike">
                <a:solidFill>
                  <a:srgbClr val="002060"/>
                </a:solidFill>
                <a:latin typeface="Calibri"/>
                <a:ea typeface="Calibri"/>
                <a:cs typeface="Calibri"/>
                <a:sym typeface="Calibri"/>
              </a:rPr>
              <a:t>SUPER INTERNET CASA 5G FWA INDOOR &amp; NETFLIX con pubblicità + GO UNLIMITED FIRE+ 5G NEW 34,48€ per 12 mesi poi 39,48€</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nvSpPr>
        <p:spPr>
          <a:xfrm>
            <a:off x="146600" y="1044617"/>
            <a:ext cx="11702143" cy="3385542"/>
          </a:xfrm>
          <a:prstGeom prst="rect">
            <a:avLst/>
          </a:prstGeom>
          <a:noFill/>
          <a:ln cap="flat" cmpd="sng" w="9525">
            <a:solidFill>
              <a:srgbClr val="00206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it-IT" sz="1400" u="none" cap="none" strike="noStrike">
                <a:solidFill>
                  <a:srgbClr val="1F3864"/>
                </a:solidFill>
                <a:latin typeface="Calibri"/>
                <a:ea typeface="Calibri"/>
                <a:cs typeface="Calibri"/>
                <a:sym typeface="Calibri"/>
              </a:rPr>
              <a:t>GO UNLIMITED FIRE + 5G NEW </a:t>
            </a:r>
            <a:r>
              <a:rPr b="0" i="0" lang="it-IT" sz="1400" u="none" cap="none" strike="noStrike">
                <a:solidFill>
                  <a:srgbClr val="1F3864"/>
                </a:solidFill>
                <a:latin typeface="Calibri"/>
                <a:ea typeface="Calibri"/>
                <a:cs typeface="Calibri"/>
                <a:sym typeface="Calibri"/>
              </a:rPr>
              <a:t>al costo di 7,99€ al mese prevede: minuti illimitati verso tutti, 200 SMS e 50 Giga in 5G alla massima velocità disponibile di 2Gbps che diventano illimitati a seguito dell'attivazione del fisso. Le ricordiamo di attivarli su Area Clienti o su APP WINDTRE. L'offerta si rinnova automaticamente ogni mese a partire dalla data di attivazione. Riceverà la nuova SIM con un credito pari al primo costo mensile dell’offerta direttamente a casa e pagherà 7,99€ al corriere. Il costo di attivazione è in promozione a 0€ INVECE DI 10€ per i clienti che mantengono attiva la SIM per 24 mesi, altrimenti l'importo di 10€ scontati nella promozione sarà addebitato sul credito residuo. I GIGA illimitati non concorrono a incrementare i GIGA disponibili a condizioni domestiche. Se alla data di rinnovo dell’offerta il credito fosse insufficiente, il traffico incluso non verrà più bloccato e, per assicurare la continuità del servizio, sarà comunque reso disponibile in anticipo per 1 giorno solare, fino alle 23:59 al costo di 0,99€. Qualora il giorno successivo il credito fosse ancora insufficiente, il traffico incluso sarà nuovamente disponibile per ulteriori 2 giorni, sempre al costo di 0,99€. </a:t>
            </a:r>
            <a:endParaRPr/>
          </a:p>
          <a:p>
            <a:pPr indent="0" lvl="0" marL="0" marR="0" rtl="0" algn="just">
              <a:lnSpc>
                <a:spcPct val="100000"/>
              </a:lnSpc>
              <a:spcBef>
                <a:spcPts val="0"/>
              </a:spcBef>
              <a:spcAft>
                <a:spcPts val="0"/>
              </a:spcAft>
              <a:buClr>
                <a:schemeClr val="dk1"/>
              </a:buClr>
              <a:buSzPts val="1400"/>
              <a:buFont typeface="Calibri"/>
              <a:buNone/>
            </a:pPr>
            <a:r>
              <a:t/>
            </a:r>
            <a:endParaRPr b="0" i="0" sz="14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Clr>
                <a:srgbClr val="1F3864"/>
              </a:buClr>
              <a:buSzPts val="1400"/>
              <a:buFont typeface="Calibri"/>
              <a:buNone/>
            </a:pPr>
            <a:r>
              <a:rPr b="1" i="0" lang="it-IT" sz="1400" u="none" cap="none" strike="noStrike">
                <a:solidFill>
                  <a:srgbClr val="1F3864"/>
                </a:solidFill>
                <a:latin typeface="Calibri"/>
                <a:ea typeface="Calibri"/>
                <a:cs typeface="Calibri"/>
                <a:sym typeface="Calibri"/>
              </a:rPr>
              <a:t>SE IL CLIENTE HA SCELTO IL PAGAMENTO TRAMITE PAY BY LINK:</a:t>
            </a:r>
            <a:endParaRPr/>
          </a:p>
          <a:p>
            <a:pPr indent="0" lvl="0" marL="0" marR="0" rtl="0" algn="just">
              <a:spcBef>
                <a:spcPts val="0"/>
              </a:spcBef>
              <a:spcAft>
                <a:spcPts val="0"/>
              </a:spcAft>
              <a:buClr>
                <a:srgbClr val="1F3864"/>
              </a:buClr>
              <a:buSzPts val="1400"/>
              <a:buFont typeface="Calibri"/>
              <a:buNone/>
            </a:pPr>
            <a:r>
              <a:rPr b="0" i="0" lang="it-IT" sz="1400" u="none" cap="none" strike="noStrike">
                <a:solidFill>
                  <a:srgbClr val="1F3864"/>
                </a:solidFill>
                <a:latin typeface="Calibri"/>
                <a:ea typeface="Calibri"/>
                <a:cs typeface="Calibri"/>
                <a:sym typeface="Calibri"/>
              </a:rPr>
              <a:t>Riceverà, direttamente a casa, la nuova SIM con un credito pari al costo del primo canone (che varia a seconda dell’offerta scelta). Per il pagamento del primo canone dell’offerta e per l’attivazione del servizio di ricarica automatica (solo se opzione scelta dal cliente) le invierò un link, al numero su cui la sto contattando, tramite il quale potrà effettuare il pagamento inserendo i dati della sua carta di credito. Il link ha una validità di 24 ore, oltre le quali non sarà più valido e l’ordine verrà annullato.</a:t>
            </a:r>
            <a:endParaRPr/>
          </a:p>
          <a:p>
            <a:pPr indent="0" lvl="0" marL="0" marR="0" rtl="0" algn="just">
              <a:lnSpc>
                <a:spcPct val="100000"/>
              </a:lnSpc>
              <a:spcBef>
                <a:spcPts val="0"/>
              </a:spcBef>
              <a:spcAft>
                <a:spcPts val="0"/>
              </a:spcAft>
              <a:buClr>
                <a:schemeClr val="dk1"/>
              </a:buClr>
              <a:buSzPts val="1000"/>
              <a:buFont typeface="Calibri"/>
              <a:buNone/>
            </a:pPr>
            <a:r>
              <a:t/>
            </a:r>
            <a:endParaRPr b="0" i="0" sz="1000" u="none" cap="none" strike="noStrike">
              <a:solidFill>
                <a:srgbClr val="1F3864"/>
              </a:solidFill>
              <a:latin typeface="Calibri"/>
              <a:ea typeface="Calibri"/>
              <a:cs typeface="Calibri"/>
              <a:sym typeface="Calibri"/>
            </a:endParaRPr>
          </a:p>
        </p:txBody>
      </p:sp>
      <p:sp>
        <p:nvSpPr>
          <p:cNvPr id="127" name="Google Shape;127;p18"/>
          <p:cNvSpPr txBox="1"/>
          <p:nvPr/>
        </p:nvSpPr>
        <p:spPr>
          <a:xfrm>
            <a:off x="146600" y="196955"/>
            <a:ext cx="6096000"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it-IT" sz="3200" u="none" cap="none" strike="noStrike">
                <a:solidFill>
                  <a:srgbClr val="1F3864"/>
                </a:solidFill>
                <a:latin typeface="Calibri"/>
                <a:ea typeface="Calibri"/>
                <a:cs typeface="Calibri"/>
                <a:sym typeface="Calibri"/>
              </a:rPr>
              <a:t>GO UNLIMITED FIRE + 5G NEW</a:t>
            </a:r>
            <a:endParaRPr b="0" i="0" sz="3200" u="none" cap="none" strike="noStrike">
              <a:solidFill>
                <a:srgbClr val="1F3864"/>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108857" y="75415"/>
            <a:ext cx="10515600" cy="708131"/>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1F3864"/>
              </a:buClr>
              <a:buSzPts val="3200"/>
              <a:buFont typeface="Calibri"/>
              <a:buNone/>
            </a:pPr>
            <a:r>
              <a:rPr lang="it-IT" sz="3200">
                <a:solidFill>
                  <a:srgbClr val="1F3864"/>
                </a:solidFill>
                <a:latin typeface="Calibri"/>
                <a:ea typeface="Calibri"/>
                <a:cs typeface="Calibri"/>
                <a:sym typeface="Calibri"/>
              </a:rPr>
              <a:t>GO UNLIMITED FIRE + EASY PAY ONLINE</a:t>
            </a:r>
            <a:endParaRPr/>
          </a:p>
        </p:txBody>
      </p:sp>
      <p:sp>
        <p:nvSpPr>
          <p:cNvPr id="134" name="Google Shape;134;p19"/>
          <p:cNvSpPr txBox="1"/>
          <p:nvPr>
            <p:ph idx="1" type="body"/>
          </p:nvPr>
        </p:nvSpPr>
        <p:spPr>
          <a:xfrm>
            <a:off x="141511" y="1088569"/>
            <a:ext cx="11832772" cy="3810002"/>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00000"/>
              </a:lnSpc>
              <a:spcBef>
                <a:spcPts val="0"/>
              </a:spcBef>
              <a:spcAft>
                <a:spcPts val="0"/>
              </a:spcAft>
              <a:buClr>
                <a:srgbClr val="1F3864"/>
              </a:buClr>
              <a:buSzPct val="100000"/>
              <a:buNone/>
            </a:pPr>
            <a:r>
              <a:rPr b="1" lang="it-IT" sz="6400">
                <a:solidFill>
                  <a:srgbClr val="1F3864"/>
                </a:solidFill>
              </a:rPr>
              <a:t>GO UNLIMITED FIRE + EASY PAY ONLINE </a:t>
            </a:r>
            <a:r>
              <a:rPr lang="it-IT" sz="6400">
                <a:solidFill>
                  <a:srgbClr val="1F3864"/>
                </a:solidFill>
              </a:rPr>
              <a:t>al costo di 6,99€ al mese prevede: minuti illimitati verso tutti, 200 SMS e 100 Giga che diventano illimitati a seguito dell'attivazione del fisso. Le ricordiamo di attivarli su Area Clienti o su APP WINDTRE. L'offerta si rinnova automaticamente ogni mese a partire dalla data di attivazione. Riceverà la nuova SIM direttamente a casa. Attivazione gratuita</a:t>
            </a:r>
            <a:endParaRPr b="1" sz="6400">
              <a:solidFill>
                <a:srgbClr val="1F3864"/>
              </a:solidFill>
            </a:endParaRPr>
          </a:p>
          <a:p>
            <a:pPr indent="0" lvl="0" marL="0" rtl="0" algn="just">
              <a:lnSpc>
                <a:spcPct val="100000"/>
              </a:lnSpc>
              <a:spcBef>
                <a:spcPts val="1000"/>
              </a:spcBef>
              <a:spcAft>
                <a:spcPts val="0"/>
              </a:spcAft>
              <a:buClr>
                <a:srgbClr val="1F3864"/>
              </a:buClr>
              <a:buSzPct val="100000"/>
              <a:buNone/>
            </a:pPr>
            <a:r>
              <a:rPr lang="it-IT" sz="6400">
                <a:solidFill>
                  <a:srgbClr val="1F3864"/>
                </a:solidFill>
              </a:rPr>
              <a:t>I GIGA illimitati non concorrono a incrementare i GIGA disponibili a condizioni domestiche. </a:t>
            </a:r>
            <a:endParaRPr/>
          </a:p>
          <a:p>
            <a:pPr indent="0" lvl="0" marL="0" rtl="0" algn="just">
              <a:lnSpc>
                <a:spcPct val="100000"/>
              </a:lnSpc>
              <a:spcBef>
                <a:spcPts val="1000"/>
              </a:spcBef>
              <a:spcAft>
                <a:spcPts val="0"/>
              </a:spcAft>
              <a:buClr>
                <a:srgbClr val="1F3864"/>
              </a:buClr>
              <a:buSzPct val="100000"/>
              <a:buNone/>
            </a:pPr>
            <a:r>
              <a:rPr lang="it-IT" sz="6400">
                <a:solidFill>
                  <a:srgbClr val="1F3864"/>
                </a:solidFill>
              </a:rPr>
              <a:t>Il cliente ha la possibilità di richiedere la SIM fisica al costo di 0 euro in promozione.</a:t>
            </a:r>
            <a:endParaRPr/>
          </a:p>
          <a:p>
            <a:pPr indent="0" lvl="0" marL="0" rtl="0" algn="just">
              <a:lnSpc>
                <a:spcPct val="90000"/>
              </a:lnSpc>
              <a:spcBef>
                <a:spcPts val="1000"/>
              </a:spcBef>
              <a:spcAft>
                <a:spcPts val="0"/>
              </a:spcAft>
              <a:buClr>
                <a:srgbClr val="1F3864"/>
              </a:buClr>
              <a:buSzPct val="100000"/>
              <a:buNone/>
            </a:pPr>
            <a:r>
              <a:rPr lang="it-IT" sz="6600">
                <a:solidFill>
                  <a:srgbClr val="1F3864"/>
                </a:solidFill>
              </a:rPr>
              <a:t>E’ disponibile anche la </a:t>
            </a:r>
            <a:r>
              <a:rPr b="1" lang="it-IT" sz="6600">
                <a:solidFill>
                  <a:srgbClr val="1F3864"/>
                </a:solidFill>
              </a:rPr>
              <a:t>E-sim ossia una SIM virtuale </a:t>
            </a:r>
            <a:r>
              <a:rPr lang="it-IT" sz="6600">
                <a:solidFill>
                  <a:srgbClr val="1F3864"/>
                </a:solidFill>
              </a:rPr>
              <a:t>che svolge le medesime funzioni della SIM classica. Se il device è compatibile (vedi lista su https://www.windtre.it/ecommerce/elenco-device-compatibili-esim) per installare la e-sim sarà sufficiente scansionare il QR-Code contenuto nell'email che si riceve al momento dell'attivazione dell’offerta prescelta. </a:t>
            </a:r>
            <a:endParaRPr/>
          </a:p>
          <a:p>
            <a:pPr indent="0" lvl="0" marL="0" rtl="0" algn="just">
              <a:lnSpc>
                <a:spcPct val="90000"/>
              </a:lnSpc>
              <a:spcBef>
                <a:spcPts val="1000"/>
              </a:spcBef>
              <a:spcAft>
                <a:spcPts val="0"/>
              </a:spcAft>
              <a:buClr>
                <a:srgbClr val="1F3864"/>
              </a:buClr>
              <a:buSzPct val="100000"/>
              <a:buNone/>
            </a:pPr>
            <a:r>
              <a:rPr lang="it-IT" sz="6600">
                <a:solidFill>
                  <a:srgbClr val="1F3864"/>
                </a:solidFill>
              </a:rPr>
              <a:t>La E-sim potrà essere venduta </a:t>
            </a:r>
            <a:r>
              <a:rPr b="1" lang="it-IT" sz="6600">
                <a:solidFill>
                  <a:srgbClr val="1F3864"/>
                </a:solidFill>
              </a:rPr>
              <a:t>tramite Pay by link o SDD, in base alla scelta del cliente, </a:t>
            </a:r>
            <a:r>
              <a:rPr lang="it-IT" sz="6600">
                <a:solidFill>
                  <a:srgbClr val="1F3864"/>
                </a:solidFill>
              </a:rPr>
              <a:t>il costo è 0€. Il cliente riceverà via e-mail, il QRcode per installare la nuova SIM. Il link ha una validità di 24 ore, oltre le quali non sarà più valido e l’ordine verrà annullato.</a:t>
            </a:r>
            <a:endParaRPr/>
          </a:p>
          <a:p>
            <a:pPr indent="0" lvl="0" marL="0" rtl="0" algn="just">
              <a:lnSpc>
                <a:spcPct val="100000"/>
              </a:lnSpc>
              <a:spcBef>
                <a:spcPts val="1000"/>
              </a:spcBef>
              <a:spcAft>
                <a:spcPts val="0"/>
              </a:spcAft>
              <a:buClr>
                <a:schemeClr val="dk1"/>
              </a:buClr>
              <a:buSzPct val="100000"/>
              <a:buNone/>
            </a:pPr>
            <a:r>
              <a:t/>
            </a:r>
            <a:endParaRPr sz="6600">
              <a:solidFill>
                <a:srgbClr val="1F3864"/>
              </a:solidFill>
            </a:endParaRPr>
          </a:p>
          <a:p>
            <a:pPr indent="0" lvl="0" marL="0" rtl="0" algn="just">
              <a:lnSpc>
                <a:spcPct val="90000"/>
              </a:lnSpc>
              <a:spcBef>
                <a:spcPts val="1000"/>
              </a:spcBef>
              <a:spcAft>
                <a:spcPts val="0"/>
              </a:spcAft>
              <a:buClr>
                <a:srgbClr val="1F3864"/>
              </a:buClr>
              <a:buSzPct val="100000"/>
              <a:buNone/>
            </a:pPr>
            <a:r>
              <a:rPr b="1" lang="it-IT" sz="6600">
                <a:solidFill>
                  <a:srgbClr val="1F3864"/>
                </a:solidFill>
              </a:rPr>
              <a:t>IL PAGAMENTO TRAMITE PAY BY LINK:</a:t>
            </a:r>
            <a:endParaRPr/>
          </a:p>
          <a:p>
            <a:pPr indent="0" lvl="0" marL="0" rtl="0" algn="just">
              <a:lnSpc>
                <a:spcPct val="90000"/>
              </a:lnSpc>
              <a:spcBef>
                <a:spcPts val="1000"/>
              </a:spcBef>
              <a:spcAft>
                <a:spcPts val="0"/>
              </a:spcAft>
              <a:buClr>
                <a:srgbClr val="1F3864"/>
              </a:buClr>
              <a:buSzPct val="100000"/>
              <a:buNone/>
            </a:pPr>
            <a:r>
              <a:rPr lang="it-IT" sz="6600">
                <a:solidFill>
                  <a:srgbClr val="1F3864"/>
                </a:solidFill>
              </a:rPr>
              <a:t>Riceverà, direttamente a casa, la nuova SIM o tramite mail il QR CODE per e-sim. Per il pagamento del primo canone dell’offerta verrà inviato un link, al numero fornito dal cliente, tramite il quale potrà effettuare il pagamento inserendo i dati della sua carta di credito. Il link ha una validità di 24 ore, oltre le quali non sarà più valido e l’ordine verrà annullato. La carta di credito inserita sarà utilizzata come metodo di pagamento.</a:t>
            </a:r>
            <a:endParaRPr/>
          </a:p>
          <a:p>
            <a:pPr indent="0" lvl="0" marL="0" rtl="0" algn="just">
              <a:lnSpc>
                <a:spcPct val="100000"/>
              </a:lnSpc>
              <a:spcBef>
                <a:spcPts val="1000"/>
              </a:spcBef>
              <a:spcAft>
                <a:spcPts val="0"/>
              </a:spcAft>
              <a:buClr>
                <a:schemeClr val="dk1"/>
              </a:buClr>
              <a:buSzPct val="100000"/>
              <a:buNone/>
            </a:pPr>
            <a:r>
              <a:t/>
            </a:r>
            <a:endParaRPr sz="1500">
              <a:solidFill>
                <a:srgbClr val="1F3864"/>
              </a:solidFill>
            </a:endParaRPr>
          </a:p>
          <a:p>
            <a:pPr indent="0" lvl="0" marL="0" rtl="0" algn="just">
              <a:lnSpc>
                <a:spcPct val="100000"/>
              </a:lnSpc>
              <a:spcBef>
                <a:spcPts val="1000"/>
              </a:spcBef>
              <a:spcAft>
                <a:spcPts val="0"/>
              </a:spcAft>
              <a:buClr>
                <a:schemeClr val="dk1"/>
              </a:buClr>
              <a:buSzPct val="100000"/>
              <a:buNone/>
            </a:pPr>
            <a:r>
              <a:t/>
            </a:r>
            <a:endParaRPr sz="1500">
              <a:solidFill>
                <a:srgbClr val="1F3864"/>
              </a:solidFill>
            </a:endParaRPr>
          </a:p>
          <a:p>
            <a:pPr indent="-184150" lvl="0" marL="228600" rtl="0" algn="l">
              <a:lnSpc>
                <a:spcPct val="90000"/>
              </a:lnSpc>
              <a:spcBef>
                <a:spcPts val="1000"/>
              </a:spcBef>
              <a:spcAft>
                <a:spcPts val="0"/>
              </a:spcAft>
              <a:buClr>
                <a:schemeClr val="dk1"/>
              </a:buClr>
              <a:buSzPct val="100000"/>
              <a:buNone/>
            </a:pPr>
            <a:r>
              <a:t/>
            </a:r>
            <a:endParaRPr/>
          </a:p>
        </p:txBody>
      </p:sp>
      <p:sp>
        <p:nvSpPr>
          <p:cNvPr id="135" name="Google Shape;135;p19"/>
          <p:cNvSpPr txBox="1"/>
          <p:nvPr/>
        </p:nvSpPr>
        <p:spPr>
          <a:xfrm>
            <a:off x="97971" y="979716"/>
            <a:ext cx="12013914" cy="5120142"/>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nvSpPr>
        <p:spPr>
          <a:xfrm>
            <a:off x="97971" y="1019637"/>
            <a:ext cx="11702143" cy="5232202"/>
          </a:xfrm>
          <a:prstGeom prst="rect">
            <a:avLst/>
          </a:prstGeom>
          <a:noFill/>
          <a:ln cap="flat" cmpd="sng" w="9525">
            <a:solidFill>
              <a:srgbClr val="00206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it-IT" sz="1600" u="none" cap="none" strike="noStrike">
                <a:solidFill>
                  <a:srgbClr val="1F3864"/>
                </a:solidFill>
                <a:latin typeface="Calibri"/>
                <a:ea typeface="Calibri"/>
                <a:cs typeface="Calibri"/>
                <a:sym typeface="Calibri"/>
              </a:rPr>
              <a:t>GO UNLIMITED FIRE + 5G NEW EASY PAY ONLINE  </a:t>
            </a:r>
            <a:r>
              <a:rPr b="0" i="0" lang="it-IT" sz="1600" u="none" cap="none" strike="noStrike">
                <a:solidFill>
                  <a:srgbClr val="1F3864"/>
                </a:solidFill>
                <a:latin typeface="Calibri"/>
                <a:ea typeface="Calibri"/>
                <a:cs typeface="Calibri"/>
                <a:sym typeface="Calibri"/>
              </a:rPr>
              <a:t>al costo di 7,99€ al mese prevede: minuti illimitati verso tutti, 200 SMS e 100 Giga in 5G alla massima velocità disponibile di 2Gbps che diventano illimitati a seguito dell'attivazione del fisso. Le ricordiamo di attivarli su Area Clienti o su APP WINDTRE. L'offerta si rinnova automaticamente ogni mese a partire dalla data di attivazione. Riceverà la nuova SIM direttamente a casa. Attivazione gratuita</a:t>
            </a:r>
            <a:endParaRPr b="1" i="0" sz="1600" u="none" cap="none" strike="noStrike">
              <a:solidFill>
                <a:srgbClr val="1F3864"/>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600"/>
              <a:buFont typeface="Calibri"/>
              <a:buNone/>
            </a:pPr>
            <a:r>
              <a:t/>
            </a:r>
            <a:endParaRPr b="1"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I GIGA illimitati non concorrono a incrementare i GIGA disponibili a condizioni domestiche. </a:t>
            </a:r>
            <a:endParaRPr/>
          </a:p>
          <a:p>
            <a:pPr indent="0" lvl="0" marL="0" marR="0" rtl="0" algn="just">
              <a:spcBef>
                <a:spcPts val="0"/>
              </a:spcBef>
              <a:spcAft>
                <a:spcPts val="0"/>
              </a:spcAft>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Il cliente ha la possibilità di richiedere la SIM fisica al costo di 0 euro in promozione.</a:t>
            </a:r>
            <a:endParaRPr/>
          </a:p>
          <a:p>
            <a:pPr indent="0" lvl="0" marL="0" marR="0" rtl="0" algn="just">
              <a:spcBef>
                <a:spcPts val="0"/>
              </a:spcBef>
              <a:spcAft>
                <a:spcPts val="0"/>
              </a:spcAft>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E’ disponibile anche la </a:t>
            </a:r>
            <a:r>
              <a:rPr b="1" i="0" lang="it-IT" sz="1600" u="none" cap="none" strike="noStrike">
                <a:solidFill>
                  <a:srgbClr val="1F3864"/>
                </a:solidFill>
                <a:latin typeface="Calibri"/>
                <a:ea typeface="Calibri"/>
                <a:cs typeface="Calibri"/>
                <a:sym typeface="Calibri"/>
              </a:rPr>
              <a:t>E-sim ossia una SIM virtuale </a:t>
            </a:r>
            <a:r>
              <a:rPr b="0" i="0" lang="it-IT" sz="1600" u="none" cap="none" strike="noStrike">
                <a:solidFill>
                  <a:srgbClr val="1F3864"/>
                </a:solidFill>
                <a:latin typeface="Calibri"/>
                <a:ea typeface="Calibri"/>
                <a:cs typeface="Calibri"/>
                <a:sym typeface="Calibri"/>
              </a:rPr>
              <a:t>che svolge le medesime funzioni della SIM classica. Se il device è compatibile (vedi lista su https://www.windtre.it/ecommerce/elenco-device-compatibili-esim) per installare la e-sim sarà sufficiente scansionare il QR-Code contenuto nell'email che si riceve al momento dell'attivazione dell’offerta prescelta. </a:t>
            </a:r>
            <a:endParaRPr/>
          </a:p>
          <a:p>
            <a:pPr indent="0" lvl="0" marL="0" marR="0" rtl="0" algn="just">
              <a:spcBef>
                <a:spcPts val="0"/>
              </a:spcBef>
              <a:spcAft>
                <a:spcPts val="0"/>
              </a:spcAft>
              <a:buClr>
                <a:srgbClr val="1F3864"/>
              </a:buClr>
              <a:buSzPts val="1600"/>
              <a:buFont typeface="Calibri"/>
              <a:buNone/>
            </a:pPr>
            <a:r>
              <a:rPr b="0" i="0" lang="it-IT" sz="1600" u="none" cap="none" strike="noStrike">
                <a:solidFill>
                  <a:srgbClr val="1F3864"/>
                </a:solidFill>
                <a:latin typeface="Calibri"/>
                <a:ea typeface="Calibri"/>
                <a:cs typeface="Calibri"/>
                <a:sym typeface="Calibri"/>
              </a:rPr>
              <a:t>La E-sim potrà essere venduta </a:t>
            </a:r>
            <a:r>
              <a:rPr b="1" i="0" lang="it-IT" sz="1600" u="none" cap="none" strike="noStrike">
                <a:solidFill>
                  <a:srgbClr val="1F3864"/>
                </a:solidFill>
                <a:latin typeface="Calibri"/>
                <a:ea typeface="Calibri"/>
                <a:cs typeface="Calibri"/>
                <a:sym typeface="Calibri"/>
              </a:rPr>
              <a:t>tramite Pay by link o SDD, in base alla scelta del cliente, </a:t>
            </a:r>
            <a:r>
              <a:rPr b="0" i="0" lang="it-IT" sz="1600" u="none" cap="none" strike="noStrike">
                <a:solidFill>
                  <a:srgbClr val="1F3864"/>
                </a:solidFill>
                <a:latin typeface="Calibri"/>
                <a:ea typeface="Calibri"/>
                <a:cs typeface="Calibri"/>
                <a:sym typeface="Calibri"/>
              </a:rPr>
              <a:t>il costo è 0€. Il cliente riceverà via e-mail, il QRcode per installare la nuova SIM. Il link ha una validità di 24 ore, oltre le quali non sarà più valido e l’ordine verrà annullato.</a:t>
            </a:r>
            <a:endParaRPr/>
          </a:p>
          <a:p>
            <a:pPr indent="0" lvl="0" marL="0" marR="0" rtl="0" algn="just">
              <a:lnSpc>
                <a:spcPct val="100000"/>
              </a:lnSpc>
              <a:spcBef>
                <a:spcPts val="0"/>
              </a:spcBef>
              <a:spcAft>
                <a:spcPts val="0"/>
              </a:spcAft>
              <a:buClr>
                <a:schemeClr val="dk1"/>
              </a:buClr>
              <a:buSzPts val="1600"/>
              <a:buFont typeface="Calibri"/>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Clr>
                <a:srgbClr val="1F3864"/>
              </a:buClr>
              <a:buSzPts val="1600"/>
              <a:buFont typeface="Calibri"/>
              <a:buNone/>
            </a:pPr>
            <a:r>
              <a:rPr b="1" i="0" lang="it-IT" sz="1600" u="none" cap="none" strike="noStrike">
                <a:solidFill>
                  <a:srgbClr val="1F3864"/>
                </a:solidFill>
                <a:latin typeface="Calibri"/>
                <a:ea typeface="Calibri"/>
                <a:cs typeface="Calibri"/>
                <a:sym typeface="Calibri"/>
              </a:rPr>
              <a:t>IL PAGAMENTO TRAMITE PAY BY LINK:</a:t>
            </a:r>
            <a:endParaRPr/>
          </a:p>
          <a:p>
            <a:pPr indent="0" lvl="0" marL="0" marR="0" rtl="0" algn="just">
              <a:spcBef>
                <a:spcPts val="0"/>
              </a:spcBef>
              <a:spcAft>
                <a:spcPts val="0"/>
              </a:spcAft>
              <a:buClr>
                <a:srgbClr val="1F3864"/>
              </a:buClr>
              <a:buSzPts val="1600"/>
              <a:buFont typeface="Calibri"/>
              <a:buNone/>
            </a:pPr>
            <a:r>
              <a:rPr b="0" i="0" lang="it-IT" sz="1600" u="none" cap="none" strike="noStrike">
                <a:solidFill>
                  <a:srgbClr val="1F3864"/>
                </a:solidFill>
                <a:latin typeface="Calibri"/>
                <a:ea typeface="Calibri"/>
                <a:cs typeface="Calibri"/>
                <a:sym typeface="Calibri"/>
              </a:rPr>
              <a:t>Riceverà, direttamente a casa, la nuova SIM o tramite mail il QR CODE per e-sim. Per il pagamento del primo canone dell’offerta verrà inviato un link, al numero fornito dal cliente, tramite il quale potrà effettuare il pagamento inserendo i dati della sua carta di credito. Il link ha una validità di 24 ore, oltre le quali non sarà più valido e l’ordine verrà annullato. La carta di credito inserita sarà utilizzata come metodo di pagamento.</a:t>
            </a:r>
            <a:endParaRPr/>
          </a:p>
          <a:p>
            <a:pPr indent="0" lvl="0" marL="0" marR="0" rtl="0" algn="just">
              <a:lnSpc>
                <a:spcPct val="100000"/>
              </a:lnSpc>
              <a:spcBef>
                <a:spcPts val="0"/>
              </a:spcBef>
              <a:spcAft>
                <a:spcPts val="0"/>
              </a:spcAft>
              <a:buClr>
                <a:schemeClr val="dk1"/>
              </a:buClr>
              <a:buSzPts val="1400"/>
              <a:buFont typeface="Calibri"/>
              <a:buNone/>
            </a:pPr>
            <a:r>
              <a:t/>
            </a:r>
            <a:endParaRPr b="0" i="0" sz="1400" u="none" cap="none" strike="noStrike">
              <a:solidFill>
                <a:srgbClr val="1F3864"/>
              </a:solidFill>
              <a:latin typeface="Calibri"/>
              <a:ea typeface="Calibri"/>
              <a:cs typeface="Calibri"/>
              <a:sym typeface="Calibri"/>
            </a:endParaRPr>
          </a:p>
        </p:txBody>
      </p:sp>
      <p:sp>
        <p:nvSpPr>
          <p:cNvPr id="141" name="Google Shape;141;p20"/>
          <p:cNvSpPr txBox="1"/>
          <p:nvPr/>
        </p:nvSpPr>
        <p:spPr>
          <a:xfrm>
            <a:off x="45356" y="124690"/>
            <a:ext cx="9379199"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it-IT" sz="3200" u="none" cap="none" strike="noStrike">
                <a:solidFill>
                  <a:srgbClr val="1F3864"/>
                </a:solidFill>
                <a:latin typeface="Calibri"/>
                <a:ea typeface="Calibri"/>
                <a:cs typeface="Calibri"/>
                <a:sym typeface="Calibri"/>
              </a:rPr>
              <a:t>GO UNLIMITED FIRE + 5G NEW EASY PAY ONLINE</a:t>
            </a:r>
            <a:endParaRPr b="0" i="0" sz="3200" u="none" cap="none" strike="noStrike">
              <a:solidFill>
                <a:srgbClr val="1F3864"/>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367442" y="36528"/>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OPZIONI</a:t>
            </a:r>
            <a:r>
              <a:rPr lang="it-IT">
                <a:solidFill>
                  <a:srgbClr val="002060"/>
                </a:solidFill>
              </a:rPr>
              <a:t> </a:t>
            </a:r>
            <a:endParaRPr/>
          </a:p>
        </p:txBody>
      </p:sp>
      <p:sp>
        <p:nvSpPr>
          <p:cNvPr id="147" name="Google Shape;147;p21"/>
          <p:cNvSpPr txBox="1"/>
          <p:nvPr/>
        </p:nvSpPr>
        <p:spPr>
          <a:xfrm>
            <a:off x="2605817" y="628621"/>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INVISTA </a:t>
            </a:r>
            <a:r>
              <a:rPr b="0" i="0" lang="it-IT" sz="1400" u="none" cap="none" strike="noStrike">
                <a:solidFill>
                  <a:srgbClr val="002060"/>
                </a:solidFill>
                <a:latin typeface="Calibri"/>
                <a:ea typeface="Calibri"/>
                <a:cs typeface="Calibri"/>
                <a:sym typeface="Calibri"/>
              </a:rPr>
              <a:t>è il servizio che le permette di visualizzare il numero di chi la chiama sul display del suo telefono fisso al costo di </a:t>
            </a:r>
            <a:r>
              <a:rPr b="1" i="0" lang="it-IT" sz="1400" u="none" cap="none" strike="noStrike">
                <a:solidFill>
                  <a:srgbClr val="002060"/>
                </a:solidFill>
                <a:latin typeface="Calibri"/>
                <a:ea typeface="Calibri"/>
                <a:cs typeface="Calibri"/>
                <a:sym typeface="Calibri"/>
              </a:rPr>
              <a:t>2€/mese iva inclusa</a:t>
            </a:r>
            <a:r>
              <a:rPr b="0" i="0" lang="it-IT" sz="1400" u="none" cap="none" strike="noStrike">
                <a:solidFill>
                  <a:srgbClr val="002060"/>
                </a:solidFill>
                <a:latin typeface="Calibri"/>
                <a:ea typeface="Calibri"/>
                <a:cs typeface="Calibri"/>
                <a:sym typeface="Calibri"/>
              </a:rPr>
              <a:t>.</a:t>
            </a:r>
            <a:endParaRPr/>
          </a:p>
        </p:txBody>
      </p:sp>
      <p:sp>
        <p:nvSpPr>
          <p:cNvPr id="148" name="Google Shape;148;p21"/>
          <p:cNvSpPr txBox="1"/>
          <p:nvPr/>
        </p:nvSpPr>
        <p:spPr>
          <a:xfrm>
            <a:off x="367443" y="617509"/>
            <a:ext cx="1971675"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INVISTA</a:t>
            </a:r>
            <a:endParaRPr/>
          </a:p>
        </p:txBody>
      </p:sp>
      <p:sp>
        <p:nvSpPr>
          <p:cNvPr id="149" name="Google Shape;149;p21"/>
          <p:cNvSpPr txBox="1"/>
          <p:nvPr/>
        </p:nvSpPr>
        <p:spPr>
          <a:xfrm>
            <a:off x="2605812" y="2032067"/>
            <a:ext cx="8277225"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 il posizionamento di una nuova Presa Fibra in un punto diverso dalla presa principale è previsto un costo di </a:t>
            </a:r>
            <a:r>
              <a:rPr b="1" i="0" lang="it-IT" sz="1400" u="none" cap="none" strike="noStrike">
                <a:solidFill>
                  <a:srgbClr val="002060"/>
                </a:solidFill>
                <a:latin typeface="Calibri"/>
                <a:ea typeface="Calibri"/>
                <a:cs typeface="Calibri"/>
                <a:sym typeface="Calibri"/>
              </a:rPr>
              <a:t>65€.</a:t>
            </a:r>
            <a:endParaRPr/>
          </a:p>
          <a:p>
            <a:pPr indent="0" lvl="0" marL="0" marR="0" rtl="0" algn="l">
              <a:lnSpc>
                <a:spcPct val="90000"/>
              </a:lnSpc>
              <a:spcBef>
                <a:spcPts val="100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a:t>
            </a:r>
            <a:r>
              <a:rPr b="1" i="0" lang="it-IT" sz="1400" u="none" cap="none" strike="noStrike">
                <a:solidFill>
                  <a:srgbClr val="002060"/>
                </a:solidFill>
                <a:latin typeface="Calibri"/>
                <a:ea typeface="Calibri"/>
                <a:cs typeface="Calibri"/>
                <a:sym typeface="Calibri"/>
              </a:rPr>
              <a:t> </a:t>
            </a:r>
            <a:r>
              <a:rPr b="0" i="0" lang="it-IT" sz="1400" u="none" cap="none" strike="noStrik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b="1" i="0" lang="it-IT" sz="1400" u="none" cap="none" strike="noStrike">
                <a:solidFill>
                  <a:srgbClr val="002060"/>
                </a:solidFill>
                <a:latin typeface="Calibri"/>
                <a:ea typeface="Calibri"/>
                <a:cs typeface="Calibri"/>
                <a:sym typeface="Calibri"/>
              </a:rPr>
              <a:t>35€.</a:t>
            </a:r>
            <a:endParaRPr b="0" i="0" sz="1400" u="none" cap="none" strike="noStrike">
              <a:solidFill>
                <a:srgbClr val="002060"/>
              </a:solidFill>
              <a:latin typeface="Calibri"/>
              <a:ea typeface="Calibri"/>
              <a:cs typeface="Calibri"/>
              <a:sym typeface="Calibri"/>
            </a:endParaRPr>
          </a:p>
        </p:txBody>
      </p:sp>
      <p:sp>
        <p:nvSpPr>
          <p:cNvPr id="150" name="Google Shape;150;p21"/>
          <p:cNvSpPr txBox="1"/>
          <p:nvPr/>
        </p:nvSpPr>
        <p:spPr>
          <a:xfrm>
            <a:off x="367442" y="2032067"/>
            <a:ext cx="2000250"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SERVIZIO TECNICO</a:t>
            </a:r>
            <a:endParaRPr/>
          </a:p>
        </p:txBody>
      </p:sp>
      <p:sp>
        <p:nvSpPr>
          <p:cNvPr id="151" name="Google Shape;151;p21"/>
          <p:cNvSpPr txBox="1"/>
          <p:nvPr/>
        </p:nvSpPr>
        <p:spPr>
          <a:xfrm>
            <a:off x="2605815" y="1342790"/>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CALL YOUR COUNTRY HOME </a:t>
            </a:r>
            <a:r>
              <a:rPr b="0" i="0" lang="it-IT" sz="1400" u="none" cap="none" strike="noStrike">
                <a:solidFill>
                  <a:srgbClr val="002060"/>
                </a:solidFill>
                <a:latin typeface="Calibri"/>
                <a:ea typeface="Calibri"/>
                <a:cs typeface="Calibri"/>
                <a:sym typeface="Calibri"/>
              </a:rPr>
              <a:t>è L'opzione CHE prevede chiamate illimitate verso un elenco di paesi esteri al costo di </a:t>
            </a:r>
            <a:r>
              <a:rPr b="1" i="0" lang="it-IT" sz="1400" u="none" cap="none" strike="noStrike">
                <a:solidFill>
                  <a:srgbClr val="002060"/>
                </a:solidFill>
                <a:latin typeface="Calibri"/>
                <a:ea typeface="Calibri"/>
                <a:cs typeface="Calibri"/>
                <a:sym typeface="Calibri"/>
              </a:rPr>
              <a:t>5€/mese</a:t>
            </a:r>
            <a:endParaRPr/>
          </a:p>
        </p:txBody>
      </p:sp>
      <p:sp>
        <p:nvSpPr>
          <p:cNvPr id="152" name="Google Shape;152;p21"/>
          <p:cNvSpPr txBox="1"/>
          <p:nvPr/>
        </p:nvSpPr>
        <p:spPr>
          <a:xfrm>
            <a:off x="338868" y="1299112"/>
            <a:ext cx="2000250"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CYC HOME</a:t>
            </a:r>
            <a:endParaRPr/>
          </a:p>
        </p:txBody>
      </p:sp>
      <p:sp>
        <p:nvSpPr>
          <p:cNvPr id="153" name="Google Shape;153;p21"/>
          <p:cNvSpPr txBox="1"/>
          <p:nvPr/>
        </p:nvSpPr>
        <p:spPr>
          <a:xfrm>
            <a:off x="367442" y="3143445"/>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CASA</a:t>
            </a:r>
            <a:endParaRPr/>
          </a:p>
        </p:txBody>
      </p:sp>
      <p:sp>
        <p:nvSpPr>
          <p:cNvPr id="154" name="Google Shape;154;p21"/>
          <p:cNvSpPr txBox="1"/>
          <p:nvPr/>
        </p:nvSpPr>
        <p:spPr>
          <a:xfrm>
            <a:off x="2605811" y="3174166"/>
            <a:ext cx="8277225" cy="5752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a:t>
            </a:r>
            <a:endParaRPr/>
          </a:p>
        </p:txBody>
      </p:sp>
      <p:sp>
        <p:nvSpPr>
          <p:cNvPr id="155" name="Google Shape;155;p21"/>
          <p:cNvSpPr txBox="1"/>
          <p:nvPr/>
        </p:nvSpPr>
        <p:spPr>
          <a:xfrm>
            <a:off x="367442" y="3878913"/>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a:t>
            </a:r>
            <a:endParaRPr/>
          </a:p>
        </p:txBody>
      </p:sp>
      <p:sp>
        <p:nvSpPr>
          <p:cNvPr id="156" name="Google Shape;156;p21"/>
          <p:cNvSpPr txBox="1"/>
          <p:nvPr/>
        </p:nvSpPr>
        <p:spPr>
          <a:xfrm>
            <a:off x="2605809" y="3878914"/>
            <a:ext cx="8277225"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0,99€/mese con il primo mese gratuito, addebitato su credito per un’esperienza di navigazione protetta su rete WINDTRE. Protezione attiva all’attivazione dell’opzione senza azioni del Cliente</a:t>
            </a:r>
            <a:endParaRPr/>
          </a:p>
        </p:txBody>
      </p:sp>
      <p:sp>
        <p:nvSpPr>
          <p:cNvPr id="157" name="Google Shape;157;p21"/>
          <p:cNvSpPr txBox="1"/>
          <p:nvPr/>
        </p:nvSpPr>
        <p:spPr>
          <a:xfrm>
            <a:off x="367442" y="4630150"/>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 PRO</a:t>
            </a:r>
            <a:endParaRPr/>
          </a:p>
        </p:txBody>
      </p:sp>
      <p:sp>
        <p:nvSpPr>
          <p:cNvPr id="158" name="Google Shape;158;p21"/>
          <p:cNvSpPr txBox="1"/>
          <p:nvPr/>
        </p:nvSpPr>
        <p:spPr>
          <a:xfrm>
            <a:off x="2605808" y="4622163"/>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1.99€/mese con primo mese gratuito: Navigazione sicura su tutte le reti: WINDTRE, WiFi e Roaming. Acquisti online e transazioni finanziarie (Conto Corrente)  protette grazie alla VPN</a:t>
            </a:r>
            <a:endParaRPr/>
          </a:p>
        </p:txBody>
      </p:sp>
      <p:sp>
        <p:nvSpPr>
          <p:cNvPr id="159" name="Google Shape;159;p21"/>
          <p:cNvSpPr txBox="1"/>
          <p:nvPr/>
        </p:nvSpPr>
        <p:spPr>
          <a:xfrm>
            <a:off x="367442" y="5438858"/>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VOCE UNLIMITED</a:t>
            </a:r>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rgbClr val="002060"/>
              </a:solidFill>
              <a:latin typeface="Calibri"/>
              <a:ea typeface="Calibri"/>
              <a:cs typeface="Calibri"/>
              <a:sym typeface="Calibri"/>
            </a:endParaRPr>
          </a:p>
        </p:txBody>
      </p:sp>
      <p:sp>
        <p:nvSpPr>
          <p:cNvPr id="160" name="Google Shape;160;p21"/>
          <p:cNvSpPr txBox="1"/>
          <p:nvPr/>
        </p:nvSpPr>
        <p:spPr>
          <a:xfrm>
            <a:off x="2605808" y="5434864"/>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il costo sarà di 3€ in più al mese e prevede Chiamate illimitate verso i fissi e mobili nazionali.</a:t>
            </a:r>
            <a:endParaRPr b="0" i="0" sz="1400" u="none" cap="none" strike="noStrike">
              <a:solidFill>
                <a:srgbClr val="1F3864"/>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