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4" r:id="rId8"/>
    <p:sldId id="268" r:id="rId9"/>
    <p:sldId id="269" r:id="rId10"/>
    <p:sldId id="270" r:id="rId11"/>
    <p:sldId id="271" r:id="rId12"/>
    <p:sldId id="272" r:id="rId13"/>
    <p:sldId id="275" r:id="rId14"/>
  </p:sldIdLst>
  <p:sldSz cx="12192000" cy="6858000"/>
  <p:notesSz cx="6858000" cy="9144000"/>
  <p:embeddedFontLst>
    <p:embeddedFont>
      <p:font typeface="Montserrat" panose="00000500000000000000" pitchFamily="2" charset="0"/>
      <p:regular r:id="rId16"/>
      <p:bold r:id="rId17"/>
      <p:italic r:id="rId18"/>
      <p:boldItalic r:id="rId19"/>
    </p:embeddedFont>
    <p:embeddedFont>
      <p:font typeface="Montserrat Black" panose="00000A00000000000000" pitchFamily="2" charset="0"/>
      <p:bold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Martinenghi" userId="008c41ee-9ae3-4361-a904-88980b592d10" providerId="ADAL" clId="{6870D8DF-005B-4965-9771-37F409070CEE}"/>
    <pc:docChg chg="delSld">
      <pc:chgData name="Claudia Martinenghi" userId="008c41ee-9ae3-4361-a904-88980b592d10" providerId="ADAL" clId="{6870D8DF-005B-4965-9771-37F409070CEE}" dt="2026-10-05T13:01:43.957" v="9" actId="47"/>
      <pc:docMkLst>
        <pc:docMk/>
      </pc:docMkLst>
      <pc:sldChg chg="del">
        <pc:chgData name="Claudia Martinenghi" userId="008c41ee-9ae3-4361-a904-88980b592d10" providerId="ADAL" clId="{6870D8DF-005B-4965-9771-37F409070CEE}" dt="2026-10-05T13:01:07.041" v="0" actId="47"/>
        <pc:sldMkLst>
          <pc:docMk/>
          <pc:sldMk cId="0" sldId="262"/>
        </pc:sldMkLst>
      </pc:sldChg>
      <pc:sldChg chg="del">
        <pc:chgData name="Claudia Martinenghi" userId="008c41ee-9ae3-4361-a904-88980b592d10" providerId="ADAL" clId="{6870D8DF-005B-4965-9771-37F409070CEE}" dt="2026-10-05T13:01:08.024" v="1" actId="47"/>
        <pc:sldMkLst>
          <pc:docMk/>
          <pc:sldMk cId="0" sldId="263"/>
        </pc:sldMkLst>
      </pc:sldChg>
      <pc:sldChg chg="del">
        <pc:chgData name="Claudia Martinenghi" userId="008c41ee-9ae3-4361-a904-88980b592d10" providerId="ADAL" clId="{6870D8DF-005B-4965-9771-37F409070CEE}" dt="2026-10-05T13:01:15.481" v="2" actId="47"/>
        <pc:sldMkLst>
          <pc:docMk/>
          <pc:sldMk cId="0" sldId="265"/>
        </pc:sldMkLst>
      </pc:sldChg>
      <pc:sldChg chg="del">
        <pc:chgData name="Claudia Martinenghi" userId="008c41ee-9ae3-4361-a904-88980b592d10" providerId="ADAL" clId="{6870D8DF-005B-4965-9771-37F409070CEE}" dt="2026-10-05T13:01:17.689" v="3" actId="47"/>
        <pc:sldMkLst>
          <pc:docMk/>
          <pc:sldMk cId="0" sldId="266"/>
        </pc:sldMkLst>
      </pc:sldChg>
      <pc:sldChg chg="del">
        <pc:chgData name="Claudia Martinenghi" userId="008c41ee-9ae3-4361-a904-88980b592d10" providerId="ADAL" clId="{6870D8DF-005B-4965-9771-37F409070CEE}" dt="2026-10-05T13:01:21.945" v="4" actId="47"/>
        <pc:sldMkLst>
          <pc:docMk/>
          <pc:sldMk cId="0" sldId="267"/>
        </pc:sldMkLst>
      </pc:sldChg>
      <pc:sldChg chg="del">
        <pc:chgData name="Claudia Martinenghi" userId="008c41ee-9ae3-4361-a904-88980b592d10" providerId="ADAL" clId="{6870D8DF-005B-4965-9771-37F409070CEE}" dt="2026-10-05T13:01:29.726" v="5" actId="47"/>
        <pc:sldMkLst>
          <pc:docMk/>
          <pc:sldMk cId="0" sldId="273"/>
        </pc:sldMkLst>
      </pc:sldChg>
      <pc:sldChg chg="del">
        <pc:chgData name="Claudia Martinenghi" userId="008c41ee-9ae3-4361-a904-88980b592d10" providerId="ADAL" clId="{6870D8DF-005B-4965-9771-37F409070CEE}" dt="2026-10-05T13:01:31.979" v="6" actId="47"/>
        <pc:sldMkLst>
          <pc:docMk/>
          <pc:sldMk cId="0" sldId="274"/>
        </pc:sldMkLst>
      </pc:sldChg>
      <pc:sldChg chg="del">
        <pc:chgData name="Claudia Martinenghi" userId="008c41ee-9ae3-4361-a904-88980b592d10" providerId="ADAL" clId="{6870D8DF-005B-4965-9771-37F409070CEE}" dt="2026-10-05T13:01:42.134" v="7" actId="47"/>
        <pc:sldMkLst>
          <pc:docMk/>
          <pc:sldMk cId="0" sldId="276"/>
        </pc:sldMkLst>
      </pc:sldChg>
      <pc:sldChg chg="del">
        <pc:chgData name="Claudia Martinenghi" userId="008c41ee-9ae3-4361-a904-88980b592d10" providerId="ADAL" clId="{6870D8DF-005B-4965-9771-37F409070CEE}" dt="2026-10-05T13:01:43.050" v="8" actId="47"/>
        <pc:sldMkLst>
          <pc:docMk/>
          <pc:sldMk cId="0" sldId="277"/>
        </pc:sldMkLst>
      </pc:sldChg>
      <pc:sldChg chg="del">
        <pc:chgData name="Claudia Martinenghi" userId="008c41ee-9ae3-4361-a904-88980b592d10" providerId="ADAL" clId="{6870D8DF-005B-4965-9771-37F409070CEE}" dt="2026-10-05T13:01:43.957" v="9" actId="47"/>
        <pc:sldMkLst>
          <pc:docMk/>
          <pc:sldMk cId="0"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slide" Target="slide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122190" y="-73348"/>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OPEN FIBER</a:t>
            </a:r>
            <a:endParaRPr/>
          </a:p>
        </p:txBody>
      </p:sp>
      <p:sp>
        <p:nvSpPr>
          <p:cNvPr id="89" name="Google Shape;89;p13"/>
          <p:cNvSpPr txBox="1">
            <a:spLocks noGrp="1"/>
          </p:cNvSpPr>
          <p:nvPr>
            <p:ph type="body" idx="2"/>
          </p:nvPr>
        </p:nvSpPr>
        <p:spPr>
          <a:xfrm>
            <a:off x="174662" y="585626"/>
            <a:ext cx="11928296" cy="6154221"/>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Fissa SUPER FIBRA </a:t>
            </a:r>
            <a:r>
              <a:rPr lang="it-IT" sz="1600">
                <a:solidFill>
                  <a:srgbClr val="1F3864"/>
                </a:solidFill>
              </a:rPr>
              <a:t>prevede navigazione senza limiti fino a </a:t>
            </a:r>
            <a:r>
              <a:rPr lang="it-IT" sz="1600" b="1">
                <a:solidFill>
                  <a:srgbClr val="1F3864"/>
                </a:solidFill>
              </a:rPr>
              <a:t>2,5 Gigabit</a:t>
            </a:r>
            <a:r>
              <a:rPr lang="it-IT" sz="1600">
                <a:solidFill>
                  <a:srgbClr val="1F3864"/>
                </a:solidFill>
              </a:rPr>
              <a:t> a </a:t>
            </a:r>
            <a:r>
              <a:rPr lang="it-IT" sz="1600" b="1">
                <a:solidFill>
                  <a:srgbClr val="1F3864"/>
                </a:solidFill>
              </a:rPr>
              <a:t>24,99€ </a:t>
            </a:r>
            <a:r>
              <a:rPr lang="it-IT" sz="16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 invece che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24,99 euro al mese è composto, per i primi 12 mesi, da 19 euro al mese di servizio e Prime e 5,99 euro al mese di modem, dal 13° mese, da 19 euro al mese di servizio e 5,99 euro al mese di modem, dal 48° mese, da 24,99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Mobile: </a:t>
            </a:r>
            <a:r>
              <a:rPr lang="it-IT" sz="1600" b="1">
                <a:solidFill>
                  <a:srgbClr val="1F3864"/>
                </a:solidFill>
              </a:rPr>
              <a:t>Più Sicuri Mobile</a:t>
            </a:r>
            <a:r>
              <a:rPr lang="it-IT" sz="16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Mobile PRO: </a:t>
            </a:r>
            <a:r>
              <a:rPr lang="it-IT" sz="1600" b="1">
                <a:solidFill>
                  <a:srgbClr val="1F3864"/>
                </a:solidFill>
              </a:rPr>
              <a:t>Più Sicuri Mobile PRO</a:t>
            </a:r>
            <a:r>
              <a:rPr lang="it-IT" sz="1600">
                <a:solidFill>
                  <a:srgbClr val="1F3864"/>
                </a:solidFill>
              </a:rPr>
              <a:t>, a soli 1.99€/mese con primo mese gratuito: Navigazione sicura su tutte le reti: WINDTRE, WiFi e Roaming. Acquisti online e transazioni finanziarie (Conto Corrente)  protette grazie alla VPN.</a:t>
            </a:r>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3" action="ppaction://hlinksldjump"/>
              </a:rPr>
              <a:t>UNLIMITED 5G EP ONLINE CON SUPER FIBRA </a:t>
            </a:r>
            <a:r>
              <a:rPr lang="it-IT" sz="1600" b="1">
                <a:solidFill>
                  <a:srgbClr val="002060"/>
                </a:solidFill>
              </a:rPr>
              <a:t>offerta tied con metodo di pagamento</a:t>
            </a:r>
            <a:endParaRPr sz="1600">
              <a:solidFill>
                <a:srgbClr val="002060"/>
              </a:solidFill>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4" action="ppaction://hlinksldjump"/>
              </a:rPr>
              <a:t>UNLIMITED 5G ONLINE CON SUPER FIBRA </a:t>
            </a:r>
            <a:r>
              <a:rPr lang="it-IT" sz="1600" b="1">
                <a:solidFill>
                  <a:srgbClr val="002060"/>
                </a:solidFill>
              </a:rPr>
              <a:t>offerta untied su credito residuo</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EXTRA</a:t>
            </a:r>
            <a:endParaRPr/>
          </a:p>
        </p:txBody>
      </p:sp>
      <p:sp>
        <p:nvSpPr>
          <p:cNvPr id="95" name="Google Shape;95;p14"/>
          <p:cNvSpPr txBox="1">
            <a:spLocks noGrp="1"/>
          </p:cNvSpPr>
          <p:nvPr>
            <p:ph type="body" idx="2"/>
          </p:nvPr>
        </p:nvSpPr>
        <p:spPr>
          <a:xfrm>
            <a:off x="174662" y="493160"/>
            <a:ext cx="11928296" cy="6247364"/>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Fissa SUPER FIBRA </a:t>
            </a:r>
            <a:r>
              <a:rPr lang="it-IT" sz="1600">
                <a:solidFill>
                  <a:srgbClr val="1F3864"/>
                </a:solidFill>
              </a:rPr>
              <a:t>prevede navigazione senza limiti fino a </a:t>
            </a:r>
            <a:r>
              <a:rPr lang="it-IT" sz="1600" b="1">
                <a:solidFill>
                  <a:srgbClr val="1F3864"/>
                </a:solidFill>
              </a:rPr>
              <a:t>2,5 Gigabit a 24,99€/mese </a:t>
            </a:r>
            <a:r>
              <a:rPr lang="it-IT" sz="16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Costo di attivazione </a:t>
            </a:r>
            <a:r>
              <a:rPr lang="it-IT" sz="1600"/>
              <a:t>di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24,99 euro al mese è composto, per i primi 12 mesi, da 19 euro al mese di servizio e Prime e 5,99 euro al mese di modem, dal 13° mese, da 19 euro al mese di servizio e 5,99 euro al mese di modem, dal 48° mese, da 24,99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Mobile: </a:t>
            </a:r>
            <a:r>
              <a:rPr lang="it-IT" sz="1600" b="1">
                <a:solidFill>
                  <a:srgbClr val="1F3864"/>
                </a:solidFill>
              </a:rPr>
              <a:t>Più Sicuri Mobile</a:t>
            </a:r>
            <a:r>
              <a:rPr lang="it-IT" sz="16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Mobile PRO: </a:t>
            </a:r>
            <a:r>
              <a:rPr lang="it-IT" sz="1600" b="1">
                <a:solidFill>
                  <a:srgbClr val="1F3864"/>
                </a:solidFill>
              </a:rPr>
              <a:t>Più Sicuri Mobile PRO</a:t>
            </a:r>
            <a:r>
              <a:rPr lang="it-IT" sz="1600">
                <a:solidFill>
                  <a:srgbClr val="1F3864"/>
                </a:solidFill>
              </a:rPr>
              <a:t>, a soli 1.99€/mese con primo mese gratuito: Navigazione sicura su tutte le reti: WINDTRE, WiFi e Roaming. Acquisti online e transazioni finanziarie (Conto Corrente)  protette grazie alla VPN.</a:t>
            </a:r>
            <a:endParaRPr/>
          </a:p>
          <a:p>
            <a:pPr marL="0" lvl="0" indent="0" algn="l"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3" action="ppaction://hlinksldjump"/>
              </a:rPr>
              <a:t>UNLIMITED 5G EP ONLINE CON SUPER FIBRA </a:t>
            </a:r>
            <a:r>
              <a:rPr lang="it-IT" sz="1600" b="1">
                <a:solidFill>
                  <a:srgbClr val="002060"/>
                </a:solidFill>
              </a:rPr>
              <a:t>offerta tied con metodo di pagamento</a:t>
            </a:r>
            <a:endParaRPr sz="1600">
              <a:solidFill>
                <a:srgbClr val="002060"/>
              </a:solidFill>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4" action="ppaction://hlinksldjump"/>
              </a:rPr>
              <a:t>UNLIMITED 5G ONLINE CON SUPER FIBRA </a:t>
            </a:r>
            <a:r>
              <a:rPr lang="it-IT" sz="1600" b="1">
                <a:solidFill>
                  <a:srgbClr val="002060"/>
                </a:solidFill>
              </a:rPr>
              <a:t>offerta untied su credito residuo</a:t>
            </a:r>
            <a:endParaRPr sz="1600">
              <a:solidFill>
                <a:srgbClr val="002060"/>
              </a:solidFill>
            </a:endParaRPr>
          </a:p>
          <a:p>
            <a:pPr marL="0" lvl="0" indent="0" algn="l" rtl="0">
              <a:lnSpc>
                <a:spcPct val="90000"/>
              </a:lnSpc>
              <a:spcBef>
                <a:spcPts val="1000"/>
              </a:spcBef>
              <a:spcAft>
                <a:spcPts val="0"/>
              </a:spcAft>
              <a:buClr>
                <a:schemeClr val="dk1"/>
              </a:buClr>
              <a:buSzPts val="1600"/>
              <a:buNone/>
            </a:pPr>
            <a:endParaRPr sz="1600">
              <a:solidFill>
                <a:srgbClr val="1F3864"/>
              </a:solidFill>
            </a:endParaRPr>
          </a:p>
          <a:p>
            <a:pPr marL="0" lvl="0" indent="0" algn="l" rtl="0">
              <a:lnSpc>
                <a:spcPct val="90000"/>
              </a:lnSpc>
              <a:spcBef>
                <a:spcPts val="1000"/>
              </a:spcBef>
              <a:spcAft>
                <a:spcPts val="0"/>
              </a:spcAft>
              <a:buClr>
                <a:schemeClr val="dk1"/>
              </a:buClr>
              <a:buSzPts val="1600"/>
              <a:buNone/>
            </a:pPr>
            <a:endParaRPr sz="160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0" y="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INTERNET 100/200</a:t>
            </a:r>
            <a:endParaRPr/>
          </a:p>
        </p:txBody>
      </p:sp>
      <p:sp>
        <p:nvSpPr>
          <p:cNvPr id="101" name="Google Shape;101;p15"/>
          <p:cNvSpPr txBox="1">
            <a:spLocks noGrp="1"/>
          </p:cNvSpPr>
          <p:nvPr>
            <p:ph type="body" idx="2"/>
          </p:nvPr>
        </p:nvSpPr>
        <p:spPr>
          <a:xfrm>
            <a:off x="0" y="711200"/>
            <a:ext cx="12097392" cy="6069744"/>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500"/>
              <a:buNone/>
            </a:pPr>
            <a:r>
              <a:rPr lang="it-IT" sz="1500" b="1">
                <a:solidFill>
                  <a:srgbClr val="1F3864"/>
                </a:solidFill>
              </a:rPr>
              <a:t>L’offerta Fissa Internet Casa </a:t>
            </a:r>
            <a:r>
              <a:rPr lang="it-IT" sz="1500">
                <a:solidFill>
                  <a:srgbClr val="1F3864"/>
                </a:solidFill>
              </a:rPr>
              <a:t>prevede navigazione senza limiti fino a </a:t>
            </a:r>
            <a:r>
              <a:rPr lang="it-IT" sz="1500" b="1">
                <a:solidFill>
                  <a:srgbClr val="1F3864"/>
                </a:solidFill>
              </a:rPr>
              <a:t>100/200 Mega </a:t>
            </a:r>
            <a:r>
              <a:rPr lang="it-IT" sz="1600" b="1">
                <a:solidFill>
                  <a:srgbClr val="1F3864"/>
                </a:solidFill>
              </a:rPr>
              <a:t>a </a:t>
            </a:r>
            <a:r>
              <a:rPr lang="it-IT" sz="1500" b="1">
                <a:solidFill>
                  <a:srgbClr val="1F3864"/>
                </a:solidFill>
              </a:rPr>
              <a:t>24,99€/mese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Costo di </a:t>
            </a:r>
            <a:r>
              <a:rPr lang="it-IT" sz="1400"/>
              <a:t>attivazione di  1,99€ al mese per 24 mesi.</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Riepilogando, </a:t>
            </a:r>
            <a:r>
              <a:rPr lang="it-IT" sz="1400">
                <a:solidFill>
                  <a:srgbClr val="1F3864"/>
                </a:solidFill>
              </a:rPr>
              <a:t>Il canone di 24,99 euro al mese è composto, per i primi 12 mesi, da 19 euro al mese di servizio e Prime e 5,99 euro al mese di modem, dal 13° mese, da 19 euro al mese di servizio e 5,99 euro al mese di modem, dal 48° mese, da 24,99 euro al mese di servizioE' inoltre previsto un costo di 10€ per anticipo del Modem.</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a:t>
            </a:r>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400" b="1">
                <a:solidFill>
                  <a:schemeClr val="accent6"/>
                </a:solidFill>
              </a:rPr>
              <a:t>Più Sicuri Casa: </a:t>
            </a:r>
            <a:r>
              <a:rPr lang="it-IT" sz="1400" b="1">
                <a:solidFill>
                  <a:srgbClr val="1F3864"/>
                </a:solidFill>
              </a:rPr>
              <a:t>Più Sicuri Casa</a:t>
            </a:r>
            <a:r>
              <a:rPr lang="it-IT" sz="1400">
                <a:solidFill>
                  <a:srgbClr val="1F3864"/>
                </a:solidFill>
              </a:rPr>
              <a:t>, 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3" action="ppaction://hlinksldjump"/>
              </a:rPr>
              <a:t>UNLIMITED 5G EP ONLINE CON SUPER FIBRA </a:t>
            </a:r>
            <a:r>
              <a:rPr lang="it-IT" sz="1400" b="1">
                <a:solidFill>
                  <a:srgbClr val="002060"/>
                </a:solidFill>
              </a:rPr>
              <a:t>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4" action="ppaction://hlinksldjump"/>
              </a:rPr>
              <a:t>UNLIMITED 5G ONLINE CON SUPER FIBRA </a:t>
            </a:r>
            <a:r>
              <a:rPr lang="it-IT" sz="1400" b="1">
                <a:solidFill>
                  <a:srgbClr val="002060"/>
                </a:solidFill>
              </a:rPr>
              <a:t>offerta untied su credito residuo</a:t>
            </a:r>
            <a:endParaRPr sz="14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0" y="-20545"/>
            <a:ext cx="12263919" cy="57535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2060"/>
              </a:buClr>
              <a:buSzPct val="100000"/>
              <a:buFont typeface="Calibri"/>
              <a:buNone/>
            </a:pPr>
            <a:r>
              <a:rPr lang="it-IT" b="1">
                <a:solidFill>
                  <a:srgbClr val="002060"/>
                </a:solidFill>
              </a:rPr>
              <a:t>SUPER FIBRA FTTH C&amp;D</a:t>
            </a:r>
            <a:endParaRPr/>
          </a:p>
        </p:txBody>
      </p:sp>
      <p:sp>
        <p:nvSpPr>
          <p:cNvPr id="107" name="Google Shape;107;p16"/>
          <p:cNvSpPr txBox="1">
            <a:spLocks noGrp="1"/>
          </p:cNvSpPr>
          <p:nvPr>
            <p:ph type="body" idx="2"/>
          </p:nvPr>
        </p:nvSpPr>
        <p:spPr>
          <a:xfrm>
            <a:off x="35478" y="493167"/>
            <a:ext cx="12121044" cy="636483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500"/>
              <a:buNone/>
            </a:pPr>
            <a:r>
              <a:rPr lang="it-IT" sz="1500" b="1">
                <a:solidFill>
                  <a:srgbClr val="1F3864"/>
                </a:solidFill>
              </a:rPr>
              <a:t>L’offerta Fissa </a:t>
            </a:r>
            <a:r>
              <a:rPr lang="it-IT" sz="1500" b="1">
                <a:solidFill>
                  <a:srgbClr val="002060"/>
                </a:solidFill>
              </a:rPr>
              <a:t>SUPER FIBRA AREE BIANCHE </a:t>
            </a:r>
            <a:r>
              <a:rPr lang="it-IT" sz="1500">
                <a:solidFill>
                  <a:srgbClr val="1F3864"/>
                </a:solidFill>
              </a:rPr>
              <a:t>prevede navigazione senza limiti fino a 1 Giga costa 24,99€/mese 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Costo di attivazione di </a:t>
            </a:r>
            <a:r>
              <a:rPr lang="it-IT" sz="1400" b="1">
                <a:solidFill>
                  <a:srgbClr val="FF0000"/>
                </a:solidFill>
              </a:rPr>
              <a:t> </a:t>
            </a:r>
            <a:r>
              <a:rPr lang="it-IT" sz="1500">
                <a:solidFill>
                  <a:srgbClr val="1F3864"/>
                </a:solidFill>
              </a:rPr>
              <a:t>1,99€ al mese per 24 mesi.</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Riepilogando, Il canone di 24,99 euro al mese è composto, per i primi 12 mesi, da 19 euro al mese di servizio e Prime e 5,99 euro al mese di modem, dal 13° mese, da 19 euro al mese di servizio e 5,99 euro al mese di modem, dal 48° mese, da 24,99 euro al mese di servizio.</a:t>
            </a:r>
            <a:r>
              <a:rPr lang="it-IT" sz="1400">
                <a:solidFill>
                  <a:srgbClr val="1F3864"/>
                </a:solidFill>
              </a:rPr>
              <a:t> E' inoltre previsto un costo di 10€ per anticipo del Modem.</a:t>
            </a:r>
            <a:endParaRPr/>
          </a:p>
          <a:p>
            <a:pPr marL="0" lvl="0" indent="0" algn="just" rtl="0">
              <a:lnSpc>
                <a:spcPct val="90000"/>
              </a:lnSpc>
              <a:spcBef>
                <a:spcPts val="1000"/>
              </a:spcBef>
              <a:spcAft>
                <a:spcPts val="0"/>
              </a:spcAft>
              <a:buClr>
                <a:schemeClr val="dk1"/>
              </a:buClr>
              <a:buSzPts val="1500"/>
              <a:buNone/>
            </a:pPr>
            <a:endParaRPr sz="1500">
              <a:solidFill>
                <a:srgbClr val="1F3864"/>
              </a:solidFill>
            </a:endParaRPr>
          </a:p>
          <a:p>
            <a:pPr marL="0" lvl="0" indent="0" algn="just" rtl="0">
              <a:lnSpc>
                <a:spcPct val="90000"/>
              </a:lnSpc>
              <a:spcBef>
                <a:spcPts val="1000"/>
              </a:spcBef>
              <a:spcAft>
                <a:spcPts val="0"/>
              </a:spcAft>
              <a:buClr>
                <a:srgbClr val="002060"/>
              </a:buClr>
              <a:buSzPts val="1500"/>
              <a:buNone/>
            </a:pPr>
            <a:r>
              <a:rPr lang="it-IT" sz="1500">
                <a:solidFill>
                  <a:srgbClr val="002060"/>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 </a:t>
            </a:r>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400" b="1">
                <a:solidFill>
                  <a:schemeClr val="accent6"/>
                </a:solidFill>
              </a:rPr>
              <a:t>Più Sicuri Casa: </a:t>
            </a:r>
            <a:r>
              <a:rPr lang="it-IT" sz="1400" b="1">
                <a:solidFill>
                  <a:srgbClr val="1F3864"/>
                </a:solidFill>
              </a:rPr>
              <a:t>Più Sicuri Casa</a:t>
            </a:r>
            <a:r>
              <a:rPr lang="it-IT" sz="1400">
                <a:solidFill>
                  <a:srgbClr val="1F3864"/>
                </a:solidFill>
              </a:rPr>
              <a:t>, 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3" action="ppaction://hlinksldjump"/>
              </a:rPr>
              <a:t>UNLIMITED 5G EP ONLINE CON SUPER FIBRA </a:t>
            </a:r>
            <a:r>
              <a:rPr lang="it-IT" sz="1400" b="1">
                <a:solidFill>
                  <a:srgbClr val="002060"/>
                </a:solidFill>
              </a:rPr>
              <a:t>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4" action="ppaction://hlinksldjump"/>
              </a:rPr>
              <a:t>UNLIMITED 5G ONLINE CON SUPER FIBRA </a:t>
            </a:r>
            <a:r>
              <a:rPr lang="it-IT" sz="1400" b="1">
                <a:solidFill>
                  <a:srgbClr val="002060"/>
                </a:solidFill>
              </a:rPr>
              <a:t>offerta untied su credito residuo</a:t>
            </a:r>
            <a:endParaRPr sz="14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89043" y="-88007"/>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SUPER INTERNET CASA FWA 5G OUTDOOR</a:t>
            </a:r>
            <a:endParaRPr/>
          </a:p>
        </p:txBody>
      </p:sp>
      <p:sp>
        <p:nvSpPr>
          <p:cNvPr id="113" name="Google Shape;113;p17"/>
          <p:cNvSpPr txBox="1">
            <a:spLocks noGrp="1"/>
          </p:cNvSpPr>
          <p:nvPr>
            <p:ph type="body" idx="2"/>
          </p:nvPr>
        </p:nvSpPr>
        <p:spPr>
          <a:xfrm>
            <a:off x="89044" y="473223"/>
            <a:ext cx="12013914" cy="639566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400"/>
              <a:buNone/>
            </a:pPr>
            <a:r>
              <a:rPr lang="it-IT" sz="1400" b="1">
                <a:solidFill>
                  <a:srgbClr val="1F3864"/>
                </a:solidFill>
              </a:rPr>
              <a:t>L’offerta Fissa Super Internet Casa Fwa 5G Outdoor </a:t>
            </a:r>
            <a:r>
              <a:rPr lang="it-IT" sz="1400">
                <a:solidFill>
                  <a:srgbClr val="1F3864"/>
                </a:solidFill>
              </a:rPr>
              <a:t>prevede navigazione senza limiti fino a</a:t>
            </a:r>
            <a:r>
              <a:rPr lang="it-IT" sz="1400" b="1">
                <a:solidFill>
                  <a:srgbClr val="1F3864"/>
                </a:solidFill>
              </a:rPr>
              <a:t> 300 Mega a 24,99€/mese </a:t>
            </a:r>
            <a:r>
              <a:rPr lang="it-IT" sz="1400">
                <a:solidFill>
                  <a:srgbClr val="1F3864"/>
                </a:solidFill>
              </a:rPr>
              <a:t>con chiamate illimitate verso numeri fissi e mobili nazionali, modem wi fi 7 + antenna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a:t>
            </a:r>
            <a:r>
              <a:rPr lang="it-IT" sz="14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24,99 euro al mese è composto, per i primi 12 mesi, da 12 euro al mese di servizio e Prime e 3 euro di rata del modem e 9,99 euro dell’antenna, dal 13° mese, da 12 euro di servizio e 3 euro di rata del modem e 9,99 euro dell’antenna, poi dal 48° mese 24,99 euro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FWA outdoor prevede l’installazione da parte di un tecnico, sarà quindi </a:t>
            </a:r>
            <a:r>
              <a:rPr lang="it-IT" sz="1400" b="1" u="sng">
                <a:solidFill>
                  <a:srgbClr val="1F3864"/>
                </a:solidFill>
              </a:rPr>
              <a:t>contattato per prendere un appuntamento per l’installazione</a:t>
            </a:r>
            <a:r>
              <a:rPr lang="it-IT" sz="1400">
                <a:solidFill>
                  <a:srgbClr val="1F3864"/>
                </a:solidFill>
              </a:rPr>
              <a:t>.</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Casa: </a:t>
            </a:r>
            <a:r>
              <a:rPr lang="it-IT" sz="1400" b="1">
                <a:solidFill>
                  <a:srgbClr val="1F3864"/>
                </a:solidFill>
              </a:rPr>
              <a:t>Più Sicuri Casa</a:t>
            </a:r>
            <a:r>
              <a:rPr lang="it-IT" sz="1400">
                <a:solidFill>
                  <a:srgbClr val="1F3864"/>
                </a:solidFill>
              </a:rPr>
              <a:t>, 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3" action="ppaction://hlinksldjump"/>
              </a:rPr>
              <a:t>UNLIMITED 5G EP ONLINE CON SUPER FIBRA </a:t>
            </a:r>
            <a:r>
              <a:rPr lang="it-IT" sz="1400" b="1">
                <a:solidFill>
                  <a:srgbClr val="002060"/>
                </a:solidFill>
              </a:rPr>
              <a:t>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4" action="ppaction://hlinksldjump"/>
              </a:rPr>
              <a:t>UNLIMITED 5G ONLINE CON SUPER FIBRA </a:t>
            </a:r>
            <a:r>
              <a:rPr lang="it-IT" sz="1400" b="1">
                <a:solidFill>
                  <a:srgbClr val="002060"/>
                </a:solidFill>
              </a:rPr>
              <a:t>offerta untied su credito residuo</a:t>
            </a:r>
            <a:endParaRPr sz="1400">
              <a:solidFill>
                <a:srgbClr val="002060"/>
              </a:solidFill>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0" y="7991"/>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SUPER INTERNET CASA FWA 5G INDOOR</a:t>
            </a:r>
            <a:endParaRPr/>
          </a:p>
        </p:txBody>
      </p:sp>
      <p:sp>
        <p:nvSpPr>
          <p:cNvPr id="119" name="Google Shape;119;p18"/>
          <p:cNvSpPr txBox="1">
            <a:spLocks noGrp="1"/>
          </p:cNvSpPr>
          <p:nvPr>
            <p:ph type="body" idx="2"/>
          </p:nvPr>
        </p:nvSpPr>
        <p:spPr>
          <a:xfrm>
            <a:off x="123290" y="585627"/>
            <a:ext cx="12068709" cy="618504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Fissa Super Internet Casa Fwa 5G Indoor </a:t>
            </a:r>
            <a:r>
              <a:rPr lang="it-IT" sz="1600">
                <a:solidFill>
                  <a:srgbClr val="1F3864"/>
                </a:solidFill>
              </a:rPr>
              <a:t>prevede navigazione senza limiti fino a</a:t>
            </a:r>
            <a:r>
              <a:rPr lang="it-IT" sz="1600" b="1">
                <a:solidFill>
                  <a:srgbClr val="1F3864"/>
                </a:solidFill>
              </a:rPr>
              <a:t> 300 Mega a 24,99€/mese </a:t>
            </a:r>
            <a:r>
              <a:rPr lang="it-IT" sz="1600">
                <a:solidFill>
                  <a:srgbClr val="1F3864"/>
                </a:solidFill>
              </a:rPr>
              <a:t>con chiamate 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a:t>
            </a:r>
            <a:r>
              <a:rPr lang="it-IT" sz="16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24,99 euro al mese è composto, per i primi 12 mesi, da 19 euro al mese di servizio e Prime e 5,99 euro di rata del modem, dal 13° mese, da 19 euro di servizio e 5,99 euro di rata del modem, poi dal 48° mese 24,99 euro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Il servizio FWA indoor prevede la consegna e l’installazione del modem da parte di un tecnico, sarà quindi </a:t>
            </a:r>
            <a:r>
              <a:rPr lang="it-IT" sz="1600" b="1" u="sng">
                <a:solidFill>
                  <a:srgbClr val="1F3864"/>
                </a:solidFill>
              </a:rPr>
              <a:t>contattato per prendere un appuntamento </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3" action="ppaction://hlinksldjump"/>
              </a:rPr>
              <a:t>UNLIMITED 5G EP ONLINE CON SUPER FIBRA </a:t>
            </a:r>
            <a:r>
              <a:rPr lang="it-IT" sz="1600" b="1">
                <a:solidFill>
                  <a:srgbClr val="002060"/>
                </a:solidFill>
              </a:rPr>
              <a:t>offerta tied con metodo di pagamento</a:t>
            </a:r>
            <a:endParaRPr sz="1600">
              <a:solidFill>
                <a:srgbClr val="002060"/>
              </a:solidFill>
            </a:endParaRPr>
          </a:p>
          <a:p>
            <a:pPr marL="228600" lvl="0" indent="-228600" algn="just" rtl="0">
              <a:lnSpc>
                <a:spcPct val="90000"/>
              </a:lnSpc>
              <a:spcBef>
                <a:spcPts val="1000"/>
              </a:spcBef>
              <a:spcAft>
                <a:spcPts val="0"/>
              </a:spcAft>
              <a:buClr>
                <a:srgbClr val="002060"/>
              </a:buClr>
              <a:buSzPts val="1600"/>
              <a:buChar char="•"/>
            </a:pPr>
            <a:r>
              <a:rPr lang="it-IT" sz="1600" b="1" u="sng">
                <a:solidFill>
                  <a:schemeClr val="hlink"/>
                </a:solidFill>
                <a:hlinkClick r:id="rId4" action="ppaction://hlinksldjump"/>
              </a:rPr>
              <a:t>UNLIMITED 5G ONLINE CON SUPER FIBRA </a:t>
            </a:r>
            <a:r>
              <a:rPr lang="it-IT" sz="1600" b="1">
                <a:solidFill>
                  <a:srgbClr val="002060"/>
                </a:solidFill>
              </a:rPr>
              <a:t>offerta untied su credito residuo</a:t>
            </a: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152400" y="136526"/>
            <a:ext cx="1064895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INTERNET 100/200 NGA</a:t>
            </a:r>
            <a:endParaRPr/>
          </a:p>
        </p:txBody>
      </p:sp>
      <p:sp>
        <p:nvSpPr>
          <p:cNvPr id="137" name="Google Shape;137;p21"/>
          <p:cNvSpPr txBox="1">
            <a:spLocks noGrp="1"/>
          </p:cNvSpPr>
          <p:nvPr>
            <p:ph type="body" idx="2"/>
          </p:nvPr>
        </p:nvSpPr>
        <p:spPr>
          <a:xfrm>
            <a:off x="152401" y="847725"/>
            <a:ext cx="11959120" cy="6010274"/>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500"/>
              <a:buNone/>
            </a:pPr>
            <a:r>
              <a:rPr lang="it-IT" sz="1500" b="1">
                <a:solidFill>
                  <a:srgbClr val="1F3864"/>
                </a:solidFill>
              </a:rPr>
              <a:t>L’offerta Fissa Internet a Casa </a:t>
            </a:r>
            <a:r>
              <a:rPr lang="it-IT" sz="1500">
                <a:solidFill>
                  <a:srgbClr val="1F3864"/>
                </a:solidFill>
              </a:rPr>
              <a:t>prevede navigazione senza limiti fino a </a:t>
            </a:r>
            <a:r>
              <a:rPr lang="it-IT" sz="1500" b="1">
                <a:solidFill>
                  <a:srgbClr val="1F3864"/>
                </a:solidFill>
              </a:rPr>
              <a:t>100/200 Mega </a:t>
            </a:r>
            <a:r>
              <a:rPr lang="it-IT" sz="1600" b="1">
                <a:solidFill>
                  <a:srgbClr val="1F3864"/>
                </a:solidFill>
              </a:rPr>
              <a:t>a </a:t>
            </a:r>
            <a:r>
              <a:rPr lang="it-IT" sz="1500" b="1">
                <a:solidFill>
                  <a:srgbClr val="1F3864"/>
                </a:solidFill>
              </a:rPr>
              <a:t>26,99€/mese </a:t>
            </a:r>
            <a:r>
              <a:rPr lang="it-IT" sz="1500">
                <a:solidFill>
                  <a:srgbClr val="1F3864"/>
                </a:solidFill>
              </a:rPr>
              <a:t>con chiamate illimitate verso numeri fissi e mobili nazionali, modem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Amazon prime inclusi.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Costo di attivazione di </a:t>
            </a:r>
            <a:r>
              <a:rPr lang="it-IT" sz="1600" b="1">
                <a:solidFill>
                  <a:srgbClr val="FF0000"/>
                </a:solidFill>
              </a:rPr>
              <a:t> 1,99€ al mese per 24 mesi.</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Riepilogando, il costo mensile del fisso è di 26,99€ è composto da 21€ di canone del servizio e 5,99€ di rata del modem per i primi 48 mesi, poi 26,99€ come canone del servizio.</a:t>
            </a:r>
            <a:r>
              <a:rPr lang="it-IT" sz="1400">
                <a:solidFill>
                  <a:srgbClr val="1F3864"/>
                </a:solidFill>
              </a:rPr>
              <a:t> E' inoltre previsto un costo di 10€ per anticipo del Modem.</a:t>
            </a:r>
            <a:endParaRPr/>
          </a:p>
          <a:p>
            <a:pPr marL="0" lvl="0" indent="0" algn="just" rtl="0">
              <a:lnSpc>
                <a:spcPct val="90000"/>
              </a:lnSpc>
              <a:spcBef>
                <a:spcPts val="1000"/>
              </a:spcBef>
              <a:spcAft>
                <a:spcPts val="0"/>
              </a:spcAft>
              <a:buClr>
                <a:schemeClr val="dk1"/>
              </a:buClr>
              <a:buSzPts val="1500"/>
              <a:buNone/>
            </a:pPr>
            <a:endParaRPr sz="15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400" b="1">
                <a:solidFill>
                  <a:schemeClr val="accent6"/>
                </a:solidFill>
              </a:rPr>
              <a:t>Più Sicuri Casa: </a:t>
            </a:r>
            <a:r>
              <a:rPr lang="it-IT" sz="1400" b="1">
                <a:solidFill>
                  <a:srgbClr val="1F3864"/>
                </a:solidFill>
              </a:rPr>
              <a:t>Più Sicuri Casa</a:t>
            </a:r>
            <a:r>
              <a:rPr lang="it-IT" sz="1400">
                <a:solidFill>
                  <a:srgbClr val="1F3864"/>
                </a:solidFill>
              </a:rPr>
              <a:t>, 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sz="1500">
              <a:solidFill>
                <a:srgbClr val="1F3864"/>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obbinamento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3" action="ppaction://hlinksldjump"/>
              </a:rPr>
              <a:t>UNLIMITED 5G EP ONLINE CON SUPER FIBRA </a:t>
            </a:r>
            <a:r>
              <a:rPr lang="it-IT" sz="1400" b="1">
                <a:solidFill>
                  <a:srgbClr val="002060"/>
                </a:solidFill>
              </a:rPr>
              <a:t>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4" action="ppaction://hlinksldjump"/>
              </a:rPr>
              <a:t>UNLIMITED 5G ONLINE CON SUPER FIBRA </a:t>
            </a:r>
            <a:r>
              <a:rPr lang="it-IT" sz="1400" b="1">
                <a:solidFill>
                  <a:srgbClr val="002060"/>
                </a:solidFill>
              </a:rPr>
              <a:t>offerta untied su credito residuo</a:t>
            </a:r>
            <a:endParaRPr sz="14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138" name="Google Shape;138;p21"/>
          <p:cNvPicPr preferRelativeResize="0"/>
          <p:nvPr/>
        </p:nvPicPr>
        <p:blipFill rotWithShape="1">
          <a:blip r:embed="rId5">
            <a:alphaModFix/>
          </a:blip>
          <a:srcRect/>
          <a:stretch/>
        </p:blipFill>
        <p:spPr>
          <a:xfrm>
            <a:off x="5616550" y="3368672"/>
            <a:ext cx="958899" cy="1206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p:nvPr/>
        </p:nvSpPr>
        <p:spPr>
          <a:xfrm>
            <a:off x="-16547" y="30812"/>
            <a:ext cx="12192000" cy="75799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Calibri"/>
              <a:buNone/>
            </a:pPr>
            <a:endParaRPr sz="3200" b="1" i="0" u="none" strike="noStrike" cap="none">
              <a:solidFill>
                <a:srgbClr val="FFFFFF"/>
              </a:solidFill>
              <a:latin typeface="Calibri"/>
              <a:ea typeface="Calibri"/>
              <a:cs typeface="Calibri"/>
              <a:sym typeface="Calibri"/>
            </a:endParaRPr>
          </a:p>
        </p:txBody>
      </p:sp>
      <p:sp>
        <p:nvSpPr>
          <p:cNvPr id="165" name="Google Shape;165;p25"/>
          <p:cNvSpPr/>
          <p:nvPr/>
        </p:nvSpPr>
        <p:spPr>
          <a:xfrm>
            <a:off x="7470510" y="2130945"/>
            <a:ext cx="4678671" cy="902198"/>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grpSp>
        <p:nvGrpSpPr>
          <p:cNvPr id="166" name="Google Shape;166;p25"/>
          <p:cNvGrpSpPr/>
          <p:nvPr/>
        </p:nvGrpSpPr>
        <p:grpSpPr>
          <a:xfrm>
            <a:off x="770631" y="1913766"/>
            <a:ext cx="4380684" cy="4394282"/>
            <a:chOff x="3006242" y="1256122"/>
            <a:chExt cx="5040000" cy="5040000"/>
          </a:xfrm>
        </p:grpSpPr>
        <p:sp>
          <p:nvSpPr>
            <p:cNvPr id="167" name="Google Shape;167;p25"/>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68" name="Google Shape;168;p25"/>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69" name="Google Shape;169;p25"/>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70" name="Google Shape;170;p25"/>
            <p:cNvSpPr/>
            <p:nvPr/>
          </p:nvSpPr>
          <p:spPr>
            <a:xfrm>
              <a:off x="3647678" y="1897558"/>
              <a:ext cx="3757125" cy="3757125"/>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171" name="Google Shape;171;p25"/>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pic>
        <p:nvPicPr>
          <p:cNvPr id="172" name="Google Shape;172;p25" descr="Immagine che contiene Elettrodomestico&#10;&#10;Descrizione generata automaticamente"/>
          <p:cNvPicPr preferRelativeResize="0"/>
          <p:nvPr/>
        </p:nvPicPr>
        <p:blipFill rotWithShape="1">
          <a:blip r:embed="rId3">
            <a:alphaModFix/>
          </a:blip>
          <a:srcRect/>
          <a:stretch/>
        </p:blipFill>
        <p:spPr>
          <a:xfrm>
            <a:off x="1692527" y="1915915"/>
            <a:ext cx="2536888" cy="4333277"/>
          </a:xfrm>
          <a:prstGeom prst="rect">
            <a:avLst/>
          </a:prstGeom>
          <a:noFill/>
          <a:ln>
            <a:noFill/>
          </a:ln>
        </p:spPr>
      </p:pic>
      <p:pic>
        <p:nvPicPr>
          <p:cNvPr id="173" name="Google Shape;173;p25"/>
          <p:cNvPicPr preferRelativeResize="0"/>
          <p:nvPr/>
        </p:nvPicPr>
        <p:blipFill rotWithShape="1">
          <a:blip r:embed="rId4">
            <a:alphaModFix/>
          </a:blip>
          <a:srcRect/>
          <a:stretch/>
        </p:blipFill>
        <p:spPr>
          <a:xfrm>
            <a:off x="515714" y="3662645"/>
            <a:ext cx="1537321" cy="827567"/>
          </a:xfrm>
          <a:prstGeom prst="rect">
            <a:avLst/>
          </a:prstGeom>
          <a:noFill/>
          <a:ln>
            <a:noFill/>
          </a:ln>
        </p:spPr>
      </p:pic>
      <p:sp>
        <p:nvSpPr>
          <p:cNvPr id="174" name="Google Shape;174;p25"/>
          <p:cNvSpPr txBox="1"/>
          <p:nvPr/>
        </p:nvSpPr>
        <p:spPr>
          <a:xfrm>
            <a:off x="7828246" y="2199018"/>
            <a:ext cx="4203832" cy="769441"/>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Doppia rete Wireless a 2,4 Ghz e 5 Ghz </a:t>
            </a:r>
            <a:r>
              <a:rPr lang="it-IT" sz="1100" b="0" i="0" u="none" strike="noStrike" cap="none">
                <a:solidFill>
                  <a:srgbClr val="686F75"/>
                </a:solidFill>
                <a:latin typeface="Montserrat"/>
                <a:ea typeface="Montserrat"/>
                <a:cs typeface="Montserrat"/>
                <a:sym typeface="Montserrat"/>
              </a:rPr>
              <a:t>che garantisce la migliore copertura e minor rischio di interferenze</a:t>
            </a:r>
            <a:endParaRPr/>
          </a:p>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Il nuovo design garantisce un ottimale posizionamento delle antenne per una </a:t>
            </a:r>
            <a:r>
              <a:rPr lang="it-IT" sz="1100" b="1" i="0" u="none" strike="noStrike" cap="none">
                <a:solidFill>
                  <a:srgbClr val="686F75"/>
                </a:solidFill>
                <a:latin typeface="Montserrat"/>
                <a:ea typeface="Montserrat"/>
                <a:cs typeface="Montserrat"/>
                <a:sym typeface="Montserrat"/>
              </a:rPr>
              <a:t>migliore copertura </a:t>
            </a:r>
            <a:r>
              <a:rPr lang="it-IT" sz="1100" b="0" i="0" u="none" strike="noStrike" cap="none">
                <a:solidFill>
                  <a:srgbClr val="686F75"/>
                </a:solidFill>
                <a:latin typeface="Montserrat"/>
                <a:ea typeface="Montserrat"/>
                <a:cs typeface="Montserrat"/>
                <a:sym typeface="Montserrat"/>
              </a:rPr>
              <a:t>indoor </a:t>
            </a:r>
            <a:endParaRPr/>
          </a:p>
        </p:txBody>
      </p:sp>
      <p:sp>
        <p:nvSpPr>
          <p:cNvPr id="175" name="Google Shape;175;p25"/>
          <p:cNvSpPr/>
          <p:nvPr/>
        </p:nvSpPr>
        <p:spPr>
          <a:xfrm>
            <a:off x="7490994" y="3087134"/>
            <a:ext cx="4658187" cy="740480"/>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76" name="Google Shape;176;p25"/>
          <p:cNvSpPr txBox="1"/>
          <p:nvPr/>
        </p:nvSpPr>
        <p:spPr>
          <a:xfrm>
            <a:off x="7803898" y="3154996"/>
            <a:ext cx="4216787" cy="600164"/>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Grazie alle </a:t>
            </a:r>
            <a:r>
              <a:rPr lang="it-IT" sz="1100" b="1" i="0" u="none" strike="noStrike" cap="none">
                <a:solidFill>
                  <a:srgbClr val="686F75"/>
                </a:solidFill>
                <a:latin typeface="Montserrat"/>
                <a:ea typeface="Montserrat"/>
                <a:cs typeface="Montserrat"/>
                <a:sym typeface="Montserrat"/>
              </a:rPr>
              <a:t>8 antenne </a:t>
            </a:r>
            <a:r>
              <a:rPr lang="it-IT" sz="1100" b="0" i="0" u="none" strike="noStrike" cap="none">
                <a:solidFill>
                  <a:srgbClr val="686F75"/>
                </a:solidFill>
                <a:latin typeface="Montserrat"/>
                <a:ea typeface="Montserrat"/>
                <a:cs typeface="Montserrat"/>
                <a:sym typeface="Montserrat"/>
              </a:rPr>
              <a:t>hai più velocità e connetti fino a </a:t>
            </a:r>
            <a:r>
              <a:rPr lang="it-IT" sz="1100" b="1" i="0" u="none" strike="noStrike" cap="none">
                <a:solidFill>
                  <a:srgbClr val="686F75"/>
                </a:solidFill>
                <a:latin typeface="Montserrat"/>
                <a:ea typeface="Montserrat"/>
                <a:cs typeface="Montserrat"/>
                <a:sym typeface="Montserrat"/>
              </a:rPr>
              <a:t>256 device</a:t>
            </a:r>
            <a:r>
              <a:rPr lang="it-IT" sz="1100" b="0" i="0" u="none" strike="noStrike" cap="none">
                <a:solidFill>
                  <a:srgbClr val="686F75"/>
                </a:solidFill>
                <a:latin typeface="Montserrat"/>
                <a:ea typeface="Montserrat"/>
                <a:cs typeface="Montserrat"/>
                <a:sym typeface="Montserrat"/>
              </a:rPr>
              <a:t> contemporaneamente con la migliore </a:t>
            </a:r>
            <a:r>
              <a:rPr lang="it-IT" sz="1100" b="1" i="0" u="none" strike="noStrike" cap="none">
                <a:solidFill>
                  <a:srgbClr val="686F75"/>
                </a:solidFill>
                <a:latin typeface="Montserrat"/>
                <a:ea typeface="Montserrat"/>
                <a:cs typeface="Montserrat"/>
                <a:sym typeface="Montserrat"/>
              </a:rPr>
              <a:t>stabilità di connessione</a:t>
            </a:r>
            <a:endParaRPr/>
          </a:p>
        </p:txBody>
      </p:sp>
      <p:sp>
        <p:nvSpPr>
          <p:cNvPr id="177" name="Google Shape;177;p25"/>
          <p:cNvSpPr/>
          <p:nvPr/>
        </p:nvSpPr>
        <p:spPr>
          <a:xfrm>
            <a:off x="7429608" y="3889549"/>
            <a:ext cx="4696513" cy="617042"/>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78" name="Google Shape;178;p25"/>
          <p:cNvSpPr txBox="1"/>
          <p:nvPr/>
        </p:nvSpPr>
        <p:spPr>
          <a:xfrm>
            <a:off x="7871492" y="3976842"/>
            <a:ext cx="4149194" cy="442712"/>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Maggiori performance </a:t>
            </a:r>
            <a:r>
              <a:rPr lang="it-IT" sz="1100" b="0" i="0" u="none" strike="noStrike" cap="non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79" name="Google Shape;179;p25"/>
          <p:cNvSpPr/>
          <p:nvPr/>
        </p:nvSpPr>
        <p:spPr>
          <a:xfrm>
            <a:off x="7406548" y="4665829"/>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80" name="Google Shape;180;p25"/>
          <p:cNvSpPr txBox="1"/>
          <p:nvPr/>
        </p:nvSpPr>
        <p:spPr>
          <a:xfrm>
            <a:off x="7807024" y="4742855"/>
            <a:ext cx="4213661"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Consente un maggiore </a:t>
            </a:r>
            <a:r>
              <a:rPr lang="it-IT" sz="1100" b="1" i="0" u="none" strike="noStrike" cap="none">
                <a:solidFill>
                  <a:srgbClr val="686F75"/>
                </a:solidFill>
                <a:latin typeface="Montserrat"/>
                <a:ea typeface="Montserrat"/>
                <a:cs typeface="Montserrat"/>
                <a:sym typeface="Montserrat"/>
              </a:rPr>
              <a:t>risparmio energetico</a:t>
            </a:r>
            <a:r>
              <a:rPr lang="it-IT" sz="1100" b="0" i="0" u="none" strike="noStrike" cap="none">
                <a:solidFill>
                  <a:srgbClr val="686F75"/>
                </a:solidFill>
                <a:latin typeface="Montserrat"/>
                <a:ea typeface="Montserrat"/>
                <a:cs typeface="Montserrat"/>
                <a:sym typeface="Montserrat"/>
              </a:rPr>
              <a:t>. La batteria dei dispositivi mobili connessi in Wi-Fi durerà di più</a:t>
            </a:r>
            <a:endParaRPr/>
          </a:p>
        </p:txBody>
      </p:sp>
      <p:sp>
        <p:nvSpPr>
          <p:cNvPr id="181" name="Google Shape;181;p25"/>
          <p:cNvSpPr/>
          <p:nvPr/>
        </p:nvSpPr>
        <p:spPr>
          <a:xfrm>
            <a:off x="7408319" y="5442665"/>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82" name="Google Shape;182;p25"/>
          <p:cNvSpPr txBox="1"/>
          <p:nvPr/>
        </p:nvSpPr>
        <p:spPr>
          <a:xfrm>
            <a:off x="7808312" y="5525934"/>
            <a:ext cx="4212373"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Imballaggio realizzato con </a:t>
            </a:r>
            <a:r>
              <a:rPr lang="it-IT" sz="1100" b="1" i="0" u="none" strike="noStrike" cap="none">
                <a:solidFill>
                  <a:srgbClr val="686F75"/>
                </a:solidFill>
                <a:latin typeface="Montserrat"/>
                <a:ea typeface="Montserrat"/>
                <a:cs typeface="Montserrat"/>
                <a:sym typeface="Montserrat"/>
              </a:rPr>
              <a:t>carta riciclata </a:t>
            </a:r>
            <a:r>
              <a:rPr lang="it-IT" sz="1100" b="0" i="0" u="none" strike="noStrike" cap="none">
                <a:solidFill>
                  <a:srgbClr val="686F75"/>
                </a:solidFill>
                <a:latin typeface="Montserrat"/>
                <a:ea typeface="Montserrat"/>
                <a:cs typeface="Montserrat"/>
                <a:sym typeface="Montserrat"/>
              </a:rPr>
              <a:t>e (per uno dei due modelli) il prodotto è realizzato con plastica riciclata </a:t>
            </a:r>
            <a:endParaRPr/>
          </a:p>
        </p:txBody>
      </p:sp>
      <p:sp>
        <p:nvSpPr>
          <p:cNvPr id="183" name="Google Shape;183;p25"/>
          <p:cNvSpPr/>
          <p:nvPr/>
        </p:nvSpPr>
        <p:spPr>
          <a:xfrm>
            <a:off x="5212198" y="313256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VELOCITA’</a:t>
            </a:r>
            <a:endParaRPr/>
          </a:p>
        </p:txBody>
      </p:sp>
      <p:sp>
        <p:nvSpPr>
          <p:cNvPr id="184" name="Google Shape;184;p25"/>
          <p:cNvSpPr/>
          <p:nvPr/>
        </p:nvSpPr>
        <p:spPr>
          <a:xfrm>
            <a:off x="5216127" y="390163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STREAMING e GAMING</a:t>
            </a:r>
            <a:endParaRPr/>
          </a:p>
        </p:txBody>
      </p:sp>
      <p:sp>
        <p:nvSpPr>
          <p:cNvPr id="185" name="Google Shape;185;p25"/>
          <p:cNvSpPr/>
          <p:nvPr/>
        </p:nvSpPr>
        <p:spPr>
          <a:xfrm>
            <a:off x="5216127" y="466670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RISPARMIO ENERGETICO</a:t>
            </a:r>
            <a:endParaRPr/>
          </a:p>
        </p:txBody>
      </p:sp>
      <p:sp>
        <p:nvSpPr>
          <p:cNvPr id="186" name="Google Shape;186;p25"/>
          <p:cNvSpPr/>
          <p:nvPr/>
        </p:nvSpPr>
        <p:spPr>
          <a:xfrm>
            <a:off x="5216126" y="545355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PLASTIC FREE</a:t>
            </a:r>
            <a:endParaRPr/>
          </a:p>
        </p:txBody>
      </p:sp>
      <p:sp>
        <p:nvSpPr>
          <p:cNvPr id="187" name="Google Shape;187;p25"/>
          <p:cNvSpPr/>
          <p:nvPr/>
        </p:nvSpPr>
        <p:spPr>
          <a:xfrm>
            <a:off x="5212199" y="234531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PIU’ COPERTURA IN TUTTA LA CASA</a:t>
            </a:r>
            <a:endParaRPr/>
          </a:p>
        </p:txBody>
      </p:sp>
      <p:sp>
        <p:nvSpPr>
          <p:cNvPr id="188" name="Google Shape;188;p25"/>
          <p:cNvSpPr txBox="1"/>
          <p:nvPr/>
        </p:nvSpPr>
        <p:spPr>
          <a:xfrm>
            <a:off x="165169" y="186766"/>
            <a:ext cx="10515600" cy="332399"/>
          </a:xfrm>
          <a:prstGeom prst="rect">
            <a:avLst/>
          </a:prstGeom>
          <a:noFill/>
          <a:ln>
            <a:noFill/>
          </a:ln>
        </p:spPr>
        <p:txBody>
          <a:bodyPr spcFirstLastPara="1" wrap="square" lIns="91425" tIns="45700" rIns="91425" bIns="45700" anchor="t" anchorCtr="0">
            <a:noAutofit/>
          </a:bodyPr>
          <a:lstStyle/>
          <a:p>
            <a:pPr marL="279400" marR="0" lvl="1" indent="0" algn="l" rtl="0">
              <a:lnSpc>
                <a:spcPct val="90000"/>
              </a:lnSpc>
              <a:spcBef>
                <a:spcPts val="0"/>
              </a:spcBef>
              <a:spcAft>
                <a:spcPts val="0"/>
              </a:spcAft>
              <a:buClr>
                <a:srgbClr val="000000"/>
              </a:buClr>
              <a:buSzPts val="2800"/>
              <a:buFont typeface="Arial"/>
              <a:buNone/>
            </a:pPr>
            <a:r>
              <a:rPr lang="it-IT" sz="2800" b="1" i="0" u="none" strike="noStrike" cap="none">
                <a:solidFill>
                  <a:srgbClr val="000000"/>
                </a:solidFill>
                <a:latin typeface="Montserrat"/>
                <a:ea typeface="Montserrat"/>
                <a:cs typeface="Montserrat"/>
                <a:sym typeface="Montserrat"/>
              </a:rPr>
              <a:t>NUOVO MODEM WI-FI 7 INCLUSO CON SUPER FIBRA</a:t>
            </a:r>
            <a:endParaRPr/>
          </a:p>
        </p:txBody>
      </p:sp>
      <p:sp>
        <p:nvSpPr>
          <p:cNvPr id="189" name="Google Shape;189;p25"/>
          <p:cNvSpPr/>
          <p:nvPr/>
        </p:nvSpPr>
        <p:spPr>
          <a:xfrm>
            <a:off x="2" y="1120344"/>
            <a:ext cx="12191998" cy="429222"/>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6A00"/>
              </a:buClr>
              <a:buSzPts val="1600"/>
              <a:buFont typeface="Montserrat"/>
              <a:buNone/>
            </a:pPr>
            <a:r>
              <a:rPr lang="it-IT" sz="1600" b="0" i="0" u="none" strike="noStrike" cap="none">
                <a:solidFill>
                  <a:srgbClr val="FF6A00"/>
                </a:solidFill>
                <a:latin typeface="Montserrat"/>
                <a:ea typeface="Montserrat"/>
                <a:cs typeface="Montserrat"/>
                <a:sym typeface="Montserrat"/>
              </a:rPr>
              <a:t>              </a:t>
            </a:r>
            <a:endParaRPr/>
          </a:p>
        </p:txBody>
      </p:sp>
      <p:sp>
        <p:nvSpPr>
          <p:cNvPr id="190" name="Google Shape;190;p25"/>
          <p:cNvSpPr txBox="1"/>
          <p:nvPr/>
        </p:nvSpPr>
        <p:spPr>
          <a:xfrm>
            <a:off x="2546098" y="1137461"/>
            <a:ext cx="7468734" cy="42299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A3838"/>
              </a:buClr>
              <a:buSzPts val="2000"/>
              <a:buFont typeface="Montserrat"/>
              <a:buNone/>
            </a:pPr>
            <a:r>
              <a:rPr lang="it-IT" sz="2000" b="1" i="0" u="none" strike="noStrike" cap="none">
                <a:solidFill>
                  <a:srgbClr val="3A3838"/>
                </a:solidFill>
                <a:latin typeface="Montserrat"/>
                <a:ea typeface="Montserrat"/>
                <a:cs typeface="Montserrat"/>
                <a:sym typeface="Montserrat"/>
              </a:rPr>
              <a:t>ANCORA PIÙ POTENZA E VELOCITÀ </a:t>
            </a:r>
            <a:endParaRPr/>
          </a:p>
        </p:txBody>
      </p:sp>
      <p:sp>
        <p:nvSpPr>
          <p:cNvPr id="191" name="Google Shape;191;p25"/>
          <p:cNvSpPr/>
          <p:nvPr/>
        </p:nvSpPr>
        <p:spPr>
          <a:xfrm rot="10800000" flipH="1">
            <a:off x="0" y="6485517"/>
            <a:ext cx="1882586" cy="372483"/>
          </a:xfrm>
          <a:custGeom>
            <a:avLst/>
            <a:gdLst/>
            <a:ahLst/>
            <a:cxnLst/>
            <a:rect l="l" t="t" r="r" b="b"/>
            <a:pathLst>
              <a:path w="3589686" h="1276644" extrusionOk="0">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2F2F2F"/>
              </a:solidFill>
              <a:latin typeface="Arial"/>
              <a:ea typeface="Arial"/>
              <a:cs typeface="Arial"/>
              <a:sym typeface="Arial"/>
            </a:endParaRPr>
          </a:p>
        </p:txBody>
      </p:sp>
      <p:sp>
        <p:nvSpPr>
          <p:cNvPr id="192" name="Google Shape;192;p25"/>
          <p:cNvSpPr/>
          <p:nvPr/>
        </p:nvSpPr>
        <p:spPr>
          <a:xfrm>
            <a:off x="288174" y="6557435"/>
            <a:ext cx="354235" cy="221397"/>
          </a:xfrm>
          <a:prstGeom prst="rect">
            <a:avLst/>
          </a:prstGeom>
          <a:noFill/>
          <a:ln>
            <a:noFill/>
          </a:ln>
        </p:spPr>
        <p:txBody>
          <a:bodyPr/>
          <a:lstStyle/>
          <a:p>
            <a:endParaRPr lang="it-IT"/>
          </a:p>
        </p:txBody>
      </p:sp>
      <p:sp>
        <p:nvSpPr>
          <p:cNvPr id="193" name="Google Shape;193;p25"/>
          <p:cNvSpPr txBox="1"/>
          <p:nvPr/>
        </p:nvSpPr>
        <p:spPr>
          <a:xfrm>
            <a:off x="4405667" y="6452329"/>
            <a:ext cx="5750695" cy="24622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7030A0"/>
              </a:buClr>
              <a:buSzPts val="1000"/>
              <a:buFont typeface="Arial"/>
              <a:buChar char="•"/>
            </a:pPr>
            <a:r>
              <a:rPr lang="it-IT" sz="1000" b="1" i="0" u="none" strike="noStrike" cap="none">
                <a:solidFill>
                  <a:schemeClr val="dk1"/>
                </a:solidFill>
                <a:latin typeface="Arial"/>
                <a:ea typeface="Arial"/>
                <a:cs typeface="Arial"/>
                <a:sym typeface="Arial"/>
              </a:rPr>
              <a:t>Solo su FTTC e FTTH AREE BIANCHE ( C&amp;D) viene dato il modem Wi-Fi 6</a:t>
            </a:r>
            <a:endParaRPr sz="1000" b="1" i="0" u="none" strike="noStrike" cap="none">
              <a:solidFill>
                <a:srgbClr val="FF6A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838200" y="365126"/>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a:t>
            </a:r>
            <a:r>
              <a:rPr lang="it-IT">
                <a:solidFill>
                  <a:srgbClr val="002060"/>
                </a:solidFill>
              </a:rPr>
              <a:t> </a:t>
            </a:r>
            <a:endParaRPr/>
          </a:p>
        </p:txBody>
      </p:sp>
      <p:sp>
        <p:nvSpPr>
          <p:cNvPr id="199" name="Google Shape;199;p26"/>
          <p:cNvSpPr txBox="1"/>
          <p:nvPr/>
        </p:nvSpPr>
        <p:spPr>
          <a:xfrm>
            <a:off x="3004505" y="1292650"/>
            <a:ext cx="827722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400"/>
              <a:buFont typeface="Arial"/>
              <a:buNone/>
            </a:pPr>
            <a:r>
              <a:rPr lang="it-IT" sz="1400" b="1" i="0" u="none" strike="noStrike" cap="none">
                <a:solidFill>
                  <a:srgbClr val="002060"/>
                </a:solidFill>
                <a:latin typeface="Calibri"/>
                <a:ea typeface="Calibri"/>
                <a:cs typeface="Calibri"/>
                <a:sym typeface="Calibri"/>
              </a:rPr>
              <a:t>INVISTA </a:t>
            </a:r>
            <a:r>
              <a:rPr lang="it-IT" sz="1400" b="0" i="0" u="none" strike="noStrike" cap="none">
                <a:solidFill>
                  <a:srgbClr val="002060"/>
                </a:solidFill>
                <a:latin typeface="Calibri"/>
                <a:ea typeface="Calibri"/>
                <a:cs typeface="Calibri"/>
                <a:sym typeface="Calibri"/>
              </a:rPr>
              <a:t>è il servizio che le permette di visualizzare il numero di chi la chiama sul display del suo telefono fisso al costo di </a:t>
            </a:r>
            <a:r>
              <a:rPr lang="it-IT" sz="1400" b="1" i="0" u="none" strike="noStrike" cap="none">
                <a:solidFill>
                  <a:srgbClr val="002060"/>
                </a:solidFill>
                <a:latin typeface="Calibri"/>
                <a:ea typeface="Calibri"/>
                <a:cs typeface="Calibri"/>
                <a:sym typeface="Calibri"/>
              </a:rPr>
              <a:t>2€/mese iva inclusa</a:t>
            </a:r>
            <a:r>
              <a:rPr lang="it-IT" sz="1400" b="0" i="0" u="none" strike="noStrike" cap="none">
                <a:solidFill>
                  <a:srgbClr val="002060"/>
                </a:solidFill>
                <a:latin typeface="Calibri"/>
                <a:ea typeface="Calibri"/>
                <a:cs typeface="Calibri"/>
                <a:sym typeface="Calibri"/>
              </a:rPr>
              <a:t>.</a:t>
            </a:r>
            <a:endParaRPr/>
          </a:p>
        </p:txBody>
      </p:sp>
      <p:sp>
        <p:nvSpPr>
          <p:cNvPr id="200" name="Google Shape;200;p26"/>
          <p:cNvSpPr txBox="1"/>
          <p:nvPr/>
        </p:nvSpPr>
        <p:spPr>
          <a:xfrm>
            <a:off x="766131" y="1281538"/>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b="0" i="0" u="none" strike="noStrike" cap="none">
                <a:solidFill>
                  <a:srgbClr val="002060"/>
                </a:solidFill>
                <a:latin typeface="Calibri"/>
                <a:ea typeface="Calibri"/>
                <a:cs typeface="Calibri"/>
                <a:sym typeface="Calibri"/>
              </a:rPr>
              <a:t>INVISTA</a:t>
            </a:r>
            <a:endParaRPr/>
          </a:p>
        </p:txBody>
      </p:sp>
      <p:sp>
        <p:nvSpPr>
          <p:cNvPr id="201" name="Google Shape;201;p26"/>
          <p:cNvSpPr txBox="1"/>
          <p:nvPr/>
        </p:nvSpPr>
        <p:spPr>
          <a:xfrm>
            <a:off x="3014030" y="3325642"/>
            <a:ext cx="8277225"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1400"/>
              <a:buFont typeface="Arial"/>
              <a:buNone/>
            </a:pPr>
            <a:r>
              <a:rPr lang="it-IT" sz="1400" b="0" i="0" u="none" strike="noStrike" cap="none">
                <a:solidFill>
                  <a:srgbClr val="002060"/>
                </a:solidFill>
                <a:latin typeface="Calibri"/>
                <a:ea typeface="Calibri"/>
                <a:cs typeface="Calibri"/>
                <a:sym typeface="Calibri"/>
              </a:rPr>
              <a:t>Per il posizionamento di una nuova Presa Fibra in un punto diverso dalla presa principale è previsto un costo di </a:t>
            </a:r>
            <a:r>
              <a:rPr lang="it-IT" sz="1400" b="1" i="0" u="none" strike="noStrike" cap="none">
                <a:solidFill>
                  <a:srgbClr val="002060"/>
                </a:solidFill>
                <a:latin typeface="Calibri"/>
                <a:ea typeface="Calibri"/>
                <a:cs typeface="Calibri"/>
                <a:sym typeface="Calibri"/>
              </a:rPr>
              <a:t>65€.</a:t>
            </a:r>
            <a:endParaRPr/>
          </a:p>
          <a:p>
            <a:pPr marL="0" marR="0" lvl="0" indent="0" algn="l" rtl="0">
              <a:lnSpc>
                <a:spcPct val="90000"/>
              </a:lnSpc>
              <a:spcBef>
                <a:spcPts val="1000"/>
              </a:spcBef>
              <a:spcAft>
                <a:spcPts val="0"/>
              </a:spcAft>
              <a:buClr>
                <a:srgbClr val="002060"/>
              </a:buClr>
              <a:buSzPts val="1400"/>
              <a:buFont typeface="Arial"/>
              <a:buNone/>
            </a:pPr>
            <a:r>
              <a:rPr lang="it-IT" sz="1400" b="0" i="0" u="none" strike="noStrike" cap="none">
                <a:solidFill>
                  <a:srgbClr val="002060"/>
                </a:solidFill>
                <a:latin typeface="Calibri"/>
                <a:ea typeface="Calibri"/>
                <a:cs typeface="Calibri"/>
                <a:sym typeface="Calibri"/>
              </a:rPr>
              <a:t>Per</a:t>
            </a:r>
            <a:r>
              <a:rPr lang="it-IT" sz="1400" b="1" i="0" u="none" strike="noStrike" cap="none">
                <a:solidFill>
                  <a:srgbClr val="002060"/>
                </a:solidFill>
                <a:latin typeface="Calibri"/>
                <a:ea typeface="Calibri"/>
                <a:cs typeface="Calibri"/>
                <a:sym typeface="Calibri"/>
              </a:rPr>
              <a:t> </a:t>
            </a:r>
            <a:r>
              <a:rPr lang="it-IT" sz="1400" b="0" i="0" u="none" strike="noStrike" cap="non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lang="it-IT" sz="1400" b="1" i="0" u="none" strike="noStrike" cap="none">
                <a:solidFill>
                  <a:srgbClr val="002060"/>
                </a:solidFill>
                <a:latin typeface="Calibri"/>
                <a:ea typeface="Calibri"/>
                <a:cs typeface="Calibri"/>
                <a:sym typeface="Calibri"/>
              </a:rPr>
              <a:t>35€.</a:t>
            </a:r>
            <a:endParaRPr sz="1400" b="0" i="0" u="none" strike="noStrike" cap="none">
              <a:solidFill>
                <a:srgbClr val="002060"/>
              </a:solidFill>
              <a:latin typeface="Calibri"/>
              <a:ea typeface="Calibri"/>
              <a:cs typeface="Calibri"/>
              <a:sym typeface="Calibri"/>
            </a:endParaRPr>
          </a:p>
        </p:txBody>
      </p:sp>
      <p:sp>
        <p:nvSpPr>
          <p:cNvPr id="202" name="Google Shape;202;p26"/>
          <p:cNvSpPr txBox="1"/>
          <p:nvPr/>
        </p:nvSpPr>
        <p:spPr>
          <a:xfrm>
            <a:off x="775657" y="3325642"/>
            <a:ext cx="2000250"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b="0" i="0" u="none" strike="noStrike" cap="none">
                <a:solidFill>
                  <a:srgbClr val="002060"/>
                </a:solidFill>
                <a:latin typeface="Calibri"/>
                <a:ea typeface="Calibri"/>
                <a:cs typeface="Calibri"/>
                <a:sym typeface="Calibri"/>
              </a:rPr>
              <a:t>SERVIZIO TECNICO</a:t>
            </a:r>
            <a:endParaRPr/>
          </a:p>
        </p:txBody>
      </p:sp>
      <p:sp>
        <p:nvSpPr>
          <p:cNvPr id="203" name="Google Shape;203;p26"/>
          <p:cNvSpPr txBox="1"/>
          <p:nvPr/>
        </p:nvSpPr>
        <p:spPr>
          <a:xfrm>
            <a:off x="3014030" y="2325814"/>
            <a:ext cx="8277225" cy="74012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400"/>
              <a:buFont typeface="Arial"/>
              <a:buNone/>
            </a:pPr>
            <a:r>
              <a:rPr lang="it-IT" sz="1400" b="1" i="0" u="none" strike="noStrike" cap="none">
                <a:solidFill>
                  <a:srgbClr val="002060"/>
                </a:solidFill>
                <a:latin typeface="Calibri"/>
                <a:ea typeface="Calibri"/>
                <a:cs typeface="Calibri"/>
                <a:sym typeface="Calibri"/>
              </a:rPr>
              <a:t>CALL YOUR COUNTRY HOME </a:t>
            </a:r>
            <a:r>
              <a:rPr lang="it-IT" sz="1400" b="0" i="0" u="none" strike="noStrike" cap="none">
                <a:solidFill>
                  <a:srgbClr val="002060"/>
                </a:solidFill>
                <a:latin typeface="Calibri"/>
                <a:ea typeface="Calibri"/>
                <a:cs typeface="Calibri"/>
                <a:sym typeface="Calibri"/>
              </a:rPr>
              <a:t>è L'opzione CHE prevede chiamate illimitate verso un elenco di paesi esteri al costo di </a:t>
            </a:r>
            <a:r>
              <a:rPr lang="it-IT" sz="1400" b="1" i="0" u="none" strike="noStrike" cap="none">
                <a:solidFill>
                  <a:srgbClr val="002060"/>
                </a:solidFill>
                <a:latin typeface="Calibri"/>
                <a:ea typeface="Calibri"/>
                <a:cs typeface="Calibri"/>
                <a:sym typeface="Calibri"/>
              </a:rPr>
              <a:t>5€/mese</a:t>
            </a:r>
            <a:endParaRPr/>
          </a:p>
        </p:txBody>
      </p:sp>
      <p:sp>
        <p:nvSpPr>
          <p:cNvPr id="204" name="Google Shape;204;p26"/>
          <p:cNvSpPr txBox="1"/>
          <p:nvPr/>
        </p:nvSpPr>
        <p:spPr>
          <a:xfrm>
            <a:off x="775656" y="2303590"/>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b="0" i="0" u="none" strike="noStrike" cap="none">
                <a:solidFill>
                  <a:srgbClr val="002060"/>
                </a:solidFill>
                <a:latin typeface="Calibri"/>
                <a:ea typeface="Calibri"/>
                <a:cs typeface="Calibri"/>
                <a:sym typeface="Calibri"/>
              </a:rPr>
              <a:t>CYC HOME</a:t>
            </a:r>
            <a:endParaRPr/>
          </a:p>
        </p:txBody>
      </p:sp>
      <p:sp>
        <p:nvSpPr>
          <p:cNvPr id="205" name="Google Shape;205;p26"/>
          <p:cNvSpPr txBox="1"/>
          <p:nvPr/>
        </p:nvSpPr>
        <p:spPr>
          <a:xfrm>
            <a:off x="819150" y="4636577"/>
            <a:ext cx="2009776"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2800"/>
              <a:buFont typeface="Arial"/>
              <a:buNone/>
            </a:pPr>
            <a:r>
              <a:rPr lang="it-IT" sz="2800" b="0" i="0" u="none" strike="noStrike" cap="none">
                <a:solidFill>
                  <a:srgbClr val="002060"/>
                </a:solidFill>
                <a:latin typeface="Calibri"/>
                <a:ea typeface="Calibri"/>
                <a:cs typeface="Calibri"/>
                <a:sym typeface="Calibri"/>
              </a:rPr>
              <a:t>PIU’ SICURI CASA</a:t>
            </a:r>
            <a:endParaRPr/>
          </a:p>
        </p:txBody>
      </p:sp>
      <p:sp>
        <p:nvSpPr>
          <p:cNvPr id="206" name="Google Shape;206;p26"/>
          <p:cNvSpPr txBox="1"/>
          <p:nvPr/>
        </p:nvSpPr>
        <p:spPr>
          <a:xfrm>
            <a:off x="3057519" y="4667298"/>
            <a:ext cx="8277225"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0" i="0" u="none" strike="noStrike" cap="none">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38200" y="365126"/>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 OFFERTE MOBILI </a:t>
            </a:r>
            <a:endParaRPr/>
          </a:p>
        </p:txBody>
      </p:sp>
      <p:sp>
        <p:nvSpPr>
          <p:cNvPr id="212" name="Google Shape;212;p27"/>
          <p:cNvSpPr txBox="1"/>
          <p:nvPr/>
        </p:nvSpPr>
        <p:spPr>
          <a:xfrm>
            <a:off x="2989780" y="1333498"/>
            <a:ext cx="9029500" cy="3536454"/>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1F3864"/>
              </a:buClr>
              <a:buSzPts val="1400"/>
              <a:buFont typeface="Arial"/>
              <a:buNone/>
            </a:pPr>
            <a:r>
              <a:rPr lang="it-IT" sz="1400" b="1" i="0" u="none" strike="noStrike" cap="small">
                <a:solidFill>
                  <a:srgbClr val="1F3864"/>
                </a:solidFill>
                <a:latin typeface="Calibri"/>
                <a:ea typeface="Calibri"/>
                <a:cs typeface="Calibri"/>
                <a:sym typeface="Calibri"/>
              </a:rPr>
              <a:t>Call Your Country Super 5G </a:t>
            </a:r>
            <a:r>
              <a:rPr lang="it-IT" sz="1400" b="0" i="0" u="none" strike="noStrike" cap="none">
                <a:solidFill>
                  <a:srgbClr val="1F3864"/>
                </a:solidFill>
                <a:latin typeface="Calibri"/>
                <a:ea typeface="Calibri"/>
                <a:cs typeface="Calibri"/>
                <a:sym typeface="Calibri"/>
              </a:rPr>
              <a:t>prevede minuti nazionali illimitati, 300 minuti verso 53 Paesi esteri e 100GB che diventano illimitati a seguito dell'attivazione del fisso al costo di </a:t>
            </a:r>
            <a:r>
              <a:rPr lang="it-IT" sz="1400" b="1" i="0" u="none" strike="noStrike" cap="none">
                <a:solidFill>
                  <a:srgbClr val="1F3864"/>
                </a:solidFill>
                <a:latin typeface="Calibri"/>
                <a:ea typeface="Calibri"/>
                <a:cs typeface="Calibri"/>
                <a:sym typeface="Calibri"/>
              </a:rPr>
              <a:t>9,99€/ mese</a:t>
            </a:r>
            <a:r>
              <a:rPr lang="it-IT" sz="1400" b="0" i="0" u="none" strike="noStrike" cap="none">
                <a:solidFill>
                  <a:srgbClr val="1F3864"/>
                </a:solidFill>
                <a:latin typeface="Calibri"/>
                <a:ea typeface="Calibri"/>
                <a:cs typeface="Calibri"/>
                <a:sym typeface="Calibri"/>
              </a:rPr>
              <a:t>. </a:t>
            </a:r>
            <a:endParaRPr/>
          </a:p>
          <a:p>
            <a:pPr marL="0" marR="0" lvl="0" indent="0" algn="just" rtl="0">
              <a:lnSpc>
                <a:spcPct val="90000"/>
              </a:lnSpc>
              <a:spcBef>
                <a:spcPts val="1000"/>
              </a:spcBef>
              <a:spcAft>
                <a:spcPts val="0"/>
              </a:spcAft>
              <a:buClr>
                <a:srgbClr val="1F3864"/>
              </a:buClr>
              <a:buSzPts val="1400"/>
              <a:buFont typeface="Arial"/>
              <a:buNone/>
            </a:pPr>
            <a:r>
              <a:rPr lang="it-IT" sz="1400" b="0" i="0" u="none" strike="noStrike" cap="none">
                <a:solidFill>
                  <a:srgbClr val="1F3864"/>
                </a:solidFill>
                <a:latin typeface="Calibri"/>
                <a:ea typeface="Calibri"/>
                <a:cs typeface="Calibri"/>
                <a:sym typeface="Calibri"/>
              </a:rPr>
              <a:t> Le ricordiamo di attivare I GIGA illimitati da Area Clienti o su APP WINDTRE.</a:t>
            </a:r>
            <a:endParaRPr/>
          </a:p>
          <a:p>
            <a:pPr marL="0" marR="0" lvl="0" indent="0" algn="just" rtl="0">
              <a:lnSpc>
                <a:spcPct val="90000"/>
              </a:lnSpc>
              <a:spcBef>
                <a:spcPts val="1000"/>
              </a:spcBef>
              <a:spcAft>
                <a:spcPts val="0"/>
              </a:spcAft>
              <a:buClr>
                <a:srgbClr val="1F3864"/>
              </a:buClr>
              <a:buSzPts val="1400"/>
              <a:buFont typeface="Arial"/>
              <a:buNone/>
            </a:pPr>
            <a:r>
              <a:rPr lang="it-IT" sz="1400" b="0" i="0" u="none" strike="noStrike" cap="none">
                <a:solidFill>
                  <a:srgbClr val="1F3864"/>
                </a:solidFill>
                <a:latin typeface="Calibri"/>
                <a:ea typeface="Calibri"/>
                <a:cs typeface="Calibri"/>
                <a:sym typeface="Calibri"/>
              </a:rPr>
              <a:t>L'offerta si rinnova automaticamente ogni mese a partire dalla data di attivazione. Riceverà la nuova SIM con un credito pari al primo costo mensile dell’offerta direttamente a casa e pagherà 24,98€ al corriere comprensivo del costo della SIM 10€ e il costo di attivazione di 4,99€ .</a:t>
            </a:r>
            <a:endParaRPr/>
          </a:p>
          <a:p>
            <a:pPr marL="0" marR="0" lvl="0" indent="0" algn="just" rtl="0">
              <a:lnSpc>
                <a:spcPct val="90000"/>
              </a:lnSpc>
              <a:spcBef>
                <a:spcPts val="1000"/>
              </a:spcBef>
              <a:spcAft>
                <a:spcPts val="0"/>
              </a:spcAft>
              <a:buClr>
                <a:srgbClr val="1F3864"/>
              </a:buClr>
              <a:buSzPts val="1400"/>
              <a:buFont typeface="Arial"/>
              <a:buNone/>
            </a:pPr>
            <a:r>
              <a:rPr lang="it-IT" sz="1400" b="0" i="0" u="none" strike="noStrike" cap="none">
                <a:solidFill>
                  <a:srgbClr val="1F3864"/>
                </a:solidFill>
                <a:latin typeface="Calibri"/>
                <a:ea typeface="Calibri"/>
                <a:cs typeface="Calibri"/>
                <a:sym typeface="Calibri"/>
              </a:rPr>
              <a:t>I GIGA illimitati non concorrono a incrementare i GIGA disponibili a condizioni domestiche</a:t>
            </a:r>
            <a:endParaRPr/>
          </a:p>
          <a:p>
            <a:pPr marL="0" marR="0" lvl="0" indent="0" algn="just" rtl="0">
              <a:lnSpc>
                <a:spcPct val="90000"/>
              </a:lnSpc>
              <a:spcBef>
                <a:spcPts val="1000"/>
              </a:spcBef>
              <a:spcAft>
                <a:spcPts val="0"/>
              </a:spcAft>
              <a:buClr>
                <a:srgbClr val="1F3864"/>
              </a:buClr>
              <a:buSzPts val="1400"/>
              <a:buFont typeface="Arial"/>
              <a:buNone/>
            </a:pPr>
            <a:r>
              <a:rPr lang="it-IT" sz="1400" b="0" i="0" u="none" strike="noStrike" cap="none">
                <a:solidFill>
                  <a:srgbClr val="1F3864"/>
                </a:solidFill>
                <a:latin typeface="Calibri"/>
                <a:ea typeface="Calibri"/>
                <a:cs typeface="Calibri"/>
                <a:sym typeface="Calibri"/>
              </a:rPr>
              <a:t>È possibile usufruire delle opzioni se si ha credito sulla SIM Ricaricabile. Se alla data di rinnovo dell’offerta il credito fosse insufficiente, il traffico incluso non verrà bloccato e, per assicurare la continuità del servizio, sarà comunque reso disponibile in anticipo per 1 giorno solare, fino alle 23:59 al costo di 0,99€. Qualora il giorno successivo il credito fosse ancora insufficiente, il traffico incluso sarà nuovamente disponibile per ulteriori 4 giorni, al costo di 1,99€. Tali importi non si applicano se è attivo il servizio Autoricarica.</a:t>
            </a:r>
            <a:endParaRPr/>
          </a:p>
          <a:p>
            <a:pPr marL="0" marR="0" lvl="0" indent="0" algn="l" rtl="0">
              <a:lnSpc>
                <a:spcPct val="90000"/>
              </a:lnSpc>
              <a:spcBef>
                <a:spcPts val="1000"/>
              </a:spcBef>
              <a:spcAft>
                <a:spcPts val="0"/>
              </a:spcAft>
              <a:buClr>
                <a:schemeClr val="dk1"/>
              </a:buClr>
              <a:buSzPts val="1400"/>
              <a:buFont typeface="Arial"/>
              <a:buNone/>
            </a:pPr>
            <a:endParaRPr sz="1400" b="0" i="0" u="none" strike="noStrike" cap="none">
              <a:solidFill>
                <a:srgbClr val="002060"/>
              </a:solidFill>
              <a:latin typeface="Calibri"/>
              <a:ea typeface="Calibri"/>
              <a:cs typeface="Calibri"/>
              <a:sym typeface="Calibri"/>
            </a:endParaRPr>
          </a:p>
        </p:txBody>
      </p:sp>
      <p:sp>
        <p:nvSpPr>
          <p:cNvPr id="213" name="Google Shape;213;p27"/>
          <p:cNvSpPr txBox="1"/>
          <p:nvPr/>
        </p:nvSpPr>
        <p:spPr>
          <a:xfrm>
            <a:off x="267128" y="1333498"/>
            <a:ext cx="2543872" cy="3512822"/>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1F3864"/>
              </a:buClr>
              <a:buSzPts val="2800"/>
              <a:buFont typeface="Arial"/>
              <a:buNone/>
            </a:pPr>
            <a:r>
              <a:rPr lang="it-IT" sz="2800" b="1" i="0" u="none" strike="noStrike" cap="none">
                <a:solidFill>
                  <a:srgbClr val="1F3864"/>
                </a:solidFill>
                <a:latin typeface="Calibri"/>
                <a:ea typeface="Calibri"/>
                <a:cs typeface="Calibri"/>
                <a:sym typeface="Calibri"/>
              </a:rPr>
              <a:t>CALL YOUR COUNTRY SUPER 5G </a:t>
            </a:r>
            <a:r>
              <a:rPr lang="it-IT" sz="2200" b="0" i="0" u="none" strike="noStrike" cap="none">
                <a:solidFill>
                  <a:srgbClr val="1F3864"/>
                </a:solidFill>
                <a:latin typeface="Calibri"/>
                <a:ea typeface="Calibri"/>
                <a:cs typeface="Calibri"/>
                <a:sym typeface="Calibri"/>
              </a:rPr>
              <a:t>solo per clienti con COD. FISC. straniero)</a:t>
            </a:r>
            <a:endParaRPr/>
          </a:p>
          <a:p>
            <a:pPr marL="228600" marR="0" lvl="0" indent="-50800" algn="l" rtl="0">
              <a:lnSpc>
                <a:spcPct val="90000"/>
              </a:lnSpc>
              <a:spcBef>
                <a:spcPts val="1000"/>
              </a:spcBef>
              <a:spcAft>
                <a:spcPts val="0"/>
              </a:spcAft>
              <a:buClr>
                <a:srgbClr val="002060"/>
              </a:buClr>
              <a:buSzPts val="2800"/>
              <a:buFont typeface="Arial"/>
              <a:buNone/>
            </a:pPr>
            <a:endParaRPr sz="2800" b="0" i="0" u="none" strike="noStrike" cap="none">
              <a:solidFill>
                <a:srgbClr val="00206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8"/>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it-IT" sz="4400" b="1">
                <a:solidFill>
                  <a:srgbClr val="FF0000"/>
                </a:solidFill>
              </a:rPr>
              <a:t>UNLIMITED 5G EP ONLINE CON SUPER FIBRA</a:t>
            </a:r>
            <a:endParaRPr b="1">
              <a:solidFill>
                <a:srgbClr val="FF0000"/>
              </a:solidFill>
            </a:endParaRPr>
          </a:p>
        </p:txBody>
      </p:sp>
      <p:sp>
        <p:nvSpPr>
          <p:cNvPr id="220" name="Google Shape;220;p28"/>
          <p:cNvSpPr txBox="1">
            <a:spLocks noGrp="1"/>
          </p:cNvSpPr>
          <p:nvPr>
            <p:ph type="body" idx="2"/>
          </p:nvPr>
        </p:nvSpPr>
        <p:spPr>
          <a:xfrm>
            <a:off x="457690" y="950849"/>
            <a:ext cx="11451281" cy="4789551"/>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EP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100 Giga in 5G che diventano </a:t>
            </a:r>
            <a:r>
              <a:rPr lang="it-IT" sz="1600" b="1">
                <a:solidFill>
                  <a:srgbClr val="002060"/>
                </a:solidFill>
              </a:rPr>
              <a:t>GIGA  illimitati </a:t>
            </a:r>
            <a:r>
              <a:rPr lang="it-IT" sz="1600">
                <a:solidFill>
                  <a:srgbClr val="002060"/>
                </a:solidFill>
              </a:rPr>
              <a:t>a seguito dell'attivazione del fisso. Le ricordiamo di attivarli su Area Clienti o su APP WINDTRE</a:t>
            </a:r>
            <a:endParaRPr/>
          </a:p>
          <a:p>
            <a:pPr marL="228600" lvl="0" indent="-228600" algn="just" rtl="0">
              <a:lnSpc>
                <a:spcPct val="90000"/>
              </a:lnSpc>
              <a:spcBef>
                <a:spcPts val="1000"/>
              </a:spcBef>
              <a:spcAft>
                <a:spcPts val="0"/>
              </a:spcAft>
              <a:buClr>
                <a:srgbClr val="FF0000"/>
              </a:buClr>
              <a:buSzPts val="1600"/>
              <a:buChar char="•"/>
            </a:pPr>
            <a:r>
              <a:rPr lang="it-IT" sz="1600">
                <a:solidFill>
                  <a:srgbClr val="FF0000"/>
                </a:solidFill>
              </a:rPr>
              <a:t>Il costo di attivazione </a:t>
            </a:r>
            <a:r>
              <a:rPr lang="it-IT" sz="1600" b="1">
                <a:solidFill>
                  <a:srgbClr val="FF0000"/>
                </a:solidFill>
              </a:rPr>
              <a:t>è  0€ </a:t>
            </a: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Riceverà, direttamente a casa, la nuova SIM con un credito pari al costo del primo canone.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Può scegliere di pagare il rinnovo automatico mensile  tramite </a:t>
            </a:r>
            <a:r>
              <a:rPr lang="it-IT" sz="1600" b="1">
                <a:solidFill>
                  <a:srgbClr val="002060"/>
                </a:solidFill>
              </a:rPr>
              <a:t>Carta di credito o tramite IBAN</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CDC </a:t>
            </a:r>
            <a:r>
              <a:rPr lang="it-IT" sz="1600">
                <a:solidFill>
                  <a:srgbClr val="002060"/>
                </a:solidFill>
              </a:rPr>
              <a:t>le invierò un link, al numero su cui la sto contattando, tramite il quale potrà completare l’operazione inserendo i dati della sua carta di credito.Il link ha una validità di 24 ore, oltre le quali non sarà più valido e l’ordine verrà annullato.</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IBAN </a:t>
            </a:r>
            <a:r>
              <a:rPr lang="it-IT" sz="1600">
                <a:solidFill>
                  <a:srgbClr val="002060"/>
                </a:solidFill>
              </a:rPr>
              <a:t>(conto corrente); quindi le chiedo di fornirmi il codice IBAN a lei intestata su cui procedere.</a:t>
            </a:r>
            <a:endParaRPr/>
          </a:p>
        </p:txBody>
      </p:sp>
      <p:sp>
        <p:nvSpPr>
          <p:cNvPr id="221" name="Google Shape;221;p28"/>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METODO  DI PAGAMENTO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9"/>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sz="4400" b="1">
                <a:solidFill>
                  <a:srgbClr val="002060"/>
                </a:solidFill>
              </a:rPr>
              <a:t>UNLIMITED 5G ONLINE CON SUPER FIBRA</a:t>
            </a:r>
            <a:endParaRPr b="1">
              <a:solidFill>
                <a:srgbClr val="002060"/>
              </a:solidFill>
            </a:endParaRPr>
          </a:p>
        </p:txBody>
      </p:sp>
      <p:sp>
        <p:nvSpPr>
          <p:cNvPr id="228" name="Google Shape;228;p29"/>
          <p:cNvSpPr txBox="1">
            <a:spLocks noGrp="1"/>
          </p:cNvSpPr>
          <p:nvPr>
            <p:ph type="body" idx="2"/>
          </p:nvPr>
        </p:nvSpPr>
        <p:spPr>
          <a:xfrm>
            <a:off x="131852" y="984813"/>
            <a:ext cx="11928296" cy="285798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50 Giga in 5G che diventano  </a:t>
            </a:r>
            <a:r>
              <a:rPr lang="it-IT" sz="1600" b="1">
                <a:solidFill>
                  <a:srgbClr val="002060"/>
                </a:solidFill>
              </a:rPr>
              <a:t>GIGA</a:t>
            </a:r>
            <a:r>
              <a:rPr lang="it-IT" sz="1600">
                <a:solidFill>
                  <a:srgbClr val="002060"/>
                </a:solidFill>
              </a:rPr>
              <a:t> </a:t>
            </a:r>
            <a:r>
              <a:rPr lang="it-IT" sz="1600" b="1">
                <a:solidFill>
                  <a:srgbClr val="002060"/>
                </a:solidFill>
              </a:rPr>
              <a:t>illimitati</a:t>
            </a:r>
            <a:r>
              <a:rPr lang="it-IT" sz="1600">
                <a:solidFill>
                  <a:srgbClr val="002060"/>
                </a:solidFill>
              </a:rPr>
              <a:t> a seguito dell'attivazione del fisso. Le ricordiamo di attivarli su Area Clienti o su APP WINDTRE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Il costo di attivazione </a:t>
            </a:r>
            <a:r>
              <a:rPr lang="it-IT" sz="1600" b="1">
                <a:solidFill>
                  <a:srgbClr val="002060"/>
                </a:solidFill>
              </a:rPr>
              <a:t>è in promozione a 0€ </a:t>
            </a:r>
            <a:r>
              <a:rPr lang="it-IT" sz="1600">
                <a:solidFill>
                  <a:srgbClr val="002060"/>
                </a:solidFill>
              </a:rPr>
              <a:t>INVECE DI 10€ per i clienti che mantengono attiva la SIM per 24 mesi, altrimenti l'importo di 10€ scontati nella promozione sarà addebitato sul credito residuo.</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b="1">
              <a:solidFill>
                <a:srgbClr val="002060"/>
              </a:solidFill>
            </a:endParaRPr>
          </a:p>
        </p:txBody>
      </p:sp>
      <p:sp>
        <p:nvSpPr>
          <p:cNvPr id="229" name="Google Shape;229;p29"/>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CREDITO RESIDUO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2"/>
          <p:cNvSpPr txBox="1"/>
          <p:nvPr/>
        </p:nvSpPr>
        <p:spPr>
          <a:xfrm>
            <a:off x="263704" y="933120"/>
            <a:ext cx="11743239" cy="565273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r>
              <a:rPr lang="it-IT" sz="1600" b="1">
                <a:solidFill>
                  <a:schemeClr val="dk1"/>
                </a:solidFill>
                <a:highlight>
                  <a:srgbClr val="FFFF00"/>
                </a:highlight>
                <a:latin typeface="Calibri"/>
                <a:ea typeface="Calibri"/>
                <a:cs typeface="Calibri"/>
                <a:sym typeface="Calibri"/>
              </a:rPr>
              <a:t>Solo se il Cliente ha già un’offerta WINDTRE associata in convergenza al Fisso, può intestare sullo stesso C.F. alter 2 SIM con questa offerta</a:t>
            </a:r>
            <a:endParaRPr sz="1600" b="1">
              <a:solidFill>
                <a:schemeClr val="dk1"/>
              </a:solidFill>
              <a:highlight>
                <a:srgbClr val="FFFF00"/>
              </a:highlight>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r>
              <a:rPr lang="it-IT" sz="1600">
                <a:solidFill>
                  <a:schemeClr val="dk1"/>
                </a:solidFill>
                <a:latin typeface="Calibri"/>
                <a:ea typeface="Calibri"/>
                <a:cs typeface="Calibri"/>
                <a:sym typeface="Calibri"/>
              </a:rPr>
              <a:t>Family 5G EP On Line con Super Fibra</a:t>
            </a:r>
            <a:r>
              <a:rPr lang="it-IT" sz="1600">
                <a:solidFill>
                  <a:srgbClr val="002060"/>
                </a:solidFill>
                <a:latin typeface="Calibri"/>
                <a:ea typeface="Calibri"/>
                <a:cs typeface="Calibri"/>
                <a:sym typeface="Calibri"/>
              </a:rPr>
              <a:t>, </a:t>
            </a:r>
            <a:r>
              <a:rPr lang="it-IT" sz="1600">
                <a:solidFill>
                  <a:srgbClr val="1F3864"/>
                </a:solidFill>
                <a:latin typeface="Calibri"/>
                <a:ea typeface="Calibri"/>
                <a:cs typeface="Calibri"/>
                <a:sym typeface="Calibri"/>
              </a:rPr>
              <a:t>al costo di </a:t>
            </a:r>
            <a:r>
              <a:rPr lang="it-IT" sz="1600" b="1">
                <a:solidFill>
                  <a:srgbClr val="1F3864"/>
                </a:solidFill>
                <a:latin typeface="Calibri"/>
                <a:ea typeface="Calibri"/>
                <a:cs typeface="Calibri"/>
                <a:sym typeface="Calibri"/>
              </a:rPr>
              <a:t>7,99€</a:t>
            </a:r>
            <a:r>
              <a:rPr lang="it-IT" sz="1600">
                <a:solidFill>
                  <a:srgbClr val="1F3864"/>
                </a:solidFill>
                <a:latin typeface="Calibri"/>
                <a:ea typeface="Calibri"/>
                <a:cs typeface="Calibri"/>
                <a:sym typeface="Calibri"/>
              </a:rPr>
              <a:t> al mese. </a:t>
            </a:r>
            <a:endParaRPr/>
          </a:p>
          <a:p>
            <a:pPr marL="0" marR="0" lvl="0" indent="0" algn="just" rtl="0">
              <a:lnSpc>
                <a:spcPct val="90000"/>
              </a:lnSpc>
              <a:spcBef>
                <a:spcPts val="1000"/>
              </a:spcBef>
              <a:spcAft>
                <a:spcPts val="0"/>
              </a:spcAft>
              <a:buClr>
                <a:srgbClr val="1F3864"/>
              </a:buClr>
              <a:buSzPts val="1600"/>
              <a:buFont typeface="Arial"/>
              <a:buNone/>
            </a:pPr>
            <a:r>
              <a:rPr lang="it-IT" sz="1600">
                <a:solidFill>
                  <a:srgbClr val="1F3864"/>
                </a:solidFill>
                <a:latin typeface="Calibri"/>
                <a:ea typeface="Calibri"/>
                <a:cs typeface="Calibri"/>
                <a:sym typeface="Calibri"/>
              </a:rPr>
              <a:t>L’offerta include</a:t>
            </a:r>
            <a:endParaRPr sz="1600">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Minuti illimitati </a:t>
            </a:r>
            <a:r>
              <a:rPr lang="it-IT" sz="1600">
                <a:solidFill>
                  <a:srgbClr val="002060"/>
                </a:solidFill>
                <a:latin typeface="Calibri"/>
                <a:ea typeface="Calibri"/>
                <a:cs typeface="Calibri"/>
                <a:sym typeface="Calibri"/>
              </a:rPr>
              <a:t>verso tutti,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200 SMS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100 Giga in 5G che diventano </a:t>
            </a:r>
            <a:r>
              <a:rPr lang="it-IT" sz="1600" b="1">
                <a:solidFill>
                  <a:srgbClr val="002060"/>
                </a:solidFill>
                <a:latin typeface="Calibri"/>
                <a:ea typeface="Calibri"/>
                <a:cs typeface="Calibri"/>
                <a:sym typeface="Calibri"/>
              </a:rPr>
              <a:t>GIGA  illimitati </a:t>
            </a:r>
            <a:r>
              <a:rPr lang="it-IT" sz="1600">
                <a:solidFill>
                  <a:srgbClr val="002060"/>
                </a:solidFill>
                <a:latin typeface="Calibri"/>
                <a:ea typeface="Calibri"/>
                <a:cs typeface="Calibri"/>
                <a:sym typeface="Calibri"/>
              </a:rPr>
              <a:t>a seguito dell'attivazione del fisso. Le ricordiamo di attivarli su Area Clienti o su APP WINDTRE</a:t>
            </a:r>
            <a:endParaRPr/>
          </a:p>
          <a:p>
            <a:pPr marL="228600" marR="0" lvl="0" indent="-228600" algn="just" rtl="0">
              <a:lnSpc>
                <a:spcPct val="90000"/>
              </a:lnSpc>
              <a:spcBef>
                <a:spcPts val="1000"/>
              </a:spcBef>
              <a:spcAft>
                <a:spcPts val="0"/>
              </a:spcAft>
              <a:buClr>
                <a:srgbClr val="1F3864"/>
              </a:buClr>
              <a:buSzPts val="1600"/>
              <a:buFont typeface="Arial"/>
              <a:buChar char="•"/>
            </a:pPr>
            <a:r>
              <a:rPr lang="it-IT" sz="1600" b="1">
                <a:solidFill>
                  <a:srgbClr val="1F3864"/>
                </a:solidFill>
                <a:latin typeface="Montserrat"/>
                <a:ea typeface="Montserrat"/>
                <a:cs typeface="Montserrat"/>
                <a:sym typeface="Montserrat"/>
              </a:rPr>
              <a:t>C</a:t>
            </a:r>
            <a:r>
              <a:rPr lang="it-IT" sz="1600" b="1">
                <a:solidFill>
                  <a:srgbClr val="1F3864"/>
                </a:solidFill>
                <a:latin typeface="Calibri"/>
                <a:ea typeface="Calibri"/>
                <a:cs typeface="Calibri"/>
                <a:sym typeface="Calibri"/>
              </a:rPr>
              <a:t>osto di attivazione </a:t>
            </a:r>
            <a:r>
              <a:rPr lang="it-IT" sz="1600">
                <a:solidFill>
                  <a:srgbClr val="FF0000"/>
                </a:solidFill>
                <a:latin typeface="Calibri"/>
                <a:ea typeface="Calibri"/>
                <a:cs typeface="Calibri"/>
                <a:sym typeface="Calibri"/>
              </a:rPr>
              <a:t>Il costo di attivazione </a:t>
            </a:r>
            <a:r>
              <a:rPr lang="it-IT" sz="1600" b="1">
                <a:solidFill>
                  <a:srgbClr val="FF0000"/>
                </a:solidFill>
                <a:latin typeface="Calibri"/>
                <a:ea typeface="Calibri"/>
                <a:cs typeface="Calibri"/>
                <a:sym typeface="Calibri"/>
              </a:rPr>
              <a:t>è  0€ </a:t>
            </a:r>
            <a:endParaRPr sz="1600" b="1">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L'offerta si rinnova automaticamente ogni mese a partire dalla data di attivazione</a:t>
            </a:r>
            <a:endParaRPr/>
          </a:p>
          <a:p>
            <a:pPr marL="0" marR="0" lvl="0" indent="0" algn="l" rtl="0">
              <a:lnSpc>
                <a:spcPct val="90000"/>
              </a:lnSpc>
              <a:spcBef>
                <a:spcPts val="100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Riceverà, direttamente a casa, la nuova SIM con un credito pari al costo del primo canone.</a:t>
            </a:r>
            <a:endParaRPr/>
          </a:p>
          <a:p>
            <a:pPr marL="0" marR="0" lvl="0" indent="0" algn="l"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Può scegliere di pagare il rinnovo automatico mensile  tramite </a:t>
            </a:r>
            <a:r>
              <a:rPr lang="it-IT" sz="1600" b="1">
                <a:solidFill>
                  <a:srgbClr val="002060"/>
                </a:solidFill>
                <a:latin typeface="Calibri"/>
                <a:ea typeface="Calibri"/>
                <a:cs typeface="Calibri"/>
                <a:sym typeface="Calibri"/>
              </a:rPr>
              <a:t>tramite IBAN o Carta di credito </a:t>
            </a:r>
            <a:endParaRPr/>
          </a:p>
          <a:p>
            <a:pPr marL="228600" marR="0" lvl="0" indent="-228600" algn="l" rtl="0">
              <a:lnSpc>
                <a:spcPct val="90000"/>
              </a:lnSpc>
              <a:spcBef>
                <a:spcPts val="1000"/>
              </a:spcBef>
              <a:spcAft>
                <a:spcPts val="0"/>
              </a:spcAft>
              <a:buClr>
                <a:srgbClr val="FF0000"/>
              </a:buClr>
              <a:buSzPts val="1600"/>
              <a:buFont typeface="Arial"/>
              <a:buChar char="•"/>
            </a:pPr>
            <a:r>
              <a:rPr lang="it-IT" sz="1600" b="1">
                <a:solidFill>
                  <a:srgbClr val="FF0000"/>
                </a:solidFill>
                <a:latin typeface="Calibri"/>
                <a:ea typeface="Calibri"/>
                <a:cs typeface="Calibri"/>
                <a:sym typeface="Calibri"/>
              </a:rPr>
              <a:t>Pagamento tramite IBAN </a:t>
            </a:r>
            <a:r>
              <a:rPr lang="it-IT" sz="1600">
                <a:solidFill>
                  <a:srgbClr val="FF0000"/>
                </a:solidFill>
                <a:latin typeface="Calibri"/>
                <a:ea typeface="Calibri"/>
                <a:cs typeface="Calibri"/>
                <a:sym typeface="Calibri"/>
              </a:rPr>
              <a:t>(conto corrente); quindi le chiedo di fornirmi il codice IBAN a lei intestata su cui procedere.</a:t>
            </a:r>
            <a:r>
              <a:rPr lang="it-IT" sz="1600" b="1">
                <a:solidFill>
                  <a:srgbClr val="FF0000"/>
                </a:solidFill>
                <a:latin typeface="Calibri"/>
                <a:ea typeface="Calibri"/>
                <a:cs typeface="Calibri"/>
                <a:sym typeface="Calibri"/>
              </a:rPr>
              <a:t> </a:t>
            </a:r>
            <a:endParaRPr/>
          </a:p>
          <a:p>
            <a:pPr marL="228600" marR="0" lvl="0" indent="-228600" algn="l"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Pagamento tramite Carta di Credito </a:t>
            </a:r>
            <a:r>
              <a:rPr lang="it-IT" sz="1600">
                <a:solidFill>
                  <a:srgbClr val="002060"/>
                </a:solidFill>
                <a:latin typeface="Calibri"/>
                <a:ea typeface="Calibri"/>
                <a:cs typeface="Calibri"/>
                <a:sym typeface="Calibri"/>
              </a:rPr>
              <a:t>le invierò un link, al numero su cui la sto contattando, tramite il quale potrà completare l’operazione inserendo i dati della sua carta di credito. Il link ha una validità di 24 ore, oltre le quali non sarà più valido e l’ordine verrà annullato.</a:t>
            </a:r>
            <a:endParaRPr/>
          </a:p>
          <a:p>
            <a:pPr marL="228600" marR="0" lvl="0" indent="-127000" algn="l" rtl="0">
              <a:lnSpc>
                <a:spcPct val="90000"/>
              </a:lnSpc>
              <a:spcBef>
                <a:spcPts val="1000"/>
              </a:spcBef>
              <a:spcAft>
                <a:spcPts val="0"/>
              </a:spcAft>
              <a:buClr>
                <a:schemeClr val="dk1"/>
              </a:buClr>
              <a:buSzPts val="1600"/>
              <a:buFont typeface="Arial"/>
              <a:buNone/>
            </a:pPr>
            <a:endParaRPr sz="1600">
              <a:solidFill>
                <a:srgbClr val="002060"/>
              </a:solidFill>
              <a:latin typeface="Calibri"/>
              <a:ea typeface="Calibri"/>
              <a:cs typeface="Calibri"/>
              <a:sym typeface="Calibri"/>
            </a:endParaRPr>
          </a:p>
        </p:txBody>
      </p:sp>
      <p:sp>
        <p:nvSpPr>
          <p:cNvPr id="249" name="Google Shape;249;p32"/>
          <p:cNvSpPr txBox="1"/>
          <p:nvPr/>
        </p:nvSpPr>
        <p:spPr>
          <a:xfrm>
            <a:off x="131852" y="120134"/>
            <a:ext cx="1106954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400"/>
              <a:buFont typeface="Calibri"/>
              <a:buNone/>
            </a:pPr>
            <a:r>
              <a:rPr lang="it-IT" sz="4400">
                <a:solidFill>
                  <a:schemeClr val="dk1"/>
                </a:solidFill>
                <a:latin typeface="Calibri"/>
                <a:ea typeface="Calibri"/>
                <a:cs typeface="Calibri"/>
                <a:sym typeface="Calibri"/>
              </a:rPr>
              <a:t>Family 5G EP On Line con Super Fibra</a:t>
            </a:r>
            <a:endParaRPr/>
          </a:p>
        </p:txBody>
      </p:sp>
      <p:sp>
        <p:nvSpPr>
          <p:cNvPr id="250" name="Google Shape;250;p32"/>
          <p:cNvSpPr/>
          <p:nvPr/>
        </p:nvSpPr>
        <p:spPr>
          <a:xfrm>
            <a:off x="10322097" y="70595"/>
            <a:ext cx="1684846" cy="769441"/>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a:solidFill>
                  <a:schemeClr val="lt1"/>
                </a:solidFill>
                <a:latin typeface="Calibri"/>
                <a:ea typeface="Calibri"/>
                <a:cs typeface="Calibri"/>
                <a:sym typeface="Calibri"/>
              </a:rPr>
              <a:t>METODO  DI PAGAMENTO</a:t>
            </a:r>
            <a:endParaRPr/>
          </a:p>
        </p:txBody>
      </p:sp>
      <p:sp>
        <p:nvSpPr>
          <p:cNvPr id="251" name="Google Shape;251;p32"/>
          <p:cNvSpPr/>
          <p:nvPr/>
        </p:nvSpPr>
        <p:spPr>
          <a:xfrm>
            <a:off x="544286" y="-22489"/>
            <a:ext cx="12192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3378</Words>
  <Application>Microsoft Office PowerPoint</Application>
  <PresentationFormat>Widescreen</PresentationFormat>
  <Paragraphs>159</Paragraphs>
  <Slides>13</Slides>
  <Notes>13</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13</vt:i4>
      </vt:variant>
    </vt:vector>
  </HeadingPairs>
  <TitlesOfParts>
    <vt:vector size="18" baseType="lpstr">
      <vt:lpstr>Calibri</vt:lpstr>
      <vt:lpstr>Montserrat</vt:lpstr>
      <vt:lpstr>Arial</vt:lpstr>
      <vt:lpstr>Montserrat Black</vt:lpstr>
      <vt:lpstr>Tema di Office</vt:lpstr>
      <vt:lpstr>FTTH OPEN FIBER</vt:lpstr>
      <vt:lpstr>FTTH EXTRA</vt:lpstr>
      <vt:lpstr>INTERNET 100/200</vt:lpstr>
      <vt:lpstr>SUPER FIBRA FTTH C&amp;D</vt:lpstr>
      <vt:lpstr>SUPER INTERNET CASA FWA 5G OUTDOOR</vt:lpstr>
      <vt:lpstr>SUPER INTERNET CASA FWA 5G INDOOR</vt:lpstr>
      <vt:lpstr>INTERNET 100/200 NGA</vt:lpstr>
      <vt:lpstr>Presentazione standard di PowerPoint</vt:lpstr>
      <vt:lpstr>OPZIONI </vt:lpstr>
      <vt:lpstr>OPZIONI OFFERTE MOBILI </vt:lpstr>
      <vt:lpstr>UNLIMITED 5G EP ONLINE CON SUPER FIBRA</vt:lpstr>
      <vt:lpstr>UNLIMITED 5G ONLINE CON SUPER FIBRA</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Claudia Martinenghi</cp:lastModifiedBy>
  <cp:revision>1</cp:revision>
  <dcterms:modified xsi:type="dcterms:W3CDTF">2026-10-05T13:01:50Z</dcterms:modified>
</cp:coreProperties>
</file>