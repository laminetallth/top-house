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263" r:id="rId5"/>
    <p:sldId id="2146847120" r:id="rId6"/>
    <p:sldId id="2146847173" r:id="rId7"/>
    <p:sldId id="2146847174" r:id="rId8"/>
    <p:sldId id="2146847183" r:id="rId9"/>
    <p:sldId id="2146847175" r:id="rId10"/>
    <p:sldId id="2146847176" r:id="rId11"/>
    <p:sldId id="2146847177" r:id="rId12"/>
    <p:sldId id="2146847161" r:id="rId13"/>
    <p:sldId id="2146847162" r:id="rId14"/>
    <p:sldId id="2146847178" r:id="rId15"/>
    <p:sldId id="2146847179" r:id="rId16"/>
    <p:sldId id="2146847180" r:id="rId17"/>
    <p:sldId id="2146847181" r:id="rId18"/>
    <p:sldId id="2146847182" r:id="rId19"/>
    <p:sldId id="2146847166" r:id="rId20"/>
    <p:sldId id="2146847167" r:id="rId21"/>
    <p:sldId id="2146847108" r:id="rId22"/>
    <p:sldId id="2146847169" r:id="rId23"/>
    <p:sldId id="2146847170" r:id="rId24"/>
    <p:sldId id="2146847171" r:id="rId25"/>
    <p:sldId id="2146847172" r:id="rId26"/>
    <p:sldId id="2146847074" r:id="rId27"/>
    <p:sldId id="2146847075" r:id="rId28"/>
    <p:sldId id="806" r:id="rId29"/>
    <p:sldId id="800" r:id="rId30"/>
    <p:sldId id="2146847080" r:id="rId31"/>
    <p:sldId id="2146847081" r:id="rId32"/>
    <p:sldId id="813" r:id="rId33"/>
    <p:sldId id="814" r:id="rId34"/>
    <p:sldId id="810" r:id="rId35"/>
    <p:sldId id="2146847153" r:id="rId36"/>
    <p:sldId id="2146847154" r:id="rId3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uri Fabrizio" initials="MF" lastIdx="2" clrIdx="0">
    <p:extLst>
      <p:ext uri="{19B8F6BF-5375-455C-9EA6-DF929625EA0E}">
        <p15:presenceInfo xmlns:p15="http://schemas.microsoft.com/office/powerpoint/2012/main" userId="S::fabrizio.mauri@gruppohera.it::ece098dc-c910-4589-95d2-9acc22d616d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00"/>
    <a:srgbClr val="CCDCE5"/>
    <a:srgbClr val="000000"/>
    <a:srgbClr val="054977"/>
    <a:srgbClr val="FFCE33"/>
    <a:srgbClr val="8BC750"/>
    <a:srgbClr val="F21C0A"/>
    <a:srgbClr val="4472C4"/>
    <a:srgbClr val="FFE8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6959D-8286-47C0-9B3E-9697BFBA93D4}" v="11" dt="2026-10-16T10:42:51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Stile chiaro 1 - Color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Stile chiaro 1 - Color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75DCB02-9BB8-47FD-8907-85C794F793BA}" styleName="Stile con tema 1 - Color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ZO JACOPO" userId="fdcb7f51-b335-4df9-ade6-d63d6f2c0a7e" providerId="ADAL" clId="{0C7407F9-4681-415C-AFAA-2B6CF1D878BD}"/>
    <pc:docChg chg="undo custSel modSld">
      <pc:chgData name="RIZZO JACOPO" userId="fdcb7f51-b335-4df9-ade6-d63d6f2c0a7e" providerId="ADAL" clId="{0C7407F9-4681-415C-AFAA-2B6CF1D878BD}" dt="2026-10-16T10:43:26.317" v="1088" actId="20577"/>
      <pc:docMkLst>
        <pc:docMk/>
      </pc:docMkLst>
      <pc:sldChg chg="modSp mod">
        <pc:chgData name="RIZZO JACOPO" userId="fdcb7f51-b335-4df9-ade6-d63d6f2c0a7e" providerId="ADAL" clId="{0C7407F9-4681-415C-AFAA-2B6CF1D878BD}" dt="2026-10-16T07:53:38.125" v="620" actId="20577"/>
        <pc:sldMkLst>
          <pc:docMk/>
          <pc:sldMk cId="2137343841" sldId="263"/>
        </pc:sldMkLst>
        <pc:spChg chg="mod">
          <ac:chgData name="RIZZO JACOPO" userId="fdcb7f51-b335-4df9-ade6-d63d6f2c0a7e" providerId="ADAL" clId="{0C7407F9-4681-415C-AFAA-2B6CF1D878BD}" dt="2026-10-16T07:53:38.125" v="620" actId="20577"/>
          <ac:spMkLst>
            <pc:docMk/>
            <pc:sldMk cId="2137343841" sldId="263"/>
            <ac:spMk id="18434" creationId="{00000000-0000-0000-0000-000000000000}"/>
          </ac:spMkLst>
        </pc:spChg>
      </pc:sldChg>
      <pc:sldChg chg="modSp mod">
        <pc:chgData name="RIZZO JACOPO" userId="fdcb7f51-b335-4df9-ade6-d63d6f2c0a7e" providerId="ADAL" clId="{0C7407F9-4681-415C-AFAA-2B6CF1D878BD}" dt="2026-09-16T10:15:56.761" v="578" actId="20577"/>
        <pc:sldMkLst>
          <pc:docMk/>
          <pc:sldMk cId="3178394485" sldId="2146847074"/>
        </pc:sldMkLst>
        <pc:spChg chg="mod">
          <ac:chgData name="RIZZO JACOPO" userId="fdcb7f51-b335-4df9-ade6-d63d6f2c0a7e" providerId="ADAL" clId="{0C7407F9-4681-415C-AFAA-2B6CF1D878BD}" dt="2026-09-16T10:15:56.761" v="578" actId="20577"/>
          <ac:spMkLst>
            <pc:docMk/>
            <pc:sldMk cId="3178394485" sldId="2146847074"/>
            <ac:spMk id="3" creationId="{227A5C2D-D3A5-3132-B84E-08CE3FEBC8A3}"/>
          </ac:spMkLst>
        </pc:spChg>
      </pc:sldChg>
      <pc:sldChg chg="modSp mod">
        <pc:chgData name="RIZZO JACOPO" userId="fdcb7f51-b335-4df9-ade6-d63d6f2c0a7e" providerId="ADAL" clId="{0C7407F9-4681-415C-AFAA-2B6CF1D878BD}" dt="2026-09-16T10:15:52.289" v="577" actId="20577"/>
        <pc:sldMkLst>
          <pc:docMk/>
          <pc:sldMk cId="1466865481" sldId="2146847080"/>
        </pc:sldMkLst>
        <pc:spChg chg="mod">
          <ac:chgData name="RIZZO JACOPO" userId="fdcb7f51-b335-4df9-ade6-d63d6f2c0a7e" providerId="ADAL" clId="{0C7407F9-4681-415C-AFAA-2B6CF1D878BD}" dt="2026-09-16T10:15:52.289" v="577" actId="20577"/>
          <ac:spMkLst>
            <pc:docMk/>
            <pc:sldMk cId="1466865481" sldId="2146847080"/>
            <ac:spMk id="4" creationId="{D532C41B-3519-54E9-40B3-BA9C837A605F}"/>
          </ac:spMkLst>
        </pc:spChg>
      </pc:sldChg>
      <pc:sldChg chg="addSp modSp mod">
        <pc:chgData name="RIZZO JACOPO" userId="fdcb7f51-b335-4df9-ade6-d63d6f2c0a7e" providerId="ADAL" clId="{0C7407F9-4681-415C-AFAA-2B6CF1D878BD}" dt="2026-10-16T10:00:17.171" v="721" actId="13926"/>
        <pc:sldMkLst>
          <pc:docMk/>
          <pc:sldMk cId="1946762974" sldId="2146847108"/>
        </pc:sldMkLst>
        <pc:spChg chg="mod">
          <ac:chgData name="RIZZO JACOPO" userId="fdcb7f51-b335-4df9-ade6-d63d6f2c0a7e" providerId="ADAL" clId="{0C7407F9-4681-415C-AFAA-2B6CF1D878BD}" dt="2026-10-16T07:53:58.326" v="635" actId="20577"/>
          <ac:spMkLst>
            <pc:docMk/>
            <pc:sldMk cId="1946762974" sldId="2146847108"/>
            <ac:spMk id="3" creationId="{5FE75FC0-6324-4A64-9D18-3305A96B8222}"/>
          </ac:spMkLst>
        </pc:spChg>
        <pc:spChg chg="mod">
          <ac:chgData name="RIZZO JACOPO" userId="fdcb7f51-b335-4df9-ade6-d63d6f2c0a7e" providerId="ADAL" clId="{0C7407F9-4681-415C-AFAA-2B6CF1D878BD}" dt="2026-10-16T10:00:17.171" v="721" actId="13926"/>
          <ac:spMkLst>
            <pc:docMk/>
            <pc:sldMk cId="1946762974" sldId="2146847108"/>
            <ac:spMk id="6" creationId="{72A447E4-F3DA-4015-A258-C5FC385C5849}"/>
          </ac:spMkLst>
        </pc:spChg>
        <pc:spChg chg="add mod">
          <ac:chgData name="RIZZO JACOPO" userId="fdcb7f51-b335-4df9-ade6-d63d6f2c0a7e" providerId="ADAL" clId="{0C7407F9-4681-415C-AFAA-2B6CF1D878BD}" dt="2026-10-16T07:55:26.463" v="674" actId="207"/>
          <ac:spMkLst>
            <pc:docMk/>
            <pc:sldMk cId="1946762974" sldId="2146847108"/>
            <ac:spMk id="13" creationId="{A22B46AA-A0EC-2455-1DA4-54B6167C5C8B}"/>
          </ac:spMkLst>
        </pc:spChg>
        <pc:spChg chg="add mod">
          <ac:chgData name="RIZZO JACOPO" userId="fdcb7f51-b335-4df9-ade6-d63d6f2c0a7e" providerId="ADAL" clId="{0C7407F9-4681-415C-AFAA-2B6CF1D878BD}" dt="2026-10-16T07:55:04.309" v="669" actId="13926"/>
          <ac:spMkLst>
            <pc:docMk/>
            <pc:sldMk cId="1946762974" sldId="2146847108"/>
            <ac:spMk id="14" creationId="{D97645F3-5DA8-5216-DCE5-ABE8793AD370}"/>
          </ac:spMkLst>
        </pc:spChg>
        <pc:graphicFrameChg chg="modGraphic">
          <ac:chgData name="RIZZO JACOPO" userId="fdcb7f51-b335-4df9-ade6-d63d6f2c0a7e" providerId="ADAL" clId="{0C7407F9-4681-415C-AFAA-2B6CF1D878BD}" dt="2026-10-16T07:55:31.922" v="675" actId="6549"/>
          <ac:graphicFrameMkLst>
            <pc:docMk/>
            <pc:sldMk cId="1946762974" sldId="2146847108"/>
            <ac:graphicFrameMk id="4" creationId="{4CA3710B-4E96-61FA-1287-A1855A00A460}"/>
          </ac:graphicFrameMkLst>
        </pc:graphicFrameChg>
        <pc:graphicFrameChg chg="modGraphic">
          <ac:chgData name="RIZZO JACOPO" userId="fdcb7f51-b335-4df9-ade6-d63d6f2c0a7e" providerId="ADAL" clId="{0C7407F9-4681-415C-AFAA-2B6CF1D878BD}" dt="2026-10-16T07:55:37.392" v="676" actId="6549"/>
          <ac:graphicFrameMkLst>
            <pc:docMk/>
            <pc:sldMk cId="1946762974" sldId="2146847108"/>
            <ac:graphicFrameMk id="8" creationId="{F00C28C8-A5FE-D863-47E3-BE1E7961432C}"/>
          </ac:graphicFrameMkLst>
        </pc:graphicFrameChg>
      </pc:sldChg>
      <pc:sldChg chg="modSp mod">
        <pc:chgData name="RIZZO JACOPO" userId="fdcb7f51-b335-4df9-ade6-d63d6f2c0a7e" providerId="ADAL" clId="{0C7407F9-4681-415C-AFAA-2B6CF1D878BD}" dt="2026-10-16T10:43:26.317" v="1088" actId="20577"/>
        <pc:sldMkLst>
          <pc:docMk/>
          <pc:sldMk cId="2410143" sldId="2146847120"/>
        </pc:sldMkLst>
        <pc:spChg chg="mod">
          <ac:chgData name="RIZZO JACOPO" userId="fdcb7f51-b335-4df9-ade6-d63d6f2c0a7e" providerId="ADAL" clId="{0C7407F9-4681-415C-AFAA-2B6CF1D878BD}" dt="2026-10-16T10:00:53.277" v="745" actId="20577"/>
          <ac:spMkLst>
            <pc:docMk/>
            <pc:sldMk cId="2410143" sldId="2146847120"/>
            <ac:spMk id="17" creationId="{496D4959-A4FD-4AC3-B320-896208B9E8C9}"/>
          </ac:spMkLst>
        </pc:spChg>
        <pc:spChg chg="mod">
          <ac:chgData name="RIZZO JACOPO" userId="fdcb7f51-b335-4df9-ade6-d63d6f2c0a7e" providerId="ADAL" clId="{0C7407F9-4681-415C-AFAA-2B6CF1D878BD}" dt="2026-10-16T10:43:26.317" v="1088" actId="20577"/>
          <ac:spMkLst>
            <pc:docMk/>
            <pc:sldMk cId="2410143" sldId="2146847120"/>
            <ac:spMk id="18" creationId="{C6E18FFC-08EB-4A56-8A2E-FF347B858C1E}"/>
          </ac:spMkLst>
        </pc:spChg>
        <pc:graphicFrameChg chg="modGraphic">
          <ac:chgData name="RIZZO JACOPO" userId="fdcb7f51-b335-4df9-ade6-d63d6f2c0a7e" providerId="ADAL" clId="{0C7407F9-4681-415C-AFAA-2B6CF1D878BD}" dt="2026-10-16T10:03:54.226" v="769" actId="13926"/>
          <ac:graphicFrameMkLst>
            <pc:docMk/>
            <pc:sldMk cId="2410143" sldId="2146847120"/>
            <ac:graphicFrameMk id="6" creationId="{A072CCF3-AA8F-5D9D-5717-208C9731CEB6}"/>
          </ac:graphicFrameMkLst>
        </pc:graphicFrameChg>
        <pc:graphicFrameChg chg="modGraphic">
          <ac:chgData name="RIZZO JACOPO" userId="fdcb7f51-b335-4df9-ade6-d63d6f2c0a7e" providerId="ADAL" clId="{0C7407F9-4681-415C-AFAA-2B6CF1D878BD}" dt="2026-10-16T10:01:14.733" v="755" actId="13926"/>
          <ac:graphicFrameMkLst>
            <pc:docMk/>
            <pc:sldMk cId="2410143" sldId="2146847120"/>
            <ac:graphicFrameMk id="19" creationId="{3947A724-CB3C-51D7-A61D-CEF36DCAD677}"/>
          </ac:graphicFrameMkLst>
        </pc:graphicFrameChg>
      </pc:sldChg>
      <pc:sldChg chg="addSp delSp modSp mod">
        <pc:chgData name="RIZZO JACOPO" userId="fdcb7f51-b335-4df9-ade6-d63d6f2c0a7e" providerId="ADAL" clId="{0C7407F9-4681-415C-AFAA-2B6CF1D878BD}" dt="2026-10-16T10:24:46.362" v="1013" actId="13926"/>
        <pc:sldMkLst>
          <pc:docMk/>
          <pc:sldMk cId="1073049603" sldId="2146847161"/>
        </pc:sldMkLst>
        <pc:spChg chg="mod">
          <ac:chgData name="RIZZO JACOPO" userId="fdcb7f51-b335-4df9-ade6-d63d6f2c0a7e" providerId="ADAL" clId="{0C7407F9-4681-415C-AFAA-2B6CF1D878BD}" dt="2026-10-16T10:22:27.957" v="998" actId="20577"/>
          <ac:spMkLst>
            <pc:docMk/>
            <pc:sldMk cId="1073049603" sldId="2146847161"/>
            <ac:spMk id="8" creationId="{572925C6-CE8D-4F22-AC64-2E3EE52F5F17}"/>
          </ac:spMkLst>
        </pc:spChg>
        <pc:spChg chg="mod">
          <ac:chgData name="RIZZO JACOPO" userId="fdcb7f51-b335-4df9-ade6-d63d6f2c0a7e" providerId="ADAL" clId="{0C7407F9-4681-415C-AFAA-2B6CF1D878BD}" dt="2026-10-16T10:24:46.362" v="1013" actId="13926"/>
          <ac:spMkLst>
            <pc:docMk/>
            <pc:sldMk cId="1073049603" sldId="2146847161"/>
            <ac:spMk id="11" creationId="{90387AED-D745-42A7-B05B-A653D391CDB2}"/>
          </ac:spMkLst>
        </pc:spChg>
        <pc:graphicFrameChg chg="mod modGraphic">
          <ac:chgData name="RIZZO JACOPO" userId="fdcb7f51-b335-4df9-ade6-d63d6f2c0a7e" providerId="ADAL" clId="{0C7407F9-4681-415C-AFAA-2B6CF1D878BD}" dt="2026-10-16T10:24:38.826" v="1012" actId="6549"/>
          <ac:graphicFrameMkLst>
            <pc:docMk/>
            <pc:sldMk cId="1073049603" sldId="2146847161"/>
            <ac:graphicFrameMk id="7" creationId="{3EE3A614-62C8-4BF9-B60F-876CC82E5B8E}"/>
          </ac:graphicFrameMkLst>
        </pc:graphicFrameChg>
      </pc:sldChg>
      <pc:sldChg chg="modSp">
        <pc:chgData name="RIZZO JACOPO" userId="fdcb7f51-b335-4df9-ade6-d63d6f2c0a7e" providerId="ADAL" clId="{0C7407F9-4681-415C-AFAA-2B6CF1D878BD}" dt="2026-10-16T10:25:18.181" v="1014"/>
        <pc:sldMkLst>
          <pc:docMk/>
          <pc:sldMk cId="2090621681" sldId="2146847162"/>
        </pc:sldMkLst>
        <pc:graphicFrameChg chg="mod">
          <ac:chgData name="RIZZO JACOPO" userId="fdcb7f51-b335-4df9-ade6-d63d6f2c0a7e" providerId="ADAL" clId="{0C7407F9-4681-415C-AFAA-2B6CF1D878BD}" dt="2026-10-16T10:25:18.181" v="1014"/>
          <ac:graphicFrameMkLst>
            <pc:docMk/>
            <pc:sldMk cId="2090621681" sldId="2146847162"/>
            <ac:graphicFrameMk id="3" creationId="{BA1D3B30-E756-C930-BF77-166F6400B9E9}"/>
          </ac:graphicFrameMkLst>
        </pc:graphicFrameChg>
      </pc:sldChg>
      <pc:sldChg chg="addSp delSp modSp mod">
        <pc:chgData name="RIZZO JACOPO" userId="fdcb7f51-b335-4df9-ade6-d63d6f2c0a7e" providerId="ADAL" clId="{0C7407F9-4681-415C-AFAA-2B6CF1D878BD}" dt="2026-10-16T10:42:34.314" v="1072" actId="6549"/>
        <pc:sldMkLst>
          <pc:docMk/>
          <pc:sldMk cId="1260034688" sldId="2146847166"/>
        </pc:sldMkLst>
        <pc:spChg chg="mod">
          <ac:chgData name="RIZZO JACOPO" userId="fdcb7f51-b335-4df9-ade6-d63d6f2c0a7e" providerId="ADAL" clId="{0C7407F9-4681-415C-AFAA-2B6CF1D878BD}" dt="2026-10-16T10:41:17.410" v="1053" actId="20577"/>
          <ac:spMkLst>
            <pc:docMk/>
            <pc:sldMk cId="1260034688" sldId="2146847166"/>
            <ac:spMk id="11" creationId="{C22A9D7E-90B8-404D-897F-FA71A9C02BCC}"/>
          </ac:spMkLst>
        </pc:spChg>
        <pc:graphicFrameChg chg="modGraphic">
          <ac:chgData name="RIZZO JACOPO" userId="fdcb7f51-b335-4df9-ade6-d63d6f2c0a7e" providerId="ADAL" clId="{0C7407F9-4681-415C-AFAA-2B6CF1D878BD}" dt="2026-10-16T10:42:34.314" v="1072" actId="6549"/>
          <ac:graphicFrameMkLst>
            <pc:docMk/>
            <pc:sldMk cId="1260034688" sldId="2146847166"/>
            <ac:graphicFrameMk id="10" creationId="{61DA27AF-512B-41EE-8F3D-8757B84290C5}"/>
          </ac:graphicFrameMkLst>
        </pc:graphicFrameChg>
      </pc:sldChg>
      <pc:sldChg chg="modSp mod">
        <pc:chgData name="RIZZO JACOPO" userId="fdcb7f51-b335-4df9-ade6-d63d6f2c0a7e" providerId="ADAL" clId="{0C7407F9-4681-415C-AFAA-2B6CF1D878BD}" dt="2026-10-16T10:42:53.052" v="1074" actId="20577"/>
        <pc:sldMkLst>
          <pc:docMk/>
          <pc:sldMk cId="1579732874" sldId="2146847167"/>
        </pc:sldMkLst>
        <pc:graphicFrameChg chg="mod modGraphic">
          <ac:chgData name="RIZZO JACOPO" userId="fdcb7f51-b335-4df9-ade6-d63d6f2c0a7e" providerId="ADAL" clId="{0C7407F9-4681-415C-AFAA-2B6CF1D878BD}" dt="2026-10-16T10:42:53.052" v="1074" actId="20577"/>
          <ac:graphicFrameMkLst>
            <pc:docMk/>
            <pc:sldMk cId="1579732874" sldId="2146847167"/>
            <ac:graphicFrameMk id="20" creationId="{FF4A18A9-92F8-4499-BD58-43AAAEE367F7}"/>
          </ac:graphicFrameMkLst>
        </pc:graphicFrameChg>
      </pc:sldChg>
      <pc:sldChg chg="modSp mod">
        <pc:chgData name="RIZZO JACOPO" userId="fdcb7f51-b335-4df9-ade6-d63d6f2c0a7e" providerId="ADAL" clId="{0C7407F9-4681-415C-AFAA-2B6CF1D878BD}" dt="2026-10-16T09:59:46.494" v="719" actId="13926"/>
        <pc:sldMkLst>
          <pc:docMk/>
          <pc:sldMk cId="1801904804" sldId="2146847169"/>
        </pc:sldMkLst>
        <pc:spChg chg="mod">
          <ac:chgData name="RIZZO JACOPO" userId="fdcb7f51-b335-4df9-ade6-d63d6f2c0a7e" providerId="ADAL" clId="{0C7407F9-4681-415C-AFAA-2B6CF1D878BD}" dt="2026-10-16T09:59:46.494" v="719" actId="13926"/>
          <ac:spMkLst>
            <pc:docMk/>
            <pc:sldMk cId="1801904804" sldId="2146847169"/>
            <ac:spMk id="8" creationId="{0A9310F3-5FB2-2599-A977-0EB1D7378477}"/>
          </ac:spMkLst>
        </pc:spChg>
      </pc:sldChg>
      <pc:sldChg chg="modSp mod">
        <pc:chgData name="RIZZO JACOPO" userId="fdcb7f51-b335-4df9-ade6-d63d6f2c0a7e" providerId="ADAL" clId="{0C7407F9-4681-415C-AFAA-2B6CF1D878BD}" dt="2026-10-16T09:59:40.569" v="718" actId="13926"/>
        <pc:sldMkLst>
          <pc:docMk/>
          <pc:sldMk cId="3849606255" sldId="2146847171"/>
        </pc:sldMkLst>
        <pc:spChg chg="mod">
          <ac:chgData name="RIZZO JACOPO" userId="fdcb7f51-b335-4df9-ade6-d63d6f2c0a7e" providerId="ADAL" clId="{0C7407F9-4681-415C-AFAA-2B6CF1D878BD}" dt="2026-10-16T09:59:40.569" v="718" actId="13926"/>
          <ac:spMkLst>
            <pc:docMk/>
            <pc:sldMk cId="3849606255" sldId="2146847171"/>
            <ac:spMk id="8" creationId="{0A9310F3-5FB2-2599-A977-0EB1D7378477}"/>
          </ac:spMkLst>
        </pc:spChg>
      </pc:sldChg>
      <pc:sldChg chg="modSp mod">
        <pc:chgData name="RIZZO JACOPO" userId="fdcb7f51-b335-4df9-ade6-d63d6f2c0a7e" providerId="ADAL" clId="{0C7407F9-4681-415C-AFAA-2B6CF1D878BD}" dt="2026-10-16T10:17:31.137" v="966"/>
        <pc:sldMkLst>
          <pc:docMk/>
          <pc:sldMk cId="732381127" sldId="2146847173"/>
        </pc:sldMkLst>
        <pc:spChg chg="mod">
          <ac:chgData name="RIZZO JACOPO" userId="fdcb7f51-b335-4df9-ade6-d63d6f2c0a7e" providerId="ADAL" clId="{0C7407F9-4681-415C-AFAA-2B6CF1D878BD}" dt="2026-10-16T10:08:37.784" v="959" actId="13926"/>
          <ac:spMkLst>
            <pc:docMk/>
            <pc:sldMk cId="732381127" sldId="2146847173"/>
            <ac:spMk id="8" creationId="{0A9310F3-5FB2-2599-A977-0EB1D7378477}"/>
          </ac:spMkLst>
        </pc:spChg>
        <pc:graphicFrameChg chg="mod">
          <ac:chgData name="RIZZO JACOPO" userId="fdcb7f51-b335-4df9-ade6-d63d6f2c0a7e" providerId="ADAL" clId="{0C7407F9-4681-415C-AFAA-2B6CF1D878BD}" dt="2026-10-16T10:17:31.137" v="966"/>
          <ac:graphicFrameMkLst>
            <pc:docMk/>
            <pc:sldMk cId="732381127" sldId="2146847173"/>
            <ac:graphicFrameMk id="2" creationId="{9B830AFF-1653-FD93-6A42-F96611263094}"/>
          </ac:graphicFrameMkLst>
        </pc:graphicFrameChg>
      </pc:sldChg>
      <pc:sldChg chg="modSp mod">
        <pc:chgData name="RIZZO JACOPO" userId="fdcb7f51-b335-4df9-ade6-d63d6f2c0a7e" providerId="ADAL" clId="{0C7407F9-4681-415C-AFAA-2B6CF1D878BD}" dt="2026-10-16T10:17:35.314" v="967"/>
        <pc:sldMkLst>
          <pc:docMk/>
          <pc:sldMk cId="2668036622" sldId="2146847174"/>
        </pc:sldMkLst>
        <pc:spChg chg="mod">
          <ac:chgData name="RIZZO JACOPO" userId="fdcb7f51-b335-4df9-ade6-d63d6f2c0a7e" providerId="ADAL" clId="{0C7407F9-4681-415C-AFAA-2B6CF1D878BD}" dt="2026-10-16T10:08:51.795" v="962" actId="13926"/>
          <ac:spMkLst>
            <pc:docMk/>
            <pc:sldMk cId="2668036622" sldId="2146847174"/>
            <ac:spMk id="8" creationId="{0A9310F3-5FB2-2599-A977-0EB1D7378477}"/>
          </ac:spMkLst>
        </pc:spChg>
        <pc:graphicFrameChg chg="mod">
          <ac:chgData name="RIZZO JACOPO" userId="fdcb7f51-b335-4df9-ade6-d63d6f2c0a7e" providerId="ADAL" clId="{0C7407F9-4681-415C-AFAA-2B6CF1D878BD}" dt="2026-10-16T10:17:35.314" v="967"/>
          <ac:graphicFrameMkLst>
            <pc:docMk/>
            <pc:sldMk cId="2668036622" sldId="2146847174"/>
            <ac:graphicFrameMk id="2" creationId="{9B830AFF-1653-FD93-6A42-F96611263094}"/>
          </ac:graphicFrameMkLst>
        </pc:graphicFrameChg>
      </pc:sldChg>
      <pc:sldChg chg="modSp mod">
        <pc:chgData name="RIZZO JACOPO" userId="fdcb7f51-b335-4df9-ade6-d63d6f2c0a7e" providerId="ADAL" clId="{0C7407F9-4681-415C-AFAA-2B6CF1D878BD}" dt="2026-10-16T10:17:56.831" v="972"/>
        <pc:sldMkLst>
          <pc:docMk/>
          <pc:sldMk cId="1838797330" sldId="2146847175"/>
        </pc:sldMkLst>
        <pc:spChg chg="mod">
          <ac:chgData name="RIZZO JACOPO" userId="fdcb7f51-b335-4df9-ade6-d63d6f2c0a7e" providerId="ADAL" clId="{0C7407F9-4681-415C-AFAA-2B6CF1D878BD}" dt="2026-10-16T10:17:50.029" v="971" actId="13926"/>
          <ac:spMkLst>
            <pc:docMk/>
            <pc:sldMk cId="1838797330" sldId="2146847175"/>
            <ac:spMk id="8" creationId="{0A9310F3-5FB2-2599-A977-0EB1D7378477}"/>
          </ac:spMkLst>
        </pc:spChg>
        <pc:graphicFrameChg chg="mod">
          <ac:chgData name="RIZZO JACOPO" userId="fdcb7f51-b335-4df9-ade6-d63d6f2c0a7e" providerId="ADAL" clId="{0C7407F9-4681-415C-AFAA-2B6CF1D878BD}" dt="2026-10-16T10:17:56.831" v="972"/>
          <ac:graphicFrameMkLst>
            <pc:docMk/>
            <pc:sldMk cId="1838797330" sldId="2146847175"/>
            <ac:graphicFrameMk id="2" creationId="{9B830AFF-1653-FD93-6A42-F96611263094}"/>
          </ac:graphicFrameMkLst>
        </pc:graphicFrameChg>
      </pc:sldChg>
      <pc:sldChg chg="modSp mod">
        <pc:chgData name="RIZZO JACOPO" userId="fdcb7f51-b335-4df9-ade6-d63d6f2c0a7e" providerId="ADAL" clId="{0C7407F9-4681-415C-AFAA-2B6CF1D878BD}" dt="2026-10-16T10:22:11.588" v="996" actId="13926"/>
        <pc:sldMkLst>
          <pc:docMk/>
          <pc:sldMk cId="3864653879" sldId="2146847177"/>
        </pc:sldMkLst>
        <pc:spChg chg="mod">
          <ac:chgData name="RIZZO JACOPO" userId="fdcb7f51-b335-4df9-ade6-d63d6f2c0a7e" providerId="ADAL" clId="{0C7407F9-4681-415C-AFAA-2B6CF1D878BD}" dt="2026-10-16T10:22:11.588" v="996" actId="13926"/>
          <ac:spMkLst>
            <pc:docMk/>
            <pc:sldMk cId="3864653879" sldId="2146847177"/>
            <ac:spMk id="5" creationId="{AE52F577-D989-AA14-0411-A8EFB6AFCC66}"/>
          </ac:spMkLst>
        </pc:spChg>
        <pc:spChg chg="mod">
          <ac:chgData name="RIZZO JACOPO" userId="fdcb7f51-b335-4df9-ade6-d63d6f2c0a7e" providerId="ADAL" clId="{0C7407F9-4681-415C-AFAA-2B6CF1D878BD}" dt="2026-10-16T10:18:37.745" v="985" actId="13926"/>
          <ac:spMkLst>
            <pc:docMk/>
            <pc:sldMk cId="3864653879" sldId="2146847177"/>
            <ac:spMk id="6" creationId="{DCFA6BEF-508E-4040-0CA1-D4EFA2C0AAA4}"/>
          </ac:spMkLst>
        </pc:spChg>
        <pc:spChg chg="mod">
          <ac:chgData name="RIZZO JACOPO" userId="fdcb7f51-b335-4df9-ade6-d63d6f2c0a7e" providerId="ADAL" clId="{0C7407F9-4681-415C-AFAA-2B6CF1D878BD}" dt="2026-10-16T10:18:53.999" v="994" actId="20577"/>
          <ac:spMkLst>
            <pc:docMk/>
            <pc:sldMk cId="3864653879" sldId="2146847177"/>
            <ac:spMk id="8" creationId="{256771F9-C342-8E4B-E561-B9F7AD073197}"/>
          </ac:spMkLst>
        </pc:spChg>
        <pc:graphicFrameChg chg="mod modGraphic">
          <ac:chgData name="RIZZO JACOPO" userId="fdcb7f51-b335-4df9-ade6-d63d6f2c0a7e" providerId="ADAL" clId="{0C7407F9-4681-415C-AFAA-2B6CF1D878BD}" dt="2026-10-16T10:21:45.748" v="995"/>
          <ac:graphicFrameMkLst>
            <pc:docMk/>
            <pc:sldMk cId="3864653879" sldId="2146847177"/>
            <ac:graphicFrameMk id="3" creationId="{BA1D3B30-E756-C930-BF77-166F6400B9E9}"/>
          </ac:graphicFrameMkLst>
        </pc:graphicFrameChg>
      </pc:sldChg>
      <pc:sldChg chg="modSp mod">
        <pc:chgData name="RIZZO JACOPO" userId="fdcb7f51-b335-4df9-ade6-d63d6f2c0a7e" providerId="ADAL" clId="{0C7407F9-4681-415C-AFAA-2B6CF1D878BD}" dt="2026-10-16T10:25:37.111" v="1018"/>
        <pc:sldMkLst>
          <pc:docMk/>
          <pc:sldMk cId="724035268" sldId="2146847178"/>
        </pc:sldMkLst>
        <pc:spChg chg="mod">
          <ac:chgData name="RIZZO JACOPO" userId="fdcb7f51-b335-4df9-ade6-d63d6f2c0a7e" providerId="ADAL" clId="{0C7407F9-4681-415C-AFAA-2B6CF1D878BD}" dt="2026-10-16T10:25:32.169" v="1017" actId="13926"/>
          <ac:spMkLst>
            <pc:docMk/>
            <pc:sldMk cId="724035268" sldId="2146847178"/>
            <ac:spMk id="8" creationId="{0A9310F3-5FB2-2599-A977-0EB1D7378477}"/>
          </ac:spMkLst>
        </pc:spChg>
        <pc:graphicFrameChg chg="mod">
          <ac:chgData name="RIZZO JACOPO" userId="fdcb7f51-b335-4df9-ade6-d63d6f2c0a7e" providerId="ADAL" clId="{0C7407F9-4681-415C-AFAA-2B6CF1D878BD}" dt="2026-10-16T10:25:37.111" v="1018"/>
          <ac:graphicFrameMkLst>
            <pc:docMk/>
            <pc:sldMk cId="724035268" sldId="2146847178"/>
            <ac:graphicFrameMk id="4" creationId="{993E10F6-7992-6DB7-F108-12F2165E0D57}"/>
          </ac:graphicFrameMkLst>
        </pc:graphicFrameChg>
      </pc:sldChg>
      <pc:sldChg chg="modSp mod">
        <pc:chgData name="RIZZO JACOPO" userId="fdcb7f51-b335-4df9-ade6-d63d6f2c0a7e" providerId="ADAL" clId="{0C7407F9-4681-415C-AFAA-2B6CF1D878BD}" dt="2026-10-16T10:25:46.924" v="1022" actId="13926"/>
        <pc:sldMkLst>
          <pc:docMk/>
          <pc:sldMk cId="3724670816" sldId="2146847179"/>
        </pc:sldMkLst>
        <pc:spChg chg="mod">
          <ac:chgData name="RIZZO JACOPO" userId="fdcb7f51-b335-4df9-ade6-d63d6f2c0a7e" providerId="ADAL" clId="{0C7407F9-4681-415C-AFAA-2B6CF1D878BD}" dt="2026-10-16T10:25:46.924" v="1022" actId="13926"/>
          <ac:spMkLst>
            <pc:docMk/>
            <pc:sldMk cId="3724670816" sldId="2146847179"/>
            <ac:spMk id="8" creationId="{0A9310F3-5FB2-2599-A977-0EB1D7378477}"/>
          </ac:spMkLst>
        </pc:spChg>
        <pc:graphicFrameChg chg="mod">
          <ac:chgData name="RIZZO JACOPO" userId="fdcb7f51-b335-4df9-ade6-d63d6f2c0a7e" providerId="ADAL" clId="{0C7407F9-4681-415C-AFAA-2B6CF1D878BD}" dt="2026-10-16T10:25:41.170" v="1019"/>
          <ac:graphicFrameMkLst>
            <pc:docMk/>
            <pc:sldMk cId="3724670816" sldId="2146847179"/>
            <ac:graphicFrameMk id="4" creationId="{993E10F6-7992-6DB7-F108-12F2165E0D57}"/>
          </ac:graphicFrameMkLst>
        </pc:graphicFrameChg>
      </pc:sldChg>
      <pc:sldChg chg="modSp mod">
        <pc:chgData name="RIZZO JACOPO" userId="fdcb7f51-b335-4df9-ade6-d63d6f2c0a7e" providerId="ADAL" clId="{0C7407F9-4681-415C-AFAA-2B6CF1D878BD}" dt="2026-10-16T10:25:58.213" v="1025" actId="13926"/>
        <pc:sldMkLst>
          <pc:docMk/>
          <pc:sldMk cId="1544421850" sldId="2146847180"/>
        </pc:sldMkLst>
        <pc:spChg chg="mod">
          <ac:chgData name="RIZZO JACOPO" userId="fdcb7f51-b335-4df9-ade6-d63d6f2c0a7e" providerId="ADAL" clId="{0C7407F9-4681-415C-AFAA-2B6CF1D878BD}" dt="2026-10-16T10:25:58.213" v="1025" actId="13926"/>
          <ac:spMkLst>
            <pc:docMk/>
            <pc:sldMk cId="1544421850" sldId="2146847180"/>
            <ac:spMk id="8" creationId="{0A9310F3-5FB2-2599-A977-0EB1D7378477}"/>
          </ac:spMkLst>
        </pc:spChg>
      </pc:sldChg>
      <pc:sldChg chg="modSp mod">
        <pc:chgData name="RIZZO JACOPO" userId="fdcb7f51-b335-4df9-ade6-d63d6f2c0a7e" providerId="ADAL" clId="{0C7407F9-4681-415C-AFAA-2B6CF1D878BD}" dt="2026-10-16T10:41:11.018" v="1051" actId="13926"/>
        <pc:sldMkLst>
          <pc:docMk/>
          <pc:sldMk cId="1610644393" sldId="2146847182"/>
        </pc:sldMkLst>
        <pc:spChg chg="mod">
          <ac:chgData name="RIZZO JACOPO" userId="fdcb7f51-b335-4df9-ade6-d63d6f2c0a7e" providerId="ADAL" clId="{0C7407F9-4681-415C-AFAA-2B6CF1D878BD}" dt="2026-10-16T10:26:08.531" v="1030" actId="13926"/>
          <ac:spMkLst>
            <pc:docMk/>
            <pc:sldMk cId="1610644393" sldId="2146847182"/>
            <ac:spMk id="5" creationId="{AE52F577-D989-AA14-0411-A8EFB6AFCC66}"/>
          </ac:spMkLst>
        </pc:spChg>
        <pc:spChg chg="mod">
          <ac:chgData name="RIZZO JACOPO" userId="fdcb7f51-b335-4df9-ade6-d63d6f2c0a7e" providerId="ADAL" clId="{0C7407F9-4681-415C-AFAA-2B6CF1D878BD}" dt="2026-10-16T10:41:11.018" v="1051" actId="13926"/>
          <ac:spMkLst>
            <pc:docMk/>
            <pc:sldMk cId="1610644393" sldId="2146847182"/>
            <ac:spMk id="6" creationId="{DCFA6BEF-508E-4040-0CA1-D4EFA2C0AAA4}"/>
          </ac:spMkLst>
        </pc:spChg>
        <pc:spChg chg="mod">
          <ac:chgData name="RIZZO JACOPO" userId="fdcb7f51-b335-4df9-ade6-d63d6f2c0a7e" providerId="ADAL" clId="{0C7407F9-4681-415C-AFAA-2B6CF1D878BD}" dt="2026-10-16T10:40:57.548" v="1040" actId="20577"/>
          <ac:spMkLst>
            <pc:docMk/>
            <pc:sldMk cId="1610644393" sldId="2146847182"/>
            <ac:spMk id="8" creationId="{256771F9-C342-8E4B-E561-B9F7AD073197}"/>
          </ac:spMkLst>
        </pc:spChg>
        <pc:graphicFrameChg chg="mod modGraphic">
          <ac:chgData name="RIZZO JACOPO" userId="fdcb7f51-b335-4df9-ade6-d63d6f2c0a7e" providerId="ADAL" clId="{0C7407F9-4681-415C-AFAA-2B6CF1D878BD}" dt="2026-10-16T10:29:32.148" v="1036" actId="20577"/>
          <ac:graphicFrameMkLst>
            <pc:docMk/>
            <pc:sldMk cId="1610644393" sldId="2146847182"/>
            <ac:graphicFrameMk id="16" creationId="{8C0EAF20-29C2-EF5F-93C1-7FE01E749CE1}"/>
          </ac:graphicFrameMkLst>
        </pc:graphicFrameChg>
      </pc:sldChg>
      <pc:sldChg chg="modSp mod">
        <pc:chgData name="RIZZO JACOPO" userId="fdcb7f51-b335-4df9-ade6-d63d6f2c0a7e" providerId="ADAL" clId="{0C7407F9-4681-415C-AFAA-2B6CF1D878BD}" dt="2026-10-16T10:17:40.362" v="968"/>
        <pc:sldMkLst>
          <pc:docMk/>
          <pc:sldMk cId="3082468467" sldId="2146847183"/>
        </pc:sldMkLst>
        <pc:spChg chg="mod">
          <ac:chgData name="RIZZO JACOPO" userId="fdcb7f51-b335-4df9-ade6-d63d6f2c0a7e" providerId="ADAL" clId="{0C7407F9-4681-415C-AFAA-2B6CF1D878BD}" dt="2026-10-16T10:08:58.896" v="965" actId="13926"/>
          <ac:spMkLst>
            <pc:docMk/>
            <pc:sldMk cId="3082468467" sldId="2146847183"/>
            <ac:spMk id="8" creationId="{0A9310F3-5FB2-2599-A977-0EB1D7378477}"/>
          </ac:spMkLst>
        </pc:spChg>
        <pc:graphicFrameChg chg="mod">
          <ac:chgData name="RIZZO JACOPO" userId="fdcb7f51-b335-4df9-ade6-d63d6f2c0a7e" providerId="ADAL" clId="{0C7407F9-4681-415C-AFAA-2B6CF1D878BD}" dt="2026-10-16T10:17:40.362" v="968"/>
          <ac:graphicFrameMkLst>
            <pc:docMk/>
            <pc:sldMk cId="3082468467" sldId="2146847183"/>
            <ac:graphicFrameMk id="2" creationId="{9B830AFF-1653-FD93-6A42-F9661126309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6D566-AF02-4347-89AE-32AC6E7DAF1F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711B7-9E6F-4C21-BE17-7478858F22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3460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E50E7-ABDB-4B5D-8546-A812CAC0A7C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4163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E50E7-ABDB-4B5D-8546-A812CAC0A7C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2058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E50E7-ABDB-4B5D-8546-A812CAC0A7CD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421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E50E7-ABDB-4B5D-8546-A812CAC0A7CD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43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7B0BD-6E44-433C-BABA-3E95C5117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107FB76-F7E6-45DA-85E6-3C3FFEE80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733C10-6FB9-4E46-A9CD-383504212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C437CB-99AB-4CF9-AAAE-155ABC278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101288-77B0-4B23-9CBC-99E78572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213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3576D8-1C19-43DB-853C-D08E7734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C605CC-93C6-4877-A159-64C0790B3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610BE8-001A-42CA-8E50-6AE1FB70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3B245B-C475-416A-84FF-6B20E96BC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66F8BF-4DA8-4A68-9B0D-90ECA397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3266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B6B1F1-5034-4DDA-AA04-87D4FCE3B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3A47493-27A0-4441-B463-74FF43E5F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E048AB-7104-4DD4-8276-306ABCFD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79E99F-7DDC-4FEB-A86B-78B24FDC5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6CB12CD-8320-4AFD-AB1A-1FA496276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1212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A13F84-4C14-4AF0-B4EF-D9845FD4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F9C7B1-FE73-4CD4-AFF5-CE15C726C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B88A772-3812-491A-9BEB-928C75705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1F4CA1-280D-4000-86F2-9FB5BA1F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CDE34EB-F3B9-4A89-A9FB-1C58E5DF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479271-23A3-4C7B-966D-0AA993EB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21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76CA6C-6231-405A-83C1-1B3B5678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6125A47-787D-4B9E-8E83-FAE9F87F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FDC9AD5-E26E-493A-BC85-2F4193BFD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4F59CCD-AEA4-4BDA-BEB3-E8446D953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F8A35ED-519A-48AB-A3A3-748D4E131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4504802-B2FF-4FCE-85B0-14DFD460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24458A2-C63F-4454-90C9-ADBC5A654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064D930-A094-41BF-AB71-06A41C4B4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5224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1115CB-99E9-4209-8105-01CC4AA5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1532CF6-E469-4B47-9845-E40E2EEF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E910682-CFC8-4A92-8553-EDF28E5A1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793C58-F9D1-4828-8C06-A4066C19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257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07A006E-0B8A-4AFB-B4D6-728EC162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453DC89-4E35-44D1-A601-FFF313A56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AF999D-4A07-48EF-935C-74A22985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444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65C2CD-7E56-4C00-882E-01E6136E4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770080-0734-48E5-B5DB-A09233026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905EB0D-5237-442E-94FF-B1770EA8A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E79D017-54FD-4F2F-B7CB-6306878F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2678014-7547-4D6E-8AD7-285AB094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B61CE8A-DC08-4646-B8B0-A30E94FB9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8820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550AA8-BB53-4911-A806-B08E6C10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6E75C8B-2833-4E5D-8D99-8993B3731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7EC540C-0181-469F-B189-2DF9F47C8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D022FF4-AD5F-4EFC-B2B3-ABB0D4E01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4C98F5-3857-4D43-B34E-44F4FDFEF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491999C-AB5C-44E4-A733-E764A5F8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1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9650A9-DA97-4142-94F6-EA4F9408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ACEBF00-59BD-4A2B-AC02-29B7D4660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993E5A-FB9B-44F6-8B82-7D7DCD99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3AD342-975A-4E19-B0A7-551EE949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F749DC-CE70-45B9-ACDC-73403D982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69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C039B1F-2F97-4E62-9F54-D552975BA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1BD3B47-8338-4ADA-A29D-5DA18301B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C83CD6-AC69-46E2-BA01-B47B6BAC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2D825F9-1EF6-4018-AAAF-ECA0295B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7BC528-8E12-4502-B6DF-CB72A417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5188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pertin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84" y="909638"/>
            <a:ext cx="5960533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4548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oviola_cap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/>
          <p:cNvSpPr txBox="1">
            <a:spLocks noChangeArrowheads="1"/>
          </p:cNvSpPr>
          <p:nvPr/>
        </p:nvSpPr>
        <p:spPr bwMode="auto">
          <a:xfrm>
            <a:off x="10991854" y="5957888"/>
            <a:ext cx="1200149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fld id="{85C7C66A-BFE4-4BF1-8266-7894E107098A}" type="slidenum">
              <a:rPr lang="it-IT" altLang="it-IT" sz="1200" b="1" smtClean="0">
                <a:solidFill>
                  <a:srgbClr val="5A5B5E"/>
                </a:solidFill>
                <a:latin typeface="Arial" charset="0"/>
                <a:cs typeface="Arial" charset="0"/>
              </a:rPr>
              <a:pPr eaLnBrk="1" hangingPunct="1">
                <a:defRPr/>
              </a:pPr>
              <a:t>‹N›</a:t>
            </a:fld>
            <a:endParaRPr lang="it-IT" altLang="it-IT" sz="1200" b="1">
              <a:solidFill>
                <a:srgbClr val="5A5B5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CasellaDiTesto 9"/>
          <p:cNvSpPr txBox="1">
            <a:spLocks noChangeArrowheads="1"/>
          </p:cNvSpPr>
          <p:nvPr userDrawn="1"/>
        </p:nvSpPr>
        <p:spPr bwMode="auto">
          <a:xfrm>
            <a:off x="10991854" y="5957888"/>
            <a:ext cx="1200149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fld id="{20D84813-F3B6-4838-951E-0CFA76396C8F}" type="slidenum">
              <a:rPr lang="it-IT" altLang="it-IT" sz="1200" b="1" smtClean="0">
                <a:solidFill>
                  <a:srgbClr val="5A5B5E"/>
                </a:solidFill>
                <a:latin typeface="Arial" charset="0"/>
                <a:cs typeface="Arial" charset="0"/>
              </a:rPr>
              <a:pPr eaLnBrk="1" hangingPunct="1">
                <a:defRPr/>
              </a:pPr>
              <a:t>‹N›</a:t>
            </a:fld>
            <a:endParaRPr lang="it-IT" altLang="it-IT" sz="1200" b="1">
              <a:solidFill>
                <a:srgbClr val="5A5B5E"/>
              </a:solidFill>
              <a:latin typeface="Arial" charset="0"/>
              <a:cs typeface="Arial" charset="0"/>
            </a:endParaRPr>
          </a:p>
        </p:txBody>
      </p:sp>
      <p:pic>
        <p:nvPicPr>
          <p:cNvPr id="17" name="Immagine 44" descr="logo_hera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833" y="6345238"/>
            <a:ext cx="1253067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itolo 45"/>
          <p:cNvSpPr>
            <a:spLocks noGrp="1"/>
          </p:cNvSpPr>
          <p:nvPr>
            <p:ph type="title"/>
          </p:nvPr>
        </p:nvSpPr>
        <p:spPr>
          <a:xfrm>
            <a:off x="1204394" y="0"/>
            <a:ext cx="978958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>
            <a:lvl1pPr algn="l">
              <a:defRPr lang="it-IT" sz="1800" b="1">
                <a:solidFill>
                  <a:srgbClr val="054977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146437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493B6B-8C18-4BAB-BA24-ED72B6CB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67C6536-5ED4-47D9-B848-8D58A7988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34F202-613E-4526-83EE-47B67A695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B100-CD22-4873-A3CA-D9AFAFDBBB95}" type="datetimeFigureOut">
              <a:rPr lang="it-IT" smtClean="0"/>
              <a:t>16/10/2026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2F5DF9-B23B-4598-A3A2-B9433B44B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F3995C-CBF6-4F66-ABD8-11F30454F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719D2-0595-4FED-989E-11CAE80157E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498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asellaDiTesto 1"/>
          <p:cNvSpPr txBox="1">
            <a:spLocks noChangeArrowheads="1"/>
          </p:cNvSpPr>
          <p:nvPr/>
        </p:nvSpPr>
        <p:spPr bwMode="auto">
          <a:xfrm>
            <a:off x="2144663" y="2708920"/>
            <a:ext cx="7993062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5720" rIns="0" bIns="0" anchor="t"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defTabSz="1096963">
              <a:lnSpc>
                <a:spcPct val="110000"/>
              </a:lnSpc>
            </a:pPr>
            <a:endParaRPr lang="it-IT" sz="2800" b="1" dirty="0">
              <a:solidFill>
                <a:srgbClr val="000000"/>
              </a:solidFill>
            </a:endParaRPr>
          </a:p>
          <a:p>
            <a:pPr algn="ctr" defTabSz="1096963">
              <a:lnSpc>
                <a:spcPct val="110000"/>
              </a:lnSpc>
            </a:pPr>
            <a:r>
              <a:rPr lang="it-IT" sz="2800" b="1" dirty="0">
                <a:solidFill>
                  <a:srgbClr val="000000"/>
                </a:solidFill>
              </a:rPr>
              <a:t>Portafoglio Retail – aggiornamento offerte</a:t>
            </a:r>
            <a:endParaRPr lang="it-IT" altLang="it-IT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</a:pPr>
            <a:endParaRPr lang="it-IT" altLang="it-IT" sz="16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</a:pPr>
            <a:endParaRPr lang="it-IT" altLang="it-IT" sz="1600" b="1" dirty="0">
              <a:solidFill>
                <a:srgbClr val="000000"/>
              </a:solidFill>
            </a:endParaRPr>
          </a:p>
          <a:p>
            <a:pPr eaLnBrk="1" hangingPunct="1">
              <a:spcAft>
                <a:spcPts val="300"/>
              </a:spcAft>
            </a:pPr>
            <a:r>
              <a:rPr lang="it-IT" altLang="it-IT" sz="1800" b="1" i="1" dirty="0">
                <a:solidFill>
                  <a:srgbClr val="000000"/>
                </a:solidFill>
              </a:rPr>
              <a:t>Offering Mercati Massivi</a:t>
            </a:r>
          </a:p>
          <a:p>
            <a:pPr eaLnBrk="1" hangingPunct="1">
              <a:spcAft>
                <a:spcPts val="300"/>
              </a:spcAft>
            </a:pPr>
            <a:r>
              <a:rPr lang="it-IT" altLang="it-IT" sz="1400" b="1" i="1" dirty="0">
                <a:solidFill>
                  <a:srgbClr val="000000"/>
                </a:solidFill>
              </a:rPr>
              <a:t>Marketing Strategico, Offering e Sviluppo Iniziative</a:t>
            </a:r>
          </a:p>
          <a:p>
            <a:pPr eaLnBrk="1" hangingPunct="1"/>
            <a:endParaRPr lang="it-IT" altLang="it-IT" sz="1200" i="1" dirty="0"/>
          </a:p>
          <a:p>
            <a:r>
              <a:rPr lang="it-IT" altLang="it-IT" sz="1200" i="1" dirty="0">
                <a:solidFill>
                  <a:srgbClr val="000000"/>
                </a:solidFill>
                <a:latin typeface="Calibri"/>
                <a:ea typeface="MS PGothic"/>
                <a:cs typeface="Calibri"/>
              </a:rPr>
              <a:t>Imola, ottobre 2026</a:t>
            </a:r>
          </a:p>
        </p:txBody>
      </p:sp>
      <p:pic>
        <p:nvPicPr>
          <p:cNvPr id="18435" name="Immagin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1" y="5510282"/>
            <a:ext cx="5048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Immagin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150" y="5510282"/>
            <a:ext cx="4889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Immagin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98" y="5513457"/>
            <a:ext cx="4984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Immagin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070" y="5527675"/>
            <a:ext cx="471487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Immagin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175" y="5513388"/>
            <a:ext cx="50165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734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8AA5277-54D1-4715-A11E-429E7A3C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C645-2D93-4C25-B542-E00717E6C9D2}" type="slidenum">
              <a:rPr lang="it-IT" smtClean="0"/>
              <a:t>2</a:t>
            </a:fld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96D4959-A4FD-4AC3-B320-896208B9E8C9}"/>
              </a:ext>
            </a:extLst>
          </p:cNvPr>
          <p:cNvSpPr txBox="1"/>
          <p:nvPr/>
        </p:nvSpPr>
        <p:spPr>
          <a:xfrm>
            <a:off x="385098" y="204601"/>
            <a:ext cx="11293096" cy="54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>
            <a:noAutofit/>
          </a:bodyPr>
          <a:lstStyle>
            <a:lvl1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rgbClr val="054977"/>
                </a:solidFill>
                <a:latin typeface="Arial" panose="020B0604020202020204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r>
              <a:rPr lang="it-IT" dirty="0"/>
              <a:t>Offerte Prezzo fisso e Hybrid  – CASA - validità dal 19.10 al 10.11.2026</a:t>
            </a:r>
          </a:p>
        </p:txBody>
      </p:sp>
      <p:sp>
        <p:nvSpPr>
          <p:cNvPr id="14" name="Titolo 1">
            <a:extLst>
              <a:ext uri="{FF2B5EF4-FFF2-40B4-BE49-F238E27FC236}">
                <a16:creationId xmlns:a16="http://schemas.microsoft.com/office/drawing/2014/main" id="{59F18ABE-2246-4410-8FBE-4C83E64D2A41}"/>
              </a:ext>
            </a:extLst>
          </p:cNvPr>
          <p:cNvSpPr txBox="1">
            <a:spLocks/>
          </p:cNvSpPr>
          <p:nvPr/>
        </p:nvSpPr>
        <p:spPr>
          <a:xfrm>
            <a:off x="147295" y="2179238"/>
            <a:ext cx="1939415" cy="9641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Canale WEB</a:t>
            </a: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17671B35-5B55-4194-BFFE-B14ED8B209A9}"/>
              </a:ext>
            </a:extLst>
          </p:cNvPr>
          <p:cNvSpPr txBox="1">
            <a:spLocks/>
          </p:cNvSpPr>
          <p:nvPr/>
        </p:nvSpPr>
        <p:spPr>
          <a:xfrm>
            <a:off x="147295" y="4572655"/>
            <a:ext cx="1939416" cy="14615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Canali tradizionali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4BFF756-772C-4D63-B927-9895285BB539}"/>
              </a:ext>
            </a:extLst>
          </p:cNvPr>
          <p:cNvSpPr txBox="1"/>
          <p:nvPr/>
        </p:nvSpPr>
        <p:spPr>
          <a:xfrm>
            <a:off x="147295" y="6452925"/>
            <a:ext cx="7003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Al termine della durata delle offerte gas lo scivolo è a PSV Day </a:t>
            </a:r>
            <a:r>
              <a:rPr lang="it-IT" sz="1200" dirty="0" err="1"/>
              <a:t>Ahead</a:t>
            </a:r>
            <a:r>
              <a:rPr lang="it-IT" sz="1200" dirty="0"/>
              <a:t> di </a:t>
            </a:r>
            <a:r>
              <a:rPr lang="it-IT" sz="1200" dirty="0" err="1"/>
              <a:t>Heren</a:t>
            </a:r>
            <a:r>
              <a:rPr lang="it-IT" sz="1200" dirty="0"/>
              <a:t> come calcolato da Hera Comm.</a:t>
            </a:r>
          </a:p>
          <a:p>
            <a:r>
              <a:rPr lang="it-IT" sz="1200" dirty="0"/>
              <a:t>Al termine della durata delle offerte </a:t>
            </a:r>
            <a:r>
              <a:rPr lang="it-IT" sz="1200" dirty="0" err="1"/>
              <a:t>ele</a:t>
            </a:r>
            <a:r>
              <a:rPr lang="it-IT" sz="1200" dirty="0"/>
              <a:t> lo scivolo è a PUN Index GME (orario, monorario, biorario)</a:t>
            </a: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0B0A50CC-033B-4542-83A2-F68C593D32E9}"/>
              </a:ext>
            </a:extLst>
          </p:cNvPr>
          <p:cNvSpPr txBox="1">
            <a:spLocks/>
          </p:cNvSpPr>
          <p:nvPr/>
        </p:nvSpPr>
        <p:spPr>
          <a:xfrm>
            <a:off x="385099" y="1607395"/>
            <a:ext cx="6483133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Posizione nel portafoglio clienti domestici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6E18FFC-08EB-4A56-8A2E-FF347B858C1E}"/>
              </a:ext>
            </a:extLst>
          </p:cNvPr>
          <p:cNvSpPr/>
          <p:nvPr/>
        </p:nvSpPr>
        <p:spPr>
          <a:xfrm>
            <a:off x="385098" y="570129"/>
            <a:ext cx="11688532" cy="10372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200" dirty="0">
                <a:solidFill>
                  <a:schemeClr val="bg1"/>
                </a:solidFill>
              </a:rPr>
              <a:t>Re-pricing per PiùControllo FLAT Special (in aumento)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200" dirty="0">
                <a:solidFill>
                  <a:schemeClr val="bg1"/>
                </a:solidFill>
              </a:rPr>
              <a:t>Pricing invariato per le Hybrid e le </a:t>
            </a:r>
            <a:r>
              <a:rPr lang="it-IT" sz="1200">
                <a:solidFill>
                  <a:schemeClr val="bg1"/>
                </a:solidFill>
              </a:rPr>
              <a:t>TiTutela</a:t>
            </a:r>
            <a:endParaRPr lang="it-IT" sz="1200" dirty="0">
              <a:solidFill>
                <a:schemeClr val="bg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200" dirty="0">
                <a:solidFill>
                  <a:schemeClr val="bg1"/>
                </a:solidFill>
              </a:rPr>
              <a:t>Cambia il nome del fornitore della polizza per Hera </a:t>
            </a:r>
            <a:r>
              <a:rPr lang="it-IT" sz="1200" dirty="0" err="1">
                <a:solidFill>
                  <a:schemeClr val="bg1"/>
                </a:solidFill>
              </a:rPr>
              <a:t>TiTutela</a:t>
            </a:r>
            <a:r>
              <a:rPr lang="it-IT" sz="1200" dirty="0">
                <a:solidFill>
                  <a:schemeClr val="bg1"/>
                </a:solidFill>
              </a:rPr>
              <a:t> (è sempre lo stesso ma si chiama </a:t>
            </a:r>
            <a:r>
              <a:rPr lang="it-IT" sz="1200" dirty="0" err="1">
                <a:solidFill>
                  <a:schemeClr val="bg1"/>
                </a:solidFill>
              </a:rPr>
              <a:t>Redion</a:t>
            </a:r>
            <a:r>
              <a:rPr lang="it-IT" sz="1200" dirty="0">
                <a:solidFill>
                  <a:schemeClr val="bg1"/>
                </a:solidFill>
              </a:rPr>
              <a:t>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200" dirty="0">
                <a:solidFill>
                  <a:schemeClr val="bg1"/>
                </a:solidFill>
              </a:rPr>
              <a:t> FLAT Casa V50 viene prorogata con V50</a:t>
            </a:r>
          </a:p>
        </p:txBody>
      </p:sp>
      <p:graphicFrame>
        <p:nvGraphicFramePr>
          <p:cNvPr id="6" name="Tabella 18">
            <a:extLst>
              <a:ext uri="{FF2B5EF4-FFF2-40B4-BE49-F238E27FC236}">
                <a16:creationId xmlns:a16="http://schemas.microsoft.com/office/drawing/2014/main" id="{A072CCF3-AA8F-5D9D-5717-208C9731C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919914"/>
              </p:ext>
            </p:extLst>
          </p:nvPr>
        </p:nvGraphicFramePr>
        <p:xfrm>
          <a:off x="2408630" y="4310978"/>
          <a:ext cx="9404678" cy="2027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9934">
                  <a:extLst>
                    <a:ext uri="{9D8B030D-6E8A-4147-A177-3AD203B41FA5}">
                      <a16:colId xmlns:a16="http://schemas.microsoft.com/office/drawing/2014/main" val="1241243605"/>
                    </a:ext>
                  </a:extLst>
                </a:gridCol>
                <a:gridCol w="1343686">
                  <a:extLst>
                    <a:ext uri="{9D8B030D-6E8A-4147-A177-3AD203B41FA5}">
                      <a16:colId xmlns:a16="http://schemas.microsoft.com/office/drawing/2014/main" val="1433970355"/>
                    </a:ext>
                  </a:extLst>
                </a:gridCol>
                <a:gridCol w="1343686">
                  <a:extLst>
                    <a:ext uri="{9D8B030D-6E8A-4147-A177-3AD203B41FA5}">
                      <a16:colId xmlns:a16="http://schemas.microsoft.com/office/drawing/2014/main" val="1517188663"/>
                    </a:ext>
                  </a:extLst>
                </a:gridCol>
                <a:gridCol w="1343686">
                  <a:extLst>
                    <a:ext uri="{9D8B030D-6E8A-4147-A177-3AD203B41FA5}">
                      <a16:colId xmlns:a16="http://schemas.microsoft.com/office/drawing/2014/main" val="2922244444"/>
                    </a:ext>
                  </a:extLst>
                </a:gridCol>
                <a:gridCol w="1343686">
                  <a:extLst>
                    <a:ext uri="{9D8B030D-6E8A-4147-A177-3AD203B41FA5}">
                      <a16:colId xmlns:a16="http://schemas.microsoft.com/office/drawing/2014/main" val="2092160445"/>
                    </a:ext>
                  </a:extLst>
                </a:gridCol>
              </a:tblGrid>
              <a:tr h="362751"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OFFERTA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IEB OBBLIGATORIO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SDD OBBLIGATORIO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FAT. MENSILE OBBLIGATORIA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Promo PRODOTTI E SERVIZI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690725"/>
                  </a:ext>
                </a:extLst>
              </a:tr>
              <a:tr h="289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Hera ProtezionePiù V37 (Casa Luce + Casa Gas)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strike="sngStrike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strike="sngStrike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strike="sngStrik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550254"/>
                  </a:ext>
                </a:extLst>
              </a:tr>
              <a:tr h="2100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strike="noStrike" dirty="0">
                          <a:solidFill>
                            <a:schemeClr val="tx1"/>
                          </a:solidFill>
                        </a:rPr>
                        <a:t>PiùControllo FLAT V50 (Casa Luce + Casa Gas)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strike="noStrike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strike="noStrike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177864"/>
                  </a:ext>
                </a:extLst>
              </a:tr>
              <a:tr h="2100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HERA SM4RT V32 (Casa Luce)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075320"/>
                  </a:ext>
                </a:extLst>
              </a:tr>
              <a:tr h="2100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dirty="0">
                          <a:solidFill>
                            <a:schemeClr val="tx1"/>
                          </a:solidFill>
                        </a:rPr>
                        <a:t>Hera Ti Tutela </a:t>
                      </a: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V40</a:t>
                      </a: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(Casa Luce + Casa Gas)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498729"/>
                  </a:ext>
                </a:extLst>
              </a:tr>
              <a:tr h="2100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Hera Hybrid Clima </a:t>
                      </a: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V34</a:t>
                      </a: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(Casa Luce)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964423"/>
                  </a:ext>
                </a:extLst>
              </a:tr>
              <a:tr h="2100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Hera Hybrid M </a:t>
                      </a: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V34</a:t>
                      </a: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(casa Luce + Casa Gas)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256144"/>
                  </a:ext>
                </a:extLst>
              </a:tr>
              <a:tr h="2100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Hera Hybrid Extra M </a:t>
                      </a: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V34</a:t>
                      </a:r>
                      <a:r>
                        <a:rPr lang="it-IT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(casa Luce)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315657"/>
                  </a:ext>
                </a:extLst>
              </a:tr>
            </a:tbl>
          </a:graphicData>
        </a:graphic>
      </p:graphicFrame>
      <p:graphicFrame>
        <p:nvGraphicFramePr>
          <p:cNvPr id="19" name="Tabella 18">
            <a:extLst>
              <a:ext uri="{FF2B5EF4-FFF2-40B4-BE49-F238E27FC236}">
                <a16:creationId xmlns:a16="http://schemas.microsoft.com/office/drawing/2014/main" id="{3947A724-CB3C-51D7-A61D-CEF36DCAD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686453"/>
              </p:ext>
            </p:extLst>
          </p:nvPr>
        </p:nvGraphicFramePr>
        <p:xfrm>
          <a:off x="2408629" y="1985273"/>
          <a:ext cx="940467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9934">
                  <a:extLst>
                    <a:ext uri="{9D8B030D-6E8A-4147-A177-3AD203B41FA5}">
                      <a16:colId xmlns:a16="http://schemas.microsoft.com/office/drawing/2014/main" val="1241243605"/>
                    </a:ext>
                  </a:extLst>
                </a:gridCol>
                <a:gridCol w="1343686">
                  <a:extLst>
                    <a:ext uri="{9D8B030D-6E8A-4147-A177-3AD203B41FA5}">
                      <a16:colId xmlns:a16="http://schemas.microsoft.com/office/drawing/2014/main" val="1433970355"/>
                    </a:ext>
                  </a:extLst>
                </a:gridCol>
                <a:gridCol w="1343686">
                  <a:extLst>
                    <a:ext uri="{9D8B030D-6E8A-4147-A177-3AD203B41FA5}">
                      <a16:colId xmlns:a16="http://schemas.microsoft.com/office/drawing/2014/main" val="1517188663"/>
                    </a:ext>
                  </a:extLst>
                </a:gridCol>
                <a:gridCol w="1343686">
                  <a:extLst>
                    <a:ext uri="{9D8B030D-6E8A-4147-A177-3AD203B41FA5}">
                      <a16:colId xmlns:a16="http://schemas.microsoft.com/office/drawing/2014/main" val="2922244444"/>
                    </a:ext>
                  </a:extLst>
                </a:gridCol>
                <a:gridCol w="1343686">
                  <a:extLst>
                    <a:ext uri="{9D8B030D-6E8A-4147-A177-3AD203B41FA5}">
                      <a16:colId xmlns:a16="http://schemas.microsoft.com/office/drawing/2014/main" val="2092160445"/>
                    </a:ext>
                  </a:extLst>
                </a:gridCol>
              </a:tblGrid>
              <a:tr h="292069">
                <a:tc>
                  <a:txBody>
                    <a:bodyPr/>
                    <a:lstStyle/>
                    <a:p>
                      <a:pPr algn="ctr"/>
                      <a:r>
                        <a:rPr lang="it-IT" sz="1050">
                          <a:solidFill>
                            <a:schemeClr val="tx1"/>
                          </a:solidFill>
                        </a:rPr>
                        <a:t>OFFERTA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>
                          <a:solidFill>
                            <a:schemeClr val="tx1"/>
                          </a:solidFill>
                        </a:rPr>
                        <a:t>IEB OBBLIGATORIO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>
                          <a:solidFill>
                            <a:schemeClr val="tx1"/>
                          </a:solidFill>
                        </a:rPr>
                        <a:t>SDD OBBLIGATORIO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>
                          <a:solidFill>
                            <a:schemeClr val="tx1"/>
                          </a:solidFill>
                        </a:rPr>
                        <a:t>FAT. MENSILE OBBLIGATORIA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>
                          <a:solidFill>
                            <a:schemeClr val="tx1"/>
                          </a:solidFill>
                        </a:rPr>
                        <a:t>Promo PRODOTTI E SERVIZI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690725"/>
                  </a:ext>
                </a:extLst>
              </a:tr>
              <a:tr h="178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Hera ProtezionePiù V37 (Casa Luce + Casa Gas)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050" strike="sngStrik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550254"/>
                  </a:ext>
                </a:extLst>
              </a:tr>
              <a:tr h="2231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strike="noStrike" dirty="0">
                          <a:solidFill>
                            <a:schemeClr val="tx1"/>
                          </a:solidFill>
                        </a:rPr>
                        <a:t>PiùControllo Special FLAT </a:t>
                      </a:r>
                      <a:r>
                        <a:rPr lang="it-IT" sz="1050" b="0" strike="noStrik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V54</a:t>
                      </a:r>
                      <a:r>
                        <a:rPr lang="it-IT" sz="1050" b="0" strike="noStrike" dirty="0">
                          <a:solidFill>
                            <a:schemeClr val="tx1"/>
                          </a:solidFill>
                        </a:rPr>
                        <a:t> (Casa Luce + Casa Gas)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noStrike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noStrike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noStrike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noStrike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177864"/>
                  </a:ext>
                </a:extLst>
              </a:tr>
              <a:tr h="178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HERA SM4RT V32 (Casa Luce)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sng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075320"/>
                  </a:ext>
                </a:extLst>
              </a:tr>
              <a:tr h="1866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dirty="0">
                          <a:solidFill>
                            <a:schemeClr val="tx1"/>
                          </a:solidFill>
                        </a:rPr>
                        <a:t>Hera Ti Tutela </a:t>
                      </a:r>
                      <a:r>
                        <a:rPr lang="it-IT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V40</a:t>
                      </a:r>
                      <a:r>
                        <a:rPr lang="it-IT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(Casa Luce + Casa Gas)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98575"/>
                  </a:ext>
                </a:extLst>
              </a:tr>
              <a:tr h="178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Hera Hybrid Special M </a:t>
                      </a:r>
                      <a:r>
                        <a:rPr lang="it-IT" sz="1050" b="0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V34</a:t>
                      </a:r>
                      <a:r>
                        <a:rPr lang="it-IT" sz="1050" b="0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(Casa Luce + Casa Gas)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noStrike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noStrike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noStrike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strike="noStrike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007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25" y="24906"/>
            <a:ext cx="9789583" cy="909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EXTRA M </a:t>
            </a:r>
            <a:r>
              <a:rPr lang="it-IT" sz="20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V34</a:t>
            </a:r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Casa Luce</a:t>
            </a:r>
          </a:p>
        </p:txBody>
      </p:sp>
      <p:graphicFrame>
        <p:nvGraphicFramePr>
          <p:cNvPr id="2" name="Tabella 4">
            <a:extLst>
              <a:ext uri="{FF2B5EF4-FFF2-40B4-BE49-F238E27FC236}">
                <a16:creationId xmlns:a16="http://schemas.microsoft.com/office/drawing/2014/main" id="{9B830AFF-1653-FD93-6A42-F96611263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148441"/>
              </p:ext>
            </p:extLst>
          </p:nvPr>
        </p:nvGraphicFramePr>
        <p:xfrm>
          <a:off x="302125" y="1776313"/>
          <a:ext cx="9646547" cy="3599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83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  <a:gridCol w="964503">
                  <a:extLst>
                    <a:ext uri="{9D8B030D-6E8A-4147-A177-3AD203B41FA5}">
                      <a16:colId xmlns:a16="http://schemas.microsoft.com/office/drawing/2014/main" val="1741336047"/>
                    </a:ext>
                  </a:extLst>
                </a:gridCol>
                <a:gridCol w="2853309">
                  <a:extLst>
                    <a:ext uri="{9D8B030D-6E8A-4147-A177-3AD203B41FA5}">
                      <a16:colId xmlns:a16="http://schemas.microsoft.com/office/drawing/2014/main" val="2688085546"/>
                    </a:ext>
                  </a:extLst>
                </a:gridCol>
                <a:gridCol w="469265">
                  <a:extLst>
                    <a:ext uri="{9D8B030D-6E8A-4147-A177-3AD203B41FA5}">
                      <a16:colId xmlns:a16="http://schemas.microsoft.com/office/drawing/2014/main" val="4267168449"/>
                    </a:ext>
                  </a:extLst>
                </a:gridCol>
                <a:gridCol w="1661287">
                  <a:extLst>
                    <a:ext uri="{9D8B030D-6E8A-4147-A177-3AD203B41FA5}">
                      <a16:colId xmlns:a16="http://schemas.microsoft.com/office/drawing/2014/main" val="3833539912"/>
                    </a:ext>
                  </a:extLst>
                </a:gridCol>
              </a:tblGrid>
              <a:tr h="407466">
                <a:tc gridSpan="3"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economiche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precedente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Fisso F0 (lordo perdite)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i consumi sotto la soglia</a:t>
                      </a:r>
                      <a:endParaRPr lang="it-IT" sz="13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0,1549</a:t>
                      </a:r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66096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Netto Variabile (lordo perdite)</a:t>
                      </a:r>
                      <a:r>
                        <a:rPr lang="it-IT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gli eventuali consumi sopra la soglia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 PUN Medio mensile + 0,0399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63631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Corrispettivo di commercializzazione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156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Bonus Hera Hybrid Extra*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-72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970540"/>
                  </a:ext>
                </a:extLst>
              </a:tr>
              <a:tr h="477718">
                <a:tc>
                  <a:txBody>
                    <a:bodyPr/>
                    <a:lstStyle/>
                    <a:p>
                      <a:r>
                        <a:rPr lang="it-IT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Spese per il trasporto e la gestione del contatore + oneri di sistema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fissate dall’Autorità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70253">
                <a:tc>
                  <a:txBody>
                    <a:bodyPr/>
                    <a:lstStyle/>
                    <a:p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50320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Scivolo a PUN Index GME Orario dopo 30 mesi (o PUN Index GME medio mensile monorario se il contatore non è abilitato)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Energia Certificata come da fonti rinnovabili e garantita da certificati GO dopo 30 mesi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F258D7-0ED2-3614-2E4A-DB9BED59A069}"/>
              </a:ext>
            </a:extLst>
          </p:cNvPr>
          <p:cNvSpPr txBox="1"/>
          <p:nvPr/>
        </p:nvSpPr>
        <p:spPr>
          <a:xfrm>
            <a:off x="5829921" y="561078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 dirty="0">
                <a:solidFill>
                  <a:schemeClr val="tx2"/>
                </a:solidFill>
              </a:rPr>
              <a:t>Validità condizioni economiche: 30 mesi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A4952A1-634B-8C31-2C88-019041BB3899}"/>
              </a:ext>
            </a:extLst>
          </p:cNvPr>
          <p:cNvSpPr txBox="1"/>
          <p:nvPr/>
        </p:nvSpPr>
        <p:spPr>
          <a:xfrm>
            <a:off x="5829921" y="1147722"/>
            <a:ext cx="454824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4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Clienti domestici provenienti da Servizio a Tutele Graduali + </a:t>
            </a:r>
            <a:r>
              <a:rPr lang="it-IT" sz="1400" b="1" dirty="0">
                <a:solidFill>
                  <a:srgbClr val="FF0000"/>
                </a:solidFill>
              </a:rPr>
              <a:t>specifiche province (vedi CTE)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302763-CBDA-E023-B1FF-85E74A97CCE4}"/>
              </a:ext>
            </a:extLst>
          </p:cNvPr>
          <p:cNvSpPr txBox="1"/>
          <p:nvPr/>
        </p:nvSpPr>
        <p:spPr>
          <a:xfrm>
            <a:off x="5829921" y="854400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>
                <a:solidFill>
                  <a:schemeClr val="tx2"/>
                </a:solidFill>
              </a:rPr>
              <a:t>Offerta solo </a:t>
            </a:r>
            <a:r>
              <a:rPr lang="it-IT" sz="1050" b="1">
                <a:solidFill>
                  <a:srgbClr val="C00000"/>
                </a:solidFill>
              </a:rPr>
              <a:t>monoraria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E566FF2-935C-D74C-3061-09C87CDEEACA}"/>
              </a:ext>
            </a:extLst>
          </p:cNvPr>
          <p:cNvSpPr txBox="1"/>
          <p:nvPr/>
        </p:nvSpPr>
        <p:spPr>
          <a:xfrm>
            <a:off x="302124" y="6131697"/>
            <a:ext cx="5793875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it-IT" sz="1050">
                <a:solidFill>
                  <a:schemeClr val="tx2"/>
                </a:solidFill>
              </a:rPr>
              <a:t>* Erogato in 12 quote di pari importo </a:t>
            </a:r>
            <a:r>
              <a:rPr lang="it-IT" sz="1050" b="1">
                <a:solidFill>
                  <a:schemeClr val="tx2"/>
                </a:solidFill>
              </a:rPr>
              <a:t>il primo anno di fornitura</a:t>
            </a:r>
            <a:endParaRPr lang="it-IT" sz="105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381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25" y="24906"/>
            <a:ext cx="9789583" cy="909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M </a:t>
            </a:r>
            <a:r>
              <a:rPr lang="it-IT" sz="20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V34</a:t>
            </a:r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Casa Luce</a:t>
            </a:r>
          </a:p>
        </p:txBody>
      </p:sp>
      <p:graphicFrame>
        <p:nvGraphicFramePr>
          <p:cNvPr id="2" name="Tabella 4">
            <a:extLst>
              <a:ext uri="{FF2B5EF4-FFF2-40B4-BE49-F238E27FC236}">
                <a16:creationId xmlns:a16="http://schemas.microsoft.com/office/drawing/2014/main" id="{9B830AFF-1653-FD93-6A42-F96611263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053771"/>
              </p:ext>
            </p:extLst>
          </p:nvPr>
        </p:nvGraphicFramePr>
        <p:xfrm>
          <a:off x="302125" y="1776313"/>
          <a:ext cx="10478650" cy="3096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7187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  <a:gridCol w="1047699">
                  <a:extLst>
                    <a:ext uri="{9D8B030D-6E8A-4147-A177-3AD203B41FA5}">
                      <a16:colId xmlns:a16="http://schemas.microsoft.com/office/drawing/2014/main" val="1741336047"/>
                    </a:ext>
                  </a:extLst>
                </a:gridCol>
                <a:gridCol w="1804588">
                  <a:extLst>
                    <a:ext uri="{9D8B030D-6E8A-4147-A177-3AD203B41FA5}">
                      <a16:colId xmlns:a16="http://schemas.microsoft.com/office/drawing/2014/main" val="2688085546"/>
                    </a:ext>
                  </a:extLst>
                </a:gridCol>
                <a:gridCol w="564225">
                  <a:extLst>
                    <a:ext uri="{9D8B030D-6E8A-4147-A177-3AD203B41FA5}">
                      <a16:colId xmlns:a16="http://schemas.microsoft.com/office/drawing/2014/main" val="241413523"/>
                    </a:ext>
                  </a:extLst>
                </a:gridCol>
                <a:gridCol w="3044951">
                  <a:extLst>
                    <a:ext uri="{9D8B030D-6E8A-4147-A177-3AD203B41FA5}">
                      <a16:colId xmlns:a16="http://schemas.microsoft.com/office/drawing/2014/main" val="2723212623"/>
                    </a:ext>
                  </a:extLst>
                </a:gridCol>
              </a:tblGrid>
              <a:tr h="407466">
                <a:tc gridSpan="3"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economiche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precedente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Fisso F0 (lordo perdite)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i consumi sotto la soglia</a:t>
                      </a:r>
                      <a:endParaRPr lang="it-IT" sz="13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0,1549</a:t>
                      </a:r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66096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Netto Variabile (lordo perdite)</a:t>
                      </a:r>
                      <a:r>
                        <a:rPr lang="it-IT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gli eventuali consumi sopra la soglia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 PUN Medio mensile + 0,0399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63631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Corrispettivo di commercializzazione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156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477718">
                <a:tc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Spese per il trasporto e la gestione del contatore + oneri di sistema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fissate dall’Autorità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70253">
                <a:tc>
                  <a:txBody>
                    <a:bodyPr/>
                    <a:lstStyle/>
                    <a:p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50320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Scivolo a PUN Index GME Orario dopo 30 mesi (o PUN Index GME medio mensile monorario se il contatore non è abilitato)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Energia Certificata come da fonti rinnovabili e garantita da certificati GO dopo 30 mesi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F258D7-0ED2-3614-2E4A-DB9BED59A069}"/>
              </a:ext>
            </a:extLst>
          </p:cNvPr>
          <p:cNvSpPr txBox="1"/>
          <p:nvPr/>
        </p:nvSpPr>
        <p:spPr>
          <a:xfrm>
            <a:off x="5829921" y="561078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kumimoji="0" lang="it-IT" sz="105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Validità condizioni economiche: </a:t>
            </a:r>
            <a:r>
              <a:rPr lang="it-IT" sz="1050" dirty="0">
                <a:solidFill>
                  <a:schemeClr val="tx2"/>
                </a:solidFill>
              </a:rPr>
              <a:t>30 mesi</a:t>
            </a:r>
            <a:endParaRPr kumimoji="0" lang="it-IT" sz="105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A4952A1-634B-8C31-2C88-019041BB3899}"/>
              </a:ext>
            </a:extLst>
          </p:cNvPr>
          <p:cNvSpPr txBox="1"/>
          <p:nvPr/>
        </p:nvSpPr>
        <p:spPr>
          <a:xfrm>
            <a:off x="5829921" y="1147722"/>
            <a:ext cx="4548244" cy="253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Clienti domestici</a:t>
            </a:r>
            <a:endParaRPr kumimoji="0" lang="it-IT" sz="105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302763-CBDA-E023-B1FF-85E74A97CCE4}"/>
              </a:ext>
            </a:extLst>
          </p:cNvPr>
          <p:cNvSpPr txBox="1"/>
          <p:nvPr/>
        </p:nvSpPr>
        <p:spPr>
          <a:xfrm>
            <a:off x="5829921" y="854400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Offerta solo </a:t>
            </a:r>
            <a:r>
              <a:rPr kumimoji="0" lang="it-IT" sz="105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monoraria</a:t>
            </a:r>
          </a:p>
        </p:txBody>
      </p:sp>
    </p:spTree>
    <p:extLst>
      <p:ext uri="{BB962C8B-B14F-4D97-AF65-F5344CB8AC3E}">
        <p14:creationId xmlns:p14="http://schemas.microsoft.com/office/powerpoint/2010/main" val="266803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25" y="24906"/>
            <a:ext cx="9789583" cy="909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Clima M </a:t>
            </a:r>
            <a:r>
              <a:rPr lang="it-IT" sz="20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V34</a:t>
            </a:r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Casa Luce</a:t>
            </a:r>
          </a:p>
        </p:txBody>
      </p:sp>
      <p:graphicFrame>
        <p:nvGraphicFramePr>
          <p:cNvPr id="2" name="Tabella 4">
            <a:extLst>
              <a:ext uri="{FF2B5EF4-FFF2-40B4-BE49-F238E27FC236}">
                <a16:creationId xmlns:a16="http://schemas.microsoft.com/office/drawing/2014/main" id="{9B830AFF-1653-FD93-6A42-F96611263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518513"/>
              </p:ext>
            </p:extLst>
          </p:nvPr>
        </p:nvGraphicFramePr>
        <p:xfrm>
          <a:off x="302124" y="1630011"/>
          <a:ext cx="11374764" cy="323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5668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  <a:gridCol w="689605">
                  <a:extLst>
                    <a:ext uri="{9D8B030D-6E8A-4147-A177-3AD203B41FA5}">
                      <a16:colId xmlns:a16="http://schemas.microsoft.com/office/drawing/2014/main" val="1741336047"/>
                    </a:ext>
                  </a:extLst>
                </a:gridCol>
                <a:gridCol w="2289886">
                  <a:extLst>
                    <a:ext uri="{9D8B030D-6E8A-4147-A177-3AD203B41FA5}">
                      <a16:colId xmlns:a16="http://schemas.microsoft.com/office/drawing/2014/main" val="2688085546"/>
                    </a:ext>
                  </a:extLst>
                </a:gridCol>
                <a:gridCol w="956535">
                  <a:extLst>
                    <a:ext uri="{9D8B030D-6E8A-4147-A177-3AD203B41FA5}">
                      <a16:colId xmlns:a16="http://schemas.microsoft.com/office/drawing/2014/main" val="4261338696"/>
                    </a:ext>
                  </a:extLst>
                </a:gridCol>
                <a:gridCol w="269240">
                  <a:extLst>
                    <a:ext uri="{9D8B030D-6E8A-4147-A177-3AD203B41FA5}">
                      <a16:colId xmlns:a16="http://schemas.microsoft.com/office/drawing/2014/main" val="699851962"/>
                    </a:ext>
                  </a:extLst>
                </a:gridCol>
                <a:gridCol w="1643830">
                  <a:extLst>
                    <a:ext uri="{9D8B030D-6E8A-4147-A177-3AD203B41FA5}">
                      <a16:colId xmlns:a16="http://schemas.microsoft.com/office/drawing/2014/main" val="1874287807"/>
                    </a:ext>
                  </a:extLst>
                </a:gridCol>
              </a:tblGrid>
              <a:tr h="536913">
                <a:tc gridSpan="4"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economiche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precedente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439292">
                <a:tc rowSpan="2"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Fisso F0 (lordo perdite)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i consumi sotto la soglia</a:t>
                      </a:r>
                      <a:endParaRPr lang="it-IT" sz="13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Gennaio – maggio / settembre - dicembre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0,1549</a:t>
                      </a:r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66096"/>
                  </a:ext>
                </a:extLst>
              </a:tr>
              <a:tr h="268456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Giugno - agosto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0,0775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81520"/>
                  </a:ext>
                </a:extLst>
              </a:tr>
              <a:tr h="268456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Netto Variabile (lordo perdite)</a:t>
                      </a:r>
                      <a:r>
                        <a:rPr lang="it-IT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gli eventuali consumi sopra la soglia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 PUN Medio mensile + 0,0399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63631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Corrispettivo di commercializzazione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156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302106">
                <a:tc>
                  <a:txBody>
                    <a:bodyPr/>
                    <a:lstStyle/>
                    <a:p>
                      <a:r>
                        <a:rPr lang="it-IT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Spese per il trasporto e la gestione del contatore + oneri di sistema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fissate dall’Autorità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61013">
                <a:tc>
                  <a:txBody>
                    <a:bodyPr/>
                    <a:lstStyle/>
                    <a:p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50320"/>
                  </a:ext>
                </a:extLst>
              </a:tr>
              <a:tr h="414887">
                <a:tc gridSpan="4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Scivolo a PUN Index GME Orario dopo 30 mesi (o PUN Index GME medio mensile monorario se il contatore non è abilitato)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256254">
                <a:tc gridSpan="4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Energia Certificata come da fonti rinnovabili e garantita da certificati GO dopo 30 mesi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F258D7-0ED2-3614-2E4A-DB9BED59A069}"/>
              </a:ext>
            </a:extLst>
          </p:cNvPr>
          <p:cNvSpPr txBox="1"/>
          <p:nvPr/>
        </p:nvSpPr>
        <p:spPr>
          <a:xfrm>
            <a:off x="5829921" y="561078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kumimoji="0" lang="it-IT" sz="105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Validità condizioni economiche: </a:t>
            </a:r>
            <a:r>
              <a:rPr lang="it-IT" sz="1050" dirty="0">
                <a:solidFill>
                  <a:schemeClr val="tx2"/>
                </a:solidFill>
              </a:rPr>
              <a:t>30 mesi</a:t>
            </a:r>
            <a:endParaRPr kumimoji="0" lang="it-IT" sz="105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A4952A1-634B-8C31-2C88-019041BB3899}"/>
              </a:ext>
            </a:extLst>
          </p:cNvPr>
          <p:cNvSpPr txBox="1"/>
          <p:nvPr/>
        </p:nvSpPr>
        <p:spPr>
          <a:xfrm>
            <a:off x="5829921" y="1147722"/>
            <a:ext cx="4548244" cy="253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Clienti domestici che acquistano Hera Clima</a:t>
            </a:r>
            <a:endParaRPr kumimoji="0" lang="it-IT" sz="105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302763-CBDA-E023-B1FF-85E74A97CCE4}"/>
              </a:ext>
            </a:extLst>
          </p:cNvPr>
          <p:cNvSpPr txBox="1"/>
          <p:nvPr/>
        </p:nvSpPr>
        <p:spPr>
          <a:xfrm>
            <a:off x="5829921" y="854400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Offerta solo </a:t>
            </a:r>
            <a:r>
              <a:rPr kumimoji="0" lang="it-IT" sz="105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monoraria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F0037CB-0431-70F1-BF53-E9EBF0B2ADC1}"/>
              </a:ext>
            </a:extLst>
          </p:cNvPr>
          <p:cNvSpPr txBox="1"/>
          <p:nvPr/>
        </p:nvSpPr>
        <p:spPr>
          <a:xfrm>
            <a:off x="0" y="5440555"/>
            <a:ext cx="12192000" cy="9678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it-IT" sz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HelveticaNeueLT Std"/>
                <a:cs typeface="Arial" panose="020B0604020202020204" pitchFamily="34" charset="0"/>
              </a:rPr>
              <a:t>Le condizioni economiche dell’offerta sono quelle della Hybrid «standard» </a:t>
            </a:r>
            <a:r>
              <a:rPr lang="it-IT" sz="12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HelveticaNeueLT Std"/>
                <a:cs typeface="Arial" panose="020B0604020202020204" pitchFamily="34" charset="0"/>
              </a:rPr>
              <a:t>con attenzione al prezzo nei mesi estivi</a:t>
            </a:r>
            <a:r>
              <a:rPr lang="it-IT" sz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HelveticaNeueLT Std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it-IT" sz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HelveticaNeueLT Std"/>
                <a:cs typeface="Arial" panose="020B0604020202020204" pitchFamily="34" charset="0"/>
              </a:rPr>
              <a:t>Il prezzo è lo stesso della Hybrid «standard», però </a:t>
            </a:r>
            <a:r>
              <a:rPr lang="it-IT" sz="12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HelveticaNeueLT Std"/>
                <a:cs typeface="Arial" panose="020B0604020202020204" pitchFamily="34" charset="0"/>
              </a:rPr>
              <a:t>questo sarà dimezzato </a:t>
            </a:r>
            <a:r>
              <a:rPr lang="it-IT" sz="1200" b="1" dirty="0">
                <a:solidFill>
                  <a:srgbClr val="FF0000"/>
                </a:solidFill>
                <a:latin typeface="Arial" panose="020B0604020202020204" pitchFamily="34" charset="0"/>
                <a:ea typeface="HelveticaNeueLT Std"/>
                <a:cs typeface="Arial" panose="020B0604020202020204" pitchFamily="34" charset="0"/>
              </a:rPr>
              <a:t>per i consumi di </a:t>
            </a:r>
            <a:r>
              <a:rPr lang="it-IT" sz="1200" b="1" u="sng" dirty="0">
                <a:solidFill>
                  <a:srgbClr val="FF0000"/>
                </a:solidFill>
                <a:latin typeface="Arial" panose="020B0604020202020204" pitchFamily="34" charset="0"/>
                <a:ea typeface="HelveticaNeueLT Std"/>
                <a:cs typeface="Arial" panose="020B0604020202020204" pitchFamily="34" charset="0"/>
              </a:rPr>
              <a:t>giugno – luglio – agosto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it-IT" sz="1200" dirty="0">
                <a:solidFill>
                  <a:schemeClr val="tx1"/>
                </a:solidFill>
                <a:latin typeface="Arial" panose="020B0604020202020204" pitchFamily="34" charset="0"/>
                <a:ea typeface="HelveticaNeueLT Std"/>
                <a:cs typeface="Arial" panose="020B0604020202020204" pitchFamily="34" charset="0"/>
              </a:rPr>
              <a:t>In bolletta non viene esposto uno sconto, ma </a:t>
            </a:r>
            <a:r>
              <a:rPr lang="it-IT" sz="1200" b="1" dirty="0">
                <a:solidFill>
                  <a:srgbClr val="FF0000"/>
                </a:solidFill>
                <a:latin typeface="Arial" panose="020B0604020202020204" pitchFamily="34" charset="0"/>
                <a:ea typeface="HelveticaNeueLT Std"/>
                <a:cs typeface="Arial" panose="020B0604020202020204" pitchFamily="34" charset="0"/>
              </a:rPr>
              <a:t>direttamente il prezzo dimezzato</a:t>
            </a:r>
            <a:endParaRPr lang="it-IT" sz="12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HelveticaNeueLT Std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468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25" y="24906"/>
            <a:ext cx="9789583" cy="909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Special WEB M </a:t>
            </a:r>
            <a:r>
              <a:rPr lang="it-IT" sz="20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V34</a:t>
            </a:r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(Casa – Luce)</a:t>
            </a:r>
          </a:p>
        </p:txBody>
      </p:sp>
      <p:graphicFrame>
        <p:nvGraphicFramePr>
          <p:cNvPr id="2" name="Tabella 4">
            <a:extLst>
              <a:ext uri="{FF2B5EF4-FFF2-40B4-BE49-F238E27FC236}">
                <a16:creationId xmlns:a16="http://schemas.microsoft.com/office/drawing/2014/main" id="{9B830AFF-1653-FD93-6A42-F96611263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533177"/>
              </p:ext>
            </p:extLst>
          </p:nvPr>
        </p:nvGraphicFramePr>
        <p:xfrm>
          <a:off x="302125" y="1776313"/>
          <a:ext cx="10259196" cy="3249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7373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  <a:gridCol w="1003410">
                  <a:extLst>
                    <a:ext uri="{9D8B030D-6E8A-4147-A177-3AD203B41FA5}">
                      <a16:colId xmlns:a16="http://schemas.microsoft.com/office/drawing/2014/main" val="1741336047"/>
                    </a:ext>
                  </a:extLst>
                </a:gridCol>
                <a:gridCol w="1728305">
                  <a:extLst>
                    <a:ext uri="{9D8B030D-6E8A-4147-A177-3AD203B41FA5}">
                      <a16:colId xmlns:a16="http://schemas.microsoft.com/office/drawing/2014/main" val="2688085546"/>
                    </a:ext>
                  </a:extLst>
                </a:gridCol>
                <a:gridCol w="626011">
                  <a:extLst>
                    <a:ext uri="{9D8B030D-6E8A-4147-A177-3AD203B41FA5}">
                      <a16:colId xmlns:a16="http://schemas.microsoft.com/office/drawing/2014/main" val="1419792472"/>
                    </a:ext>
                  </a:extLst>
                </a:gridCol>
                <a:gridCol w="3054097">
                  <a:extLst>
                    <a:ext uri="{9D8B030D-6E8A-4147-A177-3AD203B41FA5}">
                      <a16:colId xmlns:a16="http://schemas.microsoft.com/office/drawing/2014/main" val="1947513332"/>
                    </a:ext>
                  </a:extLst>
                </a:gridCol>
              </a:tblGrid>
              <a:tr h="407466">
                <a:tc gridSpan="3">
                  <a:txBody>
                    <a:bodyPr/>
                    <a:lstStyle/>
                    <a:p>
                      <a:pPr algn="ctr"/>
                      <a:r>
                        <a:rPr lang="it-IT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economiche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precedente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Fisso F0 (lordo perdite)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i consumi sotto la soglia</a:t>
                      </a:r>
                      <a:endParaRPr lang="it-IT" sz="13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0,1449</a:t>
                      </a:r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66096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Netto Variabile (lordo perdite)</a:t>
                      </a:r>
                      <a:r>
                        <a:rPr lang="it-IT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gli eventuali consumi sopra la soglia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 PUN Medio mensile + 0,0399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63631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Corrispettivo di commercializzazione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156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477718">
                <a:tc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Spese per il trasporto e la gestione del contatore + oneri di sistema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fissate dall’Autorità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70253">
                <a:tc>
                  <a:txBody>
                    <a:bodyPr/>
                    <a:lstStyle/>
                    <a:p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50320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Scivolo a PUN Index GME Orario dopo 30 mesi (o PUN Index GME medio mensile monorario se il contatore non è abilitato)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Energia Certificata come da fonti rinnovabili e garantita da certificati GO dopo 30 mesi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F258D7-0ED2-3614-2E4A-DB9BED59A069}"/>
              </a:ext>
            </a:extLst>
          </p:cNvPr>
          <p:cNvSpPr txBox="1"/>
          <p:nvPr/>
        </p:nvSpPr>
        <p:spPr>
          <a:xfrm>
            <a:off x="5829921" y="561078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 dirty="0">
                <a:solidFill>
                  <a:schemeClr val="tx2"/>
                </a:solidFill>
              </a:rPr>
              <a:t>Validità condizioni economiche: 30 mesi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A4952A1-634B-8C31-2C88-019041BB3899}"/>
              </a:ext>
            </a:extLst>
          </p:cNvPr>
          <p:cNvSpPr txBox="1"/>
          <p:nvPr/>
        </p:nvSpPr>
        <p:spPr>
          <a:xfrm>
            <a:off x="5829921" y="1147722"/>
            <a:ext cx="4548244" cy="253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 b="0" i="0" u="none" strike="noStrike" baseline="0">
                <a:solidFill>
                  <a:schemeClr val="tx2"/>
                </a:solidFill>
                <a:latin typeface="Arial" panose="020B0604020202020204" pitchFamily="34" charset="0"/>
              </a:rPr>
              <a:t>Clienti domestici che sottoscrivono </a:t>
            </a:r>
            <a:r>
              <a:rPr lang="it-IT" sz="1050" b="1">
                <a:solidFill>
                  <a:srgbClr val="C00000"/>
                </a:solidFill>
              </a:rPr>
              <a:t>via WEB/ Call Back TLS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302763-CBDA-E023-B1FF-85E74A97CCE4}"/>
              </a:ext>
            </a:extLst>
          </p:cNvPr>
          <p:cNvSpPr txBox="1"/>
          <p:nvPr/>
        </p:nvSpPr>
        <p:spPr>
          <a:xfrm>
            <a:off x="5829921" y="854400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>
                <a:solidFill>
                  <a:schemeClr val="tx2"/>
                </a:solidFill>
              </a:rPr>
              <a:t>Offerta solo </a:t>
            </a:r>
            <a:r>
              <a:rPr lang="it-IT" sz="1050" b="1">
                <a:solidFill>
                  <a:srgbClr val="C00000"/>
                </a:solidFill>
              </a:rPr>
              <a:t>monoraria</a:t>
            </a:r>
          </a:p>
        </p:txBody>
      </p:sp>
    </p:spTree>
    <p:extLst>
      <p:ext uri="{BB962C8B-B14F-4D97-AF65-F5344CB8AC3E}">
        <p14:creationId xmlns:p14="http://schemas.microsoft.com/office/powerpoint/2010/main" val="1838797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03" y="-27709"/>
            <a:ext cx="9789583" cy="9096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sz="20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LUCE CASA</a:t>
            </a:r>
          </a:p>
        </p:txBody>
      </p:sp>
      <p:graphicFrame>
        <p:nvGraphicFramePr>
          <p:cNvPr id="9" name="Tabella 4">
            <a:extLst>
              <a:ext uri="{FF2B5EF4-FFF2-40B4-BE49-F238E27FC236}">
                <a16:creationId xmlns:a16="http://schemas.microsoft.com/office/drawing/2014/main" id="{FAA624DC-3724-2852-96C5-F7C5E0553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150686"/>
              </p:ext>
            </p:extLst>
          </p:nvPr>
        </p:nvGraphicFramePr>
        <p:xfrm>
          <a:off x="258123" y="975360"/>
          <a:ext cx="4185861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861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</a:tblGrid>
              <a:tr h="407466">
                <a:tc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contrattuali/ servizi aggiuntivi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Offerta </a:t>
                      </a:r>
                      <a:r>
                        <a:rPr lang="it-IT" sz="1100" b="1">
                          <a:solidFill>
                            <a:srgbClr val="E2AC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luce</a:t>
                      </a: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Inclusa </a:t>
                      </a:r>
                      <a:r>
                        <a:rPr lang="it-IT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Hera 2G </a:t>
                      </a: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la visualizzazione dei consumi giornalieri (con dettaglio orario), settimanali, mensili (questi ultimi anche confrontabili con valore di soglia)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404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Diario dei Consumi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41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Hera Fast Check Up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05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 Prodotti e Servizi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360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 </a:t>
                      </a:r>
                      <a:r>
                        <a:rPr lang="it-IT" sz="11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</a:t>
                      </a:r>
                      <a:r>
                        <a:rPr lang="it-IT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Back da 50€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892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 Dipendenti: </a:t>
                      </a:r>
                      <a:r>
                        <a:rPr lang="it-IT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tbd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Imola:</a:t>
                      </a:r>
                      <a:r>
                        <a:rPr lang="it-IT" sz="1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Società coinvolte: HeraComm e </a:t>
                      </a:r>
                      <a:r>
                        <a:rPr lang="it-IT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Estenergy</a:t>
                      </a:r>
                      <a:endParaRPr lang="it-IT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Canali di vendita: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Tutti </a:t>
                      </a:r>
                      <a:r>
                        <a:rPr lang="it-IT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(per la Special WEB: WEB e </a:t>
                      </a:r>
                      <a:r>
                        <a:rPr lang="it-IT" sz="1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Teleselling</a:t>
                      </a:r>
                      <a:r>
                        <a:rPr lang="it-IT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Per la Clima: Sportelli e BA)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76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Bolletta cartacea, possibile richiedere IEB </a:t>
                      </a:r>
                      <a:r>
                        <a:rPr lang="it-IT" sz="11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(per la Special WEB: IEB)</a:t>
                      </a:r>
                      <a:endParaRPr lang="it-IT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83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Pagamenti secondo le modalità scelte dal cliente </a:t>
                      </a:r>
                      <a:r>
                        <a:rPr lang="it-IT" sz="11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(per la Special WEB: SDD)</a:t>
                      </a:r>
                      <a:endParaRPr lang="it-IT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348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Fatturazione mensile-fine mese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848134"/>
                  </a:ext>
                </a:extLst>
              </a:tr>
            </a:tbl>
          </a:graphicData>
        </a:graphic>
      </p:graphicFrame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9CECADD2-E7DB-B525-350F-E2EFC09A4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600193"/>
              </p:ext>
            </p:extLst>
          </p:nvPr>
        </p:nvGraphicFramePr>
        <p:xfrm>
          <a:off x="4652018" y="1376665"/>
          <a:ext cx="4867489" cy="4607590"/>
        </p:xfrm>
        <a:graphic>
          <a:graphicData uri="http://schemas.openxmlformats.org/drawingml/2006/table">
            <a:tbl>
              <a:tblPr firstRow="1" firstCol="1" bandRow="1"/>
              <a:tblGrid>
                <a:gridCol w="2923489">
                  <a:extLst>
                    <a:ext uri="{9D8B030D-6E8A-4147-A177-3AD203B41FA5}">
                      <a16:colId xmlns:a16="http://schemas.microsoft.com/office/drawing/2014/main" val="140051289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719491537"/>
                    </a:ext>
                  </a:extLst>
                </a:gridCol>
              </a:tblGrid>
              <a:tr h="11536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+mn-ea"/>
                          <a:cs typeface="Arial" panose="020B0604020202020204" pitchFamily="34" charset="0"/>
                        </a:rPr>
                        <a:t>CONSUMO ANNUO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+mn-ea"/>
                          <a:cs typeface="Arial" panose="020B0604020202020204" pitchFamily="34" charset="0"/>
                        </a:rPr>
                        <a:t>(kWh/anno)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cs typeface="Arial" panose="020B0604020202020204" pitchFamily="34" charset="0"/>
                        </a:rPr>
                        <a:t>SOGLIA MENSILE A PREZZO FISSO (kWh/mese)</a:t>
                      </a:r>
                      <a:endParaRPr lang="it-IT" sz="2800">
                        <a:effectLst/>
                        <a:highlight>
                          <a:srgbClr val="FFFF00"/>
                        </a:highlight>
                        <a:latin typeface="HelveticaNeueLT Std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935501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A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(&lt; 1.000)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dirty="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Calibri" panose="020F0502020204030204" pitchFamily="34" charset="0"/>
                        </a:rPr>
                        <a:t>30</a:t>
                      </a:r>
                      <a:endParaRPr lang="it-IT" sz="2800" dirty="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502580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B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(1.001 - 2.000)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dirty="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Calibri" panose="020F0502020204030204" pitchFamily="34" charset="0"/>
                        </a:rPr>
                        <a:t>60</a:t>
                      </a:r>
                      <a:endParaRPr lang="it-IT" sz="2800" dirty="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825839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(2.001 - 3.000)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dirty="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Calibri" panose="020F0502020204030204" pitchFamily="34" charset="0"/>
                        </a:rPr>
                        <a:t>105</a:t>
                      </a:r>
                      <a:endParaRPr lang="it-IT" sz="2800" dirty="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884606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D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(3.001 - 4.000)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dirty="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Calibri" panose="020F0502020204030204" pitchFamily="34" charset="0"/>
                        </a:rPr>
                        <a:t>145</a:t>
                      </a:r>
                      <a:endParaRPr lang="it-IT" sz="2800" dirty="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14468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E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(4.001 - 6.000)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dirty="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Calibri" panose="020F0502020204030204" pitchFamily="34" charset="0"/>
                        </a:rPr>
                        <a:t>200</a:t>
                      </a:r>
                      <a:endParaRPr lang="it-IT" sz="2800" dirty="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662076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F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(&gt; 6.001)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dirty="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Calibri" panose="020F0502020204030204" pitchFamily="34" charset="0"/>
                        </a:rPr>
                        <a:t>305</a:t>
                      </a:r>
                      <a:endParaRPr lang="it-IT" sz="2800" dirty="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836795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695512B7-F37B-DBD4-9948-63B12C0B2DFB}"/>
              </a:ext>
            </a:extLst>
          </p:cNvPr>
          <p:cNvSpPr txBox="1"/>
          <p:nvPr/>
        </p:nvSpPr>
        <p:spPr>
          <a:xfrm>
            <a:off x="7748018" y="903529"/>
            <a:ext cx="1426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TAGLIA M</a:t>
            </a:r>
          </a:p>
        </p:txBody>
      </p:sp>
    </p:spTree>
    <p:extLst>
      <p:ext uri="{BB962C8B-B14F-4D97-AF65-F5344CB8AC3E}">
        <p14:creationId xmlns:p14="http://schemas.microsoft.com/office/powerpoint/2010/main" val="40158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7D7EB7D-646A-4ECF-84B8-E07B5BE6E52B}"/>
              </a:ext>
            </a:extLst>
          </p:cNvPr>
          <p:cNvSpPr txBox="1"/>
          <p:nvPr/>
        </p:nvSpPr>
        <p:spPr>
          <a:xfrm>
            <a:off x="8226647" y="3505756"/>
            <a:ext cx="3471310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it-IT" sz="1200"/>
              <a:t>APP Hera 2G inclusa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FAA2B79-2832-FDBA-BD18-68DE5D4BEEC1}"/>
              </a:ext>
            </a:extLst>
          </p:cNvPr>
          <p:cNvSpPr/>
          <p:nvPr/>
        </p:nvSpPr>
        <p:spPr>
          <a:xfrm>
            <a:off x="3133896" y="964017"/>
            <a:ext cx="797447" cy="2692108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E52F577-D989-AA14-0411-A8EFB6AFCC66}"/>
              </a:ext>
            </a:extLst>
          </p:cNvPr>
          <p:cNvSpPr txBox="1"/>
          <p:nvPr/>
        </p:nvSpPr>
        <p:spPr>
          <a:xfrm>
            <a:off x="394052" y="279725"/>
            <a:ext cx="384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Hera Ti Tutela </a:t>
            </a:r>
            <a:r>
              <a:rPr lang="it-IT" sz="2000" b="1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V40</a:t>
            </a:r>
            <a:r>
              <a:rPr lang="it-IT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Casa Luce</a:t>
            </a:r>
            <a:endParaRPr lang="it-IT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CFA6BEF-508E-4040-0CA1-D4EFA2C0AAA4}"/>
              </a:ext>
            </a:extLst>
          </p:cNvPr>
          <p:cNvSpPr txBox="1"/>
          <p:nvPr/>
        </p:nvSpPr>
        <p:spPr>
          <a:xfrm>
            <a:off x="4923693" y="134685"/>
            <a:ext cx="6774264" cy="332398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Limitazione: </a:t>
            </a:r>
            <a:r>
              <a:rPr lang="it-IT" sz="1400" dirty="0"/>
              <a:t>dedicata ai soli clienti che provengono da </a:t>
            </a:r>
            <a:r>
              <a:rPr lang="it-IT" sz="1400" dirty="0" err="1"/>
              <a:t>STGdom</a:t>
            </a:r>
            <a:r>
              <a:rPr lang="it-IT" sz="1400" dirty="0"/>
              <a:t> ELE + specifiche province (vedi CTE)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Durata sconto su quota fissa di -72€/a</a:t>
            </a:r>
            <a:r>
              <a:rPr lang="it-IT" sz="1400" dirty="0"/>
              <a:t>: per 12 mesi, solo il primo anno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Durata: </a:t>
            </a:r>
            <a:r>
              <a:rPr lang="it-IT" sz="1400" dirty="0"/>
              <a:t>30 mesi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Inclusa Polizza Sanitaria/Veterinaria di 12 mesi (24 se si sottoscrive l’analoga Gas) con </a:t>
            </a:r>
            <a:r>
              <a:rPr lang="it-IT" sz="1400" strike="sngStrike" dirty="0" err="1">
                <a:highlight>
                  <a:srgbClr val="FFFF00"/>
                </a:highlight>
              </a:rPr>
              <a:t>Europ</a:t>
            </a:r>
            <a:r>
              <a:rPr lang="it-IT" sz="1400" strike="sngStrike" dirty="0">
                <a:highlight>
                  <a:srgbClr val="FFFF00"/>
                </a:highlight>
              </a:rPr>
              <a:t> Assistance </a:t>
            </a:r>
            <a:r>
              <a:rPr lang="it-IT" sz="1400" dirty="0" err="1">
                <a:highlight>
                  <a:srgbClr val="FFFF00"/>
                </a:highlight>
              </a:rPr>
              <a:t>Redion</a:t>
            </a:r>
            <a:endParaRPr lang="it-IT" sz="14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Inclusa polizza salva bolletta di 12 mesi (24 se si sottoscrive l’analoga Gas) con </a:t>
            </a:r>
            <a:r>
              <a:rPr lang="it-IT" sz="1400" dirty="0" err="1"/>
              <a:t>Europ</a:t>
            </a:r>
            <a:r>
              <a:rPr lang="it-IT" sz="1400" dirty="0"/>
              <a:t> Assistance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Canali di vendita: tutti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Non è associabile alle Promo in corso di validità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Promo Dipendenti: 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NO versione Imola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Scivolo a PUN Index GME Orario (o indice </a:t>
            </a:r>
            <a:r>
              <a:rPr lang="it-IT" sz="1400" dirty="0" err="1"/>
              <a:t>Pun</a:t>
            </a:r>
            <a:r>
              <a:rPr lang="it-IT" sz="1400" dirty="0"/>
              <a:t> Index GME medio se contatore non abilitato)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Penale per recesso anticipato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C09E749-7273-B5C2-F8ED-124A7D595439}"/>
              </a:ext>
            </a:extLst>
          </p:cNvPr>
          <p:cNvSpPr txBox="1"/>
          <p:nvPr/>
        </p:nvSpPr>
        <p:spPr>
          <a:xfrm>
            <a:off x="399472" y="3896195"/>
            <a:ext cx="3766822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200"/>
            </a:lvl1pPr>
          </a:lstStyle>
          <a:p>
            <a:r>
              <a:rPr lang="it-IT" dirty="0"/>
              <a:t>Promo Prodotti e Servizi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6771F9-C342-8E4B-E561-B9F7AD073197}"/>
              </a:ext>
            </a:extLst>
          </p:cNvPr>
          <p:cNvSpPr txBox="1"/>
          <p:nvPr/>
        </p:nvSpPr>
        <p:spPr>
          <a:xfrm>
            <a:off x="147295" y="6492748"/>
            <a:ext cx="8364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u="sng" dirty="0"/>
              <a:t>Non è obbligatoria a sistema l’attivazione contestuale della </a:t>
            </a:r>
            <a:r>
              <a:rPr lang="it-IT" sz="12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Hera Ti Tutela V40 </a:t>
            </a:r>
            <a:r>
              <a:rPr lang="it-IT" sz="1200" b="1" u="sng" dirty="0"/>
              <a:t>Casa Gas.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EC7D668-1B00-D8F1-6721-FD0D6F2DFA35}"/>
              </a:ext>
            </a:extLst>
          </p:cNvPr>
          <p:cNvSpPr txBox="1"/>
          <p:nvPr/>
        </p:nvSpPr>
        <p:spPr>
          <a:xfrm>
            <a:off x="8226647" y="3817304"/>
            <a:ext cx="3471310" cy="7820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Bolletta cartacea, possibile richiedere 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Pagamenti secondo le modalità scelte dal cliente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come da CGC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4C25200-D328-C0DD-D4A5-56B9A692A7E5}"/>
              </a:ext>
            </a:extLst>
          </p:cNvPr>
          <p:cNvSpPr txBox="1"/>
          <p:nvPr/>
        </p:nvSpPr>
        <p:spPr>
          <a:xfrm>
            <a:off x="8226647" y="4656476"/>
            <a:ext cx="3471310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it-IT" sz="1200"/>
              <a:t>Avrà obbligatoriamente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SDD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0B2F6E3E-45E4-A269-3E45-FE00308BF006}"/>
              </a:ext>
            </a:extLst>
          </p:cNvPr>
          <p:cNvSpPr/>
          <p:nvPr/>
        </p:nvSpPr>
        <p:spPr>
          <a:xfrm>
            <a:off x="6096000" y="4788296"/>
            <a:ext cx="2130647" cy="40843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/>
              <a:t>Solo chi sottoscrive tramite sito web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C4284F0-87D3-FDE0-CCCF-F3384183AD52}"/>
              </a:ext>
            </a:extLst>
          </p:cNvPr>
          <p:cNvSpPr txBox="1"/>
          <p:nvPr/>
        </p:nvSpPr>
        <p:spPr>
          <a:xfrm>
            <a:off x="399472" y="4261666"/>
            <a:ext cx="3766822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200"/>
            </a:lvl1pPr>
          </a:lstStyle>
          <a:p>
            <a:r>
              <a:rPr lang="it-IT"/>
              <a:t>Diario dei Consumi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468C6D1-85AA-8BBB-CDE3-EFAC82A71920}"/>
              </a:ext>
            </a:extLst>
          </p:cNvPr>
          <p:cNvSpPr/>
          <p:nvPr/>
        </p:nvSpPr>
        <p:spPr>
          <a:xfrm>
            <a:off x="4923693" y="5418474"/>
            <a:ext cx="6774264" cy="1017025"/>
          </a:xfrm>
          <a:prstGeom prst="rect">
            <a:avLst/>
          </a:prstGeom>
          <a:solidFill>
            <a:srgbClr val="00B050">
              <a:alpha val="64000"/>
            </a:srgbClr>
          </a:solidFill>
          <a:ln w="9525" cap="flat" cmpd="sng" algn="ctr">
            <a:solidFill>
              <a:srgbClr val="B1B1B1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69691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89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C025601-C13F-2DB6-61FC-402F11EDEC55}"/>
              </a:ext>
            </a:extLst>
          </p:cNvPr>
          <p:cNvSpPr/>
          <p:nvPr/>
        </p:nvSpPr>
        <p:spPr>
          <a:xfrm>
            <a:off x="4923693" y="5479173"/>
            <a:ext cx="6774264" cy="941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577340" algn="l"/>
              </a:tabLst>
            </a:pP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2 consulti medico generico 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(tel. o video chiamata) </a:t>
            </a:r>
          </a:p>
          <a:p>
            <a:pPr marL="742950" lvl="1" indent="-285750">
              <a:lnSpc>
                <a:spcPct val="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577340" algn="l"/>
              </a:tabLst>
            </a:pP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Accesso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 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a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 network strutture sanitarie private 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a condizioni agevolate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 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(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sconto dal 5% al 20%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577340" algn="l"/>
              </a:tabLst>
            </a:pP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2 consulti medici specialistici (tra pediatra, dermatologo, cardiologo)</a:t>
            </a:r>
          </a:p>
          <a:p>
            <a:pPr marL="742950" lvl="1" indent="-285750">
              <a:lnSpc>
                <a:spcPct val="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577340" algn="l"/>
              </a:tabLst>
            </a:pP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2 consulti veterinari</a:t>
            </a:r>
          </a:p>
          <a:p>
            <a:pPr marL="742950" lvl="1" indent="-285750">
              <a:lnSpc>
                <a:spcPct val="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577340" algn="l"/>
              </a:tabLst>
            </a:pP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Invio 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della 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ricetta  medica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 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a casa</a:t>
            </a:r>
            <a:endParaRPr lang="it-IT" sz="110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BE1DF90-C471-E5C8-D288-CA480749F0A1}"/>
              </a:ext>
            </a:extLst>
          </p:cNvPr>
          <p:cNvSpPr txBox="1"/>
          <p:nvPr/>
        </p:nvSpPr>
        <p:spPr>
          <a:xfrm>
            <a:off x="3826760" y="5606347"/>
            <a:ext cx="1113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9691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cs typeface="Arial" panose="020B0604020202020204" pitchFamily="34" charset="0"/>
              </a:rPr>
              <a:t>Set «Assistenza sanitaria» </a:t>
            </a:r>
            <a:endParaRPr kumimoji="0" lang="fr-FR" sz="1200" b="0" i="0" u="none" strike="noStrike" kern="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BA1D3B30-E756-C930-BF77-166F6400B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736933"/>
              </p:ext>
            </p:extLst>
          </p:nvPr>
        </p:nvGraphicFramePr>
        <p:xfrm>
          <a:off x="394052" y="937727"/>
          <a:ext cx="4403804" cy="2436245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184725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11433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853823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  <a:gridCol w="853823">
                  <a:extLst>
                    <a:ext uri="{9D8B030D-6E8A-4147-A177-3AD203B41FA5}">
                      <a16:colId xmlns:a16="http://schemas.microsoft.com/office/drawing/2014/main" val="348943052"/>
                    </a:ext>
                  </a:extLst>
                </a:gridCol>
              </a:tblGrid>
              <a:tr h="38755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Nuovo (V40)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precedente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MONORARIO lordo perdite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0,1599</a:t>
                      </a: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it-I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«»</a:t>
                      </a:r>
                      <a:endParaRPr lang="it-IT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BIORARIO lordo perdite F1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0,1649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it-I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«»</a:t>
                      </a:r>
                      <a:endParaRPr lang="it-IT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712399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BIORARIO lordo perdite F23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0,1579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«»</a:t>
                      </a:r>
                      <a:endParaRPr lang="it-IT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635678056"/>
                  </a:ext>
                </a:extLst>
              </a:tr>
              <a:tr h="30084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156,00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144</a:t>
                      </a: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  <a:tr h="30084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BONUS HERA TI TUTELA 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- 72,00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«»</a:t>
                      </a: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1618284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653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4B343EED-A18D-44DE-940D-80BCFC7C055B}"/>
              </a:ext>
            </a:extLst>
          </p:cNvPr>
          <p:cNvSpPr txBox="1">
            <a:spLocks/>
          </p:cNvSpPr>
          <p:nvPr/>
        </p:nvSpPr>
        <p:spPr>
          <a:xfrm>
            <a:off x="159318" y="64982"/>
            <a:ext cx="44038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it-IT" sz="1800" b="1" kern="1200">
                <a:solidFill>
                  <a:srgbClr val="054977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>
                <a:solidFill>
                  <a:srgbClr val="000000"/>
                </a:solidFill>
                <a:latin typeface="+mn-lt"/>
              </a:rPr>
              <a:t>Fisse CASA EE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526D8D5-422A-4ADE-B946-ED40E04532EF}"/>
              </a:ext>
            </a:extLst>
          </p:cNvPr>
          <p:cNvSpPr/>
          <p:nvPr/>
        </p:nvSpPr>
        <p:spPr>
          <a:xfrm>
            <a:off x="3350207" y="1373871"/>
            <a:ext cx="797447" cy="1170736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3EE3A614-62C8-4BF9-B60F-876CC82E5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322162"/>
              </p:ext>
            </p:extLst>
          </p:nvPr>
        </p:nvGraphicFramePr>
        <p:xfrm>
          <a:off x="453045" y="1281856"/>
          <a:ext cx="4620400" cy="1170736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292177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36587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895818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  <a:gridCol w="895818">
                  <a:extLst>
                    <a:ext uri="{9D8B030D-6E8A-4147-A177-3AD203B41FA5}">
                      <a16:colId xmlns:a16="http://schemas.microsoft.com/office/drawing/2014/main" val="1632827024"/>
                    </a:ext>
                  </a:extLst>
                </a:gridCol>
              </a:tblGrid>
              <a:tr h="38755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Attuale (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V54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Precedente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MONORARIO </a:t>
                      </a:r>
                      <a:r>
                        <a:rPr lang="it-IT" sz="900" b="1" u="sng" strike="noStrike">
                          <a:solidFill>
                            <a:srgbClr val="000000"/>
                          </a:solidFill>
                          <a:effectLst/>
                        </a:rPr>
                        <a:t>lordo</a:t>
                      </a:r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 perdite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0,1903</a:t>
                      </a: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0,1777</a:t>
                      </a: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30084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144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572925C6-CE8D-4F22-AC64-2E3EE52F5F17}"/>
              </a:ext>
            </a:extLst>
          </p:cNvPr>
          <p:cNvSpPr txBox="1"/>
          <p:nvPr/>
        </p:nvSpPr>
        <p:spPr>
          <a:xfrm>
            <a:off x="453045" y="928655"/>
            <a:ext cx="4987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PiùControllo Special FLAT </a:t>
            </a:r>
            <a:r>
              <a:rPr lang="it-IT" sz="1400" b="1" dirty="0">
                <a:highlight>
                  <a:srgbClr val="FFFF00"/>
                </a:highlight>
              </a:rPr>
              <a:t>V54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0387AED-D745-42A7-B05B-A653D391CDB2}"/>
              </a:ext>
            </a:extLst>
          </p:cNvPr>
          <p:cNvSpPr txBox="1"/>
          <p:nvPr/>
        </p:nvSpPr>
        <p:spPr>
          <a:xfrm>
            <a:off x="5626323" y="1318503"/>
            <a:ext cx="4893369" cy="255454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Offerta dedicata al canale WEB (</a:t>
            </a:r>
            <a:r>
              <a:rPr lang="it-IT" sz="1600" b="1" dirty="0" err="1"/>
              <a:t>ele</a:t>
            </a:r>
            <a:r>
              <a:rPr lang="it-IT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30 mesi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Sconto nuovi clienti del 10% sul prezzo fisso per 30 mesi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Sconto Digital di 50€ in un anno per i nuovi clienti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Canali di attivazione: WEB e WEB CALL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Applicabile lo Sconto Dipendenti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NO versione Imola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Scivolo a PUN Index GME medio mensile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Eliminiamo la penale per recesso anticipato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84902A1-07DD-4833-8B73-E22F26230449}"/>
              </a:ext>
            </a:extLst>
          </p:cNvPr>
          <p:cNvSpPr txBox="1"/>
          <p:nvPr/>
        </p:nvSpPr>
        <p:spPr>
          <a:xfrm>
            <a:off x="5640738" y="4451160"/>
            <a:ext cx="2952293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/>
              <a:t>Avrà obbligatoriamente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SDD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mensile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DE29629-E42B-4F10-AD44-3C62DBD50604}"/>
              </a:ext>
            </a:extLst>
          </p:cNvPr>
          <p:cNvSpPr txBox="1"/>
          <p:nvPr/>
        </p:nvSpPr>
        <p:spPr>
          <a:xfrm>
            <a:off x="453045" y="3600768"/>
            <a:ext cx="3766822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200"/>
            </a:lvl1pPr>
          </a:lstStyle>
          <a:p>
            <a:r>
              <a:rPr lang="it-IT" dirty="0"/>
              <a:t>Promo Prodotti e Servizi</a:t>
            </a:r>
          </a:p>
        </p:txBody>
      </p:sp>
    </p:spTree>
    <p:extLst>
      <p:ext uri="{BB962C8B-B14F-4D97-AF65-F5344CB8AC3E}">
        <p14:creationId xmlns:p14="http://schemas.microsoft.com/office/powerpoint/2010/main" val="1073049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4B343EED-A18D-44DE-940D-80BCFC7C055B}"/>
              </a:ext>
            </a:extLst>
          </p:cNvPr>
          <p:cNvSpPr txBox="1">
            <a:spLocks/>
          </p:cNvSpPr>
          <p:nvPr/>
        </p:nvSpPr>
        <p:spPr>
          <a:xfrm>
            <a:off x="159318" y="64982"/>
            <a:ext cx="44038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it-IT" sz="1800" b="1" kern="1200">
                <a:solidFill>
                  <a:srgbClr val="054977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>
                <a:solidFill>
                  <a:srgbClr val="000000"/>
                </a:solidFill>
                <a:latin typeface="+mn-lt"/>
              </a:rPr>
              <a:t>Fisse CASA EE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7D7EB7D-646A-4ECF-84B8-E07B5BE6E52B}"/>
              </a:ext>
            </a:extLst>
          </p:cNvPr>
          <p:cNvSpPr txBox="1"/>
          <p:nvPr/>
        </p:nvSpPr>
        <p:spPr>
          <a:xfrm>
            <a:off x="9938632" y="3648885"/>
            <a:ext cx="1162120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it-IT" sz="1200"/>
              <a:t>APP Hera 2G inclusa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FAA2B79-2832-FDBA-BD18-68DE5D4BEEC1}"/>
              </a:ext>
            </a:extLst>
          </p:cNvPr>
          <p:cNvSpPr/>
          <p:nvPr/>
        </p:nvSpPr>
        <p:spPr>
          <a:xfrm>
            <a:off x="3550982" y="1373871"/>
            <a:ext cx="797447" cy="2135398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BA1D3B30-E756-C930-BF77-166F6400B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008028"/>
              </p:ext>
            </p:extLst>
          </p:nvPr>
        </p:nvGraphicFramePr>
        <p:xfrm>
          <a:off x="453045" y="1281856"/>
          <a:ext cx="4934370" cy="2135398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447938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73050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56691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  <a:gridCol w="956691">
                  <a:extLst>
                    <a:ext uri="{9D8B030D-6E8A-4147-A177-3AD203B41FA5}">
                      <a16:colId xmlns:a16="http://schemas.microsoft.com/office/drawing/2014/main" val="3626907762"/>
                    </a:ext>
                  </a:extLst>
                </a:gridCol>
              </a:tblGrid>
              <a:tr h="38755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Nuovo (V50)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Precedente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MONORARIO lordo perdite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0,1699</a:t>
                      </a: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it-I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«»</a:t>
                      </a:r>
                      <a:endParaRPr lang="it-IT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BIORARIO lordo perdite F1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0,1759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it-I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«»</a:t>
                      </a:r>
                      <a:endParaRPr lang="it-IT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712399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BIORARIO lordo perdite F23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0,1669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it-I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«»</a:t>
                      </a:r>
                      <a:endParaRPr lang="it-IT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635678056"/>
                  </a:ext>
                </a:extLst>
              </a:tr>
              <a:tr h="30084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156,00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«»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AE52F577-D989-AA14-0411-A8EFB6AFCC66}"/>
              </a:ext>
            </a:extLst>
          </p:cNvPr>
          <p:cNvSpPr txBox="1"/>
          <p:nvPr/>
        </p:nvSpPr>
        <p:spPr>
          <a:xfrm>
            <a:off x="453045" y="928655"/>
            <a:ext cx="5253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PiùControllo FLAT V50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CFA6BEF-508E-4040-0CA1-D4EFA2C0AAA4}"/>
              </a:ext>
            </a:extLst>
          </p:cNvPr>
          <p:cNvSpPr txBox="1"/>
          <p:nvPr/>
        </p:nvSpPr>
        <p:spPr>
          <a:xfrm>
            <a:off x="6207383" y="1748520"/>
            <a:ext cx="4893369" cy="107721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Durata: </a:t>
            </a:r>
            <a:r>
              <a:rPr lang="it-IT" sz="1600" dirty="0"/>
              <a:t>30 mesi</a:t>
            </a:r>
          </a:p>
          <a:p>
            <a:r>
              <a:rPr lang="it-IT" sz="1600" b="1" dirty="0">
                <a:latin typeface="Arial" panose="020B0604020202020204" pitchFamily="34" charset="0"/>
                <a:cs typeface="Arial" panose="020B0604020202020204" pitchFamily="34" charset="0"/>
              </a:rPr>
              <a:t>Promo </a:t>
            </a:r>
            <a:r>
              <a:rPr lang="it-IT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r>
              <a:rPr lang="it-IT" sz="1600" b="1" dirty="0">
                <a:latin typeface="Arial" panose="020B0604020202020204" pitchFamily="34" charset="0"/>
                <a:cs typeface="Arial" panose="020B0604020202020204" pitchFamily="34" charset="0"/>
              </a:rPr>
              <a:t> back da 50€</a:t>
            </a:r>
            <a:endParaRPr lang="it-IT" sz="1600" dirty="0"/>
          </a:p>
          <a:p>
            <a:r>
              <a:rPr lang="it-IT" sz="1600" dirty="0"/>
              <a:t>Scivolo a PUN Index GME medio mensile</a:t>
            </a:r>
          </a:p>
          <a:p>
            <a:r>
              <a:rPr lang="it-IT" sz="1600" dirty="0"/>
              <a:t>Penale per recesso anticipato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6D06C48-13F2-40CD-F0EC-E03446CFB98B}"/>
              </a:ext>
            </a:extLst>
          </p:cNvPr>
          <p:cNvSpPr txBox="1"/>
          <p:nvPr/>
        </p:nvSpPr>
        <p:spPr>
          <a:xfrm>
            <a:off x="6207383" y="3636186"/>
            <a:ext cx="2952293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/>
              <a:t>Avrà obbligatoriamente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mensile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C09E749-7273-B5C2-F8ED-124A7D595439}"/>
              </a:ext>
            </a:extLst>
          </p:cNvPr>
          <p:cNvSpPr txBox="1"/>
          <p:nvPr/>
        </p:nvSpPr>
        <p:spPr>
          <a:xfrm>
            <a:off x="453045" y="4094274"/>
            <a:ext cx="3766822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200"/>
            </a:lvl1pPr>
          </a:lstStyle>
          <a:p>
            <a:r>
              <a:rPr lang="it-IT" dirty="0"/>
              <a:t>Promo Prodotti e Servizi</a:t>
            </a:r>
          </a:p>
        </p:txBody>
      </p:sp>
    </p:spTree>
    <p:extLst>
      <p:ext uri="{BB962C8B-B14F-4D97-AF65-F5344CB8AC3E}">
        <p14:creationId xmlns:p14="http://schemas.microsoft.com/office/powerpoint/2010/main" val="2090621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25" y="-8804"/>
            <a:ext cx="9789583" cy="9096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EXTRA M </a:t>
            </a:r>
            <a:r>
              <a:rPr lang="it-IT" sz="20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V34</a:t>
            </a:r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Casa Gas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F258D7-0ED2-3614-2E4A-DB9BED59A069}"/>
              </a:ext>
            </a:extLst>
          </p:cNvPr>
          <p:cNvSpPr txBox="1"/>
          <p:nvPr/>
        </p:nvSpPr>
        <p:spPr>
          <a:xfrm>
            <a:off x="5829921" y="584295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 dirty="0">
                <a:solidFill>
                  <a:schemeClr val="tx2"/>
                </a:solidFill>
              </a:rPr>
              <a:t>Validità condizioni economiche: </a:t>
            </a:r>
            <a:r>
              <a:rPr lang="it-IT" sz="1050" dirty="0"/>
              <a:t>30 mesi</a:t>
            </a:r>
            <a:endParaRPr lang="it-IT" sz="1050" dirty="0">
              <a:solidFill>
                <a:schemeClr val="tx2"/>
              </a:solidFill>
            </a:endParaRP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993E10F6-7992-6DB7-F108-12F2165E0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170389"/>
              </p:ext>
            </p:extLst>
          </p:nvPr>
        </p:nvGraphicFramePr>
        <p:xfrm>
          <a:off x="302125" y="1776313"/>
          <a:ext cx="9789584" cy="4057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021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  <a:gridCol w="978803">
                  <a:extLst>
                    <a:ext uri="{9D8B030D-6E8A-4147-A177-3AD203B41FA5}">
                      <a16:colId xmlns:a16="http://schemas.microsoft.com/office/drawing/2014/main" val="1741336047"/>
                    </a:ext>
                  </a:extLst>
                </a:gridCol>
                <a:gridCol w="1685920">
                  <a:extLst>
                    <a:ext uri="{9D8B030D-6E8A-4147-A177-3AD203B41FA5}">
                      <a16:colId xmlns:a16="http://schemas.microsoft.com/office/drawing/2014/main" val="2688085546"/>
                    </a:ext>
                  </a:extLst>
                </a:gridCol>
                <a:gridCol w="311867">
                  <a:extLst>
                    <a:ext uri="{9D8B030D-6E8A-4147-A177-3AD203B41FA5}">
                      <a16:colId xmlns:a16="http://schemas.microsoft.com/office/drawing/2014/main" val="2232408684"/>
                    </a:ext>
                  </a:extLst>
                </a:gridCol>
                <a:gridCol w="3059973">
                  <a:extLst>
                    <a:ext uri="{9D8B030D-6E8A-4147-A177-3AD203B41FA5}">
                      <a16:colId xmlns:a16="http://schemas.microsoft.com/office/drawing/2014/main" val="2667402556"/>
                    </a:ext>
                  </a:extLst>
                </a:gridCol>
              </a:tblGrid>
              <a:tr h="407466">
                <a:tc gridSpan="3"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economiche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precedente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Fisso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i consumi sotto la soglia</a:t>
                      </a:r>
                      <a:endParaRPr lang="it-IT" sz="13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</a:t>
                      </a:r>
                      <a:r>
                        <a:rPr lang="it-IT" sz="80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0,639</a:t>
                      </a:r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66096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Netto Variabile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gli eventuali consumi sopra la soglia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</a:t>
                      </a:r>
                      <a:r>
                        <a:rPr lang="it-IT" sz="80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PSV_DA</a:t>
                      </a:r>
                      <a:r>
                        <a:rPr lang="it-IT" sz="14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it-IT" sz="1400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t-IT" sz="14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+ 0,249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199568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Commercializzazione al dettaglio (fissa)</a:t>
                      </a:r>
                      <a:endParaRPr lang="it-IT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156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Bonus Hera Hybrid Extra*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-36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977601"/>
                  </a:ext>
                </a:extLst>
              </a:tr>
              <a:tr h="477718">
                <a:tc>
                  <a:txBody>
                    <a:bodyPr/>
                    <a:lstStyle/>
                    <a:p>
                      <a:r>
                        <a:rPr lang="it-IT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Spese per il trasporto e la gestione del contatore + oneri di sistema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fissate dall’Autorità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70253">
                <a:tc>
                  <a:txBody>
                    <a:bodyPr/>
                    <a:lstStyle/>
                    <a:p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50320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400" b="1" dirty="0">
                          <a:effectLst/>
                          <a:ea typeface="Calibri" panose="020F0502020204030204" pitchFamily="34" charset="0"/>
                        </a:rPr>
                        <a:t>Indice scivolo: </a:t>
                      </a:r>
                      <a:r>
                        <a:rPr lang="it-IT" sz="1400" b="1" dirty="0" err="1">
                          <a:effectLst/>
                          <a:ea typeface="Calibri" panose="020F0502020204030204" pitchFamily="34" charset="0"/>
                        </a:rPr>
                        <a:t>PSV_DA</a:t>
                      </a:r>
                      <a:r>
                        <a:rPr lang="it-IT" sz="1400" b="1" baseline="-25000" dirty="0" err="1">
                          <a:effectLst/>
                          <a:ea typeface="Calibri" panose="020F0502020204030204" pitchFamily="34" charset="0"/>
                        </a:rPr>
                        <a:t>m</a:t>
                      </a:r>
                      <a:r>
                        <a:rPr lang="it-IT" sz="1400" b="1" dirty="0">
                          <a:effectLst/>
                          <a:ea typeface="Calibri" panose="020F0502020204030204" pitchFamily="34" charset="0"/>
                        </a:rPr>
                        <a:t> 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è calcolato per ogni mese, come media aritmetica dei prezzi </a:t>
                      </a:r>
                      <a:r>
                        <a:rPr lang="it-IT" sz="1100" dirty="0" err="1">
                          <a:effectLst/>
                          <a:ea typeface="Calibri" panose="020F0502020204030204" pitchFamily="34" charset="0"/>
                        </a:rPr>
                        <a:t>offer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 “Day-</a:t>
                      </a:r>
                      <a:r>
                        <a:rPr lang="it-IT" sz="1100" dirty="0" err="1">
                          <a:effectLst/>
                          <a:ea typeface="Calibri" panose="020F0502020204030204" pitchFamily="34" charset="0"/>
                        </a:rPr>
                        <a:t>Ahead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”, espressi in €/MWh,  pubblicati da ICIS </a:t>
                      </a:r>
                      <a:r>
                        <a:rPr lang="it-IT" sz="1100" dirty="0" err="1">
                          <a:effectLst/>
                          <a:ea typeface="Calibri" panose="020F0502020204030204" pitchFamily="34" charset="0"/>
                        </a:rPr>
                        <a:t>Heren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 nel report ESGM (</a:t>
                      </a:r>
                      <a:r>
                        <a:rPr lang="it-IT" sz="1100" dirty="0" err="1">
                          <a:effectLst/>
                          <a:ea typeface="Calibri" panose="020F0502020204030204" pitchFamily="34" charset="0"/>
                        </a:rPr>
                        <a:t>European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 Spot Gas Markets) all’interno della sezione “PSV Price </a:t>
                      </a:r>
                      <a:r>
                        <a:rPr lang="it-IT" sz="1100" dirty="0" err="1">
                          <a:effectLst/>
                          <a:ea typeface="Calibri" panose="020F0502020204030204" pitchFamily="34" charset="0"/>
                        </a:rPr>
                        <a:t>Assessment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”, nel giorno lavorativo antecedente il giorno di riferimento</a:t>
                      </a:r>
                      <a:r>
                        <a:rPr lang="it-IT" sz="1200" dirty="0">
                          <a:effectLst/>
                          <a:ea typeface="Calibri" panose="020F0502020204030204" pitchFamily="34" charset="0"/>
                        </a:rPr>
                        <a:t>.</a:t>
                      </a:r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Emissioni di CO2 compensate tramite l’acquisto di crediti di carbonio fino al 31.12.2027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Scivolo </a:t>
                      </a:r>
                      <a:r>
                        <a:rPr lang="it-IT" sz="13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it-IT" sz="1200" b="0" dirty="0" err="1">
                          <a:effectLst/>
                          <a:ea typeface="Calibri" panose="020F0502020204030204" pitchFamily="34" charset="0"/>
                        </a:rPr>
                        <a:t>PSV_DA</a:t>
                      </a:r>
                      <a:r>
                        <a:rPr lang="it-IT" sz="1200" b="0" baseline="-25000" dirty="0" err="1">
                          <a:effectLst/>
                          <a:ea typeface="Calibri" panose="020F0502020204030204" pitchFamily="34" charset="0"/>
                        </a:rPr>
                        <a:t>m</a:t>
                      </a:r>
                      <a:r>
                        <a:rPr lang="it-IT" sz="1200" b="0" dirty="0">
                          <a:effectLst/>
                          <a:ea typeface="Calibri" panose="020F0502020204030204" pitchFamily="34" charset="0"/>
                        </a:rPr>
                        <a:t> </a:t>
                      </a:r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dopo 30 mesi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911813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5AB5CF-E362-7401-A636-3C1665F5B12F}"/>
              </a:ext>
            </a:extLst>
          </p:cNvPr>
          <p:cNvSpPr txBox="1"/>
          <p:nvPr/>
        </p:nvSpPr>
        <p:spPr>
          <a:xfrm>
            <a:off x="5829921" y="900834"/>
            <a:ext cx="4548244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400" b="0" i="0" u="none" strike="noStrike" baseline="0">
                <a:solidFill>
                  <a:schemeClr val="tx2"/>
                </a:solidFill>
                <a:latin typeface="Arial" panose="020B0604020202020204" pitchFamily="34" charset="0"/>
              </a:rPr>
              <a:t>Clienti domestici </a:t>
            </a:r>
            <a:r>
              <a:rPr lang="it-IT" sz="1400">
                <a:solidFill>
                  <a:schemeClr val="tx2"/>
                </a:solidFill>
              </a:rPr>
              <a:t>con fornitura ad uso riscaldamento o uso promiscuo (no uso cottura) </a:t>
            </a:r>
            <a:r>
              <a:rPr lang="it-IT" sz="1400" b="1" i="0" u="sng" strike="noStrike" baseline="0">
                <a:solidFill>
                  <a:srgbClr val="C00000"/>
                </a:solidFill>
                <a:latin typeface="Arial" panose="020B0604020202020204" pitchFamily="34" charset="0"/>
              </a:rPr>
              <a:t>che sottoscrivono Hera Hybrid EXTRA Casa Luce</a:t>
            </a:r>
            <a:endParaRPr lang="it-IT" sz="1400" b="1" u="sng">
              <a:solidFill>
                <a:srgbClr val="C0000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4C0CF86-C8B8-B6D7-6FE5-1928198B3B2B}"/>
              </a:ext>
            </a:extLst>
          </p:cNvPr>
          <p:cNvSpPr txBox="1"/>
          <p:nvPr/>
        </p:nvSpPr>
        <p:spPr>
          <a:xfrm>
            <a:off x="302124" y="6131697"/>
            <a:ext cx="5793875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it-IT" sz="1050">
                <a:solidFill>
                  <a:schemeClr val="tx2"/>
                </a:solidFill>
              </a:rPr>
              <a:t>* Erogato in 12 quote di pari importo </a:t>
            </a:r>
            <a:r>
              <a:rPr lang="it-IT" sz="1050" b="1">
                <a:solidFill>
                  <a:schemeClr val="tx2"/>
                </a:solidFill>
              </a:rPr>
              <a:t>il primo anno di fornitura</a:t>
            </a:r>
            <a:endParaRPr lang="it-IT" sz="105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03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25" y="-8804"/>
            <a:ext cx="9789583" cy="9096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M </a:t>
            </a:r>
            <a:r>
              <a:rPr lang="it-IT" sz="20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V34</a:t>
            </a:r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Casa Gas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F258D7-0ED2-3614-2E4A-DB9BED59A069}"/>
              </a:ext>
            </a:extLst>
          </p:cNvPr>
          <p:cNvSpPr txBox="1"/>
          <p:nvPr/>
        </p:nvSpPr>
        <p:spPr>
          <a:xfrm>
            <a:off x="5829921" y="584295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 dirty="0">
                <a:solidFill>
                  <a:schemeClr val="tx2"/>
                </a:solidFill>
              </a:rPr>
              <a:t>Validità condizioni economiche: </a:t>
            </a:r>
            <a:r>
              <a:rPr lang="it-IT" sz="1050" dirty="0"/>
              <a:t>30 mesi</a:t>
            </a:r>
            <a:endParaRPr lang="it-IT" sz="1050" dirty="0">
              <a:solidFill>
                <a:schemeClr val="tx2"/>
              </a:solidFill>
            </a:endParaRP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993E10F6-7992-6DB7-F108-12F2165E0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818066"/>
              </p:ext>
            </p:extLst>
          </p:nvPr>
        </p:nvGraphicFramePr>
        <p:xfrm>
          <a:off x="302124" y="1776313"/>
          <a:ext cx="9582537" cy="4220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3646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  <a:gridCol w="958102">
                  <a:extLst>
                    <a:ext uri="{9D8B030D-6E8A-4147-A177-3AD203B41FA5}">
                      <a16:colId xmlns:a16="http://schemas.microsoft.com/office/drawing/2014/main" val="1741336047"/>
                    </a:ext>
                  </a:extLst>
                </a:gridCol>
                <a:gridCol w="1650263">
                  <a:extLst>
                    <a:ext uri="{9D8B030D-6E8A-4147-A177-3AD203B41FA5}">
                      <a16:colId xmlns:a16="http://schemas.microsoft.com/office/drawing/2014/main" val="2688085546"/>
                    </a:ext>
                  </a:extLst>
                </a:gridCol>
                <a:gridCol w="511609">
                  <a:extLst>
                    <a:ext uri="{9D8B030D-6E8A-4147-A177-3AD203B41FA5}">
                      <a16:colId xmlns:a16="http://schemas.microsoft.com/office/drawing/2014/main" val="2568871160"/>
                    </a:ext>
                  </a:extLst>
                </a:gridCol>
                <a:gridCol w="2788917">
                  <a:extLst>
                    <a:ext uri="{9D8B030D-6E8A-4147-A177-3AD203B41FA5}">
                      <a16:colId xmlns:a16="http://schemas.microsoft.com/office/drawing/2014/main" val="3510836587"/>
                    </a:ext>
                  </a:extLst>
                </a:gridCol>
              </a:tblGrid>
              <a:tr h="498284">
                <a:tc gridSpan="3"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economiche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precedente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Fisso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i consumi sotto la soglia</a:t>
                      </a:r>
                      <a:endParaRPr lang="it-IT" sz="13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</a:t>
                      </a:r>
                      <a:r>
                        <a:rPr lang="it-IT" sz="8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0,639</a:t>
                      </a:r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66096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Netto Variabile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gli eventuali consumi sopra la soglia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</a:t>
                      </a:r>
                      <a:r>
                        <a:rPr lang="it-IT" sz="80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PSV_DA</a:t>
                      </a:r>
                      <a:r>
                        <a:rPr lang="it-IT" sz="14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it-IT" sz="1400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t-IT" sz="14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+ 0,249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199568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Commercializzazione al dettaglio (fissa)</a:t>
                      </a:r>
                      <a:endParaRPr lang="it-IT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156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477718">
                <a:tc>
                  <a:txBody>
                    <a:bodyPr/>
                    <a:lstStyle/>
                    <a:p>
                      <a:r>
                        <a:rPr lang="it-IT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Spese per il trasporto e la gestione del contatore + oneri di sistema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fissate dall’Autorità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50320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400" b="1" dirty="0">
                          <a:effectLst/>
                          <a:ea typeface="Calibri" panose="020F0502020204030204" pitchFamily="34" charset="0"/>
                        </a:rPr>
                        <a:t>Indice scivolo: </a:t>
                      </a:r>
                      <a:r>
                        <a:rPr lang="it-IT" sz="1400" b="1" dirty="0" err="1">
                          <a:effectLst/>
                          <a:ea typeface="Calibri" panose="020F0502020204030204" pitchFamily="34" charset="0"/>
                        </a:rPr>
                        <a:t>PSV_DA</a:t>
                      </a:r>
                      <a:r>
                        <a:rPr lang="it-IT" sz="1400" b="1" baseline="-25000" dirty="0" err="1">
                          <a:effectLst/>
                          <a:ea typeface="Calibri" panose="020F0502020204030204" pitchFamily="34" charset="0"/>
                        </a:rPr>
                        <a:t>m</a:t>
                      </a:r>
                      <a:r>
                        <a:rPr lang="it-IT" sz="1400" b="1" dirty="0">
                          <a:effectLst/>
                          <a:ea typeface="Calibri" panose="020F0502020204030204" pitchFamily="34" charset="0"/>
                        </a:rPr>
                        <a:t> 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è calcolato per ogni mese, come media aritmetica dei prezzi </a:t>
                      </a:r>
                      <a:r>
                        <a:rPr lang="it-IT" sz="1100" dirty="0" err="1">
                          <a:effectLst/>
                          <a:ea typeface="Calibri" panose="020F0502020204030204" pitchFamily="34" charset="0"/>
                        </a:rPr>
                        <a:t>offer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 “Day-</a:t>
                      </a:r>
                      <a:r>
                        <a:rPr lang="it-IT" sz="1100" dirty="0" err="1">
                          <a:effectLst/>
                          <a:ea typeface="Calibri" panose="020F0502020204030204" pitchFamily="34" charset="0"/>
                        </a:rPr>
                        <a:t>Ahead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”, espressi in €/MWh,  pubblicati da ICIS </a:t>
                      </a:r>
                      <a:r>
                        <a:rPr lang="it-IT" sz="1100" dirty="0" err="1">
                          <a:effectLst/>
                          <a:ea typeface="Calibri" panose="020F0502020204030204" pitchFamily="34" charset="0"/>
                        </a:rPr>
                        <a:t>Heren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 nel report ESGM (</a:t>
                      </a:r>
                      <a:r>
                        <a:rPr lang="it-IT" sz="1100" dirty="0" err="1">
                          <a:effectLst/>
                          <a:ea typeface="Calibri" panose="020F0502020204030204" pitchFamily="34" charset="0"/>
                        </a:rPr>
                        <a:t>European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 Spot Gas Markets) all’interno della sezione “PSV Price </a:t>
                      </a:r>
                      <a:r>
                        <a:rPr lang="it-IT" sz="1100" dirty="0" err="1">
                          <a:effectLst/>
                          <a:ea typeface="Calibri" panose="020F0502020204030204" pitchFamily="34" charset="0"/>
                        </a:rPr>
                        <a:t>Assessment</a:t>
                      </a:r>
                      <a:r>
                        <a:rPr lang="it-IT" sz="1100" dirty="0">
                          <a:effectLst/>
                          <a:ea typeface="Calibri" panose="020F0502020204030204" pitchFamily="34" charset="0"/>
                        </a:rPr>
                        <a:t>”, nel giorno lavorativo antecedente il giorno di riferimento</a:t>
                      </a:r>
                      <a:r>
                        <a:rPr lang="it-IT" sz="1200" dirty="0">
                          <a:effectLst/>
                          <a:ea typeface="Calibri" panose="020F0502020204030204" pitchFamily="34" charset="0"/>
                        </a:rPr>
                        <a:t>.</a:t>
                      </a:r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Emissioni di CO2 compensate tramite l’acquisto di crediti di carbonio fino al 31.12.2027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Scivolo </a:t>
                      </a:r>
                      <a:r>
                        <a:rPr lang="it-IT" sz="13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it-IT" sz="1200" b="0" dirty="0" err="1">
                          <a:effectLst/>
                          <a:ea typeface="Calibri" panose="020F0502020204030204" pitchFamily="34" charset="0"/>
                        </a:rPr>
                        <a:t>PSV_DA</a:t>
                      </a:r>
                      <a:r>
                        <a:rPr lang="it-IT" sz="1200" b="0" baseline="-25000" dirty="0" err="1">
                          <a:effectLst/>
                          <a:ea typeface="Calibri" panose="020F0502020204030204" pitchFamily="34" charset="0"/>
                        </a:rPr>
                        <a:t>m</a:t>
                      </a:r>
                      <a:r>
                        <a:rPr lang="it-IT" sz="1200" b="0" dirty="0">
                          <a:effectLst/>
                          <a:ea typeface="Calibri" panose="020F0502020204030204" pitchFamily="34" charset="0"/>
                        </a:rPr>
                        <a:t> </a:t>
                      </a:r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dopo 30 mesi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911813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5AB5CF-E362-7401-A636-3C1665F5B12F}"/>
              </a:ext>
            </a:extLst>
          </p:cNvPr>
          <p:cNvSpPr txBox="1"/>
          <p:nvPr/>
        </p:nvSpPr>
        <p:spPr>
          <a:xfrm>
            <a:off x="5829921" y="900834"/>
            <a:ext cx="4548244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 b="0" i="0" u="none" strike="noStrike" baseline="0">
                <a:solidFill>
                  <a:schemeClr val="tx2"/>
                </a:solidFill>
                <a:latin typeface="Arial" panose="020B0604020202020204" pitchFamily="34" charset="0"/>
              </a:rPr>
              <a:t>Clienti domestici </a:t>
            </a:r>
            <a:r>
              <a:rPr lang="it-IT" sz="1050" b="1" i="0" u="none" strike="noStrike" baseline="0">
                <a:solidFill>
                  <a:srgbClr val="C00000"/>
                </a:solidFill>
                <a:latin typeface="Arial" panose="020B0604020202020204" pitchFamily="34" charset="0"/>
              </a:rPr>
              <a:t>con fornitura ad uso riscaldamento o uso promiscuo </a:t>
            </a:r>
            <a:r>
              <a:rPr lang="it-IT" sz="1050" b="1" i="0" u="sng" strike="noStrike" baseline="0">
                <a:solidFill>
                  <a:srgbClr val="C00000"/>
                </a:solidFill>
                <a:latin typeface="Arial" panose="020B0604020202020204" pitchFamily="34" charset="0"/>
              </a:rPr>
              <a:t>(no uso cottura)</a:t>
            </a:r>
            <a:endParaRPr lang="it-IT" sz="1050" b="1" u="sng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670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25" y="-8804"/>
            <a:ext cx="9789583" cy="9096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Special WEB M </a:t>
            </a:r>
            <a:r>
              <a:rPr lang="it-IT" sz="20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V34</a:t>
            </a:r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Casa Gas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F258D7-0ED2-3614-2E4A-DB9BED59A069}"/>
              </a:ext>
            </a:extLst>
          </p:cNvPr>
          <p:cNvSpPr txBox="1"/>
          <p:nvPr/>
        </p:nvSpPr>
        <p:spPr>
          <a:xfrm>
            <a:off x="5829921" y="584295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 dirty="0">
                <a:solidFill>
                  <a:schemeClr val="tx2"/>
                </a:solidFill>
              </a:rPr>
              <a:t>Validità condizioni economiche: </a:t>
            </a:r>
            <a:r>
              <a:rPr lang="it-IT" sz="1050" dirty="0"/>
              <a:t>30 mesi</a:t>
            </a:r>
            <a:endParaRPr lang="it-IT" sz="1050" dirty="0">
              <a:solidFill>
                <a:schemeClr val="tx2"/>
              </a:solidFill>
            </a:endParaRP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993E10F6-7992-6DB7-F108-12F2165E0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549930"/>
              </p:ext>
            </p:extLst>
          </p:nvPr>
        </p:nvGraphicFramePr>
        <p:xfrm>
          <a:off x="302124" y="1776313"/>
          <a:ext cx="9244211" cy="3980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942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  <a:gridCol w="924275">
                  <a:extLst>
                    <a:ext uri="{9D8B030D-6E8A-4147-A177-3AD203B41FA5}">
                      <a16:colId xmlns:a16="http://schemas.microsoft.com/office/drawing/2014/main" val="1741336047"/>
                    </a:ext>
                  </a:extLst>
                </a:gridCol>
                <a:gridCol w="1591998">
                  <a:extLst>
                    <a:ext uri="{9D8B030D-6E8A-4147-A177-3AD203B41FA5}">
                      <a16:colId xmlns:a16="http://schemas.microsoft.com/office/drawing/2014/main" val="2688085546"/>
                    </a:ext>
                  </a:extLst>
                </a:gridCol>
                <a:gridCol w="760837">
                  <a:extLst>
                    <a:ext uri="{9D8B030D-6E8A-4147-A177-3AD203B41FA5}">
                      <a16:colId xmlns:a16="http://schemas.microsoft.com/office/drawing/2014/main" val="2981786683"/>
                    </a:ext>
                  </a:extLst>
                </a:gridCol>
                <a:gridCol w="2423159">
                  <a:extLst>
                    <a:ext uri="{9D8B030D-6E8A-4147-A177-3AD203B41FA5}">
                      <a16:colId xmlns:a16="http://schemas.microsoft.com/office/drawing/2014/main" val="16914372"/>
                    </a:ext>
                  </a:extLst>
                </a:gridCol>
              </a:tblGrid>
              <a:tr h="407466">
                <a:tc gridSpan="3"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economiche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precedente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Fisso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i consumi sotto la soglia</a:t>
                      </a:r>
                      <a:endParaRPr lang="it-IT" sz="13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</a:t>
                      </a:r>
                      <a:r>
                        <a:rPr lang="it-IT" sz="8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0,539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0,529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66096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Netto Variabile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gli eventuali consumi sopra la soglia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</a:t>
                      </a:r>
                      <a:r>
                        <a:rPr lang="it-IT" sz="80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PSV_DA</a:t>
                      </a:r>
                      <a:r>
                        <a:rPr lang="it-IT" sz="14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it-IT" sz="1400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t-IT" sz="14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+ 0,249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199568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Commercializzazione al dettaglio (fissa)</a:t>
                      </a:r>
                      <a:endParaRPr lang="it-IT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156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144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477718">
                <a:tc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Spese per il trasporto e la gestione del contatore + oneri di sistema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fissate dall’Autorità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70253">
                <a:tc>
                  <a:txBody>
                    <a:bodyPr/>
                    <a:lstStyle/>
                    <a:p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50320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400" b="1">
                          <a:effectLst/>
                          <a:ea typeface="Calibri" panose="020F0502020204030204" pitchFamily="34" charset="0"/>
                        </a:rPr>
                        <a:t>Indice scivolo: </a:t>
                      </a:r>
                      <a:r>
                        <a:rPr lang="it-IT" sz="1400" b="1" err="1">
                          <a:effectLst/>
                          <a:ea typeface="Calibri" panose="020F0502020204030204" pitchFamily="34" charset="0"/>
                        </a:rPr>
                        <a:t>PSV_DA</a:t>
                      </a:r>
                      <a:r>
                        <a:rPr lang="it-IT" sz="1400" b="1" baseline="-25000" err="1">
                          <a:effectLst/>
                          <a:ea typeface="Calibri" panose="020F0502020204030204" pitchFamily="34" charset="0"/>
                        </a:rPr>
                        <a:t>m</a:t>
                      </a:r>
                      <a:r>
                        <a:rPr lang="it-IT" sz="1400" b="1">
                          <a:effectLst/>
                          <a:ea typeface="Calibri" panose="020F0502020204030204" pitchFamily="34" charset="0"/>
                        </a:rPr>
                        <a:t> 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è calcolato per ogni mese, come media aritmetica dei prezzi </a:t>
                      </a:r>
                      <a:r>
                        <a:rPr lang="it-IT" sz="1100" err="1">
                          <a:effectLst/>
                          <a:ea typeface="Calibri" panose="020F0502020204030204" pitchFamily="34" charset="0"/>
                        </a:rPr>
                        <a:t>offer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 “Day-</a:t>
                      </a:r>
                      <a:r>
                        <a:rPr lang="it-IT" sz="1100" err="1">
                          <a:effectLst/>
                          <a:ea typeface="Calibri" panose="020F0502020204030204" pitchFamily="34" charset="0"/>
                        </a:rPr>
                        <a:t>Ahead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”, espressi in €/MWh,  pubblicati da ICIS </a:t>
                      </a:r>
                      <a:r>
                        <a:rPr lang="it-IT" sz="1100" err="1">
                          <a:effectLst/>
                          <a:ea typeface="Calibri" panose="020F0502020204030204" pitchFamily="34" charset="0"/>
                        </a:rPr>
                        <a:t>Heren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 nel report ESGM (</a:t>
                      </a:r>
                      <a:r>
                        <a:rPr lang="it-IT" sz="1100" err="1">
                          <a:effectLst/>
                          <a:ea typeface="Calibri" panose="020F0502020204030204" pitchFamily="34" charset="0"/>
                        </a:rPr>
                        <a:t>European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 Spot Gas Markets) all’interno della sezione “PSV Price </a:t>
                      </a:r>
                      <a:r>
                        <a:rPr lang="it-IT" sz="1100" err="1">
                          <a:effectLst/>
                          <a:ea typeface="Calibri" panose="020F0502020204030204" pitchFamily="34" charset="0"/>
                        </a:rPr>
                        <a:t>Assessment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”, nel giorno lavorativo antecedente il giorno di riferimento</a:t>
                      </a:r>
                      <a:r>
                        <a:rPr lang="it-IT" sz="1200">
                          <a:effectLst/>
                          <a:ea typeface="Calibri" panose="020F0502020204030204" pitchFamily="34" charset="0"/>
                        </a:rPr>
                        <a:t>.</a:t>
                      </a:r>
                      <a:endParaRPr lang="it-IT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Emissioni di CO2 compensate tramite l’acquisto di crediti di carbonio fino al 31.12.2027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Scivolo </a:t>
                      </a:r>
                      <a:r>
                        <a:rPr lang="it-IT" sz="13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it-IT" sz="1200" b="0" dirty="0" err="1">
                          <a:effectLst/>
                          <a:ea typeface="Calibri" panose="020F0502020204030204" pitchFamily="34" charset="0"/>
                        </a:rPr>
                        <a:t>PSV_DA</a:t>
                      </a:r>
                      <a:r>
                        <a:rPr lang="it-IT" sz="1200" b="0" baseline="-25000" dirty="0" err="1">
                          <a:effectLst/>
                          <a:ea typeface="Calibri" panose="020F0502020204030204" pitchFamily="34" charset="0"/>
                        </a:rPr>
                        <a:t>m</a:t>
                      </a:r>
                      <a:r>
                        <a:rPr lang="it-IT" sz="1200" b="0" dirty="0">
                          <a:effectLst/>
                          <a:ea typeface="Calibri" panose="020F0502020204030204" pitchFamily="34" charset="0"/>
                        </a:rPr>
                        <a:t> </a:t>
                      </a:r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dopo 30 mesi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911813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5AB5CF-E362-7401-A636-3C1665F5B12F}"/>
              </a:ext>
            </a:extLst>
          </p:cNvPr>
          <p:cNvSpPr txBox="1"/>
          <p:nvPr/>
        </p:nvSpPr>
        <p:spPr>
          <a:xfrm>
            <a:off x="5829921" y="900834"/>
            <a:ext cx="4548244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 b="0" i="0" u="none" strike="noStrike" baseline="0">
                <a:solidFill>
                  <a:schemeClr val="tx2"/>
                </a:solidFill>
                <a:latin typeface="Arial" panose="020B0604020202020204" pitchFamily="34" charset="0"/>
              </a:rPr>
              <a:t>Clienti domestici </a:t>
            </a:r>
            <a:r>
              <a:rPr lang="it-IT" sz="1050" b="1" i="0" u="none" strike="noStrike" baseline="0">
                <a:solidFill>
                  <a:srgbClr val="C00000"/>
                </a:solidFill>
                <a:latin typeface="Arial" panose="020B0604020202020204" pitchFamily="34" charset="0"/>
              </a:rPr>
              <a:t>con fornitura ad uso riscaldamento o uso promiscuo </a:t>
            </a:r>
            <a:r>
              <a:rPr lang="it-IT" sz="1050" b="1" i="0" u="sng" strike="noStrike" baseline="0">
                <a:solidFill>
                  <a:srgbClr val="C00000"/>
                </a:solidFill>
                <a:latin typeface="Arial" panose="020B0604020202020204" pitchFamily="34" charset="0"/>
              </a:rPr>
              <a:t>(no uso cottura)</a:t>
            </a:r>
            <a:endParaRPr lang="it-IT" sz="1050" b="1" u="sng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421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C629EB59-1856-7171-9DB0-2FD2ED353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911827"/>
              </p:ext>
            </p:extLst>
          </p:nvPr>
        </p:nvGraphicFramePr>
        <p:xfrm>
          <a:off x="4389689" y="1733808"/>
          <a:ext cx="4917727" cy="4039399"/>
        </p:xfrm>
        <a:graphic>
          <a:graphicData uri="http://schemas.openxmlformats.org/drawingml/2006/table">
            <a:tbl>
              <a:tblPr firstRow="1" firstCol="1" bandRow="1"/>
              <a:tblGrid>
                <a:gridCol w="2217535">
                  <a:extLst>
                    <a:ext uri="{9D8B030D-6E8A-4147-A177-3AD203B41FA5}">
                      <a16:colId xmlns:a16="http://schemas.microsoft.com/office/drawing/2014/main" val="1828818522"/>
                    </a:ext>
                  </a:extLst>
                </a:gridCol>
                <a:gridCol w="1350096">
                  <a:extLst>
                    <a:ext uri="{9D8B030D-6E8A-4147-A177-3AD203B41FA5}">
                      <a16:colId xmlns:a16="http://schemas.microsoft.com/office/drawing/2014/main" val="2467396356"/>
                    </a:ext>
                  </a:extLst>
                </a:gridCol>
                <a:gridCol w="1350096">
                  <a:extLst>
                    <a:ext uri="{9D8B030D-6E8A-4147-A177-3AD203B41FA5}">
                      <a16:colId xmlns:a16="http://schemas.microsoft.com/office/drawing/2014/main" val="2813007554"/>
                    </a:ext>
                  </a:extLst>
                </a:gridCol>
              </a:tblGrid>
              <a:tr h="771628">
                <a:tc row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Aft>
                          <a:spcPts val="1000"/>
                        </a:spcAft>
                      </a:pPr>
                      <a:r>
                        <a:rPr lang="it-IT" sz="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 </a:t>
                      </a:r>
                      <a:endParaRPr lang="it-IT" sz="11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Batang" panose="02030600000101010101" pitchFamily="18" charset="-127"/>
                          <a:cs typeface="Arial" panose="020B0604020202020204" pitchFamily="34" charset="0"/>
                        </a:rPr>
                        <a:t>CONSUMO ANNUO</a:t>
                      </a:r>
                      <a:endParaRPr lang="it-IT" sz="11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7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Batang" panose="02030600000101010101" pitchFamily="18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it-IT" sz="700" b="1" err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Batang" panose="02030600000101010101" pitchFamily="18" charset="-127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7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Batang" panose="02030600000101010101" pitchFamily="18" charset="-127"/>
                          <a:cs typeface="Arial" panose="020B0604020202020204" pitchFamily="34" charset="0"/>
                        </a:rPr>
                        <a:t>/anno)</a:t>
                      </a:r>
                      <a:endParaRPr lang="it-IT" sz="11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1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cs typeface="Arial" panose="020B0604020202020204" pitchFamily="34" charset="0"/>
                        </a:rPr>
                        <a:t>SOGLIA MENSILE A PREZZO FISSO (</a:t>
                      </a:r>
                      <a:r>
                        <a:rPr lang="it-IT" sz="1100" b="1" err="1">
                          <a:solidFill>
                            <a:srgbClr val="595959"/>
                          </a:solidFill>
                          <a:effectLst/>
                          <a:latin typeface="HelveticaNeueLT Std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11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cs typeface="Arial" panose="020B0604020202020204" pitchFamily="34" charset="0"/>
                        </a:rPr>
                        <a:t>/mese)</a:t>
                      </a:r>
                      <a:endParaRPr lang="it-IT" sz="1800">
                        <a:effectLst/>
                        <a:highlight>
                          <a:srgbClr val="FFFF00"/>
                        </a:highlight>
                        <a:latin typeface="HelveticaNeueLT Std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it-IT" sz="2800">
                        <a:effectLst/>
                        <a:latin typeface="HelveticaNeueLT Std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875015"/>
                  </a:ext>
                </a:extLst>
              </a:tr>
              <a:tr h="363795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8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8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105377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800" b="1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A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(0 - 500)</a:t>
                      </a:r>
                      <a:endParaRPr lang="it-IT" sz="3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30</a:t>
                      </a:r>
                      <a:endParaRPr lang="it-IT" sz="20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5</a:t>
                      </a:r>
                      <a:endParaRPr lang="it-IT" sz="20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6724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70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HHY_EC_M_A</a:t>
                      </a:r>
                      <a:endParaRPr lang="it-IT" sz="16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15717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800" b="1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B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(501 - 1.000)</a:t>
                      </a:r>
                      <a:r>
                        <a:rPr lang="it-IT" sz="14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</a:t>
                      </a:r>
                      <a:endParaRPr lang="it-IT" sz="3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60</a:t>
                      </a:r>
                      <a:endParaRPr lang="it-IT" sz="1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10</a:t>
                      </a:r>
                      <a:endParaRPr lang="it-IT" sz="1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436208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70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HHY_EC_M_B</a:t>
                      </a:r>
                      <a:endParaRPr lang="it-IT" sz="7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922293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800" b="1" kern="1200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(1.001 - 1.400)</a:t>
                      </a:r>
                      <a:r>
                        <a:rPr lang="it-IT" sz="14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</a:t>
                      </a:r>
                      <a:endParaRPr lang="it-IT" sz="3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95</a:t>
                      </a:r>
                      <a:endParaRPr lang="it-IT" sz="1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20</a:t>
                      </a:r>
                      <a:endParaRPr lang="it-IT" sz="1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406695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70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HHY_EC_M_C</a:t>
                      </a:r>
                      <a:endParaRPr lang="it-IT" sz="7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66553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800" b="1" kern="1200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D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(1.401 - 2.000)</a:t>
                      </a:r>
                      <a:r>
                        <a:rPr lang="it-IT" sz="14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</a:t>
                      </a:r>
                      <a:endParaRPr lang="it-IT" sz="3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130</a:t>
                      </a:r>
                      <a:endParaRPr lang="it-IT" sz="1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25</a:t>
                      </a:r>
                      <a:endParaRPr lang="it-IT" sz="1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263287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70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HHY_EC_M_D</a:t>
                      </a:r>
                      <a:endParaRPr lang="it-IT" sz="7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32751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800" b="1" kern="1200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E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(2.001 - 3.000)</a:t>
                      </a:r>
                      <a:r>
                        <a:rPr lang="it-IT" sz="14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</a:t>
                      </a:r>
                      <a:endParaRPr lang="it-IT" sz="3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180</a:t>
                      </a:r>
                      <a:endParaRPr lang="it-IT" sz="1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35</a:t>
                      </a:r>
                      <a:endParaRPr lang="it-IT" sz="1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762458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70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HHY_EC_M_E</a:t>
                      </a:r>
                      <a:endParaRPr lang="it-IT" sz="7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939647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kern="1200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F</a:t>
                      </a:r>
                      <a:r>
                        <a:rPr lang="en-US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(&gt; 3.000)</a:t>
                      </a:r>
                      <a:r>
                        <a:rPr lang="en-US" sz="14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</a:t>
                      </a:r>
                      <a:endParaRPr lang="it-IT" sz="3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285</a:t>
                      </a:r>
                      <a:endParaRPr lang="it-IT" sz="1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50</a:t>
                      </a:r>
                      <a:endParaRPr lang="it-IT" sz="1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687803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700" dirty="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HHY_EC_M_F</a:t>
                      </a:r>
                      <a:endParaRPr lang="it-IT" sz="700" dirty="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200584"/>
                  </a:ext>
                </a:extLst>
              </a:tr>
            </a:tbl>
          </a:graphicData>
        </a:graphic>
      </p:graphicFrame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03" y="-27709"/>
            <a:ext cx="9789583" cy="9096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sz="20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GAS CASA</a:t>
            </a:r>
          </a:p>
        </p:txBody>
      </p:sp>
      <p:graphicFrame>
        <p:nvGraphicFramePr>
          <p:cNvPr id="9" name="Tabella 4">
            <a:extLst>
              <a:ext uri="{FF2B5EF4-FFF2-40B4-BE49-F238E27FC236}">
                <a16:creationId xmlns:a16="http://schemas.microsoft.com/office/drawing/2014/main" id="{FAA624DC-3724-2852-96C5-F7C5E0553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765655"/>
              </p:ext>
            </p:extLst>
          </p:nvPr>
        </p:nvGraphicFramePr>
        <p:xfrm>
          <a:off x="312987" y="978408"/>
          <a:ext cx="3792669" cy="4984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2669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</a:tblGrid>
              <a:tr h="877192">
                <a:tc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contrattuali/ servizi aggiuntivi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Diario dei Consumi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41028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Hera Fast Check Up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057127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 Prodotti e Servizi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 </a:t>
                      </a:r>
                      <a:r>
                        <a:rPr lang="it-IT" sz="11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</a:t>
                      </a:r>
                      <a:r>
                        <a:rPr lang="it-IT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Back da 50€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90848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 Dipendenti: </a:t>
                      </a:r>
                      <a:r>
                        <a:rPr lang="it-IT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tbd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Imola:</a:t>
                      </a:r>
                      <a:r>
                        <a:rPr lang="it-IT" sz="1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Società coinvolte: HeraComm e </a:t>
                      </a:r>
                      <a:r>
                        <a:rPr lang="it-IT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Estenergy</a:t>
                      </a:r>
                      <a:endParaRPr lang="it-IT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  <a:tr h="52631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Canali di vendita: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Tutti </a:t>
                      </a:r>
                      <a:r>
                        <a:rPr lang="it-IT" sz="11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(per la Special WEB: WEB e </a:t>
                      </a:r>
                      <a:r>
                        <a:rPr lang="it-IT" sz="110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Teleselling</a:t>
                      </a:r>
                      <a:r>
                        <a:rPr lang="it-IT" sz="11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76863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Bolletta cartacea, possibile richiedere IEB </a:t>
                      </a:r>
                      <a:r>
                        <a:rPr lang="it-IT" sz="11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(per la Special WEB: IEB)</a:t>
                      </a:r>
                      <a:endParaRPr lang="it-IT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83532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Pagamenti secondo le modalità scelte dal cliente </a:t>
                      </a:r>
                      <a:r>
                        <a:rPr lang="it-IT" sz="11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(per la Special WEB: SDD)</a:t>
                      </a:r>
                      <a:endParaRPr lang="it-IT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348272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Fatturazione mensile-fine mese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848134"/>
                  </a:ext>
                </a:extLst>
              </a:tr>
            </a:tbl>
          </a:graphicData>
        </a:graphic>
      </p:graphicFrame>
      <p:pic>
        <p:nvPicPr>
          <p:cNvPr id="7" name="Elemento grafico 6" descr="Fiocco di neve contorno">
            <a:extLst>
              <a:ext uri="{FF2B5EF4-FFF2-40B4-BE49-F238E27FC236}">
                <a16:creationId xmlns:a16="http://schemas.microsoft.com/office/drawing/2014/main" id="{BA40847F-BA12-08D4-6477-9FC28CD7E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8543" y="2511805"/>
            <a:ext cx="334656" cy="334656"/>
          </a:xfrm>
          <a:prstGeom prst="rect">
            <a:avLst/>
          </a:prstGeom>
        </p:spPr>
      </p:pic>
      <p:pic>
        <p:nvPicPr>
          <p:cNvPr id="10" name="Elemento grafico 9" descr="Sole con riempimento a tinta unita">
            <a:extLst>
              <a:ext uri="{FF2B5EF4-FFF2-40B4-BE49-F238E27FC236}">
                <a16:creationId xmlns:a16="http://schemas.microsoft.com/office/drawing/2014/main" id="{7A27EFBF-0539-CB7B-8217-D11775D654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1461" y="2512171"/>
            <a:ext cx="334655" cy="33465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928A83-27EA-16FB-C6F3-067D50B3E48A}"/>
              </a:ext>
            </a:extLst>
          </p:cNvPr>
          <p:cNvSpPr txBox="1"/>
          <p:nvPr/>
        </p:nvSpPr>
        <p:spPr>
          <a:xfrm>
            <a:off x="7258962" y="978408"/>
            <a:ext cx="1426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TAGLIA M</a:t>
            </a:r>
          </a:p>
        </p:txBody>
      </p:sp>
    </p:spTree>
    <p:extLst>
      <p:ext uri="{BB962C8B-B14F-4D97-AF65-F5344CB8AC3E}">
        <p14:creationId xmlns:p14="http://schemas.microsoft.com/office/powerpoint/2010/main" val="3823977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F33E05A8-A8DB-067B-4206-EA570FE30C7F}"/>
              </a:ext>
            </a:extLst>
          </p:cNvPr>
          <p:cNvSpPr/>
          <p:nvPr/>
        </p:nvSpPr>
        <p:spPr>
          <a:xfrm>
            <a:off x="4923693" y="4700718"/>
            <a:ext cx="6774264" cy="1017025"/>
          </a:xfrm>
          <a:prstGeom prst="rect">
            <a:avLst/>
          </a:prstGeom>
          <a:solidFill>
            <a:srgbClr val="00B050">
              <a:alpha val="64000"/>
            </a:srgbClr>
          </a:solidFill>
          <a:ln w="9525" cap="flat" cmpd="sng" algn="ctr">
            <a:solidFill>
              <a:srgbClr val="B1B1B1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69691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89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E52F577-D989-AA14-0411-A8EFB6AFCC66}"/>
              </a:ext>
            </a:extLst>
          </p:cNvPr>
          <p:cNvSpPr txBox="1"/>
          <p:nvPr/>
        </p:nvSpPr>
        <p:spPr>
          <a:xfrm>
            <a:off x="453045" y="309222"/>
            <a:ext cx="384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Hera Ti Tutela </a:t>
            </a:r>
            <a:r>
              <a:rPr lang="it-IT" sz="2000" b="1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V40</a:t>
            </a:r>
            <a:r>
              <a:rPr lang="it-IT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Casa Gas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CFA6BEF-508E-4040-0CA1-D4EFA2C0AAA4}"/>
              </a:ext>
            </a:extLst>
          </p:cNvPr>
          <p:cNvSpPr txBox="1"/>
          <p:nvPr/>
        </p:nvSpPr>
        <p:spPr>
          <a:xfrm>
            <a:off x="4923693" y="335962"/>
            <a:ext cx="6774264" cy="2677656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Limitazione: </a:t>
            </a:r>
            <a:r>
              <a:rPr lang="it-IT" sz="1400" dirty="0"/>
              <a:t>specifiche province (vedi CTE)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Durata sconto su quota fissa di -36€/a</a:t>
            </a:r>
            <a:r>
              <a:rPr lang="it-IT" sz="1400" dirty="0"/>
              <a:t>: nei primi 6 mesi, solo il primo anno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Durata: </a:t>
            </a:r>
            <a:r>
              <a:rPr lang="it-IT" sz="1400" dirty="0"/>
              <a:t>30 mesi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Inclusa Polizza Sanitaria/Veterinaria di 12 mesi (24 se si sottoscrive l’analoga Ele) con </a:t>
            </a:r>
            <a:r>
              <a:rPr lang="it-IT" sz="1400" dirty="0" err="1">
                <a:highlight>
                  <a:srgbClr val="FFFF00"/>
                </a:highlight>
              </a:rPr>
              <a:t>Redion</a:t>
            </a:r>
            <a:r>
              <a:rPr lang="it-IT" sz="1400" dirty="0">
                <a:highlight>
                  <a:srgbClr val="FFFF00"/>
                </a:highlight>
              </a:rPr>
              <a:t> </a:t>
            </a:r>
            <a:r>
              <a:rPr lang="it-IT" sz="1400" strike="sngStrike" dirty="0" err="1">
                <a:highlight>
                  <a:srgbClr val="FFFF00"/>
                </a:highlight>
              </a:rPr>
              <a:t>Europ</a:t>
            </a:r>
            <a:r>
              <a:rPr lang="it-IT" sz="1400" strike="sngStrike" dirty="0">
                <a:highlight>
                  <a:srgbClr val="FFFF00"/>
                </a:highlight>
              </a:rPr>
              <a:t> Assistance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Inclusa polizza salva bolletta di 12 mesi (24 se si sottoscrive l’analoga </a:t>
            </a:r>
            <a:r>
              <a:rPr lang="it-IT" sz="1400" dirty="0" err="1"/>
              <a:t>Ele</a:t>
            </a:r>
            <a:r>
              <a:rPr lang="it-IT" sz="1400" dirty="0"/>
              <a:t>) con </a:t>
            </a:r>
            <a:r>
              <a:rPr lang="it-IT" sz="1400" dirty="0" err="1"/>
              <a:t>Europ</a:t>
            </a:r>
            <a:r>
              <a:rPr lang="it-IT" sz="1400" dirty="0"/>
              <a:t> Assistance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Canali di vendita: tutti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Non è associabile alle Promo in corso di validità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Promo Dipendenti: 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Emissioni di CO2 compensate tramite l’acquisto di crediti di carbonio fino al 31.12.2027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C09E749-7273-B5C2-F8ED-124A7D595439}"/>
              </a:ext>
            </a:extLst>
          </p:cNvPr>
          <p:cNvSpPr txBox="1"/>
          <p:nvPr/>
        </p:nvSpPr>
        <p:spPr>
          <a:xfrm>
            <a:off x="363215" y="2839018"/>
            <a:ext cx="3766822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200"/>
            </a:lvl1pPr>
          </a:lstStyle>
          <a:p>
            <a:r>
              <a:rPr lang="it-IT" dirty="0"/>
              <a:t>Promo Prodotti e Servizi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6771F9-C342-8E4B-E561-B9F7AD073197}"/>
              </a:ext>
            </a:extLst>
          </p:cNvPr>
          <p:cNvSpPr txBox="1"/>
          <p:nvPr/>
        </p:nvSpPr>
        <p:spPr>
          <a:xfrm>
            <a:off x="147295" y="5783732"/>
            <a:ext cx="8364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u="sng" dirty="0"/>
              <a:t>Non è obbligatoria a sistema l’attivazione contestuale della </a:t>
            </a:r>
            <a:r>
              <a:rPr lang="it-IT" sz="12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Hera Ti Tutela V40 </a:t>
            </a:r>
            <a:r>
              <a:rPr lang="it-IT" sz="1200" b="1" u="sng" dirty="0"/>
              <a:t>Casa Ele.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EC7D668-1B00-D8F1-6721-FD0D6F2DFA35}"/>
              </a:ext>
            </a:extLst>
          </p:cNvPr>
          <p:cNvSpPr txBox="1"/>
          <p:nvPr/>
        </p:nvSpPr>
        <p:spPr>
          <a:xfrm>
            <a:off x="4923693" y="3078103"/>
            <a:ext cx="6774264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Bolletta cartacea, possibile richiedere 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Pagamenti secondo le modalità scelte dal cliente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come da CGC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4C25200-D328-C0DD-D4A5-56B9A692A7E5}"/>
              </a:ext>
            </a:extLst>
          </p:cNvPr>
          <p:cNvSpPr txBox="1"/>
          <p:nvPr/>
        </p:nvSpPr>
        <p:spPr>
          <a:xfrm>
            <a:off x="6843252" y="3872841"/>
            <a:ext cx="4854705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it-IT" sz="1200"/>
              <a:t>Avrà obbligatoriamente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SDD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0B2F6E3E-45E4-A269-3E45-FE00308BF006}"/>
              </a:ext>
            </a:extLst>
          </p:cNvPr>
          <p:cNvSpPr/>
          <p:nvPr/>
        </p:nvSpPr>
        <p:spPr>
          <a:xfrm>
            <a:off x="4952589" y="4011742"/>
            <a:ext cx="1750142" cy="40843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/>
              <a:t>Solo chi sottoscrive tramite sito web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C4284F0-87D3-FDE0-CCCF-F3384183AD52}"/>
              </a:ext>
            </a:extLst>
          </p:cNvPr>
          <p:cNvSpPr txBox="1"/>
          <p:nvPr/>
        </p:nvSpPr>
        <p:spPr>
          <a:xfrm>
            <a:off x="363215" y="3204489"/>
            <a:ext cx="3766822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200"/>
            </a:lvl1pPr>
          </a:lstStyle>
          <a:p>
            <a:r>
              <a:rPr lang="it-IT"/>
              <a:t>Diario dei Consumi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ECC570D-80EA-82A2-469E-69023EB27071}"/>
              </a:ext>
            </a:extLst>
          </p:cNvPr>
          <p:cNvSpPr txBox="1"/>
          <p:nvPr/>
        </p:nvSpPr>
        <p:spPr>
          <a:xfrm>
            <a:off x="310820" y="6126719"/>
            <a:ext cx="8842058" cy="4001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000" b="1">
                <a:effectLst/>
                <a:ea typeface="Calibri" panose="020F0502020204030204" pitchFamily="34" charset="0"/>
              </a:rPr>
              <a:t>Indice per lo scivolo: </a:t>
            </a:r>
            <a:r>
              <a:rPr lang="it-IT" sz="1000" b="1" err="1">
                <a:effectLst/>
                <a:ea typeface="Calibri" panose="020F0502020204030204" pitchFamily="34" charset="0"/>
              </a:rPr>
              <a:t>PSV_DA</a:t>
            </a:r>
            <a:r>
              <a:rPr lang="it-IT" sz="1000" b="1" baseline="-25000" err="1">
                <a:effectLst/>
                <a:ea typeface="Calibri" panose="020F0502020204030204" pitchFamily="34" charset="0"/>
              </a:rPr>
              <a:t>m</a:t>
            </a:r>
            <a:r>
              <a:rPr lang="it-IT" sz="1000" b="1">
                <a:effectLst/>
                <a:ea typeface="Calibri" panose="020F0502020204030204" pitchFamily="34" charset="0"/>
              </a:rPr>
              <a:t> </a:t>
            </a:r>
            <a:r>
              <a:rPr lang="it-IT" sz="1000">
                <a:effectLst/>
                <a:ea typeface="Calibri" panose="020F0502020204030204" pitchFamily="34" charset="0"/>
              </a:rPr>
              <a:t>è calcolato per ogni mese, come media aritmetica dei prezzi </a:t>
            </a:r>
            <a:r>
              <a:rPr lang="it-IT" sz="1000" err="1">
                <a:effectLst/>
                <a:ea typeface="Calibri" panose="020F0502020204030204" pitchFamily="34" charset="0"/>
              </a:rPr>
              <a:t>offer</a:t>
            </a:r>
            <a:r>
              <a:rPr lang="it-IT" sz="1000">
                <a:effectLst/>
                <a:ea typeface="Calibri" panose="020F0502020204030204" pitchFamily="34" charset="0"/>
              </a:rPr>
              <a:t> “Day-</a:t>
            </a:r>
            <a:r>
              <a:rPr lang="it-IT" sz="1000" err="1">
                <a:effectLst/>
                <a:ea typeface="Calibri" panose="020F0502020204030204" pitchFamily="34" charset="0"/>
              </a:rPr>
              <a:t>Ahead</a:t>
            </a:r>
            <a:r>
              <a:rPr lang="it-IT" sz="1000">
                <a:effectLst/>
                <a:ea typeface="Calibri" panose="020F0502020204030204" pitchFamily="34" charset="0"/>
              </a:rPr>
              <a:t>”, espressi in €/MWh,  pubblicati da ICIS </a:t>
            </a:r>
            <a:r>
              <a:rPr lang="it-IT" sz="1000" err="1">
                <a:effectLst/>
                <a:ea typeface="Calibri" panose="020F0502020204030204" pitchFamily="34" charset="0"/>
              </a:rPr>
              <a:t>Heren</a:t>
            </a:r>
            <a:r>
              <a:rPr lang="it-IT" sz="1000">
                <a:effectLst/>
                <a:ea typeface="Calibri" panose="020F0502020204030204" pitchFamily="34" charset="0"/>
              </a:rPr>
              <a:t> nel report ESGM (</a:t>
            </a:r>
            <a:r>
              <a:rPr lang="it-IT" sz="1000" err="1">
                <a:effectLst/>
                <a:ea typeface="Calibri" panose="020F0502020204030204" pitchFamily="34" charset="0"/>
              </a:rPr>
              <a:t>European</a:t>
            </a:r>
            <a:r>
              <a:rPr lang="it-IT" sz="1000">
                <a:effectLst/>
                <a:ea typeface="Calibri" panose="020F0502020204030204" pitchFamily="34" charset="0"/>
              </a:rPr>
              <a:t> Spot Gas Markets) all’interno della sezione “PSV Price </a:t>
            </a:r>
            <a:r>
              <a:rPr lang="it-IT" sz="1000" err="1">
                <a:effectLst/>
                <a:ea typeface="Calibri" panose="020F0502020204030204" pitchFamily="34" charset="0"/>
              </a:rPr>
              <a:t>Assessment</a:t>
            </a:r>
            <a:r>
              <a:rPr lang="it-IT" sz="1000">
                <a:effectLst/>
                <a:ea typeface="Calibri" panose="020F0502020204030204" pitchFamily="34" charset="0"/>
              </a:rPr>
              <a:t>”, nel giorno lavorativo antecedente il giorno di riferimento.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E58A6E1-C17E-9D83-C95F-EF41AB8DB952}"/>
              </a:ext>
            </a:extLst>
          </p:cNvPr>
          <p:cNvSpPr/>
          <p:nvPr/>
        </p:nvSpPr>
        <p:spPr>
          <a:xfrm>
            <a:off x="3120660" y="1280425"/>
            <a:ext cx="797447" cy="1375772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72A59C7-FF5C-3105-A2E1-20E0276641E6}"/>
              </a:ext>
            </a:extLst>
          </p:cNvPr>
          <p:cNvSpPr/>
          <p:nvPr/>
        </p:nvSpPr>
        <p:spPr>
          <a:xfrm>
            <a:off x="4923693" y="4761417"/>
            <a:ext cx="6774264" cy="941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577340" algn="l"/>
              </a:tabLst>
            </a:pP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2 consulti medico generico 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(tel. o video chiamata) </a:t>
            </a:r>
          </a:p>
          <a:p>
            <a:pPr marL="742950" lvl="1" indent="-285750">
              <a:lnSpc>
                <a:spcPct val="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577340" algn="l"/>
              </a:tabLst>
            </a:pP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Accesso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 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a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 network strutture sanitarie private 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a condizioni agevolate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 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(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sconto dal 5% al 20%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577340" algn="l"/>
              </a:tabLst>
            </a:pP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2 consulti medici specialistici (tra pediatra, dermatologo, cardiologo)</a:t>
            </a:r>
          </a:p>
          <a:p>
            <a:pPr marL="742950" lvl="1" indent="-285750">
              <a:lnSpc>
                <a:spcPct val="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577340" algn="l"/>
              </a:tabLst>
            </a:pP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2 consulti veterinari</a:t>
            </a:r>
          </a:p>
          <a:p>
            <a:pPr marL="742950" lvl="1" indent="-285750">
              <a:lnSpc>
                <a:spcPct val="50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1577340" algn="l"/>
              </a:tabLst>
            </a:pP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Invio 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della 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ricetta  medica</a:t>
            </a:r>
            <a:r>
              <a:rPr lang="it-IT" sz="1100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 </a:t>
            </a:r>
            <a:r>
              <a:rPr lang="it-IT" sz="1100" b="1">
                <a:solidFill>
                  <a:srgbClr val="424242"/>
                </a:solidFill>
                <a:latin typeface="Source Sans Pro"/>
                <a:cs typeface="Arial" panose="020B0604020202020204" pitchFamily="34" charset="0"/>
              </a:rPr>
              <a:t>a casa</a:t>
            </a:r>
            <a:endParaRPr lang="it-IT" sz="110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DFB74A4-2006-9E1B-98D7-132EB9EE5F50}"/>
              </a:ext>
            </a:extLst>
          </p:cNvPr>
          <p:cNvSpPr txBox="1"/>
          <p:nvPr/>
        </p:nvSpPr>
        <p:spPr>
          <a:xfrm>
            <a:off x="3826760" y="4888591"/>
            <a:ext cx="1113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9691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cs typeface="Arial" panose="020B0604020202020204" pitchFamily="34" charset="0"/>
              </a:rPr>
              <a:t>Set «Assistenza sanitaria» </a:t>
            </a:r>
            <a:endParaRPr kumimoji="0" lang="fr-FR" sz="1200" b="0" i="0" u="none" strike="noStrike" kern="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8C0EAF20-29C2-EF5F-93C1-7FE01E749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926452"/>
              </p:ext>
            </p:extLst>
          </p:nvPr>
        </p:nvGraphicFramePr>
        <p:xfrm>
          <a:off x="368126" y="1207461"/>
          <a:ext cx="4403803" cy="1498258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184723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11434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853823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  <a:gridCol w="853823">
                  <a:extLst>
                    <a:ext uri="{9D8B030D-6E8A-4147-A177-3AD203B41FA5}">
                      <a16:colId xmlns:a16="http://schemas.microsoft.com/office/drawing/2014/main" val="3398182860"/>
                    </a:ext>
                  </a:extLst>
                </a:gridCol>
              </a:tblGrid>
              <a:tr h="38755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Nuovo (V40)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precedente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0,690</a:t>
                      </a: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«»</a:t>
                      </a: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327522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156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«»</a:t>
                      </a: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  <a:tr h="30084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BONUS HERA TI TUTELA 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- 36,00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«»</a:t>
                      </a: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358460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644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4B343EED-A18D-44DE-940D-80BCFC7C055B}"/>
              </a:ext>
            </a:extLst>
          </p:cNvPr>
          <p:cNvSpPr txBox="1">
            <a:spLocks/>
          </p:cNvSpPr>
          <p:nvPr/>
        </p:nvSpPr>
        <p:spPr>
          <a:xfrm>
            <a:off x="159318" y="64982"/>
            <a:ext cx="44038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it-IT" sz="1800" b="1" kern="1200">
                <a:solidFill>
                  <a:srgbClr val="054977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>
                <a:solidFill>
                  <a:srgbClr val="000000"/>
                </a:solidFill>
                <a:latin typeface="+mn-lt"/>
              </a:rPr>
              <a:t>Fisse CASA GAS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55473C4-3447-4542-8263-F338AA0E1BEA}"/>
              </a:ext>
            </a:extLst>
          </p:cNvPr>
          <p:cNvSpPr txBox="1"/>
          <p:nvPr/>
        </p:nvSpPr>
        <p:spPr>
          <a:xfrm>
            <a:off x="310820" y="6126719"/>
            <a:ext cx="8842058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000" b="1">
                <a:effectLst/>
                <a:ea typeface="Calibri" panose="020F0502020204030204" pitchFamily="34" charset="0"/>
              </a:rPr>
              <a:t>Indice per lo scivolo: </a:t>
            </a:r>
            <a:r>
              <a:rPr lang="it-IT" sz="1000" b="1" err="1">
                <a:effectLst/>
                <a:ea typeface="Calibri" panose="020F0502020204030204" pitchFamily="34" charset="0"/>
              </a:rPr>
              <a:t>PSV_DA</a:t>
            </a:r>
            <a:r>
              <a:rPr lang="it-IT" sz="1000" b="1" baseline="-25000" err="1">
                <a:effectLst/>
                <a:ea typeface="Calibri" panose="020F0502020204030204" pitchFamily="34" charset="0"/>
              </a:rPr>
              <a:t>m</a:t>
            </a:r>
            <a:r>
              <a:rPr lang="it-IT" sz="1000" b="1">
                <a:effectLst/>
                <a:ea typeface="Calibri" panose="020F0502020204030204" pitchFamily="34" charset="0"/>
              </a:rPr>
              <a:t> </a:t>
            </a:r>
            <a:r>
              <a:rPr lang="it-IT" sz="1000">
                <a:effectLst/>
                <a:ea typeface="Calibri" panose="020F0502020204030204" pitchFamily="34" charset="0"/>
              </a:rPr>
              <a:t>è calcolato per ogni mese, come media aritmetica dei prezzi </a:t>
            </a:r>
            <a:r>
              <a:rPr lang="it-IT" sz="1000" err="1">
                <a:effectLst/>
                <a:ea typeface="Calibri" panose="020F0502020204030204" pitchFamily="34" charset="0"/>
              </a:rPr>
              <a:t>offer</a:t>
            </a:r>
            <a:r>
              <a:rPr lang="it-IT" sz="1000">
                <a:effectLst/>
                <a:ea typeface="Calibri" panose="020F0502020204030204" pitchFamily="34" charset="0"/>
              </a:rPr>
              <a:t> “Day-</a:t>
            </a:r>
            <a:r>
              <a:rPr lang="it-IT" sz="1000" err="1">
                <a:effectLst/>
                <a:ea typeface="Calibri" panose="020F0502020204030204" pitchFamily="34" charset="0"/>
              </a:rPr>
              <a:t>Ahead</a:t>
            </a:r>
            <a:r>
              <a:rPr lang="it-IT" sz="1000">
                <a:effectLst/>
                <a:ea typeface="Calibri" panose="020F0502020204030204" pitchFamily="34" charset="0"/>
              </a:rPr>
              <a:t>”, espressi in €/MWh,  pubblicati da ICIS </a:t>
            </a:r>
            <a:r>
              <a:rPr lang="it-IT" sz="1000" err="1">
                <a:effectLst/>
                <a:ea typeface="Calibri" panose="020F0502020204030204" pitchFamily="34" charset="0"/>
              </a:rPr>
              <a:t>Heren</a:t>
            </a:r>
            <a:r>
              <a:rPr lang="it-IT" sz="1000">
                <a:effectLst/>
                <a:ea typeface="Calibri" panose="020F0502020204030204" pitchFamily="34" charset="0"/>
              </a:rPr>
              <a:t> nel report ESGM (</a:t>
            </a:r>
            <a:r>
              <a:rPr lang="it-IT" sz="1000" err="1">
                <a:effectLst/>
                <a:ea typeface="Calibri" panose="020F0502020204030204" pitchFamily="34" charset="0"/>
              </a:rPr>
              <a:t>European</a:t>
            </a:r>
            <a:r>
              <a:rPr lang="it-IT" sz="1000">
                <a:effectLst/>
                <a:ea typeface="Calibri" panose="020F0502020204030204" pitchFamily="34" charset="0"/>
              </a:rPr>
              <a:t> Spot Gas Markets) all’interno della sezione “PSV Price </a:t>
            </a:r>
            <a:r>
              <a:rPr lang="it-IT" sz="1000" err="1">
                <a:effectLst/>
                <a:ea typeface="Calibri" panose="020F0502020204030204" pitchFamily="34" charset="0"/>
              </a:rPr>
              <a:t>Assessment</a:t>
            </a:r>
            <a:r>
              <a:rPr lang="it-IT" sz="1000">
                <a:effectLst/>
                <a:ea typeface="Calibri" panose="020F0502020204030204" pitchFamily="34" charset="0"/>
              </a:rPr>
              <a:t>”, nel giorno lavorativo antecedente il giorno di riferimento.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6DA9924-C533-4474-B1CD-3BD42F5FEE6C}"/>
              </a:ext>
            </a:extLst>
          </p:cNvPr>
          <p:cNvSpPr/>
          <p:nvPr/>
        </p:nvSpPr>
        <p:spPr>
          <a:xfrm>
            <a:off x="4641300" y="1513032"/>
            <a:ext cx="797447" cy="1078722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61DA27AF-512B-41EE-8F3D-8757B8429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50597"/>
              </p:ext>
            </p:extLst>
          </p:nvPr>
        </p:nvGraphicFramePr>
        <p:xfrm>
          <a:off x="1921119" y="1421017"/>
          <a:ext cx="4401023" cy="1170736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183345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11110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853284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  <a:gridCol w="853284">
                  <a:extLst>
                    <a:ext uri="{9D8B030D-6E8A-4147-A177-3AD203B41FA5}">
                      <a16:colId xmlns:a16="http://schemas.microsoft.com/office/drawing/2014/main" val="3834826755"/>
                    </a:ext>
                  </a:extLst>
                </a:gridCol>
              </a:tblGrid>
              <a:tr h="38755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attuale (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V54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Precedente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0,832</a:t>
                      </a: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0,777</a:t>
                      </a: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30084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144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«»</a:t>
                      </a: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22A9D7E-90B8-404D-897F-FA71A9C02BCC}"/>
              </a:ext>
            </a:extLst>
          </p:cNvPr>
          <p:cNvSpPr txBox="1"/>
          <p:nvPr/>
        </p:nvSpPr>
        <p:spPr>
          <a:xfrm>
            <a:off x="525354" y="1087420"/>
            <a:ext cx="5162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PiùControllo Special FLAT CASA GAS </a:t>
            </a:r>
            <a:r>
              <a:rPr lang="it-IT" sz="1400" b="1" dirty="0">
                <a:highlight>
                  <a:srgbClr val="FFFF00"/>
                </a:highlight>
              </a:rPr>
              <a:t>V54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05DF08B-3994-4AE5-8BA6-D142887BDDD9}"/>
              </a:ext>
            </a:extLst>
          </p:cNvPr>
          <p:cNvSpPr txBox="1"/>
          <p:nvPr/>
        </p:nvSpPr>
        <p:spPr>
          <a:xfrm>
            <a:off x="6484983" y="1390541"/>
            <a:ext cx="4893369" cy="181588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Offerta dedicata al canale WEB (gas)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30 mesi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Sconto nuovi clienti del 10% sul prezzo fisso per 30 mesi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Canali di attivazione: WEB e WEB CALL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Applicabile lo Sconto Dipendenti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Non è associabile alle Promo in corso di validità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B15EBB1-242A-44E0-9AE7-E7D93C1C3FAE}"/>
              </a:ext>
            </a:extLst>
          </p:cNvPr>
          <p:cNvSpPr txBox="1"/>
          <p:nvPr/>
        </p:nvSpPr>
        <p:spPr>
          <a:xfrm>
            <a:off x="6484983" y="4411189"/>
            <a:ext cx="2952293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/>
              <a:t>Avrà obbligatoriamente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SDD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mensile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159448B-4094-4614-B86E-6C03B8C2E1E9}"/>
              </a:ext>
            </a:extLst>
          </p:cNvPr>
          <p:cNvSpPr txBox="1"/>
          <p:nvPr/>
        </p:nvSpPr>
        <p:spPr>
          <a:xfrm>
            <a:off x="1921119" y="3112741"/>
            <a:ext cx="3766822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200"/>
            </a:lvl1pPr>
          </a:lstStyle>
          <a:p>
            <a:r>
              <a:rPr lang="it-IT" dirty="0"/>
              <a:t>Promo Prodotti e Servizi</a:t>
            </a:r>
          </a:p>
        </p:txBody>
      </p:sp>
    </p:spTree>
    <p:extLst>
      <p:ext uri="{BB962C8B-B14F-4D97-AF65-F5344CB8AC3E}">
        <p14:creationId xmlns:p14="http://schemas.microsoft.com/office/powerpoint/2010/main" val="1260034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4B343EED-A18D-44DE-940D-80BCFC7C055B}"/>
              </a:ext>
            </a:extLst>
          </p:cNvPr>
          <p:cNvSpPr txBox="1">
            <a:spLocks/>
          </p:cNvSpPr>
          <p:nvPr/>
        </p:nvSpPr>
        <p:spPr>
          <a:xfrm>
            <a:off x="159318" y="64982"/>
            <a:ext cx="44038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it-IT" sz="1800" b="1" kern="1200">
                <a:solidFill>
                  <a:srgbClr val="054977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>
                <a:solidFill>
                  <a:srgbClr val="000000"/>
                </a:solidFill>
                <a:latin typeface="+mn-lt"/>
              </a:rPr>
              <a:t>Fisse CASA GAS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55473C4-3447-4542-8263-F338AA0E1BEA}"/>
              </a:ext>
            </a:extLst>
          </p:cNvPr>
          <p:cNvSpPr txBox="1"/>
          <p:nvPr/>
        </p:nvSpPr>
        <p:spPr>
          <a:xfrm>
            <a:off x="310820" y="6126719"/>
            <a:ext cx="8842058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000" b="1">
                <a:effectLst/>
                <a:ea typeface="Calibri" panose="020F0502020204030204" pitchFamily="34" charset="0"/>
              </a:rPr>
              <a:t>Indice per lo scivolo: </a:t>
            </a:r>
            <a:r>
              <a:rPr lang="it-IT" sz="1000" b="1" err="1">
                <a:effectLst/>
                <a:ea typeface="Calibri" panose="020F0502020204030204" pitchFamily="34" charset="0"/>
              </a:rPr>
              <a:t>PSV_DA</a:t>
            </a:r>
            <a:r>
              <a:rPr lang="it-IT" sz="1000" b="1" baseline="-25000" err="1">
                <a:effectLst/>
                <a:ea typeface="Calibri" panose="020F0502020204030204" pitchFamily="34" charset="0"/>
              </a:rPr>
              <a:t>m</a:t>
            </a:r>
            <a:r>
              <a:rPr lang="it-IT" sz="1000" b="1">
                <a:effectLst/>
                <a:ea typeface="Calibri" panose="020F0502020204030204" pitchFamily="34" charset="0"/>
              </a:rPr>
              <a:t> </a:t>
            </a:r>
            <a:r>
              <a:rPr lang="it-IT" sz="1000">
                <a:effectLst/>
                <a:ea typeface="Calibri" panose="020F0502020204030204" pitchFamily="34" charset="0"/>
              </a:rPr>
              <a:t>è calcolato per ogni mese, come media aritmetica dei prezzi </a:t>
            </a:r>
            <a:r>
              <a:rPr lang="it-IT" sz="1000" err="1">
                <a:effectLst/>
                <a:ea typeface="Calibri" panose="020F0502020204030204" pitchFamily="34" charset="0"/>
              </a:rPr>
              <a:t>offer</a:t>
            </a:r>
            <a:r>
              <a:rPr lang="it-IT" sz="1000">
                <a:effectLst/>
                <a:ea typeface="Calibri" panose="020F0502020204030204" pitchFamily="34" charset="0"/>
              </a:rPr>
              <a:t> “Day-</a:t>
            </a:r>
            <a:r>
              <a:rPr lang="it-IT" sz="1000" err="1">
                <a:effectLst/>
                <a:ea typeface="Calibri" panose="020F0502020204030204" pitchFamily="34" charset="0"/>
              </a:rPr>
              <a:t>Ahead</a:t>
            </a:r>
            <a:r>
              <a:rPr lang="it-IT" sz="1000">
                <a:effectLst/>
                <a:ea typeface="Calibri" panose="020F0502020204030204" pitchFamily="34" charset="0"/>
              </a:rPr>
              <a:t>”, espressi in €/MWh,  pubblicati da ICIS </a:t>
            </a:r>
            <a:r>
              <a:rPr lang="it-IT" sz="1000" err="1">
                <a:effectLst/>
                <a:ea typeface="Calibri" panose="020F0502020204030204" pitchFamily="34" charset="0"/>
              </a:rPr>
              <a:t>Heren</a:t>
            </a:r>
            <a:r>
              <a:rPr lang="it-IT" sz="1000">
                <a:effectLst/>
                <a:ea typeface="Calibri" panose="020F0502020204030204" pitchFamily="34" charset="0"/>
              </a:rPr>
              <a:t> nel report ESGM (</a:t>
            </a:r>
            <a:r>
              <a:rPr lang="it-IT" sz="1000" err="1">
                <a:effectLst/>
                <a:ea typeface="Calibri" panose="020F0502020204030204" pitchFamily="34" charset="0"/>
              </a:rPr>
              <a:t>European</a:t>
            </a:r>
            <a:r>
              <a:rPr lang="it-IT" sz="1000">
                <a:effectLst/>
                <a:ea typeface="Calibri" panose="020F0502020204030204" pitchFamily="34" charset="0"/>
              </a:rPr>
              <a:t> Spot Gas Markets) all’interno della sezione “PSV Price </a:t>
            </a:r>
            <a:r>
              <a:rPr lang="it-IT" sz="1000" err="1">
                <a:effectLst/>
                <a:ea typeface="Calibri" panose="020F0502020204030204" pitchFamily="34" charset="0"/>
              </a:rPr>
              <a:t>Assessment</a:t>
            </a:r>
            <a:r>
              <a:rPr lang="it-IT" sz="1000">
                <a:effectLst/>
                <a:ea typeface="Calibri" panose="020F0502020204030204" pitchFamily="34" charset="0"/>
              </a:rPr>
              <a:t>”, nel giorno lavorativo antecedente il giorno di riferimento.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1F15A88-9486-4633-B522-F38BAFE3DDC6}"/>
              </a:ext>
            </a:extLst>
          </p:cNvPr>
          <p:cNvSpPr txBox="1"/>
          <p:nvPr/>
        </p:nvSpPr>
        <p:spPr>
          <a:xfrm>
            <a:off x="6480795" y="2348348"/>
            <a:ext cx="4893369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it-IT" b="1" dirty="0"/>
              <a:t>Durata: </a:t>
            </a:r>
            <a:r>
              <a:rPr lang="it-IT" dirty="0"/>
              <a:t>30 mesi</a:t>
            </a:r>
          </a:p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Promo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back da 50€</a:t>
            </a:r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0756AB6-72AB-42F4-90B3-53C6DE2A0E8E}"/>
              </a:ext>
            </a:extLst>
          </p:cNvPr>
          <p:cNvSpPr txBox="1"/>
          <p:nvPr/>
        </p:nvSpPr>
        <p:spPr>
          <a:xfrm>
            <a:off x="1921119" y="1570162"/>
            <a:ext cx="5405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PiùControllo FLAT CASA GAS V50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D0CBC8A6-250A-4763-AA06-24630C0492FE}"/>
              </a:ext>
            </a:extLst>
          </p:cNvPr>
          <p:cNvSpPr/>
          <p:nvPr/>
        </p:nvSpPr>
        <p:spPr>
          <a:xfrm>
            <a:off x="4615668" y="2049933"/>
            <a:ext cx="797447" cy="1056188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FF4A18A9-92F8-4499-BD58-43AAAEE36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063977"/>
              </p:ext>
            </p:extLst>
          </p:nvPr>
        </p:nvGraphicFramePr>
        <p:xfrm>
          <a:off x="2052803" y="1957918"/>
          <a:ext cx="4171015" cy="1170736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069239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484398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808689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  <a:gridCol w="808689">
                  <a:extLst>
                    <a:ext uri="{9D8B030D-6E8A-4147-A177-3AD203B41FA5}">
                      <a16:colId xmlns:a16="http://schemas.microsoft.com/office/drawing/2014/main" val="2034277192"/>
                    </a:ext>
                  </a:extLst>
                </a:gridCol>
              </a:tblGrid>
              <a:tr h="38755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Nuovo (V50)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precedente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0,699</a:t>
                      </a: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«»</a:t>
                      </a: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30084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156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«»</a:t>
                      </a: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CDE5F0AD-E2F1-2B54-15B2-EC9E2B0D056B}"/>
              </a:ext>
            </a:extLst>
          </p:cNvPr>
          <p:cNvSpPr txBox="1"/>
          <p:nvPr/>
        </p:nvSpPr>
        <p:spPr>
          <a:xfrm>
            <a:off x="6480795" y="3847391"/>
            <a:ext cx="2952293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/>
              <a:t>Avrà obbligatoriamente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mensile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285856C-CB51-7860-E933-3F11D4D2B881}"/>
              </a:ext>
            </a:extLst>
          </p:cNvPr>
          <p:cNvSpPr txBox="1"/>
          <p:nvPr/>
        </p:nvSpPr>
        <p:spPr>
          <a:xfrm>
            <a:off x="2052803" y="3382833"/>
            <a:ext cx="3766822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200"/>
            </a:lvl1pPr>
          </a:lstStyle>
          <a:p>
            <a:r>
              <a:rPr lang="it-IT" dirty="0"/>
              <a:t>Promo Prodotti e Servizi</a:t>
            </a:r>
          </a:p>
        </p:txBody>
      </p:sp>
    </p:spTree>
    <p:extLst>
      <p:ext uri="{BB962C8B-B14F-4D97-AF65-F5344CB8AC3E}">
        <p14:creationId xmlns:p14="http://schemas.microsoft.com/office/powerpoint/2010/main" val="1579732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5FE75FC0-6324-4A64-9D18-3305A96B8222}"/>
              </a:ext>
            </a:extLst>
          </p:cNvPr>
          <p:cNvSpPr txBox="1"/>
          <p:nvPr/>
        </p:nvSpPr>
        <p:spPr>
          <a:xfrm>
            <a:off x="385098" y="210951"/>
            <a:ext cx="10898420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>
            <a:noAutofit/>
          </a:bodyPr>
          <a:lstStyle>
            <a:lvl1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rgbClr val="054977"/>
                </a:solidFill>
                <a:latin typeface="Arial" panose="020B0604020202020204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r>
              <a:rPr lang="it-IT" dirty="0"/>
              <a:t>Offerte Prezzo fisso e Hybrid  – LAVORO – validità dal 19.10 al 10.11.2026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2A447E4-F3DA-4015-A258-C5FC385C5849}"/>
              </a:ext>
            </a:extLst>
          </p:cNvPr>
          <p:cNvSpPr/>
          <p:nvPr/>
        </p:nvSpPr>
        <p:spPr>
          <a:xfrm>
            <a:off x="382505" y="621218"/>
            <a:ext cx="7826028" cy="13916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400" dirty="0">
                <a:solidFill>
                  <a:schemeClr val="tx1"/>
                </a:solidFill>
                <a:highlight>
                  <a:srgbClr val="FFFF00"/>
                </a:highlight>
              </a:rPr>
              <a:t>Non più vendibili le FLAT Lavoro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400" dirty="0">
                <a:solidFill>
                  <a:schemeClr val="tx1"/>
                </a:solidFill>
                <a:highlight>
                  <a:srgbClr val="FFFF00"/>
                </a:highlight>
              </a:rPr>
              <a:t>Non cambiano i prezzi per le </a:t>
            </a:r>
            <a:r>
              <a:rPr lang="it-IT" sz="1400" dirty="0" err="1">
                <a:solidFill>
                  <a:schemeClr val="tx1"/>
                </a:solidFill>
                <a:highlight>
                  <a:srgbClr val="FFFF00"/>
                </a:highlight>
              </a:rPr>
              <a:t>hybrid</a:t>
            </a:r>
            <a:endParaRPr lang="it-IT" sz="1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E11594E-A136-8304-B351-47AC69698194}"/>
              </a:ext>
            </a:extLst>
          </p:cNvPr>
          <p:cNvSpPr/>
          <p:nvPr/>
        </p:nvSpPr>
        <p:spPr>
          <a:xfrm>
            <a:off x="3429743" y="2714398"/>
            <a:ext cx="797447" cy="3101185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4CA3710B-4E96-61FA-1287-A1855A00A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04070"/>
              </p:ext>
            </p:extLst>
          </p:nvPr>
        </p:nvGraphicFramePr>
        <p:xfrm>
          <a:off x="385098" y="2622385"/>
          <a:ext cx="4863558" cy="2918576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412808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64826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42962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  <a:gridCol w="942962">
                  <a:extLst>
                    <a:ext uri="{9D8B030D-6E8A-4147-A177-3AD203B41FA5}">
                      <a16:colId xmlns:a16="http://schemas.microsoft.com/office/drawing/2014/main" val="3174353199"/>
                    </a:ext>
                  </a:extLst>
                </a:gridCol>
              </a:tblGrid>
              <a:tr h="38755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Nuova (V50)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Versione precedente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MONORARIO lordo perdite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MULTIORARIO lordo perdite F1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712399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MULTIORARIO lordo perdite F2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635678056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MULTIORARIO lordo perdite F3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56638818"/>
                  </a:ext>
                </a:extLst>
              </a:tr>
              <a:tr h="30084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  <a:tr h="30084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CORRISPETTIVO INTEGRAZIONE M.C.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115669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74453D5C-7DE5-E756-84FD-52DEE7D09C0D}"/>
              </a:ext>
            </a:extLst>
          </p:cNvPr>
          <p:cNvSpPr txBox="1"/>
          <p:nvPr/>
        </p:nvSpPr>
        <p:spPr>
          <a:xfrm>
            <a:off x="385098" y="2269184"/>
            <a:ext cx="3842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PiùControllo FLAT Lavoro LUCE V50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A902992-39FE-E2B6-1620-22244B0C22E6}"/>
              </a:ext>
            </a:extLst>
          </p:cNvPr>
          <p:cNvSpPr/>
          <p:nvPr/>
        </p:nvSpPr>
        <p:spPr>
          <a:xfrm>
            <a:off x="9441974" y="2608451"/>
            <a:ext cx="797447" cy="1245824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F00C28C8-A5FE-D863-47E3-BE1E79614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780349"/>
              </p:ext>
            </p:extLst>
          </p:nvPr>
        </p:nvGraphicFramePr>
        <p:xfrm>
          <a:off x="6333321" y="2489004"/>
          <a:ext cx="4950196" cy="1170736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455790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74888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59759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  <a:gridCol w="959759">
                  <a:extLst>
                    <a:ext uri="{9D8B030D-6E8A-4147-A177-3AD203B41FA5}">
                      <a16:colId xmlns:a16="http://schemas.microsoft.com/office/drawing/2014/main" val="3754843091"/>
                    </a:ext>
                  </a:extLst>
                </a:gridCol>
              </a:tblGrid>
              <a:tr h="38755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Nuova (V50)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Versione precedente</a:t>
                      </a: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48233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30084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5E445725-FB6E-F311-653B-E469A199383F}"/>
              </a:ext>
            </a:extLst>
          </p:cNvPr>
          <p:cNvSpPr txBox="1"/>
          <p:nvPr/>
        </p:nvSpPr>
        <p:spPr>
          <a:xfrm>
            <a:off x="6354036" y="2253648"/>
            <a:ext cx="3491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PiùControllo FLAT Lavoro GAS V50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0E06DAC8-0975-4600-7D83-69E1D1848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972974"/>
              </p:ext>
            </p:extLst>
          </p:nvPr>
        </p:nvGraphicFramePr>
        <p:xfrm>
          <a:off x="8985319" y="92039"/>
          <a:ext cx="3180228" cy="921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076">
                  <a:extLst>
                    <a:ext uri="{9D8B030D-6E8A-4147-A177-3AD203B41FA5}">
                      <a16:colId xmlns:a16="http://schemas.microsoft.com/office/drawing/2014/main" val="2060853540"/>
                    </a:ext>
                  </a:extLst>
                </a:gridCol>
                <a:gridCol w="1060076">
                  <a:extLst>
                    <a:ext uri="{9D8B030D-6E8A-4147-A177-3AD203B41FA5}">
                      <a16:colId xmlns:a16="http://schemas.microsoft.com/office/drawing/2014/main" val="3016405303"/>
                    </a:ext>
                  </a:extLst>
                </a:gridCol>
                <a:gridCol w="1060076">
                  <a:extLst>
                    <a:ext uri="{9D8B030D-6E8A-4147-A177-3AD203B41FA5}">
                      <a16:colId xmlns:a16="http://schemas.microsoft.com/office/drawing/2014/main" val="1379166419"/>
                    </a:ext>
                  </a:extLst>
                </a:gridCol>
              </a:tblGrid>
              <a:tr h="460544">
                <a:tc rowSpan="2">
                  <a:txBody>
                    <a:bodyPr/>
                    <a:lstStyle/>
                    <a:p>
                      <a:r>
                        <a:rPr lang="it-IT" sz="1100" dirty="0"/>
                        <a:t>Clienti SOHO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Consumi Luce (kWh/anno)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Consumi Gas (</a:t>
                      </a:r>
                      <a:r>
                        <a:rPr lang="it-IT" sz="1100" dirty="0" err="1"/>
                        <a:t>Smc</a:t>
                      </a:r>
                      <a:r>
                        <a:rPr lang="it-IT" sz="1100" dirty="0"/>
                        <a:t>/anno)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597142"/>
                  </a:ext>
                </a:extLst>
              </a:tr>
              <a:tr h="460544">
                <a:tc v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Non superiore a 50.000</a:t>
                      </a: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Non superiore a 10.000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2175197"/>
                  </a:ext>
                </a:extLst>
              </a:tr>
            </a:tbl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65C2C0F-C28A-2771-E18F-364BE28A0785}"/>
              </a:ext>
            </a:extLst>
          </p:cNvPr>
          <p:cNvSpPr txBox="1"/>
          <p:nvPr/>
        </p:nvSpPr>
        <p:spPr>
          <a:xfrm>
            <a:off x="382505" y="6367725"/>
            <a:ext cx="60944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dirty="0">
                <a:latin typeface="Arial" panose="020B0604020202020204" pitchFamily="34" charset="0"/>
                <a:cs typeface="Arial" panose="020B0604020202020204" pitchFamily="34" charset="0"/>
              </a:rPr>
              <a:t>Promo </a:t>
            </a:r>
            <a:r>
              <a:rPr lang="it-IT" sz="1100" dirty="0" err="1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r>
              <a:rPr lang="it-IT" sz="1100" dirty="0">
                <a:latin typeface="Arial" panose="020B0604020202020204" pitchFamily="34" charset="0"/>
                <a:cs typeface="Arial" panose="020B0604020202020204" pitchFamily="34" charset="0"/>
              </a:rPr>
              <a:t> back da 70€</a:t>
            </a:r>
            <a:endParaRPr lang="it-IT" sz="11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A3D584B-4292-0CE6-4B2E-E9E8D486720D}"/>
              </a:ext>
            </a:extLst>
          </p:cNvPr>
          <p:cNvSpPr txBox="1"/>
          <p:nvPr/>
        </p:nvSpPr>
        <p:spPr>
          <a:xfrm>
            <a:off x="382505" y="5965821"/>
            <a:ext cx="166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Durata: 24 mesi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97645F3-5DA8-5216-DCE5-ABE8793AD370}"/>
              </a:ext>
            </a:extLst>
          </p:cNvPr>
          <p:cNvSpPr txBox="1"/>
          <p:nvPr/>
        </p:nvSpPr>
        <p:spPr>
          <a:xfrm>
            <a:off x="382505" y="567887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Presente la penale per recesso anticipato sull’offerta Luce</a:t>
            </a:r>
            <a:endParaRPr lang="it-IT" dirty="0"/>
          </a:p>
        </p:txBody>
      </p:sp>
      <p:sp>
        <p:nvSpPr>
          <p:cNvPr id="13" name="Segno di moltiplicazione 12">
            <a:extLst>
              <a:ext uri="{FF2B5EF4-FFF2-40B4-BE49-F238E27FC236}">
                <a16:creationId xmlns:a16="http://schemas.microsoft.com/office/drawing/2014/main" id="{A22B46AA-A0EC-2455-1DA4-54B6167C5C8B}"/>
              </a:ext>
            </a:extLst>
          </p:cNvPr>
          <p:cNvSpPr/>
          <p:nvPr/>
        </p:nvSpPr>
        <p:spPr>
          <a:xfrm>
            <a:off x="382505" y="1779639"/>
            <a:ext cx="11907818" cy="5078361"/>
          </a:xfrm>
          <a:prstGeom prst="mathMultiply">
            <a:avLst>
              <a:gd name="adj1" fmla="val 3384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6762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25" y="24906"/>
            <a:ext cx="9789583" cy="909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M </a:t>
            </a:r>
            <a:r>
              <a:rPr lang="it-IT" sz="20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V34</a:t>
            </a:r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Lavoro Luce</a:t>
            </a:r>
          </a:p>
        </p:txBody>
      </p:sp>
      <p:graphicFrame>
        <p:nvGraphicFramePr>
          <p:cNvPr id="2" name="Tabella 4">
            <a:extLst>
              <a:ext uri="{FF2B5EF4-FFF2-40B4-BE49-F238E27FC236}">
                <a16:creationId xmlns:a16="http://schemas.microsoft.com/office/drawing/2014/main" id="{9B830AFF-1653-FD93-6A42-F96611263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961417"/>
              </p:ext>
            </p:extLst>
          </p:nvPr>
        </p:nvGraphicFramePr>
        <p:xfrm>
          <a:off x="302125" y="2602225"/>
          <a:ext cx="10240907" cy="3737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6044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  <a:gridCol w="1023928">
                  <a:extLst>
                    <a:ext uri="{9D8B030D-6E8A-4147-A177-3AD203B41FA5}">
                      <a16:colId xmlns:a16="http://schemas.microsoft.com/office/drawing/2014/main" val="1741336047"/>
                    </a:ext>
                  </a:extLst>
                </a:gridCol>
                <a:gridCol w="1763645">
                  <a:extLst>
                    <a:ext uri="{9D8B030D-6E8A-4147-A177-3AD203B41FA5}">
                      <a16:colId xmlns:a16="http://schemas.microsoft.com/office/drawing/2014/main" val="2688085546"/>
                    </a:ext>
                  </a:extLst>
                </a:gridCol>
                <a:gridCol w="564634">
                  <a:extLst>
                    <a:ext uri="{9D8B030D-6E8A-4147-A177-3AD203B41FA5}">
                      <a16:colId xmlns:a16="http://schemas.microsoft.com/office/drawing/2014/main" val="1676020150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877156450"/>
                    </a:ext>
                  </a:extLst>
                </a:gridCol>
              </a:tblGrid>
              <a:tr h="407466">
                <a:tc gridSpan="3"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economiche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precedente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Fisso F0 (lordo perdite)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i consumi sotto la soglia</a:t>
                      </a:r>
                      <a:endParaRPr lang="it-IT" sz="13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0,1599</a:t>
                      </a:r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66096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Netto Variabile (lordo perdite)</a:t>
                      </a:r>
                      <a:r>
                        <a:rPr lang="it-IT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t-IT" sz="9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gli eventuali consumi sopra la soglia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 PUN Medio mensile + 0,0285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63631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Corrispettivo di commercializzazione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174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Corrispettivo integrazione mercato capacità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[€/kWh]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0,003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660315"/>
                  </a:ext>
                </a:extLst>
              </a:tr>
              <a:tr h="477718">
                <a:tc>
                  <a:txBody>
                    <a:bodyPr/>
                    <a:lstStyle/>
                    <a:p>
                      <a:r>
                        <a:rPr lang="it-IT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Spese per il trasporto e la gestione del contatore + oneri di sistema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fissate dall’Autorità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9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50320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Scivolo a PUN Index GME Orario dopo 24 mesi (o PUN Index GME medio mensile monorario se il contatore non è abilitato)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Energia Certificata come da fonti rinnovabili e garantita da certificati GO dopo 24 mesi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F258D7-0ED2-3614-2E4A-DB9BED59A069}"/>
              </a:ext>
            </a:extLst>
          </p:cNvPr>
          <p:cNvSpPr txBox="1"/>
          <p:nvPr/>
        </p:nvSpPr>
        <p:spPr>
          <a:xfrm>
            <a:off x="5829921" y="1386990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Validità condizioni economiche: 24 mesi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A4952A1-634B-8C31-2C88-019041BB3899}"/>
              </a:ext>
            </a:extLst>
          </p:cNvPr>
          <p:cNvSpPr txBox="1"/>
          <p:nvPr/>
        </p:nvSpPr>
        <p:spPr>
          <a:xfrm>
            <a:off x="5829921" y="1973634"/>
            <a:ext cx="4548244" cy="253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Clienti SOHO</a:t>
            </a:r>
            <a:endParaRPr kumimoji="0" lang="it-IT" sz="105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302763-CBDA-E023-B1FF-85E74A97CCE4}"/>
              </a:ext>
            </a:extLst>
          </p:cNvPr>
          <p:cNvSpPr txBox="1"/>
          <p:nvPr/>
        </p:nvSpPr>
        <p:spPr>
          <a:xfrm>
            <a:off x="5829921" y="1680312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Offerta solo </a:t>
            </a:r>
            <a:r>
              <a:rPr kumimoji="0" lang="it-IT" sz="105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monoraria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E771D72A-BF4B-C5F8-9370-342936E942BD}"/>
              </a:ext>
            </a:extLst>
          </p:cNvPr>
          <p:cNvGraphicFramePr>
            <a:graphicFrameLocks noGrp="1"/>
          </p:cNvGraphicFramePr>
          <p:nvPr/>
        </p:nvGraphicFramePr>
        <p:xfrm>
          <a:off x="8820727" y="134615"/>
          <a:ext cx="3180228" cy="921088"/>
        </p:xfrm>
        <a:graphic>
          <a:graphicData uri="http://schemas.openxmlformats.org/drawingml/2006/table">
            <a:tbl>
              <a:tblPr firstRow="1" bandRow="1"/>
              <a:tblGrid>
                <a:gridCol w="1060076">
                  <a:extLst>
                    <a:ext uri="{9D8B030D-6E8A-4147-A177-3AD203B41FA5}">
                      <a16:colId xmlns:a16="http://schemas.microsoft.com/office/drawing/2014/main" val="2060853540"/>
                    </a:ext>
                  </a:extLst>
                </a:gridCol>
                <a:gridCol w="1060076">
                  <a:extLst>
                    <a:ext uri="{9D8B030D-6E8A-4147-A177-3AD203B41FA5}">
                      <a16:colId xmlns:a16="http://schemas.microsoft.com/office/drawing/2014/main" val="3016405303"/>
                    </a:ext>
                  </a:extLst>
                </a:gridCol>
                <a:gridCol w="1060076">
                  <a:extLst>
                    <a:ext uri="{9D8B030D-6E8A-4147-A177-3AD203B41FA5}">
                      <a16:colId xmlns:a16="http://schemas.microsoft.com/office/drawing/2014/main" val="1379166419"/>
                    </a:ext>
                  </a:extLst>
                </a:gridCol>
              </a:tblGrid>
              <a:tr h="460544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it-IT" sz="1100"/>
                        <a:t>Clienti SOHO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it-IT" sz="1100"/>
                        <a:t>Consumi Luce (kWh/anno)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it-IT" sz="1100"/>
                        <a:t>Consumi Gas (</a:t>
                      </a:r>
                      <a:r>
                        <a:rPr lang="it-IT" sz="1100" err="1"/>
                        <a:t>Smc</a:t>
                      </a:r>
                      <a:r>
                        <a:rPr lang="it-IT" sz="1100"/>
                        <a:t>/anno)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597142"/>
                  </a:ext>
                </a:extLst>
              </a:tr>
              <a:tr h="460544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it-IT" sz="1100"/>
                        <a:t>Non superiore a 50.000</a:t>
                      </a: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it-IT" sz="1100"/>
                        <a:t>Non superiore a 10.000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175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904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03" y="-27709"/>
            <a:ext cx="9789583" cy="9096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sz="20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LAVORO LUCE</a:t>
            </a:r>
          </a:p>
        </p:txBody>
      </p:sp>
      <p:graphicFrame>
        <p:nvGraphicFramePr>
          <p:cNvPr id="9" name="Tabella 4">
            <a:extLst>
              <a:ext uri="{FF2B5EF4-FFF2-40B4-BE49-F238E27FC236}">
                <a16:creationId xmlns:a16="http://schemas.microsoft.com/office/drawing/2014/main" id="{FAA624DC-3724-2852-96C5-F7C5E0553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29247"/>
              </p:ext>
            </p:extLst>
          </p:nvPr>
        </p:nvGraphicFramePr>
        <p:xfrm>
          <a:off x="258122" y="1365194"/>
          <a:ext cx="418586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861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</a:tblGrid>
              <a:tr h="407466">
                <a:tc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contrattuali/ servizi aggiuntivi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Offerta </a:t>
                      </a:r>
                      <a:r>
                        <a:rPr lang="it-IT" sz="1100" b="1">
                          <a:solidFill>
                            <a:srgbClr val="E2AC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luce</a:t>
                      </a: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Inclusa </a:t>
                      </a:r>
                      <a:r>
                        <a:rPr lang="it-IT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Hera 2G </a:t>
                      </a: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la visualizzazione dei consumi giornalieri (con dettaglio orario), settimanali, mensili (questi ultimi anche confrontabili con valore di soglia)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404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Diario dei Consumi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41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Hera Fast Check Up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05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 </a:t>
                      </a:r>
                      <a:r>
                        <a:rPr lang="it-IT" sz="11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</a:t>
                      </a:r>
                      <a:r>
                        <a:rPr lang="it-IT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Back da 70€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0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 Prodotti e Servizi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Imola:</a:t>
                      </a:r>
                      <a:r>
                        <a:rPr lang="it-IT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Società coinvolte: HeraComm e </a:t>
                      </a:r>
                      <a:r>
                        <a:rPr lang="it-IT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Estenergy</a:t>
                      </a:r>
                      <a:endParaRPr lang="it-IT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Canali di vendita: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Tutti</a:t>
                      </a:r>
                      <a:endParaRPr lang="it-IT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76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Bolletta cartacea, possibile richiedere IEB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83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Pagamenti secondo le modalità scelte dal cliente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348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Fatturazione mensile-fine mese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848134"/>
                  </a:ext>
                </a:extLst>
              </a:tr>
            </a:tbl>
          </a:graphicData>
        </a:graphic>
      </p:graphicFrame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9CECADD2-E7DB-B525-350F-E2EFC09A4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184867"/>
              </p:ext>
            </p:extLst>
          </p:nvPr>
        </p:nvGraphicFramePr>
        <p:xfrm>
          <a:off x="4652018" y="1376665"/>
          <a:ext cx="4867489" cy="5266182"/>
        </p:xfrm>
        <a:graphic>
          <a:graphicData uri="http://schemas.openxmlformats.org/drawingml/2006/table">
            <a:tbl>
              <a:tblPr firstRow="1" firstCol="1" bandRow="1"/>
              <a:tblGrid>
                <a:gridCol w="2923489">
                  <a:extLst>
                    <a:ext uri="{9D8B030D-6E8A-4147-A177-3AD203B41FA5}">
                      <a16:colId xmlns:a16="http://schemas.microsoft.com/office/drawing/2014/main" val="140051289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719491537"/>
                    </a:ext>
                  </a:extLst>
                </a:gridCol>
              </a:tblGrid>
              <a:tr h="11536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+mn-ea"/>
                          <a:cs typeface="Arial" panose="020B0604020202020204" pitchFamily="34" charset="0"/>
                        </a:rPr>
                        <a:t>CONSUMO ANNUO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+mn-ea"/>
                          <a:cs typeface="Arial" panose="020B0604020202020204" pitchFamily="34" charset="0"/>
                        </a:rPr>
                        <a:t>(kWh/anno)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cs typeface="Arial" panose="020B0604020202020204" pitchFamily="34" charset="0"/>
                        </a:rPr>
                        <a:t>SOGLIA MENSILE A PREZZO FISSO (kWh/mese)</a:t>
                      </a:r>
                      <a:endParaRPr lang="it-IT" sz="2800">
                        <a:effectLst/>
                        <a:highlight>
                          <a:srgbClr val="FFFF00"/>
                        </a:highlight>
                        <a:latin typeface="HelveticaNeueLT Std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935501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A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(&lt; 1.000)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05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codice offerta: HHY_EL_M_A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502580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B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(1.001 - 2.500)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70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05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codice offerta: HHY_EL_M_B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825839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(2.501 - 4.500)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140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05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codice offerta: HHY_EL_M_C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884606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D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(4.501 – 6.500)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230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05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codice offerta: HHY_EL_M_D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14468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E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(6.501 - 8.500)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310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05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codice offerta: HHY_EL_M_E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662076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L="0" marR="88265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F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(8.501 - 10.000)</a:t>
                      </a:r>
                      <a:endParaRPr lang="it-IT" sz="160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385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050" b="1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codice offerta: HHY_EL_M_F</a:t>
                      </a:r>
                      <a:endParaRPr lang="it-IT" sz="28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990638"/>
                  </a:ext>
                </a:extLst>
              </a:tr>
              <a:tr h="569727">
                <a:tc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kern="1200" cap="none" spc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G</a:t>
                      </a:r>
                      <a:r>
                        <a:rPr lang="it-IT" sz="16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(&gt; 10.001)</a:t>
                      </a:r>
                      <a:endParaRPr lang="it-IT" sz="1050" b="1" kern="12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600" b="1" dirty="0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500</a:t>
                      </a:r>
                      <a:endParaRPr lang="it-IT" sz="28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050" b="1" dirty="0">
                          <a:solidFill>
                            <a:srgbClr val="808080"/>
                          </a:solidFill>
                          <a:effectLst/>
                          <a:latin typeface="Aptos Display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codice offerta: HHY_EL_M_G</a:t>
                      </a:r>
                      <a:endParaRPr lang="it-IT" sz="28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D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836795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695512B7-F37B-DBD4-9948-63B12C0B2DFB}"/>
              </a:ext>
            </a:extLst>
          </p:cNvPr>
          <p:cNvSpPr txBox="1"/>
          <p:nvPr/>
        </p:nvSpPr>
        <p:spPr>
          <a:xfrm>
            <a:off x="7748018" y="903529"/>
            <a:ext cx="1426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TAGLIA M</a:t>
            </a:r>
          </a:p>
        </p:txBody>
      </p:sp>
    </p:spTree>
    <p:extLst>
      <p:ext uri="{BB962C8B-B14F-4D97-AF65-F5344CB8AC3E}">
        <p14:creationId xmlns:p14="http://schemas.microsoft.com/office/powerpoint/2010/main" val="313952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25" y="-8804"/>
            <a:ext cx="9789583" cy="9096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M </a:t>
            </a:r>
            <a:r>
              <a:rPr lang="it-IT" sz="20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V34</a:t>
            </a:r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Lavoro Gas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F258D7-0ED2-3614-2E4A-DB9BED59A069}"/>
              </a:ext>
            </a:extLst>
          </p:cNvPr>
          <p:cNvSpPr txBox="1"/>
          <p:nvPr/>
        </p:nvSpPr>
        <p:spPr>
          <a:xfrm>
            <a:off x="5829921" y="1282387"/>
            <a:ext cx="4548244" cy="253916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>
                <a:solidFill>
                  <a:schemeClr val="tx2"/>
                </a:solidFill>
              </a:rPr>
              <a:t>Validità condizioni economiche: 24 mesi</a:t>
            </a: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993E10F6-7992-6DB7-F108-12F2165E0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308711"/>
              </p:ext>
            </p:extLst>
          </p:nvPr>
        </p:nvGraphicFramePr>
        <p:xfrm>
          <a:off x="302125" y="2474405"/>
          <a:ext cx="9789583" cy="3721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020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  <a:gridCol w="978803">
                  <a:extLst>
                    <a:ext uri="{9D8B030D-6E8A-4147-A177-3AD203B41FA5}">
                      <a16:colId xmlns:a16="http://schemas.microsoft.com/office/drawing/2014/main" val="1741336047"/>
                    </a:ext>
                  </a:extLst>
                </a:gridCol>
                <a:gridCol w="1685920">
                  <a:extLst>
                    <a:ext uri="{9D8B030D-6E8A-4147-A177-3AD203B41FA5}">
                      <a16:colId xmlns:a16="http://schemas.microsoft.com/office/drawing/2014/main" val="2688085546"/>
                    </a:ext>
                  </a:extLst>
                </a:gridCol>
                <a:gridCol w="723348">
                  <a:extLst>
                    <a:ext uri="{9D8B030D-6E8A-4147-A177-3AD203B41FA5}">
                      <a16:colId xmlns:a16="http://schemas.microsoft.com/office/drawing/2014/main" val="1929142941"/>
                    </a:ext>
                  </a:extLst>
                </a:gridCol>
                <a:gridCol w="2648492">
                  <a:extLst>
                    <a:ext uri="{9D8B030D-6E8A-4147-A177-3AD203B41FA5}">
                      <a16:colId xmlns:a16="http://schemas.microsoft.com/office/drawing/2014/main" val="3463994411"/>
                    </a:ext>
                  </a:extLst>
                </a:gridCol>
              </a:tblGrid>
              <a:tr h="407466">
                <a:tc gridSpan="3">
                  <a:txBody>
                    <a:bodyPr/>
                    <a:lstStyle/>
                    <a:p>
                      <a:pPr algn="ctr"/>
                      <a:r>
                        <a:rPr lang="it-IT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economiche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54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precedente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Fisso </a:t>
                      </a:r>
                      <a:r>
                        <a:rPr lang="it-IT" sz="9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i consumi sotto la soglia</a:t>
                      </a:r>
                      <a:endParaRPr lang="it-IT" sz="1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</a:t>
                      </a:r>
                      <a:r>
                        <a:rPr lang="it-IT" sz="8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0,619</a:t>
                      </a:r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866096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r>
                        <a:rPr lang="it-IT" sz="1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Prezzo Netto Variabile </a:t>
                      </a:r>
                      <a:r>
                        <a:rPr lang="it-IT" sz="9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gli eventuali consumi sopra la soglia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</a:t>
                      </a:r>
                      <a:r>
                        <a:rPr lang="it-IT" sz="80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PSV_DA</a:t>
                      </a:r>
                      <a:r>
                        <a:rPr lang="it-IT" sz="14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it-IT" sz="1400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t-IT" sz="14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+ 0,229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199568"/>
                  </a:ext>
                </a:extLst>
              </a:tr>
              <a:tr h="323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Commercializzazione al dettaglio (fissa)</a:t>
                      </a:r>
                      <a:endParaRPr lang="it-IT" sz="14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[€/ANNO]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174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  <a:endParaRPr kumimoji="0" lang="it-I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477718">
                <a:tc>
                  <a:txBody>
                    <a:bodyPr/>
                    <a:lstStyle/>
                    <a:p>
                      <a:r>
                        <a:rPr lang="it-IT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Spese per il trasporto e la gestione del contatore + oneri di sistema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fissate dall’Autorità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«»</a:t>
                      </a:r>
                    </a:p>
                  </a:txBody>
                  <a:tcPr marL="121920" marR="121920" marT="60960" marB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936549"/>
                  </a:ext>
                </a:extLst>
              </a:tr>
              <a:tr h="70253">
                <a:tc>
                  <a:txBody>
                    <a:bodyPr/>
                    <a:lstStyle/>
                    <a:p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950320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400" b="1">
                          <a:effectLst/>
                          <a:ea typeface="Calibri" panose="020F0502020204030204" pitchFamily="34" charset="0"/>
                        </a:rPr>
                        <a:t>Indice scivolo: </a:t>
                      </a:r>
                      <a:r>
                        <a:rPr lang="it-IT" sz="1400" b="1" err="1">
                          <a:effectLst/>
                          <a:ea typeface="Calibri" panose="020F0502020204030204" pitchFamily="34" charset="0"/>
                        </a:rPr>
                        <a:t>PSV_DA</a:t>
                      </a:r>
                      <a:r>
                        <a:rPr lang="it-IT" sz="1400" b="1" baseline="-25000" err="1">
                          <a:effectLst/>
                          <a:ea typeface="Calibri" panose="020F0502020204030204" pitchFamily="34" charset="0"/>
                        </a:rPr>
                        <a:t>m</a:t>
                      </a:r>
                      <a:r>
                        <a:rPr lang="it-IT" sz="1400" b="1">
                          <a:effectLst/>
                          <a:ea typeface="Calibri" panose="020F0502020204030204" pitchFamily="34" charset="0"/>
                        </a:rPr>
                        <a:t> 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è calcolato per ogni mese, come media aritmetica dei prezzi </a:t>
                      </a:r>
                      <a:r>
                        <a:rPr lang="it-IT" sz="1100" err="1">
                          <a:effectLst/>
                          <a:ea typeface="Calibri" panose="020F0502020204030204" pitchFamily="34" charset="0"/>
                        </a:rPr>
                        <a:t>offer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 “Day-</a:t>
                      </a:r>
                      <a:r>
                        <a:rPr lang="it-IT" sz="1100" err="1">
                          <a:effectLst/>
                          <a:ea typeface="Calibri" panose="020F0502020204030204" pitchFamily="34" charset="0"/>
                        </a:rPr>
                        <a:t>Ahead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”, espressi in €/MWh,  pubblicati da ICIS </a:t>
                      </a:r>
                      <a:r>
                        <a:rPr lang="it-IT" sz="1100" err="1">
                          <a:effectLst/>
                          <a:ea typeface="Calibri" panose="020F0502020204030204" pitchFamily="34" charset="0"/>
                        </a:rPr>
                        <a:t>Heren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 nel report ESGM (</a:t>
                      </a:r>
                      <a:r>
                        <a:rPr lang="it-IT" sz="1100" err="1">
                          <a:effectLst/>
                          <a:ea typeface="Calibri" panose="020F0502020204030204" pitchFamily="34" charset="0"/>
                        </a:rPr>
                        <a:t>European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 Spot Gas Markets) all’interno della sezione “PSV Price </a:t>
                      </a:r>
                      <a:r>
                        <a:rPr lang="it-IT" sz="1100" err="1">
                          <a:effectLst/>
                          <a:ea typeface="Calibri" panose="020F0502020204030204" pitchFamily="34" charset="0"/>
                        </a:rPr>
                        <a:t>Assessment</a:t>
                      </a:r>
                      <a:r>
                        <a:rPr lang="it-IT" sz="1100">
                          <a:effectLst/>
                          <a:ea typeface="Calibri" panose="020F0502020204030204" pitchFamily="34" charset="0"/>
                        </a:rPr>
                        <a:t>”, nel giorno lavorativo antecedente il giorno di riferimento</a:t>
                      </a:r>
                      <a:r>
                        <a:rPr lang="it-IT" sz="1200">
                          <a:effectLst/>
                          <a:ea typeface="Calibri" panose="020F0502020204030204" pitchFamily="34" charset="0"/>
                        </a:rPr>
                        <a:t>.</a:t>
                      </a:r>
                      <a:endParaRPr lang="it-IT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Emissioni di CO2 compensate tramite l’acquisto di crediti di carbonio fino al 31.12.2027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tx2">
                        <a:lumMod val="60000"/>
                        <a:lumOff val="4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  <a:tr h="323291">
                <a:tc gridSpan="3">
                  <a:txBody>
                    <a:bodyPr/>
                    <a:lstStyle/>
                    <a:p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Scivolo </a:t>
                      </a:r>
                      <a:r>
                        <a:rPr lang="it-IT" sz="13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it-IT" sz="1200" b="0" dirty="0" err="1">
                          <a:effectLst/>
                          <a:ea typeface="Calibri" panose="020F0502020204030204" pitchFamily="34" charset="0"/>
                        </a:rPr>
                        <a:t>PSV_DA</a:t>
                      </a:r>
                      <a:r>
                        <a:rPr lang="it-IT" sz="1200" b="0" baseline="-25000" dirty="0" err="1">
                          <a:effectLst/>
                          <a:ea typeface="Calibri" panose="020F0502020204030204" pitchFamily="34" charset="0"/>
                        </a:rPr>
                        <a:t>m</a:t>
                      </a:r>
                      <a:r>
                        <a:rPr lang="it-IT" sz="1200" b="0" dirty="0">
                          <a:effectLst/>
                          <a:ea typeface="Calibri" panose="020F0502020204030204" pitchFamily="34" charset="0"/>
                        </a:rPr>
                        <a:t> </a:t>
                      </a:r>
                      <a:r>
                        <a:rPr lang="it-IT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dopo 24 mesi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911813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5AB5CF-E362-7401-A636-3C1665F5B12F}"/>
              </a:ext>
            </a:extLst>
          </p:cNvPr>
          <p:cNvSpPr txBox="1"/>
          <p:nvPr/>
        </p:nvSpPr>
        <p:spPr>
          <a:xfrm>
            <a:off x="5829921" y="1598926"/>
            <a:ext cx="4548244" cy="253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 sz="800">
                <a:solidFill>
                  <a:srgbClr val="0549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sz="1050" b="0" i="0" u="none" strike="noStrike" baseline="0">
                <a:solidFill>
                  <a:schemeClr val="tx2"/>
                </a:solidFill>
                <a:latin typeface="Arial" panose="020B0604020202020204" pitchFamily="34" charset="0"/>
              </a:rPr>
              <a:t>Clienti </a:t>
            </a:r>
            <a:r>
              <a:rPr lang="it-IT" sz="1050" b="0" i="0" u="none" strike="noStrike" baseline="0" err="1">
                <a:solidFill>
                  <a:schemeClr val="tx2"/>
                </a:solidFill>
                <a:latin typeface="Arial" panose="020B0604020202020204" pitchFamily="34" charset="0"/>
              </a:rPr>
              <a:t>soho</a:t>
            </a:r>
            <a:endParaRPr lang="it-IT" sz="1050" b="1" u="sng">
              <a:solidFill>
                <a:srgbClr val="C00000"/>
              </a:solidFill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B3E725F8-5213-2069-6EA9-3CBA6E9B1357}"/>
              </a:ext>
            </a:extLst>
          </p:cNvPr>
          <p:cNvGraphicFramePr>
            <a:graphicFrameLocks noGrp="1"/>
          </p:cNvGraphicFramePr>
          <p:nvPr/>
        </p:nvGraphicFramePr>
        <p:xfrm>
          <a:off x="8820727" y="134615"/>
          <a:ext cx="3180228" cy="921088"/>
        </p:xfrm>
        <a:graphic>
          <a:graphicData uri="http://schemas.openxmlformats.org/drawingml/2006/table">
            <a:tbl>
              <a:tblPr firstRow="1" bandRow="1"/>
              <a:tblGrid>
                <a:gridCol w="1060076">
                  <a:extLst>
                    <a:ext uri="{9D8B030D-6E8A-4147-A177-3AD203B41FA5}">
                      <a16:colId xmlns:a16="http://schemas.microsoft.com/office/drawing/2014/main" val="2060853540"/>
                    </a:ext>
                  </a:extLst>
                </a:gridCol>
                <a:gridCol w="1060076">
                  <a:extLst>
                    <a:ext uri="{9D8B030D-6E8A-4147-A177-3AD203B41FA5}">
                      <a16:colId xmlns:a16="http://schemas.microsoft.com/office/drawing/2014/main" val="3016405303"/>
                    </a:ext>
                  </a:extLst>
                </a:gridCol>
                <a:gridCol w="1060076">
                  <a:extLst>
                    <a:ext uri="{9D8B030D-6E8A-4147-A177-3AD203B41FA5}">
                      <a16:colId xmlns:a16="http://schemas.microsoft.com/office/drawing/2014/main" val="1379166419"/>
                    </a:ext>
                  </a:extLst>
                </a:gridCol>
              </a:tblGrid>
              <a:tr h="460544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it-IT" sz="1100"/>
                        <a:t>Clienti SOHO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it-IT" sz="1100"/>
                        <a:t>Consumi Luce (kWh/anno)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it-IT" sz="1100"/>
                        <a:t>Consumi Gas (</a:t>
                      </a:r>
                      <a:r>
                        <a:rPr lang="it-IT" sz="1100" err="1"/>
                        <a:t>Smc</a:t>
                      </a:r>
                      <a:r>
                        <a:rPr lang="it-IT" sz="1100"/>
                        <a:t>/anno)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597142"/>
                  </a:ext>
                </a:extLst>
              </a:tr>
              <a:tr h="460544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it-IT" sz="1100"/>
                        <a:t>Non superiore a 50.000</a:t>
                      </a: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it-IT" sz="1100"/>
                        <a:t>Non superiore a 10.000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175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606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C629EB59-1856-7171-9DB0-2FD2ED353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16371"/>
              </p:ext>
            </p:extLst>
          </p:nvPr>
        </p:nvGraphicFramePr>
        <p:xfrm>
          <a:off x="4276673" y="1875279"/>
          <a:ext cx="4917727" cy="4753717"/>
        </p:xfrm>
        <a:graphic>
          <a:graphicData uri="http://schemas.openxmlformats.org/drawingml/2006/table">
            <a:tbl>
              <a:tblPr firstRow="1" firstCol="1" bandRow="1"/>
              <a:tblGrid>
                <a:gridCol w="2217535">
                  <a:extLst>
                    <a:ext uri="{9D8B030D-6E8A-4147-A177-3AD203B41FA5}">
                      <a16:colId xmlns:a16="http://schemas.microsoft.com/office/drawing/2014/main" val="1828818522"/>
                    </a:ext>
                  </a:extLst>
                </a:gridCol>
                <a:gridCol w="1350096">
                  <a:extLst>
                    <a:ext uri="{9D8B030D-6E8A-4147-A177-3AD203B41FA5}">
                      <a16:colId xmlns:a16="http://schemas.microsoft.com/office/drawing/2014/main" val="2467396356"/>
                    </a:ext>
                  </a:extLst>
                </a:gridCol>
                <a:gridCol w="1350096">
                  <a:extLst>
                    <a:ext uri="{9D8B030D-6E8A-4147-A177-3AD203B41FA5}">
                      <a16:colId xmlns:a16="http://schemas.microsoft.com/office/drawing/2014/main" val="2813007554"/>
                    </a:ext>
                  </a:extLst>
                </a:gridCol>
              </a:tblGrid>
              <a:tr h="771628">
                <a:tc row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Aft>
                          <a:spcPts val="1000"/>
                        </a:spcAft>
                      </a:pPr>
                      <a:r>
                        <a:rPr lang="it-IT" sz="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 </a:t>
                      </a:r>
                      <a:endParaRPr lang="it-IT" sz="11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Batang" panose="02030600000101010101" pitchFamily="18" charset="-127"/>
                          <a:cs typeface="Arial" panose="020B0604020202020204" pitchFamily="34" charset="0"/>
                        </a:rPr>
                        <a:t>CONSUMO ANNUO</a:t>
                      </a:r>
                      <a:endParaRPr lang="it-IT" sz="11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7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Batang" panose="02030600000101010101" pitchFamily="18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it-IT" sz="700" b="1" err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Batang" panose="02030600000101010101" pitchFamily="18" charset="-127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7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Batang" panose="02030600000101010101" pitchFamily="18" charset="-127"/>
                          <a:cs typeface="Arial" panose="020B0604020202020204" pitchFamily="34" charset="0"/>
                        </a:rPr>
                        <a:t>/anno)</a:t>
                      </a:r>
                      <a:endParaRPr lang="it-IT" sz="11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1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cs typeface="Arial" panose="020B0604020202020204" pitchFamily="34" charset="0"/>
                        </a:rPr>
                        <a:t>SOGLIA MENSILE A PREZZO FISSO (</a:t>
                      </a:r>
                      <a:r>
                        <a:rPr lang="it-IT" sz="1100" b="1" err="1">
                          <a:solidFill>
                            <a:srgbClr val="595959"/>
                          </a:solidFill>
                          <a:effectLst/>
                          <a:latin typeface="HelveticaNeueLT Std"/>
                          <a:cs typeface="Arial" panose="020B0604020202020204" pitchFamily="34" charset="0"/>
                        </a:rPr>
                        <a:t>Smc</a:t>
                      </a:r>
                      <a:r>
                        <a:rPr lang="it-IT" sz="11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cs typeface="Arial" panose="020B0604020202020204" pitchFamily="34" charset="0"/>
                        </a:rPr>
                        <a:t>/mese)</a:t>
                      </a:r>
                      <a:endParaRPr lang="it-IT" sz="1800">
                        <a:effectLst/>
                        <a:highlight>
                          <a:srgbClr val="FFFF00"/>
                        </a:highlight>
                        <a:latin typeface="HelveticaNeueLT Std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it-IT" sz="2800">
                        <a:effectLst/>
                        <a:latin typeface="HelveticaNeueLT Std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875015"/>
                  </a:ext>
                </a:extLst>
              </a:tr>
              <a:tr h="363795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8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800">
                        <a:solidFill>
                          <a:srgbClr val="808080"/>
                        </a:solidFill>
                        <a:effectLst/>
                        <a:latin typeface="HelveticaNeueLT Std"/>
                        <a:ea typeface="HelveticaNeueLT Std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99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105377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800" b="1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A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(0 - 500)</a:t>
                      </a:r>
                      <a:endParaRPr lang="it-IT" sz="3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15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5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6724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9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HHY_EL_M_A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15717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800" b="1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B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(501 - 1.000)</a:t>
                      </a:r>
                      <a:r>
                        <a:rPr lang="it-IT" sz="14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</a:t>
                      </a:r>
                      <a:endParaRPr lang="it-IT" sz="3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65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5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436208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9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HHY_EL_M_B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922293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800" b="1" kern="1200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(1.001 - 1.400)</a:t>
                      </a:r>
                      <a:r>
                        <a:rPr lang="it-IT" sz="14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</a:t>
                      </a:r>
                      <a:endParaRPr lang="it-IT" sz="32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110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10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406695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9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HHY_EL_M_C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66553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800" b="1" kern="1200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D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(1.401 - 2.000) </a:t>
                      </a:r>
                      <a:endParaRPr lang="it-IT" sz="18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160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10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263287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9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HHY_EL_M_D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32751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1800" b="1" kern="1200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E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(2.001 - 3.000) </a:t>
                      </a:r>
                      <a:endParaRPr lang="it-IT" sz="18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230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15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62458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9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HHY_EL_M_E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939647"/>
                  </a:ext>
                </a:extLst>
              </a:tr>
              <a:tr h="363600">
                <a:tc rowSpan="2">
                  <a:txBody>
                    <a:bodyPr/>
                    <a:lstStyle/>
                    <a:p>
                      <a:pPr marL="0" marR="88265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kern="1200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F</a:t>
                      </a:r>
                      <a:r>
                        <a:rPr lang="it-IT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(3.001 - 5.000) </a:t>
                      </a:r>
                      <a:endParaRPr lang="it-IT" sz="18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330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15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21046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9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HHY_EL_M_F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493812"/>
                  </a:ext>
                </a:extLst>
              </a:tr>
              <a:tr h="363795">
                <a:tc rowSpan="2">
                  <a:txBody>
                    <a:bodyPr/>
                    <a:lstStyle/>
                    <a:p>
                      <a:pPr marR="88265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kern="1200" cap="none" spc="0">
                          <a:ln w="6600">
                            <a:solidFill>
                              <a:srgbClr val="DC1B8C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G</a:t>
                      </a:r>
                      <a:r>
                        <a:rPr lang="en-US" sz="1800" b="1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 (&gt; 5.000) </a:t>
                      </a:r>
                      <a:endParaRPr lang="it-IT" sz="1800">
                        <a:effectLst/>
                        <a:latin typeface="HelveticaNeueLT Std"/>
                        <a:ea typeface="HelveticaNeueLT Std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500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>
                          <a:solidFill>
                            <a:srgbClr val="595959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25</a:t>
                      </a:r>
                      <a:endParaRPr lang="it-IT" sz="2000" b="1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687803"/>
                  </a:ext>
                </a:extLst>
              </a:tr>
              <a:tr h="120201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8826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t-IT" sz="900" b="1" dirty="0">
                          <a:solidFill>
                            <a:srgbClr val="808080"/>
                          </a:solidFill>
                          <a:effectLst/>
                          <a:latin typeface="HelveticaNeueLT Std"/>
                          <a:ea typeface="HelveticaNeueLT Std"/>
                          <a:cs typeface="Arial" panose="020B0604020202020204" pitchFamily="34" charset="0"/>
                        </a:rPr>
                        <a:t>codice offerta: HHY_EL_M_G</a:t>
                      </a:r>
                      <a:endParaRPr lang="it-IT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8B7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200584"/>
                  </a:ext>
                </a:extLst>
              </a:tr>
            </a:tbl>
          </a:graphicData>
        </a:graphic>
      </p:graphicFrame>
      <p:sp>
        <p:nvSpPr>
          <p:cNvPr id="8" name="Titolo 7">
            <a:extLst>
              <a:ext uri="{FF2B5EF4-FFF2-40B4-BE49-F238E27FC236}">
                <a16:creationId xmlns:a16="http://schemas.microsoft.com/office/drawing/2014/main" id="{0A9310F3-5FB2-2599-A977-0EB1D73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03" y="-27709"/>
            <a:ext cx="9789583" cy="9096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HERA HYBRID LAVORO GAS</a:t>
            </a:r>
          </a:p>
        </p:txBody>
      </p:sp>
      <p:graphicFrame>
        <p:nvGraphicFramePr>
          <p:cNvPr id="9" name="Tabella 4">
            <a:extLst>
              <a:ext uri="{FF2B5EF4-FFF2-40B4-BE49-F238E27FC236}">
                <a16:creationId xmlns:a16="http://schemas.microsoft.com/office/drawing/2014/main" id="{FAA624DC-3724-2852-96C5-F7C5E0553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544304"/>
              </p:ext>
            </p:extLst>
          </p:nvPr>
        </p:nvGraphicFramePr>
        <p:xfrm>
          <a:off x="301216" y="1263100"/>
          <a:ext cx="3792669" cy="44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2669">
                  <a:extLst>
                    <a:ext uri="{9D8B030D-6E8A-4147-A177-3AD203B41FA5}">
                      <a16:colId xmlns:a16="http://schemas.microsoft.com/office/drawing/2014/main" val="1614277949"/>
                    </a:ext>
                  </a:extLst>
                </a:gridCol>
              </a:tblGrid>
              <a:tr h="877192">
                <a:tc>
                  <a:txBody>
                    <a:bodyPr/>
                    <a:lstStyle/>
                    <a:p>
                      <a:pPr algn="ctr"/>
                      <a:r>
                        <a:rPr lang="it-IT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Condizioni contrattuali/ servizi aggiuntivi</a:t>
                      </a:r>
                    </a:p>
                  </a:txBody>
                  <a:tcPr marL="121920" marR="121920" marT="60960" marB="60960" anchor="ctr">
                    <a:solidFill>
                      <a:srgbClr val="054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58182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Diario dei Consumi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41028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Hera Fast Check Up</a:t>
                      </a:r>
                    </a:p>
                  </a:txBody>
                  <a:tcPr marL="121920" marR="121920" marT="60960" marB="60960" anchor="ctr">
                    <a:solidFill>
                      <a:srgbClr val="507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057127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 Prodotti e Servizi</a:t>
                      </a:r>
                    </a:p>
                  </a:txBody>
                  <a:tcPr marL="121920" marR="121920" marT="60960" marB="60960" anchor="ctr">
                    <a:solidFill>
                      <a:srgbClr val="054977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21957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 </a:t>
                      </a:r>
                      <a:r>
                        <a:rPr lang="it-IT" sz="11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</a:t>
                      </a:r>
                      <a:r>
                        <a:rPr lang="it-IT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Back da 70 €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235677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Versione Imola:</a:t>
                      </a:r>
                      <a:r>
                        <a:rPr lang="it-IT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</a:t>
                      </a:r>
                    </a:p>
                  </a:txBody>
                  <a:tcPr marL="121920" marR="121920" marT="60960" marB="609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89736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Società coinvolte: HeraComm e </a:t>
                      </a:r>
                      <a:r>
                        <a:rPr lang="it-IT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Estenergy</a:t>
                      </a:r>
                      <a:endParaRPr lang="it-IT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10545"/>
                  </a:ext>
                </a:extLst>
              </a:tr>
              <a:tr h="52631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Canali di vendita: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Tutti</a:t>
                      </a:r>
                      <a:endParaRPr lang="it-IT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76863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Bolletta cartacea, possibile richiedere IEB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83532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Pagamenti secondo le modalità scelte dal cliente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348272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it-IT" sz="11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Fatturazione mensile-fine mese</a:t>
                      </a:r>
                    </a:p>
                  </a:txBody>
                  <a:tcPr marL="121920" marR="121920" marT="60960" marB="60960" anchor="ctr">
                    <a:solidFill>
                      <a:srgbClr val="EBC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848134"/>
                  </a:ext>
                </a:extLst>
              </a:tr>
            </a:tbl>
          </a:graphicData>
        </a:graphic>
      </p:graphicFrame>
      <p:pic>
        <p:nvPicPr>
          <p:cNvPr id="7" name="Elemento grafico 6" descr="Fiocco di neve contorno">
            <a:extLst>
              <a:ext uri="{FF2B5EF4-FFF2-40B4-BE49-F238E27FC236}">
                <a16:creationId xmlns:a16="http://schemas.microsoft.com/office/drawing/2014/main" id="{BA40847F-BA12-08D4-6477-9FC28CD7E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4718" y="2671892"/>
            <a:ext cx="334656" cy="334656"/>
          </a:xfrm>
          <a:prstGeom prst="rect">
            <a:avLst/>
          </a:prstGeom>
        </p:spPr>
      </p:pic>
      <p:pic>
        <p:nvPicPr>
          <p:cNvPr id="10" name="Elemento grafico 9" descr="Sole con riempimento a tinta unita">
            <a:extLst>
              <a:ext uri="{FF2B5EF4-FFF2-40B4-BE49-F238E27FC236}">
                <a16:creationId xmlns:a16="http://schemas.microsoft.com/office/drawing/2014/main" id="{7A27EFBF-0539-CB7B-8217-D11775D654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7636" y="2672258"/>
            <a:ext cx="334655" cy="33465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928A83-27EA-16FB-C6F3-067D50B3E48A}"/>
              </a:ext>
            </a:extLst>
          </p:cNvPr>
          <p:cNvSpPr txBox="1"/>
          <p:nvPr/>
        </p:nvSpPr>
        <p:spPr>
          <a:xfrm>
            <a:off x="7145946" y="1263100"/>
            <a:ext cx="1426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TAGLIA M</a:t>
            </a:r>
          </a:p>
        </p:txBody>
      </p:sp>
    </p:spTree>
    <p:extLst>
      <p:ext uri="{BB962C8B-B14F-4D97-AF65-F5344CB8AC3E}">
        <p14:creationId xmlns:p14="http://schemas.microsoft.com/office/powerpoint/2010/main" val="2116151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705099FB-12B9-413E-8C73-7BDE88BEC98C}"/>
              </a:ext>
            </a:extLst>
          </p:cNvPr>
          <p:cNvSpPr txBox="1">
            <a:spLocks/>
          </p:cNvSpPr>
          <p:nvPr/>
        </p:nvSpPr>
        <p:spPr>
          <a:xfrm>
            <a:off x="1171431" y="1482253"/>
            <a:ext cx="6483133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Posizione nel portafoglio clienti domestici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07D8EA0C-DFA7-4AB3-BB94-D303E3EA7D89}"/>
              </a:ext>
            </a:extLst>
          </p:cNvPr>
          <p:cNvSpPr txBox="1">
            <a:spLocks/>
          </p:cNvSpPr>
          <p:nvPr/>
        </p:nvSpPr>
        <p:spPr>
          <a:xfrm>
            <a:off x="191043" y="2707738"/>
            <a:ext cx="1656611" cy="4370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Canale WEB</a:t>
            </a: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A9FD5EED-6B1A-470D-9A4C-B20E06D98C62}"/>
              </a:ext>
            </a:extLst>
          </p:cNvPr>
          <p:cNvSpPr txBox="1">
            <a:spLocks/>
          </p:cNvSpPr>
          <p:nvPr/>
        </p:nvSpPr>
        <p:spPr>
          <a:xfrm>
            <a:off x="191043" y="3976107"/>
            <a:ext cx="1939416" cy="4370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Canali tradizionali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D5B0B88F-2A9B-4234-81B9-3DBE59D6146F}"/>
              </a:ext>
            </a:extLst>
          </p:cNvPr>
          <p:cNvSpPr txBox="1">
            <a:spLocks/>
          </p:cNvSpPr>
          <p:nvPr/>
        </p:nvSpPr>
        <p:spPr>
          <a:xfrm>
            <a:off x="2743302" y="2521261"/>
            <a:ext cx="4783893" cy="7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Special ACTIVE V24 (Casa Luce)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Special ACTIVE V24  (Casa Gas)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E7B6368-BB57-4D60-8B1B-7EDC38B69CDC}"/>
              </a:ext>
            </a:extLst>
          </p:cNvPr>
          <p:cNvSpPr txBox="1"/>
          <p:nvPr/>
        </p:nvSpPr>
        <p:spPr>
          <a:xfrm>
            <a:off x="6484749" y="2374061"/>
            <a:ext cx="5516208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200" dirty="0"/>
              <a:t>IEB obbligatorio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200" dirty="0"/>
              <a:t>SDD obbligatorio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200" dirty="0"/>
              <a:t>Fatturazione mensile obbligatoria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200" dirty="0"/>
              <a:t>Bonus Digital 30€ per i nuovi clienti (che raddoppiano con la sottoscrizione dell’altra commodity)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32B012F1-FDF5-43A7-9824-561A9CD36B1E}"/>
              </a:ext>
            </a:extLst>
          </p:cNvPr>
          <p:cNvSpPr txBox="1">
            <a:spLocks/>
          </p:cNvSpPr>
          <p:nvPr/>
        </p:nvSpPr>
        <p:spPr>
          <a:xfrm>
            <a:off x="2743302" y="3834014"/>
            <a:ext cx="3462946" cy="7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ACTIVE V24 (Casa Gas)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ACTIVE V24 (Casa Luce)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4D69BDE-B73B-440F-8BA6-6B5C2E1D3071}"/>
              </a:ext>
            </a:extLst>
          </p:cNvPr>
          <p:cNvSpPr txBox="1"/>
          <p:nvPr/>
        </p:nvSpPr>
        <p:spPr>
          <a:xfrm>
            <a:off x="6406580" y="3976107"/>
            <a:ext cx="292695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Bolletta cartacea, possibile richiedere 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mensile obbligatoria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8AA5277-54D1-4715-A11E-429E7A3C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C645-2D93-4C25-B542-E00717E6C9D2}" type="slidenum">
              <a:rPr lang="it-IT" smtClean="0"/>
              <a:t>23</a:t>
            </a:fld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96D4959-A4FD-4AC3-B320-896208B9E8C9}"/>
              </a:ext>
            </a:extLst>
          </p:cNvPr>
          <p:cNvSpPr txBox="1"/>
          <p:nvPr/>
        </p:nvSpPr>
        <p:spPr>
          <a:xfrm>
            <a:off x="394930" y="210951"/>
            <a:ext cx="8542371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>
            <a:noAutofit/>
          </a:bodyPr>
          <a:lstStyle>
            <a:lvl1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rgbClr val="054977"/>
                </a:solidFill>
                <a:latin typeface="Arial" panose="020B0604020202020204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r>
              <a:rPr lang="it-IT" dirty="0"/>
              <a:t>Offerte Indicizzate – CASA – validità dal 17/09/2026 al 04/11/2026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227A5C2D-D3A5-3132-B84E-08CE3FEBC8A3}"/>
              </a:ext>
            </a:extLst>
          </p:cNvPr>
          <p:cNvSpPr/>
          <p:nvPr/>
        </p:nvSpPr>
        <p:spPr>
          <a:xfrm>
            <a:off x="312425" y="658706"/>
            <a:ext cx="11688532" cy="14047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197663F-53A4-13D5-5194-82D599572B69}"/>
              </a:ext>
            </a:extLst>
          </p:cNvPr>
          <p:cNvSpPr txBox="1"/>
          <p:nvPr/>
        </p:nvSpPr>
        <p:spPr>
          <a:xfrm>
            <a:off x="82549" y="6141206"/>
            <a:ext cx="105600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/>
              <a:t>Restano attive le offerte Prezzo Netto Relax Casa (luce e gas) </a:t>
            </a:r>
          </a:p>
          <a:p>
            <a:r>
              <a:rPr lang="it-IT" sz="1050" dirty="0"/>
              <a:t>Prezzo Netto Rata Costante Gas non verrà rinnovata</a:t>
            </a:r>
          </a:p>
        </p:txBody>
      </p:sp>
    </p:spTree>
    <p:extLst>
      <p:ext uri="{BB962C8B-B14F-4D97-AF65-F5344CB8AC3E}">
        <p14:creationId xmlns:p14="http://schemas.microsoft.com/office/powerpoint/2010/main" val="3178394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705099FB-12B9-413E-8C73-7BDE88BEC98C}"/>
              </a:ext>
            </a:extLst>
          </p:cNvPr>
          <p:cNvSpPr txBox="1">
            <a:spLocks/>
          </p:cNvSpPr>
          <p:nvPr/>
        </p:nvSpPr>
        <p:spPr>
          <a:xfrm>
            <a:off x="1171431" y="1482253"/>
            <a:ext cx="6483133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Flusso per la scelta dell’offerta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D5B0B88F-2A9B-4234-81B9-3DBE59D6146F}"/>
              </a:ext>
            </a:extLst>
          </p:cNvPr>
          <p:cNvSpPr txBox="1">
            <a:spLocks/>
          </p:cNvSpPr>
          <p:nvPr/>
        </p:nvSpPr>
        <p:spPr>
          <a:xfrm>
            <a:off x="3103091" y="2106541"/>
            <a:ext cx="3352699" cy="7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Special ACTIVE (Casa Luce)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Special ACTIVE  (Casa Gas)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32B012F1-FDF5-43A7-9824-561A9CD36B1E}"/>
              </a:ext>
            </a:extLst>
          </p:cNvPr>
          <p:cNvSpPr txBox="1">
            <a:spLocks/>
          </p:cNvSpPr>
          <p:nvPr/>
        </p:nvSpPr>
        <p:spPr>
          <a:xfrm>
            <a:off x="3104316" y="4938669"/>
            <a:ext cx="3462946" cy="7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ACTIVE (Casa Luce)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ACTIVE (Casa Gas)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4D69BDE-B73B-440F-8BA6-6B5C2E1D3071}"/>
              </a:ext>
            </a:extLst>
          </p:cNvPr>
          <p:cNvSpPr txBox="1"/>
          <p:nvPr/>
        </p:nvSpPr>
        <p:spPr>
          <a:xfrm>
            <a:off x="64278" y="3334708"/>
            <a:ext cx="2163140" cy="11685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/>
              <a:t>Il Cliente vuole sottoscrivere una offerta </a:t>
            </a:r>
            <a:r>
              <a:rPr lang="it-IT" sz="1200" b="1"/>
              <a:t>indicizzata.</a:t>
            </a:r>
            <a:r>
              <a:rPr lang="it-IT" sz="1200"/>
              <a:t> Via web?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3614B1B-B6F1-4A49-BC5E-5803B94C3AEB}"/>
              </a:ext>
            </a:extLst>
          </p:cNvPr>
          <p:cNvSpPr txBox="1"/>
          <p:nvPr/>
        </p:nvSpPr>
        <p:spPr>
          <a:xfrm>
            <a:off x="6925113" y="2107579"/>
            <a:ext cx="2952293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/>
              <a:t>Avrà obbligatoriamente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SDD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mensile</a:t>
            </a: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BD79F45C-C8C2-4314-80B9-4B23054DDB99}"/>
              </a:ext>
            </a:extLst>
          </p:cNvPr>
          <p:cNvSpPr txBox="1">
            <a:spLocks/>
          </p:cNvSpPr>
          <p:nvPr/>
        </p:nvSpPr>
        <p:spPr>
          <a:xfrm>
            <a:off x="2164123" y="2739537"/>
            <a:ext cx="572538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Sì</a:t>
            </a:r>
          </a:p>
        </p:txBody>
      </p:sp>
      <p:sp>
        <p:nvSpPr>
          <p:cNvPr id="22" name="Titolo 1">
            <a:extLst>
              <a:ext uri="{FF2B5EF4-FFF2-40B4-BE49-F238E27FC236}">
                <a16:creationId xmlns:a16="http://schemas.microsoft.com/office/drawing/2014/main" id="{6F8D0364-5FD4-4018-A5FB-EED4D4FF8BE0}"/>
              </a:ext>
            </a:extLst>
          </p:cNvPr>
          <p:cNvSpPr txBox="1">
            <a:spLocks/>
          </p:cNvSpPr>
          <p:nvPr/>
        </p:nvSpPr>
        <p:spPr>
          <a:xfrm>
            <a:off x="2360548" y="4369541"/>
            <a:ext cx="572538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No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39684D70-FF17-49CC-8AE6-3DFD3BBA4FD6}"/>
              </a:ext>
            </a:extLst>
          </p:cNvPr>
          <p:cNvSpPr txBox="1"/>
          <p:nvPr/>
        </p:nvSpPr>
        <p:spPr>
          <a:xfrm>
            <a:off x="6271409" y="4806620"/>
            <a:ext cx="1484615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/>
              <a:t>Avrà obbligatoriamente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mensile</a:t>
            </a:r>
          </a:p>
        </p:txBody>
      </p:sp>
      <p:sp>
        <p:nvSpPr>
          <p:cNvPr id="47" name="Freccia a pentagono 46">
            <a:extLst>
              <a:ext uri="{FF2B5EF4-FFF2-40B4-BE49-F238E27FC236}">
                <a16:creationId xmlns:a16="http://schemas.microsoft.com/office/drawing/2014/main" id="{9266F0B3-B060-4C40-9FBD-A451DBD48C32}"/>
              </a:ext>
            </a:extLst>
          </p:cNvPr>
          <p:cNvSpPr/>
          <p:nvPr/>
        </p:nvSpPr>
        <p:spPr>
          <a:xfrm rot="1800000">
            <a:off x="1276544" y="4673307"/>
            <a:ext cx="1846795" cy="239919"/>
          </a:xfrm>
          <a:prstGeom prst="homePlate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Freccia a pentagono 47">
            <a:extLst>
              <a:ext uri="{FF2B5EF4-FFF2-40B4-BE49-F238E27FC236}">
                <a16:creationId xmlns:a16="http://schemas.microsoft.com/office/drawing/2014/main" id="{8818AAFA-87C7-4B95-8839-F06FFC3D34AF}"/>
              </a:ext>
            </a:extLst>
          </p:cNvPr>
          <p:cNvSpPr/>
          <p:nvPr/>
        </p:nvSpPr>
        <p:spPr>
          <a:xfrm rot="19800000">
            <a:off x="1538682" y="3016602"/>
            <a:ext cx="1846795" cy="239919"/>
          </a:xfrm>
          <a:prstGeom prst="homePlate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923AF2A-74B4-4FF7-8016-5E26D3AB3977}"/>
              </a:ext>
            </a:extLst>
          </p:cNvPr>
          <p:cNvSpPr txBox="1"/>
          <p:nvPr/>
        </p:nvSpPr>
        <p:spPr>
          <a:xfrm>
            <a:off x="10059158" y="2189572"/>
            <a:ext cx="116212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it-IT" sz="1200" dirty="0"/>
              <a:t>APP Hera 2G inclusa per forniture EE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A0FE3D4-AD3C-487E-9894-5C78B2A978F3}"/>
              </a:ext>
            </a:extLst>
          </p:cNvPr>
          <p:cNvSpPr txBox="1"/>
          <p:nvPr/>
        </p:nvSpPr>
        <p:spPr>
          <a:xfrm>
            <a:off x="7962195" y="4898952"/>
            <a:ext cx="116212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it-IT" sz="1200"/>
              <a:t>APP Hera 2G inclusa per forniture EE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B08318A-33CB-4272-B541-B31AF67E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C645-2D93-4C25-B542-E00717E6C9D2}" type="slidenum">
              <a:rPr lang="it-IT" smtClean="0"/>
              <a:t>24</a:t>
            </a:fld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C4BD956-ED06-4881-AC03-963F3E7A6317}"/>
              </a:ext>
            </a:extLst>
          </p:cNvPr>
          <p:cNvSpPr txBox="1"/>
          <p:nvPr/>
        </p:nvSpPr>
        <p:spPr>
          <a:xfrm>
            <a:off x="385098" y="210951"/>
            <a:ext cx="8542371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>
            <a:noAutofit/>
          </a:bodyPr>
          <a:lstStyle>
            <a:lvl1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rgbClr val="054977"/>
                </a:solidFill>
                <a:latin typeface="Arial" panose="020B0604020202020204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r>
              <a:rPr lang="it-IT" dirty="0"/>
              <a:t>Offerte Indicizzate – CASA</a:t>
            </a:r>
            <a:endParaRPr lang="it-IT" strike="sngStrike" dirty="0"/>
          </a:p>
        </p:txBody>
      </p:sp>
    </p:spTree>
    <p:extLst>
      <p:ext uri="{BB962C8B-B14F-4D97-AF65-F5344CB8AC3E}">
        <p14:creationId xmlns:p14="http://schemas.microsoft.com/office/powerpoint/2010/main" val="1171570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BBCD041A-A440-4BA3-A9CB-A4EFE2660C1A}"/>
              </a:ext>
            </a:extLst>
          </p:cNvPr>
          <p:cNvSpPr/>
          <p:nvPr/>
        </p:nvSpPr>
        <p:spPr>
          <a:xfrm>
            <a:off x="6320405" y="1255681"/>
            <a:ext cx="879395" cy="1566824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B27945D9-8AAE-43AD-B5B8-51E64CF22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995741"/>
              </p:ext>
            </p:extLst>
          </p:nvPr>
        </p:nvGraphicFramePr>
        <p:xfrm>
          <a:off x="3289282" y="1329833"/>
          <a:ext cx="3927010" cy="1281176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416756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65750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44504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</a:tblGrid>
              <a:tr h="153326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 IS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278843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PUN Orario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193512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CORRISPETTIVO DI COMMERCIALIZZAZIONE &lt;= 2.700 kWh/anno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€/mese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169,23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012194318"/>
                  </a:ext>
                </a:extLst>
              </a:tr>
              <a:tr h="193512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CORRISPETTIVO DI COMMERCIALIZZAZIONE &lt;= 2.700 kWh/anno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€/mese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193,23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951067429"/>
                  </a:ext>
                </a:extLst>
              </a:tr>
              <a:tr h="193512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CONTRIBUTO SUI CONSUMI</a:t>
                      </a: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0,008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9188674"/>
                  </a:ext>
                </a:extLst>
              </a:tr>
            </a:tbl>
          </a:graphicData>
        </a:graphic>
      </p:graphicFrame>
      <p:sp>
        <p:nvSpPr>
          <p:cNvPr id="4" name="Titolo 1">
            <a:extLst>
              <a:ext uri="{FF2B5EF4-FFF2-40B4-BE49-F238E27FC236}">
                <a16:creationId xmlns:a16="http://schemas.microsoft.com/office/drawing/2014/main" id="{4B343EED-A18D-44DE-940D-80BCFC7C055B}"/>
              </a:ext>
            </a:extLst>
          </p:cNvPr>
          <p:cNvSpPr txBox="1">
            <a:spLocks/>
          </p:cNvSpPr>
          <p:nvPr/>
        </p:nvSpPr>
        <p:spPr>
          <a:xfrm>
            <a:off x="629218" y="306282"/>
            <a:ext cx="44038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it-IT" sz="1800" b="1" kern="1200">
                <a:solidFill>
                  <a:srgbClr val="054977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>
                <a:solidFill>
                  <a:srgbClr val="000000"/>
                </a:solidFill>
                <a:latin typeface="+mn-lt"/>
              </a:rPr>
              <a:t>Indicizzate CASA EE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E0E5200-9AED-4CEE-9F9E-C5315CCE25A7}"/>
              </a:ext>
            </a:extLst>
          </p:cNvPr>
          <p:cNvSpPr txBox="1"/>
          <p:nvPr/>
        </p:nvSpPr>
        <p:spPr>
          <a:xfrm>
            <a:off x="3296476" y="1079232"/>
            <a:ext cx="3037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/>
              <a:t>PiùCONTROLLO</a:t>
            </a:r>
            <a:r>
              <a:rPr lang="it-IT" sz="1400" b="1" dirty="0"/>
              <a:t> ACTIVE CASA LUCE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F9A1A5C8-C72E-41B4-A725-5E13C87DE01A}"/>
              </a:ext>
            </a:extLst>
          </p:cNvPr>
          <p:cNvSpPr/>
          <p:nvPr/>
        </p:nvSpPr>
        <p:spPr>
          <a:xfrm>
            <a:off x="6402353" y="3520651"/>
            <a:ext cx="797447" cy="1514562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C16F3E58-270E-4A4D-8FDC-01914F02F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032807"/>
              </p:ext>
            </p:extLst>
          </p:nvPr>
        </p:nvGraphicFramePr>
        <p:xfrm>
          <a:off x="3364101" y="3580677"/>
          <a:ext cx="3907419" cy="1215325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404699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62927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39793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</a:tblGrid>
              <a:tr h="29310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 IS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37685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PUN Orario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261528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144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  <a:tr h="261528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BONUS DIGITAL (per i nuovi clienti, per i primi due anni)</a:t>
                      </a: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9188674"/>
                  </a:ext>
                </a:extLst>
              </a:tr>
            </a:tbl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6065DBD-5CA3-42C1-856C-FFEC22CE9A8E}"/>
              </a:ext>
            </a:extLst>
          </p:cNvPr>
          <p:cNvSpPr txBox="1"/>
          <p:nvPr/>
        </p:nvSpPr>
        <p:spPr>
          <a:xfrm>
            <a:off x="3378423" y="3218633"/>
            <a:ext cx="4388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err="1"/>
              <a:t>PiùCONTROLLO</a:t>
            </a:r>
            <a:r>
              <a:rPr lang="it-IT" sz="1400" b="1"/>
              <a:t> SPECIAL ACTIVE CASA LUCE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05F66189-3EEA-4667-9E39-15382697C043}"/>
              </a:ext>
            </a:extLst>
          </p:cNvPr>
          <p:cNvCxnSpPr>
            <a:cxnSpLocks/>
          </p:cNvCxnSpPr>
          <p:nvPr/>
        </p:nvCxnSpPr>
        <p:spPr>
          <a:xfrm flipV="1">
            <a:off x="-1" y="3041336"/>
            <a:ext cx="11232107" cy="5257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2ADDF6AD-7B52-447C-9EF5-1333950A4ADC}"/>
              </a:ext>
            </a:extLst>
          </p:cNvPr>
          <p:cNvCxnSpPr>
            <a:cxnSpLocks/>
          </p:cNvCxnSpPr>
          <p:nvPr/>
        </p:nvCxnSpPr>
        <p:spPr>
          <a:xfrm flipV="1">
            <a:off x="0" y="963292"/>
            <a:ext cx="11232107" cy="5257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CB0669F9-0EB7-F9D4-44DF-5FEE25B3C844}"/>
              </a:ext>
            </a:extLst>
          </p:cNvPr>
          <p:cNvSpPr/>
          <p:nvPr/>
        </p:nvSpPr>
        <p:spPr>
          <a:xfrm>
            <a:off x="3364101" y="5214201"/>
            <a:ext cx="313055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bg1"/>
                </a:solidFill>
              </a:rPr>
              <a:t>Promo WEB: 50€ in 2 anni in quote mensili per chi sottoscrive in Self (anziché con call back)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627C9FE-7F7A-1B5A-5B36-B17F20BCD75F}"/>
              </a:ext>
            </a:extLst>
          </p:cNvPr>
          <p:cNvSpPr txBox="1"/>
          <p:nvPr/>
        </p:nvSpPr>
        <p:spPr>
          <a:xfrm>
            <a:off x="116201" y="2583882"/>
            <a:ext cx="286474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Promo </a:t>
            </a:r>
            <a:r>
              <a:rPr lang="it-IT" sz="1050" dirty="0" err="1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 back per specifiche campagne TLS e Web fino al 31.12</a:t>
            </a: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3376524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26572FE9-217C-4C5E-8B77-DD4CA13FA7D3}"/>
              </a:ext>
            </a:extLst>
          </p:cNvPr>
          <p:cNvSpPr/>
          <p:nvPr/>
        </p:nvSpPr>
        <p:spPr>
          <a:xfrm>
            <a:off x="4249325" y="3548835"/>
            <a:ext cx="797447" cy="1389095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A8F56DFC-605A-42E8-90F4-637DE3056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332830"/>
              </p:ext>
            </p:extLst>
          </p:nvPr>
        </p:nvGraphicFramePr>
        <p:xfrm>
          <a:off x="1201713" y="3749941"/>
          <a:ext cx="3945367" cy="12043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428053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68394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48920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</a:tblGrid>
              <a:tr h="38546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PSV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26750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144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  <a:tr h="26750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CONTRIBUTO SUI CONSUMI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0,10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799188674"/>
                  </a:ext>
                </a:extLst>
              </a:tr>
              <a:tr h="26750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BONUS DIGITAL (per i nuovi clienti, per i primi due anni)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8142867"/>
                  </a:ext>
                </a:extLst>
              </a:tr>
            </a:tbl>
          </a:graphicData>
        </a:graphic>
      </p:graphicFrame>
      <p:sp>
        <p:nvSpPr>
          <p:cNvPr id="15" name="Rettangolo 14">
            <a:extLst>
              <a:ext uri="{FF2B5EF4-FFF2-40B4-BE49-F238E27FC236}">
                <a16:creationId xmlns:a16="http://schemas.microsoft.com/office/drawing/2014/main" id="{611E9FEF-F007-4139-8BAD-202EF49D7FE0}"/>
              </a:ext>
            </a:extLst>
          </p:cNvPr>
          <p:cNvSpPr/>
          <p:nvPr/>
        </p:nvSpPr>
        <p:spPr>
          <a:xfrm>
            <a:off x="4246358" y="1303949"/>
            <a:ext cx="797447" cy="1467046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D0FC5813-FE98-40A5-A07C-5FE832CA5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577250"/>
              </p:ext>
            </p:extLst>
          </p:nvPr>
        </p:nvGraphicFramePr>
        <p:xfrm>
          <a:off x="1841793" y="1447298"/>
          <a:ext cx="3963207" cy="1169379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957295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476032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764940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  <a:gridCol w="764940">
                  <a:extLst>
                    <a:ext uri="{9D8B030D-6E8A-4147-A177-3AD203B41FA5}">
                      <a16:colId xmlns:a16="http://schemas.microsoft.com/office/drawing/2014/main" val="33948311"/>
                    </a:ext>
                  </a:extLst>
                </a:gridCol>
              </a:tblGrid>
              <a:tr h="279038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PSV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28230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CORRISPETTIVO DI COMMERCIALIZZAZIONE &lt;= 300 </a:t>
                      </a:r>
                      <a:r>
                        <a:rPr lang="it-IT" sz="9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r>
                        <a:rPr lang="it-IT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/anno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120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012194318"/>
                  </a:ext>
                </a:extLst>
              </a:tr>
              <a:tr h="19364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CORRISPETTIVO DI COMMERCIALIZZAZIONE &gt; 300 </a:t>
                      </a:r>
                      <a:r>
                        <a:rPr lang="it-IT" sz="9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r>
                        <a:rPr lang="it-IT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/anno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951067429"/>
                  </a:ext>
                </a:extLst>
              </a:tr>
              <a:tr h="19364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CONTRIBUTO SUI CONSUMI</a:t>
                      </a:r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0,13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9188674"/>
                  </a:ext>
                </a:extLst>
              </a:tr>
            </a:tbl>
          </a:graphicData>
        </a:graphic>
      </p:graphicFrame>
      <p:sp>
        <p:nvSpPr>
          <p:cNvPr id="4" name="Titolo 1">
            <a:extLst>
              <a:ext uri="{FF2B5EF4-FFF2-40B4-BE49-F238E27FC236}">
                <a16:creationId xmlns:a16="http://schemas.microsoft.com/office/drawing/2014/main" id="{4B343EED-A18D-44DE-940D-80BCFC7C055B}"/>
              </a:ext>
            </a:extLst>
          </p:cNvPr>
          <p:cNvSpPr txBox="1">
            <a:spLocks/>
          </p:cNvSpPr>
          <p:nvPr/>
        </p:nvSpPr>
        <p:spPr>
          <a:xfrm>
            <a:off x="159319" y="64982"/>
            <a:ext cx="81260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it-IT" sz="1800" b="1" kern="1200">
                <a:solidFill>
                  <a:srgbClr val="054977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>
                <a:solidFill>
                  <a:srgbClr val="000000"/>
                </a:solidFill>
                <a:latin typeface="+mn-lt"/>
              </a:rPr>
              <a:t>Indicizzate CASA GAS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10A3881-CEBC-4168-9770-65F1CE3A3EE9}"/>
              </a:ext>
            </a:extLst>
          </p:cNvPr>
          <p:cNvSpPr txBox="1"/>
          <p:nvPr/>
        </p:nvSpPr>
        <p:spPr>
          <a:xfrm>
            <a:off x="1222429" y="1064054"/>
            <a:ext cx="3037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/>
              <a:t>PIùCONTROLLO</a:t>
            </a:r>
            <a:r>
              <a:rPr lang="it-IT" sz="1400" b="1" dirty="0"/>
              <a:t> ACTIVE CASA GAS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CC24CA3-2CD3-4CF0-84E8-7781493D6B8F}"/>
              </a:ext>
            </a:extLst>
          </p:cNvPr>
          <p:cNvSpPr txBox="1"/>
          <p:nvPr/>
        </p:nvSpPr>
        <p:spPr>
          <a:xfrm>
            <a:off x="4207182" y="1078772"/>
            <a:ext cx="9608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dirty="0"/>
              <a:t>AS IS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E8B2545-7855-49AF-9E33-EF9D6C92E677}"/>
              </a:ext>
            </a:extLst>
          </p:cNvPr>
          <p:cNvSpPr txBox="1"/>
          <p:nvPr/>
        </p:nvSpPr>
        <p:spPr>
          <a:xfrm>
            <a:off x="1225396" y="3265815"/>
            <a:ext cx="3416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/>
              <a:t>PIùCONTROLLO</a:t>
            </a:r>
            <a:r>
              <a:rPr lang="it-IT" sz="1400" b="1" dirty="0"/>
              <a:t> SPECIAL ACTIVE CASA GAS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BB5B45FF-5752-4614-BBD4-7AA317C885C1}"/>
              </a:ext>
            </a:extLst>
          </p:cNvPr>
          <p:cNvCxnSpPr>
            <a:cxnSpLocks/>
          </p:cNvCxnSpPr>
          <p:nvPr/>
        </p:nvCxnSpPr>
        <p:spPr>
          <a:xfrm flipV="1">
            <a:off x="0" y="2951912"/>
            <a:ext cx="11232107" cy="5257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569A301D-170F-4CFB-95B9-EC5E3976A36D}"/>
              </a:ext>
            </a:extLst>
          </p:cNvPr>
          <p:cNvCxnSpPr>
            <a:cxnSpLocks/>
          </p:cNvCxnSpPr>
          <p:nvPr/>
        </p:nvCxnSpPr>
        <p:spPr>
          <a:xfrm flipV="1">
            <a:off x="1" y="873868"/>
            <a:ext cx="11232107" cy="5257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59B541E2-9136-43D8-A817-E30DDC189DC0}"/>
              </a:ext>
            </a:extLst>
          </p:cNvPr>
          <p:cNvSpPr txBox="1"/>
          <p:nvPr/>
        </p:nvSpPr>
        <p:spPr>
          <a:xfrm>
            <a:off x="8522208" y="2465596"/>
            <a:ext cx="3159614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effectLst/>
                <a:ea typeface="Calibri" panose="020F0502020204030204" pitchFamily="34" charset="0"/>
              </a:rPr>
              <a:t>PSV_DA</a:t>
            </a:r>
            <a:r>
              <a:rPr lang="it-IT" sz="1400" b="1" baseline="-25000" dirty="0" err="1">
                <a:effectLst/>
                <a:ea typeface="Calibri" panose="020F0502020204030204" pitchFamily="34" charset="0"/>
              </a:rPr>
              <a:t>m</a:t>
            </a:r>
            <a:r>
              <a:rPr lang="it-IT" sz="1400" b="1" dirty="0">
                <a:effectLst/>
                <a:ea typeface="Calibri" panose="020F0502020204030204" pitchFamily="34" charset="0"/>
              </a:rPr>
              <a:t> </a:t>
            </a:r>
            <a:r>
              <a:rPr lang="it-IT" sz="1400" dirty="0">
                <a:effectLst/>
                <a:ea typeface="Calibri" panose="020F0502020204030204" pitchFamily="34" charset="0"/>
              </a:rPr>
              <a:t>è calcolato per ogni mese, come media aritmetica dei prezzi </a:t>
            </a:r>
            <a:r>
              <a:rPr lang="it-IT" sz="1400" dirty="0" err="1">
                <a:effectLst/>
                <a:ea typeface="Calibri" panose="020F0502020204030204" pitchFamily="34" charset="0"/>
              </a:rPr>
              <a:t>offer</a:t>
            </a:r>
            <a:r>
              <a:rPr lang="it-IT" sz="1400" dirty="0">
                <a:effectLst/>
                <a:ea typeface="Calibri" panose="020F0502020204030204" pitchFamily="34" charset="0"/>
              </a:rPr>
              <a:t> “Day-</a:t>
            </a:r>
            <a:r>
              <a:rPr lang="it-IT" sz="1400" dirty="0" err="1">
                <a:effectLst/>
                <a:ea typeface="Calibri" panose="020F0502020204030204" pitchFamily="34" charset="0"/>
              </a:rPr>
              <a:t>Ahead</a:t>
            </a:r>
            <a:r>
              <a:rPr lang="it-IT" sz="1400" dirty="0">
                <a:effectLst/>
                <a:ea typeface="Calibri" panose="020F0502020204030204" pitchFamily="34" charset="0"/>
              </a:rPr>
              <a:t>”, espressi in €/MWh,  pubblicati da ICIS </a:t>
            </a:r>
            <a:r>
              <a:rPr lang="it-IT" sz="1400" dirty="0" err="1">
                <a:effectLst/>
                <a:ea typeface="Calibri" panose="020F0502020204030204" pitchFamily="34" charset="0"/>
              </a:rPr>
              <a:t>Heren</a:t>
            </a:r>
            <a:r>
              <a:rPr lang="it-IT" sz="1400" dirty="0">
                <a:effectLst/>
                <a:ea typeface="Calibri" panose="020F0502020204030204" pitchFamily="34" charset="0"/>
              </a:rPr>
              <a:t> nel report ESGM (</a:t>
            </a:r>
            <a:r>
              <a:rPr lang="it-IT" sz="1400" dirty="0" err="1">
                <a:effectLst/>
                <a:ea typeface="Calibri" panose="020F0502020204030204" pitchFamily="34" charset="0"/>
              </a:rPr>
              <a:t>European</a:t>
            </a:r>
            <a:r>
              <a:rPr lang="it-IT" sz="1400" dirty="0">
                <a:effectLst/>
                <a:ea typeface="Calibri" panose="020F0502020204030204" pitchFamily="34" charset="0"/>
              </a:rPr>
              <a:t> Spot Gas Markets) all’interno della sezione “PSV Price </a:t>
            </a:r>
            <a:r>
              <a:rPr lang="it-IT" sz="1400" dirty="0" err="1">
                <a:effectLst/>
                <a:ea typeface="Calibri" panose="020F0502020204030204" pitchFamily="34" charset="0"/>
              </a:rPr>
              <a:t>Assessment</a:t>
            </a:r>
            <a:r>
              <a:rPr lang="it-IT" sz="1400" dirty="0">
                <a:effectLst/>
                <a:ea typeface="Calibri" panose="020F0502020204030204" pitchFamily="34" charset="0"/>
              </a:rPr>
              <a:t>”, nel giorno lavorativo antecedente il giorno di riferimento.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5701EAD-9C33-77F6-F66E-5AD8B3485DE1}"/>
              </a:ext>
            </a:extLst>
          </p:cNvPr>
          <p:cNvSpPr txBox="1"/>
          <p:nvPr/>
        </p:nvSpPr>
        <p:spPr>
          <a:xfrm>
            <a:off x="4424883" y="3525342"/>
            <a:ext cx="5254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dirty="0"/>
              <a:t>AS IS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3D5FBB5-4B6D-7082-D026-4A1F577E6FC3}"/>
              </a:ext>
            </a:extLst>
          </p:cNvPr>
          <p:cNvSpPr/>
          <p:nvPr/>
        </p:nvSpPr>
        <p:spPr>
          <a:xfrm>
            <a:off x="1201713" y="5067061"/>
            <a:ext cx="313055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bg1"/>
                </a:solidFill>
              </a:rPr>
              <a:t>Promo WEB: 50€ in 2 anni in quote mensili per chi sottoscrive in Self (anziché con call back)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0769853-0258-BA51-1066-D899D6A8BE44}"/>
              </a:ext>
            </a:extLst>
          </p:cNvPr>
          <p:cNvSpPr txBox="1"/>
          <p:nvPr/>
        </p:nvSpPr>
        <p:spPr>
          <a:xfrm>
            <a:off x="6171505" y="1843749"/>
            <a:ext cx="202022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Promo </a:t>
            </a:r>
            <a:r>
              <a:rPr lang="it-IT" sz="1050" dirty="0" err="1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 back per specifiche campagne TLS e Web fino al 31.12</a:t>
            </a: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3639592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705099FB-12B9-413E-8C73-7BDE88BEC98C}"/>
              </a:ext>
            </a:extLst>
          </p:cNvPr>
          <p:cNvSpPr txBox="1">
            <a:spLocks/>
          </p:cNvSpPr>
          <p:nvPr/>
        </p:nvSpPr>
        <p:spPr>
          <a:xfrm>
            <a:off x="191043" y="2095054"/>
            <a:ext cx="6483133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Posizione nel portafoglio clienti non domestici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07D8EA0C-DFA7-4AB3-BB94-D303E3EA7D89}"/>
              </a:ext>
            </a:extLst>
          </p:cNvPr>
          <p:cNvSpPr txBox="1">
            <a:spLocks/>
          </p:cNvSpPr>
          <p:nvPr/>
        </p:nvSpPr>
        <p:spPr>
          <a:xfrm>
            <a:off x="191043" y="2707738"/>
            <a:ext cx="1656611" cy="4370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Canale WEB</a:t>
            </a: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A9FD5EED-6B1A-470D-9A4C-B20E06D98C62}"/>
              </a:ext>
            </a:extLst>
          </p:cNvPr>
          <p:cNvSpPr txBox="1">
            <a:spLocks/>
          </p:cNvSpPr>
          <p:nvPr/>
        </p:nvSpPr>
        <p:spPr>
          <a:xfrm>
            <a:off x="191043" y="4687307"/>
            <a:ext cx="1939416" cy="4370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Canali tradizionali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D5B0B88F-2A9B-4234-81B9-3DBE59D6146F}"/>
              </a:ext>
            </a:extLst>
          </p:cNvPr>
          <p:cNvSpPr txBox="1">
            <a:spLocks/>
          </p:cNvSpPr>
          <p:nvPr/>
        </p:nvSpPr>
        <p:spPr>
          <a:xfrm>
            <a:off x="2743302" y="2472078"/>
            <a:ext cx="4783893" cy="7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Special ACTIVE V24 (Lavoro Luce)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Special ACTIVE V24 (Lavoro Gas)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E7B6368-BB57-4D60-8B1B-7EDC38B69CDC}"/>
              </a:ext>
            </a:extLst>
          </p:cNvPr>
          <p:cNvSpPr txBox="1"/>
          <p:nvPr/>
        </p:nvSpPr>
        <p:spPr>
          <a:xfrm>
            <a:off x="6484749" y="2482111"/>
            <a:ext cx="551620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200" dirty="0"/>
              <a:t>IEB obbligatorio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200" dirty="0"/>
              <a:t>SDD obbligatorio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200" dirty="0"/>
              <a:t>Fatturazione mensile obbligatoria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274C79FD-130A-4FCB-8EA8-9B598FD1ABBC}"/>
              </a:ext>
            </a:extLst>
          </p:cNvPr>
          <p:cNvSpPr txBox="1">
            <a:spLocks/>
          </p:cNvSpPr>
          <p:nvPr/>
        </p:nvSpPr>
        <p:spPr>
          <a:xfrm>
            <a:off x="2743302" y="4905847"/>
            <a:ext cx="3352698" cy="7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Prezzo Netto Impresa Gas V68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ACTIVE V24 (Lavoro Gas) 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32B012F1-FDF5-43A7-9824-561A9CD36B1E}"/>
              </a:ext>
            </a:extLst>
          </p:cNvPr>
          <p:cNvSpPr txBox="1">
            <a:spLocks/>
          </p:cNvSpPr>
          <p:nvPr/>
        </p:nvSpPr>
        <p:spPr>
          <a:xfrm>
            <a:off x="2743301" y="4026100"/>
            <a:ext cx="4462842" cy="7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Prezzo Netto Impresa Luce V68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Prezzo Netto Condominio V68 / Prezzo Netto Condominio+ V68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ACTIVE V24 (Lavoro Luce)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4D69BDE-B73B-440F-8BA6-6B5C2E1D3071}"/>
              </a:ext>
            </a:extLst>
          </p:cNvPr>
          <p:cNvSpPr txBox="1"/>
          <p:nvPr/>
        </p:nvSpPr>
        <p:spPr>
          <a:xfrm>
            <a:off x="6484749" y="5184460"/>
            <a:ext cx="2442720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mensile obbligatoria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8AA5277-54D1-4715-A11E-429E7A3C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C645-2D93-4C25-B542-E00717E6C9D2}" type="slidenum">
              <a:rPr lang="it-IT" smtClean="0"/>
              <a:t>27</a:t>
            </a:fld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96D4959-A4FD-4AC3-B320-896208B9E8C9}"/>
              </a:ext>
            </a:extLst>
          </p:cNvPr>
          <p:cNvSpPr txBox="1"/>
          <p:nvPr/>
        </p:nvSpPr>
        <p:spPr>
          <a:xfrm>
            <a:off x="385098" y="210951"/>
            <a:ext cx="9337742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>
            <a:noAutofit/>
          </a:bodyPr>
          <a:lstStyle>
            <a:lvl1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rgbClr val="054977"/>
                </a:solidFill>
                <a:latin typeface="Arial" panose="020B0604020202020204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r>
              <a:rPr lang="it-IT" dirty="0"/>
              <a:t>Offerte Indicizzate – LAVORO - validità dal 17/09/2026 al 04/11/2026</a:t>
            </a:r>
            <a:endParaRPr lang="it-IT" strike="sngStrike" dirty="0"/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4777D591-0420-47FD-A74B-7E7E638B3C0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584054" y="5322960"/>
            <a:ext cx="9006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CD0883D5-92B1-4690-A824-7194FE9D641D}"/>
              </a:ext>
            </a:extLst>
          </p:cNvPr>
          <p:cNvCxnSpPr>
            <a:cxnSpLocks/>
          </p:cNvCxnSpPr>
          <p:nvPr/>
        </p:nvCxnSpPr>
        <p:spPr>
          <a:xfrm>
            <a:off x="5584053" y="4588879"/>
            <a:ext cx="900695" cy="575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D532C41B-3519-54E9-40B3-BA9C837A605F}"/>
              </a:ext>
            </a:extLst>
          </p:cNvPr>
          <p:cNvSpPr/>
          <p:nvPr/>
        </p:nvSpPr>
        <p:spPr>
          <a:xfrm>
            <a:off x="191043" y="590674"/>
            <a:ext cx="11688532" cy="14047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9439252-F7C4-10E5-1C20-E28841E7B9F4}"/>
              </a:ext>
            </a:extLst>
          </p:cNvPr>
          <p:cNvSpPr txBox="1"/>
          <p:nvPr/>
        </p:nvSpPr>
        <p:spPr>
          <a:xfrm>
            <a:off x="82549" y="6141206"/>
            <a:ext cx="10560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/>
              <a:t>Resta attiva l’offerta Prezzo Netto Relax Condominio (gas)</a:t>
            </a:r>
          </a:p>
        </p:txBody>
      </p:sp>
    </p:spTree>
    <p:extLst>
      <p:ext uri="{BB962C8B-B14F-4D97-AF65-F5344CB8AC3E}">
        <p14:creationId xmlns:p14="http://schemas.microsoft.com/office/powerpoint/2010/main" val="1466865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705099FB-12B9-413E-8C73-7BDE88BEC98C}"/>
              </a:ext>
            </a:extLst>
          </p:cNvPr>
          <p:cNvSpPr txBox="1">
            <a:spLocks/>
          </p:cNvSpPr>
          <p:nvPr/>
        </p:nvSpPr>
        <p:spPr>
          <a:xfrm>
            <a:off x="1171431" y="732953"/>
            <a:ext cx="6483133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Flusso per la scelta dell’offerta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D5B0B88F-2A9B-4234-81B9-3DBE59D6146F}"/>
              </a:ext>
            </a:extLst>
          </p:cNvPr>
          <p:cNvSpPr txBox="1">
            <a:spLocks/>
          </p:cNvSpPr>
          <p:nvPr/>
        </p:nvSpPr>
        <p:spPr>
          <a:xfrm>
            <a:off x="3103091" y="1357241"/>
            <a:ext cx="3462946" cy="7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Special ACTIVE</a:t>
            </a: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(Lavoro Luce)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Special ACTIVE </a:t>
            </a: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(Lavoro Gas)</a:t>
            </a:r>
            <a:endParaRPr lang="it-IT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274C79FD-130A-4FCB-8EA8-9B598FD1ABBC}"/>
              </a:ext>
            </a:extLst>
          </p:cNvPr>
          <p:cNvSpPr txBox="1">
            <a:spLocks/>
          </p:cNvSpPr>
          <p:nvPr/>
        </p:nvSpPr>
        <p:spPr>
          <a:xfrm>
            <a:off x="3287742" y="4735756"/>
            <a:ext cx="4225689" cy="7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Prezzo Netto Impresa Luce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Prezzo Netto Condominio/ Prezzo Netto Condominio+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Prezzo Netto Impresa 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100" b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32B012F1-FDF5-43A7-9824-561A9CD36B1E}"/>
              </a:ext>
            </a:extLst>
          </p:cNvPr>
          <p:cNvSpPr txBox="1">
            <a:spLocks/>
          </p:cNvSpPr>
          <p:nvPr/>
        </p:nvSpPr>
        <p:spPr>
          <a:xfrm>
            <a:off x="3283708" y="3259890"/>
            <a:ext cx="3462946" cy="7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ACTIVE </a:t>
            </a: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(Lavoro Luce)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PiùControllo ACTIVE </a:t>
            </a:r>
            <a:r>
              <a:rPr lang="it-IT" sz="11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(Lavoro Gas) </a:t>
            </a:r>
            <a:endParaRPr lang="it-IT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4D69BDE-B73B-440F-8BA6-6B5C2E1D3071}"/>
              </a:ext>
            </a:extLst>
          </p:cNvPr>
          <p:cNvSpPr txBox="1"/>
          <p:nvPr/>
        </p:nvSpPr>
        <p:spPr>
          <a:xfrm>
            <a:off x="64278" y="2585408"/>
            <a:ext cx="2163140" cy="11685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/>
              <a:t>Il Cliente vuole sottoscrivere una offerta </a:t>
            </a:r>
            <a:r>
              <a:rPr lang="it-IT" sz="1200" b="1"/>
              <a:t>indicizzata.</a:t>
            </a:r>
            <a:r>
              <a:rPr lang="it-IT" sz="1200"/>
              <a:t> Via web?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3614B1B-B6F1-4A49-BC5E-5803B94C3AEB}"/>
              </a:ext>
            </a:extLst>
          </p:cNvPr>
          <p:cNvSpPr txBox="1"/>
          <p:nvPr/>
        </p:nvSpPr>
        <p:spPr>
          <a:xfrm>
            <a:off x="6925113" y="1358279"/>
            <a:ext cx="2952293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/>
              <a:t>Avrà obbligatoriamente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SDD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mensile</a:t>
            </a: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BD79F45C-C8C2-4314-80B9-4B23054DDB99}"/>
              </a:ext>
            </a:extLst>
          </p:cNvPr>
          <p:cNvSpPr txBox="1">
            <a:spLocks/>
          </p:cNvSpPr>
          <p:nvPr/>
        </p:nvSpPr>
        <p:spPr>
          <a:xfrm>
            <a:off x="2164123" y="1990237"/>
            <a:ext cx="572538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Sì</a:t>
            </a:r>
          </a:p>
        </p:txBody>
      </p:sp>
      <p:sp>
        <p:nvSpPr>
          <p:cNvPr id="22" name="Titolo 1">
            <a:extLst>
              <a:ext uri="{FF2B5EF4-FFF2-40B4-BE49-F238E27FC236}">
                <a16:creationId xmlns:a16="http://schemas.microsoft.com/office/drawing/2014/main" id="{6F8D0364-5FD4-4018-A5FB-EED4D4FF8BE0}"/>
              </a:ext>
            </a:extLst>
          </p:cNvPr>
          <p:cNvSpPr txBox="1">
            <a:spLocks/>
          </p:cNvSpPr>
          <p:nvPr/>
        </p:nvSpPr>
        <p:spPr>
          <a:xfrm>
            <a:off x="2360548" y="3620241"/>
            <a:ext cx="572538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No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39684D70-FF17-49CC-8AE6-3DFD3BBA4FD6}"/>
              </a:ext>
            </a:extLst>
          </p:cNvPr>
          <p:cNvSpPr txBox="1"/>
          <p:nvPr/>
        </p:nvSpPr>
        <p:spPr>
          <a:xfrm>
            <a:off x="6501601" y="2985700"/>
            <a:ext cx="1484615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/>
              <a:t>Avrà obbligatoriamente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mensile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3EF86D81-22CC-4845-B8E4-07D89CC35128}"/>
              </a:ext>
            </a:extLst>
          </p:cNvPr>
          <p:cNvSpPr txBox="1"/>
          <p:nvPr/>
        </p:nvSpPr>
        <p:spPr>
          <a:xfrm>
            <a:off x="7236116" y="4429487"/>
            <a:ext cx="2219790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Bolletta cartacea, possibile richiedere IEB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Pagamenti secondo le modalità scelte dal cliente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/>
              <a:t>Fatturazione come da CGC</a:t>
            </a:r>
          </a:p>
        </p:txBody>
      </p:sp>
      <p:sp>
        <p:nvSpPr>
          <p:cNvPr id="47" name="Freccia a pentagono 46">
            <a:extLst>
              <a:ext uri="{FF2B5EF4-FFF2-40B4-BE49-F238E27FC236}">
                <a16:creationId xmlns:a16="http://schemas.microsoft.com/office/drawing/2014/main" id="{9266F0B3-B060-4C40-9FBD-A451DBD48C32}"/>
              </a:ext>
            </a:extLst>
          </p:cNvPr>
          <p:cNvSpPr/>
          <p:nvPr/>
        </p:nvSpPr>
        <p:spPr>
          <a:xfrm rot="1800000">
            <a:off x="1276544" y="3924007"/>
            <a:ext cx="1846795" cy="239919"/>
          </a:xfrm>
          <a:prstGeom prst="homePlate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Freccia a pentagono 47">
            <a:extLst>
              <a:ext uri="{FF2B5EF4-FFF2-40B4-BE49-F238E27FC236}">
                <a16:creationId xmlns:a16="http://schemas.microsoft.com/office/drawing/2014/main" id="{8818AAFA-87C7-4B95-8839-F06FFC3D34AF}"/>
              </a:ext>
            </a:extLst>
          </p:cNvPr>
          <p:cNvSpPr/>
          <p:nvPr/>
        </p:nvSpPr>
        <p:spPr>
          <a:xfrm rot="19800000">
            <a:off x="1538682" y="2267302"/>
            <a:ext cx="1846795" cy="239919"/>
          </a:xfrm>
          <a:prstGeom prst="homePlate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923AF2A-74B4-4FF7-8016-5E26D3AB3977}"/>
              </a:ext>
            </a:extLst>
          </p:cNvPr>
          <p:cNvSpPr txBox="1"/>
          <p:nvPr/>
        </p:nvSpPr>
        <p:spPr>
          <a:xfrm>
            <a:off x="10059158" y="1440272"/>
            <a:ext cx="116212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it-IT" sz="1200"/>
              <a:t>APP Hera 2G inclusa per forniture EE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A0FE3D4-AD3C-487E-9894-5C78B2A978F3}"/>
              </a:ext>
            </a:extLst>
          </p:cNvPr>
          <p:cNvSpPr txBox="1"/>
          <p:nvPr/>
        </p:nvSpPr>
        <p:spPr>
          <a:xfrm>
            <a:off x="8179687" y="3149603"/>
            <a:ext cx="116212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it-IT" sz="1200"/>
              <a:t>APP Hera 2G inclusa per forniture EE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B08318A-33CB-4272-B541-B31AF67E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850" y="5607050"/>
            <a:ext cx="2743200" cy="365125"/>
          </a:xfrm>
        </p:spPr>
        <p:txBody>
          <a:bodyPr/>
          <a:lstStyle/>
          <a:p>
            <a:fld id="{3A8CC645-2D93-4C25-B542-E00717E6C9D2}" type="slidenum">
              <a:rPr lang="it-IT" smtClean="0"/>
              <a:t>28</a:t>
            </a:fld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80BCE3A-5425-4030-AE57-29DCEFD55B63}"/>
              </a:ext>
            </a:extLst>
          </p:cNvPr>
          <p:cNvSpPr txBox="1"/>
          <p:nvPr/>
        </p:nvSpPr>
        <p:spPr>
          <a:xfrm>
            <a:off x="385098" y="210951"/>
            <a:ext cx="8985405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>
            <a:noAutofit/>
          </a:bodyPr>
          <a:lstStyle>
            <a:lvl1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rgbClr val="054977"/>
                </a:solidFill>
                <a:latin typeface="Arial" panose="020B0604020202020204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r>
              <a:rPr lang="it-IT" dirty="0"/>
              <a:t>Offerte Indicizzate – LAVORO</a:t>
            </a:r>
            <a:endParaRPr lang="it-IT" strike="sngStrike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B146C14-81E0-46FD-9FEB-93D57D157517}"/>
              </a:ext>
            </a:extLst>
          </p:cNvPr>
          <p:cNvSpPr txBox="1"/>
          <p:nvPr/>
        </p:nvSpPr>
        <p:spPr>
          <a:xfrm>
            <a:off x="6925113" y="2182758"/>
            <a:ext cx="4996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>
                <a:solidFill>
                  <a:srgbClr val="FF0000"/>
                </a:solidFill>
              </a:rPr>
              <a:t>Nota: APP scaricabile solo da partite IVA e professionisti (tipo cliente «Z002»)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7E9CB61-76C7-4CD2-8667-9C42E2CF559E}"/>
              </a:ext>
            </a:extLst>
          </p:cNvPr>
          <p:cNvSpPr txBox="1"/>
          <p:nvPr/>
        </p:nvSpPr>
        <p:spPr>
          <a:xfrm>
            <a:off x="6415274" y="3795934"/>
            <a:ext cx="4996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>
                <a:solidFill>
                  <a:srgbClr val="FF0000"/>
                </a:solidFill>
              </a:rPr>
              <a:t>Nota: APP scaricabile solo da partite IVA e professionisti (tipo cliente «Z002»)</a:t>
            </a:r>
          </a:p>
        </p:txBody>
      </p:sp>
    </p:spTree>
    <p:extLst>
      <p:ext uri="{BB962C8B-B14F-4D97-AF65-F5344CB8AC3E}">
        <p14:creationId xmlns:p14="http://schemas.microsoft.com/office/powerpoint/2010/main" val="1435641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tangolo 41">
            <a:extLst>
              <a:ext uri="{FF2B5EF4-FFF2-40B4-BE49-F238E27FC236}">
                <a16:creationId xmlns:a16="http://schemas.microsoft.com/office/drawing/2014/main" id="{7CCD3268-925D-4A16-86FA-F0206FE51E5A}"/>
              </a:ext>
            </a:extLst>
          </p:cNvPr>
          <p:cNvSpPr/>
          <p:nvPr/>
        </p:nvSpPr>
        <p:spPr>
          <a:xfrm>
            <a:off x="3714880" y="1383919"/>
            <a:ext cx="797447" cy="1526014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AA9CAE9F-E35A-4E9B-B166-447F5B4668EE}"/>
              </a:ext>
            </a:extLst>
          </p:cNvPr>
          <p:cNvGraphicFramePr>
            <a:graphicFrameLocks noGrp="1"/>
          </p:cNvGraphicFramePr>
          <p:nvPr/>
        </p:nvGraphicFramePr>
        <p:xfrm>
          <a:off x="644768" y="1435090"/>
          <a:ext cx="3960583" cy="1474843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437418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70587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52578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</a:tblGrid>
              <a:tr h="28234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 IS</a:t>
                      </a:r>
                      <a:endParaRPr lang="it-IT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31581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PUN Orario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219171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CONTRIBUTO SUI CONSUMI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0,0159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012194318"/>
                  </a:ext>
                </a:extLst>
              </a:tr>
              <a:tr h="21917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174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951067429"/>
                  </a:ext>
                </a:extLst>
              </a:tr>
              <a:tr h="219171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SBILANCIAMENTO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0,006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  <a:tr h="21917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CORRISPETTIVO INTEGRAZIONE M.C.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0,003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9188674"/>
                  </a:ext>
                </a:extLst>
              </a:tr>
            </a:tbl>
          </a:graphicData>
        </a:graphic>
      </p:graphicFrame>
      <p:sp>
        <p:nvSpPr>
          <p:cNvPr id="9" name="Rettangolo 8">
            <a:extLst>
              <a:ext uri="{FF2B5EF4-FFF2-40B4-BE49-F238E27FC236}">
                <a16:creationId xmlns:a16="http://schemas.microsoft.com/office/drawing/2014/main" id="{CCA188A6-657E-4A18-A55D-CEE3C38553EF}"/>
              </a:ext>
            </a:extLst>
          </p:cNvPr>
          <p:cNvSpPr/>
          <p:nvPr/>
        </p:nvSpPr>
        <p:spPr>
          <a:xfrm>
            <a:off x="3666664" y="4212463"/>
            <a:ext cx="797447" cy="1526014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52B07214-0B0B-4355-B24B-C7B11469163C}"/>
              </a:ext>
            </a:extLst>
          </p:cNvPr>
          <p:cNvSpPr txBox="1"/>
          <p:nvPr/>
        </p:nvSpPr>
        <p:spPr>
          <a:xfrm>
            <a:off x="641800" y="1166558"/>
            <a:ext cx="4751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PIU’CONTROLLO ACTIVE LAVORO LUCE</a:t>
            </a:r>
          </a:p>
        </p:txBody>
      </p:sp>
      <p:graphicFrame>
        <p:nvGraphicFramePr>
          <p:cNvPr id="28" name="Tabella 27">
            <a:extLst>
              <a:ext uri="{FF2B5EF4-FFF2-40B4-BE49-F238E27FC236}">
                <a16:creationId xmlns:a16="http://schemas.microsoft.com/office/drawing/2014/main" id="{9F30E9C2-A1A5-4335-B6CC-A161DA6BBE3A}"/>
              </a:ext>
            </a:extLst>
          </p:cNvPr>
          <p:cNvGraphicFramePr>
            <a:graphicFrameLocks noGrp="1"/>
          </p:cNvGraphicFramePr>
          <p:nvPr/>
        </p:nvGraphicFramePr>
        <p:xfrm>
          <a:off x="641802" y="4266744"/>
          <a:ext cx="3829355" cy="1471733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356657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51681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21017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</a:tblGrid>
              <a:tr h="263476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 IS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319989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PUN Orario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CONTRIBUTO SUI CONSUMI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0,0139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174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199126488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SBILANCIAMENTO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9188674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CORRISPETTIVO INTEGRAZIONE M.C.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sngStrike" dirty="0">
                          <a:solidFill>
                            <a:srgbClr val="000000"/>
                          </a:solidFill>
                          <a:effectLst/>
                        </a:rPr>
                        <a:t>0,003</a:t>
                      </a:r>
                      <a:endParaRPr lang="it-IT" sz="10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83756864"/>
                  </a:ext>
                </a:extLst>
              </a:tr>
            </a:tbl>
          </a:graphicData>
        </a:graphic>
      </p:graphicFrame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05D18F7-9EEA-47E1-ADAB-792776DFF6B5}"/>
              </a:ext>
            </a:extLst>
          </p:cNvPr>
          <p:cNvSpPr txBox="1"/>
          <p:nvPr/>
        </p:nvSpPr>
        <p:spPr>
          <a:xfrm>
            <a:off x="641800" y="3918741"/>
            <a:ext cx="3935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PIU’CONTROLLO SPECIAL ACTIVE LAVORO LUCE</a:t>
            </a:r>
          </a:p>
        </p:txBody>
      </p: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88E9ECF2-7741-40D8-9B7D-DB96E996171D}"/>
              </a:ext>
            </a:extLst>
          </p:cNvPr>
          <p:cNvCxnSpPr>
            <a:cxnSpLocks/>
          </p:cNvCxnSpPr>
          <p:nvPr/>
        </p:nvCxnSpPr>
        <p:spPr>
          <a:xfrm flipV="1">
            <a:off x="479947" y="3423441"/>
            <a:ext cx="11232107" cy="5257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itolo 1">
            <a:extLst>
              <a:ext uri="{FF2B5EF4-FFF2-40B4-BE49-F238E27FC236}">
                <a16:creationId xmlns:a16="http://schemas.microsoft.com/office/drawing/2014/main" id="{DFE9773A-B413-403C-B410-2970FCE5C04D}"/>
              </a:ext>
            </a:extLst>
          </p:cNvPr>
          <p:cNvSpPr txBox="1">
            <a:spLocks/>
          </p:cNvSpPr>
          <p:nvPr/>
        </p:nvSpPr>
        <p:spPr>
          <a:xfrm>
            <a:off x="159318" y="64982"/>
            <a:ext cx="47925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it-IT" sz="1800" b="1" kern="1200">
                <a:solidFill>
                  <a:srgbClr val="054977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>
                <a:solidFill>
                  <a:srgbClr val="000000"/>
                </a:solidFill>
                <a:latin typeface="+mn-lt"/>
              </a:rPr>
              <a:t>Indicizzate LAVORO EE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F239D3DE-D342-FE45-869A-12D0BF2D646A}"/>
              </a:ext>
            </a:extLst>
          </p:cNvPr>
          <p:cNvCxnSpPr>
            <a:cxnSpLocks/>
          </p:cNvCxnSpPr>
          <p:nvPr/>
        </p:nvCxnSpPr>
        <p:spPr>
          <a:xfrm flipV="1">
            <a:off x="479947" y="992366"/>
            <a:ext cx="11232107" cy="5257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8FA80235-7807-653D-B660-A376AC1167D5}"/>
              </a:ext>
            </a:extLst>
          </p:cNvPr>
          <p:cNvSpPr/>
          <p:nvPr/>
        </p:nvSpPr>
        <p:spPr>
          <a:xfrm>
            <a:off x="9240440" y="4130726"/>
            <a:ext cx="797447" cy="1693800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75AF774-220D-02D1-7997-1A09EF5D7750}"/>
              </a:ext>
            </a:extLst>
          </p:cNvPr>
          <p:cNvGraphicFramePr>
            <a:graphicFrameLocks noGrp="1"/>
          </p:cNvGraphicFramePr>
          <p:nvPr/>
        </p:nvGraphicFramePr>
        <p:xfrm>
          <a:off x="6206704" y="4132971"/>
          <a:ext cx="3945226" cy="1693800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427966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68374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48886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</a:tblGrid>
              <a:tr h="263476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6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 IS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319989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Indice PUN mensile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168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CONTRIBUTO SUI CONSUMI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€/kWh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0,0115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99126488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SCONTO CONTRIBUTO 4 MESI AL 50%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0,00575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9188674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SBILANCIAMENTO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€/kWh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83756864"/>
                  </a:ext>
                </a:extLst>
              </a:tr>
              <a:tr h="22206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CORRISPETTIVO INTEGRAZIONE M.C.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0,003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8142867"/>
                  </a:ext>
                </a:extLst>
              </a:tr>
            </a:tbl>
          </a:graphicData>
        </a:graphic>
      </p:graphicFrame>
      <p:sp>
        <p:nvSpPr>
          <p:cNvPr id="7" name="Rettangolo 6">
            <a:extLst>
              <a:ext uri="{FF2B5EF4-FFF2-40B4-BE49-F238E27FC236}">
                <a16:creationId xmlns:a16="http://schemas.microsoft.com/office/drawing/2014/main" id="{232A29BF-5DCD-B42F-2D58-87D325303A69}"/>
              </a:ext>
            </a:extLst>
          </p:cNvPr>
          <p:cNvSpPr/>
          <p:nvPr/>
        </p:nvSpPr>
        <p:spPr>
          <a:xfrm>
            <a:off x="9232299" y="1599111"/>
            <a:ext cx="797447" cy="1474843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41008C3E-C546-9DA2-D14C-479D70407611}"/>
              </a:ext>
            </a:extLst>
          </p:cNvPr>
          <p:cNvGraphicFramePr>
            <a:graphicFrameLocks noGrp="1"/>
          </p:cNvGraphicFramePr>
          <p:nvPr/>
        </p:nvGraphicFramePr>
        <p:xfrm>
          <a:off x="6187654" y="1602370"/>
          <a:ext cx="3960583" cy="1474843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437417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70587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52579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</a:tblGrid>
              <a:tr h="28234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it-IT" sz="1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 IS</a:t>
                      </a:r>
                      <a:endParaRPr lang="it-IT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70281"/>
                  </a:ext>
                </a:extLst>
              </a:tr>
              <a:tr h="31581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Indice PUN mensile</a:t>
                      </a:r>
                    </a:p>
                  </a:txBody>
                  <a:tcPr marL="5447" marR="5447" marT="5447" marB="0" anchor="ctr"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219171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CONTRIBUTO SUI CONSUMI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0,0184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012194318"/>
                  </a:ext>
                </a:extLst>
              </a:tr>
              <a:tr h="219171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174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951067429"/>
                  </a:ext>
                </a:extLst>
              </a:tr>
              <a:tr h="219171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SBILANCIAMENTO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  <a:tr h="21917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CORRISPETTIVO INTEGRAZIONE M.C.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€/kWh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0,003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9188674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254A36D-8580-D3B8-B64E-BCF266387C12}"/>
              </a:ext>
            </a:extLst>
          </p:cNvPr>
          <p:cNvSpPr txBox="1"/>
          <p:nvPr/>
        </p:nvSpPr>
        <p:spPr>
          <a:xfrm>
            <a:off x="6230387" y="3932587"/>
            <a:ext cx="3037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/>
              <a:t>PREZZO NETTO IMPRESA LUCE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3BE8E38-1611-1E98-96CD-D0C570065EB1}"/>
              </a:ext>
            </a:extLst>
          </p:cNvPr>
          <p:cNvSpPr txBox="1"/>
          <p:nvPr/>
        </p:nvSpPr>
        <p:spPr>
          <a:xfrm>
            <a:off x="6187654" y="1164340"/>
            <a:ext cx="5743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PREZZO NETTO CONDOMINIO/ PREZZO NETTO CONDOMINIO+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27B43DB-E2A6-26C7-E2FD-0450D3298335}"/>
              </a:ext>
            </a:extLst>
          </p:cNvPr>
          <p:cNvSpPr/>
          <p:nvPr/>
        </p:nvSpPr>
        <p:spPr>
          <a:xfrm>
            <a:off x="2261624" y="5824526"/>
            <a:ext cx="313055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/>
              <a:t>scontato del 100% per il primi 24 mesi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B038448B-88FD-0C99-D5A4-CD6AC1B90AF5}"/>
              </a:ext>
            </a:extLst>
          </p:cNvPr>
          <p:cNvSpPr/>
          <p:nvPr/>
        </p:nvSpPr>
        <p:spPr>
          <a:xfrm>
            <a:off x="641800" y="6221427"/>
            <a:ext cx="313055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bg1"/>
                </a:solidFill>
              </a:rPr>
              <a:t>Promo WEB: 100€ in 2 anni in quote mensili per chi sottoscrive in Self (anziché con call back)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B596CB6-02C1-9742-6861-187A4756356C}"/>
              </a:ext>
            </a:extLst>
          </p:cNvPr>
          <p:cNvSpPr txBox="1"/>
          <p:nvPr/>
        </p:nvSpPr>
        <p:spPr>
          <a:xfrm>
            <a:off x="368217" y="2973714"/>
            <a:ext cx="286474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Promo </a:t>
            </a:r>
            <a:r>
              <a:rPr lang="it-IT" sz="1050" dirty="0" err="1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 back per specifiche campagne TLS e Web fino al 31.12</a:t>
            </a: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4124247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tangolo 25">
            <a:extLst>
              <a:ext uri="{FF2B5EF4-FFF2-40B4-BE49-F238E27FC236}">
                <a16:creationId xmlns:a16="http://schemas.microsoft.com/office/drawing/2014/main" id="{E0BB6A8F-CF5E-4613-ABC5-8A37A02230B1}"/>
              </a:ext>
            </a:extLst>
          </p:cNvPr>
          <p:cNvSpPr/>
          <p:nvPr/>
        </p:nvSpPr>
        <p:spPr>
          <a:xfrm>
            <a:off x="4965764" y="4142509"/>
            <a:ext cx="797447" cy="1463705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27" name="Tabella 26">
            <a:extLst>
              <a:ext uri="{FF2B5EF4-FFF2-40B4-BE49-F238E27FC236}">
                <a16:creationId xmlns:a16="http://schemas.microsoft.com/office/drawing/2014/main" id="{02816D7C-1826-45A3-84BE-2B1122187662}"/>
              </a:ext>
            </a:extLst>
          </p:cNvPr>
          <p:cNvGraphicFramePr>
            <a:graphicFrameLocks noGrp="1"/>
          </p:cNvGraphicFramePr>
          <p:nvPr/>
        </p:nvGraphicFramePr>
        <p:xfrm>
          <a:off x="1921119" y="4353863"/>
          <a:ext cx="3951963" cy="1241179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432112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69345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50506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</a:tblGrid>
              <a:tr h="40272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PSV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279484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CONTRIBUTO SUI CONSUMI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0,115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012194318"/>
                  </a:ext>
                </a:extLst>
              </a:tr>
              <a:tr h="279484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174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951067429"/>
                  </a:ext>
                </a:extLst>
              </a:tr>
              <a:tr h="279484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COMMERCIALIZZ. AL DETTAGLIO (VARIABILE)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0,04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</a:tbl>
          </a:graphicData>
        </a:graphic>
      </p:graphicFrame>
      <p:sp>
        <p:nvSpPr>
          <p:cNvPr id="48" name="Rettangolo 47">
            <a:extLst>
              <a:ext uri="{FF2B5EF4-FFF2-40B4-BE49-F238E27FC236}">
                <a16:creationId xmlns:a16="http://schemas.microsoft.com/office/drawing/2014/main" id="{931F4C2D-235F-4039-BDF6-55E9EB7B773E}"/>
              </a:ext>
            </a:extLst>
          </p:cNvPr>
          <p:cNvSpPr/>
          <p:nvPr/>
        </p:nvSpPr>
        <p:spPr>
          <a:xfrm>
            <a:off x="4965764" y="1544085"/>
            <a:ext cx="797447" cy="1479683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50" name="Tabella 49">
            <a:extLst>
              <a:ext uri="{FF2B5EF4-FFF2-40B4-BE49-F238E27FC236}">
                <a16:creationId xmlns:a16="http://schemas.microsoft.com/office/drawing/2014/main" id="{5B0794C4-F386-48D3-BBEB-3E6D011DC485}"/>
              </a:ext>
            </a:extLst>
          </p:cNvPr>
          <p:cNvGraphicFramePr>
            <a:graphicFrameLocks noGrp="1"/>
          </p:cNvGraphicFramePr>
          <p:nvPr/>
        </p:nvGraphicFramePr>
        <p:xfrm>
          <a:off x="1921119" y="1762273"/>
          <a:ext cx="3887606" cy="1241179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92505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60074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35027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</a:tblGrid>
              <a:tr h="40272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PSV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279484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CONTRIBUTO SUI CONSUMI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0,12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012194318"/>
                  </a:ext>
                </a:extLst>
              </a:tr>
              <a:tr h="279484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174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951067429"/>
                  </a:ext>
                </a:extLst>
              </a:tr>
              <a:tr h="279484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COMMERCIALIZZ. AL DETTAGLIO (VARIABILE)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0,04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</a:tbl>
          </a:graphicData>
        </a:graphic>
      </p:graphicFrame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C3458925-7683-4E4F-9F24-15623922ACC7}"/>
              </a:ext>
            </a:extLst>
          </p:cNvPr>
          <p:cNvCxnSpPr>
            <a:cxnSpLocks/>
          </p:cNvCxnSpPr>
          <p:nvPr/>
        </p:nvCxnSpPr>
        <p:spPr>
          <a:xfrm flipV="1">
            <a:off x="479947" y="3423441"/>
            <a:ext cx="11232107" cy="5257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16806932-781C-429C-B5B0-128C60CC6269}"/>
              </a:ext>
            </a:extLst>
          </p:cNvPr>
          <p:cNvSpPr txBox="1"/>
          <p:nvPr/>
        </p:nvSpPr>
        <p:spPr>
          <a:xfrm>
            <a:off x="1941834" y="1212434"/>
            <a:ext cx="410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/>
              <a:t>PIU’CONTROLLO ACTIVE LAVORO GAS</a:t>
            </a:r>
          </a:p>
        </p:txBody>
      </p:sp>
      <p:sp>
        <p:nvSpPr>
          <p:cNvPr id="23" name="Titolo 1">
            <a:extLst>
              <a:ext uri="{FF2B5EF4-FFF2-40B4-BE49-F238E27FC236}">
                <a16:creationId xmlns:a16="http://schemas.microsoft.com/office/drawing/2014/main" id="{FE5AAB53-4B71-48DB-8811-810BBB6AB4B8}"/>
              </a:ext>
            </a:extLst>
          </p:cNvPr>
          <p:cNvSpPr txBox="1">
            <a:spLocks/>
          </p:cNvSpPr>
          <p:nvPr/>
        </p:nvSpPr>
        <p:spPr>
          <a:xfrm>
            <a:off x="159318" y="64982"/>
            <a:ext cx="47925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it-IT" sz="1800" b="1" kern="1200">
                <a:solidFill>
                  <a:srgbClr val="054977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>
                <a:solidFill>
                  <a:srgbClr val="000000"/>
                </a:solidFill>
                <a:latin typeface="+mn-lt"/>
              </a:rPr>
              <a:t>Indicizzate LAVORO GAS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2958EF1-855A-4765-A3AC-8BB374628FA1}"/>
              </a:ext>
            </a:extLst>
          </p:cNvPr>
          <p:cNvSpPr txBox="1"/>
          <p:nvPr/>
        </p:nvSpPr>
        <p:spPr>
          <a:xfrm>
            <a:off x="1941834" y="3784974"/>
            <a:ext cx="410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/>
              <a:t>PIU’CONTROLLO SPECIAL ACTIVE LAVORO GAS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1E31875B-7FE1-4517-B1AD-4758B80D0F65}"/>
              </a:ext>
            </a:extLst>
          </p:cNvPr>
          <p:cNvSpPr txBox="1"/>
          <p:nvPr/>
        </p:nvSpPr>
        <p:spPr>
          <a:xfrm>
            <a:off x="5101768" y="4127755"/>
            <a:ext cx="5254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dirty="0">
                <a:solidFill>
                  <a:srgbClr val="000000"/>
                </a:solidFill>
              </a:rPr>
              <a:t>AS IS</a:t>
            </a:r>
            <a:endParaRPr lang="it-IT" sz="9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776CF293-11FA-41AA-A448-97AFFB536D27}"/>
              </a:ext>
            </a:extLst>
          </p:cNvPr>
          <p:cNvCxnSpPr>
            <a:cxnSpLocks/>
          </p:cNvCxnSpPr>
          <p:nvPr/>
        </p:nvCxnSpPr>
        <p:spPr>
          <a:xfrm>
            <a:off x="6823588" y="2147101"/>
            <a:ext cx="28620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Connettore a gomito 43">
            <a:extLst>
              <a:ext uri="{FF2B5EF4-FFF2-40B4-BE49-F238E27FC236}">
                <a16:creationId xmlns:a16="http://schemas.microsoft.com/office/drawing/2014/main" id="{2EFAF1FF-BC0B-41A0-85A8-E0B53F0ECC2B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5873082" y="2717800"/>
            <a:ext cx="3812518" cy="22566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104FAE5-8FAC-40F9-9568-B8B49390B737}"/>
              </a:ext>
            </a:extLst>
          </p:cNvPr>
          <p:cNvSpPr txBox="1"/>
          <p:nvPr/>
        </p:nvSpPr>
        <p:spPr>
          <a:xfrm>
            <a:off x="9765437" y="809427"/>
            <a:ext cx="1984661" cy="28931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400" b="1" err="1">
                <a:effectLst/>
                <a:ea typeface="Calibri" panose="020F0502020204030204" pitchFamily="34" charset="0"/>
              </a:rPr>
              <a:t>PSV_DA</a:t>
            </a:r>
            <a:r>
              <a:rPr lang="it-IT" sz="1400" b="1" baseline="-25000" err="1">
                <a:effectLst/>
                <a:ea typeface="Calibri" panose="020F0502020204030204" pitchFamily="34" charset="0"/>
              </a:rPr>
              <a:t>m</a:t>
            </a:r>
            <a:r>
              <a:rPr lang="it-IT" sz="1400" b="1">
                <a:effectLst/>
                <a:ea typeface="Calibri" panose="020F0502020204030204" pitchFamily="34" charset="0"/>
              </a:rPr>
              <a:t> </a:t>
            </a:r>
            <a:r>
              <a:rPr lang="it-IT" sz="1400">
                <a:effectLst/>
                <a:ea typeface="Calibri" panose="020F0502020204030204" pitchFamily="34" charset="0"/>
              </a:rPr>
              <a:t>è calcolato per ogni mese, come media aritmetica dei prezzi </a:t>
            </a:r>
            <a:r>
              <a:rPr lang="it-IT" sz="1400" err="1">
                <a:effectLst/>
                <a:ea typeface="Calibri" panose="020F0502020204030204" pitchFamily="34" charset="0"/>
              </a:rPr>
              <a:t>offer</a:t>
            </a:r>
            <a:r>
              <a:rPr lang="it-IT" sz="1400">
                <a:effectLst/>
                <a:ea typeface="Calibri" panose="020F0502020204030204" pitchFamily="34" charset="0"/>
              </a:rPr>
              <a:t> “Day-</a:t>
            </a:r>
            <a:r>
              <a:rPr lang="it-IT" sz="1400" err="1">
                <a:effectLst/>
                <a:ea typeface="Calibri" panose="020F0502020204030204" pitchFamily="34" charset="0"/>
              </a:rPr>
              <a:t>Ahead</a:t>
            </a:r>
            <a:r>
              <a:rPr lang="it-IT" sz="1400">
                <a:effectLst/>
                <a:ea typeface="Calibri" panose="020F0502020204030204" pitchFamily="34" charset="0"/>
              </a:rPr>
              <a:t>”, espressi in €/MWh,  pubblicati da ICIS </a:t>
            </a:r>
            <a:r>
              <a:rPr lang="it-IT" sz="1400" err="1">
                <a:effectLst/>
                <a:ea typeface="Calibri" panose="020F0502020204030204" pitchFamily="34" charset="0"/>
              </a:rPr>
              <a:t>Heren</a:t>
            </a:r>
            <a:r>
              <a:rPr lang="it-IT" sz="1400">
                <a:effectLst/>
                <a:ea typeface="Calibri" panose="020F0502020204030204" pitchFamily="34" charset="0"/>
              </a:rPr>
              <a:t> nel report ESGM (</a:t>
            </a:r>
            <a:r>
              <a:rPr lang="it-IT" sz="1400" err="1">
                <a:effectLst/>
                <a:ea typeface="Calibri" panose="020F0502020204030204" pitchFamily="34" charset="0"/>
              </a:rPr>
              <a:t>European</a:t>
            </a:r>
            <a:r>
              <a:rPr lang="it-IT" sz="1400">
                <a:effectLst/>
                <a:ea typeface="Calibri" panose="020F0502020204030204" pitchFamily="34" charset="0"/>
              </a:rPr>
              <a:t> Spot Gas Markets) all’interno della sezione “PSV Price </a:t>
            </a:r>
            <a:r>
              <a:rPr lang="it-IT" sz="1400" err="1">
                <a:effectLst/>
                <a:ea typeface="Calibri" panose="020F0502020204030204" pitchFamily="34" charset="0"/>
              </a:rPr>
              <a:t>Assessment</a:t>
            </a:r>
            <a:r>
              <a:rPr lang="it-IT" sz="1400">
                <a:effectLst/>
                <a:ea typeface="Calibri" panose="020F0502020204030204" pitchFamily="34" charset="0"/>
              </a:rPr>
              <a:t>”, nel giorno lavorativo antecedente il giorno di riferimento.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7FF00A5-4C24-E58F-FD8B-CF5AE99E992E}"/>
              </a:ext>
            </a:extLst>
          </p:cNvPr>
          <p:cNvSpPr/>
          <p:nvPr/>
        </p:nvSpPr>
        <p:spPr>
          <a:xfrm>
            <a:off x="1941834" y="5788307"/>
            <a:ext cx="313055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bg1"/>
                </a:solidFill>
              </a:rPr>
              <a:t>Promo WEB: 100€ in 2 anni in quote mensili per chi sottoscrive in Self (anziché con call back)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6712E1-3ADE-5873-C30C-C3C64EEB34BA}"/>
              </a:ext>
            </a:extLst>
          </p:cNvPr>
          <p:cNvSpPr txBox="1"/>
          <p:nvPr/>
        </p:nvSpPr>
        <p:spPr>
          <a:xfrm>
            <a:off x="5072384" y="1537965"/>
            <a:ext cx="5254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dirty="0">
                <a:solidFill>
                  <a:srgbClr val="000000"/>
                </a:solidFill>
              </a:rPr>
              <a:t>AS IS</a:t>
            </a:r>
            <a:endParaRPr lang="it-IT" sz="9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960DF5C-1296-371B-6544-3D374E183694}"/>
              </a:ext>
            </a:extLst>
          </p:cNvPr>
          <p:cNvSpPr txBox="1"/>
          <p:nvPr/>
        </p:nvSpPr>
        <p:spPr>
          <a:xfrm>
            <a:off x="509462" y="3037765"/>
            <a:ext cx="286474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Promo </a:t>
            </a:r>
            <a:r>
              <a:rPr lang="it-IT" sz="1050" dirty="0" err="1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 back per specifiche campagne TLS e Web fino al 31.12</a:t>
            </a: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33551416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tangolo 55">
            <a:extLst>
              <a:ext uri="{FF2B5EF4-FFF2-40B4-BE49-F238E27FC236}">
                <a16:creationId xmlns:a16="http://schemas.microsoft.com/office/drawing/2014/main" id="{10114C88-70A3-4B20-A3A7-D7FBF17ADC7C}"/>
              </a:ext>
            </a:extLst>
          </p:cNvPr>
          <p:cNvSpPr/>
          <p:nvPr/>
        </p:nvSpPr>
        <p:spPr>
          <a:xfrm>
            <a:off x="6164737" y="1758347"/>
            <a:ext cx="797447" cy="1670653"/>
          </a:xfrm>
          <a:prstGeom prst="rect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70" name="Tabella 69">
            <a:extLst>
              <a:ext uri="{FF2B5EF4-FFF2-40B4-BE49-F238E27FC236}">
                <a16:creationId xmlns:a16="http://schemas.microsoft.com/office/drawing/2014/main" id="{52E95542-0805-46B2-9660-7D8BDB8F28BD}"/>
              </a:ext>
            </a:extLst>
          </p:cNvPr>
          <p:cNvGraphicFramePr>
            <a:graphicFrameLocks noGrp="1"/>
          </p:cNvGraphicFramePr>
          <p:nvPr/>
        </p:nvGraphicFramePr>
        <p:xfrm>
          <a:off x="3131002" y="1973505"/>
          <a:ext cx="3951547" cy="1455495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431856">
                  <a:extLst>
                    <a:ext uri="{9D8B030D-6E8A-4147-A177-3AD203B41FA5}">
                      <a16:colId xmlns:a16="http://schemas.microsoft.com/office/drawing/2014/main" val="997307284"/>
                    </a:ext>
                  </a:extLst>
                </a:gridCol>
                <a:gridCol w="569285">
                  <a:extLst>
                    <a:ext uri="{9D8B030D-6E8A-4147-A177-3AD203B41FA5}">
                      <a16:colId xmlns:a16="http://schemas.microsoft.com/office/drawing/2014/main" val="2249430158"/>
                    </a:ext>
                  </a:extLst>
                </a:gridCol>
                <a:gridCol w="950406">
                  <a:extLst>
                    <a:ext uri="{9D8B030D-6E8A-4147-A177-3AD203B41FA5}">
                      <a16:colId xmlns:a16="http://schemas.microsoft.com/office/drawing/2014/main" val="417345533"/>
                    </a:ext>
                  </a:extLst>
                </a:gridCol>
              </a:tblGrid>
              <a:tr h="38546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PREZZO NETTO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PSV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128389017"/>
                  </a:ext>
                </a:extLst>
              </a:tr>
              <a:tr h="26750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COMMERCIALIZZAZIONE AL DETTAGLIO (FISSA)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€/anno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168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2297065228"/>
                  </a:ext>
                </a:extLst>
              </a:tr>
              <a:tr h="26750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CONTRIBUTO SUI CONSUMI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0,085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799188674"/>
                  </a:ext>
                </a:extLst>
              </a:tr>
              <a:tr h="26750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SCONTRO CONTRIBUTO 4 MESI AL 50%</a:t>
                      </a: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€/</a:t>
                      </a:r>
                      <a:r>
                        <a:rPr lang="it-IT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7" marR="5447" marT="544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0,0425</a:t>
                      </a:r>
                    </a:p>
                  </a:txBody>
                  <a:tcPr marL="5447" marR="5447" marT="5447" marB="0" anchor="ctr"/>
                </a:tc>
                <a:extLst>
                  <a:ext uri="{0D108BD9-81ED-4DB2-BD59-A6C34878D82A}">
                    <a16:rowId xmlns:a16="http://schemas.microsoft.com/office/drawing/2014/main" val="1358461882"/>
                  </a:ext>
                </a:extLst>
              </a:tr>
              <a:tr h="267507">
                <a:tc>
                  <a:txBody>
                    <a:bodyPr/>
                    <a:lstStyle/>
                    <a:p>
                      <a:pPr algn="l" rtl="0" fontAlgn="b"/>
                      <a:r>
                        <a:rPr lang="it-IT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COMMERCIALIZZ. AL DETTAGLIO (VARIABILE)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€/</a:t>
                      </a:r>
                      <a:r>
                        <a:rPr lang="it-IT" sz="10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Smc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8142867"/>
                  </a:ext>
                </a:extLst>
              </a:tr>
            </a:tbl>
          </a:graphicData>
        </a:graphic>
      </p:graphicFrame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71805639-C277-487C-B6B6-900A58990FA6}"/>
              </a:ext>
            </a:extLst>
          </p:cNvPr>
          <p:cNvSpPr txBox="1"/>
          <p:nvPr/>
        </p:nvSpPr>
        <p:spPr>
          <a:xfrm>
            <a:off x="3154685" y="1489379"/>
            <a:ext cx="3037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/>
              <a:t>PREZZO NETTO IMPRESA GAS</a:t>
            </a:r>
          </a:p>
        </p:txBody>
      </p:sp>
      <p:sp>
        <p:nvSpPr>
          <p:cNvPr id="43" name="Titolo 1">
            <a:extLst>
              <a:ext uri="{FF2B5EF4-FFF2-40B4-BE49-F238E27FC236}">
                <a16:creationId xmlns:a16="http://schemas.microsoft.com/office/drawing/2014/main" id="{C9906780-7CCE-4D4B-A933-4E439BCB2446}"/>
              </a:ext>
            </a:extLst>
          </p:cNvPr>
          <p:cNvSpPr txBox="1">
            <a:spLocks/>
          </p:cNvSpPr>
          <p:nvPr/>
        </p:nvSpPr>
        <p:spPr>
          <a:xfrm>
            <a:off x="159318" y="64982"/>
            <a:ext cx="47925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it-IT" sz="1800" b="1" kern="1200">
                <a:solidFill>
                  <a:srgbClr val="054977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>
                <a:solidFill>
                  <a:srgbClr val="000000"/>
                </a:solidFill>
                <a:latin typeface="+mn-lt"/>
              </a:rPr>
              <a:t>Indicizzate LAVORO GAS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59BEAC04-D4AA-419E-B5F1-4D2D722CC5EF}"/>
              </a:ext>
            </a:extLst>
          </p:cNvPr>
          <p:cNvSpPr txBox="1"/>
          <p:nvPr/>
        </p:nvSpPr>
        <p:spPr>
          <a:xfrm>
            <a:off x="6962184" y="3861298"/>
            <a:ext cx="4377748" cy="13849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effectLst/>
                <a:ea typeface="Calibri" panose="020F0502020204030204" pitchFamily="34" charset="0"/>
              </a:rPr>
              <a:t>PSV_DA</a:t>
            </a:r>
            <a:r>
              <a:rPr lang="it-IT" sz="1400" b="1" baseline="-25000" dirty="0" err="1">
                <a:effectLst/>
                <a:ea typeface="Calibri" panose="020F0502020204030204" pitchFamily="34" charset="0"/>
              </a:rPr>
              <a:t>m</a:t>
            </a:r>
            <a:r>
              <a:rPr lang="it-IT" sz="1400" b="1" dirty="0">
                <a:effectLst/>
                <a:ea typeface="Calibri" panose="020F0502020204030204" pitchFamily="34" charset="0"/>
              </a:rPr>
              <a:t> </a:t>
            </a:r>
            <a:r>
              <a:rPr lang="it-IT" sz="1400" dirty="0">
                <a:effectLst/>
                <a:ea typeface="Calibri" panose="020F0502020204030204" pitchFamily="34" charset="0"/>
              </a:rPr>
              <a:t>è calcolato per ogni mese, come media aritmetica dei prezzi </a:t>
            </a:r>
            <a:r>
              <a:rPr lang="it-IT" sz="1400" dirty="0" err="1">
                <a:effectLst/>
                <a:ea typeface="Calibri" panose="020F0502020204030204" pitchFamily="34" charset="0"/>
              </a:rPr>
              <a:t>offer</a:t>
            </a:r>
            <a:r>
              <a:rPr lang="it-IT" sz="1400" dirty="0">
                <a:effectLst/>
                <a:ea typeface="Calibri" panose="020F0502020204030204" pitchFamily="34" charset="0"/>
              </a:rPr>
              <a:t> “Day-</a:t>
            </a:r>
            <a:r>
              <a:rPr lang="it-IT" sz="1400" dirty="0" err="1">
                <a:effectLst/>
                <a:ea typeface="Calibri" panose="020F0502020204030204" pitchFamily="34" charset="0"/>
              </a:rPr>
              <a:t>Ahead</a:t>
            </a:r>
            <a:r>
              <a:rPr lang="it-IT" sz="1400" dirty="0">
                <a:effectLst/>
                <a:ea typeface="Calibri" panose="020F0502020204030204" pitchFamily="34" charset="0"/>
              </a:rPr>
              <a:t>”, espressi in €/MWh,  pubblicati da ICIS </a:t>
            </a:r>
            <a:r>
              <a:rPr lang="it-IT" sz="1400" dirty="0" err="1">
                <a:effectLst/>
                <a:ea typeface="Calibri" panose="020F0502020204030204" pitchFamily="34" charset="0"/>
              </a:rPr>
              <a:t>Heren</a:t>
            </a:r>
            <a:r>
              <a:rPr lang="it-IT" sz="1400" dirty="0">
                <a:effectLst/>
                <a:ea typeface="Calibri" panose="020F0502020204030204" pitchFamily="34" charset="0"/>
              </a:rPr>
              <a:t> nel report ESGM (</a:t>
            </a:r>
            <a:r>
              <a:rPr lang="it-IT" sz="1400" dirty="0" err="1">
                <a:effectLst/>
                <a:ea typeface="Calibri" panose="020F0502020204030204" pitchFamily="34" charset="0"/>
              </a:rPr>
              <a:t>European</a:t>
            </a:r>
            <a:r>
              <a:rPr lang="it-IT" sz="1400" dirty="0">
                <a:effectLst/>
                <a:ea typeface="Calibri" panose="020F0502020204030204" pitchFamily="34" charset="0"/>
              </a:rPr>
              <a:t> Spot Gas Markets) all’interno della sezione “PSV Price </a:t>
            </a:r>
            <a:r>
              <a:rPr lang="it-IT" sz="1400" dirty="0" err="1">
                <a:effectLst/>
                <a:ea typeface="Calibri" panose="020F0502020204030204" pitchFamily="34" charset="0"/>
              </a:rPr>
              <a:t>Assessment</a:t>
            </a:r>
            <a:r>
              <a:rPr lang="it-IT" sz="1400" dirty="0">
                <a:effectLst/>
                <a:ea typeface="Calibri" panose="020F0502020204030204" pitchFamily="34" charset="0"/>
              </a:rPr>
              <a:t>”, nel giorno lavorativo antecedente il giorno di riferimento.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9D8D597-1333-4A45-B778-B8AB04E04DA7}"/>
              </a:ext>
            </a:extLst>
          </p:cNvPr>
          <p:cNvSpPr txBox="1"/>
          <p:nvPr/>
        </p:nvSpPr>
        <p:spPr>
          <a:xfrm>
            <a:off x="6300741" y="1748655"/>
            <a:ext cx="5254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dirty="0">
                <a:solidFill>
                  <a:srgbClr val="000000"/>
                </a:solidFill>
              </a:rPr>
              <a:t>AS IS</a:t>
            </a:r>
            <a:endParaRPr lang="it-IT" sz="9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883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705099FB-12B9-413E-8C73-7BDE88BEC98C}"/>
              </a:ext>
            </a:extLst>
          </p:cNvPr>
          <p:cNvSpPr txBox="1">
            <a:spLocks/>
          </p:cNvSpPr>
          <p:nvPr/>
        </p:nvSpPr>
        <p:spPr>
          <a:xfrm>
            <a:off x="1171431" y="1482253"/>
            <a:ext cx="6483133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Posizione nel portafoglio clienti domestici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8AA5277-54D1-4715-A11E-429E7A3C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C645-2D93-4C25-B542-E00717E6C9D2}" type="slidenum">
              <a:rPr lang="it-IT" smtClean="0"/>
              <a:t>32</a:t>
            </a:fld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96D4959-A4FD-4AC3-B320-896208B9E8C9}"/>
              </a:ext>
            </a:extLst>
          </p:cNvPr>
          <p:cNvSpPr txBox="1"/>
          <p:nvPr/>
        </p:nvSpPr>
        <p:spPr>
          <a:xfrm>
            <a:off x="385098" y="210951"/>
            <a:ext cx="8542371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>
            <a:noAutofit/>
          </a:bodyPr>
          <a:lstStyle>
            <a:lvl1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rgbClr val="054977"/>
                </a:solidFill>
                <a:latin typeface="Arial" panose="020B0604020202020204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r>
              <a:rPr lang="it-IT" dirty="0"/>
              <a:t>Offerte Placet – CASA – validità dal 17/09/2026 al 04/11/2026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227A5C2D-D3A5-3132-B84E-08CE3FEBC8A3}"/>
              </a:ext>
            </a:extLst>
          </p:cNvPr>
          <p:cNvSpPr/>
          <p:nvPr/>
        </p:nvSpPr>
        <p:spPr>
          <a:xfrm>
            <a:off x="312425" y="658706"/>
            <a:ext cx="11688532" cy="14047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endParaRPr lang="it-IT" dirty="0">
              <a:solidFill>
                <a:schemeClr val="bg1"/>
              </a:solidFill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3F1FF720-2454-4744-03FA-F86A10CEC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440372"/>
              </p:ext>
            </p:extLst>
          </p:nvPr>
        </p:nvGraphicFramePr>
        <p:xfrm>
          <a:off x="1205282" y="2368296"/>
          <a:ext cx="7035892" cy="1557120"/>
        </p:xfrm>
        <a:graphic>
          <a:graphicData uri="http://schemas.openxmlformats.org/drawingml/2006/table">
            <a:tbl>
              <a:tblPr/>
              <a:tblGrid>
                <a:gridCol w="3187036">
                  <a:extLst>
                    <a:ext uri="{9D8B030D-6E8A-4147-A177-3AD203B41FA5}">
                      <a16:colId xmlns:a16="http://schemas.microsoft.com/office/drawing/2014/main" val="3432348299"/>
                    </a:ext>
                  </a:extLst>
                </a:gridCol>
                <a:gridCol w="1155470">
                  <a:extLst>
                    <a:ext uri="{9D8B030D-6E8A-4147-A177-3AD203B41FA5}">
                      <a16:colId xmlns:a16="http://schemas.microsoft.com/office/drawing/2014/main" val="1631567408"/>
                    </a:ext>
                  </a:extLst>
                </a:gridCol>
                <a:gridCol w="1090374">
                  <a:extLst>
                    <a:ext uri="{9D8B030D-6E8A-4147-A177-3AD203B41FA5}">
                      <a16:colId xmlns:a16="http://schemas.microsoft.com/office/drawing/2014/main" val="3093303005"/>
                    </a:ext>
                  </a:extLst>
                </a:gridCol>
                <a:gridCol w="960180">
                  <a:extLst>
                    <a:ext uri="{9D8B030D-6E8A-4147-A177-3AD203B41FA5}">
                      <a16:colId xmlns:a16="http://schemas.microsoft.com/office/drawing/2014/main" val="2786017170"/>
                    </a:ext>
                  </a:extLst>
                </a:gridCol>
                <a:gridCol w="642832">
                  <a:extLst>
                    <a:ext uri="{9D8B030D-6E8A-4147-A177-3AD203B41FA5}">
                      <a16:colId xmlns:a16="http://schemas.microsoft.com/office/drawing/2014/main" val="3204441466"/>
                    </a:ext>
                  </a:extLst>
                </a:gridCol>
              </a:tblGrid>
              <a:tr h="103632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effectLst/>
                          <a:latin typeface="Arial" panose="020B0604020202020204" pitchFamily="34" charset="0"/>
                        </a:rPr>
                        <a:t>nuova versione (V62)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versione attuale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8078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(c€/</a:t>
                      </a:r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Smc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(c€/</a:t>
                      </a:r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Smc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12743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Placet HC Domestica fissa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95,0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144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932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48987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effectLst/>
                          <a:latin typeface="Arial" panose="020B0604020202020204" pitchFamily="34" charset="0"/>
                        </a:rPr>
                        <a:t>nuova versione (V62)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versione attuale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08271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alfa (c€/</a:t>
                      </a:r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Smc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alfa (c€/</a:t>
                      </a:r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Smc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8634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Placet HC Domestica variabile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25,00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144,0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59630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A9E43BCB-8385-62B0-3AAA-107490288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53375"/>
              </p:ext>
            </p:extLst>
          </p:nvPr>
        </p:nvGraphicFramePr>
        <p:xfrm>
          <a:off x="1205282" y="4299301"/>
          <a:ext cx="10519872" cy="670560"/>
        </p:xfrm>
        <a:graphic>
          <a:graphicData uri="http://schemas.openxmlformats.org/drawingml/2006/table">
            <a:tbl>
              <a:tblPr/>
              <a:tblGrid>
                <a:gridCol w="3263891">
                  <a:extLst>
                    <a:ext uri="{9D8B030D-6E8A-4147-A177-3AD203B41FA5}">
                      <a16:colId xmlns:a16="http://schemas.microsoft.com/office/drawing/2014/main" val="3944341545"/>
                    </a:ext>
                  </a:extLst>
                </a:gridCol>
                <a:gridCol w="1690463">
                  <a:extLst>
                    <a:ext uri="{9D8B030D-6E8A-4147-A177-3AD203B41FA5}">
                      <a16:colId xmlns:a16="http://schemas.microsoft.com/office/drawing/2014/main" val="2350198071"/>
                    </a:ext>
                  </a:extLst>
                </a:gridCol>
                <a:gridCol w="585159">
                  <a:extLst>
                    <a:ext uri="{9D8B030D-6E8A-4147-A177-3AD203B41FA5}">
                      <a16:colId xmlns:a16="http://schemas.microsoft.com/office/drawing/2014/main" val="2723660141"/>
                    </a:ext>
                  </a:extLst>
                </a:gridCol>
                <a:gridCol w="585159">
                  <a:extLst>
                    <a:ext uri="{9D8B030D-6E8A-4147-A177-3AD203B41FA5}">
                      <a16:colId xmlns:a16="http://schemas.microsoft.com/office/drawing/2014/main" val="2640765870"/>
                    </a:ext>
                  </a:extLst>
                </a:gridCol>
                <a:gridCol w="689189">
                  <a:extLst>
                    <a:ext uri="{9D8B030D-6E8A-4147-A177-3AD203B41FA5}">
                      <a16:colId xmlns:a16="http://schemas.microsoft.com/office/drawing/2014/main" val="3977800279"/>
                    </a:ext>
                  </a:extLst>
                </a:gridCol>
                <a:gridCol w="1690463">
                  <a:extLst>
                    <a:ext uri="{9D8B030D-6E8A-4147-A177-3AD203B41FA5}">
                      <a16:colId xmlns:a16="http://schemas.microsoft.com/office/drawing/2014/main" val="681031976"/>
                    </a:ext>
                  </a:extLst>
                </a:gridCol>
                <a:gridCol w="585159">
                  <a:extLst>
                    <a:ext uri="{9D8B030D-6E8A-4147-A177-3AD203B41FA5}">
                      <a16:colId xmlns:a16="http://schemas.microsoft.com/office/drawing/2014/main" val="2693830480"/>
                    </a:ext>
                  </a:extLst>
                </a:gridCol>
                <a:gridCol w="585159">
                  <a:extLst>
                    <a:ext uri="{9D8B030D-6E8A-4147-A177-3AD203B41FA5}">
                      <a16:colId xmlns:a16="http://schemas.microsoft.com/office/drawing/2014/main" val="1115152983"/>
                    </a:ext>
                  </a:extLst>
                </a:gridCol>
                <a:gridCol w="845230">
                  <a:extLst>
                    <a:ext uri="{9D8B030D-6E8A-4147-A177-3AD203B41FA5}">
                      <a16:colId xmlns:a16="http://schemas.microsoft.com/office/drawing/2014/main" val="2177792319"/>
                    </a:ext>
                  </a:extLst>
                </a:gridCol>
              </a:tblGrid>
              <a:tr h="14035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effectLst/>
                          <a:latin typeface="Arial" panose="020B0604020202020204" pitchFamily="34" charset="0"/>
                        </a:rPr>
                        <a:t>nuova versione (V62)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versione attuale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556501"/>
                  </a:ext>
                </a:extLst>
              </a:tr>
              <a:tr h="2807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mono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Pfix F1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F23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mono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F1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Pfix F23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825403"/>
                  </a:ext>
                </a:extLst>
              </a:tr>
              <a:tr h="14035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Placet HC Domestica fissa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                             0,265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 0,300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 0,250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         144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            «»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643526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5AE5F3DB-4F01-B4F4-4C40-0733D9AD0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176951"/>
              </p:ext>
            </p:extLst>
          </p:nvPr>
        </p:nvGraphicFramePr>
        <p:xfrm>
          <a:off x="1205282" y="5276812"/>
          <a:ext cx="6553199" cy="838200"/>
        </p:xfrm>
        <a:graphic>
          <a:graphicData uri="http://schemas.openxmlformats.org/drawingml/2006/table">
            <a:tbl>
              <a:tblPr/>
              <a:tblGrid>
                <a:gridCol w="3554134">
                  <a:extLst>
                    <a:ext uri="{9D8B030D-6E8A-4147-A177-3AD203B41FA5}">
                      <a16:colId xmlns:a16="http://schemas.microsoft.com/office/drawing/2014/main" val="2726880432"/>
                    </a:ext>
                  </a:extLst>
                </a:gridCol>
                <a:gridCol w="1469797">
                  <a:extLst>
                    <a:ext uri="{9D8B030D-6E8A-4147-A177-3AD203B41FA5}">
                      <a16:colId xmlns:a16="http://schemas.microsoft.com/office/drawing/2014/main" val="2700634413"/>
                    </a:ext>
                  </a:extLst>
                </a:gridCol>
                <a:gridCol w="509756">
                  <a:extLst>
                    <a:ext uri="{9D8B030D-6E8A-4147-A177-3AD203B41FA5}">
                      <a16:colId xmlns:a16="http://schemas.microsoft.com/office/drawing/2014/main" val="4068051372"/>
                    </a:ext>
                  </a:extLst>
                </a:gridCol>
                <a:gridCol w="509756">
                  <a:extLst>
                    <a:ext uri="{9D8B030D-6E8A-4147-A177-3AD203B41FA5}">
                      <a16:colId xmlns:a16="http://schemas.microsoft.com/office/drawing/2014/main" val="513764270"/>
                    </a:ext>
                  </a:extLst>
                </a:gridCol>
                <a:gridCol w="509756">
                  <a:extLst>
                    <a:ext uri="{9D8B030D-6E8A-4147-A177-3AD203B41FA5}">
                      <a16:colId xmlns:a16="http://schemas.microsoft.com/office/drawing/2014/main" val="1848999879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effectLst/>
                          <a:latin typeface="Arial" panose="020B0604020202020204" pitchFamily="34" charset="0"/>
                        </a:rPr>
                        <a:t>nuova versione (V62)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versione attuale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5527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alfa (€/kWh)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alfa (€/kWh)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4860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Placet HC Domestica variabile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0,070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144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627116"/>
                  </a:ext>
                </a:extLst>
              </a:tr>
            </a:tbl>
          </a:graphicData>
        </a:graphic>
      </p:graphicFrame>
      <p:sp>
        <p:nvSpPr>
          <p:cNvPr id="15" name="Rettangolo 14">
            <a:extLst>
              <a:ext uri="{FF2B5EF4-FFF2-40B4-BE49-F238E27FC236}">
                <a16:creationId xmlns:a16="http://schemas.microsoft.com/office/drawing/2014/main" id="{87513C1A-BB9D-9F8E-F845-A656E6044DA4}"/>
              </a:ext>
            </a:extLst>
          </p:cNvPr>
          <p:cNvSpPr/>
          <p:nvPr/>
        </p:nvSpPr>
        <p:spPr>
          <a:xfrm>
            <a:off x="385098" y="2314937"/>
            <a:ext cx="494578" cy="1448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gas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96E27F1-9991-E691-FDAA-5669B2A4CF38}"/>
              </a:ext>
            </a:extLst>
          </p:cNvPr>
          <p:cNvSpPr/>
          <p:nvPr/>
        </p:nvSpPr>
        <p:spPr>
          <a:xfrm>
            <a:off x="385098" y="4552359"/>
            <a:ext cx="494578" cy="1448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ele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99813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705099FB-12B9-413E-8C73-7BDE88BEC98C}"/>
              </a:ext>
            </a:extLst>
          </p:cNvPr>
          <p:cNvSpPr txBox="1">
            <a:spLocks/>
          </p:cNvSpPr>
          <p:nvPr/>
        </p:nvSpPr>
        <p:spPr>
          <a:xfrm>
            <a:off x="1171431" y="1482253"/>
            <a:ext cx="6483133" cy="43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662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>
                <a:solidFill>
                  <a:schemeClr val="tx1">
                    <a:lumMod val="85000"/>
                    <a:lumOff val="15000"/>
                  </a:schemeClr>
                </a:solidFill>
              </a:rPr>
              <a:t>Posizione nel portafoglio clienti domestici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8AA5277-54D1-4715-A11E-429E7A3C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C645-2D93-4C25-B542-E00717E6C9D2}" type="slidenum">
              <a:rPr lang="it-IT" smtClean="0"/>
              <a:t>33</a:t>
            </a:fld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96D4959-A4FD-4AC3-B320-896208B9E8C9}"/>
              </a:ext>
            </a:extLst>
          </p:cNvPr>
          <p:cNvSpPr txBox="1"/>
          <p:nvPr/>
        </p:nvSpPr>
        <p:spPr>
          <a:xfrm>
            <a:off x="385098" y="210951"/>
            <a:ext cx="8542371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>
            <a:noAutofit/>
          </a:bodyPr>
          <a:lstStyle>
            <a:lvl1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rgbClr val="054977"/>
                </a:solidFill>
                <a:latin typeface="Arial" panose="020B0604020202020204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r>
              <a:rPr lang="it-IT" dirty="0"/>
              <a:t>Offerte Placet – LAVORO/Condomini – validità dal 17/09/2026 al 04/11/2026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227A5C2D-D3A5-3132-B84E-08CE3FEBC8A3}"/>
              </a:ext>
            </a:extLst>
          </p:cNvPr>
          <p:cNvSpPr/>
          <p:nvPr/>
        </p:nvSpPr>
        <p:spPr>
          <a:xfrm>
            <a:off x="312425" y="658706"/>
            <a:ext cx="11688532" cy="14047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endParaRPr lang="it-IT" dirty="0">
              <a:solidFill>
                <a:schemeClr val="bg1"/>
              </a:solidFill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3F1FF720-2454-4744-03FA-F86A10CEC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722420"/>
              </p:ext>
            </p:extLst>
          </p:nvPr>
        </p:nvGraphicFramePr>
        <p:xfrm>
          <a:off x="1205282" y="2350008"/>
          <a:ext cx="7487305" cy="2395320"/>
        </p:xfrm>
        <a:graphic>
          <a:graphicData uri="http://schemas.openxmlformats.org/drawingml/2006/table">
            <a:tbl>
              <a:tblPr/>
              <a:tblGrid>
                <a:gridCol w="3391511">
                  <a:extLst>
                    <a:ext uri="{9D8B030D-6E8A-4147-A177-3AD203B41FA5}">
                      <a16:colId xmlns:a16="http://schemas.microsoft.com/office/drawing/2014/main" val="3432348299"/>
                    </a:ext>
                  </a:extLst>
                </a:gridCol>
                <a:gridCol w="1229604">
                  <a:extLst>
                    <a:ext uri="{9D8B030D-6E8A-4147-A177-3AD203B41FA5}">
                      <a16:colId xmlns:a16="http://schemas.microsoft.com/office/drawing/2014/main" val="1631567408"/>
                    </a:ext>
                  </a:extLst>
                </a:gridCol>
                <a:gridCol w="1160331">
                  <a:extLst>
                    <a:ext uri="{9D8B030D-6E8A-4147-A177-3AD203B41FA5}">
                      <a16:colId xmlns:a16="http://schemas.microsoft.com/office/drawing/2014/main" val="3093303005"/>
                    </a:ext>
                  </a:extLst>
                </a:gridCol>
                <a:gridCol w="1021784">
                  <a:extLst>
                    <a:ext uri="{9D8B030D-6E8A-4147-A177-3AD203B41FA5}">
                      <a16:colId xmlns:a16="http://schemas.microsoft.com/office/drawing/2014/main" val="2786017170"/>
                    </a:ext>
                  </a:extLst>
                </a:gridCol>
                <a:gridCol w="684075">
                  <a:extLst>
                    <a:ext uri="{9D8B030D-6E8A-4147-A177-3AD203B41FA5}">
                      <a16:colId xmlns:a16="http://schemas.microsoft.com/office/drawing/2014/main" val="3204441466"/>
                    </a:ext>
                  </a:extLst>
                </a:gridCol>
              </a:tblGrid>
              <a:tr h="103632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effectLst/>
                          <a:latin typeface="Arial" panose="020B0604020202020204" pitchFamily="34" charset="0"/>
                        </a:rPr>
                        <a:t>nuova versione (V62)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versione attuale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8078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(c€/</a:t>
                      </a:r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Smc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(c€/</a:t>
                      </a:r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Smc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12743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Placet HC Non Domestica/Condomini fissa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96,0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144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932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48987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effectLst/>
                          <a:latin typeface="Arial" panose="020B0604020202020204" pitchFamily="34" charset="0"/>
                        </a:rPr>
                        <a:t>nuova versione (V62)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versione attuale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08271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alfa (c€/</a:t>
                      </a:r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Smc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alfa (c€/</a:t>
                      </a:r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Smc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8634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Placet HC Non Domestica variabile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27,0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144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5963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67482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effectLst/>
                          <a:latin typeface="Arial" panose="020B0604020202020204" pitchFamily="34" charset="0"/>
                        </a:rPr>
                        <a:t>nuova versione (V62)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versione attuale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4673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alfa (c€/</a:t>
                      </a:r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Smc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alfa (c€/</a:t>
                      </a:r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Smc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968020"/>
                  </a:ext>
                </a:extLst>
              </a:tr>
              <a:tr h="94896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Placet HC Condomini variabile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25,00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144,0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676761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5AE5F3DB-4F01-B4F4-4C40-0733D9AD0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25671"/>
              </p:ext>
            </p:extLst>
          </p:nvPr>
        </p:nvGraphicFramePr>
        <p:xfrm>
          <a:off x="1205282" y="5779732"/>
          <a:ext cx="7174790" cy="670560"/>
        </p:xfrm>
        <a:graphic>
          <a:graphicData uri="http://schemas.openxmlformats.org/drawingml/2006/table">
            <a:tbl>
              <a:tblPr/>
              <a:tblGrid>
                <a:gridCol w="3891254">
                  <a:extLst>
                    <a:ext uri="{9D8B030D-6E8A-4147-A177-3AD203B41FA5}">
                      <a16:colId xmlns:a16="http://schemas.microsoft.com/office/drawing/2014/main" val="2726880432"/>
                    </a:ext>
                  </a:extLst>
                </a:gridCol>
                <a:gridCol w="1609212">
                  <a:extLst>
                    <a:ext uri="{9D8B030D-6E8A-4147-A177-3AD203B41FA5}">
                      <a16:colId xmlns:a16="http://schemas.microsoft.com/office/drawing/2014/main" val="2700634413"/>
                    </a:ext>
                  </a:extLst>
                </a:gridCol>
                <a:gridCol w="558108">
                  <a:extLst>
                    <a:ext uri="{9D8B030D-6E8A-4147-A177-3AD203B41FA5}">
                      <a16:colId xmlns:a16="http://schemas.microsoft.com/office/drawing/2014/main" val="4068051372"/>
                    </a:ext>
                  </a:extLst>
                </a:gridCol>
                <a:gridCol w="558108">
                  <a:extLst>
                    <a:ext uri="{9D8B030D-6E8A-4147-A177-3AD203B41FA5}">
                      <a16:colId xmlns:a16="http://schemas.microsoft.com/office/drawing/2014/main" val="513764270"/>
                    </a:ext>
                  </a:extLst>
                </a:gridCol>
                <a:gridCol w="558108">
                  <a:extLst>
                    <a:ext uri="{9D8B030D-6E8A-4147-A177-3AD203B41FA5}">
                      <a16:colId xmlns:a16="http://schemas.microsoft.com/office/drawing/2014/main" val="1848999879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effectLst/>
                          <a:latin typeface="Arial" panose="020B0604020202020204" pitchFamily="34" charset="0"/>
                        </a:rPr>
                        <a:t>nuova versione (V62)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versione attuale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5527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alfa (€/kWh)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alfa (€/kWh)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4860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Placet HC Non Domestica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0,075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144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627116"/>
                  </a:ext>
                </a:extLst>
              </a:tr>
            </a:tbl>
          </a:graphicData>
        </a:graphic>
      </p:graphicFrame>
      <p:sp>
        <p:nvSpPr>
          <p:cNvPr id="15" name="Rettangolo 14">
            <a:extLst>
              <a:ext uri="{FF2B5EF4-FFF2-40B4-BE49-F238E27FC236}">
                <a16:creationId xmlns:a16="http://schemas.microsoft.com/office/drawing/2014/main" id="{87513C1A-BB9D-9F8E-F845-A656E6044DA4}"/>
              </a:ext>
            </a:extLst>
          </p:cNvPr>
          <p:cNvSpPr/>
          <p:nvPr/>
        </p:nvSpPr>
        <p:spPr>
          <a:xfrm>
            <a:off x="385098" y="2314937"/>
            <a:ext cx="494578" cy="2287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gas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96E27F1-9991-E691-FDAA-5669B2A4CF38}"/>
              </a:ext>
            </a:extLst>
          </p:cNvPr>
          <p:cNvSpPr/>
          <p:nvPr/>
        </p:nvSpPr>
        <p:spPr>
          <a:xfrm>
            <a:off x="385098" y="5055279"/>
            <a:ext cx="494578" cy="1448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ele</a:t>
            </a:r>
            <a:endParaRPr lang="it-IT" dirty="0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928AE9A3-8433-603D-4ADA-074EAD615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749237"/>
              </p:ext>
            </p:extLst>
          </p:nvPr>
        </p:nvGraphicFramePr>
        <p:xfrm>
          <a:off x="1205281" y="4886409"/>
          <a:ext cx="10795675" cy="670560"/>
        </p:xfrm>
        <a:graphic>
          <a:graphicData uri="http://schemas.openxmlformats.org/drawingml/2006/table">
            <a:tbl>
              <a:tblPr/>
              <a:tblGrid>
                <a:gridCol w="3014143">
                  <a:extLst>
                    <a:ext uri="{9D8B030D-6E8A-4147-A177-3AD203B41FA5}">
                      <a16:colId xmlns:a16="http://schemas.microsoft.com/office/drawing/2014/main" val="218855779"/>
                    </a:ext>
                  </a:extLst>
                </a:gridCol>
                <a:gridCol w="1561110">
                  <a:extLst>
                    <a:ext uri="{9D8B030D-6E8A-4147-A177-3AD203B41FA5}">
                      <a16:colId xmlns:a16="http://schemas.microsoft.com/office/drawing/2014/main" val="868213673"/>
                    </a:ext>
                  </a:extLst>
                </a:gridCol>
                <a:gridCol w="540384">
                  <a:extLst>
                    <a:ext uri="{9D8B030D-6E8A-4147-A177-3AD203B41FA5}">
                      <a16:colId xmlns:a16="http://schemas.microsoft.com/office/drawing/2014/main" val="1387593347"/>
                    </a:ext>
                  </a:extLst>
                </a:gridCol>
                <a:gridCol w="540384">
                  <a:extLst>
                    <a:ext uri="{9D8B030D-6E8A-4147-A177-3AD203B41FA5}">
                      <a16:colId xmlns:a16="http://schemas.microsoft.com/office/drawing/2014/main" val="3202095480"/>
                    </a:ext>
                  </a:extLst>
                </a:gridCol>
                <a:gridCol w="540384">
                  <a:extLst>
                    <a:ext uri="{9D8B030D-6E8A-4147-A177-3AD203B41FA5}">
                      <a16:colId xmlns:a16="http://schemas.microsoft.com/office/drawing/2014/main" val="606629713"/>
                    </a:ext>
                  </a:extLst>
                </a:gridCol>
                <a:gridCol w="636453">
                  <a:extLst>
                    <a:ext uri="{9D8B030D-6E8A-4147-A177-3AD203B41FA5}">
                      <a16:colId xmlns:a16="http://schemas.microsoft.com/office/drawing/2014/main" val="2418213254"/>
                    </a:ext>
                  </a:extLst>
                </a:gridCol>
                <a:gridCol w="1561110">
                  <a:extLst>
                    <a:ext uri="{9D8B030D-6E8A-4147-A177-3AD203B41FA5}">
                      <a16:colId xmlns:a16="http://schemas.microsoft.com/office/drawing/2014/main" val="2416979683"/>
                    </a:ext>
                  </a:extLst>
                </a:gridCol>
                <a:gridCol w="540384">
                  <a:extLst>
                    <a:ext uri="{9D8B030D-6E8A-4147-A177-3AD203B41FA5}">
                      <a16:colId xmlns:a16="http://schemas.microsoft.com/office/drawing/2014/main" val="1253134354"/>
                    </a:ext>
                  </a:extLst>
                </a:gridCol>
                <a:gridCol w="540384">
                  <a:extLst>
                    <a:ext uri="{9D8B030D-6E8A-4147-A177-3AD203B41FA5}">
                      <a16:colId xmlns:a16="http://schemas.microsoft.com/office/drawing/2014/main" val="125029684"/>
                    </a:ext>
                  </a:extLst>
                </a:gridCol>
                <a:gridCol w="540384">
                  <a:extLst>
                    <a:ext uri="{9D8B030D-6E8A-4147-A177-3AD203B41FA5}">
                      <a16:colId xmlns:a16="http://schemas.microsoft.com/office/drawing/2014/main" val="1972727704"/>
                    </a:ext>
                  </a:extLst>
                </a:gridCol>
                <a:gridCol w="780555">
                  <a:extLst>
                    <a:ext uri="{9D8B030D-6E8A-4147-A177-3AD203B41FA5}">
                      <a16:colId xmlns:a16="http://schemas.microsoft.com/office/drawing/2014/main" val="3155763294"/>
                    </a:ext>
                  </a:extLst>
                </a:gridCol>
              </a:tblGrid>
              <a:tr h="14035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effectLst/>
                          <a:latin typeface="Arial" panose="020B0604020202020204" pitchFamily="34" charset="0"/>
                        </a:rPr>
                        <a:t>nuova versione (V62)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versione attuale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506278"/>
                  </a:ext>
                </a:extLst>
              </a:tr>
              <a:tr h="2807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mono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F1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F2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Pfix F3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mono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Pfix F1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effectLst/>
                          <a:latin typeface="Arial" panose="020B0604020202020204" pitchFamily="34" charset="0"/>
                        </a:rPr>
                        <a:t>Pfix</a:t>
                      </a:r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F2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Pfix F3 (€/kWh)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QF (€/anno)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90723"/>
                  </a:ext>
                </a:extLst>
              </a:tr>
              <a:tr h="146729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Placet HC Non Domestica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effectLst/>
                          <a:latin typeface="Arial" panose="020B0604020202020204" pitchFamily="34" charset="0"/>
                        </a:rPr>
                        <a:t>0,2540 </a:t>
                      </a:r>
                      <a:endParaRPr lang="it-IT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 0,254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 0,2785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 0,231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effectLst/>
                          <a:latin typeface="Arial" panose="020B0604020202020204" pitchFamily="34" charset="0"/>
                        </a:rPr>
                        <a:t>          144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  <a:endParaRPr kumimoji="0" lang="it-IT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«»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972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749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fecf4a2-2331-478b-a643-5c6fcd9216c8" xsi:nil="true"/>
    <lcf76f155ced4ddcb4097134ff3c332f xmlns="aaf32a07-7cc8-43e5-b02f-cf429086d6f1">
      <Terms xmlns="http://schemas.microsoft.com/office/infopath/2007/PartnerControls"/>
    </lcf76f155ced4ddcb4097134ff3c332f>
    <SharedWithUsers xmlns="d3a4f6a7-6429-4870-bb25-3368e16d709d">
      <UserInfo>
        <DisplayName>CRIPPA MONICA</DisplayName>
        <AccountId>20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9DE9380E354EC4584B54B24918E1F5E" ma:contentTypeVersion="14" ma:contentTypeDescription="Creare un nuovo documento." ma:contentTypeScope="" ma:versionID="0074caf7ebcf45f789666cc432f26567">
  <xsd:schema xmlns:xsd="http://www.w3.org/2001/XMLSchema" xmlns:xs="http://www.w3.org/2001/XMLSchema" xmlns:p="http://schemas.microsoft.com/office/2006/metadata/properties" xmlns:ns2="aaf32a07-7cc8-43e5-b02f-cf429086d6f1" xmlns:ns3="d3a4f6a7-6429-4870-bb25-3368e16d709d" xmlns:ns4="9fecf4a2-2331-478b-a643-5c6fcd9216c8" targetNamespace="http://schemas.microsoft.com/office/2006/metadata/properties" ma:root="true" ma:fieldsID="fb3a691fd18920367c958f9231767fed" ns2:_="" ns3:_="" ns4:_="">
    <xsd:import namespace="aaf32a07-7cc8-43e5-b02f-cf429086d6f1"/>
    <xsd:import namespace="d3a4f6a7-6429-4870-bb25-3368e16d709d"/>
    <xsd:import namespace="9fecf4a2-2331-478b-a643-5c6fcd9216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f32a07-7cc8-43e5-b02f-cf429086d6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7556aab1-c1bf-4be5-b3f6-9155595146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4f6a7-6429-4870-bb25-3368e16d709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ecf4a2-2331-478b-a643-5c6fcd9216c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ea57885-016b-48f2-96dc-900593d99715}" ma:internalName="TaxCatchAll" ma:showField="CatchAllData" ma:web="d3a4f6a7-6429-4870-bb25-3368e16d70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F1155C-EA59-42D7-9F30-4A0D232C87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22CE1F-A982-44A6-BA79-F553BA18D37D}">
  <ds:schemaRefs>
    <ds:schemaRef ds:uri="9fecf4a2-2331-478b-a643-5c6fcd9216c8"/>
    <ds:schemaRef ds:uri="aaf32a07-7cc8-43e5-b02f-cf429086d6f1"/>
    <ds:schemaRef ds:uri="d3a4f6a7-6429-4870-bb25-3368e16d709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3B01E75-49E1-4382-8B98-559F120759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f32a07-7cc8-43e5-b02f-cf429086d6f1"/>
    <ds:schemaRef ds:uri="d3a4f6a7-6429-4870-bb25-3368e16d709d"/>
    <ds:schemaRef ds:uri="9fecf4a2-2331-478b-a643-5c6fcd9216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5f73a75-999a-4b6f-83c1-8a9511c3f90d}" enabled="0" method="" siteId="{05f73a75-999a-4b6f-83c1-8a9511c3f90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2484</TotalTime>
  <Words>5613</Words>
  <Application>Microsoft Office PowerPoint</Application>
  <PresentationFormat>Widescreen</PresentationFormat>
  <Paragraphs>1099</Paragraphs>
  <Slides>33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Calibri Light</vt:lpstr>
      <vt:lpstr>Courier New</vt:lpstr>
      <vt:lpstr>HelveticaNeueLT Std</vt:lpstr>
      <vt:lpstr>Source Sans Pro</vt:lpstr>
      <vt:lpstr>Tema di Office</vt:lpstr>
      <vt:lpstr>Presentazione standard di PowerPoint</vt:lpstr>
      <vt:lpstr>Presentazione standard di PowerPoint</vt:lpstr>
      <vt:lpstr>HERA HYBRID EXTRA M V34 Casa Luce</vt:lpstr>
      <vt:lpstr>HERA HYBRID M V34 Casa Luce</vt:lpstr>
      <vt:lpstr>HERA HYBRID Clima M V34 Casa Luce</vt:lpstr>
      <vt:lpstr>HERA HYBRID Special WEB M V34 (Casa – Luce)</vt:lpstr>
      <vt:lpstr>HERA HYBRID LUCE CASA</vt:lpstr>
      <vt:lpstr>Presentazione standard di PowerPoint</vt:lpstr>
      <vt:lpstr>Presentazione standard di PowerPoint</vt:lpstr>
      <vt:lpstr>Presentazione standard di PowerPoint</vt:lpstr>
      <vt:lpstr>HERA HYBRID EXTRA M V34 Casa Gas</vt:lpstr>
      <vt:lpstr>HERA HYBRID M V34 Casa Gas</vt:lpstr>
      <vt:lpstr>HERA HYBRID Special WEB M V34 Casa Gas</vt:lpstr>
      <vt:lpstr>HERA HYBRID GAS CASA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HERA HYBRID M V34 Lavoro Luce</vt:lpstr>
      <vt:lpstr>HERA HYBRID LAVORO LUCE</vt:lpstr>
      <vt:lpstr>HERA HYBRID M V34 Lavoro Gas</vt:lpstr>
      <vt:lpstr>HERA HYBRID LAVORO GAS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Mauri Fabrizio</dc:creator>
  <cp:lastModifiedBy>RIZZO JACOPO</cp:lastModifiedBy>
  <cp:revision>2</cp:revision>
  <dcterms:created xsi:type="dcterms:W3CDTF">2022-10-05T07:49:03Z</dcterms:created>
  <dcterms:modified xsi:type="dcterms:W3CDTF">2026-10-16T10:43:32Z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0x01010069DE9380E354EC4584B54B24918E1F5E</vt:lpwstr>
  </property>
  <property fmtid="{D5CDD505-2E9C-101B-9397-08002B2CF9AE}" pid="3" name="MediaServiceImageTags">
    <vt:lpwstr/>
  </property>
</Properties>
</file>