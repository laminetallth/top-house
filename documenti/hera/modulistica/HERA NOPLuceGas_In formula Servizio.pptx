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slideMasters/slideMaster2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6" r:id="rId2"/>
  </p:sldMasterIdLst>
  <p:notesMasterIdLst>
    <p:notesMasterId r:id="rId10"/>
  </p:notesMasterIdLst>
  <p:sldIdLst>
    <p:sldId id="2146850960" r:id="rId3"/>
    <p:sldId id="349" r:id="rId4"/>
    <p:sldId id="2147471967" r:id="rId5"/>
    <p:sldId id="2147471965" r:id="rId6"/>
    <p:sldId id="2147471968" r:id="rId7"/>
    <p:sldId id="2147471966" r:id="rId8"/>
    <p:sldId id="15698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FFFFF"/>
    <a:srgbClr val="A5A5A5"/>
    <a:srgbClr val="199581"/>
    <a:srgbClr val="C6CCC4"/>
    <a:srgbClr val="80858F"/>
    <a:srgbClr val="E7E6E6"/>
    <a:srgbClr val="C3D76E"/>
    <a:srgbClr val="DC048C"/>
    <a:srgbClr val="E9B5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5906F-90EE-4143-B061-03471246E567}" v="489" dt="2024-04-26T14:14:03.3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Stile chiaro 1 - Color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Stile medio 4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A488322-F2BA-4B5B-9748-0D474271808F}" styleName="Stile medio 3 - Color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ile chiaro 2 - Color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DA37D80-6434-44D0-A028-1B22A696006F}" styleName="Stile chiaro 3 - Color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ile chiaro 1 - Color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Stile medio 3 - Color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495" autoAdjust="0"/>
  </p:normalViewPr>
  <p:slideViewPr>
    <p:cSldViewPr snapToGrid="0">
      <p:cViewPr varScale="1">
        <p:scale>
          <a:sx n="61" d="100"/>
          <a:sy n="61" d="100"/>
        </p:scale>
        <p:origin x="8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F00EC-E9D3-4852-AE5D-E46EA0230F33}" type="datetimeFigureOut">
              <a:rPr lang="it-IT" smtClean="0"/>
              <a:t>01/07/2024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E349A-642A-4888-8D0A-104DCB6147B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0333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E349A-642A-4888-8D0A-104DCB6147B5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7176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CE349A-642A-4888-8D0A-104DCB6147B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503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CE349A-642A-4888-8D0A-104DCB6147B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0456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Pulizia straordinaria </a:t>
            </a:r>
            <a:r>
              <a:rPr lang="it-IT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a seguito di furto, allagamento, incendio, scoppio</a:t>
            </a:r>
            <a:endParaRPr lang="it-IT" sz="1800" b="1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CE349A-642A-4888-8D0A-104DCB6147B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42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Pulizia straordinaria </a:t>
            </a:r>
            <a:r>
              <a:rPr lang="it-IT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a seguito di furto, allagamento, incendio, scoppio</a:t>
            </a:r>
            <a:endParaRPr lang="it-IT" sz="1800" b="1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CE349A-642A-4888-8D0A-104DCB6147B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3471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Ad AXA per ogni attivazione corrispondiamo il canone (costo del servizio) ogni mese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CE349A-642A-4888-8D0A-104DCB6147B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967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EA207B-418A-464C-9A31-841A6F7C6276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6427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D714E5A-1B44-496C-B590-476687D8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917F2-0311-427F-899D-D5BC16B2E922}" type="datetimeFigureOut">
              <a:rPr lang="it-IT" smtClean="0"/>
              <a:t>01/07/2024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AD6BC63-9D8E-4F0B-864E-B278A845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7611A34-7D3D-46B4-8E45-036A0C60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BCD2-B7FF-4D3A-B78C-B4CD32CAE6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4996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ina inter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BE5407A-FEC7-450E-B977-D68CE0B0EE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83952" y="6256867"/>
            <a:ext cx="908049" cy="389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14D0CE8-CAF3-4B82-ADB7-11DED6BAECC9}" type="slidenum">
              <a:rPr lang="it-IT" altLang="it-IT" sz="1600" b="1">
                <a:solidFill>
                  <a:srgbClr val="5A5B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eaLnBrk="1" hangingPunct="1"/>
              <a:t>‹N›</a:t>
            </a:fld>
            <a:endParaRPr lang="it-IT" altLang="it-IT" sz="1600" b="1">
              <a:solidFill>
                <a:srgbClr val="5A5B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magine 22" descr="gruppo_hera_grigio.jpg">
            <a:extLst>
              <a:ext uri="{FF2B5EF4-FFF2-40B4-BE49-F238E27FC236}">
                <a16:creationId xmlns:a16="http://schemas.microsoft.com/office/drawing/2014/main" id="{91F6BE22-A795-4B64-BB57-418B439B5C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3801" y="6385984"/>
            <a:ext cx="1200151" cy="169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itolo 45"/>
          <p:cNvSpPr>
            <a:spLocks noGrp="1"/>
          </p:cNvSpPr>
          <p:nvPr>
            <p:ph type="title"/>
          </p:nvPr>
        </p:nvSpPr>
        <p:spPr>
          <a:xfrm>
            <a:off x="300771" y="199165"/>
            <a:ext cx="10383105" cy="910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>
            <a:lvl1pPr algn="l">
              <a:defRPr lang="it-IT" sz="2400" b="1">
                <a:solidFill>
                  <a:srgbClr val="054977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99684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D714E5A-1B44-496C-B590-476687D8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917F2-0311-427F-899D-D5BC16B2E922}" type="datetimeFigureOut">
              <a:rPr lang="it-IT" smtClean="0"/>
              <a:t>01/07/2024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AD6BC63-9D8E-4F0B-864E-B278A845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7611A34-7D3D-46B4-8E45-036A0C60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BCD2-B7FF-4D3A-B78C-B4CD32CAE6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733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ina inter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BE5407A-FEC7-450E-B977-D68CE0B0EE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83952" y="6256867"/>
            <a:ext cx="908049" cy="389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14D0CE8-CAF3-4B82-ADB7-11DED6BAECC9}" type="slidenum">
              <a:rPr lang="it-IT" altLang="it-IT" sz="1600" b="1">
                <a:solidFill>
                  <a:srgbClr val="5A5B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eaLnBrk="1" hangingPunct="1"/>
              <a:t>‹N›</a:t>
            </a:fld>
            <a:endParaRPr lang="it-IT" altLang="it-IT" sz="1600" b="1">
              <a:solidFill>
                <a:srgbClr val="5A5B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magine 22" descr="gruppo_hera_grigio.jpg">
            <a:extLst>
              <a:ext uri="{FF2B5EF4-FFF2-40B4-BE49-F238E27FC236}">
                <a16:creationId xmlns:a16="http://schemas.microsoft.com/office/drawing/2014/main" id="{91F6BE22-A795-4B64-BB57-418B439B5C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3801" y="6385984"/>
            <a:ext cx="1200151" cy="169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itolo 45"/>
          <p:cNvSpPr>
            <a:spLocks noGrp="1"/>
          </p:cNvSpPr>
          <p:nvPr>
            <p:ph type="title"/>
          </p:nvPr>
        </p:nvSpPr>
        <p:spPr>
          <a:xfrm>
            <a:off x="300771" y="199165"/>
            <a:ext cx="10383105" cy="910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>
            <a:lvl1pPr algn="l">
              <a:defRPr lang="it-IT" sz="2400" b="1">
                <a:solidFill>
                  <a:srgbClr val="054977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137256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pertina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93280" y="498158"/>
            <a:ext cx="4150359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F62DA0-0BD5-42B8-B74A-C61AB645424A}"/>
              </a:ext>
            </a:extLst>
          </p:cNvPr>
          <p:cNvSpPr/>
          <p:nvPr userDrawn="1"/>
        </p:nvSpPr>
        <p:spPr>
          <a:xfrm>
            <a:off x="0" y="0"/>
            <a:ext cx="5501640" cy="6858000"/>
          </a:xfrm>
          <a:prstGeom prst="rect">
            <a:avLst/>
          </a:prstGeom>
          <a:gradFill flip="none" rotWithShape="1">
            <a:gsLst>
              <a:gs pos="48000">
                <a:srgbClr val="00A880"/>
              </a:gs>
              <a:gs pos="1000">
                <a:srgbClr val="039BDA"/>
              </a:gs>
              <a:gs pos="100000">
                <a:srgbClr val="DC048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617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Logo AXA" descr="Logo AX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9396" y="6318802"/>
            <a:ext cx="280020" cy="280781"/>
          </a:xfrm>
          <a:prstGeom prst="rect">
            <a:avLst/>
          </a:prstGeom>
          <a:ln w="12700">
            <a:miter lim="400000"/>
          </a:ln>
        </p:spPr>
      </p:pic>
      <p:sp>
        <p:nvSpPr>
          <p:cNvPr id="413" name="Titolo Testo"/>
          <p:cNvSpPr>
            <a:spLocks noGrp="1"/>
          </p:cNvSpPr>
          <p:nvPr>
            <p:ph type="title"/>
          </p:nvPr>
        </p:nvSpPr>
        <p:spPr>
          <a:xfrm>
            <a:off x="365269" y="429869"/>
            <a:ext cx="11463944" cy="45078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087880">
              <a:defRPr sz="2966">
                <a:solidFill>
                  <a:srgbClr val="00008F"/>
                </a:solidFill>
              </a:defRPr>
            </a:lvl1pPr>
          </a:lstStyle>
          <a:p>
            <a:r>
              <a:t>Titolo Testo</a:t>
            </a:r>
          </a:p>
        </p:txBody>
      </p:sp>
      <p:sp>
        <p:nvSpPr>
          <p:cNvPr id="414" name="Corpo livello uno…"/>
          <p:cNvSpPr>
            <a:spLocks noGrp="1"/>
          </p:cNvSpPr>
          <p:nvPr>
            <p:ph type="body" sz="quarter" idx="1"/>
          </p:nvPr>
        </p:nvSpPr>
        <p:spPr>
          <a:xfrm>
            <a:off x="365268" y="901566"/>
            <a:ext cx="11463805" cy="33808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defTabSz="1087880">
              <a:spcBef>
                <a:spcPts val="468"/>
              </a:spcBef>
              <a:buSzTx/>
              <a:buFontTx/>
              <a:buNone/>
              <a:defRPr sz="2342">
                <a:solidFill>
                  <a:srgbClr val="027180"/>
                </a:solidFill>
              </a:defRPr>
            </a:lvl1pPr>
            <a:lvl2pPr marL="785199" indent="-242498" defTabSz="1087880">
              <a:spcBef>
                <a:spcPts val="468"/>
              </a:spcBef>
              <a:buFontTx/>
              <a:defRPr sz="2342">
                <a:solidFill>
                  <a:srgbClr val="027180"/>
                </a:solidFill>
              </a:defRPr>
            </a:lvl2pPr>
            <a:lvl3pPr marL="1315452" indent="-225093" defTabSz="1087880">
              <a:spcBef>
                <a:spcPts val="468"/>
              </a:spcBef>
              <a:buFontTx/>
              <a:defRPr sz="2342">
                <a:solidFill>
                  <a:srgbClr val="027180"/>
                </a:solidFill>
              </a:defRPr>
            </a:lvl3pPr>
            <a:lvl4pPr marL="1903171" indent="-270111" defTabSz="1087880">
              <a:spcBef>
                <a:spcPts val="468"/>
              </a:spcBef>
              <a:buFontTx/>
              <a:defRPr sz="2342">
                <a:solidFill>
                  <a:srgbClr val="027180"/>
                </a:solidFill>
              </a:defRPr>
            </a:lvl4pPr>
            <a:lvl5pPr marL="2448350" indent="-270111" defTabSz="1087880">
              <a:spcBef>
                <a:spcPts val="468"/>
              </a:spcBef>
              <a:buFontTx/>
              <a:defRPr sz="2342">
                <a:solidFill>
                  <a:srgbClr val="027180"/>
                </a:solidFill>
              </a:defRPr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15" name="Numero diapositiva"/>
          <p:cNvSpPr>
            <a:spLocks noGrp="1"/>
          </p:cNvSpPr>
          <p:nvPr>
            <p:ph type="sldNum" sz="quarter" idx="2"/>
          </p:nvPr>
        </p:nvSpPr>
        <p:spPr>
          <a:xfrm>
            <a:off x="364275" y="6436829"/>
            <a:ext cx="198245" cy="198784"/>
          </a:xfrm>
          <a:prstGeom prst="rect">
            <a:avLst/>
          </a:prstGeom>
        </p:spPr>
        <p:txBody>
          <a:bodyPr anchor="ctr"/>
          <a:lstStyle/>
          <a:p>
            <a:fld id="{86CB4B4D-7CA3-9044-876B-883B54F8677D}" type="slidenum">
              <a:t>‹N›</a:t>
            </a:fld>
            <a:endParaRPr/>
          </a:p>
        </p:txBody>
      </p:sp>
      <p:sp>
        <p:nvSpPr>
          <p:cNvPr id="416" name="Espace réservé du numéro de diapositive 3"/>
          <p:cNvSpPr/>
          <p:nvPr/>
        </p:nvSpPr>
        <p:spPr>
          <a:xfrm>
            <a:off x="364275" y="6432789"/>
            <a:ext cx="337016" cy="1922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/>
          <a:p>
            <a:pPr defTabSz="1087880">
              <a:defRPr sz="800"/>
            </a:pPr>
            <a:endParaRPr sz="1249"/>
          </a:p>
        </p:txBody>
      </p:sp>
    </p:spTree>
    <p:extLst>
      <p:ext uri="{BB962C8B-B14F-4D97-AF65-F5344CB8AC3E}">
        <p14:creationId xmlns:p14="http://schemas.microsoft.com/office/powerpoint/2010/main" val="353276483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91B643C-F123-44B6-B90D-EE6D903AF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42B2D16-B110-4323-A517-6B73138A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307656-9352-43EE-9775-489DF91D9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917F2-0311-427F-899D-D5BC16B2E922}" type="datetimeFigureOut">
              <a:rPr lang="it-IT" smtClean="0"/>
              <a:t>01/07/2024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5699A4-870A-4262-BC31-2255C3B59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A1DF48-7AB0-4ED9-BA7D-E5772F339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2BCD2-B7FF-4D3A-B78C-B4CD32CAE64C}" type="slidenum">
              <a:rPr lang="it-IT" smtClean="0"/>
              <a:t>‹N›</a:t>
            </a:fld>
            <a:endParaRPr lang="it-IT"/>
          </a:p>
        </p:txBody>
      </p:sp>
      <p:sp>
        <p:nvSpPr>
          <p:cNvPr id="7" name="object 16">
            <a:extLst>
              <a:ext uri="{FF2B5EF4-FFF2-40B4-BE49-F238E27FC236}">
                <a16:creationId xmlns:a16="http://schemas.microsoft.com/office/drawing/2014/main" id="{5E19941A-9E61-4688-8071-F2B175193765}"/>
              </a:ext>
            </a:extLst>
          </p:cNvPr>
          <p:cNvSpPr/>
          <p:nvPr userDrawn="1"/>
        </p:nvSpPr>
        <p:spPr>
          <a:xfrm>
            <a:off x="-886115" y="4768386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039B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F910E686-74DC-4953-B89B-D45B1BB49A52}"/>
              </a:ext>
            </a:extLst>
          </p:cNvPr>
          <p:cNvSpPr/>
          <p:nvPr userDrawn="1"/>
        </p:nvSpPr>
        <p:spPr>
          <a:xfrm>
            <a:off x="-886115" y="2608146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E9B5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A1BEAB20-6CF1-47CB-A780-DCEBF4534AE0}"/>
              </a:ext>
            </a:extLst>
          </p:cNvPr>
          <p:cNvSpPr/>
          <p:nvPr userDrawn="1"/>
        </p:nvSpPr>
        <p:spPr>
          <a:xfrm>
            <a:off x="-886115" y="5128426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5FB5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6">
            <a:extLst>
              <a:ext uri="{FF2B5EF4-FFF2-40B4-BE49-F238E27FC236}">
                <a16:creationId xmlns:a16="http://schemas.microsoft.com/office/drawing/2014/main" id="{51F65A24-8AE8-469F-B1EB-4D5B9171695F}"/>
              </a:ext>
            </a:extLst>
          </p:cNvPr>
          <p:cNvSpPr/>
          <p:nvPr userDrawn="1"/>
        </p:nvSpPr>
        <p:spPr>
          <a:xfrm>
            <a:off x="-886115" y="3328226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C3D7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6">
            <a:extLst>
              <a:ext uri="{FF2B5EF4-FFF2-40B4-BE49-F238E27FC236}">
                <a16:creationId xmlns:a16="http://schemas.microsoft.com/office/drawing/2014/main" id="{998BC994-49A1-4372-9AA3-56A6F25B208B}"/>
              </a:ext>
            </a:extLst>
          </p:cNvPr>
          <p:cNvSpPr/>
          <p:nvPr userDrawn="1"/>
        </p:nvSpPr>
        <p:spPr>
          <a:xfrm>
            <a:off x="-886115" y="3688266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00A8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6">
            <a:extLst>
              <a:ext uri="{FF2B5EF4-FFF2-40B4-BE49-F238E27FC236}">
                <a16:creationId xmlns:a16="http://schemas.microsoft.com/office/drawing/2014/main" id="{E827993A-44D6-40BC-A0A3-400FE329A0AF}"/>
              </a:ext>
            </a:extLst>
          </p:cNvPr>
          <p:cNvSpPr/>
          <p:nvPr userDrawn="1"/>
        </p:nvSpPr>
        <p:spPr>
          <a:xfrm>
            <a:off x="-886115" y="2969923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80B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6">
            <a:extLst>
              <a:ext uri="{FF2B5EF4-FFF2-40B4-BE49-F238E27FC236}">
                <a16:creationId xmlns:a16="http://schemas.microsoft.com/office/drawing/2014/main" id="{125E5B86-528D-4E67-A42E-C9D6DE25A988}"/>
              </a:ext>
            </a:extLst>
          </p:cNvPr>
          <p:cNvSpPr/>
          <p:nvPr userDrawn="1"/>
        </p:nvSpPr>
        <p:spPr>
          <a:xfrm>
            <a:off x="-886115" y="1112192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FD99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B76E4E1-5C28-4698-BF27-F7E80EDBE271}"/>
              </a:ext>
            </a:extLst>
          </p:cNvPr>
          <p:cNvSpPr/>
          <p:nvPr userDrawn="1"/>
        </p:nvSpPr>
        <p:spPr>
          <a:xfrm>
            <a:off x="-886115" y="2248106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EF7D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474ADB92-B017-4408-BB90-87651D24C177}"/>
              </a:ext>
            </a:extLst>
          </p:cNvPr>
          <p:cNvSpPr/>
          <p:nvPr userDrawn="1"/>
        </p:nvSpPr>
        <p:spPr>
          <a:xfrm>
            <a:off x="-886115" y="1499260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DC04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F7A13AF-0059-4F2D-9161-0250280BCE37}"/>
              </a:ext>
            </a:extLst>
          </p:cNvPr>
          <p:cNvSpPr/>
          <p:nvPr userDrawn="1"/>
        </p:nvSpPr>
        <p:spPr>
          <a:xfrm>
            <a:off x="-886115" y="4051781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0096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BA37908C-342B-4E0E-9257-D5654DC91087}"/>
              </a:ext>
            </a:extLst>
          </p:cNvPr>
          <p:cNvSpPr/>
          <p:nvPr userDrawn="1"/>
        </p:nvSpPr>
        <p:spPr>
          <a:xfrm>
            <a:off x="-886115" y="4410084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2580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A72201B5-12A0-4E2A-B7E9-A7AAE3CE3BCB}"/>
              </a:ext>
            </a:extLst>
          </p:cNvPr>
          <p:cNvSpPr/>
          <p:nvPr userDrawn="1"/>
        </p:nvSpPr>
        <p:spPr>
          <a:xfrm>
            <a:off x="-886115" y="1888066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B6134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058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91B643C-F123-44B6-B90D-EE6D903AF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42B2D16-B110-4323-A517-6B73138A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307656-9352-43EE-9775-489DF91D9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917F2-0311-427F-899D-D5BC16B2E922}" type="datetimeFigureOut">
              <a:rPr lang="it-IT" smtClean="0"/>
              <a:t>01/07/2024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5699A4-870A-4262-BC31-2255C3B59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A1DF48-7AB0-4ED9-BA7D-E5772F339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2BCD2-B7FF-4D3A-B78C-B4CD32CAE64C}" type="slidenum">
              <a:rPr lang="it-IT" smtClean="0"/>
              <a:t>‹N›</a:t>
            </a:fld>
            <a:endParaRPr lang="it-IT"/>
          </a:p>
        </p:txBody>
      </p:sp>
      <p:sp>
        <p:nvSpPr>
          <p:cNvPr id="7" name="object 16">
            <a:extLst>
              <a:ext uri="{FF2B5EF4-FFF2-40B4-BE49-F238E27FC236}">
                <a16:creationId xmlns:a16="http://schemas.microsoft.com/office/drawing/2014/main" id="{5E19941A-9E61-4688-8071-F2B175193765}"/>
              </a:ext>
            </a:extLst>
          </p:cNvPr>
          <p:cNvSpPr/>
          <p:nvPr userDrawn="1"/>
        </p:nvSpPr>
        <p:spPr>
          <a:xfrm>
            <a:off x="-886115" y="4768386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039B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F910E686-74DC-4953-B89B-D45B1BB49A52}"/>
              </a:ext>
            </a:extLst>
          </p:cNvPr>
          <p:cNvSpPr/>
          <p:nvPr userDrawn="1"/>
        </p:nvSpPr>
        <p:spPr>
          <a:xfrm>
            <a:off x="-886115" y="2608146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E9B5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A1BEAB20-6CF1-47CB-A780-DCEBF4534AE0}"/>
              </a:ext>
            </a:extLst>
          </p:cNvPr>
          <p:cNvSpPr/>
          <p:nvPr userDrawn="1"/>
        </p:nvSpPr>
        <p:spPr>
          <a:xfrm>
            <a:off x="-886115" y="5128426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5FB5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6">
            <a:extLst>
              <a:ext uri="{FF2B5EF4-FFF2-40B4-BE49-F238E27FC236}">
                <a16:creationId xmlns:a16="http://schemas.microsoft.com/office/drawing/2014/main" id="{51F65A24-8AE8-469F-B1EB-4D5B9171695F}"/>
              </a:ext>
            </a:extLst>
          </p:cNvPr>
          <p:cNvSpPr/>
          <p:nvPr userDrawn="1"/>
        </p:nvSpPr>
        <p:spPr>
          <a:xfrm>
            <a:off x="-886115" y="3328226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C3D7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6">
            <a:extLst>
              <a:ext uri="{FF2B5EF4-FFF2-40B4-BE49-F238E27FC236}">
                <a16:creationId xmlns:a16="http://schemas.microsoft.com/office/drawing/2014/main" id="{998BC994-49A1-4372-9AA3-56A6F25B208B}"/>
              </a:ext>
            </a:extLst>
          </p:cNvPr>
          <p:cNvSpPr/>
          <p:nvPr userDrawn="1"/>
        </p:nvSpPr>
        <p:spPr>
          <a:xfrm>
            <a:off x="-886115" y="3688266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00A8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6">
            <a:extLst>
              <a:ext uri="{FF2B5EF4-FFF2-40B4-BE49-F238E27FC236}">
                <a16:creationId xmlns:a16="http://schemas.microsoft.com/office/drawing/2014/main" id="{E827993A-44D6-40BC-A0A3-400FE329A0AF}"/>
              </a:ext>
            </a:extLst>
          </p:cNvPr>
          <p:cNvSpPr/>
          <p:nvPr userDrawn="1"/>
        </p:nvSpPr>
        <p:spPr>
          <a:xfrm>
            <a:off x="-886115" y="2969923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80B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6">
            <a:extLst>
              <a:ext uri="{FF2B5EF4-FFF2-40B4-BE49-F238E27FC236}">
                <a16:creationId xmlns:a16="http://schemas.microsoft.com/office/drawing/2014/main" id="{125E5B86-528D-4E67-A42E-C9D6DE25A988}"/>
              </a:ext>
            </a:extLst>
          </p:cNvPr>
          <p:cNvSpPr/>
          <p:nvPr userDrawn="1"/>
        </p:nvSpPr>
        <p:spPr>
          <a:xfrm>
            <a:off x="-886115" y="1112192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FD99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B76E4E1-5C28-4698-BF27-F7E80EDBE271}"/>
              </a:ext>
            </a:extLst>
          </p:cNvPr>
          <p:cNvSpPr/>
          <p:nvPr userDrawn="1"/>
        </p:nvSpPr>
        <p:spPr>
          <a:xfrm>
            <a:off x="-886115" y="2248106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EF7D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474ADB92-B017-4408-BB90-87651D24C177}"/>
              </a:ext>
            </a:extLst>
          </p:cNvPr>
          <p:cNvSpPr/>
          <p:nvPr userDrawn="1"/>
        </p:nvSpPr>
        <p:spPr>
          <a:xfrm>
            <a:off x="-886115" y="1499260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DC04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F7A13AF-0059-4F2D-9161-0250280BCE37}"/>
              </a:ext>
            </a:extLst>
          </p:cNvPr>
          <p:cNvSpPr/>
          <p:nvPr userDrawn="1"/>
        </p:nvSpPr>
        <p:spPr>
          <a:xfrm>
            <a:off x="-886115" y="4051781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0096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BA37908C-342B-4E0E-9257-D5654DC91087}"/>
              </a:ext>
            </a:extLst>
          </p:cNvPr>
          <p:cNvSpPr/>
          <p:nvPr userDrawn="1"/>
        </p:nvSpPr>
        <p:spPr>
          <a:xfrm>
            <a:off x="-886115" y="4410084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2580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A72201B5-12A0-4E2A-B7E9-A7AAE3CE3BCB}"/>
              </a:ext>
            </a:extLst>
          </p:cNvPr>
          <p:cNvSpPr/>
          <p:nvPr userDrawn="1"/>
        </p:nvSpPr>
        <p:spPr>
          <a:xfrm>
            <a:off x="-886115" y="1888066"/>
            <a:ext cx="721541" cy="316798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3"/>
                </a:moveTo>
                <a:lnTo>
                  <a:pt x="7559992" y="10692003"/>
                </a:lnTo>
                <a:lnTo>
                  <a:pt x="7559992" y="0"/>
                </a:lnTo>
                <a:lnTo>
                  <a:pt x="0" y="0"/>
                </a:lnTo>
                <a:lnTo>
                  <a:pt x="0" y="10692003"/>
                </a:lnTo>
                <a:close/>
              </a:path>
            </a:pathLst>
          </a:custGeom>
          <a:solidFill>
            <a:srgbClr val="B6134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851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microsoft.com/office/2007/relationships/hdphoto" Target="../media/hdphoto1.wdp"/><Relationship Id="rId12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gif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jpg"/><Relationship Id="rId7" Type="http://schemas.openxmlformats.org/officeDocument/2006/relationships/image" Target="../media/image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svg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8.png"/><Relationship Id="rId7" Type="http://schemas.openxmlformats.org/officeDocument/2006/relationships/image" Target="../media/image33.svg"/><Relationship Id="rId12" Type="http://schemas.openxmlformats.org/officeDocument/2006/relationships/image" Target="../media/image3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jpeg"/><Relationship Id="rId5" Type="http://schemas.openxmlformats.org/officeDocument/2006/relationships/image" Target="../media/image31.svg"/><Relationship Id="rId10" Type="http://schemas.openxmlformats.org/officeDocument/2006/relationships/image" Target="../media/image36.jpeg"/><Relationship Id="rId4" Type="http://schemas.openxmlformats.org/officeDocument/2006/relationships/image" Target="../media/image30.png"/><Relationship Id="rId9" Type="http://schemas.openxmlformats.org/officeDocument/2006/relationships/image" Target="../media/image35.svg"/><Relationship Id="rId1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EDEFB592-0902-491B-8C70-136A447E409B}"/>
              </a:ext>
            </a:extLst>
          </p:cNvPr>
          <p:cNvSpPr/>
          <p:nvPr/>
        </p:nvSpPr>
        <p:spPr>
          <a:xfrm>
            <a:off x="0" y="1499310"/>
            <a:ext cx="5486401" cy="209136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HERA </a:t>
            </a:r>
            <a:r>
              <a:rPr kumimoji="0" lang="it-IT" sz="36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NoProblem</a:t>
            </a:r>
            <a:r>
              <a:rPr kumimoji="0" lang="it-IT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Luce &amp; Gas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it-IT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Da Polizza a Servizio</a:t>
            </a:r>
            <a:endParaRPr kumimoji="0" lang="it-IT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81F2EAE-BD93-073A-6024-4B819A9FAEF6}"/>
              </a:ext>
            </a:extLst>
          </p:cNvPr>
          <p:cNvSpPr txBox="1"/>
          <p:nvPr/>
        </p:nvSpPr>
        <p:spPr>
          <a:xfrm>
            <a:off x="-233916" y="5411583"/>
            <a:ext cx="5495827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2667"/>
              </a:lnSpc>
              <a:spcBef>
                <a:spcPts val="26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altLang="it-IT" sz="2400" b="0" i="1" u="none" strike="noStrike" kern="1200" cap="none" spc="0" normalizeH="0" baseline="30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Sviluppo Iniziative &amp; Gestione VAS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altLang="it-IT" sz="12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Imola, </a:t>
            </a:r>
            <a:r>
              <a:rPr lang="it-IT" altLang="it-IT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Giugno</a:t>
            </a:r>
            <a:r>
              <a:rPr kumimoji="0" lang="it-IT" altLang="it-IT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2024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AAAD1A9-0A7C-CF2D-760A-E84E65B1AF76}"/>
              </a:ext>
            </a:extLst>
          </p:cNvPr>
          <p:cNvSpPr/>
          <p:nvPr/>
        </p:nvSpPr>
        <p:spPr>
          <a:xfrm>
            <a:off x="7136091" y="252875"/>
            <a:ext cx="4600280" cy="14062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2" name="Picture 4" descr="B3 – Studio BalliLogo Heracomm -">
            <a:extLst>
              <a:ext uri="{FF2B5EF4-FFF2-40B4-BE49-F238E27FC236}">
                <a16:creationId xmlns:a16="http://schemas.microsoft.com/office/drawing/2014/main" id="{7F300477-C8D5-1FA6-E7B3-B357CEB50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4740" y="183582"/>
            <a:ext cx="2367885" cy="61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magine 7" descr="Immagine che contiene testo, persona, Tecnico, ingegneria&#10;&#10;Descrizione generata automaticamente">
            <a:extLst>
              <a:ext uri="{FF2B5EF4-FFF2-40B4-BE49-F238E27FC236}">
                <a16:creationId xmlns:a16="http://schemas.microsoft.com/office/drawing/2014/main" id="{AEDE017A-98C8-E04C-0846-1751971FA3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446" y="1153780"/>
            <a:ext cx="6308433" cy="2249197"/>
          </a:xfrm>
          <a:prstGeom prst="rect">
            <a:avLst/>
          </a:prstGeom>
        </p:spPr>
      </p:pic>
      <p:pic>
        <p:nvPicPr>
          <p:cNvPr id="9" name="Immagine 8" descr="Immagine che contiene persona, testo, vestiti, interno&#10;&#10;Descrizione generata automaticamente">
            <a:extLst>
              <a:ext uri="{FF2B5EF4-FFF2-40B4-BE49-F238E27FC236}">
                <a16:creationId xmlns:a16="http://schemas.microsoft.com/office/drawing/2014/main" id="{A8132732-9418-7B61-CEB6-D61D232228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446" y="3563232"/>
            <a:ext cx="6308434" cy="2249197"/>
          </a:xfrm>
          <a:prstGeom prst="rect">
            <a:avLst/>
          </a:prstGeom>
        </p:spPr>
      </p:pic>
      <p:sp>
        <p:nvSpPr>
          <p:cNvPr id="2" name="Rettangolo 36">
            <a:extLst>
              <a:ext uri="{FF2B5EF4-FFF2-40B4-BE49-F238E27FC236}">
                <a16:creationId xmlns:a16="http://schemas.microsoft.com/office/drawing/2014/main" id="{88F48D48-B537-26D7-87D7-E5E38834F2A1}"/>
              </a:ext>
            </a:extLst>
          </p:cNvPr>
          <p:cNvSpPr/>
          <p:nvPr/>
        </p:nvSpPr>
        <p:spPr>
          <a:xfrm>
            <a:off x="0" y="4037987"/>
            <a:ext cx="5495827" cy="30777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marR="0" lvl="5" algn="ctr" defTabSz="1427378" rtl="0" eaLnBrk="1" fontAlgn="auto" latinLnBrk="0" hangingPunct="1">
              <a:lnSpc>
                <a:spcPct val="100000"/>
              </a:lnSpc>
              <a:spcBef>
                <a:spcPts val="624"/>
              </a:spcBef>
              <a:spcAft>
                <a:spcPts val="0"/>
              </a:spcAft>
              <a:buClrTx/>
              <a:buSzPct val="120000"/>
              <a:tabLst/>
              <a:defRPr sz="1200">
                <a:solidFill>
                  <a:srgbClr val="404040"/>
                </a:solidFill>
              </a:defRPr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Live in vendita dal 4 Luglio</a:t>
            </a:r>
          </a:p>
        </p:txBody>
      </p:sp>
    </p:spTree>
    <p:extLst>
      <p:ext uri="{BB962C8B-B14F-4D97-AF65-F5344CB8AC3E}">
        <p14:creationId xmlns:p14="http://schemas.microsoft.com/office/powerpoint/2010/main" val="519051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olo 1">
            <a:extLst>
              <a:ext uri="{FF2B5EF4-FFF2-40B4-BE49-F238E27FC236}">
                <a16:creationId xmlns:a16="http://schemas.microsoft.com/office/drawing/2014/main" id="{FB9F9ED5-B8ED-7BB0-FBEC-C56D6203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00" y="196030"/>
            <a:ext cx="3460000" cy="572812"/>
          </a:xfrm>
        </p:spPr>
        <p:txBody>
          <a:bodyPr>
            <a:normAutofit/>
          </a:bodyPr>
          <a:lstStyle/>
          <a:p>
            <a:r>
              <a:rPr lang="it-IT" sz="25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2" name="btfpBulletedList988059">
            <a:extLst>
              <a:ext uri="{FF2B5EF4-FFF2-40B4-BE49-F238E27FC236}">
                <a16:creationId xmlns:a16="http://schemas.microsoft.com/office/drawing/2014/main" id="{8E0DC267-6AA9-B04B-7821-87C884B7979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751941" y="1752387"/>
            <a:ext cx="8709994" cy="1676613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>
            <a:defPPr>
              <a:defRPr lang="it-IT"/>
            </a:defPPr>
            <a:lvl1pPr marL="237061" indent="-237061" defTabSz="1219170">
              <a:buFontTx/>
              <a:buChar char="•"/>
              <a:defRPr sz="2000" b="1">
                <a:solidFill>
                  <a:schemeClr val="tx2"/>
                </a:solidFill>
                <a:cs typeface="Arial"/>
              </a:defRPr>
            </a:lvl1pPr>
            <a:lvl2pPr marL="800100" lvl="1" indent="-342900" defTabSz="1219170">
              <a:buFont typeface="Courier New" panose="02070309020205020404" pitchFamily="49" charset="0"/>
              <a:buChar char="o"/>
              <a:defRPr>
                <a:solidFill>
                  <a:schemeClr val="tx2"/>
                </a:solidFill>
                <a:cs typeface="Arial"/>
              </a:defRPr>
            </a:lvl2pPr>
            <a:lvl3pPr marL="1257300" lvl="2" indent="-342900" defTabSz="1219170">
              <a:buFont typeface="Courier New" panose="02070309020205020404" pitchFamily="49" charset="0"/>
              <a:buChar char="o"/>
              <a:defRPr>
                <a:solidFill>
                  <a:srgbClr val="FF0000"/>
                </a:solidFill>
                <a:cs typeface="Arial"/>
              </a:defRPr>
            </a:lvl3pPr>
          </a:lstStyle>
          <a:p>
            <a:pPr>
              <a:lnSpc>
                <a:spcPct val="200000"/>
              </a:lnSpc>
              <a:defRPr/>
            </a:pPr>
            <a:r>
              <a:rPr kumimoji="0" lang="it-IT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Il Nuovo Modello: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Lo switch in Servizio </a:t>
            </a:r>
          </a:p>
          <a:p>
            <a:pPr>
              <a:lnSpc>
                <a:spcPct val="200000"/>
              </a:lnSpc>
              <a:defRPr/>
            </a:pPr>
            <a:r>
              <a:rPr kumimoji="0" lang="it-IT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HNP Luce &amp; Gas: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 contenuti del servizio</a:t>
            </a:r>
          </a:p>
          <a:p>
            <a:pPr>
              <a:lnSpc>
                <a:spcPct val="200000"/>
              </a:lnSpc>
              <a:defRPr/>
            </a:pPr>
            <a:r>
              <a:rPr lang="it-IT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Il nuovo set Contrattuale</a:t>
            </a:r>
            <a:endParaRPr kumimoji="0" lang="en-AU" sz="1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7">
            <a:extLst>
              <a:ext uri="{FF2B5EF4-FFF2-40B4-BE49-F238E27FC236}">
                <a16:creationId xmlns:a16="http://schemas.microsoft.com/office/drawing/2014/main" id="{ADA28CB4-2312-D672-1B4E-BA3027799E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121" y="482436"/>
            <a:ext cx="3291857" cy="517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968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226C747C-5DF5-6E22-FDEA-5295B5F362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030"/>
          <a:stretch/>
        </p:blipFill>
        <p:spPr>
          <a:xfrm>
            <a:off x="-10633" y="-14365"/>
            <a:ext cx="12202633" cy="941293"/>
          </a:xfrm>
          <a:prstGeom prst="rect">
            <a:avLst/>
          </a:prstGeom>
        </p:spPr>
      </p:pic>
      <p:sp>
        <p:nvSpPr>
          <p:cNvPr id="59" name="Rettangolo arrotondato 9">
            <a:extLst>
              <a:ext uri="{FF2B5EF4-FFF2-40B4-BE49-F238E27FC236}">
                <a16:creationId xmlns:a16="http://schemas.microsoft.com/office/drawing/2014/main" id="{2EEBEBEE-F3F6-3BCA-637E-2CB055C72ECA}"/>
              </a:ext>
            </a:extLst>
          </p:cNvPr>
          <p:cNvSpPr/>
          <p:nvPr/>
        </p:nvSpPr>
        <p:spPr>
          <a:xfrm>
            <a:off x="5834975" y="1708027"/>
            <a:ext cx="5718628" cy="3823671"/>
          </a:xfrm>
          <a:prstGeom prst="roundRect">
            <a:avLst>
              <a:gd name="adj" fmla="val 3552"/>
            </a:avLst>
          </a:prstGeom>
          <a:solidFill>
            <a:srgbClr val="027180">
              <a:alpha val="5000"/>
            </a:srgb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E46FA057-1848-98F7-CC5D-3A1DC0760347}"/>
              </a:ext>
            </a:extLst>
          </p:cNvPr>
          <p:cNvSpPr txBox="1">
            <a:spLocks/>
          </p:cNvSpPr>
          <p:nvPr/>
        </p:nvSpPr>
        <p:spPr>
          <a:xfrm>
            <a:off x="89419" y="51635"/>
            <a:ext cx="7142247" cy="367930"/>
          </a:xfrm>
          <a:prstGeom prst="rect">
            <a:avLst/>
          </a:prstGeom>
        </p:spPr>
        <p:txBody>
          <a:bodyPr/>
          <a:lstStyle>
            <a:lvl1pPr algn="l" defTabSz="67600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94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6760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Il </a:t>
            </a:r>
            <a:r>
              <a:rPr lang="it-IT" sz="25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nuovo </a:t>
            </a:r>
            <a:r>
              <a:rPr kumimoji="0" lang="it-IT" sz="2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modello: Lo switch in Servizio</a:t>
            </a:r>
            <a:r>
              <a:rPr kumimoji="0" lang="it-IT" sz="2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760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Caratteristiche e Vantaggi principali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472A714F-CAA3-CD22-D7C4-D6B8B2A716BC}"/>
              </a:ext>
            </a:extLst>
          </p:cNvPr>
          <p:cNvSpPr/>
          <p:nvPr/>
        </p:nvSpPr>
        <p:spPr>
          <a:xfrm>
            <a:off x="10495336" y="1804273"/>
            <a:ext cx="929211" cy="402068"/>
          </a:xfrm>
          <a:prstGeom prst="roundRect">
            <a:avLst/>
          </a:prstGeom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Switch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Da </a:t>
            </a:r>
            <a:r>
              <a:rPr lang="it-IT" sz="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LUGLIO</a:t>
            </a:r>
            <a:endParaRPr kumimoji="0" lang="it-IT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Rettangolo 89">
            <a:extLst>
              <a:ext uri="{FF2B5EF4-FFF2-40B4-BE49-F238E27FC236}">
                <a16:creationId xmlns:a16="http://schemas.microsoft.com/office/drawing/2014/main" id="{7B92BBB7-8B1A-3136-2665-F2082DDC9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4183" y="2481343"/>
            <a:ext cx="5146396" cy="53679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6184" tIns="71347" rIns="56184" bIns="71347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718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«Vendibile» all’intera Customer base Energy,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en-US" sz="1050" b="1" dirty="0">
                <a:latin typeface="Segoe UI" panose="020B0502040204020203" pitchFamily="34" charset="0"/>
                <a:cs typeface="Segoe UI" panose="020B0502040204020203" pitchFamily="34" charset="0"/>
              </a:rPr>
              <a:t>In modalità polizza c’era il vincolo di accessorietà</a:t>
            </a:r>
            <a:endParaRPr kumimoji="0" lang="it-IT" altLang="en-US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Contratto Luce con HNP Luce e Contratto GAS con HNP GAS</a:t>
            </a:r>
          </a:p>
        </p:txBody>
      </p:sp>
      <p:sp>
        <p:nvSpPr>
          <p:cNvPr id="91" name="Rettangolo 90">
            <a:extLst>
              <a:ext uri="{FF2B5EF4-FFF2-40B4-BE49-F238E27FC236}">
                <a16:creationId xmlns:a16="http://schemas.microsoft.com/office/drawing/2014/main" id="{D754BFD0-D35D-E1B6-C669-30174BFAE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419" y="3228044"/>
            <a:ext cx="5136777" cy="53679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6184" tIns="71347" rIns="56184" bIns="71347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02718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Incasso diretto mensile sul cliente</a:t>
            </a:r>
            <a:endParaRPr kumimoji="0" lang="it-IT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2718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3164221-0825-57BA-BDA7-BB86A9E1C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4183" y="4057880"/>
            <a:ext cx="5146396" cy="53679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6184" tIns="71347" rIns="56184" bIns="71347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718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In caso il cliente receda è tenuto a corrispondere integralmente l’annualità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C5549DC-406F-8524-489E-436F28830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419" y="4751424"/>
            <a:ext cx="5146396" cy="53679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6184" tIns="71347" rIns="56184" bIns="71347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718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Possibilità di gestire promo più facilmente, </a:t>
            </a:r>
            <a:r>
              <a:rPr kumimoji="0" lang="it-IT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2718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in autonomia</a:t>
            </a:r>
            <a:endParaRPr kumimoji="0" lang="it-IT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2718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718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(es. campagna Promo Caldaia +HNP omaggio)</a:t>
            </a:r>
          </a:p>
        </p:txBody>
      </p:sp>
      <p:sp>
        <p:nvSpPr>
          <p:cNvPr id="15" name="Gallone 12">
            <a:extLst>
              <a:ext uri="{FF2B5EF4-FFF2-40B4-BE49-F238E27FC236}">
                <a16:creationId xmlns:a16="http://schemas.microsoft.com/office/drawing/2014/main" id="{76123661-55C6-3289-9B12-B533E2966949}"/>
              </a:ext>
            </a:extLst>
          </p:cNvPr>
          <p:cNvSpPr/>
          <p:nvPr/>
        </p:nvSpPr>
        <p:spPr>
          <a:xfrm>
            <a:off x="6308064" y="1778892"/>
            <a:ext cx="4254136" cy="448813"/>
          </a:xfrm>
          <a:prstGeom prst="chevron">
            <a:avLst/>
          </a:prstGeom>
          <a:solidFill>
            <a:srgbClr val="02718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Vantaggi del Modello in Servizio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E198BAFA-34CA-FEB3-66C7-4963D0D1374E}"/>
              </a:ext>
            </a:extLst>
          </p:cNvPr>
          <p:cNvSpPr/>
          <p:nvPr/>
        </p:nvSpPr>
        <p:spPr>
          <a:xfrm>
            <a:off x="6056924" y="2588529"/>
            <a:ext cx="251140" cy="241267"/>
          </a:xfrm>
          <a:prstGeom prst="ellipse">
            <a:avLst/>
          </a:prstGeom>
          <a:solidFill>
            <a:srgbClr val="027180"/>
          </a:solidFill>
          <a:ln w="3175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+</a:t>
            </a:r>
          </a:p>
        </p:txBody>
      </p:sp>
      <p:sp>
        <p:nvSpPr>
          <p:cNvPr id="50" name="Rettangolo arrotondato 109">
            <a:extLst>
              <a:ext uri="{FF2B5EF4-FFF2-40B4-BE49-F238E27FC236}">
                <a16:creationId xmlns:a16="http://schemas.microsoft.com/office/drawing/2014/main" id="{89D282EA-E47C-AA3F-D67C-C9982541254B}"/>
              </a:ext>
            </a:extLst>
          </p:cNvPr>
          <p:cNvSpPr/>
          <p:nvPr/>
        </p:nvSpPr>
        <p:spPr>
          <a:xfrm>
            <a:off x="767286" y="1271006"/>
            <a:ext cx="4318575" cy="5216323"/>
          </a:xfrm>
          <a:prstGeom prst="roundRect">
            <a:avLst>
              <a:gd name="adj" fmla="val 4185"/>
            </a:avLst>
          </a:prstGeom>
          <a:solidFill>
            <a:schemeClr val="bg1">
              <a:lumMod val="95000"/>
            </a:schemeClr>
          </a:solidFill>
          <a:ln w="3175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80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2" name="Connettore 1 215">
            <a:extLst>
              <a:ext uri="{FF2B5EF4-FFF2-40B4-BE49-F238E27FC236}">
                <a16:creationId xmlns:a16="http://schemas.microsoft.com/office/drawing/2014/main" id="{DE6867A9-1616-0210-261C-1B89CDA238CF}"/>
              </a:ext>
            </a:extLst>
          </p:cNvPr>
          <p:cNvCxnSpPr>
            <a:cxnSpLocks/>
          </p:cNvCxnSpPr>
          <p:nvPr/>
        </p:nvCxnSpPr>
        <p:spPr>
          <a:xfrm>
            <a:off x="830025" y="3480511"/>
            <a:ext cx="4212000" cy="0"/>
          </a:xfrm>
          <a:prstGeom prst="line">
            <a:avLst/>
          </a:prstGeom>
          <a:ln w="3175">
            <a:solidFill>
              <a:srgbClr val="40404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Segnaposto testo 1">
            <a:extLst>
              <a:ext uri="{FF2B5EF4-FFF2-40B4-BE49-F238E27FC236}">
                <a16:creationId xmlns:a16="http://schemas.microsoft.com/office/drawing/2014/main" id="{E0B86BD6-F66D-EC7E-C18B-5969CC634817}"/>
              </a:ext>
            </a:extLst>
          </p:cNvPr>
          <p:cNvSpPr txBox="1">
            <a:spLocks/>
          </p:cNvSpPr>
          <p:nvPr/>
        </p:nvSpPr>
        <p:spPr>
          <a:xfrm>
            <a:off x="1000867" y="2725212"/>
            <a:ext cx="3070375" cy="282742"/>
          </a:xfrm>
          <a:prstGeom prst="rect">
            <a:avLst/>
          </a:prstGeom>
          <a:noFill/>
        </p:spPr>
        <p:txBody>
          <a:bodyPr wrap="square" tIns="56184" bIns="56184">
            <a:spAutoFit/>
          </a:bodyPr>
          <a:lstStyle>
            <a:defPPr>
              <a:defRPr lang="it-IT"/>
            </a:defPPr>
            <a:lvl1pPr marL="182563" indent="-182563">
              <a:buClr>
                <a:srgbClr val="FF0000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004563"/>
                </a:solidFill>
                <a:latin typeface="Century Gothic"/>
              </a:defRPr>
            </a:lvl1pPr>
          </a:lstStyle>
          <a:p>
            <a:pPr marL="141225" marR="0" lvl="5" indent="-141225" algn="l" defTabSz="914400" rtl="0" eaLnBrk="1" fontAlgn="auto" latinLnBrk="0" hangingPunct="1">
              <a:lnSpc>
                <a:spcPct val="100000"/>
              </a:lnSpc>
              <a:spcBef>
                <a:spcPts val="156"/>
              </a:spcBef>
              <a:spcAft>
                <a:spcPts val="0"/>
              </a:spcAft>
              <a:buClrTx/>
              <a:buSzPct val="120000"/>
              <a:buFontTx/>
              <a:buBlip>
                <a:blip r:embed="rId4"/>
              </a:buBlip>
              <a:tabLst/>
              <a:defRPr/>
            </a:pPr>
            <a:r>
              <a:rPr kumimoji="0" lang="it-IT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FEE Vendite</a:t>
            </a: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: all’attivazione del Servizio</a:t>
            </a:r>
            <a:endParaRPr kumimoji="0" lang="it-IT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2" name="Rectangle 105">
            <a:extLst>
              <a:ext uri="{FF2B5EF4-FFF2-40B4-BE49-F238E27FC236}">
                <a16:creationId xmlns:a16="http://schemas.microsoft.com/office/drawing/2014/main" id="{3BEF064F-5A7C-F395-CE49-22D812F76973}"/>
              </a:ext>
            </a:extLst>
          </p:cNvPr>
          <p:cNvSpPr>
            <a:spLocks/>
          </p:cNvSpPr>
          <p:nvPr/>
        </p:nvSpPr>
        <p:spPr>
          <a:xfrm>
            <a:off x="1145127" y="1066268"/>
            <a:ext cx="3582325" cy="329890"/>
          </a:xfrm>
          <a:prstGeom prst="rect">
            <a:avLst/>
          </a:prstGeom>
          <a:solidFill>
            <a:srgbClr val="027180"/>
          </a:solidFill>
          <a:ln w="95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720" tIns="211970" rIns="219720" bIns="211970" rtlCol="0" anchor="ctr" anchorCtr="0"/>
          <a:lstStyle/>
          <a:p>
            <a:pPr marL="293877" marR="0" lvl="0" indent="0" algn="ctr" defTabSz="21598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Modalità di vendita del Servizio</a:t>
            </a:r>
          </a:p>
        </p:txBody>
      </p: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CB59E816-B99D-3C3D-8C4A-DFA4784C6655}"/>
              </a:ext>
            </a:extLst>
          </p:cNvPr>
          <p:cNvGrpSpPr/>
          <p:nvPr/>
        </p:nvGrpSpPr>
        <p:grpSpPr>
          <a:xfrm>
            <a:off x="4140727" y="1688907"/>
            <a:ext cx="654091" cy="533436"/>
            <a:chOff x="9754076" y="3635831"/>
            <a:chExt cx="654091" cy="533436"/>
          </a:xfrm>
        </p:grpSpPr>
        <p:sp>
          <p:nvSpPr>
            <p:cNvPr id="65" name="Rettangolo con angoli arrotondati 64">
              <a:extLst>
                <a:ext uri="{FF2B5EF4-FFF2-40B4-BE49-F238E27FC236}">
                  <a16:creationId xmlns:a16="http://schemas.microsoft.com/office/drawing/2014/main" id="{173A762E-13E4-FE3A-39A7-D6299FB3156F}"/>
                </a:ext>
              </a:extLst>
            </p:cNvPr>
            <p:cNvSpPr/>
            <p:nvPr/>
          </p:nvSpPr>
          <p:spPr>
            <a:xfrm>
              <a:off x="9754076" y="3635831"/>
              <a:ext cx="654091" cy="533436"/>
            </a:xfrm>
            <a:prstGeom prst="roundRect">
              <a:avLst/>
            </a:prstGeom>
            <a:ln w="3175">
              <a:solidFill>
                <a:srgbClr val="40404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7" name="Immagine 66">
              <a:extLst>
                <a:ext uri="{FF2B5EF4-FFF2-40B4-BE49-F238E27FC236}">
                  <a16:creationId xmlns:a16="http://schemas.microsoft.com/office/drawing/2014/main" id="{3412A685-1AE5-1612-BF94-E194CA77C4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0854" t="31797" r="61266" b="62302"/>
            <a:stretch/>
          </p:blipFill>
          <p:spPr>
            <a:xfrm>
              <a:off x="9849702" y="3788173"/>
              <a:ext cx="495998" cy="242182"/>
            </a:xfrm>
            <a:prstGeom prst="rect">
              <a:avLst/>
            </a:prstGeom>
          </p:spPr>
        </p:pic>
      </p:grpSp>
      <p:grpSp>
        <p:nvGrpSpPr>
          <p:cNvPr id="69" name="Gruppo 68">
            <a:extLst>
              <a:ext uri="{FF2B5EF4-FFF2-40B4-BE49-F238E27FC236}">
                <a16:creationId xmlns:a16="http://schemas.microsoft.com/office/drawing/2014/main" id="{9BF0E292-89AF-28F8-C6C2-5CDDCCFD24AB}"/>
              </a:ext>
            </a:extLst>
          </p:cNvPr>
          <p:cNvGrpSpPr/>
          <p:nvPr/>
        </p:nvGrpSpPr>
        <p:grpSpPr>
          <a:xfrm>
            <a:off x="4144270" y="2574192"/>
            <a:ext cx="654091" cy="533437"/>
            <a:chOff x="9757619" y="4553773"/>
            <a:chExt cx="654091" cy="533437"/>
          </a:xfrm>
        </p:grpSpPr>
        <p:sp>
          <p:nvSpPr>
            <p:cNvPr id="71" name="Rettangolo con angoli arrotondati 70">
              <a:extLst>
                <a:ext uri="{FF2B5EF4-FFF2-40B4-BE49-F238E27FC236}">
                  <a16:creationId xmlns:a16="http://schemas.microsoft.com/office/drawing/2014/main" id="{2CCDAC5F-5D16-4A8F-691A-8AD0D8EF9318}"/>
                </a:ext>
              </a:extLst>
            </p:cNvPr>
            <p:cNvSpPr/>
            <p:nvPr/>
          </p:nvSpPr>
          <p:spPr>
            <a:xfrm>
              <a:off x="9757619" y="4553774"/>
              <a:ext cx="654091" cy="533436"/>
            </a:xfrm>
            <a:prstGeom prst="roundRect">
              <a:avLst/>
            </a:prstGeom>
            <a:ln w="3175">
              <a:solidFill>
                <a:srgbClr val="40404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2" name="Picture 12" descr="Pembelian Penjualan Ikon - Gambar gratis di Pixabay">
              <a:extLst>
                <a:ext uri="{FF2B5EF4-FFF2-40B4-BE49-F238E27FC236}">
                  <a16:creationId xmlns:a16="http://schemas.microsoft.com/office/drawing/2014/main" id="{F9F849BB-5864-29EB-7B36-EEB5C925B2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79" t="9013" r="13534" b="13272"/>
            <a:stretch/>
          </p:blipFill>
          <p:spPr bwMode="auto">
            <a:xfrm>
              <a:off x="9847517" y="4553773"/>
              <a:ext cx="498183" cy="5061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C68D21B0-A4F5-16FA-4D64-98457F7ABD20}"/>
              </a:ext>
            </a:extLst>
          </p:cNvPr>
          <p:cNvSpPr txBox="1"/>
          <p:nvPr/>
        </p:nvSpPr>
        <p:spPr>
          <a:xfrm>
            <a:off x="978407" y="1647308"/>
            <a:ext cx="31918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1225" marR="0" lvl="5" indent="-141225" algn="l" defTabSz="914400" rtl="0" eaLnBrk="1" fontAlgn="auto" latinLnBrk="0" hangingPunct="1">
              <a:lnSpc>
                <a:spcPct val="100000"/>
              </a:lnSpc>
              <a:spcBef>
                <a:spcPts val="156"/>
              </a:spcBef>
              <a:spcAft>
                <a:spcPts val="0"/>
              </a:spcAft>
              <a:buClrTx/>
              <a:buSzPct val="120000"/>
              <a:buFontTx/>
              <a:buBlip>
                <a:blip r:embed="rId4"/>
              </a:buBlip>
              <a:tabLst/>
              <a:defRPr/>
            </a:pPr>
            <a:r>
              <a:rPr lang="it-IT" sz="11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Il cliente è di </a:t>
            </a:r>
            <a:r>
              <a:rPr kumimoji="0" lang="it-IT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HERA</a:t>
            </a:r>
            <a:r>
              <a:rPr kumimoji="0" lang="it-IT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(con la polizza il cliente era del partner assicurativo)</a:t>
            </a:r>
          </a:p>
          <a:p>
            <a:pPr marL="141225" marR="0" lvl="5" indent="-141225" algn="l" defTabSz="914400" rtl="0" eaLnBrk="1" fontAlgn="auto" latinLnBrk="0" hangingPunct="1">
              <a:lnSpc>
                <a:spcPct val="100000"/>
              </a:lnSpc>
              <a:spcBef>
                <a:spcPts val="156"/>
              </a:spcBef>
              <a:spcAft>
                <a:spcPts val="0"/>
              </a:spcAft>
              <a:buClrTx/>
              <a:buSzPct val="120000"/>
              <a:buFontTx/>
              <a:buBlip>
                <a:blip r:embed="rId4"/>
              </a:buBlip>
              <a:tabLst/>
              <a:defRPr/>
            </a:pPr>
            <a:endParaRPr lang="it-IT" altLang="en-US" sz="11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41225" marR="0" lvl="5" indent="-141225" algn="l" defTabSz="914400" rtl="0" eaLnBrk="1" fontAlgn="auto" latinLnBrk="0" hangingPunct="1">
              <a:lnSpc>
                <a:spcPct val="100000"/>
              </a:lnSpc>
              <a:spcBef>
                <a:spcPts val="156"/>
              </a:spcBef>
              <a:spcAft>
                <a:spcPts val="0"/>
              </a:spcAft>
              <a:buClrTx/>
              <a:buSzPct val="120000"/>
              <a:buFontTx/>
              <a:buBlip>
                <a:blip r:embed="rId4"/>
              </a:buBlip>
              <a:tabLst/>
              <a:defRPr/>
            </a:pPr>
            <a:r>
              <a:rPr kumimoji="0" lang="it-IT" altLang="en-US" sz="11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Nuovo Plico contrattuale HERA dedicato</a:t>
            </a:r>
          </a:p>
          <a:p>
            <a:pPr marL="171450" marR="0" lvl="5" indent="-171450" algn="l" defTabSz="914400" rtl="0" eaLnBrk="1" fontAlgn="auto" latinLnBrk="0" hangingPunct="1">
              <a:lnSpc>
                <a:spcPct val="100000"/>
              </a:lnSpc>
              <a:spcBef>
                <a:spcPts val="156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endParaRPr kumimoji="0" lang="it-IT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E33D732E-BEC4-F6F6-ABA5-580A593B19FB}"/>
              </a:ext>
            </a:extLst>
          </p:cNvPr>
          <p:cNvSpPr/>
          <p:nvPr/>
        </p:nvSpPr>
        <p:spPr>
          <a:xfrm>
            <a:off x="2350935" y="5568075"/>
            <a:ext cx="993935" cy="818310"/>
          </a:xfrm>
          <a:prstGeom prst="roundRect">
            <a:avLst/>
          </a:prstGeom>
          <a:ln w="3175">
            <a:solidFill>
              <a:srgbClr val="40404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6" name="Picture 4" descr="Contrat de réexpédition, comment cela fonctionne">
            <a:extLst>
              <a:ext uri="{FF2B5EF4-FFF2-40B4-BE49-F238E27FC236}">
                <a16:creationId xmlns:a16="http://schemas.microsoft.com/office/drawing/2014/main" id="{7D5C1336-560D-E332-F55B-3FFB9A474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071" y="5661515"/>
            <a:ext cx="603559" cy="656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7" name="Gruppo 76">
            <a:extLst>
              <a:ext uri="{FF2B5EF4-FFF2-40B4-BE49-F238E27FC236}">
                <a16:creationId xmlns:a16="http://schemas.microsoft.com/office/drawing/2014/main" id="{7B5C8283-A79A-5ED9-B12E-1859E79BB9C0}"/>
              </a:ext>
            </a:extLst>
          </p:cNvPr>
          <p:cNvGrpSpPr/>
          <p:nvPr/>
        </p:nvGrpSpPr>
        <p:grpSpPr>
          <a:xfrm>
            <a:off x="3574275" y="5686052"/>
            <a:ext cx="993935" cy="548589"/>
            <a:chOff x="9940829" y="4216845"/>
            <a:chExt cx="993935" cy="548589"/>
          </a:xfrm>
        </p:grpSpPr>
        <p:sp>
          <p:nvSpPr>
            <p:cNvPr id="78" name="Rettangolo con angoli arrotondati 77">
              <a:extLst>
                <a:ext uri="{FF2B5EF4-FFF2-40B4-BE49-F238E27FC236}">
                  <a16:creationId xmlns:a16="http://schemas.microsoft.com/office/drawing/2014/main" id="{D99ABAA7-1345-84F2-088A-93F2866B3C7D}"/>
                </a:ext>
              </a:extLst>
            </p:cNvPr>
            <p:cNvSpPr/>
            <p:nvPr/>
          </p:nvSpPr>
          <p:spPr>
            <a:xfrm>
              <a:off x="9940829" y="4216845"/>
              <a:ext cx="993935" cy="54858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40404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9" name="Picture 4" descr="Risultato immagine per powered by axa ">
              <a:extLst>
                <a:ext uri="{FF2B5EF4-FFF2-40B4-BE49-F238E27FC236}">
                  <a16:creationId xmlns:a16="http://schemas.microsoft.com/office/drawing/2014/main" id="{39E08630-0865-DA15-0771-A2B43F339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4629" y="4456050"/>
              <a:ext cx="455736" cy="3053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0" name="Gruppo 79">
            <a:extLst>
              <a:ext uri="{FF2B5EF4-FFF2-40B4-BE49-F238E27FC236}">
                <a16:creationId xmlns:a16="http://schemas.microsoft.com/office/drawing/2014/main" id="{71A7B583-04D1-33BA-A65E-5F5FFA22F5B0}"/>
              </a:ext>
            </a:extLst>
          </p:cNvPr>
          <p:cNvGrpSpPr/>
          <p:nvPr/>
        </p:nvGrpSpPr>
        <p:grpSpPr>
          <a:xfrm>
            <a:off x="1144306" y="5702935"/>
            <a:ext cx="993935" cy="548589"/>
            <a:chOff x="1347239" y="4216845"/>
            <a:chExt cx="993935" cy="548589"/>
          </a:xfrm>
        </p:grpSpPr>
        <p:sp>
          <p:nvSpPr>
            <p:cNvPr id="81" name="Rettangolo con angoli arrotondati 80">
              <a:extLst>
                <a:ext uri="{FF2B5EF4-FFF2-40B4-BE49-F238E27FC236}">
                  <a16:creationId xmlns:a16="http://schemas.microsoft.com/office/drawing/2014/main" id="{5066F404-33F1-BF61-44E1-93EB0A179918}"/>
                </a:ext>
              </a:extLst>
            </p:cNvPr>
            <p:cNvSpPr/>
            <p:nvPr/>
          </p:nvSpPr>
          <p:spPr>
            <a:xfrm>
              <a:off x="1347239" y="4216845"/>
              <a:ext cx="993935" cy="54858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40404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3" name="Immagine 82">
              <a:extLst>
                <a:ext uri="{FF2B5EF4-FFF2-40B4-BE49-F238E27FC236}">
                  <a16:creationId xmlns:a16="http://schemas.microsoft.com/office/drawing/2014/main" id="{7F04EED0-CD00-F56F-6D01-6940765628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30854" t="31797" r="61266" b="62302"/>
            <a:stretch/>
          </p:blipFill>
          <p:spPr>
            <a:xfrm>
              <a:off x="1450632" y="4355790"/>
              <a:ext cx="842499" cy="354905"/>
            </a:xfrm>
            <a:prstGeom prst="rect">
              <a:avLst/>
            </a:prstGeom>
          </p:spPr>
        </p:pic>
      </p:grpSp>
      <p:cxnSp>
        <p:nvCxnSpPr>
          <p:cNvPr id="84" name="Connettore 2 83">
            <a:extLst>
              <a:ext uri="{FF2B5EF4-FFF2-40B4-BE49-F238E27FC236}">
                <a16:creationId xmlns:a16="http://schemas.microsoft.com/office/drawing/2014/main" id="{D57CB44C-D1AC-9B5A-FB89-3D4D9BDBB6B2}"/>
              </a:ext>
            </a:extLst>
          </p:cNvPr>
          <p:cNvCxnSpPr>
            <a:cxnSpLocks/>
          </p:cNvCxnSpPr>
          <p:nvPr/>
        </p:nvCxnSpPr>
        <p:spPr>
          <a:xfrm flipH="1">
            <a:off x="2138241" y="5972728"/>
            <a:ext cx="2126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8929475F-5F6B-B310-FEF0-D8CFA51F29F8}"/>
              </a:ext>
            </a:extLst>
          </p:cNvPr>
          <p:cNvCxnSpPr>
            <a:cxnSpLocks/>
          </p:cNvCxnSpPr>
          <p:nvPr/>
        </p:nvCxnSpPr>
        <p:spPr>
          <a:xfrm>
            <a:off x="3345186" y="5972728"/>
            <a:ext cx="212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Segnaposto testo 1">
            <a:extLst>
              <a:ext uri="{FF2B5EF4-FFF2-40B4-BE49-F238E27FC236}">
                <a16:creationId xmlns:a16="http://schemas.microsoft.com/office/drawing/2014/main" id="{AFA528E7-161C-6CF9-67BF-E01C77081031}"/>
              </a:ext>
            </a:extLst>
          </p:cNvPr>
          <p:cNvSpPr txBox="1">
            <a:spLocks/>
          </p:cNvSpPr>
          <p:nvPr/>
        </p:nvSpPr>
        <p:spPr>
          <a:xfrm>
            <a:off x="1186837" y="5054030"/>
            <a:ext cx="3423905" cy="477668"/>
          </a:xfrm>
          <a:prstGeom prst="rect">
            <a:avLst/>
          </a:prstGeom>
          <a:noFill/>
        </p:spPr>
        <p:txBody>
          <a:bodyPr wrap="square" tIns="56184" bIns="56184">
            <a:spAutoFit/>
          </a:bodyPr>
          <a:lstStyle>
            <a:defPPr>
              <a:defRPr lang="it-IT"/>
            </a:defPPr>
            <a:lvl1pPr marL="182563" indent="-182563">
              <a:buClr>
                <a:srgbClr val="FF0000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004563"/>
                </a:solidFill>
                <a:latin typeface="Century Gothic"/>
              </a:defRPr>
            </a:lvl1pPr>
          </a:lstStyle>
          <a:p>
            <a:pPr marL="0" marR="0" lvl="5" algn="ctr" defTabSz="914400" rtl="0" eaLnBrk="1" fontAlgn="auto" latinLnBrk="0" hangingPunct="1">
              <a:lnSpc>
                <a:spcPct val="100000"/>
              </a:lnSpc>
              <a:spcBef>
                <a:spcPts val="156"/>
              </a:spcBef>
              <a:spcAft>
                <a:spcPts val="0"/>
              </a:spcAft>
              <a:buClrTx/>
              <a:buSzPct val="120000"/>
              <a:tabLst/>
              <a:defRPr/>
            </a:pPr>
            <a:r>
              <a:rPr lang="it-IT" sz="11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AXA </a:t>
            </a:r>
            <a:r>
              <a:rPr kumimoji="0" lang="it-IT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IPAS </a:t>
            </a:r>
            <a:r>
              <a:rPr kumimoji="0" lang="it-IT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(Inter Partner Assistance Services) </a:t>
            </a:r>
          </a:p>
          <a:p>
            <a:pPr marL="0" marR="0" lvl="5" algn="ctr" defTabSz="914400" rtl="0" eaLnBrk="1" fontAlgn="auto" latinLnBrk="0" hangingPunct="1">
              <a:lnSpc>
                <a:spcPct val="100000"/>
              </a:lnSpc>
              <a:spcBef>
                <a:spcPts val="156"/>
              </a:spcBef>
              <a:spcAft>
                <a:spcPts val="0"/>
              </a:spcAft>
              <a:buClrTx/>
              <a:buSzPct val="120000"/>
              <a:tabLst/>
              <a:defRPr/>
            </a:pPr>
            <a:r>
              <a:rPr kumimoji="0" lang="it-IT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come Partner di servizio</a:t>
            </a:r>
          </a:p>
        </p:txBody>
      </p:sp>
      <p:sp>
        <p:nvSpPr>
          <p:cNvPr id="103" name="CasellaDiTesto 102">
            <a:extLst>
              <a:ext uri="{FF2B5EF4-FFF2-40B4-BE49-F238E27FC236}">
                <a16:creationId xmlns:a16="http://schemas.microsoft.com/office/drawing/2014/main" id="{AC363B23-CF57-8637-35A6-C094405ADA06}"/>
              </a:ext>
            </a:extLst>
          </p:cNvPr>
          <p:cNvSpPr txBox="1"/>
          <p:nvPr/>
        </p:nvSpPr>
        <p:spPr>
          <a:xfrm>
            <a:off x="3565234" y="5665017"/>
            <a:ext cx="10513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IPAS</a:t>
            </a:r>
            <a:endParaRPr lang="it-IT" sz="10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4" name="Connettore 1 215">
            <a:extLst>
              <a:ext uri="{FF2B5EF4-FFF2-40B4-BE49-F238E27FC236}">
                <a16:creationId xmlns:a16="http://schemas.microsoft.com/office/drawing/2014/main" id="{4AD7E866-EBC4-E715-245E-28F7089B0B15}"/>
              </a:ext>
            </a:extLst>
          </p:cNvPr>
          <p:cNvCxnSpPr>
            <a:cxnSpLocks/>
          </p:cNvCxnSpPr>
          <p:nvPr/>
        </p:nvCxnSpPr>
        <p:spPr>
          <a:xfrm>
            <a:off x="855046" y="4988857"/>
            <a:ext cx="4212000" cy="0"/>
          </a:xfrm>
          <a:prstGeom prst="line">
            <a:avLst/>
          </a:prstGeom>
          <a:ln w="3175">
            <a:solidFill>
              <a:srgbClr val="40404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sellaDiTesto 104">
            <a:extLst>
              <a:ext uri="{FF2B5EF4-FFF2-40B4-BE49-F238E27FC236}">
                <a16:creationId xmlns:a16="http://schemas.microsoft.com/office/drawing/2014/main" id="{721BD25B-DC00-DB08-B44F-18670F174DE5}"/>
              </a:ext>
            </a:extLst>
          </p:cNvPr>
          <p:cNvSpPr txBox="1"/>
          <p:nvPr/>
        </p:nvSpPr>
        <p:spPr>
          <a:xfrm>
            <a:off x="10530198" y="2590232"/>
            <a:ext cx="7803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en-US" sz="1400" b="1" i="0" u="none" strike="noStrike" kern="120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uLnTx/>
                <a:uFillTx/>
                <a:latin typeface="Segoe UI" panose="020B0502040204020203" pitchFamily="34" charset="0"/>
                <a:ea typeface="Osaka"/>
                <a:cs typeface="Segoe UI" panose="020B0502040204020203" pitchFamily="34" charset="0"/>
              </a:rPr>
              <a:t>NEW</a:t>
            </a:r>
            <a:endParaRPr kumimoji="0" lang="it-IT" sz="1400" b="1" i="0" u="none" strike="noStrike" kern="120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ED7D31">
                  <a:lumMod val="40000"/>
                  <a:lumOff val="60000"/>
                </a:srgbClr>
              </a:solidFill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05">
            <a:extLst>
              <a:ext uri="{FF2B5EF4-FFF2-40B4-BE49-F238E27FC236}">
                <a16:creationId xmlns:a16="http://schemas.microsoft.com/office/drawing/2014/main" id="{84ABE44C-8CD9-1BBF-9B0B-41BCBA2452E2}"/>
              </a:ext>
            </a:extLst>
          </p:cNvPr>
          <p:cNvSpPr>
            <a:spLocks/>
          </p:cNvSpPr>
          <p:nvPr/>
        </p:nvSpPr>
        <p:spPr>
          <a:xfrm>
            <a:off x="1102595" y="3346033"/>
            <a:ext cx="3582325" cy="329890"/>
          </a:xfrm>
          <a:prstGeom prst="rect">
            <a:avLst/>
          </a:prstGeom>
          <a:solidFill>
            <a:srgbClr val="027180"/>
          </a:solidFill>
          <a:ln w="95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9720" tIns="211970" rIns="219720" bIns="211970" rtlCol="0" anchor="ctr" anchorCtr="0"/>
          <a:lstStyle/>
          <a:p>
            <a:pPr marL="293877" marR="0" lvl="0" indent="0" algn="ctr" defTabSz="21598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Modello di pagamento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855E36C-48AE-6A1E-5606-92308EBE4365}"/>
              </a:ext>
            </a:extLst>
          </p:cNvPr>
          <p:cNvSpPr txBox="1"/>
          <p:nvPr/>
        </p:nvSpPr>
        <p:spPr>
          <a:xfrm>
            <a:off x="1323993" y="4540011"/>
            <a:ext cx="12167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 rate in </a:t>
            </a:r>
            <a:r>
              <a:rPr kumimoji="0" lang="it-IT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bolletta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767F8AC-C038-C4B0-0A5A-E75D16CFB4DF}"/>
              </a:ext>
            </a:extLst>
          </p:cNvPr>
          <p:cNvSpPr txBox="1"/>
          <p:nvPr/>
        </p:nvSpPr>
        <p:spPr>
          <a:xfrm>
            <a:off x="2642997" y="4540011"/>
            <a:ext cx="20350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Con tacito rinnovo annuo</a:t>
            </a:r>
          </a:p>
        </p:txBody>
      </p:sp>
      <p:pic>
        <p:nvPicPr>
          <p:cNvPr id="6" name="Picture 2" descr="icona della bolletta dell'acqua con euro 4806264 Arte vettoriale a Vecteezy">
            <a:extLst>
              <a:ext uri="{FF2B5EF4-FFF2-40B4-BE49-F238E27FC236}">
                <a16:creationId xmlns:a16="http://schemas.microsoft.com/office/drawing/2014/main" id="{42BE1CE0-58EE-0AC8-BDC4-4E00B22E1B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281" t="20713" r="16784" b="19888"/>
          <a:stretch/>
        </p:blipFill>
        <p:spPr bwMode="auto">
          <a:xfrm>
            <a:off x="1735578" y="3993332"/>
            <a:ext cx="407770" cy="361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Troubleshooting the cycle redundancy errors of PST file - Outlook PST ...">
            <a:extLst>
              <a:ext uri="{FF2B5EF4-FFF2-40B4-BE49-F238E27FC236}">
                <a16:creationId xmlns:a16="http://schemas.microsoft.com/office/drawing/2014/main" id="{01422C78-3651-F1DF-9CA1-102478B23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360" y="4004477"/>
            <a:ext cx="398781" cy="398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D800E6B0-F680-1CF0-1F49-CBE9402AF3B7}"/>
              </a:ext>
            </a:extLst>
          </p:cNvPr>
          <p:cNvSpPr/>
          <p:nvPr/>
        </p:nvSpPr>
        <p:spPr>
          <a:xfrm>
            <a:off x="1603613" y="3919184"/>
            <a:ext cx="654091" cy="533436"/>
          </a:xfrm>
          <a:prstGeom prst="roundRect">
            <a:avLst/>
          </a:prstGeom>
          <a:ln w="3175">
            <a:solidFill>
              <a:srgbClr val="40404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C0717349-8A78-2BDA-EDA6-865DFD5A620B}"/>
              </a:ext>
            </a:extLst>
          </p:cNvPr>
          <p:cNvSpPr/>
          <p:nvPr/>
        </p:nvSpPr>
        <p:spPr>
          <a:xfrm>
            <a:off x="3308718" y="3939595"/>
            <a:ext cx="654091" cy="533436"/>
          </a:xfrm>
          <a:prstGeom prst="roundRect">
            <a:avLst/>
          </a:prstGeom>
          <a:ln w="3175">
            <a:solidFill>
              <a:srgbClr val="40404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8445ABA4-86CB-BBFC-9D3D-C3264E10938C}"/>
              </a:ext>
            </a:extLst>
          </p:cNvPr>
          <p:cNvSpPr/>
          <p:nvPr/>
        </p:nvSpPr>
        <p:spPr>
          <a:xfrm>
            <a:off x="6056924" y="3358249"/>
            <a:ext cx="251140" cy="241267"/>
          </a:xfrm>
          <a:prstGeom prst="ellipse">
            <a:avLst/>
          </a:prstGeom>
          <a:solidFill>
            <a:srgbClr val="027180"/>
          </a:solidFill>
          <a:ln w="3175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+</a:t>
            </a:r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C899B1C7-05EF-B4B1-65EF-730A4BDC0195}"/>
              </a:ext>
            </a:extLst>
          </p:cNvPr>
          <p:cNvSpPr/>
          <p:nvPr/>
        </p:nvSpPr>
        <p:spPr>
          <a:xfrm>
            <a:off x="6056924" y="4203706"/>
            <a:ext cx="251140" cy="241267"/>
          </a:xfrm>
          <a:prstGeom prst="ellipse">
            <a:avLst/>
          </a:prstGeom>
          <a:solidFill>
            <a:srgbClr val="027180"/>
          </a:solidFill>
          <a:ln w="3175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+</a:t>
            </a: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197EEFB5-7CC0-9F5C-FC60-3C918057DEED}"/>
              </a:ext>
            </a:extLst>
          </p:cNvPr>
          <p:cNvSpPr/>
          <p:nvPr/>
        </p:nvSpPr>
        <p:spPr>
          <a:xfrm>
            <a:off x="6058765" y="4896765"/>
            <a:ext cx="251140" cy="241267"/>
          </a:xfrm>
          <a:prstGeom prst="ellipse">
            <a:avLst/>
          </a:prstGeom>
          <a:solidFill>
            <a:srgbClr val="027180"/>
          </a:solidFill>
          <a:ln w="3175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41599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, persona, Tecnico, ingegneria&#10;&#10;Descrizione generata automaticamente">
            <a:extLst>
              <a:ext uri="{FF2B5EF4-FFF2-40B4-BE49-F238E27FC236}">
                <a16:creationId xmlns:a16="http://schemas.microsoft.com/office/drawing/2014/main" id="{1D6C4957-87AB-59EA-B38B-5EFDD901B84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33" y="922044"/>
            <a:ext cx="6308433" cy="2249197"/>
          </a:xfrm>
          <a:prstGeom prst="rect">
            <a:avLst/>
          </a:prstGeom>
        </p:spPr>
      </p:pic>
      <p:pic>
        <p:nvPicPr>
          <p:cNvPr id="15" name="Immagine 14" descr="Immagine che contiene persona, testo, vestiti, interno&#10;&#10;Descrizione generata automaticamente">
            <a:extLst>
              <a:ext uri="{FF2B5EF4-FFF2-40B4-BE49-F238E27FC236}">
                <a16:creationId xmlns:a16="http://schemas.microsoft.com/office/drawing/2014/main" id="{18674C65-D579-642C-E8C4-32A9CB02D1E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924" y="919906"/>
            <a:ext cx="6308434" cy="2249197"/>
          </a:xfrm>
          <a:prstGeom prst="rect">
            <a:avLst/>
          </a:prstGeom>
        </p:spPr>
      </p:pic>
      <p:pic>
        <p:nvPicPr>
          <p:cNvPr id="20" name="Immagine 19" descr="Immagine che contiene testo, persona, Tecnico, ingegneria&#10;&#10;Descrizione generata automaticamente">
            <a:extLst>
              <a:ext uri="{FF2B5EF4-FFF2-40B4-BE49-F238E27FC236}">
                <a16:creationId xmlns:a16="http://schemas.microsoft.com/office/drawing/2014/main" id="{6987CAE3-EE84-55DC-6C08-4BBA7EEBB5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66696"/>
            <a:ext cx="6308433" cy="2249197"/>
          </a:xfrm>
          <a:prstGeom prst="rect">
            <a:avLst/>
          </a:prstGeom>
        </p:spPr>
      </p:pic>
      <p:pic>
        <p:nvPicPr>
          <p:cNvPr id="22" name="Immagine 21" descr="Immagine che contiene testo, persona, Tecnico, ingegneria&#10;&#10;Descrizione generata automaticamente">
            <a:extLst>
              <a:ext uri="{FF2B5EF4-FFF2-40B4-BE49-F238E27FC236}">
                <a16:creationId xmlns:a16="http://schemas.microsoft.com/office/drawing/2014/main" id="{67531B2E-2AF6-6438-FF58-A1AB1E422FA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23063"/>
            <a:ext cx="6308433" cy="2249197"/>
          </a:xfrm>
          <a:prstGeom prst="rect">
            <a:avLst/>
          </a:prstGeom>
        </p:spPr>
      </p:pic>
      <p:pic>
        <p:nvPicPr>
          <p:cNvPr id="23" name="Immagine 22" descr="Immagine che contiene persona, testo, vestiti, interno&#10;&#10;Descrizione generata automaticamente">
            <a:extLst>
              <a:ext uri="{FF2B5EF4-FFF2-40B4-BE49-F238E27FC236}">
                <a16:creationId xmlns:a16="http://schemas.microsoft.com/office/drawing/2014/main" id="{75F02007-E7E9-8CB4-5573-E416771BDAF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3566" y="3164790"/>
            <a:ext cx="6308434" cy="2249197"/>
          </a:xfrm>
          <a:prstGeom prst="rect">
            <a:avLst/>
          </a:prstGeom>
        </p:spPr>
      </p:pic>
      <p:pic>
        <p:nvPicPr>
          <p:cNvPr id="24" name="Immagine 23" descr="Immagine che contiene persona, testo, vestiti, interno&#10;&#10;Descrizione generata automaticamente">
            <a:extLst>
              <a:ext uri="{FF2B5EF4-FFF2-40B4-BE49-F238E27FC236}">
                <a16:creationId xmlns:a16="http://schemas.microsoft.com/office/drawing/2014/main" id="{2095888F-FA2C-5687-86FD-178DD717907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924" y="5422978"/>
            <a:ext cx="6308434" cy="224919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8257875-4ECA-AFE6-CA05-A5224020BD2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3030"/>
          <a:stretch/>
        </p:blipFill>
        <p:spPr>
          <a:xfrm>
            <a:off x="-10633" y="-14365"/>
            <a:ext cx="12202633" cy="941293"/>
          </a:xfrm>
          <a:prstGeom prst="rect">
            <a:avLst/>
          </a:prstGeom>
        </p:spPr>
      </p:pic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468F15D9-B9AC-71D4-E501-8BDC8254A668}"/>
              </a:ext>
            </a:extLst>
          </p:cNvPr>
          <p:cNvSpPr/>
          <p:nvPr/>
        </p:nvSpPr>
        <p:spPr>
          <a:xfrm>
            <a:off x="7198413" y="6117319"/>
            <a:ext cx="4797644" cy="648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969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E7819D2-CB2C-356B-D98A-87EE24B3E528}"/>
              </a:ext>
            </a:extLst>
          </p:cNvPr>
          <p:cNvSpPr/>
          <p:nvPr/>
        </p:nvSpPr>
        <p:spPr>
          <a:xfrm>
            <a:off x="960737" y="1193292"/>
            <a:ext cx="4771070" cy="4924027"/>
          </a:xfrm>
          <a:prstGeom prst="rect">
            <a:avLst/>
          </a:prstGeom>
          <a:solidFill>
            <a:schemeClr val="bg1">
              <a:alpha val="64000"/>
            </a:schemeClr>
          </a:solidFill>
          <a:ln w="57150" cap="flat" cmpd="sng" algn="ctr">
            <a:solidFill>
              <a:schemeClr val="accent2">
                <a:lumMod val="75000"/>
                <a:alpha val="81000"/>
              </a:scheme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6969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89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4DAB04D-577D-EF3B-4AD5-E1F0310FC4FC}"/>
              </a:ext>
            </a:extLst>
          </p:cNvPr>
          <p:cNvSpPr/>
          <p:nvPr/>
        </p:nvSpPr>
        <p:spPr>
          <a:xfrm>
            <a:off x="960736" y="1350522"/>
            <a:ext cx="4587447" cy="658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Servizio di assistenza e manutenzione all’impianto elettrico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u="sng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N.</a:t>
            </a:r>
            <a:r>
              <a:rPr kumimoji="0" lang="it-IT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massimo aggregato di 5 interventi tecnici/anno tra</a:t>
            </a: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A637315C-B5A7-8B0C-D555-06E465CF33EF}"/>
              </a:ext>
            </a:extLst>
          </p:cNvPr>
          <p:cNvGrpSpPr/>
          <p:nvPr/>
        </p:nvGrpSpPr>
        <p:grpSpPr>
          <a:xfrm>
            <a:off x="1171827" y="2916444"/>
            <a:ext cx="214183" cy="243082"/>
            <a:chOff x="-458962" y="2738940"/>
            <a:chExt cx="279715" cy="279683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144527BD-2861-DC89-4065-248CB83E96A5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16" name="Picture 2" descr="Catena Libero Icona di Icomoon free 1 Icons">
              <a:extLst>
                <a:ext uri="{FF2B5EF4-FFF2-40B4-BE49-F238E27FC236}">
                  <a16:creationId xmlns:a16="http://schemas.microsoft.com/office/drawing/2014/main" id="{CE2B011B-1EBE-0C97-0E55-23E126375D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Rettangolo 36">
            <a:extLst>
              <a:ext uri="{FF2B5EF4-FFF2-40B4-BE49-F238E27FC236}">
                <a16:creationId xmlns:a16="http://schemas.microsoft.com/office/drawing/2014/main" id="{B6E40540-92A8-A691-18A7-FEEF79CB607D}"/>
              </a:ext>
            </a:extLst>
          </p:cNvPr>
          <p:cNvSpPr/>
          <p:nvPr/>
        </p:nvSpPr>
        <p:spPr>
          <a:xfrm>
            <a:off x="1294905" y="1023041"/>
            <a:ext cx="3903803" cy="30777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23754" marR="0" lvl="5" indent="-423754" algn="ctr" defTabSz="1427378" rtl="0" eaLnBrk="1" fontAlgn="auto" latinLnBrk="0" hangingPunct="1">
              <a:lnSpc>
                <a:spcPct val="100000"/>
              </a:lnSpc>
              <a:spcBef>
                <a:spcPts val="624"/>
              </a:spcBef>
              <a:spcAft>
                <a:spcPts val="0"/>
              </a:spcAft>
              <a:buClrTx/>
              <a:buSzPct val="120000"/>
              <a:buFontTx/>
              <a:buBlip>
                <a:blip r:embed="rId7"/>
              </a:buBlip>
              <a:tabLst/>
              <a:defRPr sz="1200">
                <a:solidFill>
                  <a:srgbClr val="404040"/>
                </a:solidFill>
              </a:defRPr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HERA NO PROBLEM LUCE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4E6D8C2E-53AD-0B1D-8657-1A4F355647A9}"/>
              </a:ext>
            </a:extLst>
          </p:cNvPr>
          <p:cNvGrpSpPr/>
          <p:nvPr/>
        </p:nvGrpSpPr>
        <p:grpSpPr>
          <a:xfrm>
            <a:off x="1171828" y="2308167"/>
            <a:ext cx="214183" cy="243082"/>
            <a:chOff x="-458962" y="2738940"/>
            <a:chExt cx="279715" cy="279683"/>
          </a:xfrm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5D3CEF21-89A7-2B8C-C9A9-45952E2BF2FC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4" name="Picture 2" descr="Catena Libero Icona di Icomoon free 1 Icons">
              <a:extLst>
                <a:ext uri="{FF2B5EF4-FFF2-40B4-BE49-F238E27FC236}">
                  <a16:creationId xmlns:a16="http://schemas.microsoft.com/office/drawing/2014/main" id="{F94868CD-AA1B-DF52-C1ED-9039B4DF4C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F9856C5-8314-0CCE-2E1E-2730E9E70296}"/>
              </a:ext>
            </a:extLst>
          </p:cNvPr>
          <p:cNvSpPr txBox="1"/>
          <p:nvPr/>
        </p:nvSpPr>
        <p:spPr>
          <a:xfrm>
            <a:off x="1479882" y="5415444"/>
            <a:ext cx="4281332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tecnico riparatore elettrodomestici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(frigorifero, </a:t>
            </a:r>
            <a:r>
              <a:rPr kumimoji="0" lang="it-IT" sz="105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lavostaglie</a:t>
            </a:r>
            <a:r>
              <a:rPr kumimoji="0" lang="it-IT" sz="10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, lavatrice, forno, congelatore, asciugatrice, </a:t>
            </a:r>
            <a:r>
              <a:rPr kumimoji="0" lang="it-IT" sz="105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etc</a:t>
            </a:r>
            <a:r>
              <a:rPr kumimoji="0" lang="it-IT" sz="10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)</a:t>
            </a:r>
            <a:endParaRPr kumimoji="0" lang="it-IT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A47D351-7C47-9EDD-5F71-E5AE9C5655A3}"/>
              </a:ext>
            </a:extLst>
          </p:cNvPr>
          <p:cNvSpPr txBox="1"/>
          <p:nvPr/>
        </p:nvSpPr>
        <p:spPr>
          <a:xfrm>
            <a:off x="1439877" y="2234220"/>
            <a:ext cx="38867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elettricista in caso di in caso di mancanza di corrente elettrica </a:t>
            </a:r>
            <a:r>
              <a:rPr kumimoji="0" lang="it-IT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per qualsiasi ragione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7F6BE20-DEF4-DBB9-FC31-7C158D51196C}"/>
              </a:ext>
            </a:extLst>
          </p:cNvPr>
          <p:cNvSpPr txBox="1"/>
          <p:nvPr/>
        </p:nvSpPr>
        <p:spPr>
          <a:xfrm>
            <a:off x="1471569" y="2887875"/>
            <a:ext cx="26697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Check up impianto </a:t>
            </a:r>
            <a:r>
              <a:rPr kumimoji="0" lang="it-IT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elettric</a:t>
            </a:r>
            <a:r>
              <a:rPr lang="it-IT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D297852-A5B4-E8FD-FE3F-B1352810D137}"/>
              </a:ext>
            </a:extLst>
          </p:cNvPr>
          <p:cNvSpPr txBox="1"/>
          <p:nvPr/>
        </p:nvSpPr>
        <p:spPr>
          <a:xfrm>
            <a:off x="1445368" y="3403090"/>
            <a:ext cx="3550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Fabbro o Falegname (max 3)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D09BAB5-BDC3-3B04-7A9A-754DB048F1E3}"/>
              </a:ext>
            </a:extLst>
          </p:cNvPr>
          <p:cNvSpPr txBox="1"/>
          <p:nvPr/>
        </p:nvSpPr>
        <p:spPr>
          <a:xfrm>
            <a:off x="1479856" y="3870027"/>
            <a:ext cx="25901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Pulizia </a:t>
            </a:r>
            <a:r>
              <a:rPr lang="it-IT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straordinaria</a:t>
            </a:r>
            <a:r>
              <a:rPr lang="it-IT" sz="12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(max 3)</a:t>
            </a:r>
            <a:r>
              <a:rPr lang="it-IT" sz="12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0C7B1619-63C7-DAC8-E3EF-273FB6504143}"/>
              </a:ext>
            </a:extLst>
          </p:cNvPr>
          <p:cNvSpPr txBox="1"/>
          <p:nvPr/>
        </p:nvSpPr>
        <p:spPr>
          <a:xfrm>
            <a:off x="1479856" y="4385252"/>
            <a:ext cx="3515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Vetraio o </a:t>
            </a:r>
            <a:r>
              <a:rPr kumimoji="0" lang="it-IT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Serrandista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(max 3)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BFC8FCE3-A064-2776-55A9-3A26268975FA}"/>
              </a:ext>
            </a:extLst>
          </p:cNvPr>
          <p:cNvSpPr txBox="1"/>
          <p:nvPr/>
        </p:nvSpPr>
        <p:spPr>
          <a:xfrm>
            <a:off x="1515141" y="4918700"/>
            <a:ext cx="3363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termoidraulico</a:t>
            </a:r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946186DA-7217-1FA4-5DED-A130CA4D4472}"/>
              </a:ext>
            </a:extLst>
          </p:cNvPr>
          <p:cNvGrpSpPr/>
          <p:nvPr/>
        </p:nvGrpSpPr>
        <p:grpSpPr>
          <a:xfrm>
            <a:off x="1176125" y="3917774"/>
            <a:ext cx="214183" cy="243082"/>
            <a:chOff x="-458962" y="2738940"/>
            <a:chExt cx="279715" cy="279683"/>
          </a:xfrm>
        </p:grpSpPr>
        <p:sp>
          <p:nvSpPr>
            <p:cNvPr id="35" name="Rettangolo 34">
              <a:extLst>
                <a:ext uri="{FF2B5EF4-FFF2-40B4-BE49-F238E27FC236}">
                  <a16:creationId xmlns:a16="http://schemas.microsoft.com/office/drawing/2014/main" id="{57344155-9873-DCA5-20A9-57C98F2014DF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36" name="Picture 2" descr="Catena Libero Icona di Icomoon free 1 Icons">
              <a:extLst>
                <a:ext uri="{FF2B5EF4-FFF2-40B4-BE49-F238E27FC236}">
                  <a16:creationId xmlns:a16="http://schemas.microsoft.com/office/drawing/2014/main" id="{CC594FBC-686F-460F-1EA7-24DC02643E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34DBE30E-871C-EBAB-A6A8-CEDE56C027B9}"/>
              </a:ext>
            </a:extLst>
          </p:cNvPr>
          <p:cNvGrpSpPr/>
          <p:nvPr/>
        </p:nvGrpSpPr>
        <p:grpSpPr>
          <a:xfrm>
            <a:off x="1171826" y="3434902"/>
            <a:ext cx="214183" cy="243082"/>
            <a:chOff x="-458962" y="2738940"/>
            <a:chExt cx="279715" cy="279683"/>
          </a:xfrm>
        </p:grpSpPr>
        <p:sp>
          <p:nvSpPr>
            <p:cNvPr id="38" name="Rettangolo 37">
              <a:extLst>
                <a:ext uri="{FF2B5EF4-FFF2-40B4-BE49-F238E27FC236}">
                  <a16:creationId xmlns:a16="http://schemas.microsoft.com/office/drawing/2014/main" id="{EE234774-8A3F-E742-BF64-53A34300341F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39" name="Picture 2" descr="Catena Libero Icona di Icomoon free 1 Icons">
              <a:extLst>
                <a:ext uri="{FF2B5EF4-FFF2-40B4-BE49-F238E27FC236}">
                  <a16:creationId xmlns:a16="http://schemas.microsoft.com/office/drawing/2014/main" id="{8F97BCB6-797F-CADD-FDC0-BE570FD44A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96D601F8-95C0-7A24-06C6-C4AAC25C9FBA}"/>
              </a:ext>
            </a:extLst>
          </p:cNvPr>
          <p:cNvGrpSpPr/>
          <p:nvPr/>
        </p:nvGrpSpPr>
        <p:grpSpPr>
          <a:xfrm>
            <a:off x="1171826" y="4923852"/>
            <a:ext cx="214183" cy="243082"/>
            <a:chOff x="-458962" y="2738940"/>
            <a:chExt cx="279715" cy="279683"/>
          </a:xfrm>
        </p:grpSpPr>
        <p:sp>
          <p:nvSpPr>
            <p:cNvPr id="41" name="Rettangolo 40">
              <a:extLst>
                <a:ext uri="{FF2B5EF4-FFF2-40B4-BE49-F238E27FC236}">
                  <a16:creationId xmlns:a16="http://schemas.microsoft.com/office/drawing/2014/main" id="{D9AFFB75-62FB-AAB7-E2F4-1C2488F41634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42" name="Picture 2" descr="Catena Libero Icona di Icomoon free 1 Icons">
              <a:extLst>
                <a:ext uri="{FF2B5EF4-FFF2-40B4-BE49-F238E27FC236}">
                  <a16:creationId xmlns:a16="http://schemas.microsoft.com/office/drawing/2014/main" id="{B95FB150-9F7D-A16B-654B-4E6068B5F4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502DC439-77AE-A511-2527-E91C9D521ADC}"/>
              </a:ext>
            </a:extLst>
          </p:cNvPr>
          <p:cNvGrpSpPr/>
          <p:nvPr/>
        </p:nvGrpSpPr>
        <p:grpSpPr>
          <a:xfrm>
            <a:off x="1171826" y="4401940"/>
            <a:ext cx="214183" cy="243082"/>
            <a:chOff x="-458962" y="2738940"/>
            <a:chExt cx="279715" cy="279683"/>
          </a:xfrm>
        </p:grpSpPr>
        <p:sp>
          <p:nvSpPr>
            <p:cNvPr id="44" name="Rettangolo 43">
              <a:extLst>
                <a:ext uri="{FF2B5EF4-FFF2-40B4-BE49-F238E27FC236}">
                  <a16:creationId xmlns:a16="http://schemas.microsoft.com/office/drawing/2014/main" id="{07C8069B-4786-1C7E-F570-96CA9868BC31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45" name="Picture 2" descr="Catena Libero Icona di Icomoon free 1 Icons">
              <a:extLst>
                <a:ext uri="{FF2B5EF4-FFF2-40B4-BE49-F238E27FC236}">
                  <a16:creationId xmlns:a16="http://schemas.microsoft.com/office/drawing/2014/main" id="{77CA2AE9-8E71-F913-3B50-83FEAD8FC5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4336C5F1-E252-6D7C-AE82-64732A226537}"/>
              </a:ext>
            </a:extLst>
          </p:cNvPr>
          <p:cNvGrpSpPr/>
          <p:nvPr/>
        </p:nvGrpSpPr>
        <p:grpSpPr>
          <a:xfrm>
            <a:off x="1179139" y="5439175"/>
            <a:ext cx="214183" cy="243082"/>
            <a:chOff x="-458962" y="2738940"/>
            <a:chExt cx="279715" cy="279683"/>
          </a:xfrm>
        </p:grpSpPr>
        <p:sp>
          <p:nvSpPr>
            <p:cNvPr id="47" name="Rettangolo 46">
              <a:extLst>
                <a:ext uri="{FF2B5EF4-FFF2-40B4-BE49-F238E27FC236}">
                  <a16:creationId xmlns:a16="http://schemas.microsoft.com/office/drawing/2014/main" id="{29CD324C-D1CB-A4EF-C5CD-FBF52EE0A8A5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48" name="Picture 2" descr="Catena Libero Icona di Icomoon free 1 Icons">
              <a:extLst>
                <a:ext uri="{FF2B5EF4-FFF2-40B4-BE49-F238E27FC236}">
                  <a16:creationId xmlns:a16="http://schemas.microsoft.com/office/drawing/2014/main" id="{3CF3C74F-1C7E-E2CF-FEA7-3BF95A218A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2" name="Rettangolo 51">
            <a:extLst>
              <a:ext uri="{FF2B5EF4-FFF2-40B4-BE49-F238E27FC236}">
                <a16:creationId xmlns:a16="http://schemas.microsoft.com/office/drawing/2014/main" id="{772E70E4-FFBE-D7E1-5BEC-EB26594F0B97}"/>
              </a:ext>
            </a:extLst>
          </p:cNvPr>
          <p:cNvSpPr/>
          <p:nvPr/>
        </p:nvSpPr>
        <p:spPr>
          <a:xfrm>
            <a:off x="6632189" y="1171521"/>
            <a:ext cx="4922830" cy="4945713"/>
          </a:xfrm>
          <a:prstGeom prst="rect">
            <a:avLst/>
          </a:prstGeom>
          <a:solidFill>
            <a:schemeClr val="bg1">
              <a:alpha val="64000"/>
            </a:schemeClr>
          </a:solidFill>
          <a:ln w="57150" cap="flat" cmpd="sng" algn="ctr">
            <a:solidFill>
              <a:schemeClr val="accent2">
                <a:lumMod val="75000"/>
                <a:alpha val="81000"/>
              </a:scheme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6969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89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7" name="Rettangolo 36">
            <a:extLst>
              <a:ext uri="{FF2B5EF4-FFF2-40B4-BE49-F238E27FC236}">
                <a16:creationId xmlns:a16="http://schemas.microsoft.com/office/drawing/2014/main" id="{BE88FBCF-7858-9453-DFD6-C8BE865914E8}"/>
              </a:ext>
            </a:extLst>
          </p:cNvPr>
          <p:cNvSpPr/>
          <p:nvPr/>
        </p:nvSpPr>
        <p:spPr>
          <a:xfrm>
            <a:off x="6993292" y="1005372"/>
            <a:ext cx="3903803" cy="30777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23754" marR="0" lvl="5" indent="-423754" algn="ctr" defTabSz="1427378" rtl="0" eaLnBrk="1" fontAlgn="auto" latinLnBrk="0" hangingPunct="1">
              <a:lnSpc>
                <a:spcPct val="100000"/>
              </a:lnSpc>
              <a:spcBef>
                <a:spcPts val="624"/>
              </a:spcBef>
              <a:spcAft>
                <a:spcPts val="0"/>
              </a:spcAft>
              <a:buClrTx/>
              <a:buSzPct val="120000"/>
              <a:buFontTx/>
              <a:buBlip>
                <a:blip r:embed="rId7"/>
              </a:buBlip>
              <a:tabLst/>
              <a:defRPr sz="1200">
                <a:solidFill>
                  <a:srgbClr val="404040"/>
                </a:solidFill>
              </a:defRPr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HERA NO PROBLEM GAS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7277FC8A-9AED-8247-5B9F-A0643B0ADD5C}"/>
              </a:ext>
            </a:extLst>
          </p:cNvPr>
          <p:cNvSpPr/>
          <p:nvPr/>
        </p:nvSpPr>
        <p:spPr>
          <a:xfrm>
            <a:off x="7432035" y="5912342"/>
            <a:ext cx="3453255" cy="648000"/>
          </a:xfrm>
          <a:prstGeom prst="roundRect">
            <a:avLst/>
          </a:prstGeom>
          <a:gradFill flip="none" rotWithShape="1">
            <a:gsLst>
              <a:gs pos="0">
                <a:srgbClr val="C0C0C0">
                  <a:shade val="30000"/>
                  <a:satMod val="115000"/>
                </a:srgbClr>
              </a:gs>
              <a:gs pos="50000">
                <a:srgbClr val="C0C0C0">
                  <a:shade val="67500"/>
                  <a:satMod val="115000"/>
                </a:srgbClr>
              </a:gs>
              <a:gs pos="100000">
                <a:srgbClr val="C0C0C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969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78 €/anno </a:t>
            </a:r>
          </a:p>
          <a:p>
            <a:pPr marL="0" marR="0" lvl="0" indent="0" algn="ctr" defTabSz="6969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(6,5 € /mese)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1808DCF4-9EC3-816F-2B52-B034CFAAC83C}"/>
              </a:ext>
            </a:extLst>
          </p:cNvPr>
          <p:cNvSpPr txBox="1">
            <a:spLocks/>
          </p:cNvSpPr>
          <p:nvPr/>
        </p:nvSpPr>
        <p:spPr>
          <a:xfrm>
            <a:off x="296418" y="158818"/>
            <a:ext cx="9193428" cy="57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2400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 sz="25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HNP Luce &amp; Gas: </a:t>
            </a:r>
            <a:r>
              <a:rPr lang="it-IT" sz="25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contenuti del servizio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34D62A69-1236-D73A-DCE3-21026F535F25}"/>
              </a:ext>
            </a:extLst>
          </p:cNvPr>
          <p:cNvSpPr/>
          <p:nvPr/>
        </p:nvSpPr>
        <p:spPr>
          <a:xfrm>
            <a:off x="6621556" y="1354719"/>
            <a:ext cx="4609707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sz="1200" b="1" dirty="0">
                <a:solidFill>
                  <a:srgbClr val="000000"/>
                </a:solidFill>
                <a:latin typeface="Segoe UI" panose="020B0502040204020203" pitchFamily="34" charset="0"/>
              </a:rPr>
              <a:t>Servizio di assistenza e manutenzione all’impianto gas 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u="sng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N.</a:t>
            </a:r>
            <a:r>
              <a:rPr kumimoji="0" lang="it-IT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massimo aggregato di 5 interventi tecnici/anno tra</a:t>
            </a:r>
          </a:p>
        </p:txBody>
      </p: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FBE81F79-9122-D217-9C93-8DEFE742969F}"/>
              </a:ext>
            </a:extLst>
          </p:cNvPr>
          <p:cNvGrpSpPr/>
          <p:nvPr/>
        </p:nvGrpSpPr>
        <p:grpSpPr>
          <a:xfrm>
            <a:off x="6900985" y="2962230"/>
            <a:ext cx="214183" cy="243082"/>
            <a:chOff x="-458962" y="2738940"/>
            <a:chExt cx="279715" cy="279683"/>
          </a:xfrm>
        </p:grpSpPr>
        <p:sp>
          <p:nvSpPr>
            <p:cNvPr id="29" name="Rettangolo 28">
              <a:extLst>
                <a:ext uri="{FF2B5EF4-FFF2-40B4-BE49-F238E27FC236}">
                  <a16:creationId xmlns:a16="http://schemas.microsoft.com/office/drawing/2014/main" id="{867E6396-BEB3-901C-F84D-0225DFFF6B39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30" name="Picture 2" descr="Catena Libero Icona di Icomoon free 1 Icons">
              <a:extLst>
                <a:ext uri="{FF2B5EF4-FFF2-40B4-BE49-F238E27FC236}">
                  <a16:creationId xmlns:a16="http://schemas.microsoft.com/office/drawing/2014/main" id="{C2F9B7F4-85E7-F309-23B9-7915E8A634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465FE6E8-FD48-1FBA-49F3-5E1C0BB382EC}"/>
              </a:ext>
            </a:extLst>
          </p:cNvPr>
          <p:cNvGrpSpPr/>
          <p:nvPr/>
        </p:nvGrpSpPr>
        <p:grpSpPr>
          <a:xfrm>
            <a:off x="6900986" y="2353953"/>
            <a:ext cx="214183" cy="243082"/>
            <a:chOff x="-458962" y="2738940"/>
            <a:chExt cx="279715" cy="279683"/>
          </a:xfrm>
        </p:grpSpPr>
        <p:sp>
          <p:nvSpPr>
            <p:cNvPr id="87" name="Rettangolo 86">
              <a:extLst>
                <a:ext uri="{FF2B5EF4-FFF2-40B4-BE49-F238E27FC236}">
                  <a16:creationId xmlns:a16="http://schemas.microsoft.com/office/drawing/2014/main" id="{7B3C3F9A-B830-60EB-77C7-A56469E8181F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91" name="Picture 2" descr="Catena Libero Icona di Icomoon free 1 Icons">
              <a:extLst>
                <a:ext uri="{FF2B5EF4-FFF2-40B4-BE49-F238E27FC236}">
                  <a16:creationId xmlns:a16="http://schemas.microsoft.com/office/drawing/2014/main" id="{2F17B76B-AF6E-3C10-1987-0798ADF63F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3" name="CasellaDiTesto 92">
            <a:extLst>
              <a:ext uri="{FF2B5EF4-FFF2-40B4-BE49-F238E27FC236}">
                <a16:creationId xmlns:a16="http://schemas.microsoft.com/office/drawing/2014/main" id="{11B06C3F-30D1-7E5B-8AFB-96EF12023510}"/>
              </a:ext>
            </a:extLst>
          </p:cNvPr>
          <p:cNvSpPr txBox="1"/>
          <p:nvPr/>
        </p:nvSpPr>
        <p:spPr>
          <a:xfrm>
            <a:off x="7169035" y="2280006"/>
            <a:ext cx="3979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tecnico del gas in caso di malfunzionamento dell’impianto gas </a:t>
            </a:r>
            <a:r>
              <a:rPr kumimoji="0" lang="it-IT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per qualsiasi ragione</a:t>
            </a:r>
          </a:p>
        </p:txBody>
      </p:sp>
      <p:sp>
        <p:nvSpPr>
          <p:cNvPr id="94" name="CasellaDiTesto 93">
            <a:extLst>
              <a:ext uri="{FF2B5EF4-FFF2-40B4-BE49-F238E27FC236}">
                <a16:creationId xmlns:a16="http://schemas.microsoft.com/office/drawing/2014/main" id="{88A58E85-3020-8942-297E-4A808B69FEC2}"/>
              </a:ext>
            </a:extLst>
          </p:cNvPr>
          <p:cNvSpPr txBox="1"/>
          <p:nvPr/>
        </p:nvSpPr>
        <p:spPr>
          <a:xfrm>
            <a:off x="7200727" y="2933661"/>
            <a:ext cx="26697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Check up impianto gas 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44CC8CA7-552C-96C8-EA83-D1120A7F11A6}"/>
              </a:ext>
            </a:extLst>
          </p:cNvPr>
          <p:cNvSpPr txBox="1"/>
          <p:nvPr/>
        </p:nvSpPr>
        <p:spPr>
          <a:xfrm>
            <a:off x="7174526" y="3448876"/>
            <a:ext cx="3550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Fabbro o Falegname (max 3)</a:t>
            </a:r>
          </a:p>
        </p:txBody>
      </p:sp>
      <p:sp>
        <p:nvSpPr>
          <p:cNvPr id="96" name="CasellaDiTesto 95">
            <a:extLst>
              <a:ext uri="{FF2B5EF4-FFF2-40B4-BE49-F238E27FC236}">
                <a16:creationId xmlns:a16="http://schemas.microsoft.com/office/drawing/2014/main" id="{D0A97232-E943-F3E8-5BA3-19BD7EE26966}"/>
              </a:ext>
            </a:extLst>
          </p:cNvPr>
          <p:cNvSpPr txBox="1"/>
          <p:nvPr/>
        </p:nvSpPr>
        <p:spPr>
          <a:xfrm>
            <a:off x="7209014" y="3915813"/>
            <a:ext cx="25901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Pulizia straordinaria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(max 3)</a:t>
            </a:r>
            <a:r>
              <a:rPr lang="it-IT" sz="12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7" name="CasellaDiTesto 96">
            <a:extLst>
              <a:ext uri="{FF2B5EF4-FFF2-40B4-BE49-F238E27FC236}">
                <a16:creationId xmlns:a16="http://schemas.microsoft.com/office/drawing/2014/main" id="{D88B3413-669A-7D06-8438-B7085F57A68B}"/>
              </a:ext>
            </a:extLst>
          </p:cNvPr>
          <p:cNvSpPr txBox="1"/>
          <p:nvPr/>
        </p:nvSpPr>
        <p:spPr>
          <a:xfrm>
            <a:off x="7209014" y="4431038"/>
            <a:ext cx="3515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Vetraio o </a:t>
            </a:r>
            <a:r>
              <a:rPr kumimoji="0" lang="it-IT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Serrandista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(max 3)</a:t>
            </a:r>
          </a:p>
        </p:txBody>
      </p:sp>
      <p:sp>
        <p:nvSpPr>
          <p:cNvPr id="98" name="CasellaDiTesto 97">
            <a:extLst>
              <a:ext uri="{FF2B5EF4-FFF2-40B4-BE49-F238E27FC236}">
                <a16:creationId xmlns:a16="http://schemas.microsoft.com/office/drawing/2014/main" id="{2CDFBB14-A59F-E6A9-A430-A091FC9B8622}"/>
              </a:ext>
            </a:extLst>
          </p:cNvPr>
          <p:cNvSpPr txBox="1"/>
          <p:nvPr/>
        </p:nvSpPr>
        <p:spPr>
          <a:xfrm>
            <a:off x="7244299" y="4964486"/>
            <a:ext cx="3363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termoidraulico</a:t>
            </a:r>
          </a:p>
        </p:txBody>
      </p: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B8029764-9165-3143-8C71-0287A199295C}"/>
              </a:ext>
            </a:extLst>
          </p:cNvPr>
          <p:cNvGrpSpPr/>
          <p:nvPr/>
        </p:nvGrpSpPr>
        <p:grpSpPr>
          <a:xfrm>
            <a:off x="6905283" y="3963560"/>
            <a:ext cx="214183" cy="243082"/>
            <a:chOff x="-458962" y="2738940"/>
            <a:chExt cx="279715" cy="279683"/>
          </a:xfrm>
        </p:grpSpPr>
        <p:sp>
          <p:nvSpPr>
            <p:cNvPr id="100" name="Rettangolo 99">
              <a:extLst>
                <a:ext uri="{FF2B5EF4-FFF2-40B4-BE49-F238E27FC236}">
                  <a16:creationId xmlns:a16="http://schemas.microsoft.com/office/drawing/2014/main" id="{C33B81AC-4121-1BD4-FB04-5D2F7A42B176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101" name="Picture 2" descr="Catena Libero Icona di Icomoon free 1 Icons">
              <a:extLst>
                <a:ext uri="{FF2B5EF4-FFF2-40B4-BE49-F238E27FC236}">
                  <a16:creationId xmlns:a16="http://schemas.microsoft.com/office/drawing/2014/main" id="{0C42AD6E-2928-B9D0-62C4-49A99F47E4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" name="Gruppo 102">
            <a:extLst>
              <a:ext uri="{FF2B5EF4-FFF2-40B4-BE49-F238E27FC236}">
                <a16:creationId xmlns:a16="http://schemas.microsoft.com/office/drawing/2014/main" id="{9797B71B-7FC2-D1CC-DAF0-0D96372DFDE8}"/>
              </a:ext>
            </a:extLst>
          </p:cNvPr>
          <p:cNvGrpSpPr/>
          <p:nvPr/>
        </p:nvGrpSpPr>
        <p:grpSpPr>
          <a:xfrm>
            <a:off x="6900984" y="3480688"/>
            <a:ext cx="214183" cy="243082"/>
            <a:chOff x="-458962" y="2738940"/>
            <a:chExt cx="279715" cy="279683"/>
          </a:xfrm>
        </p:grpSpPr>
        <p:sp>
          <p:nvSpPr>
            <p:cNvPr id="104" name="Rettangolo 103">
              <a:extLst>
                <a:ext uri="{FF2B5EF4-FFF2-40B4-BE49-F238E27FC236}">
                  <a16:creationId xmlns:a16="http://schemas.microsoft.com/office/drawing/2014/main" id="{4134A848-5B2C-6445-7D7A-ABFC4D28DB07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105" name="Picture 2" descr="Catena Libero Icona di Icomoon free 1 Icons">
              <a:extLst>
                <a:ext uri="{FF2B5EF4-FFF2-40B4-BE49-F238E27FC236}">
                  <a16:creationId xmlns:a16="http://schemas.microsoft.com/office/drawing/2014/main" id="{FF06599F-D118-62B1-2D22-602D991AE8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6" name="Gruppo 105">
            <a:extLst>
              <a:ext uri="{FF2B5EF4-FFF2-40B4-BE49-F238E27FC236}">
                <a16:creationId xmlns:a16="http://schemas.microsoft.com/office/drawing/2014/main" id="{71ED960C-9098-A300-1BBE-4DD5A60F1BA4}"/>
              </a:ext>
            </a:extLst>
          </p:cNvPr>
          <p:cNvGrpSpPr/>
          <p:nvPr/>
        </p:nvGrpSpPr>
        <p:grpSpPr>
          <a:xfrm>
            <a:off x="6900984" y="4969638"/>
            <a:ext cx="214183" cy="243082"/>
            <a:chOff x="-458962" y="2738940"/>
            <a:chExt cx="279715" cy="279683"/>
          </a:xfrm>
        </p:grpSpPr>
        <p:sp>
          <p:nvSpPr>
            <p:cNvPr id="107" name="Rettangolo 106">
              <a:extLst>
                <a:ext uri="{FF2B5EF4-FFF2-40B4-BE49-F238E27FC236}">
                  <a16:creationId xmlns:a16="http://schemas.microsoft.com/office/drawing/2014/main" id="{5915AF4D-F425-2FAC-1ADA-563272FD676E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108" name="Picture 2" descr="Catena Libero Icona di Icomoon free 1 Icons">
              <a:extLst>
                <a:ext uri="{FF2B5EF4-FFF2-40B4-BE49-F238E27FC236}">
                  <a16:creationId xmlns:a16="http://schemas.microsoft.com/office/drawing/2014/main" id="{9C3AE3AE-C677-8C23-8DC7-2FB23D0637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9" name="Gruppo 108">
            <a:extLst>
              <a:ext uri="{FF2B5EF4-FFF2-40B4-BE49-F238E27FC236}">
                <a16:creationId xmlns:a16="http://schemas.microsoft.com/office/drawing/2014/main" id="{DA74496A-C87E-F87A-F06E-4E80DD5F8B1B}"/>
              </a:ext>
            </a:extLst>
          </p:cNvPr>
          <p:cNvGrpSpPr/>
          <p:nvPr/>
        </p:nvGrpSpPr>
        <p:grpSpPr>
          <a:xfrm>
            <a:off x="6900984" y="4447726"/>
            <a:ext cx="214183" cy="243082"/>
            <a:chOff x="-458962" y="2738940"/>
            <a:chExt cx="279715" cy="279683"/>
          </a:xfrm>
        </p:grpSpPr>
        <p:sp>
          <p:nvSpPr>
            <p:cNvPr id="110" name="Rettangolo 109">
              <a:extLst>
                <a:ext uri="{FF2B5EF4-FFF2-40B4-BE49-F238E27FC236}">
                  <a16:creationId xmlns:a16="http://schemas.microsoft.com/office/drawing/2014/main" id="{A4378693-F68E-701E-DC47-CEA26F8DFEC9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111" name="Picture 2" descr="Catena Libero Icona di Icomoon free 1 Icons">
              <a:extLst>
                <a:ext uri="{FF2B5EF4-FFF2-40B4-BE49-F238E27FC236}">
                  <a16:creationId xmlns:a16="http://schemas.microsoft.com/office/drawing/2014/main" id="{2978D94C-A88E-2D4C-C559-BDE6E5A9C1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2" name="Gruppo 111">
            <a:extLst>
              <a:ext uri="{FF2B5EF4-FFF2-40B4-BE49-F238E27FC236}">
                <a16:creationId xmlns:a16="http://schemas.microsoft.com/office/drawing/2014/main" id="{CCEF1E88-C78C-021D-D7CF-006F05674767}"/>
              </a:ext>
            </a:extLst>
          </p:cNvPr>
          <p:cNvGrpSpPr/>
          <p:nvPr/>
        </p:nvGrpSpPr>
        <p:grpSpPr>
          <a:xfrm>
            <a:off x="6908297" y="5463695"/>
            <a:ext cx="214183" cy="243082"/>
            <a:chOff x="-458962" y="2738940"/>
            <a:chExt cx="279715" cy="279683"/>
          </a:xfrm>
        </p:grpSpPr>
        <p:sp>
          <p:nvSpPr>
            <p:cNvPr id="113" name="Rettangolo 112">
              <a:extLst>
                <a:ext uri="{FF2B5EF4-FFF2-40B4-BE49-F238E27FC236}">
                  <a16:creationId xmlns:a16="http://schemas.microsoft.com/office/drawing/2014/main" id="{C7977B79-2787-878E-5C09-A6243D7AE78D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114" name="Picture 2" descr="Catena Libero Icona di Icomoon free 1 Icons">
              <a:extLst>
                <a:ext uri="{FF2B5EF4-FFF2-40B4-BE49-F238E27FC236}">
                  <a16:creationId xmlns:a16="http://schemas.microsoft.com/office/drawing/2014/main" id="{F8779A2B-E962-84A2-F60F-E2A2B7100C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5" name="Rettangolo con angoli arrotondati 114">
            <a:extLst>
              <a:ext uri="{FF2B5EF4-FFF2-40B4-BE49-F238E27FC236}">
                <a16:creationId xmlns:a16="http://schemas.microsoft.com/office/drawing/2014/main" id="{9EF800E0-A6BE-FEB5-EDB1-905F8015E0F3}"/>
              </a:ext>
            </a:extLst>
          </p:cNvPr>
          <p:cNvSpPr/>
          <p:nvPr/>
        </p:nvSpPr>
        <p:spPr>
          <a:xfrm>
            <a:off x="1527831" y="5933185"/>
            <a:ext cx="3453255" cy="648000"/>
          </a:xfrm>
          <a:prstGeom prst="roundRect">
            <a:avLst/>
          </a:prstGeom>
          <a:gradFill flip="none" rotWithShape="1">
            <a:gsLst>
              <a:gs pos="0">
                <a:srgbClr val="C0C0C0">
                  <a:shade val="30000"/>
                  <a:satMod val="115000"/>
                </a:srgbClr>
              </a:gs>
              <a:gs pos="50000">
                <a:srgbClr val="C0C0C0">
                  <a:shade val="67500"/>
                  <a:satMod val="115000"/>
                </a:srgbClr>
              </a:gs>
              <a:gs pos="100000">
                <a:srgbClr val="C0C0C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969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78 €/anno </a:t>
            </a:r>
          </a:p>
          <a:p>
            <a:pPr marL="0" marR="0" lvl="0" indent="0" algn="ctr" defTabSz="6969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(6,5 € /mese)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5C9EE44-F8C8-7D18-C1EA-F919E0FC13AC}"/>
              </a:ext>
            </a:extLst>
          </p:cNvPr>
          <p:cNvSpPr txBox="1"/>
          <p:nvPr/>
        </p:nvSpPr>
        <p:spPr>
          <a:xfrm>
            <a:off x="7235657" y="5397721"/>
            <a:ext cx="4281332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tecnico riparatore elettrodomestici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(frigorifero, </a:t>
            </a:r>
            <a:r>
              <a:rPr kumimoji="0" lang="it-IT" sz="105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lavostaglie</a:t>
            </a:r>
            <a:r>
              <a:rPr kumimoji="0" lang="it-IT" sz="10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, lavatrice, forno, congelatore, asciugatrice, </a:t>
            </a:r>
            <a:r>
              <a:rPr kumimoji="0" lang="it-IT" sz="105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etc</a:t>
            </a:r>
            <a:r>
              <a:rPr kumimoji="0" lang="it-IT" sz="10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)</a:t>
            </a:r>
            <a:endParaRPr kumimoji="0" lang="it-IT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246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, persona, Tecnico, ingegneria&#10;&#10;Descrizione generata automaticamente">
            <a:extLst>
              <a:ext uri="{FF2B5EF4-FFF2-40B4-BE49-F238E27FC236}">
                <a16:creationId xmlns:a16="http://schemas.microsoft.com/office/drawing/2014/main" id="{1D6C4957-87AB-59EA-B38B-5EFDD901B84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33" y="922044"/>
            <a:ext cx="6308433" cy="2249197"/>
          </a:xfrm>
          <a:prstGeom prst="rect">
            <a:avLst/>
          </a:prstGeom>
        </p:spPr>
      </p:pic>
      <p:pic>
        <p:nvPicPr>
          <p:cNvPr id="15" name="Immagine 14" descr="Immagine che contiene persona, testo, vestiti, interno&#10;&#10;Descrizione generata automaticamente">
            <a:extLst>
              <a:ext uri="{FF2B5EF4-FFF2-40B4-BE49-F238E27FC236}">
                <a16:creationId xmlns:a16="http://schemas.microsoft.com/office/drawing/2014/main" id="{18674C65-D579-642C-E8C4-32A9CB02D1E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924" y="919906"/>
            <a:ext cx="6308434" cy="2249197"/>
          </a:xfrm>
          <a:prstGeom prst="rect">
            <a:avLst/>
          </a:prstGeom>
        </p:spPr>
      </p:pic>
      <p:pic>
        <p:nvPicPr>
          <p:cNvPr id="20" name="Immagine 19" descr="Immagine che contiene testo, persona, Tecnico, ingegneria&#10;&#10;Descrizione generata automaticamente">
            <a:extLst>
              <a:ext uri="{FF2B5EF4-FFF2-40B4-BE49-F238E27FC236}">
                <a16:creationId xmlns:a16="http://schemas.microsoft.com/office/drawing/2014/main" id="{6987CAE3-EE84-55DC-6C08-4BBA7EEBB5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66696"/>
            <a:ext cx="6308433" cy="2249197"/>
          </a:xfrm>
          <a:prstGeom prst="rect">
            <a:avLst/>
          </a:prstGeom>
        </p:spPr>
      </p:pic>
      <p:pic>
        <p:nvPicPr>
          <p:cNvPr id="22" name="Immagine 21" descr="Immagine che contiene testo, persona, Tecnico, ingegneria&#10;&#10;Descrizione generata automaticamente">
            <a:extLst>
              <a:ext uri="{FF2B5EF4-FFF2-40B4-BE49-F238E27FC236}">
                <a16:creationId xmlns:a16="http://schemas.microsoft.com/office/drawing/2014/main" id="{67531B2E-2AF6-6438-FF58-A1AB1E422FA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23063"/>
            <a:ext cx="6308433" cy="2249197"/>
          </a:xfrm>
          <a:prstGeom prst="rect">
            <a:avLst/>
          </a:prstGeom>
        </p:spPr>
      </p:pic>
      <p:pic>
        <p:nvPicPr>
          <p:cNvPr id="23" name="Immagine 22" descr="Immagine che contiene persona, testo, vestiti, interno&#10;&#10;Descrizione generata automaticamente">
            <a:extLst>
              <a:ext uri="{FF2B5EF4-FFF2-40B4-BE49-F238E27FC236}">
                <a16:creationId xmlns:a16="http://schemas.microsoft.com/office/drawing/2014/main" id="{75F02007-E7E9-8CB4-5573-E416771BDAF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3566" y="3164790"/>
            <a:ext cx="6308434" cy="2249197"/>
          </a:xfrm>
          <a:prstGeom prst="rect">
            <a:avLst/>
          </a:prstGeom>
        </p:spPr>
      </p:pic>
      <p:pic>
        <p:nvPicPr>
          <p:cNvPr id="24" name="Immagine 23" descr="Immagine che contiene persona, testo, vestiti, interno&#10;&#10;Descrizione generata automaticamente">
            <a:extLst>
              <a:ext uri="{FF2B5EF4-FFF2-40B4-BE49-F238E27FC236}">
                <a16:creationId xmlns:a16="http://schemas.microsoft.com/office/drawing/2014/main" id="{2095888F-FA2C-5687-86FD-178DD717907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924" y="5422978"/>
            <a:ext cx="6308434" cy="224919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8257875-4ECA-AFE6-CA05-A5224020BD2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3030"/>
          <a:stretch/>
        </p:blipFill>
        <p:spPr>
          <a:xfrm>
            <a:off x="-10633" y="-14365"/>
            <a:ext cx="12202633" cy="941293"/>
          </a:xfrm>
          <a:prstGeom prst="rect">
            <a:avLst/>
          </a:prstGeom>
        </p:spPr>
      </p:pic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468F15D9-B9AC-71D4-E501-8BDC8254A668}"/>
              </a:ext>
            </a:extLst>
          </p:cNvPr>
          <p:cNvSpPr/>
          <p:nvPr/>
        </p:nvSpPr>
        <p:spPr>
          <a:xfrm>
            <a:off x="7198413" y="6117319"/>
            <a:ext cx="4797644" cy="648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969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E7819D2-CB2C-356B-D98A-87EE24B3E528}"/>
              </a:ext>
            </a:extLst>
          </p:cNvPr>
          <p:cNvSpPr/>
          <p:nvPr/>
        </p:nvSpPr>
        <p:spPr>
          <a:xfrm>
            <a:off x="960737" y="1193292"/>
            <a:ext cx="4771070" cy="4924027"/>
          </a:xfrm>
          <a:prstGeom prst="rect">
            <a:avLst/>
          </a:prstGeom>
          <a:solidFill>
            <a:schemeClr val="bg1">
              <a:alpha val="64000"/>
            </a:schemeClr>
          </a:solidFill>
          <a:ln w="57150" cap="flat" cmpd="sng" algn="ctr">
            <a:solidFill>
              <a:schemeClr val="accent2">
                <a:lumMod val="75000"/>
                <a:alpha val="81000"/>
              </a:scheme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6969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89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4DAB04D-577D-EF3B-4AD5-E1F0310FC4FC}"/>
              </a:ext>
            </a:extLst>
          </p:cNvPr>
          <p:cNvSpPr/>
          <p:nvPr/>
        </p:nvSpPr>
        <p:spPr>
          <a:xfrm>
            <a:off x="960736" y="1350522"/>
            <a:ext cx="4587447" cy="658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Servizio di assistenza e manutenzione all’impianto elettrico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u="sng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N.</a:t>
            </a:r>
            <a:r>
              <a:rPr kumimoji="0" lang="it-IT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massimo aggregato di 5 interventi tecnici/anno tra</a:t>
            </a: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A637315C-B5A7-8B0C-D555-06E465CF33EF}"/>
              </a:ext>
            </a:extLst>
          </p:cNvPr>
          <p:cNvGrpSpPr/>
          <p:nvPr/>
        </p:nvGrpSpPr>
        <p:grpSpPr>
          <a:xfrm>
            <a:off x="1171827" y="2916444"/>
            <a:ext cx="214183" cy="243082"/>
            <a:chOff x="-458962" y="2738940"/>
            <a:chExt cx="279715" cy="279683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144527BD-2861-DC89-4065-248CB83E96A5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16" name="Picture 2" descr="Catena Libero Icona di Icomoon free 1 Icons">
              <a:extLst>
                <a:ext uri="{FF2B5EF4-FFF2-40B4-BE49-F238E27FC236}">
                  <a16:creationId xmlns:a16="http://schemas.microsoft.com/office/drawing/2014/main" id="{CE2B011B-1EBE-0C97-0E55-23E126375D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Rettangolo 36">
            <a:extLst>
              <a:ext uri="{FF2B5EF4-FFF2-40B4-BE49-F238E27FC236}">
                <a16:creationId xmlns:a16="http://schemas.microsoft.com/office/drawing/2014/main" id="{B6E40540-92A8-A691-18A7-FEEF79CB607D}"/>
              </a:ext>
            </a:extLst>
          </p:cNvPr>
          <p:cNvSpPr/>
          <p:nvPr/>
        </p:nvSpPr>
        <p:spPr>
          <a:xfrm>
            <a:off x="1294905" y="1023041"/>
            <a:ext cx="3903803" cy="30777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23754" marR="0" lvl="5" indent="-423754" algn="ctr" defTabSz="1427378" rtl="0" eaLnBrk="1" fontAlgn="auto" latinLnBrk="0" hangingPunct="1">
              <a:lnSpc>
                <a:spcPct val="100000"/>
              </a:lnSpc>
              <a:spcBef>
                <a:spcPts val="624"/>
              </a:spcBef>
              <a:spcAft>
                <a:spcPts val="0"/>
              </a:spcAft>
              <a:buClrTx/>
              <a:buSzPct val="120000"/>
              <a:buFontTx/>
              <a:buBlip>
                <a:blip r:embed="rId7"/>
              </a:buBlip>
              <a:tabLst/>
              <a:defRPr sz="1200">
                <a:solidFill>
                  <a:srgbClr val="404040"/>
                </a:solidFill>
              </a:defRPr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HERA NO PROBLEM LUCE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4E6D8C2E-53AD-0B1D-8657-1A4F355647A9}"/>
              </a:ext>
            </a:extLst>
          </p:cNvPr>
          <p:cNvGrpSpPr/>
          <p:nvPr/>
        </p:nvGrpSpPr>
        <p:grpSpPr>
          <a:xfrm>
            <a:off x="1171828" y="2308167"/>
            <a:ext cx="214183" cy="243082"/>
            <a:chOff x="-458962" y="2738940"/>
            <a:chExt cx="279715" cy="279683"/>
          </a:xfrm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5D3CEF21-89A7-2B8C-C9A9-45952E2BF2FC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4" name="Picture 2" descr="Catena Libero Icona di Icomoon free 1 Icons">
              <a:extLst>
                <a:ext uri="{FF2B5EF4-FFF2-40B4-BE49-F238E27FC236}">
                  <a16:creationId xmlns:a16="http://schemas.microsoft.com/office/drawing/2014/main" id="{F94868CD-AA1B-DF52-C1ED-9039B4DF4C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F9856C5-8314-0CCE-2E1E-2730E9E70296}"/>
              </a:ext>
            </a:extLst>
          </p:cNvPr>
          <p:cNvSpPr txBox="1"/>
          <p:nvPr/>
        </p:nvSpPr>
        <p:spPr>
          <a:xfrm>
            <a:off x="1479882" y="5415444"/>
            <a:ext cx="4281332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tecnico riparatore elettrodomestici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(frigorifero, </a:t>
            </a:r>
            <a:r>
              <a:rPr kumimoji="0" lang="it-IT" sz="105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lavostaglie</a:t>
            </a:r>
            <a:r>
              <a:rPr kumimoji="0" lang="it-IT" sz="10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, lavatrice, forno, congelatore, asciugatrice, </a:t>
            </a:r>
            <a:r>
              <a:rPr kumimoji="0" lang="it-IT" sz="105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etc</a:t>
            </a:r>
            <a:r>
              <a:rPr kumimoji="0" lang="it-IT" sz="10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)</a:t>
            </a:r>
            <a:endParaRPr kumimoji="0" lang="it-IT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A47D351-7C47-9EDD-5F71-E5AE9C5655A3}"/>
              </a:ext>
            </a:extLst>
          </p:cNvPr>
          <p:cNvSpPr txBox="1"/>
          <p:nvPr/>
        </p:nvSpPr>
        <p:spPr>
          <a:xfrm>
            <a:off x="1439877" y="2234220"/>
            <a:ext cx="38867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elettricista in caso di in caso di mancanza di corrente elettrica </a:t>
            </a:r>
            <a:r>
              <a:rPr kumimoji="0" lang="it-IT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per qualsiasi ragione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7F6BE20-DEF4-DBB9-FC31-7C158D51196C}"/>
              </a:ext>
            </a:extLst>
          </p:cNvPr>
          <p:cNvSpPr txBox="1"/>
          <p:nvPr/>
        </p:nvSpPr>
        <p:spPr>
          <a:xfrm>
            <a:off x="1471569" y="2887875"/>
            <a:ext cx="26697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Check up impianto </a:t>
            </a:r>
            <a:r>
              <a:rPr kumimoji="0" lang="it-IT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elettric</a:t>
            </a:r>
            <a:r>
              <a:rPr lang="it-IT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D297852-A5B4-E8FD-FE3F-B1352810D137}"/>
              </a:ext>
            </a:extLst>
          </p:cNvPr>
          <p:cNvSpPr txBox="1"/>
          <p:nvPr/>
        </p:nvSpPr>
        <p:spPr>
          <a:xfrm>
            <a:off x="1445368" y="3403090"/>
            <a:ext cx="3550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Fabbro o Falegname (max 3)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D09BAB5-BDC3-3B04-7A9A-754DB048F1E3}"/>
              </a:ext>
            </a:extLst>
          </p:cNvPr>
          <p:cNvSpPr txBox="1"/>
          <p:nvPr/>
        </p:nvSpPr>
        <p:spPr>
          <a:xfrm>
            <a:off x="1479856" y="3870027"/>
            <a:ext cx="25901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Pulizia </a:t>
            </a:r>
            <a:r>
              <a:rPr lang="it-IT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straordinaria</a:t>
            </a:r>
            <a:r>
              <a:rPr lang="it-IT" sz="12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(max 3)</a:t>
            </a:r>
            <a:r>
              <a:rPr lang="it-IT" sz="12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0C7B1619-63C7-DAC8-E3EF-273FB6504143}"/>
              </a:ext>
            </a:extLst>
          </p:cNvPr>
          <p:cNvSpPr txBox="1"/>
          <p:nvPr/>
        </p:nvSpPr>
        <p:spPr>
          <a:xfrm>
            <a:off x="1479856" y="4385252"/>
            <a:ext cx="3515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Vetraio o </a:t>
            </a:r>
            <a:r>
              <a:rPr kumimoji="0" lang="it-IT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Serrandista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(max 3)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BFC8FCE3-A064-2776-55A9-3A26268975FA}"/>
              </a:ext>
            </a:extLst>
          </p:cNvPr>
          <p:cNvSpPr txBox="1"/>
          <p:nvPr/>
        </p:nvSpPr>
        <p:spPr>
          <a:xfrm>
            <a:off x="1515141" y="4918700"/>
            <a:ext cx="3363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termoidraulico</a:t>
            </a:r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946186DA-7217-1FA4-5DED-A130CA4D4472}"/>
              </a:ext>
            </a:extLst>
          </p:cNvPr>
          <p:cNvGrpSpPr/>
          <p:nvPr/>
        </p:nvGrpSpPr>
        <p:grpSpPr>
          <a:xfrm>
            <a:off x="1176125" y="3917774"/>
            <a:ext cx="214183" cy="243082"/>
            <a:chOff x="-458962" y="2738940"/>
            <a:chExt cx="279715" cy="279683"/>
          </a:xfrm>
        </p:grpSpPr>
        <p:sp>
          <p:nvSpPr>
            <p:cNvPr id="35" name="Rettangolo 34">
              <a:extLst>
                <a:ext uri="{FF2B5EF4-FFF2-40B4-BE49-F238E27FC236}">
                  <a16:creationId xmlns:a16="http://schemas.microsoft.com/office/drawing/2014/main" id="{57344155-9873-DCA5-20A9-57C98F2014DF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36" name="Picture 2" descr="Catena Libero Icona di Icomoon free 1 Icons">
              <a:extLst>
                <a:ext uri="{FF2B5EF4-FFF2-40B4-BE49-F238E27FC236}">
                  <a16:creationId xmlns:a16="http://schemas.microsoft.com/office/drawing/2014/main" id="{CC594FBC-686F-460F-1EA7-24DC02643E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34DBE30E-871C-EBAB-A6A8-CEDE56C027B9}"/>
              </a:ext>
            </a:extLst>
          </p:cNvPr>
          <p:cNvGrpSpPr/>
          <p:nvPr/>
        </p:nvGrpSpPr>
        <p:grpSpPr>
          <a:xfrm>
            <a:off x="1171826" y="3434902"/>
            <a:ext cx="214183" cy="243082"/>
            <a:chOff x="-458962" y="2738940"/>
            <a:chExt cx="279715" cy="279683"/>
          </a:xfrm>
        </p:grpSpPr>
        <p:sp>
          <p:nvSpPr>
            <p:cNvPr id="38" name="Rettangolo 37">
              <a:extLst>
                <a:ext uri="{FF2B5EF4-FFF2-40B4-BE49-F238E27FC236}">
                  <a16:creationId xmlns:a16="http://schemas.microsoft.com/office/drawing/2014/main" id="{EE234774-8A3F-E742-BF64-53A34300341F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39" name="Picture 2" descr="Catena Libero Icona di Icomoon free 1 Icons">
              <a:extLst>
                <a:ext uri="{FF2B5EF4-FFF2-40B4-BE49-F238E27FC236}">
                  <a16:creationId xmlns:a16="http://schemas.microsoft.com/office/drawing/2014/main" id="{8F97BCB6-797F-CADD-FDC0-BE570FD44A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96D601F8-95C0-7A24-06C6-C4AAC25C9FBA}"/>
              </a:ext>
            </a:extLst>
          </p:cNvPr>
          <p:cNvGrpSpPr/>
          <p:nvPr/>
        </p:nvGrpSpPr>
        <p:grpSpPr>
          <a:xfrm>
            <a:off x="1171826" y="4923852"/>
            <a:ext cx="214183" cy="243082"/>
            <a:chOff x="-458962" y="2738940"/>
            <a:chExt cx="279715" cy="279683"/>
          </a:xfrm>
        </p:grpSpPr>
        <p:sp>
          <p:nvSpPr>
            <p:cNvPr id="41" name="Rettangolo 40">
              <a:extLst>
                <a:ext uri="{FF2B5EF4-FFF2-40B4-BE49-F238E27FC236}">
                  <a16:creationId xmlns:a16="http://schemas.microsoft.com/office/drawing/2014/main" id="{D9AFFB75-62FB-AAB7-E2F4-1C2488F41634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42" name="Picture 2" descr="Catena Libero Icona di Icomoon free 1 Icons">
              <a:extLst>
                <a:ext uri="{FF2B5EF4-FFF2-40B4-BE49-F238E27FC236}">
                  <a16:creationId xmlns:a16="http://schemas.microsoft.com/office/drawing/2014/main" id="{B95FB150-9F7D-A16B-654B-4E6068B5F4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502DC439-77AE-A511-2527-E91C9D521ADC}"/>
              </a:ext>
            </a:extLst>
          </p:cNvPr>
          <p:cNvGrpSpPr/>
          <p:nvPr/>
        </p:nvGrpSpPr>
        <p:grpSpPr>
          <a:xfrm>
            <a:off x="1171826" y="4401940"/>
            <a:ext cx="214183" cy="243082"/>
            <a:chOff x="-458962" y="2738940"/>
            <a:chExt cx="279715" cy="279683"/>
          </a:xfrm>
        </p:grpSpPr>
        <p:sp>
          <p:nvSpPr>
            <p:cNvPr id="44" name="Rettangolo 43">
              <a:extLst>
                <a:ext uri="{FF2B5EF4-FFF2-40B4-BE49-F238E27FC236}">
                  <a16:creationId xmlns:a16="http://schemas.microsoft.com/office/drawing/2014/main" id="{07C8069B-4786-1C7E-F570-96CA9868BC31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45" name="Picture 2" descr="Catena Libero Icona di Icomoon free 1 Icons">
              <a:extLst>
                <a:ext uri="{FF2B5EF4-FFF2-40B4-BE49-F238E27FC236}">
                  <a16:creationId xmlns:a16="http://schemas.microsoft.com/office/drawing/2014/main" id="{77CA2AE9-8E71-F913-3B50-83FEAD8FC5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4336C5F1-E252-6D7C-AE82-64732A226537}"/>
              </a:ext>
            </a:extLst>
          </p:cNvPr>
          <p:cNvGrpSpPr/>
          <p:nvPr/>
        </p:nvGrpSpPr>
        <p:grpSpPr>
          <a:xfrm>
            <a:off x="1179139" y="5439175"/>
            <a:ext cx="214183" cy="243082"/>
            <a:chOff x="-458962" y="2738940"/>
            <a:chExt cx="279715" cy="279683"/>
          </a:xfrm>
        </p:grpSpPr>
        <p:sp>
          <p:nvSpPr>
            <p:cNvPr id="47" name="Rettangolo 46">
              <a:extLst>
                <a:ext uri="{FF2B5EF4-FFF2-40B4-BE49-F238E27FC236}">
                  <a16:creationId xmlns:a16="http://schemas.microsoft.com/office/drawing/2014/main" id="{29CD324C-D1CB-A4EF-C5CD-FBF52EE0A8A5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48" name="Picture 2" descr="Catena Libero Icona di Icomoon free 1 Icons">
              <a:extLst>
                <a:ext uri="{FF2B5EF4-FFF2-40B4-BE49-F238E27FC236}">
                  <a16:creationId xmlns:a16="http://schemas.microsoft.com/office/drawing/2014/main" id="{3CF3C74F-1C7E-E2CF-FEA7-3BF95A218A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2" name="Rettangolo 51">
            <a:extLst>
              <a:ext uri="{FF2B5EF4-FFF2-40B4-BE49-F238E27FC236}">
                <a16:creationId xmlns:a16="http://schemas.microsoft.com/office/drawing/2014/main" id="{772E70E4-FFBE-D7E1-5BEC-EB26594F0B97}"/>
              </a:ext>
            </a:extLst>
          </p:cNvPr>
          <p:cNvSpPr/>
          <p:nvPr/>
        </p:nvSpPr>
        <p:spPr>
          <a:xfrm>
            <a:off x="6632189" y="1171521"/>
            <a:ext cx="4922830" cy="4945713"/>
          </a:xfrm>
          <a:prstGeom prst="rect">
            <a:avLst/>
          </a:prstGeom>
          <a:solidFill>
            <a:schemeClr val="bg1">
              <a:alpha val="64000"/>
            </a:schemeClr>
          </a:solidFill>
          <a:ln w="57150" cap="flat" cmpd="sng" algn="ctr">
            <a:solidFill>
              <a:schemeClr val="accent2">
                <a:lumMod val="75000"/>
                <a:alpha val="81000"/>
              </a:scheme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6969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89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7" name="Rettangolo 36">
            <a:extLst>
              <a:ext uri="{FF2B5EF4-FFF2-40B4-BE49-F238E27FC236}">
                <a16:creationId xmlns:a16="http://schemas.microsoft.com/office/drawing/2014/main" id="{BE88FBCF-7858-9453-DFD6-C8BE865914E8}"/>
              </a:ext>
            </a:extLst>
          </p:cNvPr>
          <p:cNvSpPr/>
          <p:nvPr/>
        </p:nvSpPr>
        <p:spPr>
          <a:xfrm>
            <a:off x="6993292" y="1005372"/>
            <a:ext cx="3903803" cy="30777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23754" marR="0" lvl="5" indent="-423754" algn="ctr" defTabSz="1427378" rtl="0" eaLnBrk="1" fontAlgn="auto" latinLnBrk="0" hangingPunct="1">
              <a:lnSpc>
                <a:spcPct val="100000"/>
              </a:lnSpc>
              <a:spcBef>
                <a:spcPts val="624"/>
              </a:spcBef>
              <a:spcAft>
                <a:spcPts val="0"/>
              </a:spcAft>
              <a:buClrTx/>
              <a:buSzPct val="120000"/>
              <a:buFontTx/>
              <a:buBlip>
                <a:blip r:embed="rId7"/>
              </a:buBlip>
              <a:tabLst/>
              <a:defRPr sz="1200">
                <a:solidFill>
                  <a:srgbClr val="404040"/>
                </a:solidFill>
              </a:defRPr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HERA NO PROBLEM GAS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7277FC8A-9AED-8247-5B9F-A0643B0ADD5C}"/>
              </a:ext>
            </a:extLst>
          </p:cNvPr>
          <p:cNvSpPr/>
          <p:nvPr/>
        </p:nvSpPr>
        <p:spPr>
          <a:xfrm>
            <a:off x="7432035" y="5912342"/>
            <a:ext cx="3453255" cy="648000"/>
          </a:xfrm>
          <a:prstGeom prst="roundRect">
            <a:avLst/>
          </a:prstGeom>
          <a:gradFill flip="none" rotWithShape="1">
            <a:gsLst>
              <a:gs pos="0">
                <a:srgbClr val="C0C0C0">
                  <a:shade val="30000"/>
                  <a:satMod val="115000"/>
                </a:srgbClr>
              </a:gs>
              <a:gs pos="50000">
                <a:srgbClr val="C0C0C0">
                  <a:shade val="67500"/>
                  <a:satMod val="115000"/>
                </a:srgbClr>
              </a:gs>
              <a:gs pos="100000">
                <a:srgbClr val="C0C0C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969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78 €/anno </a:t>
            </a:r>
          </a:p>
          <a:p>
            <a:pPr marL="0" marR="0" lvl="0" indent="0" algn="ctr" defTabSz="6969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(6,5 € /mese)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1808DCF4-9EC3-816F-2B52-B034CFAAC83C}"/>
              </a:ext>
            </a:extLst>
          </p:cNvPr>
          <p:cNvSpPr txBox="1">
            <a:spLocks/>
          </p:cNvSpPr>
          <p:nvPr/>
        </p:nvSpPr>
        <p:spPr>
          <a:xfrm>
            <a:off x="296418" y="158818"/>
            <a:ext cx="9193428" cy="57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2400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 sz="25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HNP Luce &amp; Gas: </a:t>
            </a:r>
            <a:r>
              <a:rPr lang="it-IT" sz="25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contenuti del servizio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34D62A69-1236-D73A-DCE3-21026F535F25}"/>
              </a:ext>
            </a:extLst>
          </p:cNvPr>
          <p:cNvSpPr/>
          <p:nvPr/>
        </p:nvSpPr>
        <p:spPr>
          <a:xfrm>
            <a:off x="6621556" y="1354719"/>
            <a:ext cx="4609707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sz="1200" b="1" dirty="0">
                <a:solidFill>
                  <a:srgbClr val="000000"/>
                </a:solidFill>
                <a:latin typeface="Segoe UI" panose="020B0502040204020203" pitchFamily="34" charset="0"/>
              </a:rPr>
              <a:t>Servizio di assistenza e manutenzione all’impianto gas </a:t>
            </a: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u="sng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N.</a:t>
            </a:r>
            <a:r>
              <a:rPr kumimoji="0" lang="it-IT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massimo aggregato di 5 interventi tecnici/anno tra</a:t>
            </a:r>
          </a:p>
        </p:txBody>
      </p: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FBE81F79-9122-D217-9C93-8DEFE742969F}"/>
              </a:ext>
            </a:extLst>
          </p:cNvPr>
          <p:cNvGrpSpPr/>
          <p:nvPr/>
        </p:nvGrpSpPr>
        <p:grpSpPr>
          <a:xfrm>
            <a:off x="6900985" y="2962230"/>
            <a:ext cx="214183" cy="243082"/>
            <a:chOff x="-458962" y="2738940"/>
            <a:chExt cx="279715" cy="279683"/>
          </a:xfrm>
        </p:grpSpPr>
        <p:sp>
          <p:nvSpPr>
            <p:cNvPr id="29" name="Rettangolo 28">
              <a:extLst>
                <a:ext uri="{FF2B5EF4-FFF2-40B4-BE49-F238E27FC236}">
                  <a16:creationId xmlns:a16="http://schemas.microsoft.com/office/drawing/2014/main" id="{867E6396-BEB3-901C-F84D-0225DFFF6B39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30" name="Picture 2" descr="Catena Libero Icona di Icomoon free 1 Icons">
              <a:extLst>
                <a:ext uri="{FF2B5EF4-FFF2-40B4-BE49-F238E27FC236}">
                  <a16:creationId xmlns:a16="http://schemas.microsoft.com/office/drawing/2014/main" id="{C2F9B7F4-85E7-F309-23B9-7915E8A634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465FE6E8-FD48-1FBA-49F3-5E1C0BB382EC}"/>
              </a:ext>
            </a:extLst>
          </p:cNvPr>
          <p:cNvGrpSpPr/>
          <p:nvPr/>
        </p:nvGrpSpPr>
        <p:grpSpPr>
          <a:xfrm>
            <a:off x="6900986" y="2353953"/>
            <a:ext cx="214183" cy="243082"/>
            <a:chOff x="-458962" y="2738940"/>
            <a:chExt cx="279715" cy="279683"/>
          </a:xfrm>
        </p:grpSpPr>
        <p:sp>
          <p:nvSpPr>
            <p:cNvPr id="87" name="Rettangolo 86">
              <a:extLst>
                <a:ext uri="{FF2B5EF4-FFF2-40B4-BE49-F238E27FC236}">
                  <a16:creationId xmlns:a16="http://schemas.microsoft.com/office/drawing/2014/main" id="{7B3C3F9A-B830-60EB-77C7-A56469E8181F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91" name="Picture 2" descr="Catena Libero Icona di Icomoon free 1 Icons">
              <a:extLst>
                <a:ext uri="{FF2B5EF4-FFF2-40B4-BE49-F238E27FC236}">
                  <a16:creationId xmlns:a16="http://schemas.microsoft.com/office/drawing/2014/main" id="{2F17B76B-AF6E-3C10-1987-0798ADF63F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3" name="CasellaDiTesto 92">
            <a:extLst>
              <a:ext uri="{FF2B5EF4-FFF2-40B4-BE49-F238E27FC236}">
                <a16:creationId xmlns:a16="http://schemas.microsoft.com/office/drawing/2014/main" id="{11B06C3F-30D1-7E5B-8AFB-96EF12023510}"/>
              </a:ext>
            </a:extLst>
          </p:cNvPr>
          <p:cNvSpPr txBox="1"/>
          <p:nvPr/>
        </p:nvSpPr>
        <p:spPr>
          <a:xfrm>
            <a:off x="7169035" y="2280006"/>
            <a:ext cx="3979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tecnico del gas in caso di malfunzionamento dell’impianto gas </a:t>
            </a:r>
            <a:r>
              <a:rPr kumimoji="0" lang="it-IT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per qualsiasi ragione</a:t>
            </a:r>
          </a:p>
        </p:txBody>
      </p:sp>
      <p:sp>
        <p:nvSpPr>
          <p:cNvPr id="94" name="CasellaDiTesto 93">
            <a:extLst>
              <a:ext uri="{FF2B5EF4-FFF2-40B4-BE49-F238E27FC236}">
                <a16:creationId xmlns:a16="http://schemas.microsoft.com/office/drawing/2014/main" id="{88A58E85-3020-8942-297E-4A808B69FEC2}"/>
              </a:ext>
            </a:extLst>
          </p:cNvPr>
          <p:cNvSpPr txBox="1"/>
          <p:nvPr/>
        </p:nvSpPr>
        <p:spPr>
          <a:xfrm>
            <a:off x="7200727" y="2933661"/>
            <a:ext cx="26697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Check up impianto gas 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44CC8CA7-552C-96C8-EA83-D1120A7F11A6}"/>
              </a:ext>
            </a:extLst>
          </p:cNvPr>
          <p:cNvSpPr txBox="1"/>
          <p:nvPr/>
        </p:nvSpPr>
        <p:spPr>
          <a:xfrm>
            <a:off x="7174526" y="3448876"/>
            <a:ext cx="3550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Fabbro o Falegname (max 3)</a:t>
            </a:r>
          </a:p>
        </p:txBody>
      </p:sp>
      <p:sp>
        <p:nvSpPr>
          <p:cNvPr id="96" name="CasellaDiTesto 95">
            <a:extLst>
              <a:ext uri="{FF2B5EF4-FFF2-40B4-BE49-F238E27FC236}">
                <a16:creationId xmlns:a16="http://schemas.microsoft.com/office/drawing/2014/main" id="{D0A97232-E943-F3E8-5BA3-19BD7EE26966}"/>
              </a:ext>
            </a:extLst>
          </p:cNvPr>
          <p:cNvSpPr txBox="1"/>
          <p:nvPr/>
        </p:nvSpPr>
        <p:spPr>
          <a:xfrm>
            <a:off x="7209014" y="3915813"/>
            <a:ext cx="25901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2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Pulizia straordinaria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(max 3)</a:t>
            </a:r>
            <a:r>
              <a:rPr lang="it-IT" sz="12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7" name="CasellaDiTesto 96">
            <a:extLst>
              <a:ext uri="{FF2B5EF4-FFF2-40B4-BE49-F238E27FC236}">
                <a16:creationId xmlns:a16="http://schemas.microsoft.com/office/drawing/2014/main" id="{D88B3413-669A-7D06-8438-B7085F57A68B}"/>
              </a:ext>
            </a:extLst>
          </p:cNvPr>
          <p:cNvSpPr txBox="1"/>
          <p:nvPr/>
        </p:nvSpPr>
        <p:spPr>
          <a:xfrm>
            <a:off x="7209014" y="4431038"/>
            <a:ext cx="3515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Vetraio o </a:t>
            </a:r>
            <a:r>
              <a:rPr kumimoji="0" lang="it-IT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Serrandista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(max 3)</a:t>
            </a:r>
          </a:p>
        </p:txBody>
      </p:sp>
      <p:sp>
        <p:nvSpPr>
          <p:cNvPr id="98" name="CasellaDiTesto 97">
            <a:extLst>
              <a:ext uri="{FF2B5EF4-FFF2-40B4-BE49-F238E27FC236}">
                <a16:creationId xmlns:a16="http://schemas.microsoft.com/office/drawing/2014/main" id="{2CDFBB14-A59F-E6A9-A430-A091FC9B8622}"/>
              </a:ext>
            </a:extLst>
          </p:cNvPr>
          <p:cNvSpPr txBox="1"/>
          <p:nvPr/>
        </p:nvSpPr>
        <p:spPr>
          <a:xfrm>
            <a:off x="7244299" y="4964486"/>
            <a:ext cx="3363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termoidraulico</a:t>
            </a:r>
          </a:p>
        </p:txBody>
      </p: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B8029764-9165-3143-8C71-0287A199295C}"/>
              </a:ext>
            </a:extLst>
          </p:cNvPr>
          <p:cNvGrpSpPr/>
          <p:nvPr/>
        </p:nvGrpSpPr>
        <p:grpSpPr>
          <a:xfrm>
            <a:off x="6905283" y="3963560"/>
            <a:ext cx="214183" cy="243082"/>
            <a:chOff x="-458962" y="2738940"/>
            <a:chExt cx="279715" cy="279683"/>
          </a:xfrm>
        </p:grpSpPr>
        <p:sp>
          <p:nvSpPr>
            <p:cNvPr id="100" name="Rettangolo 99">
              <a:extLst>
                <a:ext uri="{FF2B5EF4-FFF2-40B4-BE49-F238E27FC236}">
                  <a16:creationId xmlns:a16="http://schemas.microsoft.com/office/drawing/2014/main" id="{C33B81AC-4121-1BD4-FB04-5D2F7A42B176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101" name="Picture 2" descr="Catena Libero Icona di Icomoon free 1 Icons">
              <a:extLst>
                <a:ext uri="{FF2B5EF4-FFF2-40B4-BE49-F238E27FC236}">
                  <a16:creationId xmlns:a16="http://schemas.microsoft.com/office/drawing/2014/main" id="{0C42AD6E-2928-B9D0-62C4-49A99F47E4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" name="Gruppo 102">
            <a:extLst>
              <a:ext uri="{FF2B5EF4-FFF2-40B4-BE49-F238E27FC236}">
                <a16:creationId xmlns:a16="http://schemas.microsoft.com/office/drawing/2014/main" id="{9797B71B-7FC2-D1CC-DAF0-0D96372DFDE8}"/>
              </a:ext>
            </a:extLst>
          </p:cNvPr>
          <p:cNvGrpSpPr/>
          <p:nvPr/>
        </p:nvGrpSpPr>
        <p:grpSpPr>
          <a:xfrm>
            <a:off x="6900984" y="3480688"/>
            <a:ext cx="214183" cy="243082"/>
            <a:chOff x="-458962" y="2738940"/>
            <a:chExt cx="279715" cy="279683"/>
          </a:xfrm>
        </p:grpSpPr>
        <p:sp>
          <p:nvSpPr>
            <p:cNvPr id="104" name="Rettangolo 103">
              <a:extLst>
                <a:ext uri="{FF2B5EF4-FFF2-40B4-BE49-F238E27FC236}">
                  <a16:creationId xmlns:a16="http://schemas.microsoft.com/office/drawing/2014/main" id="{4134A848-5B2C-6445-7D7A-ABFC4D28DB07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105" name="Picture 2" descr="Catena Libero Icona di Icomoon free 1 Icons">
              <a:extLst>
                <a:ext uri="{FF2B5EF4-FFF2-40B4-BE49-F238E27FC236}">
                  <a16:creationId xmlns:a16="http://schemas.microsoft.com/office/drawing/2014/main" id="{FF06599F-D118-62B1-2D22-602D991AE8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6" name="Gruppo 105">
            <a:extLst>
              <a:ext uri="{FF2B5EF4-FFF2-40B4-BE49-F238E27FC236}">
                <a16:creationId xmlns:a16="http://schemas.microsoft.com/office/drawing/2014/main" id="{71ED960C-9098-A300-1BBE-4DD5A60F1BA4}"/>
              </a:ext>
            </a:extLst>
          </p:cNvPr>
          <p:cNvGrpSpPr/>
          <p:nvPr/>
        </p:nvGrpSpPr>
        <p:grpSpPr>
          <a:xfrm>
            <a:off x="6900984" y="4969638"/>
            <a:ext cx="214183" cy="243082"/>
            <a:chOff x="-458962" y="2738940"/>
            <a:chExt cx="279715" cy="279683"/>
          </a:xfrm>
        </p:grpSpPr>
        <p:sp>
          <p:nvSpPr>
            <p:cNvPr id="107" name="Rettangolo 106">
              <a:extLst>
                <a:ext uri="{FF2B5EF4-FFF2-40B4-BE49-F238E27FC236}">
                  <a16:creationId xmlns:a16="http://schemas.microsoft.com/office/drawing/2014/main" id="{5915AF4D-F425-2FAC-1ADA-563272FD676E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108" name="Picture 2" descr="Catena Libero Icona di Icomoon free 1 Icons">
              <a:extLst>
                <a:ext uri="{FF2B5EF4-FFF2-40B4-BE49-F238E27FC236}">
                  <a16:creationId xmlns:a16="http://schemas.microsoft.com/office/drawing/2014/main" id="{9C3AE3AE-C677-8C23-8DC7-2FB23D0637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9" name="Gruppo 108">
            <a:extLst>
              <a:ext uri="{FF2B5EF4-FFF2-40B4-BE49-F238E27FC236}">
                <a16:creationId xmlns:a16="http://schemas.microsoft.com/office/drawing/2014/main" id="{DA74496A-C87E-F87A-F06E-4E80DD5F8B1B}"/>
              </a:ext>
            </a:extLst>
          </p:cNvPr>
          <p:cNvGrpSpPr/>
          <p:nvPr/>
        </p:nvGrpSpPr>
        <p:grpSpPr>
          <a:xfrm>
            <a:off x="6900984" y="4447726"/>
            <a:ext cx="214183" cy="243082"/>
            <a:chOff x="-458962" y="2738940"/>
            <a:chExt cx="279715" cy="279683"/>
          </a:xfrm>
        </p:grpSpPr>
        <p:sp>
          <p:nvSpPr>
            <p:cNvPr id="110" name="Rettangolo 109">
              <a:extLst>
                <a:ext uri="{FF2B5EF4-FFF2-40B4-BE49-F238E27FC236}">
                  <a16:creationId xmlns:a16="http://schemas.microsoft.com/office/drawing/2014/main" id="{A4378693-F68E-701E-DC47-CEA26F8DFEC9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111" name="Picture 2" descr="Catena Libero Icona di Icomoon free 1 Icons">
              <a:extLst>
                <a:ext uri="{FF2B5EF4-FFF2-40B4-BE49-F238E27FC236}">
                  <a16:creationId xmlns:a16="http://schemas.microsoft.com/office/drawing/2014/main" id="{2978D94C-A88E-2D4C-C559-BDE6E5A9C1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2" name="Gruppo 111">
            <a:extLst>
              <a:ext uri="{FF2B5EF4-FFF2-40B4-BE49-F238E27FC236}">
                <a16:creationId xmlns:a16="http://schemas.microsoft.com/office/drawing/2014/main" id="{CCEF1E88-C78C-021D-D7CF-006F05674767}"/>
              </a:ext>
            </a:extLst>
          </p:cNvPr>
          <p:cNvGrpSpPr/>
          <p:nvPr/>
        </p:nvGrpSpPr>
        <p:grpSpPr>
          <a:xfrm>
            <a:off x="6908297" y="5463695"/>
            <a:ext cx="214183" cy="243082"/>
            <a:chOff x="-458962" y="2738940"/>
            <a:chExt cx="279715" cy="279683"/>
          </a:xfrm>
        </p:grpSpPr>
        <p:sp>
          <p:nvSpPr>
            <p:cNvPr id="113" name="Rettangolo 112">
              <a:extLst>
                <a:ext uri="{FF2B5EF4-FFF2-40B4-BE49-F238E27FC236}">
                  <a16:creationId xmlns:a16="http://schemas.microsoft.com/office/drawing/2014/main" id="{C7977B79-2787-878E-5C09-A6243D7AE78D}"/>
                </a:ext>
              </a:extLst>
            </p:cNvPr>
            <p:cNvSpPr/>
            <p:nvPr/>
          </p:nvSpPr>
          <p:spPr>
            <a:xfrm>
              <a:off x="-458962" y="2738940"/>
              <a:ext cx="279715" cy="279683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0078BE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114" name="Picture 2" descr="Catena Libero Icona di Icomoon free 1 Icons">
              <a:extLst>
                <a:ext uri="{FF2B5EF4-FFF2-40B4-BE49-F238E27FC236}">
                  <a16:creationId xmlns:a16="http://schemas.microsoft.com/office/drawing/2014/main" id="{F8779A2B-E962-84A2-F60F-E2A2B7100C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-400787" y="2783668"/>
              <a:ext cx="164199" cy="16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5" name="Rettangolo con angoli arrotondati 114">
            <a:extLst>
              <a:ext uri="{FF2B5EF4-FFF2-40B4-BE49-F238E27FC236}">
                <a16:creationId xmlns:a16="http://schemas.microsoft.com/office/drawing/2014/main" id="{9EF800E0-A6BE-FEB5-EDB1-905F8015E0F3}"/>
              </a:ext>
            </a:extLst>
          </p:cNvPr>
          <p:cNvSpPr/>
          <p:nvPr/>
        </p:nvSpPr>
        <p:spPr>
          <a:xfrm>
            <a:off x="1527831" y="5933185"/>
            <a:ext cx="3453255" cy="648000"/>
          </a:xfrm>
          <a:prstGeom prst="roundRect">
            <a:avLst/>
          </a:prstGeom>
          <a:gradFill flip="none" rotWithShape="1">
            <a:gsLst>
              <a:gs pos="0">
                <a:srgbClr val="C0C0C0">
                  <a:shade val="30000"/>
                  <a:satMod val="115000"/>
                </a:srgbClr>
              </a:gs>
              <a:gs pos="50000">
                <a:srgbClr val="C0C0C0">
                  <a:shade val="67500"/>
                  <a:satMod val="115000"/>
                </a:srgbClr>
              </a:gs>
              <a:gs pos="100000">
                <a:srgbClr val="C0C0C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969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78 €/anno </a:t>
            </a:r>
          </a:p>
          <a:p>
            <a:pPr marL="0" marR="0" lvl="0" indent="0" algn="ctr" defTabSz="6969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(6,5 € /mese)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5C9EE44-F8C8-7D18-C1EA-F919E0FC13AC}"/>
              </a:ext>
            </a:extLst>
          </p:cNvPr>
          <p:cNvSpPr txBox="1"/>
          <p:nvPr/>
        </p:nvSpPr>
        <p:spPr>
          <a:xfrm>
            <a:off x="7235657" y="5397721"/>
            <a:ext cx="4281332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Invio di un tecnico riparatore elettrodomestici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(frigorifero, </a:t>
            </a:r>
            <a:r>
              <a:rPr kumimoji="0" lang="it-IT" sz="105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lavostaglie</a:t>
            </a:r>
            <a:r>
              <a:rPr kumimoji="0" lang="it-IT" sz="10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, lavatrice, forno, congelatore, asciugatrice, </a:t>
            </a:r>
            <a:r>
              <a:rPr kumimoji="0" lang="it-IT" sz="105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etc</a:t>
            </a:r>
            <a:r>
              <a:rPr kumimoji="0" lang="it-IT" sz="10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)</a:t>
            </a:r>
            <a:endParaRPr kumimoji="0" lang="it-IT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26DD1F97-01BE-8C81-C88E-92B2CA65D27E}"/>
              </a:ext>
            </a:extLst>
          </p:cNvPr>
          <p:cNvSpPr/>
          <p:nvPr/>
        </p:nvSpPr>
        <p:spPr>
          <a:xfrm>
            <a:off x="502488" y="5356592"/>
            <a:ext cx="11384239" cy="534138"/>
          </a:xfrm>
          <a:prstGeom prst="rect">
            <a:avLst/>
          </a:prstGeom>
          <a:noFill/>
          <a:ln w="28575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07912E5E-6D55-DBA9-4B7A-D2CA340C443C}"/>
              </a:ext>
            </a:extLst>
          </p:cNvPr>
          <p:cNvSpPr/>
          <p:nvPr/>
        </p:nvSpPr>
        <p:spPr>
          <a:xfrm>
            <a:off x="-10633" y="943040"/>
            <a:ext cx="12202633" cy="4312181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it-IT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EDABA6C2-D4D8-EC7F-F63B-C2ACB25A6B6F}"/>
              </a:ext>
            </a:extLst>
          </p:cNvPr>
          <p:cNvSpPr txBox="1"/>
          <p:nvPr/>
        </p:nvSpPr>
        <p:spPr>
          <a:xfrm rot="1357966">
            <a:off x="10865911" y="5170843"/>
            <a:ext cx="1279663" cy="307777"/>
          </a:xfrm>
          <a:prstGeom prst="rect">
            <a:avLst/>
          </a:prstGeom>
          <a:solidFill>
            <a:schemeClr val="bg1"/>
          </a:solidFill>
          <a:ln>
            <a:solidFill>
              <a:srgbClr val="ED7D31"/>
            </a:solidFill>
          </a:ln>
        </p:spPr>
        <p:txBody>
          <a:bodyPr wrap="square">
            <a:spAutoFit/>
          </a:bodyPr>
          <a:lstStyle>
            <a:defPPr>
              <a:defRPr lang="it-IT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normalizeH="0" baseline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uLnTx/>
                <a:uFillTx/>
                <a:latin typeface="Segoe UI" panose="020B0502040204020203" pitchFamily="34" charset="0"/>
                <a:ea typeface="Osaka"/>
                <a:cs typeface="Segoe UI" panose="020B0502040204020203" pitchFamily="34" charset="0"/>
              </a:defRPr>
            </a:lvl1pPr>
          </a:lstStyle>
          <a:p>
            <a:r>
              <a:rPr lang="it-IT" i="1" dirty="0">
                <a:ln w="22225">
                  <a:noFill/>
                  <a:prstDash val="solid"/>
                </a:ln>
                <a:solidFill>
                  <a:sysClr val="windowText" lastClr="000000"/>
                </a:solidFill>
              </a:rPr>
              <a:t>killer feature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0D2F9A31-520C-C652-CA0E-EA3FF391C926}"/>
              </a:ext>
            </a:extLst>
          </p:cNvPr>
          <p:cNvSpPr txBox="1"/>
          <p:nvPr/>
        </p:nvSpPr>
        <p:spPr>
          <a:xfrm>
            <a:off x="36651" y="1061666"/>
            <a:ext cx="118500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it-IT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Dal Rapporto annuale 2023 Federconsumatori si evince che i </a:t>
            </a:r>
            <a:r>
              <a:rPr lang="it-IT" b="1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costi medi per la riparazione</a:t>
            </a:r>
            <a:r>
              <a:rPr lang="it-IT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dei principali elettrodomestici sono </a:t>
            </a:r>
            <a:r>
              <a:rPr lang="it-IT" b="1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significativi</a:t>
            </a:r>
            <a:r>
              <a:rPr lang="it-IT" dirty="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/>
            <a:endParaRPr lang="it-IT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endParaRPr lang="it-IT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endParaRPr lang="it-IT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endParaRPr lang="it-IT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endParaRPr lang="it-IT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Immagine output">
            <a:extLst>
              <a:ext uri="{FF2B5EF4-FFF2-40B4-BE49-F238E27FC236}">
                <a16:creationId xmlns:a16="http://schemas.microsoft.com/office/drawing/2014/main" id="{E277A617-F6AC-7623-3941-965F62179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17" y="1793432"/>
            <a:ext cx="5032198" cy="334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magine 53">
            <a:extLst>
              <a:ext uri="{FF2B5EF4-FFF2-40B4-BE49-F238E27FC236}">
                <a16:creationId xmlns:a16="http://schemas.microsoft.com/office/drawing/2014/main" id="{FB786D7D-E0C7-8477-8439-2393740CE55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3030"/>
          <a:stretch/>
        </p:blipFill>
        <p:spPr>
          <a:xfrm>
            <a:off x="7399315" y="1904806"/>
            <a:ext cx="3504217" cy="2765090"/>
          </a:xfrm>
          <a:prstGeom prst="rect">
            <a:avLst/>
          </a:prstGeom>
        </p:spPr>
      </p:pic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99189187-72FA-4B3C-CA96-5FA3E4B8637F}"/>
              </a:ext>
            </a:extLst>
          </p:cNvPr>
          <p:cNvSpPr txBox="1"/>
          <p:nvPr/>
        </p:nvSpPr>
        <p:spPr>
          <a:xfrm>
            <a:off x="7543837" y="1980290"/>
            <a:ext cx="32334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 riparazioni fuori garanzia restano una </a:t>
            </a:r>
            <a:r>
              <a:rPr lang="it-IT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voce di spesa importante </a:t>
            </a:r>
            <a:r>
              <a:rPr lang="it-IT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 i consumatori. Con la crescita del mercato degli elettrodomestici, </a:t>
            </a:r>
            <a:r>
              <a:rPr lang="it-IT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aumentano anche i costi di manutenzione e riparazione.</a:t>
            </a:r>
          </a:p>
          <a:p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58" name="Freccia a pentagono 57">
            <a:extLst>
              <a:ext uri="{FF2B5EF4-FFF2-40B4-BE49-F238E27FC236}">
                <a16:creationId xmlns:a16="http://schemas.microsoft.com/office/drawing/2014/main" id="{E6A52A4D-AB2B-2D0B-7385-144065DCE478}"/>
              </a:ext>
            </a:extLst>
          </p:cNvPr>
          <p:cNvSpPr/>
          <p:nvPr/>
        </p:nvSpPr>
        <p:spPr>
          <a:xfrm>
            <a:off x="5883566" y="2635910"/>
            <a:ext cx="1195641" cy="1215329"/>
          </a:xfrm>
          <a:prstGeom prst="homePlate">
            <a:avLst>
              <a:gd name="adj" fmla="val 12696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3154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CBCE3AB1-CB75-427A-BEBE-D498A3FB66C8}"/>
              </a:ext>
            </a:extLst>
          </p:cNvPr>
          <p:cNvCxnSpPr>
            <a:cxnSpLocks/>
          </p:cNvCxnSpPr>
          <p:nvPr/>
        </p:nvCxnSpPr>
        <p:spPr>
          <a:xfrm>
            <a:off x="733681" y="5107905"/>
            <a:ext cx="10401300" cy="0"/>
          </a:xfrm>
          <a:prstGeom prst="line">
            <a:avLst/>
          </a:prstGeom>
          <a:ln w="28575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8556EC15-179F-4CDE-FDC2-FE0438514EE1}"/>
              </a:ext>
            </a:extLst>
          </p:cNvPr>
          <p:cNvCxnSpPr>
            <a:cxnSpLocks/>
          </p:cNvCxnSpPr>
          <p:nvPr/>
        </p:nvCxnSpPr>
        <p:spPr>
          <a:xfrm>
            <a:off x="9145777" y="5054608"/>
            <a:ext cx="0" cy="449120"/>
          </a:xfrm>
          <a:prstGeom prst="line">
            <a:avLst/>
          </a:prstGeom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tangolo 38">
            <a:extLst>
              <a:ext uri="{FF2B5EF4-FFF2-40B4-BE49-F238E27FC236}">
                <a16:creationId xmlns:a16="http://schemas.microsoft.com/office/drawing/2014/main" id="{EC717991-D37F-469B-28DD-09C33F6E63AB}"/>
              </a:ext>
            </a:extLst>
          </p:cNvPr>
          <p:cNvSpPr/>
          <p:nvPr/>
        </p:nvSpPr>
        <p:spPr>
          <a:xfrm>
            <a:off x="8149191" y="5247121"/>
            <a:ext cx="1958007" cy="1034406"/>
          </a:xfrm>
          <a:prstGeom prst="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35479288-159D-432A-BD9A-7D439A9C0BC9}"/>
              </a:ext>
            </a:extLst>
          </p:cNvPr>
          <p:cNvSpPr txBox="1"/>
          <p:nvPr/>
        </p:nvSpPr>
        <p:spPr>
          <a:xfrm>
            <a:off x="7830821" y="4487471"/>
            <a:ext cx="2600632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Stampe plichi cartacei in agenzia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D92DF0B8-639D-26BA-D28A-4E376C975E73}"/>
              </a:ext>
            </a:extLst>
          </p:cNvPr>
          <p:cNvSpPr txBox="1"/>
          <p:nvPr/>
        </p:nvSpPr>
        <p:spPr>
          <a:xfrm>
            <a:off x="8690272" y="4832925"/>
            <a:ext cx="929911" cy="307777"/>
          </a:xfrm>
          <a:prstGeom prst="rect">
            <a:avLst/>
          </a:prstGeom>
          <a:solidFill>
            <a:schemeClr val="bg1"/>
          </a:solidFill>
          <a:ln>
            <a:solidFill>
              <a:srgbClr val="ED7D3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23/07 ca</a:t>
            </a:r>
            <a:endParaRPr lang="it-IT" sz="1400" dirty="0"/>
          </a:p>
        </p:txBody>
      </p: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D96380B3-C74E-07BB-581D-9681F7BDBC98}"/>
              </a:ext>
            </a:extLst>
          </p:cNvPr>
          <p:cNvCxnSpPr>
            <a:cxnSpLocks/>
          </p:cNvCxnSpPr>
          <p:nvPr/>
        </p:nvCxnSpPr>
        <p:spPr>
          <a:xfrm>
            <a:off x="2606488" y="5250478"/>
            <a:ext cx="0" cy="449120"/>
          </a:xfrm>
          <a:prstGeom prst="line">
            <a:avLst/>
          </a:prstGeom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tangolo 27">
            <a:extLst>
              <a:ext uri="{FF2B5EF4-FFF2-40B4-BE49-F238E27FC236}">
                <a16:creationId xmlns:a16="http://schemas.microsoft.com/office/drawing/2014/main" id="{3B13FEC8-A287-547E-D6B3-42515A617D66}"/>
              </a:ext>
            </a:extLst>
          </p:cNvPr>
          <p:cNvSpPr/>
          <p:nvPr/>
        </p:nvSpPr>
        <p:spPr>
          <a:xfrm>
            <a:off x="1208197" y="5359640"/>
            <a:ext cx="2708302" cy="1280795"/>
          </a:xfrm>
          <a:prstGeom prst="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A80121D9-79E0-C4B5-83AB-EAE6D37E1C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030"/>
          <a:stretch/>
        </p:blipFill>
        <p:spPr>
          <a:xfrm>
            <a:off x="-10633" y="-14364"/>
            <a:ext cx="12202633" cy="757052"/>
          </a:xfrm>
          <a:prstGeom prst="rect">
            <a:avLst/>
          </a:prstGeom>
        </p:spPr>
      </p:pic>
      <p:sp>
        <p:nvSpPr>
          <p:cNvPr id="15" name="Titolo 1">
            <a:extLst>
              <a:ext uri="{FF2B5EF4-FFF2-40B4-BE49-F238E27FC236}">
                <a16:creationId xmlns:a16="http://schemas.microsoft.com/office/drawing/2014/main" id="{FB9F9ED5-B8ED-7BB0-FBEC-C56D6203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01" y="94459"/>
            <a:ext cx="12202633" cy="572812"/>
          </a:xfrm>
        </p:spPr>
        <p:txBody>
          <a:bodyPr>
            <a:normAutofit fontScale="90000"/>
          </a:bodyPr>
          <a:lstStyle/>
          <a:p>
            <a:r>
              <a:rPr lang="it-IT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Il nuovo plico Contrattuale: </a:t>
            </a:r>
            <a:r>
              <a:rPr lang="it-IT" sz="2400" b="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HERA No </a:t>
            </a:r>
            <a:r>
              <a:rPr lang="it-IT" sz="2400" b="0" dirty="0" err="1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Problem</a:t>
            </a:r>
            <a:r>
              <a:rPr lang="it-IT" sz="2400" b="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Luce Servizio; No </a:t>
            </a:r>
            <a:r>
              <a:rPr lang="it-IT" sz="2400" b="0" dirty="0" err="1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Problem</a:t>
            </a:r>
            <a:r>
              <a:rPr lang="it-IT" sz="2400" b="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GAS Servizio </a:t>
            </a:r>
            <a:br>
              <a:rPr lang="it-IT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lang="it-IT" sz="27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la Nuova da scheda Adesione con CGC</a:t>
            </a:r>
            <a:endParaRPr lang="it-IT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6F42F307-F830-C4ED-6507-B056EC5A1F1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555717" y="737661"/>
            <a:ext cx="2576726" cy="3617327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0CD2B206-02D2-8F8D-4C8E-B69C5D609CB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5844751" y="820909"/>
            <a:ext cx="2643084" cy="3617327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6561F105-D2D1-FCEB-6C91-37D7C208387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3030487" y="808022"/>
            <a:ext cx="2622366" cy="3652258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9AEFC98B-9E3A-BD6B-718E-3870A41E7A4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8404467" y="889080"/>
            <a:ext cx="2548568" cy="3536248"/>
          </a:xfrm>
          <a:prstGeom prst="rect">
            <a:avLst/>
          </a:prstGeom>
        </p:spPr>
      </p:pic>
      <p:pic>
        <p:nvPicPr>
          <p:cNvPr id="23" name="Picture 6" descr="DOCUSIGN PRESENTA LA NUOVA PIATTAFORMA INTELLIGENT AGREEMENT MANAGEMENT DI  GESTIONE INTELLIGENTE DEI CONTRATTI BASATA SULL'IA PER LA NUOVA CATEGORIA  SAAS">
            <a:extLst>
              <a:ext uri="{FF2B5EF4-FFF2-40B4-BE49-F238E27FC236}">
                <a16:creationId xmlns:a16="http://schemas.microsoft.com/office/drawing/2014/main" id="{C812D484-3122-7A61-8A85-6228AE120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704" y="5921472"/>
            <a:ext cx="1160284" cy="606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uppo 23">
            <a:extLst>
              <a:ext uri="{FF2B5EF4-FFF2-40B4-BE49-F238E27FC236}">
                <a16:creationId xmlns:a16="http://schemas.microsoft.com/office/drawing/2014/main" id="{30DC8B80-10C4-714A-633F-FA1249C9DE25}"/>
              </a:ext>
            </a:extLst>
          </p:cNvPr>
          <p:cNvGrpSpPr/>
          <p:nvPr/>
        </p:nvGrpSpPr>
        <p:grpSpPr>
          <a:xfrm>
            <a:off x="2585848" y="5507343"/>
            <a:ext cx="1307861" cy="870178"/>
            <a:chOff x="8009256" y="1093134"/>
            <a:chExt cx="2496391" cy="1467343"/>
          </a:xfrm>
        </p:grpSpPr>
        <p:sp>
          <p:nvSpPr>
            <p:cNvPr id="25" name="Rettangolo 24">
              <a:extLst>
                <a:ext uri="{FF2B5EF4-FFF2-40B4-BE49-F238E27FC236}">
                  <a16:creationId xmlns:a16="http://schemas.microsoft.com/office/drawing/2014/main" id="{BC6D1DBE-0A8F-AA67-B31E-2482A481489D}"/>
                </a:ext>
              </a:extLst>
            </p:cNvPr>
            <p:cNvSpPr/>
            <p:nvPr/>
          </p:nvSpPr>
          <p:spPr>
            <a:xfrm>
              <a:off x="8009256" y="2132412"/>
              <a:ext cx="2496391" cy="4280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 i="1" dirty="0">
                  <a:solidFill>
                    <a:sysClr val="windowText" lastClr="000000"/>
                  </a:solidFill>
                </a:rPr>
                <a:t>Offerta vendita Agenzie </a:t>
              </a:r>
            </a:p>
          </p:txBody>
        </p:sp>
        <p:pic>
          <p:nvPicPr>
            <p:cNvPr id="26" name="Picture 10">
              <a:extLst>
                <a:ext uri="{FF2B5EF4-FFF2-40B4-BE49-F238E27FC236}">
                  <a16:creationId xmlns:a16="http://schemas.microsoft.com/office/drawing/2014/main" id="{34532AAD-FE87-4A45-43AF-4CA6E585CC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2813" y="1093134"/>
              <a:ext cx="1046352" cy="10224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Rettangolo 26">
            <a:extLst>
              <a:ext uri="{FF2B5EF4-FFF2-40B4-BE49-F238E27FC236}">
                <a16:creationId xmlns:a16="http://schemas.microsoft.com/office/drawing/2014/main" id="{653B5969-A902-0E75-3D0D-824E5E73F790}"/>
              </a:ext>
            </a:extLst>
          </p:cNvPr>
          <p:cNvSpPr/>
          <p:nvPr/>
        </p:nvSpPr>
        <p:spPr>
          <a:xfrm>
            <a:off x="1379343" y="5462160"/>
            <a:ext cx="1412342" cy="37835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>
                <a:solidFill>
                  <a:sysClr val="windowText" lastClr="000000"/>
                </a:solidFill>
              </a:rPr>
              <a:t>Enagage</a:t>
            </a:r>
            <a:r>
              <a:rPr lang="it-IT" b="1" dirty="0">
                <a:solidFill>
                  <a:sysClr val="windowText" lastClr="000000"/>
                </a:solidFill>
              </a:rPr>
              <a:t> One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620C7672-74C5-4205-867D-8600B48BB3D6}"/>
              </a:ext>
            </a:extLst>
          </p:cNvPr>
          <p:cNvSpPr txBox="1"/>
          <p:nvPr/>
        </p:nvSpPr>
        <p:spPr>
          <a:xfrm>
            <a:off x="1277362" y="4485016"/>
            <a:ext cx="2600632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it-IT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Lancio versione SERVIZIO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it-IT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Plichi sui sistemi</a:t>
            </a:r>
          </a:p>
        </p:txBody>
      </p:sp>
      <p:pic>
        <p:nvPicPr>
          <p:cNvPr id="34" name="Elemento grafico 33" descr="Stampante con riempimento a tinta unita">
            <a:extLst>
              <a:ext uri="{FF2B5EF4-FFF2-40B4-BE49-F238E27FC236}">
                <a16:creationId xmlns:a16="http://schemas.microsoft.com/office/drawing/2014/main" id="{0C3EAE0E-2D97-AF9F-E2A2-765037618F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76790" y="5429643"/>
            <a:ext cx="705304" cy="705304"/>
          </a:xfrm>
          <a:prstGeom prst="rect">
            <a:avLst/>
          </a:prstGeom>
        </p:spPr>
      </p:pic>
      <p:pic>
        <p:nvPicPr>
          <p:cNvPr id="36" name="Elemento grafico 35" descr="Documento con riempimento a tinta unita">
            <a:extLst>
              <a:ext uri="{FF2B5EF4-FFF2-40B4-BE49-F238E27FC236}">
                <a16:creationId xmlns:a16="http://schemas.microsoft.com/office/drawing/2014/main" id="{C3AA32DD-8331-0D60-F2C6-3FBD881FEA1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09726" y="5429642"/>
            <a:ext cx="705305" cy="705305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38024F0-CD9A-FA25-D223-6FF252A9B681}"/>
              </a:ext>
            </a:extLst>
          </p:cNvPr>
          <p:cNvSpPr txBox="1"/>
          <p:nvPr/>
        </p:nvSpPr>
        <p:spPr>
          <a:xfrm>
            <a:off x="7001130" y="2524858"/>
            <a:ext cx="2973410" cy="46166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Nome VAS da selezionare sui sistemi:</a:t>
            </a:r>
          </a:p>
          <a:p>
            <a:r>
              <a:rPr lang="it-IT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«HERA NO PROBLEM GAS SERVIZIO»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B438E5-00B1-E0CD-D152-316C05A3860F}"/>
              </a:ext>
            </a:extLst>
          </p:cNvPr>
          <p:cNvSpPr txBox="1"/>
          <p:nvPr/>
        </p:nvSpPr>
        <p:spPr>
          <a:xfrm>
            <a:off x="1645738" y="2524857"/>
            <a:ext cx="2973410" cy="46166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Nome VAS da selezionare sui sistemi:</a:t>
            </a:r>
          </a:p>
          <a:p>
            <a:r>
              <a:rPr lang="it-IT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«HERA NO PROBLEM LUCE SERVIZIO»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64DFEBB-FE6E-8938-7E9D-5A984C9240D4}"/>
              </a:ext>
            </a:extLst>
          </p:cNvPr>
          <p:cNvSpPr txBox="1"/>
          <p:nvPr/>
        </p:nvSpPr>
        <p:spPr>
          <a:xfrm>
            <a:off x="3628961" y="1036583"/>
            <a:ext cx="4431580" cy="46166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Due varianti di plichi contrattuali: Famiglie e Business</a:t>
            </a:r>
          </a:p>
          <a:p>
            <a:pPr algn="ctr"/>
            <a:r>
              <a:rPr lang="it-IT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Stesse condizioni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9C5F3A5-E21F-4EAA-F721-40A443E6D255}"/>
              </a:ext>
            </a:extLst>
          </p:cNvPr>
          <p:cNvSpPr txBox="1"/>
          <p:nvPr/>
        </p:nvSpPr>
        <p:spPr>
          <a:xfrm>
            <a:off x="2240434" y="4939344"/>
            <a:ext cx="739221" cy="307777"/>
          </a:xfrm>
          <a:prstGeom prst="rect">
            <a:avLst/>
          </a:prstGeom>
          <a:solidFill>
            <a:schemeClr val="bg1"/>
          </a:solidFill>
          <a:ln>
            <a:solidFill>
              <a:srgbClr val="ED7D3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04/07</a:t>
            </a:r>
            <a:endParaRPr lang="it-IT" sz="1400" dirty="0"/>
          </a:p>
        </p:txBody>
      </p: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2AE2220D-4726-ACCF-E55A-480B684B02FF}"/>
              </a:ext>
            </a:extLst>
          </p:cNvPr>
          <p:cNvCxnSpPr>
            <a:cxnSpLocks/>
          </p:cNvCxnSpPr>
          <p:nvPr/>
        </p:nvCxnSpPr>
        <p:spPr>
          <a:xfrm>
            <a:off x="6059360" y="5054608"/>
            <a:ext cx="0" cy="449120"/>
          </a:xfrm>
          <a:prstGeom prst="line">
            <a:avLst/>
          </a:prstGeom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tangolo 42">
            <a:extLst>
              <a:ext uri="{FF2B5EF4-FFF2-40B4-BE49-F238E27FC236}">
                <a16:creationId xmlns:a16="http://schemas.microsoft.com/office/drawing/2014/main" id="{FD21F040-FD0C-0B57-9A9A-1B9317E65BB5}"/>
              </a:ext>
            </a:extLst>
          </p:cNvPr>
          <p:cNvSpPr/>
          <p:nvPr/>
        </p:nvSpPr>
        <p:spPr>
          <a:xfrm>
            <a:off x="5149978" y="5391027"/>
            <a:ext cx="1958007" cy="1034406"/>
          </a:xfrm>
          <a:prstGeom prst="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0595DB6E-CE62-5B24-CFB0-B6D540C097FC}"/>
              </a:ext>
            </a:extLst>
          </p:cNvPr>
          <p:cNvSpPr txBox="1"/>
          <p:nvPr/>
        </p:nvSpPr>
        <p:spPr>
          <a:xfrm>
            <a:off x="4744404" y="4487471"/>
            <a:ext cx="2600632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Spegnimento della versione Polizza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C737EA4E-D6C1-988F-4CB3-35090CC4687A}"/>
              </a:ext>
            </a:extLst>
          </p:cNvPr>
          <p:cNvSpPr txBox="1"/>
          <p:nvPr/>
        </p:nvSpPr>
        <p:spPr>
          <a:xfrm>
            <a:off x="5610566" y="4900719"/>
            <a:ext cx="929911" cy="307777"/>
          </a:xfrm>
          <a:prstGeom prst="rect">
            <a:avLst/>
          </a:prstGeom>
          <a:solidFill>
            <a:schemeClr val="bg1"/>
          </a:solidFill>
          <a:ln>
            <a:solidFill>
              <a:srgbClr val="ED7D3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12/07 </a:t>
            </a:r>
            <a:endParaRPr lang="it-IT" sz="1400" dirty="0"/>
          </a:p>
        </p:txBody>
      </p:sp>
      <p:pic>
        <p:nvPicPr>
          <p:cNvPr id="47" name="Immagine 46">
            <a:extLst>
              <a:ext uri="{FF2B5EF4-FFF2-40B4-BE49-F238E27FC236}">
                <a16:creationId xmlns:a16="http://schemas.microsoft.com/office/drawing/2014/main" id="{D2861A11-FDB6-6ACD-0D58-C180FAF90D7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48764" y="5542438"/>
            <a:ext cx="853514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9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9B55392F-AFE0-A8C3-E71C-19B2797DB6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030"/>
          <a:stretch/>
        </p:blipFill>
        <p:spPr>
          <a:xfrm>
            <a:off x="-10633" y="-14364"/>
            <a:ext cx="12202633" cy="757052"/>
          </a:xfrm>
          <a:prstGeom prst="rect">
            <a:avLst/>
          </a:prstGeom>
        </p:spPr>
      </p:pic>
      <p:sp>
        <p:nvSpPr>
          <p:cNvPr id="25" name="Rectangle 67">
            <a:extLst>
              <a:ext uri="{FF2B5EF4-FFF2-40B4-BE49-F238E27FC236}">
                <a16:creationId xmlns:a16="http://schemas.microsoft.com/office/drawing/2014/main" id="{344EECF7-3D12-266D-4F70-744DB66DCBFE}"/>
              </a:ext>
            </a:extLst>
          </p:cNvPr>
          <p:cNvSpPr/>
          <p:nvPr/>
        </p:nvSpPr>
        <p:spPr>
          <a:xfrm>
            <a:off x="4385221" y="2016494"/>
            <a:ext cx="2715306" cy="1021672"/>
          </a:xfrm>
          <a:prstGeom prst="rect">
            <a:avLst/>
          </a:prstGeom>
        </p:spPr>
        <p:txBody>
          <a:bodyPr wrap="square" lIns="91422" tIns="45711" rIns="91422" bIns="45711">
            <a:spAutoFit/>
          </a:bodyPr>
          <a:lstStyle/>
          <a:p>
            <a:pPr algn="ctr" defTabSz="914217">
              <a:lnSpc>
                <a:spcPct val="150000"/>
              </a:lnSpc>
            </a:pP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65-74 anni – 18,3%</a:t>
            </a:r>
          </a:p>
          <a:p>
            <a:pPr algn="ctr" defTabSz="914217">
              <a:lnSpc>
                <a:spcPct val="150000"/>
              </a:lnSpc>
            </a:pP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55-64 anni - 18,2%</a:t>
            </a:r>
          </a:p>
          <a:p>
            <a:pPr algn="ctr" defTabSz="914217">
              <a:lnSpc>
                <a:spcPct val="150000"/>
              </a:lnSpc>
            </a:pPr>
            <a:endParaRPr lang="it-IT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olo 5">
            <a:extLst>
              <a:ext uri="{FF2B5EF4-FFF2-40B4-BE49-F238E27FC236}">
                <a16:creationId xmlns:a16="http://schemas.microsoft.com/office/drawing/2014/main" id="{688992D6-A96B-08E1-E861-57C47D983017}"/>
              </a:ext>
            </a:extLst>
          </p:cNvPr>
          <p:cNvSpPr txBox="1">
            <a:spLocks/>
          </p:cNvSpPr>
          <p:nvPr/>
        </p:nvSpPr>
        <p:spPr>
          <a:xfrm>
            <a:off x="170143" y="155318"/>
            <a:ext cx="5431743" cy="45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1350" b="1" kern="1200">
                <a:solidFill>
                  <a:srgbClr val="054977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 sz="24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Cliente HERA No </a:t>
            </a:r>
            <a:r>
              <a:rPr lang="it-IT" sz="2400" dirty="0" err="1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Problem</a:t>
            </a:r>
            <a:r>
              <a:rPr lang="it-IT" sz="24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Energy</a:t>
            </a:r>
            <a:endParaRPr lang="it-IT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68">
            <a:extLst>
              <a:ext uri="{FF2B5EF4-FFF2-40B4-BE49-F238E27FC236}">
                <a16:creationId xmlns:a16="http://schemas.microsoft.com/office/drawing/2014/main" id="{12E5069A-BB25-28B7-C901-41504C379C2B}"/>
              </a:ext>
            </a:extLst>
          </p:cNvPr>
          <p:cNvSpPr txBox="1"/>
          <p:nvPr/>
        </p:nvSpPr>
        <p:spPr>
          <a:xfrm>
            <a:off x="5213154" y="1714111"/>
            <a:ext cx="1058267" cy="307758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lstStyle/>
          <a:p>
            <a:pPr algn="ctr" defTabSz="914217"/>
            <a:r>
              <a:rPr lang="it-IT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Range Età</a:t>
            </a:r>
            <a:endParaRPr lang="id-ID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Box 70">
            <a:extLst>
              <a:ext uri="{FF2B5EF4-FFF2-40B4-BE49-F238E27FC236}">
                <a16:creationId xmlns:a16="http://schemas.microsoft.com/office/drawing/2014/main" id="{D8E00B63-3770-3E5F-F353-B350F0653824}"/>
              </a:ext>
            </a:extLst>
          </p:cNvPr>
          <p:cNvSpPr txBox="1"/>
          <p:nvPr/>
        </p:nvSpPr>
        <p:spPr>
          <a:xfrm>
            <a:off x="4582212" y="4865131"/>
            <a:ext cx="2268534" cy="307758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lstStyle/>
          <a:p>
            <a:pPr algn="ctr" defTabSz="914217"/>
            <a:r>
              <a:rPr lang="it-IT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Tasso di digitalizzazione</a:t>
            </a:r>
            <a:endParaRPr lang="id-ID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Box 72">
            <a:extLst>
              <a:ext uri="{FF2B5EF4-FFF2-40B4-BE49-F238E27FC236}">
                <a16:creationId xmlns:a16="http://schemas.microsoft.com/office/drawing/2014/main" id="{C992B8BF-1913-44CA-B1FB-6C129C9583DB}"/>
              </a:ext>
            </a:extLst>
          </p:cNvPr>
          <p:cNvSpPr txBox="1"/>
          <p:nvPr/>
        </p:nvSpPr>
        <p:spPr>
          <a:xfrm>
            <a:off x="5397741" y="3550141"/>
            <a:ext cx="628662" cy="307758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lstStyle>
            <a:defPPr>
              <a:defRPr lang="it-IT"/>
            </a:defPPr>
            <a:lvl1pPr algn="ctr" defTabSz="914217">
              <a:defRPr sz="14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Dove</a:t>
            </a:r>
            <a:endParaRPr lang="id-ID" dirty="0"/>
          </a:p>
        </p:txBody>
      </p:sp>
      <p:grpSp>
        <p:nvGrpSpPr>
          <p:cNvPr id="38" name="Group 80">
            <a:extLst>
              <a:ext uri="{FF2B5EF4-FFF2-40B4-BE49-F238E27FC236}">
                <a16:creationId xmlns:a16="http://schemas.microsoft.com/office/drawing/2014/main" id="{7B5FA03F-12C8-CF06-77BD-C1A22BE41872}"/>
              </a:ext>
            </a:extLst>
          </p:cNvPr>
          <p:cNvGrpSpPr/>
          <p:nvPr/>
        </p:nvGrpSpPr>
        <p:grpSpPr>
          <a:xfrm>
            <a:off x="5540272" y="4350810"/>
            <a:ext cx="322942" cy="468387"/>
            <a:chOff x="-990600" y="3375025"/>
            <a:chExt cx="571500" cy="828675"/>
          </a:xfrm>
          <a:solidFill>
            <a:schemeClr val="tx1"/>
          </a:solidFill>
        </p:grpSpPr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8035A37B-803C-7EA7-609E-4CBC81F55F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90600" y="3375025"/>
              <a:ext cx="571500" cy="828675"/>
            </a:xfrm>
            <a:custGeom>
              <a:avLst/>
              <a:gdLst>
                <a:gd name="T0" fmla="*/ 131 w 152"/>
                <a:gd name="T1" fmla="*/ 0 h 220"/>
                <a:gd name="T2" fmla="*/ 21 w 152"/>
                <a:gd name="T3" fmla="*/ 0 h 220"/>
                <a:gd name="T4" fmla="*/ 0 w 152"/>
                <a:gd name="T5" fmla="*/ 21 h 220"/>
                <a:gd name="T6" fmla="*/ 0 w 152"/>
                <a:gd name="T7" fmla="*/ 199 h 220"/>
                <a:gd name="T8" fmla="*/ 21 w 152"/>
                <a:gd name="T9" fmla="*/ 220 h 220"/>
                <a:gd name="T10" fmla="*/ 131 w 152"/>
                <a:gd name="T11" fmla="*/ 220 h 220"/>
                <a:gd name="T12" fmla="*/ 152 w 152"/>
                <a:gd name="T13" fmla="*/ 199 h 220"/>
                <a:gd name="T14" fmla="*/ 152 w 152"/>
                <a:gd name="T15" fmla="*/ 21 h 220"/>
                <a:gd name="T16" fmla="*/ 131 w 152"/>
                <a:gd name="T17" fmla="*/ 0 h 220"/>
                <a:gd name="T18" fmla="*/ 138 w 152"/>
                <a:gd name="T19" fmla="*/ 199 h 220"/>
                <a:gd name="T20" fmla="*/ 131 w 152"/>
                <a:gd name="T21" fmla="*/ 206 h 220"/>
                <a:gd name="T22" fmla="*/ 21 w 152"/>
                <a:gd name="T23" fmla="*/ 206 h 220"/>
                <a:gd name="T24" fmla="*/ 14 w 152"/>
                <a:gd name="T25" fmla="*/ 199 h 220"/>
                <a:gd name="T26" fmla="*/ 14 w 152"/>
                <a:gd name="T27" fmla="*/ 186 h 220"/>
                <a:gd name="T28" fmla="*/ 138 w 152"/>
                <a:gd name="T29" fmla="*/ 186 h 220"/>
                <a:gd name="T30" fmla="*/ 138 w 152"/>
                <a:gd name="T31" fmla="*/ 199 h 220"/>
                <a:gd name="T32" fmla="*/ 138 w 152"/>
                <a:gd name="T33" fmla="*/ 179 h 220"/>
                <a:gd name="T34" fmla="*/ 14 w 152"/>
                <a:gd name="T35" fmla="*/ 179 h 220"/>
                <a:gd name="T36" fmla="*/ 14 w 152"/>
                <a:gd name="T37" fmla="*/ 41 h 220"/>
                <a:gd name="T38" fmla="*/ 138 w 152"/>
                <a:gd name="T39" fmla="*/ 41 h 220"/>
                <a:gd name="T40" fmla="*/ 138 w 152"/>
                <a:gd name="T41" fmla="*/ 179 h 220"/>
                <a:gd name="T42" fmla="*/ 138 w 152"/>
                <a:gd name="T43" fmla="*/ 34 h 220"/>
                <a:gd name="T44" fmla="*/ 14 w 152"/>
                <a:gd name="T45" fmla="*/ 34 h 220"/>
                <a:gd name="T46" fmla="*/ 14 w 152"/>
                <a:gd name="T47" fmla="*/ 21 h 220"/>
                <a:gd name="T48" fmla="*/ 21 w 152"/>
                <a:gd name="T49" fmla="*/ 14 h 220"/>
                <a:gd name="T50" fmla="*/ 131 w 152"/>
                <a:gd name="T51" fmla="*/ 14 h 220"/>
                <a:gd name="T52" fmla="*/ 138 w 152"/>
                <a:gd name="T53" fmla="*/ 21 h 220"/>
                <a:gd name="T54" fmla="*/ 138 w 152"/>
                <a:gd name="T55" fmla="*/ 34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52" h="220">
                  <a:moveTo>
                    <a:pt x="131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0" y="9"/>
                    <a:pt x="0" y="21"/>
                  </a:cubicBezTo>
                  <a:cubicBezTo>
                    <a:pt x="0" y="199"/>
                    <a:pt x="0" y="199"/>
                    <a:pt x="0" y="199"/>
                  </a:cubicBezTo>
                  <a:cubicBezTo>
                    <a:pt x="0" y="211"/>
                    <a:pt x="10" y="220"/>
                    <a:pt x="21" y="220"/>
                  </a:cubicBezTo>
                  <a:cubicBezTo>
                    <a:pt x="131" y="220"/>
                    <a:pt x="131" y="220"/>
                    <a:pt x="131" y="220"/>
                  </a:cubicBezTo>
                  <a:cubicBezTo>
                    <a:pt x="142" y="220"/>
                    <a:pt x="152" y="211"/>
                    <a:pt x="152" y="199"/>
                  </a:cubicBezTo>
                  <a:cubicBezTo>
                    <a:pt x="152" y="21"/>
                    <a:pt x="152" y="21"/>
                    <a:pt x="152" y="21"/>
                  </a:cubicBezTo>
                  <a:cubicBezTo>
                    <a:pt x="152" y="9"/>
                    <a:pt x="142" y="0"/>
                    <a:pt x="131" y="0"/>
                  </a:cubicBezTo>
                  <a:close/>
                  <a:moveTo>
                    <a:pt x="138" y="199"/>
                  </a:moveTo>
                  <a:cubicBezTo>
                    <a:pt x="138" y="203"/>
                    <a:pt x="135" y="206"/>
                    <a:pt x="131" y="206"/>
                  </a:cubicBezTo>
                  <a:cubicBezTo>
                    <a:pt x="21" y="206"/>
                    <a:pt x="21" y="206"/>
                    <a:pt x="21" y="206"/>
                  </a:cubicBezTo>
                  <a:cubicBezTo>
                    <a:pt x="17" y="206"/>
                    <a:pt x="14" y="203"/>
                    <a:pt x="14" y="199"/>
                  </a:cubicBezTo>
                  <a:cubicBezTo>
                    <a:pt x="14" y="186"/>
                    <a:pt x="14" y="186"/>
                    <a:pt x="14" y="186"/>
                  </a:cubicBezTo>
                  <a:cubicBezTo>
                    <a:pt x="138" y="186"/>
                    <a:pt x="138" y="186"/>
                    <a:pt x="138" y="186"/>
                  </a:cubicBezTo>
                  <a:lnTo>
                    <a:pt x="138" y="199"/>
                  </a:lnTo>
                  <a:close/>
                  <a:moveTo>
                    <a:pt x="138" y="179"/>
                  </a:moveTo>
                  <a:cubicBezTo>
                    <a:pt x="14" y="179"/>
                    <a:pt x="14" y="179"/>
                    <a:pt x="14" y="179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38" y="41"/>
                    <a:pt x="138" y="41"/>
                    <a:pt x="138" y="41"/>
                  </a:cubicBezTo>
                  <a:lnTo>
                    <a:pt x="138" y="179"/>
                  </a:lnTo>
                  <a:close/>
                  <a:moveTo>
                    <a:pt x="138" y="34"/>
                  </a:moveTo>
                  <a:cubicBezTo>
                    <a:pt x="14" y="34"/>
                    <a:pt x="14" y="34"/>
                    <a:pt x="14" y="34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17"/>
                    <a:pt x="17" y="14"/>
                    <a:pt x="21" y="14"/>
                  </a:cubicBezTo>
                  <a:cubicBezTo>
                    <a:pt x="131" y="14"/>
                    <a:pt x="131" y="14"/>
                    <a:pt x="131" y="14"/>
                  </a:cubicBezTo>
                  <a:cubicBezTo>
                    <a:pt x="135" y="14"/>
                    <a:pt x="138" y="17"/>
                    <a:pt x="138" y="21"/>
                  </a:cubicBezTo>
                  <a:lnTo>
                    <a:pt x="138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pPr defTabSz="914217"/>
              <a:endParaRPr lang="id-ID" dirty="0">
                <a:latin typeface="Raleway Light"/>
              </a:endParaRPr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F38E65E5-04FE-18EB-4B11-9BEC30D38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-757238" y="3454400"/>
              <a:ext cx="104775" cy="22225"/>
            </a:xfrm>
            <a:custGeom>
              <a:avLst/>
              <a:gdLst>
                <a:gd name="T0" fmla="*/ 28 w 28"/>
                <a:gd name="T1" fmla="*/ 3 h 6"/>
                <a:gd name="T2" fmla="*/ 24 w 28"/>
                <a:gd name="T3" fmla="*/ 6 h 6"/>
                <a:gd name="T4" fmla="*/ 4 w 28"/>
                <a:gd name="T5" fmla="*/ 6 h 6"/>
                <a:gd name="T6" fmla="*/ 0 w 28"/>
                <a:gd name="T7" fmla="*/ 3 h 6"/>
                <a:gd name="T8" fmla="*/ 0 w 28"/>
                <a:gd name="T9" fmla="*/ 3 h 6"/>
                <a:gd name="T10" fmla="*/ 4 w 28"/>
                <a:gd name="T11" fmla="*/ 0 h 6"/>
                <a:gd name="T12" fmla="*/ 24 w 28"/>
                <a:gd name="T13" fmla="*/ 0 h 6"/>
                <a:gd name="T14" fmla="*/ 28 w 28"/>
                <a:gd name="T15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">
                  <a:moveTo>
                    <a:pt x="28" y="3"/>
                  </a:moveTo>
                  <a:cubicBezTo>
                    <a:pt x="28" y="5"/>
                    <a:pt x="26" y="6"/>
                    <a:pt x="2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6" y="0"/>
                    <a:pt x="28" y="1"/>
                    <a:pt x="28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pPr defTabSz="914217"/>
              <a:endParaRPr lang="id-ID" dirty="0">
                <a:latin typeface="Raleway Light"/>
              </a:endParaRPr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F575F254-11B7-234C-1923-CE833ECBD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-730250" y="4097338"/>
              <a:ext cx="52387" cy="26988"/>
            </a:xfrm>
            <a:custGeom>
              <a:avLst/>
              <a:gdLst>
                <a:gd name="T0" fmla="*/ 14 w 14"/>
                <a:gd name="T1" fmla="*/ 4 h 7"/>
                <a:gd name="T2" fmla="*/ 10 w 14"/>
                <a:gd name="T3" fmla="*/ 7 h 7"/>
                <a:gd name="T4" fmla="*/ 4 w 14"/>
                <a:gd name="T5" fmla="*/ 7 h 7"/>
                <a:gd name="T6" fmla="*/ 0 w 14"/>
                <a:gd name="T7" fmla="*/ 4 h 7"/>
                <a:gd name="T8" fmla="*/ 0 w 14"/>
                <a:gd name="T9" fmla="*/ 4 h 7"/>
                <a:gd name="T10" fmla="*/ 4 w 14"/>
                <a:gd name="T11" fmla="*/ 0 h 7"/>
                <a:gd name="T12" fmla="*/ 10 w 14"/>
                <a:gd name="T13" fmla="*/ 0 h 7"/>
                <a:gd name="T14" fmla="*/ 14 w 14"/>
                <a:gd name="T15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7">
                  <a:moveTo>
                    <a:pt x="14" y="4"/>
                  </a:moveTo>
                  <a:cubicBezTo>
                    <a:pt x="14" y="6"/>
                    <a:pt x="12" y="7"/>
                    <a:pt x="10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2" y="0"/>
                    <a:pt x="14" y="2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pPr defTabSz="914217"/>
              <a:endParaRPr lang="id-ID" dirty="0">
                <a:latin typeface="Raleway Light"/>
              </a:endParaRPr>
            </a:p>
          </p:txBody>
        </p:sp>
      </p:grpSp>
      <p:pic>
        <p:nvPicPr>
          <p:cNvPr id="6" name="Elemento grafico 5" descr="Globo terrestre: Asia con riempimento a tinta unita">
            <a:extLst>
              <a:ext uri="{FF2B5EF4-FFF2-40B4-BE49-F238E27FC236}">
                <a16:creationId xmlns:a16="http://schemas.microsoft.com/office/drawing/2014/main" id="{ED9A03C2-5C50-3D99-246F-8483FC79A5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397741" y="2945637"/>
            <a:ext cx="690537" cy="690537"/>
          </a:xfrm>
          <a:prstGeom prst="rect">
            <a:avLst/>
          </a:prstGeom>
        </p:spPr>
      </p:pic>
      <p:sp>
        <p:nvSpPr>
          <p:cNvPr id="97" name="Rectangle 67">
            <a:extLst>
              <a:ext uri="{FF2B5EF4-FFF2-40B4-BE49-F238E27FC236}">
                <a16:creationId xmlns:a16="http://schemas.microsoft.com/office/drawing/2014/main" id="{7EE39991-CB33-45B0-C5E5-25F12F39E56E}"/>
              </a:ext>
            </a:extLst>
          </p:cNvPr>
          <p:cNvSpPr/>
          <p:nvPr/>
        </p:nvSpPr>
        <p:spPr>
          <a:xfrm>
            <a:off x="4417818" y="3671985"/>
            <a:ext cx="2656748" cy="456197"/>
          </a:xfrm>
          <a:prstGeom prst="rect">
            <a:avLst/>
          </a:prstGeom>
        </p:spPr>
        <p:txBody>
          <a:bodyPr wrap="square" lIns="91422" tIns="45711" rIns="91422" bIns="45711">
            <a:spAutoFit/>
          </a:bodyPr>
          <a:lstStyle/>
          <a:p>
            <a:pPr algn="ctr" defTabSz="914217">
              <a:lnSpc>
                <a:spcPct val="150000"/>
              </a:lnSpc>
            </a:pPr>
            <a:r>
              <a:rPr lang="it-IT" sz="1400" dirty="0">
                <a:latin typeface="Segoe UI" panose="020B0502040204020203" pitchFamily="34" charset="0"/>
                <a:cs typeface="Segoe UI" panose="020B0502040204020203" pitchFamily="34" charset="0"/>
              </a:rPr>
              <a:t>Emilia Romagna </a:t>
            </a:r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61,2%</a:t>
            </a:r>
            <a:endParaRPr lang="it-IT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3" name="CasellaDiTesto 112">
            <a:extLst>
              <a:ext uri="{FF2B5EF4-FFF2-40B4-BE49-F238E27FC236}">
                <a16:creationId xmlns:a16="http://schemas.microsoft.com/office/drawing/2014/main" id="{236442E2-FF9A-4B4D-E58C-AA380D9FDF58}"/>
              </a:ext>
            </a:extLst>
          </p:cNvPr>
          <p:cNvSpPr txBox="1"/>
          <p:nvPr/>
        </p:nvSpPr>
        <p:spPr>
          <a:xfrm>
            <a:off x="7229056" y="2114640"/>
            <a:ext cx="21026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Dual-</a:t>
            </a:r>
            <a:r>
              <a:rPr lang="it-IT" sz="1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Fuel</a:t>
            </a:r>
            <a:endParaRPr lang="it-IT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it-IT" b="1" dirty="0">
                <a:latin typeface="Segoe UI" panose="020B0502040204020203" pitchFamily="34" charset="0"/>
                <a:cs typeface="Segoe UI" panose="020B0502040204020203" pitchFamily="34" charset="0"/>
              </a:rPr>
              <a:t>77</a:t>
            </a:r>
            <a:r>
              <a:rPr lang="it-IT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%</a:t>
            </a:r>
          </a:p>
        </p:txBody>
      </p:sp>
      <p:sp>
        <p:nvSpPr>
          <p:cNvPr id="116" name="Rettangolo con angoli arrotondati 115">
            <a:extLst>
              <a:ext uri="{FF2B5EF4-FFF2-40B4-BE49-F238E27FC236}">
                <a16:creationId xmlns:a16="http://schemas.microsoft.com/office/drawing/2014/main" id="{226B4EC3-73EC-A422-BA69-411751574C32}"/>
              </a:ext>
            </a:extLst>
          </p:cNvPr>
          <p:cNvSpPr/>
          <p:nvPr/>
        </p:nvSpPr>
        <p:spPr>
          <a:xfrm>
            <a:off x="4385221" y="962321"/>
            <a:ext cx="2736588" cy="182700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8" name="Rettangolo con angoli arrotondati 117">
            <a:extLst>
              <a:ext uri="{FF2B5EF4-FFF2-40B4-BE49-F238E27FC236}">
                <a16:creationId xmlns:a16="http://schemas.microsoft.com/office/drawing/2014/main" id="{1FF37534-93D9-787B-100C-C3C1BF4C9E4F}"/>
              </a:ext>
            </a:extLst>
          </p:cNvPr>
          <p:cNvSpPr/>
          <p:nvPr/>
        </p:nvSpPr>
        <p:spPr>
          <a:xfrm>
            <a:off x="7229056" y="958587"/>
            <a:ext cx="2212325" cy="198705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9" name="Rettangolo con angoli arrotondati 118">
            <a:extLst>
              <a:ext uri="{FF2B5EF4-FFF2-40B4-BE49-F238E27FC236}">
                <a16:creationId xmlns:a16="http://schemas.microsoft.com/office/drawing/2014/main" id="{E129E396-27F6-0238-BE5F-79AC0629A9DD}"/>
              </a:ext>
            </a:extLst>
          </p:cNvPr>
          <p:cNvSpPr/>
          <p:nvPr/>
        </p:nvSpPr>
        <p:spPr>
          <a:xfrm>
            <a:off x="4396534" y="2865012"/>
            <a:ext cx="2736589" cy="132681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0" name="Rettangolo con angoli arrotondati 119">
            <a:extLst>
              <a:ext uri="{FF2B5EF4-FFF2-40B4-BE49-F238E27FC236}">
                <a16:creationId xmlns:a16="http://schemas.microsoft.com/office/drawing/2014/main" id="{B205D654-AA0A-C437-2FB8-C2DA874D1001}"/>
              </a:ext>
            </a:extLst>
          </p:cNvPr>
          <p:cNvSpPr/>
          <p:nvPr/>
        </p:nvSpPr>
        <p:spPr>
          <a:xfrm>
            <a:off x="4361467" y="4280254"/>
            <a:ext cx="2736589" cy="163695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1" name="Ovale 120">
            <a:extLst>
              <a:ext uri="{FF2B5EF4-FFF2-40B4-BE49-F238E27FC236}">
                <a16:creationId xmlns:a16="http://schemas.microsoft.com/office/drawing/2014/main" id="{A59009AF-8D53-258F-AFF3-438A64037FB5}"/>
              </a:ext>
            </a:extLst>
          </p:cNvPr>
          <p:cNvSpPr/>
          <p:nvPr/>
        </p:nvSpPr>
        <p:spPr>
          <a:xfrm rot="20354465">
            <a:off x="4432243" y="1099679"/>
            <a:ext cx="1003394" cy="583154"/>
          </a:xfrm>
          <a:prstGeom prst="ellipse">
            <a:avLst/>
          </a:prstGeom>
          <a:solidFill>
            <a:srgbClr val="01A2A9">
              <a:alpha val="7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36,5%</a:t>
            </a:r>
          </a:p>
        </p:txBody>
      </p:sp>
      <p:pic>
        <p:nvPicPr>
          <p:cNvPr id="4" name="Elemento grafico 3" descr="Uomo di Neanderthal con riempimento a tinta unita">
            <a:extLst>
              <a:ext uri="{FF2B5EF4-FFF2-40B4-BE49-F238E27FC236}">
                <a16:creationId xmlns:a16="http://schemas.microsoft.com/office/drawing/2014/main" id="{6B76AEFF-8D0B-CC48-E65D-BD330B803F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461870" y="1023705"/>
            <a:ext cx="690537" cy="690537"/>
          </a:xfrm>
          <a:prstGeom prst="rect">
            <a:avLst/>
          </a:prstGeom>
        </p:spPr>
      </p:pic>
      <p:pic>
        <p:nvPicPr>
          <p:cNvPr id="7" name="Elemento grafico 6" descr="Strumenti con riempimento a tinta unita">
            <a:extLst>
              <a:ext uri="{FF2B5EF4-FFF2-40B4-BE49-F238E27FC236}">
                <a16:creationId xmlns:a16="http://schemas.microsoft.com/office/drawing/2014/main" id="{DEFF992B-944B-0FC6-8795-6810BF0B90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9398" y="3276796"/>
            <a:ext cx="1134989" cy="1134989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0CFDDB90-CC06-604A-4887-27013BE3FB6F}"/>
              </a:ext>
            </a:extLst>
          </p:cNvPr>
          <p:cNvSpPr txBox="1"/>
          <p:nvPr/>
        </p:nvSpPr>
        <p:spPr>
          <a:xfrm>
            <a:off x="292816" y="4644599"/>
            <a:ext cx="3508972" cy="1442877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22" tIns="45711" rIns="91422" bIns="45711">
            <a:spAutoFit/>
          </a:bodyPr>
          <a:lstStyle>
            <a:defPPr>
              <a:defRPr lang="it-IT"/>
            </a:defPPr>
            <a:lvl1pPr marL="285750" indent="-285750" defTabSz="914217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it-IT" sz="1200" dirty="0"/>
              <a:t>L’ 85% di chi compra i HNP Energy, compra solo i HNPE</a:t>
            </a:r>
          </a:p>
          <a:p>
            <a:r>
              <a:rPr lang="it-IT" sz="1200" b="1" dirty="0"/>
              <a:t>Spesso comprati in coppia Luce e Gas</a:t>
            </a:r>
          </a:p>
          <a:p>
            <a:r>
              <a:rPr lang="it-IT" sz="1200" dirty="0"/>
              <a:t>L’ 8% compra anche i LED e il 6% compra anche HNP H2O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658F8BC-4366-7F8C-B077-02080DB58B4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9201" y="1524808"/>
            <a:ext cx="4984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magine 8">
            <a:extLst>
              <a:ext uri="{FF2B5EF4-FFF2-40B4-BE49-F238E27FC236}">
                <a16:creationId xmlns:a16="http://schemas.microsoft.com/office/drawing/2014/main" id="{E9E7B523-DF79-310D-A655-F6C20700DE3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801" y="1539095"/>
            <a:ext cx="471487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Offerta Hera No Problem per Aziende | Hera Comm NordEst - Gruppo Hera -  Estenergy">
            <a:extLst>
              <a:ext uri="{FF2B5EF4-FFF2-40B4-BE49-F238E27FC236}">
                <a16:creationId xmlns:a16="http://schemas.microsoft.com/office/drawing/2014/main" id="{78288765-D5FB-CDDA-3E76-637E98CC8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28" y="945658"/>
            <a:ext cx="2820562" cy="224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3CC4CE0-EF9B-5E5B-6D43-95D5298A0160}"/>
              </a:ext>
            </a:extLst>
          </p:cNvPr>
          <p:cNvSpPr txBox="1"/>
          <p:nvPr/>
        </p:nvSpPr>
        <p:spPr>
          <a:xfrm>
            <a:off x="4385220" y="5006712"/>
            <a:ext cx="2736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</a:p>
          <a:p>
            <a:pPr algn="ctr"/>
            <a:r>
              <a:rPr lang="it-IT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Bad</a:t>
            </a:r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	70%</a:t>
            </a:r>
          </a:p>
          <a:p>
            <a:pPr algn="ctr"/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Good	20%</a:t>
            </a:r>
          </a:p>
          <a:p>
            <a:pPr algn="ctr"/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Medium	10%</a:t>
            </a:r>
          </a:p>
        </p:txBody>
      </p:sp>
      <p:sp>
        <p:nvSpPr>
          <p:cNvPr id="13" name="TextBox 68">
            <a:extLst>
              <a:ext uri="{FF2B5EF4-FFF2-40B4-BE49-F238E27FC236}">
                <a16:creationId xmlns:a16="http://schemas.microsoft.com/office/drawing/2014/main" id="{1154F0E9-A95C-EC6C-7896-95E869E33540}"/>
              </a:ext>
            </a:extLst>
          </p:cNvPr>
          <p:cNvSpPr txBox="1"/>
          <p:nvPr/>
        </p:nvSpPr>
        <p:spPr>
          <a:xfrm>
            <a:off x="9834596" y="925807"/>
            <a:ext cx="1604635" cy="307758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lstStyle/>
          <a:p>
            <a:pPr algn="ctr" defTabSz="914217"/>
            <a:r>
              <a:rPr lang="it-IT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ACQ per società*</a:t>
            </a:r>
            <a:endParaRPr lang="id-ID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83A0C138-165A-7D1C-0622-71F0A510C3D2}"/>
              </a:ext>
            </a:extLst>
          </p:cNvPr>
          <p:cNvSpPr/>
          <p:nvPr/>
        </p:nvSpPr>
        <p:spPr>
          <a:xfrm>
            <a:off x="7205208" y="3036992"/>
            <a:ext cx="2984281" cy="188831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4E38E791-5428-DAE7-561F-DA9BFC3FA41F}"/>
              </a:ext>
            </a:extLst>
          </p:cNvPr>
          <p:cNvSpPr/>
          <p:nvPr/>
        </p:nvSpPr>
        <p:spPr>
          <a:xfrm>
            <a:off x="9548878" y="925806"/>
            <a:ext cx="2253180" cy="201983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TextBox 68">
            <a:extLst>
              <a:ext uri="{FF2B5EF4-FFF2-40B4-BE49-F238E27FC236}">
                <a16:creationId xmlns:a16="http://schemas.microsoft.com/office/drawing/2014/main" id="{09EBDCE7-759C-2B00-6086-F6C3D01D3110}"/>
              </a:ext>
            </a:extLst>
          </p:cNvPr>
          <p:cNvSpPr txBox="1"/>
          <p:nvPr/>
        </p:nvSpPr>
        <p:spPr>
          <a:xfrm>
            <a:off x="7921480" y="3037110"/>
            <a:ext cx="1551735" cy="307758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lstStyle/>
          <a:p>
            <a:pPr algn="ctr" defTabSz="914217"/>
            <a:r>
              <a:rPr lang="it-IT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ACQ per canale*</a:t>
            </a:r>
            <a:endParaRPr lang="id-ID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6322047-5869-34DC-2CB8-4173B9C169A9}"/>
              </a:ext>
            </a:extLst>
          </p:cNvPr>
          <p:cNvSpPr txBox="1"/>
          <p:nvPr/>
        </p:nvSpPr>
        <p:spPr>
          <a:xfrm>
            <a:off x="372712" y="6320291"/>
            <a:ext cx="2980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Segoe UI" panose="020B0502040204020203" pitchFamily="34" charset="0"/>
                <a:cs typeface="Segoe UI" panose="020B0502040204020203" pitchFamily="34" charset="0"/>
              </a:rPr>
              <a:t>*Venduto 2023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A73E6A6A-22EB-D651-2FC6-94F7572EF34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66516" y="1324920"/>
            <a:ext cx="2095682" cy="1303133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934A64EE-6720-6A7A-6ADC-37B354AD077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67441" y="3371637"/>
            <a:ext cx="2486291" cy="144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0767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heme/theme1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D5F388E3E101546B6F0C61BDA582DD8" ma:contentTypeVersion="16" ma:contentTypeDescription="Creare un nuovo documento." ma:contentTypeScope="" ma:versionID="18dfffcf61c99f05c99af4206e13bfaf">
  <xsd:schema xmlns:xsd="http://www.w3.org/2001/XMLSchema" xmlns:xs="http://www.w3.org/2001/XMLSchema" xmlns:p="http://schemas.microsoft.com/office/2006/metadata/properties" xmlns:ns2="2ebec926-314a-48af-b4da-5e767d229a98" xmlns:ns3="8c9a6545-197b-4579-8399-87e12492575d" targetNamespace="http://schemas.microsoft.com/office/2006/metadata/properties" ma:root="true" ma:fieldsID="ce98499f3f3e1575c5b891cbc5b67460" ns2:_="" ns3:_="">
    <xsd:import namespace="2ebec926-314a-48af-b4da-5e767d229a98"/>
    <xsd:import namespace="8c9a6545-197b-4579-8399-87e12492575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bec926-314a-48af-b4da-5e767d229a9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6f11777-fcdd-4f22-b456-c88092471e93}" ma:internalName="TaxCatchAll" ma:showField="CatchAllData" ma:web="2ebec926-314a-48af-b4da-5e767d229a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9a6545-197b-4579-8399-87e1249257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Tag immagine" ma:readOnly="false" ma:fieldId="{5cf76f15-5ced-4ddc-b409-7134ff3c332f}" ma:taxonomyMulti="true" ma:sspId="44e1c984-760e-4564-b44c-c3335fa129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ebec926-314a-48af-b4da-5e767d229a98" xsi:nil="true"/>
    <lcf76f155ced4ddcb4097134ff3c332f xmlns="8c9a6545-197b-4579-8399-87e12492575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2067D91-C1B8-4A42-8B6B-DEDDAF3EEFE1}"/>
</file>

<file path=customXml/itemProps2.xml><?xml version="1.0" encoding="utf-8"?>
<ds:datastoreItem xmlns:ds="http://schemas.openxmlformats.org/officeDocument/2006/customXml" ds:itemID="{6C1ADE06-667F-4946-A8D5-A74AF244EE91}"/>
</file>

<file path=customXml/itemProps3.xml><?xml version="1.0" encoding="utf-8"?>
<ds:datastoreItem xmlns:ds="http://schemas.openxmlformats.org/officeDocument/2006/customXml" ds:itemID="{4A3EBC96-EE4C-4FAF-B14B-64E9B47F60F0}"/>
</file>

<file path=docProps/app.xml><?xml version="1.0" encoding="utf-8"?>
<Properties xmlns="http://schemas.openxmlformats.org/officeDocument/2006/extended-properties" xmlns:vt="http://schemas.openxmlformats.org/officeDocument/2006/docPropsVTypes">
  <TotalTime>6274</TotalTime>
  <Words>899</Words>
  <Application>Microsoft Office PowerPoint</Application>
  <PresentationFormat>Widescreen</PresentationFormat>
  <Paragraphs>149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Raleway Light</vt:lpstr>
      <vt:lpstr>Segoe UI</vt:lpstr>
      <vt:lpstr>1_Tema di Office</vt:lpstr>
      <vt:lpstr>2_Tema di Office</vt:lpstr>
      <vt:lpstr>Presentazione standard di PowerPoint</vt:lpstr>
      <vt:lpstr>Agenda</vt:lpstr>
      <vt:lpstr>Presentazione standard di PowerPoint</vt:lpstr>
      <vt:lpstr>Presentazione standard di PowerPoint</vt:lpstr>
      <vt:lpstr>Presentazione standard di PowerPoint</vt:lpstr>
      <vt:lpstr>Il nuovo plico Contrattuale: HERA No Problem Luce Servizio; No Problem GAS Servizio  la Nuova da scheda Adesione con CGC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CRIVELLARO BEATRICE</dc:creator>
  <cp:lastModifiedBy>Tribunale Veronica</cp:lastModifiedBy>
  <cp:revision>241</cp:revision>
  <dcterms:created xsi:type="dcterms:W3CDTF">2022-09-27T10:06:09Z</dcterms:created>
  <dcterms:modified xsi:type="dcterms:W3CDTF">2024-07-01T13:33:37Z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0x0101002D5F388E3E101546B6F0C61BDA582DD8</vt:lpwstr>
  </property>
</Properties>
</file>