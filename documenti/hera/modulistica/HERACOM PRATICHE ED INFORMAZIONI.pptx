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  <p:sldId id="268" r:id="rId15"/>
  </p:sldIdLst>
  <p:sldSz cx="12192000" cy="6858000"/>
  <p:notesSz cx="6797675" cy="98726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5/10/2021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5/10/2021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5/10/2021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5/10/2021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5/10/2021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5/10/2021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5/10/2021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www.sportelloperilconsumatore.it/informazioni/smart-info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7127502-F1EE-482F-B575-A5495A6A4E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it-IT" dirty="0"/>
              <a:t>HERACOM 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6E55962-878D-40DE-969E-2A9DAD2C03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it-IT" dirty="0"/>
              <a:t>MANUALE RIEPILOGATIVO ED ESPLICATIVO PRATICHE</a:t>
            </a:r>
          </a:p>
          <a:p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180FE96-B21D-4873-AFE3-79EC97B37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873" y="394283"/>
            <a:ext cx="3867324" cy="1551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192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2903A7C-EFAD-482D-A520-E40649601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PRATICHE LAVORABILI DA AGENZIA PARTE EE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0046222-39A7-41A8-AF8A-74C5AE0E4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- CONNESSIONE CON ATTIVAZIONE CONTESTUALE</a:t>
            </a:r>
          </a:p>
          <a:p>
            <a:r>
              <a:rPr lang="it-IT" dirty="0"/>
              <a:t>- PRIMA ATTIVAZIONE SU CONTATORE PREPOSATO</a:t>
            </a:r>
          </a:p>
          <a:p>
            <a:r>
              <a:rPr lang="it-IT" dirty="0"/>
              <a:t>- SUBENTRO SU GRUPPO DI MISURA CESSATO</a:t>
            </a:r>
          </a:p>
          <a:p>
            <a:r>
              <a:rPr lang="it-IT" dirty="0"/>
              <a:t>- SWITCH CON CONTESTUALE VOLTURA</a:t>
            </a:r>
          </a:p>
          <a:p>
            <a:r>
              <a:rPr lang="it-IT" dirty="0"/>
              <a:t>- SWITCH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09EF35D6-4245-43FB-AC22-233CF2DA0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5228832"/>
            <a:ext cx="3276600" cy="140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928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2903A7C-EFAD-482D-A520-E40649601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PRATICHE LAVORABILI DA AGENZIA PARTE GAS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0046222-39A7-41A8-AF8A-74C5AE0E4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- SUBENTRO SU GRUPPO DI MISURA CESSATO</a:t>
            </a:r>
          </a:p>
          <a:p>
            <a:r>
              <a:rPr lang="it-IT" dirty="0"/>
              <a:t>- SWITCH CON CONTESTUALE VOLTURA</a:t>
            </a:r>
          </a:p>
          <a:p>
            <a:r>
              <a:rPr lang="it-IT" dirty="0"/>
              <a:t>- SWITCH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897FD903-A7DD-492A-A7A7-27FAAF043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53" y="5110373"/>
            <a:ext cx="3279932" cy="1402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397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E9CA5FE-6343-49BD-848F-59F8665C6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CONNESSIONE CON ATTIVAZIONE CONTESTUALE ( ENERGIA 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7778D2E-1536-4AAA-9F62-EB74E2C21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- La connessione con contestuale attivazione porta il cliente a chiedere la connessione della sua abitazione alla rete di distribuzione e porta in automatico all’attivazione dell’utenza.</a:t>
            </a:r>
          </a:p>
          <a:p>
            <a:endParaRPr lang="it-IT" dirty="0"/>
          </a:p>
          <a:p>
            <a:pPr marL="0" indent="0">
              <a:buNone/>
            </a:pPr>
            <a:r>
              <a:rPr lang="it-IT" dirty="0"/>
              <a:t>     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5616C097-733B-4E0A-B00A-99244C8A0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4100975"/>
            <a:ext cx="3279932" cy="1402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229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3993B38-B80C-47BA-B480-5376DEE0C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PRIMA ATTIVAZIONE SU CONTATORE PREPOSATO EE ( ENERGIA 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7FC7412-AAC4-43D3-9041-83B16DD37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La pratica in oggetto si effettua nel momento in cui l’allaccio e la posa del contatore siano stati fatti ma sia la prima volta che viene attivato il contatore.</a:t>
            </a:r>
          </a:p>
          <a:p>
            <a:pPr marL="0" indent="0">
              <a:buNone/>
            </a:pPr>
            <a:r>
              <a:rPr lang="it-IT" dirty="0"/>
              <a:t>     E’ necessario il codice POD.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   ( Per la pratica verrà richiesto il numero del permesso di costruire o   concessione edilizia, richiedibile all’ufficio catasto e presente sull’atto di  acquisto dell’immobile ) 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6CA8B9DA-1ED3-469D-A2A1-69EFBC4D7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5219430"/>
            <a:ext cx="3279932" cy="1402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800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3993B38-B80C-47BA-B480-5376DEE0C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SUBENTRO SU GRUPPO DI MISURA CESSATO ( ENERGIA 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7FC7412-AAC4-43D3-9041-83B16DD37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La pratica di effettua su un contatore disattivato regolarmente, che abbia già erogato energia in passato.</a:t>
            </a:r>
          </a:p>
          <a:p>
            <a:pPr marL="0" indent="0">
              <a:buNone/>
            </a:pPr>
            <a:r>
              <a:rPr lang="it-IT" dirty="0"/>
              <a:t>( Attenzione : La pratica di subentro NON va utilizzata su contatori sospesi per morosità. In caso di contatori sospesi per morosità bisognerà contattare il fornitore uscente e chiedere la cessazione amministrativa.</a:t>
            </a:r>
          </a:p>
          <a:p>
            <a:pPr marL="0" indent="0">
              <a:buNone/>
            </a:pPr>
            <a:r>
              <a:rPr lang="it-IT" dirty="0"/>
              <a:t>La pratica di cessazione amministrativa libererà il POD su cui, successivamente, potremo caricare una normale pratica di subentro ).</a:t>
            </a: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914FAF8F-E5D8-4EDA-B5B2-48ED9318E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5034872"/>
            <a:ext cx="3279932" cy="1402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63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D09905-C8D4-416A-942E-AC906DD62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SUBENTRO SU GRUPPO DI MISURA CESSATO ( GAS 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B50F271-01E2-4CDB-8D99-87A6AA20C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/>
          <a:lstStyle/>
          <a:p>
            <a:r>
              <a:rPr lang="it-IT" dirty="0"/>
              <a:t>La pratica di effettua su un contatore disattivato regolarmente, che abbia già erogato gas in passato.</a:t>
            </a:r>
          </a:p>
          <a:p>
            <a:pPr marL="0" indent="0">
              <a:buNone/>
            </a:pPr>
            <a:r>
              <a:rPr lang="it-IT" dirty="0"/>
              <a:t>( Attenzione : La pratica di subentro NON va utilizzata su contatori sospesi per morosità. In caso di contatori sospesi per morosità bisognerà contattare il fornitore uscente e chiedere la cessazione amministrativa.</a:t>
            </a:r>
          </a:p>
          <a:p>
            <a:pPr marL="0" indent="0">
              <a:buNone/>
            </a:pPr>
            <a:r>
              <a:rPr lang="it-IT" dirty="0"/>
              <a:t>La pratica di cessazione amministrativa libererà il PDR su cui, successivamente, potremo caricare una normale pratica di subentro ).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ND : Attenzione a non confondere il subentro gas con la pratica di prima attivazione ( ATTIVAZIONE PER DELIBERA 40 )</a:t>
            </a:r>
          </a:p>
          <a:p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B0AC8B47-F29A-4762-BFB5-6EE2B0876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656" y="5455798"/>
            <a:ext cx="3279932" cy="1402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130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5D4A8D7-6C2D-4139-8128-7F0FBDB3D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SWITCH CON CONTESTUALE VOLTURA </a:t>
            </a:r>
            <a:br>
              <a:rPr lang="it-IT" dirty="0"/>
            </a:br>
            <a:r>
              <a:rPr lang="it-IT" dirty="0"/>
              <a:t>( GAS ED ENERGIA )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ADF39C5-B38C-4899-BA67-D0CEC3CB8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La pratica prevede il cambio nominativo contestualmente al cambio fornitore.</a:t>
            </a:r>
          </a:p>
          <a:p>
            <a:pPr marL="0" indent="0">
              <a:buNone/>
            </a:pPr>
            <a:r>
              <a:rPr lang="it-IT" dirty="0"/>
              <a:t>( Attenzione : Il contratto a nuovo nome partirà contestualmente al contratto di fornitura )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E574C11B-AEE3-4971-8A99-226E2A1FC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4100975"/>
            <a:ext cx="3279932" cy="1402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564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41D90D-8882-4D6A-9401-506BA6DC5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SWITCH ( GAS ED ENERGIA 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1BDFDA3-860B-4237-BE23-E17261290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La pratica prevede il cambio fornitore su contatore attivo.</a:t>
            </a:r>
          </a:p>
          <a:p>
            <a:pPr marL="0" indent="0">
              <a:buNone/>
            </a:pPr>
            <a:r>
              <a:rPr lang="it-IT" dirty="0"/>
              <a:t>( Attenzione, con </a:t>
            </a:r>
            <a:r>
              <a:rPr lang="it-IT" dirty="0" err="1"/>
              <a:t>Heracom</a:t>
            </a:r>
            <a:r>
              <a:rPr lang="it-IT" dirty="0"/>
              <a:t> il cambio fornitore va sempre effettuato a parità di condizione . Ogni variazione quali ad esempio, potenza, uso, tensione ecc.. Andrà richiesta dal cliente prima dello switch alla vecchia società o a switch completato) 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AF6ABF19-D4AE-4989-94DA-D4872EE75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711" y="5127151"/>
            <a:ext cx="3279932" cy="1402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873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F04820-151B-4DD0-AC6F-D2D3F5C97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COSA FACCIO SE….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2437E92-9877-47FB-AB77-20C67B2D0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48192"/>
            <a:ext cx="8596668" cy="3880773"/>
          </a:xfrm>
        </p:spPr>
        <p:txBody>
          <a:bodyPr/>
          <a:lstStyle/>
          <a:p>
            <a:r>
              <a:rPr lang="it-IT" dirty="0"/>
              <a:t>SE IL CLIENTE HA UN CONTATORE SOSPESO PER MOROSITA’ E VUOLE RIATTIVARLO: Il cliente contatterà la vecchia società di vendita e chiederà la cessazione amministrativa del POD o PDR. Una volta eseguita, si potrà lavorare un normale subentro</a:t>
            </a:r>
          </a:p>
          <a:p>
            <a:r>
              <a:rPr lang="it-IT" dirty="0"/>
              <a:t>SE IL CLIENTE HA IL CONTATORE SOSPESO MA NON CONOSCE LA SOCIETA’ CHE L’HA SOSPESO: Se non è possibile risalire alla società che ha effettuato la sospensione tramite bollette, proprietario ecc.. Ci si può rivolgere allo sportello SMART INFO </a:t>
            </a:r>
            <a:r>
              <a:rPr lang="it-IT" dirty="0">
                <a:hlinkClick r:id="rId2"/>
              </a:rPr>
              <a:t>http://www.sportelloperilconsumatore.it/informazioni/smart-info</a:t>
            </a:r>
            <a:r>
              <a:rPr lang="it-IT" dirty="0"/>
              <a:t> per chiedere di risalire alla società di vendita </a:t>
            </a: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1C0E63AD-C23C-4ACA-B468-EBB3E5E9C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24" y="5340261"/>
            <a:ext cx="3279932" cy="1402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71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F04820-151B-4DD0-AC6F-D2D3F5C97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COSA FACCIO SE….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2437E92-9877-47FB-AB77-20C67B2D0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/>
          <a:lstStyle/>
          <a:p>
            <a:r>
              <a:rPr lang="it-IT" dirty="0"/>
              <a:t>SE L’ATTIVAZIONE DEL CONTATORE GAS CHE PENSAVO ESSERE UN SUBENTRO E’ UNA PRIMA ATTIVAZIONE : La pratica per la prima attivazione non viene gestita abitualmente da </a:t>
            </a:r>
            <a:r>
              <a:rPr lang="it-IT" dirty="0" err="1"/>
              <a:t>Heracom</a:t>
            </a:r>
            <a:r>
              <a:rPr lang="it-IT" dirty="0"/>
              <a:t> tramite agenzia per la sua complessità. Il cliente in quel caso potrà rivolgersi ad un canale diretto ( telefonico o sportello ) per chiedere la modulistica idonea da consegnare all’idraulico per la necessaria dichiarazione.</a:t>
            </a:r>
          </a:p>
          <a:p>
            <a:r>
              <a:rPr lang="it-IT" dirty="0"/>
              <a:t>IL MIO CONTRATTO E’ ANDATO KO PER UN DISALLINEAMENTO DATI FISCALI : Il disallineamento dati ci indica che sul sistema integrato è presente un dato diverso da quello riportato nel contratto . Verifichiamo quindi che non ci siano state variazioni recenti, che non ci siano volture da effettuare, e che i dati siano corretti. Se necessario, chiediamo al fornitore attuale, un allineamento dati fiscali.</a:t>
            </a:r>
          </a:p>
          <a:p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66536F5D-2736-49EA-892B-E86AD0AD3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935" y="5455798"/>
            <a:ext cx="3279932" cy="1402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160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F04820-151B-4DD0-AC6F-D2D3F5C97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COSA FACCIO SE….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2437E92-9877-47FB-AB77-20C67B2D0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444" y="1575025"/>
            <a:ext cx="8596668" cy="3880773"/>
          </a:xfrm>
        </p:spPr>
        <p:txBody>
          <a:bodyPr/>
          <a:lstStyle/>
          <a:p>
            <a:r>
              <a:rPr lang="it-IT" dirty="0"/>
              <a:t>IL CLIENTE RICHIEDE UNA VARIAZIONE SULLA SUA FORNITURA O UNA MODIFICA ( potenza, uso, classe contatore </a:t>
            </a:r>
            <a:r>
              <a:rPr lang="it-IT" dirty="0" err="1"/>
              <a:t>ecc</a:t>
            </a:r>
            <a:r>
              <a:rPr lang="it-IT" dirty="0"/>
              <a:t>… ) : In linea generica tali pratiche vanno gestite dal cliente da un qualsiasi canale diretto, a fornitura iniziata. In caso però di difficoltà del cliente o impossibilità a richiederlo, possiamo fare da tramite per la richiesta, solo ai clienti già in fornitura e stipulati dal nostro canale.</a:t>
            </a:r>
          </a:p>
          <a:p>
            <a:r>
              <a:rPr lang="it-IT" dirty="0"/>
              <a:t>ABBIAMO BISOGNO DI UN SECONDO APPUNTAMENTO PER L’APERTURA DEL CONTATORE : Possiamo fare la richiesta di un secondo appuntamento, che verrà comunque, comunicato oltre che a noi, anche al cliente.</a:t>
            </a:r>
          </a:p>
          <a:p>
            <a:r>
              <a:rPr lang="it-IT" dirty="0"/>
              <a:t>IL CLIENTE HA AVUTO UN TAGLIO COLONNA: sarà necessario rivolgersi ad un canale diretto per chiedere la visita di un tecnico. La prassi prevederà visita del tecnico + preventivo + ripristino + richiesta di nuova attivazione</a:t>
            </a:r>
          </a:p>
          <a:p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EA2BAEC7-B78F-49B6-9EBA-2E5B7099A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444" y="5282975"/>
            <a:ext cx="3279932" cy="1402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388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BE1BCD-FD90-4D86-93A2-C7FA7FF74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BREVE ED UTILE GLOSSARIO…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72A7AD-AFB1-40E2-A724-569C793C6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56581"/>
            <a:ext cx="8596668" cy="3880773"/>
          </a:xfrm>
        </p:spPr>
        <p:txBody>
          <a:bodyPr/>
          <a:lstStyle/>
          <a:p>
            <a:r>
              <a:rPr lang="it-IT" dirty="0"/>
              <a:t>CMOR: indennizzo che l’attuale fornitore di energia applica in fattura su richiesta di un precedente fornitore, nel caso in cui a quest’ultimo risultino non pagate fatture riferite a consumi o oneri degli ultimi 3 mesi di erogazione del servizio.</a:t>
            </a:r>
          </a:p>
          <a:p>
            <a:r>
              <a:rPr lang="it-IT" dirty="0"/>
              <a:t>FUI : Fornitore di ultima istanza ( dove finiscono i clienti « cacciati « da altri fornitori ad esempio perché cattivi pagatori non interrompibili, o rimasti senza fornitore per fallimento della società di vendita )</a:t>
            </a:r>
          </a:p>
          <a:p>
            <a:r>
              <a:rPr lang="it-IT" dirty="0"/>
              <a:t>SOSPENSIONE PER MOROSITA’: Sospensione dell’erogazione della fornitura ( ma lasciando il contratto di vendita attivo e in « attesa di pagamento « )</a:t>
            </a:r>
          </a:p>
          <a:p>
            <a:r>
              <a:rPr lang="it-IT" dirty="0"/>
              <a:t>CESSAZIONE AMMINISTRATIVA: A seguito di sospensione per morosità, la richiesta alla società di vendita di chiudere anche il contratto di vendita in modo da lasciare libero il POD o PDR </a:t>
            </a:r>
          </a:p>
          <a:p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048AFCBA-F6F1-416D-81FE-96E4F0DDB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5437354"/>
            <a:ext cx="3279932" cy="1402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49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2CD985-A0A4-4E0B-A1C4-9E82FA369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BREVE ED UTILE GLOSSARIO…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D0EF473-2859-4191-95C6-9A2340842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TIMG : Testo integrato morosità gas </a:t>
            </a:r>
          </a:p>
          <a:p>
            <a:r>
              <a:rPr lang="it-IT" dirty="0"/>
              <a:t>TIMOE : Testo integrato morosità elettrica</a:t>
            </a:r>
          </a:p>
          <a:p>
            <a:r>
              <a:rPr lang="it-IT" dirty="0"/>
              <a:t>TAGLIO COLONNA : Sospensione dell’erogazione del gas tramite taglio della tubazione. Viene adottato ad esempio, in caso di morosità per cui la sospensione non vada a buon fine per contatore non accessibile.</a:t>
            </a:r>
          </a:p>
          <a:p>
            <a:endParaRPr lang="it-IT" dirty="0"/>
          </a:p>
          <a:p>
            <a:pPr marL="0" indent="0">
              <a:buNone/>
            </a:pPr>
            <a:endParaRPr lang="it-IT" dirty="0"/>
          </a:p>
          <a:p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D0F4BF6-7504-4A6B-B50F-A729E61FA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5068428"/>
            <a:ext cx="3279932" cy="1402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763010"/>
      </p:ext>
    </p:extLst>
  </p:cSld>
  <p:clrMapOvr>
    <a:masterClrMapping/>
  </p:clrMapOvr>
</p:sld>
</file>

<file path=ppt/theme/theme1.xml><?xml version="1.0" encoding="utf-8"?>
<a:theme xmlns:a="http://schemas.openxmlformats.org/drawingml/2006/main" name="Sfaccettatura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274</TotalTime>
  <Words>1034</Words>
  <Application>Microsoft Office PowerPoint</Application>
  <PresentationFormat>Widescreen</PresentationFormat>
  <Paragraphs>57</Paragraphs>
  <Slides>14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18" baseType="lpstr">
      <vt:lpstr>Arial</vt:lpstr>
      <vt:lpstr>Trebuchet MS</vt:lpstr>
      <vt:lpstr>Wingdings 3</vt:lpstr>
      <vt:lpstr>Sfaccettatura</vt:lpstr>
      <vt:lpstr>HERACOM </vt:lpstr>
      <vt:lpstr>PRATICHE LAVORABILI DA AGENZIA PARTE EE</vt:lpstr>
      <vt:lpstr>PRATICHE LAVORABILI DA AGENZIA PARTE GAS</vt:lpstr>
      <vt:lpstr>CONNESSIONE CON ATTIVAZIONE CONTESTUALE ( ENERGIA )</vt:lpstr>
      <vt:lpstr>PRIMA ATTIVAZIONE SU CONTATORE PREPOSATO EE ( ENERGIA )</vt:lpstr>
      <vt:lpstr>SUBENTRO SU GRUPPO DI MISURA CESSATO ( ENERGIA )</vt:lpstr>
      <vt:lpstr>SUBENTRO SU GRUPPO DI MISURA CESSATO ( GAS )</vt:lpstr>
      <vt:lpstr>SWITCH CON CONTESTUALE VOLTURA  ( GAS ED ENERGIA ) </vt:lpstr>
      <vt:lpstr>SWITCH ( GAS ED ENERGIA )</vt:lpstr>
      <vt:lpstr>COSA FACCIO SE….</vt:lpstr>
      <vt:lpstr>COSA FACCIO SE….</vt:lpstr>
      <vt:lpstr>COSA FACCIO SE….</vt:lpstr>
      <vt:lpstr>BREVE ED UTILE GLOSSARIO…</vt:lpstr>
      <vt:lpstr>BREVE ED UTILE GLOSSARIO…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HERACOM</dc:title>
  <dc:creator>Energia - Greenworld SRL</dc:creator>
  <cp:lastModifiedBy>Energia - Greenworld SRL</cp:lastModifiedBy>
  <cp:revision>16</cp:revision>
  <cp:lastPrinted>2021-05-04T08:11:21Z</cp:lastPrinted>
  <dcterms:created xsi:type="dcterms:W3CDTF">2021-05-03T14:37:23Z</dcterms:created>
  <dcterms:modified xsi:type="dcterms:W3CDTF">2021-05-10T09:41:11Z</dcterms:modified>
</cp:coreProperties>
</file>