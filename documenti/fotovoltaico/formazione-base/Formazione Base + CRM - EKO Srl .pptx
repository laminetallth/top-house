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Lst>
  <p:sldSz cy="5143500" cx="9144000"/>
  <p:notesSz cx="6858000" cy="9144000"/>
  <p:embeddedFontLst>
    <p:embeddedFont>
      <p:font typeface="Lexend"/>
      <p:regular r:id="rId132"/>
      <p:bold r:id="rId133"/>
    </p:embeddedFont>
    <p:embeddedFont>
      <p:font typeface="Oswald"/>
      <p:regular r:id="rId134"/>
      <p:bold r:id="rId1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93E32E-9EC5-4C93-89A8-DD7072C48189}">
  <a:tblStyle styleId="{7893E32E-9EC5-4C93-89A8-DD7072C4818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2" Type="http://schemas.openxmlformats.org/officeDocument/2006/relationships/font" Target="fonts/Lexend-regular.fntdata"/><Relationship Id="rId131" Type="http://schemas.openxmlformats.org/officeDocument/2006/relationships/slide" Target="slides/slide125.xml"/><Relationship Id="rId130" Type="http://schemas.openxmlformats.org/officeDocument/2006/relationships/slide" Target="slides/slide124.xml"/><Relationship Id="rId135" Type="http://schemas.openxmlformats.org/officeDocument/2006/relationships/font" Target="fonts/Oswald-bold.fntdata"/><Relationship Id="rId134" Type="http://schemas.openxmlformats.org/officeDocument/2006/relationships/font" Target="fonts/Oswald-regular.fntdata"/><Relationship Id="rId133" Type="http://schemas.openxmlformats.org/officeDocument/2006/relationships/font" Target="fonts/Lexend-bold.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0ba15c8f2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0ba15c8f2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0adcbf036b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0adcbf036b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0adcbf036b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0adcbf036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0ba15c8f2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0ba15c8f2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0adcbf036b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0adcbf036b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0adcbf036b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0adcbf036b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0adcbf036b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0adcbf036b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0adcbf036b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0adcbf036b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0adcbf036b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0adcbf036b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fc7ec24b6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fc7ec24b6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0ca15b6ccc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0ca15b6ccc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0ca15b6ccc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0ca15b6ccc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0ca15b6ccc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0ca15b6ccc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0ca15b6ccc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0ca15b6ccc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0ca15b6ccc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0ca15b6ccc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0ba15c8f20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0ba15c8f20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0a9469dca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0a9469dca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0a9469dca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0a9469dca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0adcbf036b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0adcbf036b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0a7673ead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0a7673ead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0adcbf036b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0adcbf036b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0a8ab9c5d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0a8ab9c5d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0ba15c8f2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0ba15c8f2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0ba15c8f2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0ba15c8f2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8ae5e8f9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d8ae5e8f9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8ae5e8f9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d8ae5e8f9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0adcbf036b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0adcbf036b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0adcbf036b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0adcbf036b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0adcbf036b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0adcbf036b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0ba15c8f20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0ba15c8f20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0ba15c8f20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0ba15c8f20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0ba15c8f20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0ba15c8f20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0adcbf036b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0adcbf036b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0a7673ead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0a7673ead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0adcbf036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0adcbf036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0a9469dca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0a9469dca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0adcbf036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0adcbf036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0adcbf036b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0adcbf036b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0ba15c8f20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0ba15c8f20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0adcbf036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0adcbf036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0adcbf036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0adcbf036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0adcbf036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0adcbf036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0adcbf036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0adcbf036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0b6744115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0b6744115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0adcbf036b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0adcbf036b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0adcbf036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0adcbf036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0ca15b6cc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0ca15b6cc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0ca15b6cc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0ca15b6cc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0a9469dca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0a9469dca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0ca15b6cc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0ca15b6cc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0a9469dca8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0a9469dca8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0a9469dca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30a9469dca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0a9469dca8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30a9469dca8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0ca15b6cc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30ca15b6cc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0a9469dca8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0a9469dca8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0a9469dca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30a9469dca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0ba15c8f20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0ba15c8f2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0cc2550b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30cc2550b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2fc7ec24b6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2fc7ec24b6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e2b9a9a5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3e2b9a9a5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0ca06b03b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0ca06b03b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0ca06b03b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30ca06b03b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0ca06b03b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0ca06b03b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0ca06b03b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0ca06b03b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0ba15c8f2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0ba15c8f2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0ba15c8f2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0ba15c8f2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2fc7ec24b6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2fc7ec24b6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fc7ec24b6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2fc7ec24b6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2fc7ec24b6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2fc7ec24b6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2fc7ec24b6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2fc7ec24b6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2fc7ec24b6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2fc7ec24b6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0a9469dca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0a9469dca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2fc7ec24b64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2fc7ec24b64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2fc7ec24b64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2fc7ec24b64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0ba15c8f20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30ba15c8f20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2fc7ec24b64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2fc7ec24b64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2fc7ec24b6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2fc7ec24b6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2fc7ec24b64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2fc7ec24b64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2fc7ec24b64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3" name="Google Shape;1173;g2fc7ec24b64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2fc7ec24b64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2fc7ec24b64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0b6744115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30b6744115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2019b9df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32019b9df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2019b9df1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32019b9df1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2019b9df12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2019b9df12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32019b9df12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32019b9df12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2019b9df12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32019b9df12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32019b9df1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32019b9df1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32019b9df1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3" name="Google Shape;1303;g32019b9df1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2019b9df1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32019b9df1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2019b9df1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32019b9df1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38c445e54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38c445e54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32019b9df12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6" name="Google Shape;1466;g32019b9df12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32019b9df12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g32019b9df12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33ef3aa7de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33ef3aa7de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32019b9df12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32019b9df12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32019b9df12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32019b9df12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32019b9df12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9" name="Google Shape;1519;g32019b9df12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2019b9df12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32019b9df12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g32019b9df12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4" name="Google Shape;1554;g32019b9df12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2019b9df12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32019b9df1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2" name="Shape 1612"/>
        <p:cNvGrpSpPr/>
        <p:nvPr/>
      </p:nvGrpSpPr>
      <p:grpSpPr>
        <a:xfrm>
          <a:off x="0" y="0"/>
          <a:ext cx="0" cy="0"/>
          <a:chOff x="0" y="0"/>
          <a:chExt cx="0" cy="0"/>
        </a:xfrm>
      </p:grpSpPr>
      <p:sp>
        <p:nvSpPr>
          <p:cNvPr id="1613" name="Google Shape;1613;g32019b9df12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4" name="Google Shape;1614;g32019b9df12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g32019b9df12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5" name="Google Shape;1645;g32019b9df12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g2d77d631896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5" name="Google Shape;1655;g2d77d631896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g2d77d63189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4" name="Google Shape;1684;g2d77d631896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g2d77d63189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5" name="Google Shape;1715;g2d77d63189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3" name="Shape 1723"/>
        <p:cNvGrpSpPr/>
        <p:nvPr/>
      </p:nvGrpSpPr>
      <p:grpSpPr>
        <a:xfrm>
          <a:off x="0" y="0"/>
          <a:ext cx="0" cy="0"/>
          <a:chOff x="0" y="0"/>
          <a:chExt cx="0" cy="0"/>
        </a:xfrm>
      </p:grpSpPr>
      <p:sp>
        <p:nvSpPr>
          <p:cNvPr id="1724" name="Google Shape;1724;g2d77d63189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5" name="Google Shape;1725;g2d77d63189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7" name="Shape 1747"/>
        <p:cNvGrpSpPr/>
        <p:nvPr/>
      </p:nvGrpSpPr>
      <p:grpSpPr>
        <a:xfrm>
          <a:off x="0" y="0"/>
          <a:ext cx="0" cy="0"/>
          <a:chOff x="0" y="0"/>
          <a:chExt cx="0" cy="0"/>
        </a:xfrm>
      </p:grpSpPr>
      <p:sp>
        <p:nvSpPr>
          <p:cNvPr id="1748" name="Google Shape;1748;g2d77d63189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9" name="Google Shape;1749;g2d77d63189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1" name="Shape 1771"/>
        <p:cNvGrpSpPr/>
        <p:nvPr/>
      </p:nvGrpSpPr>
      <p:grpSpPr>
        <a:xfrm>
          <a:off x="0" y="0"/>
          <a:ext cx="0" cy="0"/>
          <a:chOff x="0" y="0"/>
          <a:chExt cx="0" cy="0"/>
        </a:xfrm>
      </p:grpSpPr>
      <p:sp>
        <p:nvSpPr>
          <p:cNvPr id="1772" name="Google Shape;1772;g32019b9df12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3" name="Google Shape;1773;g32019b9df12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5" name="Shape 1795"/>
        <p:cNvGrpSpPr/>
        <p:nvPr/>
      </p:nvGrpSpPr>
      <p:grpSpPr>
        <a:xfrm>
          <a:off x="0" y="0"/>
          <a:ext cx="0" cy="0"/>
          <a:chOff x="0" y="0"/>
          <a:chExt cx="0" cy="0"/>
        </a:xfrm>
      </p:grpSpPr>
      <p:sp>
        <p:nvSpPr>
          <p:cNvPr id="1796" name="Google Shape;1796;g33fbabbf8d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7" name="Google Shape;1797;g33fbabbf8d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32019b9df12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32019b9df12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g32019b9df12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8" name="Google Shape;1818;g32019b9df12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g32019b9df12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4" name="Google Shape;1844;g32019b9df12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5" name="Shape 1865"/>
        <p:cNvGrpSpPr/>
        <p:nvPr/>
      </p:nvGrpSpPr>
      <p:grpSpPr>
        <a:xfrm>
          <a:off x="0" y="0"/>
          <a:ext cx="0" cy="0"/>
          <a:chOff x="0" y="0"/>
          <a:chExt cx="0" cy="0"/>
        </a:xfrm>
      </p:grpSpPr>
      <p:sp>
        <p:nvSpPr>
          <p:cNvPr id="1866" name="Google Shape;1866;g32019b9df12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7" name="Google Shape;1867;g32019b9df12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6" name="Shape 1876"/>
        <p:cNvGrpSpPr/>
        <p:nvPr/>
      </p:nvGrpSpPr>
      <p:grpSpPr>
        <a:xfrm>
          <a:off x="0" y="0"/>
          <a:ext cx="0" cy="0"/>
          <a:chOff x="0" y="0"/>
          <a:chExt cx="0" cy="0"/>
        </a:xfrm>
      </p:grpSpPr>
      <p:sp>
        <p:nvSpPr>
          <p:cNvPr id="1877" name="Google Shape;1877;g32019b9df12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8" name="Google Shape;1878;g32019b9df12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4" name="Shape 1904"/>
        <p:cNvGrpSpPr/>
        <p:nvPr/>
      </p:nvGrpSpPr>
      <p:grpSpPr>
        <a:xfrm>
          <a:off x="0" y="0"/>
          <a:ext cx="0" cy="0"/>
          <a:chOff x="0" y="0"/>
          <a:chExt cx="0" cy="0"/>
        </a:xfrm>
      </p:grpSpPr>
      <p:sp>
        <p:nvSpPr>
          <p:cNvPr id="1905" name="Google Shape;1905;g32019b9df12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6" name="Google Shape;1906;g32019b9df12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7" name="Shape 1927"/>
        <p:cNvGrpSpPr/>
        <p:nvPr/>
      </p:nvGrpSpPr>
      <p:grpSpPr>
        <a:xfrm>
          <a:off x="0" y="0"/>
          <a:ext cx="0" cy="0"/>
          <a:chOff x="0" y="0"/>
          <a:chExt cx="0" cy="0"/>
        </a:xfrm>
      </p:grpSpPr>
      <p:sp>
        <p:nvSpPr>
          <p:cNvPr id="1928" name="Google Shape;1928;g32019b9df12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9" name="Google Shape;1929;g32019b9df12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6" name="Shape 1956"/>
        <p:cNvGrpSpPr/>
        <p:nvPr/>
      </p:nvGrpSpPr>
      <p:grpSpPr>
        <a:xfrm>
          <a:off x="0" y="0"/>
          <a:ext cx="0" cy="0"/>
          <a:chOff x="0" y="0"/>
          <a:chExt cx="0" cy="0"/>
        </a:xfrm>
      </p:grpSpPr>
      <p:sp>
        <p:nvSpPr>
          <p:cNvPr id="1957" name="Google Shape;1957;g32019b9df12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8" name="Google Shape;1958;g32019b9df12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7" name="Shape 1967"/>
        <p:cNvGrpSpPr/>
        <p:nvPr/>
      </p:nvGrpSpPr>
      <p:grpSpPr>
        <a:xfrm>
          <a:off x="0" y="0"/>
          <a:ext cx="0" cy="0"/>
          <a:chOff x="0" y="0"/>
          <a:chExt cx="0" cy="0"/>
        </a:xfrm>
      </p:grpSpPr>
      <p:sp>
        <p:nvSpPr>
          <p:cNvPr id="1968" name="Google Shape;1968;g32019b9df12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9" name="Google Shape;1969;g32019b9df12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g32019b9df12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0" name="Google Shape;1980;g32019b9df12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4" name="Shape 2004"/>
        <p:cNvGrpSpPr/>
        <p:nvPr/>
      </p:nvGrpSpPr>
      <p:grpSpPr>
        <a:xfrm>
          <a:off x="0" y="0"/>
          <a:ext cx="0" cy="0"/>
          <a:chOff x="0" y="0"/>
          <a:chExt cx="0" cy="0"/>
        </a:xfrm>
      </p:grpSpPr>
      <p:sp>
        <p:nvSpPr>
          <p:cNvPr id="2005" name="Google Shape;2005;g32019b9df12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6" name="Google Shape;2006;g32019b9df12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5" name="Shape 2015"/>
        <p:cNvGrpSpPr/>
        <p:nvPr/>
      </p:nvGrpSpPr>
      <p:grpSpPr>
        <a:xfrm>
          <a:off x="0" y="0"/>
          <a:ext cx="0" cy="0"/>
          <a:chOff x="0" y="0"/>
          <a:chExt cx="0" cy="0"/>
        </a:xfrm>
      </p:grpSpPr>
      <p:sp>
        <p:nvSpPr>
          <p:cNvPr id="2016" name="Google Shape;2016;g32019b9df12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7" name="Google Shape;2017;g32019b9df12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1" name="Shape 2041"/>
        <p:cNvGrpSpPr/>
        <p:nvPr/>
      </p:nvGrpSpPr>
      <p:grpSpPr>
        <a:xfrm>
          <a:off x="0" y="0"/>
          <a:ext cx="0" cy="0"/>
          <a:chOff x="0" y="0"/>
          <a:chExt cx="0" cy="0"/>
        </a:xfrm>
      </p:grpSpPr>
      <p:sp>
        <p:nvSpPr>
          <p:cNvPr id="2042" name="Google Shape;2042;g32019b9df12_0_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3" name="Google Shape;2043;g32019b9df12_0_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2" name="Shape 2052"/>
        <p:cNvGrpSpPr/>
        <p:nvPr/>
      </p:nvGrpSpPr>
      <p:grpSpPr>
        <a:xfrm>
          <a:off x="0" y="0"/>
          <a:ext cx="0" cy="0"/>
          <a:chOff x="0" y="0"/>
          <a:chExt cx="0" cy="0"/>
        </a:xfrm>
      </p:grpSpPr>
      <p:sp>
        <p:nvSpPr>
          <p:cNvPr id="2053" name="Google Shape;2053;g32019b9df12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4" name="Google Shape;2054;g32019b9df12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g30b6744115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7" name="Google Shape;2067;g30b6744115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7.png"/><Relationship Id="rId10" Type="http://schemas.openxmlformats.org/officeDocument/2006/relationships/image" Target="../media/image15.png"/><Relationship Id="rId9" Type="http://schemas.openxmlformats.org/officeDocument/2006/relationships/image" Target="../media/image18.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7.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13.png"/><Relationship Id="rId9" Type="http://schemas.openxmlformats.org/officeDocument/2006/relationships/image" Target="../media/image15.png"/><Relationship Id="rId5" Type="http://schemas.openxmlformats.org/officeDocument/2006/relationships/image" Target="../media/image37.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34.png"/><Relationship Id="rId5"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3.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8.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9.png"/><Relationship Id="rId5" Type="http://schemas.openxmlformats.org/officeDocument/2006/relationships/image" Target="../media/image26.png"/><Relationship Id="rId6"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9.png"/><Relationship Id="rId10" Type="http://schemas.openxmlformats.org/officeDocument/2006/relationships/image" Target="../media/image15.png"/><Relationship Id="rId9" Type="http://schemas.openxmlformats.org/officeDocument/2006/relationships/image" Target="../media/image3.png"/><Relationship Id="rId5" Type="http://schemas.openxmlformats.org/officeDocument/2006/relationships/image" Target="../media/image26.png"/><Relationship Id="rId6" Type="http://schemas.openxmlformats.org/officeDocument/2006/relationships/image" Target="../media/image38.png"/><Relationship Id="rId7" Type="http://schemas.openxmlformats.org/officeDocument/2006/relationships/image" Target="../media/image18.png"/><Relationship Id="rId8" Type="http://schemas.openxmlformats.org/officeDocument/2006/relationships/image" Target="../media/image17.png"/></Relationships>
</file>

<file path=ppt/slides/_rels/slide32.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37.png"/><Relationship Id="rId13" Type="http://schemas.openxmlformats.org/officeDocument/2006/relationships/image" Target="../media/image41.png"/><Relationship Id="rId12" Type="http://schemas.openxmlformats.org/officeDocument/2006/relationships/image" Target="../media/image6.png"/><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1.png"/><Relationship Id="rId4" Type="http://schemas.openxmlformats.org/officeDocument/2006/relationships/image" Target="../media/image9.png"/><Relationship Id="rId9" Type="http://schemas.openxmlformats.org/officeDocument/2006/relationships/image" Target="../media/image3.png"/><Relationship Id="rId14" Type="http://schemas.openxmlformats.org/officeDocument/2006/relationships/image" Target="../media/image15.png"/><Relationship Id="rId5" Type="http://schemas.openxmlformats.org/officeDocument/2006/relationships/image" Target="../media/image26.png"/><Relationship Id="rId6" Type="http://schemas.openxmlformats.org/officeDocument/2006/relationships/image" Target="../media/image38.png"/><Relationship Id="rId7" Type="http://schemas.openxmlformats.org/officeDocument/2006/relationships/image" Target="../media/image18.png"/><Relationship Id="rId8"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6.jp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3.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3.png"/><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8.png"/><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50.png"/><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34.png"/><Relationship Id="rId5"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drive.google.com/file/d/1J__xwyw_tM0b-BiFmjXchj6Ak0O1n7xT/view" TargetMode="External"/><Relationship Id="rId4" Type="http://schemas.openxmlformats.org/officeDocument/2006/relationships/image" Target="../media/image45.jpg"/><Relationship Id="rId5"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53.jpg"/><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9.jpg"/><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5.jpg"/><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9.jpg"/><Relationship Id="rId4"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4.jpg"/><Relationship Id="rId4" Type="http://schemas.openxmlformats.org/officeDocument/2006/relationships/image" Target="../media/image1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5.png"/><Relationship Id="rId4" Type="http://schemas.openxmlformats.org/officeDocument/2006/relationships/image" Target="../media/image5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64.png"/><Relationship Id="rId6" Type="http://schemas.openxmlformats.org/officeDocument/2006/relationships/image" Target="../media/image51.png"/><Relationship Id="rId7" Type="http://schemas.openxmlformats.org/officeDocument/2006/relationships/image" Target="../media/image3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5.png"/><Relationship Id="rId4" Type="http://schemas.openxmlformats.org/officeDocument/2006/relationships/image" Target="../media/image58.png"/><Relationship Id="rId5" Type="http://schemas.openxmlformats.org/officeDocument/2006/relationships/image" Target="../media/image68.png"/><Relationship Id="rId6"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6.jpg"/><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5.png"/><Relationship Id="rId4" Type="http://schemas.openxmlformats.org/officeDocument/2006/relationships/image" Target="../media/image67.png"/><Relationship Id="rId5" Type="http://schemas.openxmlformats.org/officeDocument/2006/relationships/image" Target="../media/image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5.png"/><Relationship Id="rId4" Type="http://schemas.openxmlformats.org/officeDocument/2006/relationships/image" Target="../media/image81.jpg"/><Relationship Id="rId5" Type="http://schemas.openxmlformats.org/officeDocument/2006/relationships/image" Target="../media/image72.jpg"/><Relationship Id="rId6" Type="http://schemas.openxmlformats.org/officeDocument/2006/relationships/image" Target="../media/image63.png"/><Relationship Id="rId7" Type="http://schemas.openxmlformats.org/officeDocument/2006/relationships/image" Target="../media/image60.png"/><Relationship Id="rId8" Type="http://schemas.openxmlformats.org/officeDocument/2006/relationships/image" Target="../media/image6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66.png"/><Relationship Id="rId4" Type="http://schemas.openxmlformats.org/officeDocument/2006/relationships/image" Target="../media/image71.png"/><Relationship Id="rId5" Type="http://schemas.openxmlformats.org/officeDocument/2006/relationships/image" Target="../media/image62.png"/><Relationship Id="rId6" Type="http://schemas.openxmlformats.org/officeDocument/2006/relationships/image" Target="../media/image74.png"/><Relationship Id="rId7" Type="http://schemas.openxmlformats.org/officeDocument/2006/relationships/image" Target="../media/image1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77.png"/><Relationship Id="rId4" Type="http://schemas.openxmlformats.org/officeDocument/2006/relationships/image" Target="../media/image1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65.png"/><Relationship Id="rId4" Type="http://schemas.openxmlformats.org/officeDocument/2006/relationships/image" Target="../media/image4.png"/><Relationship Id="rId5" Type="http://schemas.openxmlformats.org/officeDocument/2006/relationships/image" Target="../media/image1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65.png"/><Relationship Id="rId4" Type="http://schemas.openxmlformats.org/officeDocument/2006/relationships/image" Target="../media/image4.png"/><Relationship Id="rId5" Type="http://schemas.openxmlformats.org/officeDocument/2006/relationships/image" Target="../media/image1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65.png"/><Relationship Id="rId4" Type="http://schemas.openxmlformats.org/officeDocument/2006/relationships/image" Target="../media/image4.png"/><Relationship Id="rId5" Type="http://schemas.openxmlformats.org/officeDocument/2006/relationships/image" Target="../media/image1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65.png"/><Relationship Id="rId4" Type="http://schemas.openxmlformats.org/officeDocument/2006/relationships/image" Target="../media/image4.png"/><Relationship Id="rId5" Type="http://schemas.openxmlformats.org/officeDocument/2006/relationships/image" Target="../media/image1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65.png"/><Relationship Id="rId4" Type="http://schemas.openxmlformats.org/officeDocument/2006/relationships/image" Target="../media/image4.png"/><Relationship Id="rId5" Type="http://schemas.openxmlformats.org/officeDocument/2006/relationships/image" Target="../media/image1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65.png"/><Relationship Id="rId4" Type="http://schemas.openxmlformats.org/officeDocument/2006/relationships/image" Target="../media/image4.png"/><Relationship Id="rId5" Type="http://schemas.openxmlformats.org/officeDocument/2006/relationships/image" Target="../media/image1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46.jpg"/><Relationship Id="rId4" Type="http://schemas.openxmlformats.org/officeDocument/2006/relationships/image" Target="../media/image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46.jpg"/><Relationship Id="rId4" Type="http://schemas.openxmlformats.org/officeDocument/2006/relationships/image" Target="../media/image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5.png"/><Relationship Id="rId4" Type="http://schemas.openxmlformats.org/officeDocument/2006/relationships/image" Target="../media/image9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5.png"/><Relationship Id="rId4" Type="http://schemas.openxmlformats.org/officeDocument/2006/relationships/image" Target="../media/image8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79.png"/><Relationship Id="rId4" Type="http://schemas.openxmlformats.org/officeDocument/2006/relationships/image" Target="../media/image1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5.png"/><Relationship Id="rId4" Type="http://schemas.openxmlformats.org/officeDocument/2006/relationships/image" Target="../media/image8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5.png"/><Relationship Id="rId4" Type="http://schemas.openxmlformats.org/officeDocument/2006/relationships/image" Target="../media/image9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5.png"/><Relationship Id="rId4" Type="http://schemas.openxmlformats.org/officeDocument/2006/relationships/image" Target="../media/image9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5.png"/><Relationship Id="rId4" Type="http://schemas.openxmlformats.org/officeDocument/2006/relationships/image" Target="../media/image93.png"/></Relationships>
</file>

<file path=ppt/slides/_rels/slide91.xml.rels><?xml version="1.0" encoding="UTF-8" standalone="yes"?><Relationships xmlns="http://schemas.openxmlformats.org/package/2006/relationships"><Relationship Id="rId10" Type="http://schemas.openxmlformats.org/officeDocument/2006/relationships/image" Target="../media/image82.png"/><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5.png"/><Relationship Id="rId4" Type="http://schemas.openxmlformats.org/officeDocument/2006/relationships/image" Target="../media/image78.png"/><Relationship Id="rId9" Type="http://schemas.openxmlformats.org/officeDocument/2006/relationships/image" Target="../media/image84.png"/><Relationship Id="rId5" Type="http://schemas.openxmlformats.org/officeDocument/2006/relationships/image" Target="../media/image80.png"/><Relationship Id="rId6" Type="http://schemas.openxmlformats.org/officeDocument/2006/relationships/image" Target="../media/image76.png"/><Relationship Id="rId7" Type="http://schemas.openxmlformats.org/officeDocument/2006/relationships/image" Target="../media/image75.png"/><Relationship Id="rId8" Type="http://schemas.openxmlformats.org/officeDocument/2006/relationships/image" Target="../media/image73.png"/></Relationships>
</file>

<file path=ppt/slides/_rels/slide92.xml.rels><?xml version="1.0" encoding="UTF-8" standalone="yes"?><Relationships xmlns="http://schemas.openxmlformats.org/package/2006/relationships"><Relationship Id="rId10" Type="http://schemas.openxmlformats.org/officeDocument/2006/relationships/image" Target="../media/image82.png"/><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5.png"/><Relationship Id="rId4" Type="http://schemas.openxmlformats.org/officeDocument/2006/relationships/image" Target="../media/image78.png"/><Relationship Id="rId9" Type="http://schemas.openxmlformats.org/officeDocument/2006/relationships/image" Target="../media/image84.png"/><Relationship Id="rId5" Type="http://schemas.openxmlformats.org/officeDocument/2006/relationships/image" Target="../media/image80.png"/><Relationship Id="rId6" Type="http://schemas.openxmlformats.org/officeDocument/2006/relationships/image" Target="../media/image76.png"/><Relationship Id="rId7" Type="http://schemas.openxmlformats.org/officeDocument/2006/relationships/image" Target="../media/image75.png"/><Relationship Id="rId8" Type="http://schemas.openxmlformats.org/officeDocument/2006/relationships/image" Target="../media/image7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1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1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89.png"/><Relationship Id="rId4" Type="http://schemas.openxmlformats.org/officeDocument/2006/relationships/image" Target="../media/image15.png"/><Relationship Id="rId5" Type="http://schemas.openxmlformats.org/officeDocument/2006/relationships/image" Target="../media/image85.png"/><Relationship Id="rId6" Type="http://schemas.openxmlformats.org/officeDocument/2006/relationships/image" Target="../media/image8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5.png"/><Relationship Id="rId4" Type="http://schemas.openxmlformats.org/officeDocument/2006/relationships/image" Target="../media/image95.png"/><Relationship Id="rId9" Type="http://schemas.openxmlformats.org/officeDocument/2006/relationships/image" Target="../media/image90.png"/><Relationship Id="rId5" Type="http://schemas.openxmlformats.org/officeDocument/2006/relationships/image" Target="../media/image88.png"/><Relationship Id="rId6" Type="http://schemas.openxmlformats.org/officeDocument/2006/relationships/image" Target="../media/image91.png"/><Relationship Id="rId7" Type="http://schemas.openxmlformats.org/officeDocument/2006/relationships/image" Target="../media/image100.png"/><Relationship Id="rId8" Type="http://schemas.openxmlformats.org/officeDocument/2006/relationships/image" Target="../media/image8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15.png"/><Relationship Id="rId4" Type="http://schemas.openxmlformats.org/officeDocument/2006/relationships/image" Target="../media/image101.png"/><Relationship Id="rId5" Type="http://schemas.openxmlformats.org/officeDocument/2006/relationships/image" Target="../media/image85.png"/><Relationship Id="rId6" Type="http://schemas.openxmlformats.org/officeDocument/2006/relationships/image" Target="../media/image8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15.png"/><Relationship Id="rId4" Type="http://schemas.openxmlformats.org/officeDocument/2006/relationships/image" Target="../media/image95.png"/><Relationship Id="rId9" Type="http://schemas.openxmlformats.org/officeDocument/2006/relationships/image" Target="../media/image90.png"/><Relationship Id="rId5" Type="http://schemas.openxmlformats.org/officeDocument/2006/relationships/image" Target="../media/image88.png"/><Relationship Id="rId6" Type="http://schemas.openxmlformats.org/officeDocument/2006/relationships/image" Target="../media/image91.png"/><Relationship Id="rId7" Type="http://schemas.openxmlformats.org/officeDocument/2006/relationships/image" Target="../media/image100.png"/><Relationship Id="rId8" Type="http://schemas.openxmlformats.org/officeDocument/2006/relationships/image" Target="../media/image9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1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15.png"/><Relationship Id="rId4" Type="http://schemas.openxmlformats.org/officeDocument/2006/relationships/image" Target="../media/image101.png"/><Relationship Id="rId5" Type="http://schemas.openxmlformats.org/officeDocument/2006/relationships/image" Target="../media/image85.png"/><Relationship Id="rId6" Type="http://schemas.openxmlformats.org/officeDocument/2006/relationships/image" Target="../media/image8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15.png"/><Relationship Id="rId4" Type="http://schemas.openxmlformats.org/officeDocument/2006/relationships/image" Target="../media/image95.png"/><Relationship Id="rId9" Type="http://schemas.openxmlformats.org/officeDocument/2006/relationships/image" Target="../media/image90.png"/><Relationship Id="rId5" Type="http://schemas.openxmlformats.org/officeDocument/2006/relationships/image" Target="../media/image88.png"/><Relationship Id="rId6" Type="http://schemas.openxmlformats.org/officeDocument/2006/relationships/image" Target="../media/image91.png"/><Relationship Id="rId7" Type="http://schemas.openxmlformats.org/officeDocument/2006/relationships/image" Target="../media/image100.png"/><Relationship Id="rId8" Type="http://schemas.openxmlformats.org/officeDocument/2006/relationships/image" Target="../media/image9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1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89.png"/><Relationship Id="rId4" Type="http://schemas.openxmlformats.org/officeDocument/2006/relationships/image" Target="../media/image15.png"/><Relationship Id="rId5" Type="http://schemas.openxmlformats.org/officeDocument/2006/relationships/image" Target="../media/image85.png"/><Relationship Id="rId6" Type="http://schemas.openxmlformats.org/officeDocument/2006/relationships/image" Target="../media/image8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15.png"/><Relationship Id="rId4" Type="http://schemas.openxmlformats.org/officeDocument/2006/relationships/image" Target="../media/image109.png"/><Relationship Id="rId5" Type="http://schemas.openxmlformats.org/officeDocument/2006/relationships/image" Target="../media/image85.png"/><Relationship Id="rId6" Type="http://schemas.openxmlformats.org/officeDocument/2006/relationships/image" Target="../media/image8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15.png"/><Relationship Id="rId4" Type="http://schemas.openxmlformats.org/officeDocument/2006/relationships/image" Target="../media/image109.png"/><Relationship Id="rId5" Type="http://schemas.openxmlformats.org/officeDocument/2006/relationships/image" Target="../media/image85.png"/><Relationship Id="rId6" Type="http://schemas.openxmlformats.org/officeDocument/2006/relationships/image" Target="../media/image8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15.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104.png"/><Relationship Id="rId4" Type="http://schemas.openxmlformats.org/officeDocument/2006/relationships/image" Target="../media/image15.png"/><Relationship Id="rId5" Type="http://schemas.openxmlformats.org/officeDocument/2006/relationships/image" Target="../media/image85.png"/><Relationship Id="rId6" Type="http://schemas.openxmlformats.org/officeDocument/2006/relationships/image" Target="../media/image88.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15.png"/><Relationship Id="rId4" Type="http://schemas.openxmlformats.org/officeDocument/2006/relationships/image" Target="../media/image99.png"/><Relationship Id="rId5" Type="http://schemas.openxmlformats.org/officeDocument/2006/relationships/image" Target="../media/image95.png"/><Relationship Id="rId6" Type="http://schemas.openxmlformats.org/officeDocument/2006/relationships/image" Target="../media/image88.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06.png"/><Relationship Id="rId4" Type="http://schemas.openxmlformats.org/officeDocument/2006/relationships/image" Target="../media/image15.png"/><Relationship Id="rId5" Type="http://schemas.openxmlformats.org/officeDocument/2006/relationships/image" Target="../media/image85.png"/><Relationship Id="rId6" Type="http://schemas.openxmlformats.org/officeDocument/2006/relationships/image" Target="../media/image8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5.png"/><Relationship Id="rId4" Type="http://schemas.openxmlformats.org/officeDocument/2006/relationships/image" Target="../media/image103.png"/><Relationship Id="rId5" Type="http://schemas.openxmlformats.org/officeDocument/2006/relationships/image" Target="../media/image95.png"/><Relationship Id="rId6" Type="http://schemas.openxmlformats.org/officeDocument/2006/relationships/image" Target="../media/image88.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5.png"/><Relationship Id="rId4" Type="http://schemas.openxmlformats.org/officeDocument/2006/relationships/image" Target="../media/image84.png"/><Relationship Id="rId5" Type="http://schemas.openxmlformats.org/officeDocument/2006/relationships/image" Target="../media/image80.png"/><Relationship Id="rId6" Type="http://schemas.openxmlformats.org/officeDocument/2006/relationships/image" Target="../media/image37.png"/><Relationship Id="rId7" Type="http://schemas.openxmlformats.org/officeDocument/2006/relationships/image" Target="../media/image10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15.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05.png"/><Relationship Id="rId4" Type="http://schemas.openxmlformats.org/officeDocument/2006/relationships/image" Target="../media/image15.png"/><Relationship Id="rId5" Type="http://schemas.openxmlformats.org/officeDocument/2006/relationships/image" Target="../media/image85.png"/><Relationship Id="rId6" Type="http://schemas.openxmlformats.org/officeDocument/2006/relationships/image" Target="../media/image8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05.png"/><Relationship Id="rId4" Type="http://schemas.openxmlformats.org/officeDocument/2006/relationships/image" Target="../media/image15.png"/><Relationship Id="rId5" Type="http://schemas.openxmlformats.org/officeDocument/2006/relationships/image" Target="../media/image85.png"/><Relationship Id="rId6" Type="http://schemas.openxmlformats.org/officeDocument/2006/relationships/image" Target="../media/image8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15.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08.png"/><Relationship Id="rId4" Type="http://schemas.openxmlformats.org/officeDocument/2006/relationships/image" Target="../media/image15.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4.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 name="Google Shape;55;p1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56" name="Google Shape;56;p13"/>
          <p:cNvSpPr txBox="1"/>
          <p:nvPr/>
        </p:nvSpPr>
        <p:spPr>
          <a:xfrm>
            <a:off x="311700" y="2728850"/>
            <a:ext cx="8520600" cy="550500"/>
          </a:xfrm>
          <a:prstGeom prst="rect">
            <a:avLst/>
          </a:prstGeom>
          <a:noFill/>
          <a:ln>
            <a:noFill/>
          </a:ln>
        </p:spPr>
        <p:txBody>
          <a:bodyPr anchorCtr="0" anchor="t" bIns="91425" lIns="91425" spcFirstLastPara="1" rIns="91425" wrap="square" tIns="91425">
            <a:normAutofit/>
          </a:bodyPr>
          <a:lstStyle/>
          <a:p>
            <a:pPr indent="0" lvl="0" marL="0" rtl="0" algn="ctr">
              <a:lnSpc>
                <a:spcPct val="80000"/>
              </a:lnSpc>
              <a:spcBef>
                <a:spcPts val="0"/>
              </a:spcBef>
              <a:spcAft>
                <a:spcPts val="0"/>
              </a:spcAft>
              <a:buNone/>
            </a:pPr>
            <a:r>
              <a:rPr lang="it" sz="1500">
                <a:solidFill>
                  <a:srgbClr val="595959"/>
                </a:solidFill>
                <a:latin typeface="Lexend"/>
                <a:ea typeface="Lexend"/>
                <a:cs typeface="Lexend"/>
                <a:sym typeface="Lexend"/>
              </a:rPr>
              <a:t>EKO Srl</a:t>
            </a:r>
            <a:endParaRPr sz="1500">
              <a:solidFill>
                <a:srgbClr val="595959"/>
              </a:solidFill>
              <a:latin typeface="Lexend"/>
              <a:ea typeface="Lexend"/>
              <a:cs typeface="Lexend"/>
              <a:sym typeface="Lexend"/>
            </a:endParaRPr>
          </a:p>
        </p:txBody>
      </p:sp>
      <p:sp>
        <p:nvSpPr>
          <p:cNvPr id="57" name="Google Shape;57;p13"/>
          <p:cNvSpPr txBox="1"/>
          <p:nvPr/>
        </p:nvSpPr>
        <p:spPr>
          <a:xfrm>
            <a:off x="311700" y="1756375"/>
            <a:ext cx="8520600" cy="9000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solidFill>
                  <a:srgbClr val="595959"/>
                </a:solidFill>
                <a:latin typeface="Lexend"/>
                <a:ea typeface="Lexend"/>
                <a:cs typeface="Lexend"/>
                <a:sym typeface="Lexend"/>
              </a:rPr>
              <a:t>Benvenuti</a:t>
            </a:r>
            <a:endParaRPr sz="7000">
              <a:solidFill>
                <a:srgbClr val="595959"/>
              </a:solidFill>
              <a:latin typeface="Lexend"/>
              <a:ea typeface="Lexend"/>
              <a:cs typeface="Lexend"/>
              <a:sym typeface="Lexend"/>
            </a:endParaRPr>
          </a:p>
        </p:txBody>
      </p:sp>
      <p:pic>
        <p:nvPicPr>
          <p:cNvPr id="58" name="Google Shape;58;p13"/>
          <p:cNvPicPr preferRelativeResize="0"/>
          <p:nvPr/>
        </p:nvPicPr>
        <p:blipFill>
          <a:blip r:embed="rId4">
            <a:alphaModFix/>
          </a:blip>
          <a:stretch>
            <a:fillRect/>
          </a:stretch>
        </p:blipFill>
        <p:spPr>
          <a:xfrm>
            <a:off x="4102000" y="3475571"/>
            <a:ext cx="940000" cy="963150"/>
          </a:xfrm>
          <a:prstGeom prst="rect">
            <a:avLst/>
          </a:prstGeom>
          <a:noFill/>
          <a:ln>
            <a:noFill/>
          </a:ln>
        </p:spPr>
      </p:pic>
      <p:sp>
        <p:nvSpPr>
          <p:cNvPr id="59" name="Google Shape;59;p13"/>
          <p:cNvSpPr txBox="1"/>
          <p:nvPr>
            <p:ph idx="1"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3052400" y="1731910"/>
            <a:ext cx="2761576" cy="2524412"/>
          </a:xfrm>
          <a:prstGeom prst="rect">
            <a:avLst/>
          </a:prstGeom>
          <a:noFill/>
          <a:ln>
            <a:noFill/>
          </a:ln>
        </p:spPr>
      </p:pic>
      <p:sp>
        <p:nvSpPr>
          <p:cNvPr id="65" name="Google Shape;65;p1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txBox="1"/>
          <p:nvPr>
            <p:ph type="title"/>
          </p:nvPr>
        </p:nvSpPr>
        <p:spPr>
          <a:xfrm>
            <a:off x="227175" y="821513"/>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Breve introduzione su </a:t>
            </a:r>
            <a:r>
              <a:rPr b="1" lang="it" sz="2200">
                <a:latin typeface="Lexend"/>
                <a:ea typeface="Lexend"/>
                <a:cs typeface="Lexend"/>
                <a:sym typeface="Lexend"/>
              </a:rPr>
              <a:t>EKO Srl</a:t>
            </a:r>
            <a:endParaRPr b="1" sz="2200">
              <a:latin typeface="Lexend"/>
              <a:ea typeface="Lexend"/>
              <a:cs typeface="Lexend"/>
              <a:sym typeface="Lexend"/>
            </a:endParaRPr>
          </a:p>
        </p:txBody>
      </p:sp>
      <p:pic>
        <p:nvPicPr>
          <p:cNvPr id="67" name="Google Shape;67;p14"/>
          <p:cNvPicPr preferRelativeResize="0"/>
          <p:nvPr/>
        </p:nvPicPr>
        <p:blipFill>
          <a:blip r:embed="rId4">
            <a:alphaModFix/>
          </a:blip>
          <a:stretch>
            <a:fillRect/>
          </a:stretch>
        </p:blipFill>
        <p:spPr>
          <a:xfrm>
            <a:off x="771450" y="1806973"/>
            <a:ext cx="387800" cy="387807"/>
          </a:xfrm>
          <a:prstGeom prst="rect">
            <a:avLst/>
          </a:prstGeom>
          <a:noFill/>
          <a:ln>
            <a:noFill/>
          </a:ln>
        </p:spPr>
      </p:pic>
      <p:pic>
        <p:nvPicPr>
          <p:cNvPr id="68" name="Google Shape;68;p14"/>
          <p:cNvPicPr preferRelativeResize="0"/>
          <p:nvPr/>
        </p:nvPicPr>
        <p:blipFill>
          <a:blip r:embed="rId5">
            <a:alphaModFix/>
          </a:blip>
          <a:stretch>
            <a:fillRect/>
          </a:stretch>
        </p:blipFill>
        <p:spPr>
          <a:xfrm>
            <a:off x="466650" y="2897124"/>
            <a:ext cx="387800" cy="387807"/>
          </a:xfrm>
          <a:prstGeom prst="rect">
            <a:avLst/>
          </a:prstGeom>
          <a:noFill/>
          <a:ln>
            <a:noFill/>
          </a:ln>
        </p:spPr>
      </p:pic>
      <p:pic>
        <p:nvPicPr>
          <p:cNvPr id="69" name="Google Shape;69;p14"/>
          <p:cNvPicPr preferRelativeResize="0"/>
          <p:nvPr/>
        </p:nvPicPr>
        <p:blipFill>
          <a:blip r:embed="rId6">
            <a:alphaModFix/>
          </a:blip>
          <a:stretch>
            <a:fillRect/>
          </a:stretch>
        </p:blipFill>
        <p:spPr>
          <a:xfrm>
            <a:off x="5614675" y="1806979"/>
            <a:ext cx="387800" cy="387807"/>
          </a:xfrm>
          <a:prstGeom prst="rect">
            <a:avLst/>
          </a:prstGeom>
          <a:noFill/>
          <a:ln>
            <a:noFill/>
          </a:ln>
        </p:spPr>
      </p:pic>
      <p:pic>
        <p:nvPicPr>
          <p:cNvPr id="70" name="Google Shape;70;p14"/>
          <p:cNvPicPr preferRelativeResize="0"/>
          <p:nvPr/>
        </p:nvPicPr>
        <p:blipFill>
          <a:blip r:embed="rId7">
            <a:alphaModFix/>
          </a:blip>
          <a:stretch>
            <a:fillRect/>
          </a:stretch>
        </p:blipFill>
        <p:spPr>
          <a:xfrm>
            <a:off x="771450" y="3874247"/>
            <a:ext cx="387800" cy="387807"/>
          </a:xfrm>
          <a:prstGeom prst="rect">
            <a:avLst/>
          </a:prstGeom>
          <a:noFill/>
          <a:ln>
            <a:noFill/>
          </a:ln>
        </p:spPr>
      </p:pic>
      <p:pic>
        <p:nvPicPr>
          <p:cNvPr id="71" name="Google Shape;71;p14"/>
          <p:cNvPicPr preferRelativeResize="0"/>
          <p:nvPr/>
        </p:nvPicPr>
        <p:blipFill>
          <a:blip r:embed="rId8">
            <a:alphaModFix/>
          </a:blip>
          <a:stretch>
            <a:fillRect/>
          </a:stretch>
        </p:blipFill>
        <p:spPr>
          <a:xfrm>
            <a:off x="5614675" y="3859661"/>
            <a:ext cx="387800" cy="387800"/>
          </a:xfrm>
          <a:prstGeom prst="rect">
            <a:avLst/>
          </a:prstGeom>
          <a:noFill/>
          <a:ln>
            <a:noFill/>
          </a:ln>
        </p:spPr>
      </p:pic>
      <p:pic>
        <p:nvPicPr>
          <p:cNvPr id="72" name="Google Shape;72;p14"/>
          <p:cNvPicPr preferRelativeResize="0"/>
          <p:nvPr/>
        </p:nvPicPr>
        <p:blipFill>
          <a:blip r:embed="rId9">
            <a:alphaModFix/>
          </a:blip>
          <a:stretch>
            <a:fillRect/>
          </a:stretch>
        </p:blipFill>
        <p:spPr>
          <a:xfrm>
            <a:off x="5919475" y="2897124"/>
            <a:ext cx="387800" cy="387800"/>
          </a:xfrm>
          <a:prstGeom prst="rect">
            <a:avLst/>
          </a:prstGeom>
          <a:noFill/>
          <a:ln>
            <a:noFill/>
          </a:ln>
        </p:spPr>
      </p:pic>
      <p:sp>
        <p:nvSpPr>
          <p:cNvPr id="73" name="Google Shape;73;p14"/>
          <p:cNvSpPr txBox="1"/>
          <p:nvPr>
            <p:ph type="title"/>
          </p:nvPr>
        </p:nvSpPr>
        <p:spPr>
          <a:xfrm>
            <a:off x="1219325" y="1666075"/>
            <a:ext cx="2090100" cy="669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520">
                <a:latin typeface="Lexend"/>
                <a:ea typeface="Lexend"/>
                <a:cs typeface="Lexend"/>
                <a:sym typeface="Lexend"/>
              </a:rPr>
              <a:t>800m2 di Azienda</a:t>
            </a:r>
            <a:endParaRPr sz="1520">
              <a:latin typeface="Lexend"/>
              <a:ea typeface="Lexend"/>
              <a:cs typeface="Lexend"/>
              <a:sym typeface="Lexend"/>
            </a:endParaRPr>
          </a:p>
          <a:p>
            <a:pPr indent="0" lvl="0" marL="0" rtl="0" algn="l">
              <a:lnSpc>
                <a:spcPct val="115000"/>
              </a:lnSpc>
              <a:spcBef>
                <a:spcPts val="0"/>
              </a:spcBef>
              <a:spcAft>
                <a:spcPts val="0"/>
              </a:spcAft>
              <a:buSzPts val="990"/>
              <a:buNone/>
            </a:pPr>
            <a:r>
              <a:rPr lang="it" sz="1520">
                <a:latin typeface="Lexend"/>
                <a:ea typeface="Lexend"/>
                <a:cs typeface="Lexend"/>
                <a:sym typeface="Lexend"/>
              </a:rPr>
              <a:t>Uffici + Magazzino</a:t>
            </a:r>
            <a:endParaRPr sz="1520">
              <a:latin typeface="Lexend"/>
              <a:ea typeface="Lexend"/>
              <a:cs typeface="Lexend"/>
              <a:sym typeface="Lexend"/>
            </a:endParaRPr>
          </a:p>
        </p:txBody>
      </p:sp>
      <p:sp>
        <p:nvSpPr>
          <p:cNvPr id="74" name="Google Shape;74;p14"/>
          <p:cNvSpPr txBox="1"/>
          <p:nvPr>
            <p:ph type="title"/>
          </p:nvPr>
        </p:nvSpPr>
        <p:spPr>
          <a:xfrm>
            <a:off x="912075" y="2758338"/>
            <a:ext cx="2310000" cy="715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520">
                <a:latin typeface="Lexend"/>
                <a:ea typeface="Lexend"/>
                <a:cs typeface="Lexend"/>
                <a:sym typeface="Lexend"/>
              </a:rPr>
              <a:t>Squadre di installatori interni ed esterni</a:t>
            </a:r>
            <a:endParaRPr sz="1520">
              <a:latin typeface="Lexend"/>
              <a:ea typeface="Lexend"/>
              <a:cs typeface="Lexend"/>
              <a:sym typeface="Lexend"/>
            </a:endParaRPr>
          </a:p>
        </p:txBody>
      </p:sp>
      <p:sp>
        <p:nvSpPr>
          <p:cNvPr id="75" name="Google Shape;75;p14"/>
          <p:cNvSpPr txBox="1"/>
          <p:nvPr>
            <p:ph type="title"/>
          </p:nvPr>
        </p:nvSpPr>
        <p:spPr>
          <a:xfrm>
            <a:off x="6367350" y="2733275"/>
            <a:ext cx="2310000" cy="715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520">
                <a:latin typeface="Lexend"/>
                <a:ea typeface="Lexend"/>
                <a:cs typeface="Lexend"/>
                <a:sym typeface="Lexend"/>
              </a:rPr>
              <a:t>Assistenza dedicata Full-Remote o in loco</a:t>
            </a:r>
            <a:endParaRPr sz="1520">
              <a:latin typeface="Lexend"/>
              <a:ea typeface="Lexend"/>
              <a:cs typeface="Lexend"/>
              <a:sym typeface="Lexend"/>
            </a:endParaRPr>
          </a:p>
        </p:txBody>
      </p:sp>
      <p:sp>
        <p:nvSpPr>
          <p:cNvPr id="76" name="Google Shape;76;p14"/>
          <p:cNvSpPr txBox="1"/>
          <p:nvPr>
            <p:ph type="title"/>
          </p:nvPr>
        </p:nvSpPr>
        <p:spPr>
          <a:xfrm>
            <a:off x="1219325" y="3733350"/>
            <a:ext cx="2310000" cy="669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520">
                <a:latin typeface="Lexend"/>
                <a:ea typeface="Lexend"/>
                <a:cs typeface="Lexend"/>
                <a:sym typeface="Lexend"/>
              </a:rPr>
              <a:t>Acc. di distribuzione </a:t>
            </a:r>
            <a:endParaRPr sz="1520">
              <a:latin typeface="Lexend"/>
              <a:ea typeface="Lexend"/>
              <a:cs typeface="Lexend"/>
              <a:sym typeface="Lexend"/>
            </a:endParaRPr>
          </a:p>
          <a:p>
            <a:pPr indent="0" lvl="0" marL="0" rtl="0" algn="l">
              <a:lnSpc>
                <a:spcPct val="115000"/>
              </a:lnSpc>
              <a:spcBef>
                <a:spcPts val="0"/>
              </a:spcBef>
              <a:spcAft>
                <a:spcPts val="0"/>
              </a:spcAft>
              <a:buSzPts val="990"/>
              <a:buNone/>
            </a:pPr>
            <a:r>
              <a:rPr lang="it" sz="1520">
                <a:latin typeface="Lexend"/>
                <a:ea typeface="Lexend"/>
                <a:cs typeface="Lexend"/>
                <a:sym typeface="Lexend"/>
              </a:rPr>
              <a:t>e Assistenza con OEM</a:t>
            </a:r>
            <a:endParaRPr sz="1520">
              <a:latin typeface="Lexend"/>
              <a:ea typeface="Lexend"/>
              <a:cs typeface="Lexend"/>
              <a:sym typeface="Lexend"/>
            </a:endParaRPr>
          </a:p>
        </p:txBody>
      </p:sp>
      <p:sp>
        <p:nvSpPr>
          <p:cNvPr id="77" name="Google Shape;77;p14"/>
          <p:cNvSpPr txBox="1"/>
          <p:nvPr>
            <p:ph type="title"/>
          </p:nvPr>
        </p:nvSpPr>
        <p:spPr>
          <a:xfrm>
            <a:off x="6116450" y="1666075"/>
            <a:ext cx="2170200" cy="669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520">
                <a:latin typeface="Lexend"/>
                <a:ea typeface="Lexend"/>
                <a:cs typeface="Lexend"/>
                <a:sym typeface="Lexend"/>
              </a:rPr>
              <a:t>500m2 di Magazzino Pronta Consegna</a:t>
            </a:r>
            <a:endParaRPr sz="1520">
              <a:latin typeface="Lexend"/>
              <a:ea typeface="Lexend"/>
              <a:cs typeface="Lexend"/>
              <a:sym typeface="Lexend"/>
            </a:endParaRPr>
          </a:p>
        </p:txBody>
      </p:sp>
      <p:sp>
        <p:nvSpPr>
          <p:cNvPr id="78" name="Google Shape;78;p14"/>
          <p:cNvSpPr txBox="1"/>
          <p:nvPr>
            <p:ph type="title"/>
          </p:nvPr>
        </p:nvSpPr>
        <p:spPr>
          <a:xfrm>
            <a:off x="6098202" y="3695800"/>
            <a:ext cx="2444100" cy="715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520">
                <a:latin typeface="Lexend"/>
                <a:ea typeface="Lexend"/>
                <a:cs typeface="Lexend"/>
                <a:sym typeface="Lexend"/>
              </a:rPr>
              <a:t>Servizi in IT con focus Lombardia e Piemonte</a:t>
            </a:r>
            <a:endParaRPr sz="1520">
              <a:latin typeface="Lexend"/>
              <a:ea typeface="Lexend"/>
              <a:cs typeface="Lexend"/>
              <a:sym typeface="Lexend"/>
            </a:endParaRPr>
          </a:p>
        </p:txBody>
      </p:sp>
      <p:pic>
        <p:nvPicPr>
          <p:cNvPr id="79" name="Google Shape;79;p14"/>
          <p:cNvPicPr preferRelativeResize="0"/>
          <p:nvPr/>
        </p:nvPicPr>
        <p:blipFill rotWithShape="1">
          <a:blip r:embed="rId10">
            <a:alphaModFix/>
          </a:blip>
          <a:srcRect b="0" l="0" r="0" t="0"/>
          <a:stretch/>
        </p:blipFill>
        <p:spPr>
          <a:xfrm>
            <a:off x="0" y="5"/>
            <a:ext cx="9144003" cy="598289"/>
          </a:xfrm>
          <a:prstGeom prst="rect">
            <a:avLst/>
          </a:prstGeom>
          <a:noFill/>
          <a:ln>
            <a:noFill/>
          </a:ln>
        </p:spPr>
      </p:pic>
      <p:sp>
        <p:nvSpPr>
          <p:cNvPr id="80" name="Google Shape;80;p1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Chi Siamo</a:t>
            </a:r>
            <a:r>
              <a:rPr lang="it" sz="700">
                <a:latin typeface="Lexend"/>
                <a:ea typeface="Lexend"/>
                <a:cs typeface="Lexend"/>
                <a:sym typeface="Lexend"/>
              </a:rPr>
              <a:t> | 01</a:t>
            </a:r>
            <a:endParaRPr sz="700">
              <a:latin typeface="Lexend"/>
              <a:ea typeface="Lexend"/>
              <a:cs typeface="Lexend"/>
              <a:sym typeface="Lexend"/>
            </a:endParaRPr>
          </a:p>
        </p:txBody>
      </p:sp>
      <p:sp>
        <p:nvSpPr>
          <p:cNvPr id="81" name="Google Shape;81;p1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p:nvPr/>
        </p:nvSpPr>
        <p:spPr>
          <a:xfrm>
            <a:off x="639150" y="2521900"/>
            <a:ext cx="2584500" cy="206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5"/>
          <p:cNvSpPr/>
          <p:nvPr/>
        </p:nvSpPr>
        <p:spPr>
          <a:xfrm>
            <a:off x="3371704" y="2521900"/>
            <a:ext cx="2449800" cy="206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5"/>
          <p:cNvSpPr txBox="1"/>
          <p:nvPr>
            <p:ph type="title"/>
          </p:nvPr>
        </p:nvSpPr>
        <p:spPr>
          <a:xfrm>
            <a:off x="227175" y="7555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200">
                <a:latin typeface="Lexend"/>
                <a:ea typeface="Lexend"/>
                <a:cs typeface="Lexend"/>
                <a:sym typeface="Lexend"/>
              </a:rPr>
              <a:t>Il fotovoltaico in Italia:</a:t>
            </a:r>
            <a:r>
              <a:rPr lang="it" sz="2200">
                <a:latin typeface="Lexend"/>
                <a:ea typeface="Lexend"/>
                <a:cs typeface="Lexend"/>
                <a:sym typeface="Lexend"/>
              </a:rPr>
              <a:t> Incentivi, Norme e Obiettivi IT/UE</a:t>
            </a:r>
            <a:endParaRPr b="1" sz="2200">
              <a:latin typeface="Lexend"/>
              <a:ea typeface="Lexend"/>
              <a:cs typeface="Lexend"/>
              <a:sym typeface="Lexend"/>
            </a:endParaRPr>
          </a:p>
        </p:txBody>
      </p:sp>
      <p:sp>
        <p:nvSpPr>
          <p:cNvPr id="89" name="Google Shape;89;p1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txBox="1"/>
          <p:nvPr>
            <p:ph idx="1" type="body"/>
          </p:nvPr>
        </p:nvSpPr>
        <p:spPr>
          <a:xfrm>
            <a:off x="639150" y="1288024"/>
            <a:ext cx="7865700" cy="717900"/>
          </a:xfrm>
          <a:prstGeom prst="rect">
            <a:avLst/>
          </a:prstGeom>
        </p:spPr>
        <p:txBody>
          <a:bodyPr anchorCtr="0" anchor="t" bIns="91425" lIns="91425" spcFirstLastPara="1" rIns="91425" wrap="square" tIns="91425">
            <a:noAutofit/>
          </a:bodyPr>
          <a:lstStyle/>
          <a:p>
            <a:pPr indent="0" lvl="0" marL="0" rtl="0" algn="ctr">
              <a:spcBef>
                <a:spcPts val="1200"/>
              </a:spcBef>
              <a:spcAft>
                <a:spcPts val="1200"/>
              </a:spcAft>
              <a:buNone/>
            </a:pPr>
            <a:r>
              <a:rPr lang="it" sz="1300">
                <a:solidFill>
                  <a:schemeClr val="dk1"/>
                </a:solidFill>
                <a:latin typeface="Lexend"/>
                <a:ea typeface="Lexend"/>
                <a:cs typeface="Lexend"/>
                <a:sym typeface="Lexend"/>
              </a:rPr>
              <a:t>Il fotovoltaico è centrale nella transizione energetica in Italia e Europa, contribuendo al raggiungimento dell'obiettivo UE di ridurre le emissioni di CO2 del 55% entro il 2030 grazie all'espansione delle energie rinnovabili.</a:t>
            </a:r>
            <a:endParaRPr sz="1300">
              <a:solidFill>
                <a:schemeClr val="dk1"/>
              </a:solidFill>
              <a:latin typeface="Lexend"/>
              <a:ea typeface="Lexend"/>
              <a:cs typeface="Lexend"/>
              <a:sym typeface="Lexend"/>
            </a:endParaRPr>
          </a:p>
        </p:txBody>
      </p:sp>
      <p:sp>
        <p:nvSpPr>
          <p:cNvPr id="91" name="Google Shape;91;p15"/>
          <p:cNvSpPr txBox="1"/>
          <p:nvPr>
            <p:ph idx="1" type="body"/>
          </p:nvPr>
        </p:nvSpPr>
        <p:spPr>
          <a:xfrm>
            <a:off x="639225" y="2833100"/>
            <a:ext cx="2584500" cy="1683300"/>
          </a:xfrm>
          <a:prstGeom prst="rect">
            <a:avLst/>
          </a:prstGeom>
        </p:spPr>
        <p:txBody>
          <a:bodyPr anchorCtr="0" anchor="t" bIns="91425" lIns="91425" spcFirstLastPara="1" rIns="91425" wrap="square" tIns="91425">
            <a:noAutofit/>
          </a:bodyPr>
          <a:lstStyle/>
          <a:p>
            <a:pPr indent="0" lvl="0" marL="0" rtl="0" algn="ctr">
              <a:spcBef>
                <a:spcPts val="1200"/>
              </a:spcBef>
              <a:spcAft>
                <a:spcPts val="0"/>
              </a:spcAft>
              <a:buNone/>
            </a:pPr>
            <a:r>
              <a:rPr b="1" lang="it" sz="1200">
                <a:solidFill>
                  <a:schemeClr val="dk1"/>
                </a:solidFill>
                <a:latin typeface="Lexend"/>
                <a:ea typeface="Lexend"/>
                <a:cs typeface="Lexend"/>
                <a:sym typeface="Lexend"/>
              </a:rPr>
              <a:t>NUOVE COSTRUZIONI</a:t>
            </a:r>
            <a:endParaRPr sz="700">
              <a:solidFill>
                <a:schemeClr val="dk1"/>
              </a:solidFill>
              <a:latin typeface="Lexend"/>
              <a:ea typeface="Lexend"/>
              <a:cs typeface="Lexend"/>
              <a:sym typeface="Lexend"/>
            </a:endParaRPr>
          </a:p>
          <a:p>
            <a:pPr indent="0" lvl="0" marL="0" rtl="0" algn="ctr">
              <a:spcBef>
                <a:spcPts val="1200"/>
              </a:spcBef>
              <a:spcAft>
                <a:spcPts val="1200"/>
              </a:spcAft>
              <a:buClr>
                <a:schemeClr val="dk1"/>
              </a:buClr>
              <a:buSzPts val="1100"/>
              <a:buFont typeface="Arial"/>
              <a:buNone/>
            </a:pPr>
            <a:r>
              <a:rPr lang="it" sz="950">
                <a:solidFill>
                  <a:schemeClr val="dk1"/>
                </a:solidFill>
                <a:latin typeface="Lexend"/>
                <a:ea typeface="Lexend"/>
                <a:cs typeface="Lexend"/>
                <a:sym typeface="Lexend"/>
              </a:rPr>
              <a:t>Dal 1° gennaio 2021, tutte le nuove costruzioni devono rispettare i criteri NZEB, che richiedono edifici a consumo energetico quasi nullo. Questo implica l'uso di fonti rinnovabili, come il fotovoltaico, per coprire gran parte del fabbisogno energetico.</a:t>
            </a:r>
            <a:endParaRPr sz="950">
              <a:solidFill>
                <a:schemeClr val="dk1"/>
              </a:solidFill>
              <a:latin typeface="Lexend"/>
              <a:ea typeface="Lexend"/>
              <a:cs typeface="Lexend"/>
              <a:sym typeface="Lexend"/>
            </a:endParaRPr>
          </a:p>
        </p:txBody>
      </p:sp>
      <p:sp>
        <p:nvSpPr>
          <p:cNvPr id="92" name="Google Shape;92;p15"/>
          <p:cNvSpPr txBox="1"/>
          <p:nvPr>
            <p:ph idx="1" type="body"/>
          </p:nvPr>
        </p:nvSpPr>
        <p:spPr>
          <a:xfrm>
            <a:off x="3371750" y="2833050"/>
            <a:ext cx="2449800" cy="1683300"/>
          </a:xfrm>
          <a:prstGeom prst="rect">
            <a:avLst/>
          </a:prstGeom>
        </p:spPr>
        <p:txBody>
          <a:bodyPr anchorCtr="0" anchor="t" bIns="91425" lIns="91425" spcFirstLastPara="1" rIns="91425" wrap="square" tIns="91425">
            <a:noAutofit/>
          </a:bodyPr>
          <a:lstStyle/>
          <a:p>
            <a:pPr indent="0" lvl="0" marL="0" rtl="0" algn="ctr">
              <a:spcBef>
                <a:spcPts val="1200"/>
              </a:spcBef>
              <a:spcAft>
                <a:spcPts val="0"/>
              </a:spcAft>
              <a:buNone/>
            </a:pPr>
            <a:r>
              <a:rPr b="1" lang="it" sz="1200">
                <a:solidFill>
                  <a:schemeClr val="dk1"/>
                </a:solidFill>
                <a:latin typeface="Lexend"/>
                <a:ea typeface="Lexend"/>
                <a:cs typeface="Lexend"/>
                <a:sym typeface="Lexend"/>
              </a:rPr>
              <a:t>RIQUALIFICAZIONE</a:t>
            </a:r>
            <a:endParaRPr b="1" sz="1200">
              <a:solidFill>
                <a:schemeClr val="dk1"/>
              </a:solidFill>
              <a:latin typeface="Lexend"/>
              <a:ea typeface="Lexend"/>
              <a:cs typeface="Lexend"/>
              <a:sym typeface="Lexend"/>
            </a:endParaRPr>
          </a:p>
          <a:p>
            <a:pPr indent="0" lvl="0" marL="0" rtl="0" algn="ctr">
              <a:spcBef>
                <a:spcPts val="1200"/>
              </a:spcBef>
              <a:spcAft>
                <a:spcPts val="0"/>
              </a:spcAft>
              <a:buClr>
                <a:schemeClr val="dk1"/>
              </a:buClr>
              <a:buSzPts val="1100"/>
              <a:buFont typeface="Arial"/>
              <a:buNone/>
            </a:pPr>
            <a:r>
              <a:rPr lang="it" sz="950">
                <a:solidFill>
                  <a:schemeClr val="dk1"/>
                </a:solidFill>
                <a:latin typeface="Lexend"/>
                <a:ea typeface="Lexend"/>
                <a:cs typeface="Lexend"/>
                <a:sym typeface="Lexend"/>
              </a:rPr>
              <a:t>Il criterio EPBD impone un miglioramento progressivo della classe energetica degli edifici, con scadenze fissate per il 2030 e il 2050, mirate a ridurre significativamente il consumo energetico in Europa.</a:t>
            </a:r>
            <a:endParaRPr sz="950">
              <a:solidFill>
                <a:schemeClr val="dk1"/>
              </a:solidFill>
              <a:latin typeface="Lexend"/>
              <a:ea typeface="Lexend"/>
              <a:cs typeface="Lexend"/>
              <a:sym typeface="Lexend"/>
            </a:endParaRPr>
          </a:p>
          <a:p>
            <a:pPr indent="0" lvl="0" marL="0" rtl="0" algn="ctr">
              <a:spcBef>
                <a:spcPts val="1200"/>
              </a:spcBef>
              <a:spcAft>
                <a:spcPts val="1200"/>
              </a:spcAft>
              <a:buClr>
                <a:schemeClr val="dk1"/>
              </a:buClr>
              <a:buSzPts val="1100"/>
              <a:buFont typeface="Arial"/>
              <a:buNone/>
            </a:pPr>
            <a:r>
              <a:t/>
            </a:r>
            <a:endParaRPr sz="800">
              <a:solidFill>
                <a:schemeClr val="dk1"/>
              </a:solidFill>
              <a:latin typeface="Lexend"/>
              <a:ea typeface="Lexend"/>
              <a:cs typeface="Lexend"/>
              <a:sym typeface="Lexend"/>
            </a:endParaRPr>
          </a:p>
        </p:txBody>
      </p:sp>
      <p:sp>
        <p:nvSpPr>
          <p:cNvPr id="93" name="Google Shape;93;p15"/>
          <p:cNvSpPr/>
          <p:nvPr/>
        </p:nvSpPr>
        <p:spPr>
          <a:xfrm>
            <a:off x="5969496" y="2521900"/>
            <a:ext cx="2535300" cy="206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4" name="Google Shape;94;p15"/>
          <p:cNvGrpSpPr/>
          <p:nvPr/>
        </p:nvGrpSpPr>
        <p:grpSpPr>
          <a:xfrm>
            <a:off x="6895475" y="2385525"/>
            <a:ext cx="597796" cy="360800"/>
            <a:chOff x="5427725" y="2210950"/>
            <a:chExt cx="597796" cy="360800"/>
          </a:xfrm>
        </p:grpSpPr>
        <p:pic>
          <p:nvPicPr>
            <p:cNvPr id="95" name="Google Shape;95;p15"/>
            <p:cNvPicPr preferRelativeResize="0"/>
            <p:nvPr/>
          </p:nvPicPr>
          <p:blipFill>
            <a:blip r:embed="rId3">
              <a:alphaModFix/>
            </a:blip>
            <a:stretch>
              <a:fillRect/>
            </a:stretch>
          </p:blipFill>
          <p:spPr>
            <a:xfrm>
              <a:off x="5427725" y="2250650"/>
              <a:ext cx="281400" cy="281400"/>
            </a:xfrm>
            <a:prstGeom prst="rect">
              <a:avLst/>
            </a:prstGeom>
            <a:noFill/>
            <a:ln>
              <a:noFill/>
            </a:ln>
          </p:spPr>
        </p:pic>
        <p:pic>
          <p:nvPicPr>
            <p:cNvPr id="96" name="Google Shape;96;p15"/>
            <p:cNvPicPr preferRelativeResize="0"/>
            <p:nvPr/>
          </p:nvPicPr>
          <p:blipFill>
            <a:blip r:embed="rId4">
              <a:alphaModFix/>
            </a:blip>
            <a:stretch>
              <a:fillRect/>
            </a:stretch>
          </p:blipFill>
          <p:spPr>
            <a:xfrm>
              <a:off x="5664721" y="2210950"/>
              <a:ext cx="360800" cy="360800"/>
            </a:xfrm>
            <a:prstGeom prst="rect">
              <a:avLst/>
            </a:prstGeom>
            <a:noFill/>
            <a:ln>
              <a:noFill/>
            </a:ln>
          </p:spPr>
        </p:pic>
      </p:grpSp>
      <p:grpSp>
        <p:nvGrpSpPr>
          <p:cNvPr id="97" name="Google Shape;97;p15"/>
          <p:cNvGrpSpPr/>
          <p:nvPr/>
        </p:nvGrpSpPr>
        <p:grpSpPr>
          <a:xfrm>
            <a:off x="4313363" y="2400850"/>
            <a:ext cx="566484" cy="321100"/>
            <a:chOff x="3521825" y="2226275"/>
            <a:chExt cx="566484" cy="321100"/>
          </a:xfrm>
        </p:grpSpPr>
        <p:pic>
          <p:nvPicPr>
            <p:cNvPr id="98" name="Google Shape;98;p15"/>
            <p:cNvPicPr preferRelativeResize="0"/>
            <p:nvPr/>
          </p:nvPicPr>
          <p:blipFill>
            <a:blip r:embed="rId5">
              <a:alphaModFix/>
            </a:blip>
            <a:stretch>
              <a:fillRect/>
            </a:stretch>
          </p:blipFill>
          <p:spPr>
            <a:xfrm>
              <a:off x="3521825" y="2246125"/>
              <a:ext cx="281400" cy="281400"/>
            </a:xfrm>
            <a:prstGeom prst="rect">
              <a:avLst/>
            </a:prstGeom>
            <a:noFill/>
            <a:ln>
              <a:noFill/>
            </a:ln>
          </p:spPr>
        </p:pic>
        <p:pic>
          <p:nvPicPr>
            <p:cNvPr id="99" name="Google Shape;99;p15"/>
            <p:cNvPicPr preferRelativeResize="0"/>
            <p:nvPr/>
          </p:nvPicPr>
          <p:blipFill>
            <a:blip r:embed="rId6">
              <a:alphaModFix/>
            </a:blip>
            <a:stretch>
              <a:fillRect/>
            </a:stretch>
          </p:blipFill>
          <p:spPr>
            <a:xfrm>
              <a:off x="3767231" y="2226275"/>
              <a:ext cx="321078" cy="321100"/>
            </a:xfrm>
            <a:prstGeom prst="rect">
              <a:avLst/>
            </a:prstGeom>
            <a:noFill/>
            <a:ln>
              <a:noFill/>
            </a:ln>
          </p:spPr>
        </p:pic>
      </p:grpSp>
      <p:grpSp>
        <p:nvGrpSpPr>
          <p:cNvPr id="100" name="Google Shape;100;p15"/>
          <p:cNvGrpSpPr/>
          <p:nvPr/>
        </p:nvGrpSpPr>
        <p:grpSpPr>
          <a:xfrm>
            <a:off x="1715575" y="2400850"/>
            <a:ext cx="566484" cy="321100"/>
            <a:chOff x="3521825" y="2226275"/>
            <a:chExt cx="566484" cy="321100"/>
          </a:xfrm>
        </p:grpSpPr>
        <p:pic>
          <p:nvPicPr>
            <p:cNvPr id="101" name="Google Shape;101;p15"/>
            <p:cNvPicPr preferRelativeResize="0"/>
            <p:nvPr/>
          </p:nvPicPr>
          <p:blipFill>
            <a:blip r:embed="rId5">
              <a:alphaModFix/>
            </a:blip>
            <a:stretch>
              <a:fillRect/>
            </a:stretch>
          </p:blipFill>
          <p:spPr>
            <a:xfrm>
              <a:off x="3521825" y="2246125"/>
              <a:ext cx="281400" cy="281400"/>
            </a:xfrm>
            <a:prstGeom prst="rect">
              <a:avLst/>
            </a:prstGeom>
            <a:noFill/>
            <a:ln>
              <a:noFill/>
            </a:ln>
          </p:spPr>
        </p:pic>
        <p:pic>
          <p:nvPicPr>
            <p:cNvPr id="102" name="Google Shape;102;p15"/>
            <p:cNvPicPr preferRelativeResize="0"/>
            <p:nvPr/>
          </p:nvPicPr>
          <p:blipFill>
            <a:blip r:embed="rId6">
              <a:alphaModFix/>
            </a:blip>
            <a:stretch>
              <a:fillRect/>
            </a:stretch>
          </p:blipFill>
          <p:spPr>
            <a:xfrm>
              <a:off x="3767231" y="2226275"/>
              <a:ext cx="321078" cy="321100"/>
            </a:xfrm>
            <a:prstGeom prst="rect">
              <a:avLst/>
            </a:prstGeom>
            <a:noFill/>
            <a:ln>
              <a:noFill/>
            </a:ln>
          </p:spPr>
        </p:pic>
      </p:grpSp>
      <p:sp>
        <p:nvSpPr>
          <p:cNvPr id="103" name="Google Shape;103;p15"/>
          <p:cNvSpPr txBox="1"/>
          <p:nvPr>
            <p:ph idx="1" type="body"/>
          </p:nvPr>
        </p:nvSpPr>
        <p:spPr>
          <a:xfrm>
            <a:off x="5969488" y="2833050"/>
            <a:ext cx="2535300" cy="1683300"/>
          </a:xfrm>
          <a:prstGeom prst="rect">
            <a:avLst/>
          </a:prstGeom>
        </p:spPr>
        <p:txBody>
          <a:bodyPr anchorCtr="0" anchor="t" bIns="91425" lIns="91425" spcFirstLastPara="1" rIns="91425" wrap="square" tIns="91425">
            <a:noAutofit/>
          </a:bodyPr>
          <a:lstStyle/>
          <a:p>
            <a:pPr indent="0" lvl="0" marL="0" rtl="0" algn="ctr">
              <a:spcBef>
                <a:spcPts val="1200"/>
              </a:spcBef>
              <a:spcAft>
                <a:spcPts val="0"/>
              </a:spcAft>
              <a:buNone/>
            </a:pPr>
            <a:r>
              <a:rPr b="1" lang="it" sz="1200">
                <a:solidFill>
                  <a:schemeClr val="dk1"/>
                </a:solidFill>
                <a:latin typeface="Lexend"/>
                <a:ea typeface="Lexend"/>
                <a:cs typeface="Lexend"/>
                <a:sym typeface="Lexend"/>
              </a:rPr>
              <a:t>OBIETTIVI ITALIA</a:t>
            </a:r>
            <a:endParaRPr b="1" sz="1200">
              <a:solidFill>
                <a:schemeClr val="dk1"/>
              </a:solidFill>
              <a:latin typeface="Lexend"/>
              <a:ea typeface="Lexend"/>
              <a:cs typeface="Lexend"/>
              <a:sym typeface="Lexend"/>
            </a:endParaRPr>
          </a:p>
          <a:p>
            <a:pPr indent="0" lvl="0" marL="0" rtl="0" algn="ctr">
              <a:spcBef>
                <a:spcPts val="1200"/>
              </a:spcBef>
              <a:spcAft>
                <a:spcPts val="1200"/>
              </a:spcAft>
              <a:buNone/>
            </a:pPr>
            <a:r>
              <a:rPr lang="it" sz="950">
                <a:solidFill>
                  <a:schemeClr val="dk1"/>
                </a:solidFill>
                <a:latin typeface="Lexend"/>
                <a:ea typeface="Lexend"/>
                <a:cs typeface="Lexend"/>
                <a:sym typeface="Lexend"/>
              </a:rPr>
              <a:t>Il PNIEC punta sull'obbligo di adeguamento energetico degli edifici e sul fotovoltaico come elemento chiave per ridurre i costi e rispettare le normative ambientali, con un ruolo centrale nel mix energetico nazionale.</a:t>
            </a:r>
            <a:endParaRPr sz="950">
              <a:solidFill>
                <a:schemeClr val="dk1"/>
              </a:solidFill>
              <a:latin typeface="Lexend"/>
              <a:ea typeface="Lexend"/>
              <a:cs typeface="Lexend"/>
              <a:sym typeface="Lexend"/>
            </a:endParaRPr>
          </a:p>
        </p:txBody>
      </p:sp>
      <p:sp>
        <p:nvSpPr>
          <p:cNvPr id="104" name="Google Shape;104;p15"/>
          <p:cNvSpPr/>
          <p:nvPr/>
        </p:nvSpPr>
        <p:spPr>
          <a:xfrm>
            <a:off x="639150" y="4586875"/>
            <a:ext cx="2584500" cy="2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5"/>
          <p:cNvSpPr/>
          <p:nvPr/>
        </p:nvSpPr>
        <p:spPr>
          <a:xfrm>
            <a:off x="3371750" y="4586875"/>
            <a:ext cx="2449800" cy="2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5"/>
          <p:cNvSpPr/>
          <p:nvPr/>
        </p:nvSpPr>
        <p:spPr>
          <a:xfrm>
            <a:off x="5969650" y="4586875"/>
            <a:ext cx="2535300" cy="23400"/>
          </a:xfrm>
          <a:prstGeom prst="rect">
            <a:avLst/>
          </a:prstGeom>
          <a:solidFill>
            <a:srgbClr val="86BD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7" name="Google Shape;107;p15"/>
          <p:cNvPicPr preferRelativeResize="0"/>
          <p:nvPr/>
        </p:nvPicPr>
        <p:blipFill rotWithShape="1">
          <a:blip r:embed="rId7">
            <a:alphaModFix/>
          </a:blip>
          <a:srcRect b="0" l="0" r="0" t="0"/>
          <a:stretch/>
        </p:blipFill>
        <p:spPr>
          <a:xfrm>
            <a:off x="0" y="5"/>
            <a:ext cx="9144003" cy="598289"/>
          </a:xfrm>
          <a:prstGeom prst="rect">
            <a:avLst/>
          </a:prstGeom>
          <a:noFill/>
          <a:ln>
            <a:noFill/>
          </a:ln>
        </p:spPr>
      </p:pic>
      <p:sp>
        <p:nvSpPr>
          <p:cNvPr id="108" name="Google Shape;108;p1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Incentivi, Norme e Obiettivi</a:t>
            </a:r>
            <a:r>
              <a:rPr lang="it" sz="700">
                <a:latin typeface="Lexend"/>
                <a:ea typeface="Lexend"/>
                <a:cs typeface="Lexend"/>
                <a:sym typeface="Lexend"/>
              </a:rPr>
              <a:t> | 02</a:t>
            </a:r>
            <a:endParaRPr sz="700">
              <a:latin typeface="Lexend"/>
              <a:ea typeface="Lexend"/>
              <a:cs typeface="Lexend"/>
              <a:sym typeface="Lexend"/>
            </a:endParaRPr>
          </a:p>
        </p:txBody>
      </p:sp>
      <p:sp>
        <p:nvSpPr>
          <p:cNvPr id="109" name="Google Shape;109;p1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200">
                <a:latin typeface="Lexend"/>
                <a:ea typeface="Lexend"/>
                <a:cs typeface="Lexend"/>
                <a:sym typeface="Lexend"/>
              </a:rPr>
              <a:t>Il mercato</a:t>
            </a:r>
            <a:r>
              <a:rPr lang="it" sz="2200">
                <a:latin typeface="Lexend"/>
                <a:ea typeface="Lexend"/>
                <a:cs typeface="Lexend"/>
                <a:sym typeface="Lexend"/>
              </a:rPr>
              <a:t> come sta rispondendo?</a:t>
            </a:r>
            <a:endParaRPr sz="2200">
              <a:latin typeface="Lexend"/>
              <a:ea typeface="Lexend"/>
              <a:cs typeface="Lexend"/>
              <a:sym typeface="Lexend"/>
            </a:endParaRPr>
          </a:p>
        </p:txBody>
      </p:sp>
      <p:sp>
        <p:nvSpPr>
          <p:cNvPr id="115" name="Google Shape;115;p1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6" name="Google Shape;116;p16"/>
          <p:cNvPicPr preferRelativeResize="0"/>
          <p:nvPr/>
        </p:nvPicPr>
        <p:blipFill>
          <a:blip r:embed="rId3">
            <a:alphaModFix/>
          </a:blip>
          <a:stretch>
            <a:fillRect/>
          </a:stretch>
        </p:blipFill>
        <p:spPr>
          <a:xfrm>
            <a:off x="791575" y="1198775"/>
            <a:ext cx="7596349" cy="3575625"/>
          </a:xfrm>
          <a:prstGeom prst="rect">
            <a:avLst/>
          </a:prstGeom>
          <a:noFill/>
          <a:ln>
            <a:noFill/>
          </a:ln>
        </p:spPr>
      </p:pic>
      <p:pic>
        <p:nvPicPr>
          <p:cNvPr id="117" name="Google Shape;117;p16"/>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18" name="Google Shape;118;p1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03</a:t>
            </a:r>
            <a:endParaRPr sz="700">
              <a:latin typeface="Lexend"/>
              <a:ea typeface="Lexend"/>
              <a:cs typeface="Lexend"/>
              <a:sym typeface="Lexend"/>
            </a:endParaRPr>
          </a:p>
        </p:txBody>
      </p:sp>
      <p:sp>
        <p:nvSpPr>
          <p:cNvPr id="119" name="Google Shape;119;p1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2220">
                <a:latin typeface="Lexend"/>
                <a:ea typeface="Lexend"/>
                <a:cs typeface="Lexend"/>
                <a:sym typeface="Lexend"/>
              </a:rPr>
              <a:t>Il mercato</a:t>
            </a:r>
            <a:r>
              <a:rPr lang="it" sz="2220">
                <a:latin typeface="Lexend"/>
                <a:ea typeface="Lexend"/>
                <a:cs typeface="Lexend"/>
                <a:sym typeface="Lexend"/>
              </a:rPr>
              <a:t> come sta rispondendo?</a:t>
            </a:r>
            <a:endParaRPr sz="2220">
              <a:latin typeface="Lexend"/>
              <a:ea typeface="Lexend"/>
              <a:cs typeface="Lexend"/>
              <a:sym typeface="Lexend"/>
            </a:endParaRPr>
          </a:p>
          <a:p>
            <a:pPr indent="0" lvl="0" marL="0" rtl="0" algn="l">
              <a:lnSpc>
                <a:spcPct val="115000"/>
              </a:lnSpc>
              <a:spcBef>
                <a:spcPts val="0"/>
              </a:spcBef>
              <a:spcAft>
                <a:spcPts val="0"/>
              </a:spcAft>
              <a:buSzPts val="990"/>
              <a:buNone/>
            </a:pPr>
            <a:r>
              <a:t/>
            </a:r>
            <a:endParaRPr sz="1620">
              <a:latin typeface="Lexend"/>
              <a:ea typeface="Lexend"/>
              <a:cs typeface="Lexend"/>
              <a:sym typeface="Lexend"/>
            </a:endParaRPr>
          </a:p>
        </p:txBody>
      </p:sp>
      <p:sp>
        <p:nvSpPr>
          <p:cNvPr id="125" name="Google Shape;125;p1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6" name="Google Shape;126;p17"/>
          <p:cNvPicPr preferRelativeResize="0"/>
          <p:nvPr/>
        </p:nvPicPr>
        <p:blipFill rotWithShape="1">
          <a:blip r:embed="rId3">
            <a:alphaModFix/>
          </a:blip>
          <a:srcRect b="24704" l="1239" r="1229" t="0"/>
          <a:stretch/>
        </p:blipFill>
        <p:spPr>
          <a:xfrm>
            <a:off x="1807588" y="1283975"/>
            <a:ext cx="5359775" cy="3074150"/>
          </a:xfrm>
          <a:prstGeom prst="rect">
            <a:avLst/>
          </a:prstGeom>
          <a:noFill/>
          <a:ln>
            <a:noFill/>
          </a:ln>
        </p:spPr>
      </p:pic>
      <p:sp>
        <p:nvSpPr>
          <p:cNvPr id="127" name="Google Shape;127;p17"/>
          <p:cNvSpPr txBox="1"/>
          <p:nvPr>
            <p:ph type="title"/>
          </p:nvPr>
        </p:nvSpPr>
        <p:spPr>
          <a:xfrm rot="-3599321">
            <a:off x="140184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Lombardia</a:t>
            </a:r>
            <a:endParaRPr b="1" sz="700">
              <a:latin typeface="Lexend"/>
              <a:ea typeface="Lexend"/>
              <a:cs typeface="Lexend"/>
              <a:sym typeface="Lexend"/>
            </a:endParaRPr>
          </a:p>
        </p:txBody>
      </p:sp>
      <p:sp>
        <p:nvSpPr>
          <p:cNvPr id="128" name="Google Shape;128;p17"/>
          <p:cNvSpPr txBox="1"/>
          <p:nvPr>
            <p:ph type="title"/>
          </p:nvPr>
        </p:nvSpPr>
        <p:spPr>
          <a:xfrm rot="-3599321">
            <a:off x="16514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Veneto</a:t>
            </a:r>
            <a:endParaRPr b="1" sz="700">
              <a:latin typeface="Lexend"/>
              <a:ea typeface="Lexend"/>
              <a:cs typeface="Lexend"/>
              <a:sym typeface="Lexend"/>
            </a:endParaRPr>
          </a:p>
        </p:txBody>
      </p:sp>
      <p:sp>
        <p:nvSpPr>
          <p:cNvPr id="129" name="Google Shape;129;p17"/>
          <p:cNvSpPr txBox="1"/>
          <p:nvPr>
            <p:ph type="title"/>
          </p:nvPr>
        </p:nvSpPr>
        <p:spPr>
          <a:xfrm rot="-3599321">
            <a:off x="19045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E. Romagna</a:t>
            </a:r>
            <a:endParaRPr b="1" sz="700">
              <a:latin typeface="Lexend"/>
              <a:ea typeface="Lexend"/>
              <a:cs typeface="Lexend"/>
              <a:sym typeface="Lexend"/>
            </a:endParaRPr>
          </a:p>
        </p:txBody>
      </p:sp>
      <p:sp>
        <p:nvSpPr>
          <p:cNvPr id="130" name="Google Shape;130;p17"/>
          <p:cNvSpPr txBox="1"/>
          <p:nvPr>
            <p:ph type="title"/>
          </p:nvPr>
        </p:nvSpPr>
        <p:spPr>
          <a:xfrm rot="-3599321">
            <a:off x="21602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Piemonte</a:t>
            </a:r>
            <a:endParaRPr b="1" sz="700">
              <a:latin typeface="Lexend"/>
              <a:ea typeface="Lexend"/>
              <a:cs typeface="Lexend"/>
              <a:sym typeface="Lexend"/>
            </a:endParaRPr>
          </a:p>
        </p:txBody>
      </p:sp>
      <p:sp>
        <p:nvSpPr>
          <p:cNvPr id="131" name="Google Shape;131;p17"/>
          <p:cNvSpPr txBox="1"/>
          <p:nvPr>
            <p:ph type="title"/>
          </p:nvPr>
        </p:nvSpPr>
        <p:spPr>
          <a:xfrm rot="-3599321">
            <a:off x="24097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Lazio</a:t>
            </a:r>
            <a:endParaRPr b="1" sz="700">
              <a:latin typeface="Lexend"/>
              <a:ea typeface="Lexend"/>
              <a:cs typeface="Lexend"/>
              <a:sym typeface="Lexend"/>
            </a:endParaRPr>
          </a:p>
        </p:txBody>
      </p:sp>
      <p:sp>
        <p:nvSpPr>
          <p:cNvPr id="132" name="Google Shape;132;p17"/>
          <p:cNvSpPr txBox="1"/>
          <p:nvPr>
            <p:ph type="title"/>
          </p:nvPr>
        </p:nvSpPr>
        <p:spPr>
          <a:xfrm rot="-3599321">
            <a:off x="265324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Sicilia</a:t>
            </a:r>
            <a:endParaRPr b="1" sz="700">
              <a:latin typeface="Lexend"/>
              <a:ea typeface="Lexend"/>
              <a:cs typeface="Lexend"/>
              <a:sym typeface="Lexend"/>
            </a:endParaRPr>
          </a:p>
        </p:txBody>
      </p:sp>
      <p:sp>
        <p:nvSpPr>
          <p:cNvPr id="133" name="Google Shape;133;p17"/>
          <p:cNvSpPr txBox="1"/>
          <p:nvPr>
            <p:ph type="title"/>
          </p:nvPr>
        </p:nvSpPr>
        <p:spPr>
          <a:xfrm rot="-3599321">
            <a:off x="291859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Puglia</a:t>
            </a:r>
            <a:endParaRPr b="1" sz="700">
              <a:latin typeface="Lexend"/>
              <a:ea typeface="Lexend"/>
              <a:cs typeface="Lexend"/>
              <a:sym typeface="Lexend"/>
            </a:endParaRPr>
          </a:p>
        </p:txBody>
      </p:sp>
      <p:sp>
        <p:nvSpPr>
          <p:cNvPr id="134" name="Google Shape;134;p17"/>
          <p:cNvSpPr txBox="1"/>
          <p:nvPr>
            <p:ph type="title"/>
          </p:nvPr>
        </p:nvSpPr>
        <p:spPr>
          <a:xfrm rot="-3599321">
            <a:off x="31681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Toscana</a:t>
            </a:r>
            <a:endParaRPr b="1" sz="700">
              <a:latin typeface="Lexend"/>
              <a:ea typeface="Lexend"/>
              <a:cs typeface="Lexend"/>
              <a:sym typeface="Lexend"/>
            </a:endParaRPr>
          </a:p>
        </p:txBody>
      </p:sp>
      <p:sp>
        <p:nvSpPr>
          <p:cNvPr id="135" name="Google Shape;135;p17"/>
          <p:cNvSpPr txBox="1"/>
          <p:nvPr>
            <p:ph type="title"/>
          </p:nvPr>
        </p:nvSpPr>
        <p:spPr>
          <a:xfrm rot="-3599321">
            <a:off x="341769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Campania</a:t>
            </a:r>
            <a:endParaRPr sz="700">
              <a:latin typeface="Lexend"/>
              <a:ea typeface="Lexend"/>
              <a:cs typeface="Lexend"/>
              <a:sym typeface="Lexend"/>
            </a:endParaRPr>
          </a:p>
        </p:txBody>
      </p:sp>
      <p:sp>
        <p:nvSpPr>
          <p:cNvPr id="136" name="Google Shape;136;p17"/>
          <p:cNvSpPr txBox="1"/>
          <p:nvPr>
            <p:ph type="title"/>
          </p:nvPr>
        </p:nvSpPr>
        <p:spPr>
          <a:xfrm rot="-3599321">
            <a:off x="36769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Friuli V. G.</a:t>
            </a:r>
            <a:endParaRPr sz="700">
              <a:latin typeface="Lexend"/>
              <a:ea typeface="Lexend"/>
              <a:cs typeface="Lexend"/>
              <a:sym typeface="Lexend"/>
            </a:endParaRPr>
          </a:p>
        </p:txBody>
      </p:sp>
      <p:sp>
        <p:nvSpPr>
          <p:cNvPr id="137" name="Google Shape;137;p17"/>
          <p:cNvSpPr txBox="1"/>
          <p:nvPr>
            <p:ph type="title"/>
          </p:nvPr>
        </p:nvSpPr>
        <p:spPr>
          <a:xfrm rot="-3599321">
            <a:off x="39264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Sardegna</a:t>
            </a:r>
            <a:endParaRPr sz="700">
              <a:latin typeface="Lexend"/>
              <a:ea typeface="Lexend"/>
              <a:cs typeface="Lexend"/>
              <a:sym typeface="Lexend"/>
            </a:endParaRPr>
          </a:p>
        </p:txBody>
      </p:sp>
      <p:sp>
        <p:nvSpPr>
          <p:cNvPr id="138" name="Google Shape;138;p17"/>
          <p:cNvSpPr txBox="1"/>
          <p:nvPr>
            <p:ph type="title"/>
          </p:nvPr>
        </p:nvSpPr>
        <p:spPr>
          <a:xfrm rot="-3599321">
            <a:off x="418214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Marche</a:t>
            </a:r>
            <a:endParaRPr sz="700">
              <a:latin typeface="Lexend"/>
              <a:ea typeface="Lexend"/>
              <a:cs typeface="Lexend"/>
              <a:sym typeface="Lexend"/>
            </a:endParaRPr>
          </a:p>
        </p:txBody>
      </p:sp>
      <p:sp>
        <p:nvSpPr>
          <p:cNvPr id="139" name="Google Shape;139;p17"/>
          <p:cNvSpPr txBox="1"/>
          <p:nvPr>
            <p:ph type="title"/>
          </p:nvPr>
        </p:nvSpPr>
        <p:spPr>
          <a:xfrm rot="-3599321">
            <a:off x="443534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Calabria</a:t>
            </a:r>
            <a:endParaRPr sz="700">
              <a:latin typeface="Lexend"/>
              <a:ea typeface="Lexend"/>
              <a:cs typeface="Lexend"/>
              <a:sym typeface="Lexend"/>
            </a:endParaRPr>
          </a:p>
        </p:txBody>
      </p:sp>
      <p:sp>
        <p:nvSpPr>
          <p:cNvPr id="140" name="Google Shape;140;p17"/>
          <p:cNvSpPr txBox="1"/>
          <p:nvPr>
            <p:ph type="title"/>
          </p:nvPr>
        </p:nvSpPr>
        <p:spPr>
          <a:xfrm rot="-3599321">
            <a:off x="46848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Trentino A.A.</a:t>
            </a:r>
            <a:endParaRPr sz="700">
              <a:latin typeface="Lexend"/>
              <a:ea typeface="Lexend"/>
              <a:cs typeface="Lexend"/>
              <a:sym typeface="Lexend"/>
            </a:endParaRPr>
          </a:p>
        </p:txBody>
      </p:sp>
      <p:sp>
        <p:nvSpPr>
          <p:cNvPr id="141" name="Google Shape;141;p17"/>
          <p:cNvSpPr txBox="1"/>
          <p:nvPr>
            <p:ph type="title"/>
          </p:nvPr>
        </p:nvSpPr>
        <p:spPr>
          <a:xfrm rot="-3599321">
            <a:off x="494659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Abruzzo</a:t>
            </a:r>
            <a:endParaRPr sz="700">
              <a:latin typeface="Lexend"/>
              <a:ea typeface="Lexend"/>
              <a:cs typeface="Lexend"/>
              <a:sym typeface="Lexend"/>
            </a:endParaRPr>
          </a:p>
        </p:txBody>
      </p:sp>
      <p:sp>
        <p:nvSpPr>
          <p:cNvPr id="142" name="Google Shape;142;p17"/>
          <p:cNvSpPr txBox="1"/>
          <p:nvPr>
            <p:ph type="title"/>
          </p:nvPr>
        </p:nvSpPr>
        <p:spPr>
          <a:xfrm rot="-3599321">
            <a:off x="51937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Umbria</a:t>
            </a:r>
            <a:endParaRPr sz="700">
              <a:latin typeface="Lexend"/>
              <a:ea typeface="Lexend"/>
              <a:cs typeface="Lexend"/>
              <a:sym typeface="Lexend"/>
            </a:endParaRPr>
          </a:p>
        </p:txBody>
      </p:sp>
      <p:sp>
        <p:nvSpPr>
          <p:cNvPr id="143" name="Google Shape;143;p17"/>
          <p:cNvSpPr txBox="1"/>
          <p:nvPr>
            <p:ph type="title"/>
          </p:nvPr>
        </p:nvSpPr>
        <p:spPr>
          <a:xfrm rot="-3599321">
            <a:off x="54431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Liguria</a:t>
            </a:r>
            <a:endParaRPr sz="700">
              <a:latin typeface="Lexend"/>
              <a:ea typeface="Lexend"/>
              <a:cs typeface="Lexend"/>
              <a:sym typeface="Lexend"/>
            </a:endParaRPr>
          </a:p>
        </p:txBody>
      </p:sp>
      <p:sp>
        <p:nvSpPr>
          <p:cNvPr id="144" name="Google Shape;144;p17"/>
          <p:cNvSpPr txBox="1"/>
          <p:nvPr>
            <p:ph type="title"/>
          </p:nvPr>
        </p:nvSpPr>
        <p:spPr>
          <a:xfrm rot="-3599321">
            <a:off x="56926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Basilicata</a:t>
            </a:r>
            <a:endParaRPr sz="700">
              <a:latin typeface="Lexend"/>
              <a:ea typeface="Lexend"/>
              <a:cs typeface="Lexend"/>
              <a:sym typeface="Lexend"/>
            </a:endParaRPr>
          </a:p>
        </p:txBody>
      </p:sp>
      <p:sp>
        <p:nvSpPr>
          <p:cNvPr id="145" name="Google Shape;145;p17"/>
          <p:cNvSpPr txBox="1"/>
          <p:nvPr>
            <p:ph type="title"/>
          </p:nvPr>
        </p:nvSpPr>
        <p:spPr>
          <a:xfrm rot="-3599321">
            <a:off x="595209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Molise</a:t>
            </a:r>
            <a:endParaRPr sz="700">
              <a:latin typeface="Lexend"/>
              <a:ea typeface="Lexend"/>
              <a:cs typeface="Lexend"/>
              <a:sym typeface="Lexend"/>
            </a:endParaRPr>
          </a:p>
        </p:txBody>
      </p:sp>
      <p:sp>
        <p:nvSpPr>
          <p:cNvPr id="146" name="Google Shape;146;p17"/>
          <p:cNvSpPr txBox="1"/>
          <p:nvPr>
            <p:ph type="title"/>
          </p:nvPr>
        </p:nvSpPr>
        <p:spPr>
          <a:xfrm rot="-3599321">
            <a:off x="62015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Valle D’Aosta</a:t>
            </a:r>
            <a:endParaRPr sz="700">
              <a:latin typeface="Lexend"/>
              <a:ea typeface="Lexend"/>
              <a:cs typeface="Lexend"/>
              <a:sym typeface="Lexend"/>
            </a:endParaRPr>
          </a:p>
        </p:txBody>
      </p:sp>
      <p:pic>
        <p:nvPicPr>
          <p:cNvPr id="147" name="Google Shape;147;p17"/>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48" name="Google Shape;148;p1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04</a:t>
            </a:r>
            <a:endParaRPr sz="700">
              <a:latin typeface="Lexend"/>
              <a:ea typeface="Lexend"/>
              <a:cs typeface="Lexend"/>
              <a:sym typeface="Lexend"/>
            </a:endParaRPr>
          </a:p>
        </p:txBody>
      </p:sp>
      <p:sp>
        <p:nvSpPr>
          <p:cNvPr id="149" name="Google Shape;149;p1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50" name="Google Shape;150;p17"/>
          <p:cNvSpPr/>
          <p:nvPr/>
        </p:nvSpPr>
        <p:spPr>
          <a:xfrm>
            <a:off x="2950100" y="1606475"/>
            <a:ext cx="3114000" cy="164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8"/>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2220">
                <a:latin typeface="Lexend"/>
                <a:ea typeface="Lexend"/>
                <a:cs typeface="Lexend"/>
                <a:sym typeface="Lexend"/>
              </a:rPr>
              <a:t>Il mercato</a:t>
            </a:r>
            <a:r>
              <a:rPr lang="it" sz="2220">
                <a:latin typeface="Lexend"/>
                <a:ea typeface="Lexend"/>
                <a:cs typeface="Lexend"/>
                <a:sym typeface="Lexend"/>
              </a:rPr>
              <a:t> come sta rispondendo?</a:t>
            </a:r>
            <a:endParaRPr sz="2220">
              <a:latin typeface="Lexend"/>
              <a:ea typeface="Lexend"/>
              <a:cs typeface="Lexend"/>
              <a:sym typeface="Lexend"/>
            </a:endParaRPr>
          </a:p>
          <a:p>
            <a:pPr indent="0" lvl="0" marL="0" rtl="0" algn="l">
              <a:lnSpc>
                <a:spcPct val="115000"/>
              </a:lnSpc>
              <a:spcBef>
                <a:spcPts val="0"/>
              </a:spcBef>
              <a:spcAft>
                <a:spcPts val="0"/>
              </a:spcAft>
              <a:buSzPts val="990"/>
              <a:buNone/>
            </a:pPr>
            <a:r>
              <a:t/>
            </a:r>
            <a:endParaRPr sz="1620">
              <a:latin typeface="Lexend"/>
              <a:ea typeface="Lexend"/>
              <a:cs typeface="Lexend"/>
              <a:sym typeface="Lexend"/>
            </a:endParaRPr>
          </a:p>
        </p:txBody>
      </p:sp>
      <p:sp>
        <p:nvSpPr>
          <p:cNvPr id="156" name="Google Shape;156;p1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7" name="Google Shape;157;p18"/>
          <p:cNvPicPr preferRelativeResize="0"/>
          <p:nvPr/>
        </p:nvPicPr>
        <p:blipFill>
          <a:blip r:embed="rId3">
            <a:alphaModFix/>
          </a:blip>
          <a:stretch>
            <a:fillRect/>
          </a:stretch>
        </p:blipFill>
        <p:spPr>
          <a:xfrm>
            <a:off x="1908313" y="1297587"/>
            <a:ext cx="5158323" cy="3637014"/>
          </a:xfrm>
          <a:prstGeom prst="rect">
            <a:avLst/>
          </a:prstGeom>
          <a:noFill/>
          <a:ln>
            <a:noFill/>
          </a:ln>
        </p:spPr>
      </p:pic>
      <p:pic>
        <p:nvPicPr>
          <p:cNvPr id="158" name="Google Shape;158;p18"/>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59" name="Google Shape;159;p1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05</a:t>
            </a:r>
            <a:endParaRPr sz="700">
              <a:latin typeface="Lexend"/>
              <a:ea typeface="Lexend"/>
              <a:cs typeface="Lexend"/>
              <a:sym typeface="Lexend"/>
            </a:endParaRPr>
          </a:p>
        </p:txBody>
      </p:sp>
      <p:sp>
        <p:nvSpPr>
          <p:cNvPr id="160" name="Google Shape;160;p1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E le </a:t>
            </a:r>
            <a:r>
              <a:rPr b="1" lang="it" sz="2200">
                <a:latin typeface="Lexend"/>
                <a:ea typeface="Lexend"/>
                <a:cs typeface="Lexend"/>
                <a:sym typeface="Lexend"/>
              </a:rPr>
              <a:t>proiezioni</a:t>
            </a:r>
            <a:r>
              <a:rPr lang="it" sz="2200">
                <a:latin typeface="Lexend"/>
                <a:ea typeface="Lexend"/>
                <a:cs typeface="Lexend"/>
                <a:sym typeface="Lexend"/>
              </a:rPr>
              <a:t> di mercato?</a:t>
            </a:r>
            <a:endParaRPr sz="2200">
              <a:latin typeface="Lexend"/>
              <a:ea typeface="Lexend"/>
              <a:cs typeface="Lexend"/>
              <a:sym typeface="Lexend"/>
            </a:endParaRPr>
          </a:p>
        </p:txBody>
      </p:sp>
      <p:sp>
        <p:nvSpPr>
          <p:cNvPr id="166" name="Google Shape;166;p1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7" name="Google Shape;167;p19"/>
          <p:cNvPicPr preferRelativeResize="0"/>
          <p:nvPr/>
        </p:nvPicPr>
        <p:blipFill>
          <a:blip r:embed="rId3">
            <a:alphaModFix/>
          </a:blip>
          <a:stretch>
            <a:fillRect/>
          </a:stretch>
        </p:blipFill>
        <p:spPr>
          <a:xfrm>
            <a:off x="1339500" y="1325075"/>
            <a:ext cx="6336701" cy="3465400"/>
          </a:xfrm>
          <a:prstGeom prst="rect">
            <a:avLst/>
          </a:prstGeom>
          <a:noFill/>
          <a:ln>
            <a:noFill/>
          </a:ln>
        </p:spPr>
      </p:pic>
      <p:pic>
        <p:nvPicPr>
          <p:cNvPr id="168" name="Google Shape;168;p19"/>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69" name="Google Shape;169;p1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06</a:t>
            </a:r>
            <a:endParaRPr sz="700">
              <a:latin typeface="Lexend"/>
              <a:ea typeface="Lexend"/>
              <a:cs typeface="Lexend"/>
              <a:sym typeface="Lexend"/>
            </a:endParaRPr>
          </a:p>
        </p:txBody>
      </p:sp>
      <p:sp>
        <p:nvSpPr>
          <p:cNvPr id="170" name="Google Shape;170;p1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311700" y="1933050"/>
            <a:ext cx="8520600" cy="1277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3020">
                <a:latin typeface="Lexend"/>
                <a:ea typeface="Lexend"/>
                <a:cs typeface="Lexend"/>
                <a:sym typeface="Lexend"/>
              </a:rPr>
              <a:t>abbiamo quindi capito che </a:t>
            </a:r>
            <a:endParaRPr sz="3020">
              <a:latin typeface="Lexend"/>
              <a:ea typeface="Lexend"/>
              <a:cs typeface="Lexend"/>
              <a:sym typeface="Lexend"/>
            </a:endParaRPr>
          </a:p>
          <a:p>
            <a:pPr indent="0" lvl="0" marL="0" rtl="0" algn="ctr">
              <a:lnSpc>
                <a:spcPct val="115000"/>
              </a:lnSpc>
              <a:spcBef>
                <a:spcPts val="0"/>
              </a:spcBef>
              <a:spcAft>
                <a:spcPts val="0"/>
              </a:spcAft>
              <a:buSzPts val="990"/>
              <a:buNone/>
            </a:pPr>
            <a:r>
              <a:rPr lang="it" sz="3020">
                <a:latin typeface="Lexend"/>
                <a:ea typeface="Lexend"/>
                <a:cs typeface="Lexend"/>
                <a:sym typeface="Lexend"/>
              </a:rPr>
              <a:t>il </a:t>
            </a:r>
            <a:r>
              <a:rPr b="1" lang="it" sz="3020">
                <a:solidFill>
                  <a:srgbClr val="274E13"/>
                </a:solidFill>
                <a:highlight>
                  <a:srgbClr val="D9EAD3"/>
                </a:highlight>
                <a:latin typeface="Lexend"/>
                <a:ea typeface="Lexend"/>
                <a:cs typeface="Lexend"/>
                <a:sym typeface="Lexend"/>
              </a:rPr>
              <a:t>trend di mercato è a nostro favore.</a:t>
            </a:r>
            <a:endParaRPr b="1" sz="3020">
              <a:solidFill>
                <a:srgbClr val="274E13"/>
              </a:solidFill>
              <a:highlight>
                <a:srgbClr val="D9EAD3"/>
              </a:highlight>
              <a:latin typeface="Lexend"/>
              <a:ea typeface="Lexend"/>
              <a:cs typeface="Lexend"/>
              <a:sym typeface="Lexend"/>
            </a:endParaRPr>
          </a:p>
        </p:txBody>
      </p:sp>
      <p:sp>
        <p:nvSpPr>
          <p:cNvPr id="176" name="Google Shape;176;p2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7" name="Google Shape;177;p2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78" name="Google Shape;178;p2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07</a:t>
            </a:r>
            <a:endParaRPr sz="700">
              <a:latin typeface="Lexend"/>
              <a:ea typeface="Lexend"/>
              <a:cs typeface="Lexend"/>
              <a:sym typeface="Lexend"/>
            </a:endParaRPr>
          </a:p>
        </p:txBody>
      </p:sp>
      <p:sp>
        <p:nvSpPr>
          <p:cNvPr id="179" name="Google Shape;179;p2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311700" y="1362175"/>
            <a:ext cx="8520600" cy="2528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it" sz="3356">
                <a:latin typeface="Lexend"/>
                <a:ea typeface="Lexend"/>
                <a:cs typeface="Lexend"/>
                <a:sym typeface="Lexend"/>
              </a:rPr>
              <a:t>e che le </a:t>
            </a:r>
            <a:r>
              <a:rPr b="1" lang="it" sz="3356">
                <a:latin typeface="Lexend"/>
                <a:ea typeface="Lexend"/>
                <a:cs typeface="Lexend"/>
                <a:sym typeface="Lexend"/>
              </a:rPr>
              <a:t>persone</a:t>
            </a:r>
            <a:r>
              <a:rPr lang="it" sz="3356">
                <a:latin typeface="Lexend"/>
                <a:ea typeface="Lexend"/>
                <a:cs typeface="Lexend"/>
                <a:sym typeface="Lexend"/>
              </a:rPr>
              <a:t> sono anche </a:t>
            </a:r>
            <a:endParaRPr sz="3356">
              <a:latin typeface="Lexend"/>
              <a:ea typeface="Lexend"/>
              <a:cs typeface="Lexend"/>
              <a:sym typeface="Lexend"/>
            </a:endParaRPr>
          </a:p>
          <a:p>
            <a:pPr indent="0" lvl="0" marL="0" rtl="0" algn="ctr">
              <a:lnSpc>
                <a:spcPct val="115000"/>
              </a:lnSpc>
              <a:spcBef>
                <a:spcPts val="0"/>
              </a:spcBef>
              <a:spcAft>
                <a:spcPts val="0"/>
              </a:spcAft>
              <a:buNone/>
            </a:pPr>
            <a:r>
              <a:rPr b="1" lang="it" sz="3356">
                <a:solidFill>
                  <a:srgbClr val="274E13"/>
                </a:solidFill>
                <a:highlight>
                  <a:srgbClr val="D9EAD3"/>
                </a:highlight>
                <a:latin typeface="Lexend"/>
                <a:ea typeface="Lexend"/>
                <a:cs typeface="Lexend"/>
                <a:sym typeface="Lexend"/>
              </a:rPr>
              <a:t>più coscienti</a:t>
            </a:r>
            <a:r>
              <a:rPr b="1" lang="it" sz="3356">
                <a:latin typeface="Lexend"/>
                <a:ea typeface="Lexend"/>
                <a:cs typeface="Lexend"/>
                <a:sym typeface="Lexend"/>
              </a:rPr>
              <a:t> di cos’è il fotovoltaico.</a:t>
            </a:r>
            <a:endParaRPr b="1" sz="3356">
              <a:latin typeface="Lexend"/>
              <a:ea typeface="Lexend"/>
              <a:cs typeface="Lexend"/>
              <a:sym typeface="Lexend"/>
            </a:endParaRPr>
          </a:p>
          <a:p>
            <a:pPr indent="0" lvl="0" marL="0" rtl="0" algn="ctr">
              <a:lnSpc>
                <a:spcPct val="115000"/>
              </a:lnSpc>
              <a:spcBef>
                <a:spcPts val="0"/>
              </a:spcBef>
              <a:spcAft>
                <a:spcPts val="0"/>
              </a:spcAft>
              <a:buNone/>
            </a:pPr>
            <a:r>
              <a:t/>
            </a:r>
            <a:endParaRPr sz="1800">
              <a:latin typeface="Lexend"/>
              <a:ea typeface="Lexend"/>
              <a:cs typeface="Lexend"/>
              <a:sym typeface="Lexend"/>
            </a:endParaRPr>
          </a:p>
          <a:p>
            <a:pPr indent="0" lvl="0" marL="0" rtl="0" algn="ctr">
              <a:lnSpc>
                <a:spcPct val="115000"/>
              </a:lnSpc>
              <a:spcBef>
                <a:spcPts val="0"/>
              </a:spcBef>
              <a:spcAft>
                <a:spcPts val="0"/>
              </a:spcAft>
              <a:buNone/>
            </a:pPr>
            <a:r>
              <a:rPr lang="it" sz="2467">
                <a:latin typeface="Lexend"/>
                <a:ea typeface="Lexend"/>
                <a:cs typeface="Lexend"/>
                <a:sym typeface="Lexend"/>
              </a:rPr>
              <a:t>… come Tecnologia</a:t>
            </a:r>
            <a:endParaRPr sz="2467">
              <a:latin typeface="Lexend"/>
              <a:ea typeface="Lexend"/>
              <a:cs typeface="Lexend"/>
              <a:sym typeface="Lexend"/>
            </a:endParaRPr>
          </a:p>
          <a:p>
            <a:pPr indent="0" lvl="0" marL="0" rtl="0" algn="ctr">
              <a:lnSpc>
                <a:spcPct val="115000"/>
              </a:lnSpc>
              <a:spcBef>
                <a:spcPts val="0"/>
              </a:spcBef>
              <a:spcAft>
                <a:spcPts val="0"/>
              </a:spcAft>
              <a:buNone/>
            </a:pPr>
            <a:r>
              <a:t/>
            </a:r>
            <a:endParaRPr sz="1800">
              <a:latin typeface="Lexend"/>
              <a:ea typeface="Lexend"/>
              <a:cs typeface="Lexend"/>
              <a:sym typeface="Lexend"/>
            </a:endParaRPr>
          </a:p>
          <a:p>
            <a:pPr indent="0" lvl="0" marL="0" rtl="0" algn="ctr">
              <a:lnSpc>
                <a:spcPct val="115000"/>
              </a:lnSpc>
              <a:spcBef>
                <a:spcPts val="0"/>
              </a:spcBef>
              <a:spcAft>
                <a:spcPts val="0"/>
              </a:spcAft>
              <a:buNone/>
            </a:pPr>
            <a:r>
              <a:rPr lang="it" sz="2444">
                <a:latin typeface="Lexend"/>
                <a:ea typeface="Lexend"/>
                <a:cs typeface="Lexend"/>
                <a:sym typeface="Lexend"/>
              </a:rPr>
              <a:t>… e benefici (diretti e indiretti).</a:t>
            </a:r>
            <a:endParaRPr sz="2444">
              <a:latin typeface="Lexend"/>
              <a:ea typeface="Lexend"/>
              <a:cs typeface="Lexend"/>
              <a:sym typeface="Lexend"/>
            </a:endParaRPr>
          </a:p>
        </p:txBody>
      </p:sp>
      <p:sp>
        <p:nvSpPr>
          <p:cNvPr id="185" name="Google Shape;185;p2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6" name="Google Shape;186;p2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87" name="Google Shape;187;p2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08</a:t>
            </a:r>
            <a:endParaRPr sz="700">
              <a:latin typeface="Lexend"/>
              <a:ea typeface="Lexend"/>
              <a:cs typeface="Lexend"/>
              <a:sym typeface="Lexend"/>
            </a:endParaRPr>
          </a:p>
        </p:txBody>
      </p:sp>
      <p:sp>
        <p:nvSpPr>
          <p:cNvPr id="188" name="Google Shape;188;p2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2"/>
          <p:cNvSpPr txBox="1"/>
          <p:nvPr>
            <p:ph type="title"/>
          </p:nvPr>
        </p:nvSpPr>
        <p:spPr>
          <a:xfrm>
            <a:off x="311700" y="1989900"/>
            <a:ext cx="8520600" cy="1163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3020">
                <a:latin typeface="Lexend"/>
                <a:ea typeface="Lexend"/>
                <a:cs typeface="Lexend"/>
                <a:sym typeface="Lexend"/>
              </a:rPr>
              <a:t>è SOLO una questione di quanto noi </a:t>
            </a:r>
            <a:endParaRPr sz="3020">
              <a:latin typeface="Lexend"/>
              <a:ea typeface="Lexend"/>
              <a:cs typeface="Lexend"/>
              <a:sym typeface="Lexend"/>
            </a:endParaRPr>
          </a:p>
          <a:p>
            <a:pPr indent="0" lvl="0" marL="0" rtl="0" algn="ctr">
              <a:lnSpc>
                <a:spcPct val="115000"/>
              </a:lnSpc>
              <a:spcBef>
                <a:spcPts val="0"/>
              </a:spcBef>
              <a:spcAft>
                <a:spcPts val="0"/>
              </a:spcAft>
              <a:buSzPts val="990"/>
              <a:buNone/>
            </a:pPr>
            <a:r>
              <a:rPr b="1" lang="it" sz="3020">
                <a:solidFill>
                  <a:srgbClr val="274E13"/>
                </a:solidFill>
                <a:highlight>
                  <a:srgbClr val="D9EAD3"/>
                </a:highlight>
                <a:latin typeface="Lexend"/>
                <a:ea typeface="Lexend"/>
                <a:cs typeface="Lexend"/>
                <a:sym typeface="Lexend"/>
              </a:rPr>
              <a:t>vogliamo sfruttare tutto ciò!</a:t>
            </a:r>
            <a:endParaRPr b="1" sz="3020">
              <a:solidFill>
                <a:srgbClr val="274E13"/>
              </a:solidFill>
              <a:highlight>
                <a:srgbClr val="D9EAD3"/>
              </a:highlight>
              <a:latin typeface="Lexend"/>
              <a:ea typeface="Lexend"/>
              <a:cs typeface="Lexend"/>
              <a:sym typeface="Lexend"/>
            </a:endParaRPr>
          </a:p>
        </p:txBody>
      </p:sp>
      <p:pic>
        <p:nvPicPr>
          <p:cNvPr id="195" name="Google Shape;195;p2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96" name="Google Shape;196;p2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 </a:t>
            </a:r>
            <a:r>
              <a:rPr lang="it" sz="700">
                <a:latin typeface="Lexend"/>
                <a:ea typeface="Lexend"/>
                <a:cs typeface="Lexend"/>
                <a:sym typeface="Lexend"/>
              </a:rPr>
              <a:t>| 09</a:t>
            </a:r>
            <a:endParaRPr sz="700">
              <a:latin typeface="Lexend"/>
              <a:ea typeface="Lexend"/>
              <a:cs typeface="Lexend"/>
              <a:sym typeface="Lexend"/>
            </a:endParaRPr>
          </a:p>
        </p:txBody>
      </p:sp>
      <p:sp>
        <p:nvSpPr>
          <p:cNvPr id="197" name="Google Shape;197;p2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3"/>
          <p:cNvPicPr preferRelativeResize="0"/>
          <p:nvPr/>
        </p:nvPicPr>
        <p:blipFill>
          <a:blip r:embed="rId3">
            <a:alphaModFix/>
          </a:blip>
          <a:stretch>
            <a:fillRect/>
          </a:stretch>
        </p:blipFill>
        <p:spPr>
          <a:xfrm>
            <a:off x="895438" y="2395750"/>
            <a:ext cx="1061075" cy="1061075"/>
          </a:xfrm>
          <a:prstGeom prst="rect">
            <a:avLst/>
          </a:prstGeom>
          <a:noFill/>
          <a:ln>
            <a:noFill/>
          </a:ln>
        </p:spPr>
      </p:pic>
      <p:sp>
        <p:nvSpPr>
          <p:cNvPr id="203" name="Google Shape;203;p2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3"/>
          <p:cNvSpPr txBox="1"/>
          <p:nvPr>
            <p:ph type="title"/>
          </p:nvPr>
        </p:nvSpPr>
        <p:spPr>
          <a:xfrm>
            <a:off x="2198475" y="1987900"/>
            <a:ext cx="6354900" cy="2587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2200">
                <a:latin typeface="Lexend"/>
                <a:ea typeface="Lexend"/>
                <a:cs typeface="Lexend"/>
                <a:sym typeface="Lexend"/>
              </a:rPr>
              <a:t>Riduzione delle Bollette Energetiche</a:t>
            </a:r>
            <a:endParaRPr b="1" sz="2200">
              <a:latin typeface="Lexend"/>
              <a:ea typeface="Lexend"/>
              <a:cs typeface="Lexend"/>
              <a:sym typeface="Lexend"/>
            </a:endParaRPr>
          </a:p>
          <a:p>
            <a:pPr indent="0" lvl="0" marL="0" rtl="0" algn="l">
              <a:lnSpc>
                <a:spcPct val="115000"/>
              </a:lnSpc>
              <a:spcBef>
                <a:spcPts val="0"/>
              </a:spcBef>
              <a:spcAft>
                <a:spcPts val="0"/>
              </a:spcAft>
              <a:buNone/>
            </a:pPr>
            <a:r>
              <a:t/>
            </a:r>
            <a:endParaRPr b="1" sz="1000">
              <a:latin typeface="Lexend"/>
              <a:ea typeface="Lexend"/>
              <a:cs typeface="Lexend"/>
              <a:sym typeface="Lexend"/>
            </a:endParaRPr>
          </a:p>
          <a:p>
            <a:pPr indent="0" lvl="0" marL="0" rtl="0" algn="l">
              <a:lnSpc>
                <a:spcPct val="115000"/>
              </a:lnSpc>
              <a:spcBef>
                <a:spcPts val="0"/>
              </a:spcBef>
              <a:spcAft>
                <a:spcPts val="0"/>
              </a:spcAft>
              <a:buNone/>
            </a:pPr>
            <a:r>
              <a:rPr lang="it" sz="1811">
                <a:latin typeface="Lexend"/>
                <a:ea typeface="Lexend"/>
                <a:cs typeface="Lexend"/>
                <a:sym typeface="Lexend"/>
              </a:rPr>
              <a:t>Nel 2026, </a:t>
            </a:r>
            <a:r>
              <a:rPr b="1" lang="it" sz="1811">
                <a:solidFill>
                  <a:srgbClr val="274E13"/>
                </a:solidFill>
                <a:highlight>
                  <a:srgbClr val="D9EAD3"/>
                </a:highlight>
                <a:latin typeface="Lexend"/>
                <a:ea typeface="Lexend"/>
                <a:cs typeface="Lexend"/>
                <a:sym typeface="Lexend"/>
              </a:rPr>
              <a:t>un impianto </a:t>
            </a:r>
            <a:r>
              <a:rPr b="1" lang="it" sz="1811">
                <a:solidFill>
                  <a:srgbClr val="274E13"/>
                </a:solidFill>
                <a:highlight>
                  <a:srgbClr val="D9EAD3"/>
                </a:highlight>
                <a:latin typeface="Lexend"/>
                <a:ea typeface="Lexend"/>
                <a:cs typeface="Lexend"/>
                <a:sym typeface="Lexend"/>
              </a:rPr>
              <a:t>fotovoltaico</a:t>
            </a:r>
            <a:r>
              <a:rPr b="1" lang="it" sz="1811">
                <a:solidFill>
                  <a:srgbClr val="274E13"/>
                </a:solidFill>
                <a:highlight>
                  <a:srgbClr val="D9EAD3"/>
                </a:highlight>
                <a:latin typeface="Lexend"/>
                <a:ea typeface="Lexend"/>
                <a:cs typeface="Lexend"/>
                <a:sym typeface="Lexend"/>
              </a:rPr>
              <a:t> è l’unico modo per azzerare il costo energetico di una famiglia</a:t>
            </a:r>
            <a:r>
              <a:rPr lang="it" sz="1811">
                <a:latin typeface="Lexend"/>
                <a:ea typeface="Lexend"/>
                <a:cs typeface="Lexend"/>
                <a:sym typeface="Lexend"/>
              </a:rPr>
              <a:t>, riducendo la bolletta a “ZERO” e quindi la dipendenza dalle utility, offrendo en</a:t>
            </a:r>
            <a:r>
              <a:rPr lang="it" sz="1811">
                <a:latin typeface="Lexend"/>
                <a:ea typeface="Lexend"/>
                <a:cs typeface="Lexend"/>
                <a:sym typeface="Lexend"/>
              </a:rPr>
              <a:t>ergia</a:t>
            </a:r>
            <a:r>
              <a:rPr lang="it" sz="1811">
                <a:latin typeface="Lexend"/>
                <a:ea typeface="Lexend"/>
                <a:cs typeface="Lexend"/>
                <a:sym typeface="Lexend"/>
              </a:rPr>
              <a:t> gratuita e protezione dalle var</a:t>
            </a:r>
            <a:r>
              <a:rPr lang="it" sz="1811">
                <a:latin typeface="Lexend"/>
                <a:ea typeface="Lexend"/>
                <a:cs typeface="Lexend"/>
                <a:sym typeface="Lexend"/>
              </a:rPr>
              <a:t>iazioni</a:t>
            </a:r>
            <a:r>
              <a:rPr lang="it" sz="1811">
                <a:latin typeface="Lexend"/>
                <a:ea typeface="Lexend"/>
                <a:cs typeface="Lexend"/>
                <a:sym typeface="Lexend"/>
              </a:rPr>
              <a:t> di prezzo del mercato.</a:t>
            </a:r>
            <a:endParaRPr sz="1811">
              <a:latin typeface="Lexend"/>
              <a:ea typeface="Lexend"/>
              <a:cs typeface="Lexend"/>
              <a:sym typeface="Lexend"/>
            </a:endParaRPr>
          </a:p>
        </p:txBody>
      </p:sp>
      <p:pic>
        <p:nvPicPr>
          <p:cNvPr id="205" name="Google Shape;205;p23"/>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206" name="Google Shape;206;p2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10</a:t>
            </a:r>
            <a:endParaRPr sz="700">
              <a:latin typeface="Lexend"/>
              <a:ea typeface="Lexend"/>
              <a:cs typeface="Lexend"/>
              <a:sym typeface="Lexend"/>
            </a:endParaRPr>
          </a:p>
        </p:txBody>
      </p:sp>
      <p:sp>
        <p:nvSpPr>
          <p:cNvPr id="207" name="Google Shape;207;p23"/>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 nel dettaglio </a:t>
            </a:r>
            <a:r>
              <a:rPr b="1" lang="it" sz="2200">
                <a:latin typeface="Lexend"/>
                <a:ea typeface="Lexend"/>
                <a:cs typeface="Lexend"/>
                <a:sym typeface="Lexend"/>
              </a:rPr>
              <a:t>alcuni vantaggi</a:t>
            </a:r>
            <a:r>
              <a:rPr lang="it" sz="2200">
                <a:latin typeface="Lexend"/>
                <a:ea typeface="Lexend"/>
                <a:cs typeface="Lexend"/>
                <a:sym typeface="Lexend"/>
              </a:rPr>
              <a:t> del Fotovoltaico:</a:t>
            </a:r>
            <a:endParaRPr b="1" sz="2200">
              <a:latin typeface="Lexend"/>
              <a:ea typeface="Lexend"/>
              <a:cs typeface="Lexend"/>
              <a:sym typeface="Lexend"/>
            </a:endParaRPr>
          </a:p>
        </p:txBody>
      </p:sp>
      <p:sp>
        <p:nvSpPr>
          <p:cNvPr id="208" name="Google Shape;208;p2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4" name="Google Shape;214;p24"/>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215" name="Google Shape;215;p2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 | 11</a:t>
            </a:r>
            <a:endParaRPr sz="700">
              <a:latin typeface="Lexend"/>
              <a:ea typeface="Lexend"/>
              <a:cs typeface="Lexend"/>
              <a:sym typeface="Lexend"/>
            </a:endParaRPr>
          </a:p>
        </p:txBody>
      </p:sp>
      <p:sp>
        <p:nvSpPr>
          <p:cNvPr id="216" name="Google Shape;216;p24"/>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 nel dettaglio </a:t>
            </a:r>
            <a:r>
              <a:rPr b="1" lang="it" sz="2200">
                <a:latin typeface="Lexend"/>
                <a:ea typeface="Lexend"/>
                <a:cs typeface="Lexend"/>
                <a:sym typeface="Lexend"/>
              </a:rPr>
              <a:t>alcuni vantaggi</a:t>
            </a:r>
            <a:r>
              <a:rPr lang="it" sz="2200">
                <a:latin typeface="Lexend"/>
                <a:ea typeface="Lexend"/>
                <a:cs typeface="Lexend"/>
                <a:sym typeface="Lexend"/>
              </a:rPr>
              <a:t> del Fotovoltaico:</a:t>
            </a:r>
            <a:endParaRPr b="1" sz="2200">
              <a:latin typeface="Lexend"/>
              <a:ea typeface="Lexend"/>
              <a:cs typeface="Lexend"/>
              <a:sym typeface="Lexend"/>
            </a:endParaRPr>
          </a:p>
        </p:txBody>
      </p:sp>
      <p:sp>
        <p:nvSpPr>
          <p:cNvPr id="217" name="Google Shape;217;p24"/>
          <p:cNvSpPr txBox="1"/>
          <p:nvPr>
            <p:ph type="title"/>
          </p:nvPr>
        </p:nvSpPr>
        <p:spPr>
          <a:xfrm>
            <a:off x="2198475" y="1987900"/>
            <a:ext cx="6354900" cy="25020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it" sz="2200">
                <a:latin typeface="Lexend"/>
                <a:ea typeface="Lexend"/>
                <a:cs typeface="Lexend"/>
                <a:sym typeface="Lexend"/>
              </a:rPr>
              <a:t>Ritorno sull’Investimento Migliorato</a:t>
            </a:r>
            <a:endParaRPr b="1" sz="2400">
              <a:latin typeface="Lexend"/>
              <a:ea typeface="Lexend"/>
              <a:cs typeface="Lexend"/>
              <a:sym typeface="Lexend"/>
            </a:endParaRPr>
          </a:p>
          <a:p>
            <a:pPr indent="0" lvl="0" marL="0" rtl="0" algn="l">
              <a:lnSpc>
                <a:spcPct val="115000"/>
              </a:lnSpc>
              <a:spcBef>
                <a:spcPts val="0"/>
              </a:spcBef>
              <a:spcAft>
                <a:spcPts val="0"/>
              </a:spcAft>
              <a:buNone/>
            </a:pPr>
            <a:r>
              <a:t/>
            </a:r>
            <a:endParaRPr b="1" sz="1000">
              <a:latin typeface="Lexend"/>
              <a:ea typeface="Lexend"/>
              <a:cs typeface="Lexend"/>
              <a:sym typeface="Lexend"/>
            </a:endParaRPr>
          </a:p>
          <a:p>
            <a:pPr indent="0" lvl="0" marL="0" rtl="0" algn="l">
              <a:lnSpc>
                <a:spcPct val="115000"/>
              </a:lnSpc>
              <a:spcBef>
                <a:spcPts val="0"/>
              </a:spcBef>
              <a:spcAft>
                <a:spcPts val="0"/>
              </a:spcAft>
              <a:buNone/>
            </a:pPr>
            <a:r>
              <a:rPr lang="it" sz="2022">
                <a:latin typeface="Lexend"/>
                <a:ea typeface="Lexend"/>
                <a:cs typeface="Lexend"/>
                <a:sym typeface="Lexend"/>
              </a:rPr>
              <a:t>Un impianto ben dimensionato può coprire fino al 70-80% del fabbisogno energetico di una famiglia media, con un risparmio notevole sul lungo termine.</a:t>
            </a:r>
            <a:endParaRPr sz="2022">
              <a:latin typeface="Lexend"/>
              <a:ea typeface="Lexend"/>
              <a:cs typeface="Lexend"/>
              <a:sym typeface="Lexend"/>
            </a:endParaRPr>
          </a:p>
          <a:p>
            <a:pPr indent="0" lvl="0" marL="0" rtl="0" algn="l">
              <a:lnSpc>
                <a:spcPct val="115000"/>
              </a:lnSpc>
              <a:spcBef>
                <a:spcPts val="0"/>
              </a:spcBef>
              <a:spcAft>
                <a:spcPts val="0"/>
              </a:spcAft>
              <a:buNone/>
            </a:pPr>
            <a:r>
              <a:rPr b="1" lang="it" sz="2022">
                <a:solidFill>
                  <a:srgbClr val="274E13"/>
                </a:solidFill>
                <a:highlight>
                  <a:srgbClr val="D9EAD3"/>
                </a:highlight>
                <a:latin typeface="Lexend"/>
                <a:ea typeface="Lexend"/>
                <a:cs typeface="Lexend"/>
                <a:sym typeface="Lexend"/>
              </a:rPr>
              <a:t>Oggi, un’impianto si ripaga al massimo in 4 anni, </a:t>
            </a:r>
            <a:endParaRPr b="1" sz="2022">
              <a:solidFill>
                <a:srgbClr val="274E13"/>
              </a:solidFill>
              <a:highlight>
                <a:srgbClr val="D9EAD3"/>
              </a:highlight>
              <a:latin typeface="Lexend"/>
              <a:ea typeface="Lexend"/>
              <a:cs typeface="Lexend"/>
              <a:sym typeface="Lexend"/>
            </a:endParaRPr>
          </a:p>
          <a:p>
            <a:pPr indent="0" lvl="0" marL="0" rtl="0" algn="l">
              <a:lnSpc>
                <a:spcPct val="115000"/>
              </a:lnSpc>
              <a:spcBef>
                <a:spcPts val="0"/>
              </a:spcBef>
              <a:spcAft>
                <a:spcPts val="0"/>
              </a:spcAft>
              <a:buNone/>
            </a:pPr>
            <a:r>
              <a:rPr b="1" lang="it" sz="2022">
                <a:solidFill>
                  <a:srgbClr val="274E13"/>
                </a:solidFill>
                <a:highlight>
                  <a:srgbClr val="D9EAD3"/>
                </a:highlight>
                <a:latin typeface="Lexend"/>
                <a:ea typeface="Lexend"/>
                <a:cs typeface="Lexend"/>
                <a:sym typeface="Lexend"/>
              </a:rPr>
              <a:t>in funzione dei consumi del cliente.</a:t>
            </a:r>
            <a:endParaRPr sz="2022">
              <a:solidFill>
                <a:srgbClr val="274E13"/>
              </a:solidFill>
              <a:highlight>
                <a:srgbClr val="D9EAD3"/>
              </a:highlight>
              <a:latin typeface="Lexend"/>
              <a:ea typeface="Lexend"/>
              <a:cs typeface="Lexend"/>
              <a:sym typeface="Lexend"/>
            </a:endParaRPr>
          </a:p>
        </p:txBody>
      </p:sp>
      <p:pic>
        <p:nvPicPr>
          <p:cNvPr id="218" name="Google Shape;218;p24"/>
          <p:cNvPicPr preferRelativeResize="0"/>
          <p:nvPr/>
        </p:nvPicPr>
        <p:blipFill>
          <a:blip r:embed="rId4">
            <a:alphaModFix/>
          </a:blip>
          <a:stretch>
            <a:fillRect/>
          </a:stretch>
        </p:blipFill>
        <p:spPr>
          <a:xfrm>
            <a:off x="858950" y="2395787"/>
            <a:ext cx="1061075" cy="1061000"/>
          </a:xfrm>
          <a:prstGeom prst="rect">
            <a:avLst/>
          </a:prstGeom>
          <a:noFill/>
          <a:ln>
            <a:noFill/>
          </a:ln>
        </p:spPr>
      </p:pic>
      <p:sp>
        <p:nvSpPr>
          <p:cNvPr id="219" name="Google Shape;219;p2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25"/>
          <p:cNvPicPr preferRelativeResize="0"/>
          <p:nvPr/>
        </p:nvPicPr>
        <p:blipFill>
          <a:blip r:embed="rId3">
            <a:alphaModFix/>
          </a:blip>
          <a:stretch>
            <a:fillRect/>
          </a:stretch>
        </p:blipFill>
        <p:spPr>
          <a:xfrm>
            <a:off x="895450" y="2493225"/>
            <a:ext cx="963599" cy="963599"/>
          </a:xfrm>
          <a:prstGeom prst="rect">
            <a:avLst/>
          </a:prstGeom>
          <a:noFill/>
          <a:ln>
            <a:noFill/>
          </a:ln>
        </p:spPr>
      </p:pic>
      <p:sp>
        <p:nvSpPr>
          <p:cNvPr id="225" name="Google Shape;225;p2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6" name="Google Shape;226;p25"/>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227" name="Google Shape;227;p2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 | 12</a:t>
            </a:r>
            <a:endParaRPr sz="700">
              <a:latin typeface="Lexend"/>
              <a:ea typeface="Lexend"/>
              <a:cs typeface="Lexend"/>
              <a:sym typeface="Lexend"/>
            </a:endParaRPr>
          </a:p>
        </p:txBody>
      </p:sp>
      <p:sp>
        <p:nvSpPr>
          <p:cNvPr id="228" name="Google Shape;228;p25"/>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 nel dettaglio </a:t>
            </a:r>
            <a:r>
              <a:rPr b="1" lang="it" sz="2200">
                <a:latin typeface="Lexend"/>
                <a:ea typeface="Lexend"/>
                <a:cs typeface="Lexend"/>
                <a:sym typeface="Lexend"/>
              </a:rPr>
              <a:t>alcuni vantaggi</a:t>
            </a:r>
            <a:r>
              <a:rPr lang="it" sz="2200">
                <a:latin typeface="Lexend"/>
                <a:ea typeface="Lexend"/>
                <a:cs typeface="Lexend"/>
                <a:sym typeface="Lexend"/>
              </a:rPr>
              <a:t> del Fotovoltaico:</a:t>
            </a:r>
            <a:endParaRPr b="1" sz="2200">
              <a:latin typeface="Lexend"/>
              <a:ea typeface="Lexend"/>
              <a:cs typeface="Lexend"/>
              <a:sym typeface="Lexend"/>
            </a:endParaRPr>
          </a:p>
        </p:txBody>
      </p:sp>
      <p:sp>
        <p:nvSpPr>
          <p:cNvPr id="229" name="Google Shape;229;p25"/>
          <p:cNvSpPr txBox="1"/>
          <p:nvPr>
            <p:ph type="title"/>
          </p:nvPr>
        </p:nvSpPr>
        <p:spPr>
          <a:xfrm>
            <a:off x="2198475" y="2119725"/>
            <a:ext cx="6354900" cy="20475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2200">
                <a:latin typeface="Lexend"/>
                <a:ea typeface="Lexend"/>
                <a:cs typeface="Lexend"/>
                <a:sym typeface="Lexend"/>
              </a:rPr>
              <a:t>Incentivi Fiscali e Agevolazioni</a:t>
            </a:r>
            <a:endParaRPr b="1" sz="2600">
              <a:latin typeface="Lexend"/>
              <a:ea typeface="Lexend"/>
              <a:cs typeface="Lexend"/>
              <a:sym typeface="Lexend"/>
            </a:endParaRPr>
          </a:p>
          <a:p>
            <a:pPr indent="0" lvl="0" marL="0" rtl="0" algn="l">
              <a:lnSpc>
                <a:spcPct val="115000"/>
              </a:lnSpc>
              <a:spcBef>
                <a:spcPts val="0"/>
              </a:spcBef>
              <a:spcAft>
                <a:spcPts val="0"/>
              </a:spcAft>
              <a:buNone/>
            </a:pPr>
            <a:r>
              <a:t/>
            </a:r>
            <a:endParaRPr b="1" sz="1000">
              <a:latin typeface="Lexend"/>
              <a:ea typeface="Lexend"/>
              <a:cs typeface="Lexend"/>
              <a:sym typeface="Lexend"/>
            </a:endParaRPr>
          </a:p>
          <a:p>
            <a:pPr indent="0" lvl="0" marL="0" rtl="0" algn="l">
              <a:lnSpc>
                <a:spcPct val="115000"/>
              </a:lnSpc>
              <a:spcBef>
                <a:spcPts val="0"/>
              </a:spcBef>
              <a:spcAft>
                <a:spcPts val="0"/>
              </a:spcAft>
              <a:buNone/>
            </a:pPr>
            <a:r>
              <a:rPr lang="it" sz="1800">
                <a:latin typeface="Lexend"/>
                <a:ea typeface="Lexend"/>
                <a:cs typeface="Lexend"/>
                <a:sym typeface="Lexend"/>
              </a:rPr>
              <a:t>Nel 2026, continuano ad essere in vigore in Italia forti incentivi fiscali per chi installa impianti fotovoltaici: </a:t>
            </a:r>
            <a:r>
              <a:rPr b="1" lang="it" sz="1800">
                <a:solidFill>
                  <a:srgbClr val="274E13"/>
                </a:solidFill>
                <a:highlight>
                  <a:srgbClr val="D9EAD3"/>
                </a:highlight>
                <a:latin typeface="Lexend"/>
                <a:ea typeface="Lexend"/>
                <a:cs typeface="Lexend"/>
                <a:sym typeface="Lexend"/>
              </a:rPr>
              <a:t>Detrazione 50% in 10 anni.</a:t>
            </a:r>
            <a:endParaRPr sz="1800">
              <a:solidFill>
                <a:srgbClr val="274E13"/>
              </a:solidFill>
              <a:highlight>
                <a:srgbClr val="D9EAD3"/>
              </a:highlight>
              <a:latin typeface="Lexend"/>
              <a:ea typeface="Lexend"/>
              <a:cs typeface="Lexend"/>
              <a:sym typeface="Lexend"/>
            </a:endParaRPr>
          </a:p>
        </p:txBody>
      </p:sp>
      <p:sp>
        <p:nvSpPr>
          <p:cNvPr id="230" name="Google Shape;230;p2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26"/>
          <p:cNvPicPr preferRelativeResize="0"/>
          <p:nvPr/>
        </p:nvPicPr>
        <p:blipFill>
          <a:blip r:embed="rId3">
            <a:alphaModFix/>
          </a:blip>
          <a:stretch>
            <a:fillRect/>
          </a:stretch>
        </p:blipFill>
        <p:spPr>
          <a:xfrm>
            <a:off x="889363" y="2480563"/>
            <a:ext cx="988925" cy="988925"/>
          </a:xfrm>
          <a:prstGeom prst="rect">
            <a:avLst/>
          </a:prstGeom>
          <a:noFill/>
          <a:ln>
            <a:noFill/>
          </a:ln>
        </p:spPr>
      </p:pic>
      <p:sp>
        <p:nvSpPr>
          <p:cNvPr id="236" name="Google Shape;236;p2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7" name="Google Shape;237;p26"/>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238" name="Google Shape;238;p2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 | 13</a:t>
            </a:r>
            <a:endParaRPr sz="700">
              <a:latin typeface="Lexend"/>
              <a:ea typeface="Lexend"/>
              <a:cs typeface="Lexend"/>
              <a:sym typeface="Lexend"/>
            </a:endParaRPr>
          </a:p>
        </p:txBody>
      </p:sp>
      <p:sp>
        <p:nvSpPr>
          <p:cNvPr id="239" name="Google Shape;239;p26"/>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 nel dettaglio </a:t>
            </a:r>
            <a:r>
              <a:rPr b="1" lang="it" sz="2200">
                <a:latin typeface="Lexend"/>
                <a:ea typeface="Lexend"/>
                <a:cs typeface="Lexend"/>
                <a:sym typeface="Lexend"/>
              </a:rPr>
              <a:t>alcuni vantaggi</a:t>
            </a:r>
            <a:r>
              <a:rPr lang="it" sz="2200">
                <a:latin typeface="Lexend"/>
                <a:ea typeface="Lexend"/>
                <a:cs typeface="Lexend"/>
                <a:sym typeface="Lexend"/>
              </a:rPr>
              <a:t> del Fotovoltaico:</a:t>
            </a:r>
            <a:endParaRPr b="1" sz="2200">
              <a:latin typeface="Lexend"/>
              <a:ea typeface="Lexend"/>
              <a:cs typeface="Lexend"/>
              <a:sym typeface="Lexend"/>
            </a:endParaRPr>
          </a:p>
        </p:txBody>
      </p:sp>
      <p:sp>
        <p:nvSpPr>
          <p:cNvPr id="240" name="Google Shape;240;p26"/>
          <p:cNvSpPr txBox="1"/>
          <p:nvPr>
            <p:ph type="title"/>
          </p:nvPr>
        </p:nvSpPr>
        <p:spPr>
          <a:xfrm>
            <a:off x="2198475" y="2119725"/>
            <a:ext cx="6354900" cy="213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2200">
                <a:latin typeface="Lexend"/>
                <a:ea typeface="Lexend"/>
                <a:cs typeface="Lexend"/>
                <a:sym typeface="Lexend"/>
              </a:rPr>
              <a:t>Valorizzazione dell’Immobile</a:t>
            </a:r>
            <a:endParaRPr b="1" sz="2600">
              <a:latin typeface="Lexend"/>
              <a:ea typeface="Lexend"/>
              <a:cs typeface="Lexend"/>
              <a:sym typeface="Lexend"/>
            </a:endParaRPr>
          </a:p>
          <a:p>
            <a:pPr indent="0" lvl="0" marL="0" rtl="0" algn="l">
              <a:lnSpc>
                <a:spcPct val="115000"/>
              </a:lnSpc>
              <a:spcBef>
                <a:spcPts val="0"/>
              </a:spcBef>
              <a:spcAft>
                <a:spcPts val="0"/>
              </a:spcAft>
              <a:buNone/>
            </a:pPr>
            <a:r>
              <a:t/>
            </a:r>
            <a:endParaRPr b="1" sz="1000">
              <a:latin typeface="Lexend"/>
              <a:ea typeface="Lexend"/>
              <a:cs typeface="Lexend"/>
              <a:sym typeface="Lexend"/>
            </a:endParaRPr>
          </a:p>
          <a:p>
            <a:pPr indent="0" lvl="0" marL="0" rtl="0" algn="l">
              <a:lnSpc>
                <a:spcPct val="115000"/>
              </a:lnSpc>
              <a:spcBef>
                <a:spcPts val="0"/>
              </a:spcBef>
              <a:spcAft>
                <a:spcPts val="0"/>
              </a:spcAft>
              <a:buNone/>
            </a:pPr>
            <a:r>
              <a:rPr lang="it" sz="1800">
                <a:latin typeface="Lexend"/>
                <a:ea typeface="Lexend"/>
                <a:cs typeface="Lexend"/>
                <a:sym typeface="Lexend"/>
              </a:rPr>
              <a:t>Le case dotate di impianti sono </a:t>
            </a:r>
            <a:r>
              <a:rPr b="1" lang="it" sz="1800">
                <a:solidFill>
                  <a:srgbClr val="274E13"/>
                </a:solidFill>
                <a:highlight>
                  <a:srgbClr val="D9EAD3"/>
                </a:highlight>
                <a:latin typeface="Lexend"/>
                <a:ea typeface="Lexend"/>
                <a:cs typeface="Lexend"/>
                <a:sym typeface="Lexend"/>
              </a:rPr>
              <a:t>più attraenti sul mercato</a:t>
            </a:r>
            <a:r>
              <a:rPr lang="it" sz="1800">
                <a:latin typeface="Lexend"/>
                <a:ea typeface="Lexend"/>
                <a:cs typeface="Lexend"/>
                <a:sym typeface="Lexend"/>
              </a:rPr>
              <a:t> immobiliare perché offrono un </a:t>
            </a:r>
            <a:r>
              <a:rPr b="1" lang="it" sz="1800">
                <a:solidFill>
                  <a:srgbClr val="274E13"/>
                </a:solidFill>
                <a:highlight>
                  <a:srgbClr val="D9EAD3"/>
                </a:highlight>
                <a:latin typeface="Lexend"/>
                <a:ea typeface="Lexend"/>
                <a:cs typeface="Lexend"/>
                <a:sym typeface="Lexend"/>
              </a:rPr>
              <a:t>risparmio energetico immediato</a:t>
            </a:r>
            <a:r>
              <a:rPr lang="it" sz="1800">
                <a:latin typeface="Lexend"/>
                <a:ea typeface="Lexend"/>
                <a:cs typeface="Lexend"/>
                <a:sym typeface="Lexend"/>
              </a:rPr>
              <a:t> ai futuri acquirenti e una </a:t>
            </a:r>
            <a:r>
              <a:rPr b="1" lang="it" sz="1800">
                <a:solidFill>
                  <a:srgbClr val="274E13"/>
                </a:solidFill>
                <a:highlight>
                  <a:srgbClr val="D9EAD3"/>
                </a:highlight>
                <a:latin typeface="Lexend"/>
                <a:ea typeface="Lexend"/>
                <a:cs typeface="Lexend"/>
                <a:sym typeface="Lexend"/>
              </a:rPr>
              <a:t>migliore certificazione energetica.</a:t>
            </a:r>
            <a:endParaRPr sz="1800">
              <a:solidFill>
                <a:srgbClr val="274E13"/>
              </a:solidFill>
              <a:highlight>
                <a:srgbClr val="D9EAD3"/>
              </a:highlight>
              <a:latin typeface="Lexend"/>
              <a:ea typeface="Lexend"/>
              <a:cs typeface="Lexend"/>
              <a:sym typeface="Lexend"/>
            </a:endParaRPr>
          </a:p>
        </p:txBody>
      </p:sp>
      <p:sp>
        <p:nvSpPr>
          <p:cNvPr id="241" name="Google Shape;241;p2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27"/>
          <p:cNvPicPr preferRelativeResize="0"/>
          <p:nvPr/>
        </p:nvPicPr>
        <p:blipFill>
          <a:blip r:embed="rId3">
            <a:alphaModFix/>
          </a:blip>
          <a:stretch>
            <a:fillRect/>
          </a:stretch>
        </p:blipFill>
        <p:spPr>
          <a:xfrm>
            <a:off x="965575" y="2465050"/>
            <a:ext cx="988925" cy="988925"/>
          </a:xfrm>
          <a:prstGeom prst="rect">
            <a:avLst/>
          </a:prstGeom>
          <a:noFill/>
          <a:ln>
            <a:noFill/>
          </a:ln>
        </p:spPr>
      </p:pic>
      <p:sp>
        <p:nvSpPr>
          <p:cNvPr id="247" name="Google Shape;247;p2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8" name="Google Shape;248;p27"/>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249" name="Google Shape;249;p2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 | 14</a:t>
            </a:r>
            <a:endParaRPr sz="700">
              <a:latin typeface="Lexend"/>
              <a:ea typeface="Lexend"/>
              <a:cs typeface="Lexend"/>
              <a:sym typeface="Lexend"/>
            </a:endParaRPr>
          </a:p>
        </p:txBody>
      </p:sp>
      <p:sp>
        <p:nvSpPr>
          <p:cNvPr id="250" name="Google Shape;250;p27"/>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 nel dettaglio </a:t>
            </a:r>
            <a:r>
              <a:rPr b="1" lang="it" sz="2200">
                <a:latin typeface="Lexend"/>
                <a:ea typeface="Lexend"/>
                <a:cs typeface="Lexend"/>
                <a:sym typeface="Lexend"/>
              </a:rPr>
              <a:t>alcuni vantaggi</a:t>
            </a:r>
            <a:r>
              <a:rPr lang="it" sz="2200">
                <a:latin typeface="Lexend"/>
                <a:ea typeface="Lexend"/>
                <a:cs typeface="Lexend"/>
                <a:sym typeface="Lexend"/>
              </a:rPr>
              <a:t> del Fotovoltaico:</a:t>
            </a:r>
            <a:endParaRPr b="1" sz="2200">
              <a:latin typeface="Lexend"/>
              <a:ea typeface="Lexend"/>
              <a:cs typeface="Lexend"/>
              <a:sym typeface="Lexend"/>
            </a:endParaRPr>
          </a:p>
        </p:txBody>
      </p:sp>
      <p:sp>
        <p:nvSpPr>
          <p:cNvPr id="251" name="Google Shape;251;p27"/>
          <p:cNvSpPr txBox="1"/>
          <p:nvPr>
            <p:ph type="title"/>
          </p:nvPr>
        </p:nvSpPr>
        <p:spPr>
          <a:xfrm>
            <a:off x="2274675" y="2119725"/>
            <a:ext cx="6354900" cy="213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2200">
                <a:latin typeface="Lexend"/>
                <a:ea typeface="Lexend"/>
                <a:cs typeface="Lexend"/>
                <a:sym typeface="Lexend"/>
              </a:rPr>
              <a:t>Indipendenza Energetica</a:t>
            </a:r>
            <a:endParaRPr b="1" sz="2600">
              <a:latin typeface="Lexend"/>
              <a:ea typeface="Lexend"/>
              <a:cs typeface="Lexend"/>
              <a:sym typeface="Lexend"/>
            </a:endParaRPr>
          </a:p>
          <a:p>
            <a:pPr indent="0" lvl="0" marL="0" rtl="0" algn="l">
              <a:lnSpc>
                <a:spcPct val="115000"/>
              </a:lnSpc>
              <a:spcBef>
                <a:spcPts val="0"/>
              </a:spcBef>
              <a:spcAft>
                <a:spcPts val="0"/>
              </a:spcAft>
              <a:buNone/>
            </a:pPr>
            <a:r>
              <a:t/>
            </a:r>
            <a:endParaRPr b="1" sz="1000">
              <a:latin typeface="Lexend"/>
              <a:ea typeface="Lexend"/>
              <a:cs typeface="Lexend"/>
              <a:sym typeface="Lexend"/>
            </a:endParaRPr>
          </a:p>
          <a:p>
            <a:pPr indent="0" lvl="0" marL="0" rtl="0" algn="l">
              <a:lnSpc>
                <a:spcPct val="115000"/>
              </a:lnSpc>
              <a:spcBef>
                <a:spcPts val="0"/>
              </a:spcBef>
              <a:spcAft>
                <a:spcPts val="0"/>
              </a:spcAft>
              <a:buNone/>
            </a:pPr>
            <a:r>
              <a:rPr lang="it" sz="1800">
                <a:latin typeface="Lexend"/>
                <a:ea typeface="Lexend"/>
                <a:cs typeface="Lexend"/>
                <a:sym typeface="Lexend"/>
              </a:rPr>
              <a:t>Il fotovoltaico </a:t>
            </a:r>
            <a:r>
              <a:rPr b="1" lang="it" sz="1800">
                <a:solidFill>
                  <a:srgbClr val="274E13"/>
                </a:solidFill>
                <a:highlight>
                  <a:srgbClr val="D9EAD3"/>
                </a:highlight>
                <a:latin typeface="Lexend"/>
                <a:ea typeface="Lexend"/>
                <a:cs typeface="Lexend"/>
                <a:sym typeface="Lexend"/>
              </a:rPr>
              <a:t>riduce la dipendenza dalla rete elettrica e alla variazioni dei prezzi</a:t>
            </a:r>
            <a:r>
              <a:rPr lang="it" sz="1800">
                <a:latin typeface="Lexend"/>
                <a:ea typeface="Lexend"/>
                <a:cs typeface="Lexend"/>
                <a:sym typeface="Lexend"/>
              </a:rPr>
              <a:t>, mentre le batterie garantiscono energia anche di notte.</a:t>
            </a:r>
            <a:endParaRPr sz="2000">
              <a:solidFill>
                <a:srgbClr val="274E13"/>
              </a:solidFill>
              <a:highlight>
                <a:srgbClr val="D9EAD3"/>
              </a:highlight>
              <a:latin typeface="Lexend"/>
              <a:ea typeface="Lexend"/>
              <a:cs typeface="Lexend"/>
              <a:sym typeface="Lexend"/>
            </a:endParaRPr>
          </a:p>
        </p:txBody>
      </p:sp>
      <p:sp>
        <p:nvSpPr>
          <p:cNvPr id="252" name="Google Shape;252;p2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8" name="Google Shape;258;p2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259" name="Google Shape;259;p2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 | 15</a:t>
            </a:r>
            <a:endParaRPr sz="700">
              <a:latin typeface="Lexend"/>
              <a:ea typeface="Lexend"/>
              <a:cs typeface="Lexend"/>
              <a:sym typeface="Lexend"/>
            </a:endParaRPr>
          </a:p>
        </p:txBody>
      </p:sp>
      <p:sp>
        <p:nvSpPr>
          <p:cNvPr id="260" name="Google Shape;260;p28"/>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 nel dettaglio </a:t>
            </a:r>
            <a:r>
              <a:rPr b="1" lang="it" sz="2200">
                <a:latin typeface="Lexend"/>
                <a:ea typeface="Lexend"/>
                <a:cs typeface="Lexend"/>
                <a:sym typeface="Lexend"/>
              </a:rPr>
              <a:t>alcuni vantaggi</a:t>
            </a:r>
            <a:r>
              <a:rPr lang="it" sz="2200">
                <a:latin typeface="Lexend"/>
                <a:ea typeface="Lexend"/>
                <a:cs typeface="Lexend"/>
                <a:sym typeface="Lexend"/>
              </a:rPr>
              <a:t> del Fotovoltaico:</a:t>
            </a:r>
            <a:endParaRPr b="1" sz="2200">
              <a:latin typeface="Lexend"/>
              <a:ea typeface="Lexend"/>
              <a:cs typeface="Lexend"/>
              <a:sym typeface="Lexend"/>
            </a:endParaRPr>
          </a:p>
        </p:txBody>
      </p:sp>
      <p:sp>
        <p:nvSpPr>
          <p:cNvPr id="261" name="Google Shape;261;p28"/>
          <p:cNvSpPr txBox="1"/>
          <p:nvPr>
            <p:ph type="title"/>
          </p:nvPr>
        </p:nvSpPr>
        <p:spPr>
          <a:xfrm>
            <a:off x="2122275" y="2119725"/>
            <a:ext cx="6354900" cy="2102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it" sz="2400">
                <a:latin typeface="Lexend"/>
                <a:ea typeface="Lexend"/>
                <a:cs typeface="Lexend"/>
                <a:sym typeface="Lexend"/>
              </a:rPr>
              <a:t>Tecnologie sempre più Avanzate ed Economiche</a:t>
            </a:r>
            <a:endParaRPr b="1" sz="2400">
              <a:latin typeface="Lexend"/>
              <a:ea typeface="Lexend"/>
              <a:cs typeface="Lexend"/>
              <a:sym typeface="Lexend"/>
            </a:endParaRPr>
          </a:p>
          <a:p>
            <a:pPr indent="0" lvl="0" marL="0" rtl="0" algn="l">
              <a:lnSpc>
                <a:spcPct val="115000"/>
              </a:lnSpc>
              <a:spcBef>
                <a:spcPts val="0"/>
              </a:spcBef>
              <a:spcAft>
                <a:spcPts val="0"/>
              </a:spcAft>
              <a:buNone/>
            </a:pPr>
            <a:r>
              <a:t/>
            </a:r>
            <a:endParaRPr b="1" sz="1000">
              <a:latin typeface="Lexend"/>
              <a:ea typeface="Lexend"/>
              <a:cs typeface="Lexend"/>
              <a:sym typeface="Lexend"/>
            </a:endParaRPr>
          </a:p>
          <a:p>
            <a:pPr indent="0" lvl="0" marL="0" rtl="0" algn="l">
              <a:lnSpc>
                <a:spcPct val="115000"/>
              </a:lnSpc>
              <a:spcBef>
                <a:spcPts val="0"/>
              </a:spcBef>
              <a:spcAft>
                <a:spcPts val="0"/>
              </a:spcAft>
              <a:buNone/>
            </a:pPr>
            <a:r>
              <a:rPr lang="it" sz="1961">
                <a:latin typeface="Lexend"/>
                <a:ea typeface="Lexend"/>
                <a:cs typeface="Lexend"/>
                <a:sym typeface="Lexend"/>
              </a:rPr>
              <a:t>I </a:t>
            </a:r>
            <a:r>
              <a:rPr b="1" lang="it" sz="1961">
                <a:solidFill>
                  <a:srgbClr val="274E13"/>
                </a:solidFill>
                <a:highlight>
                  <a:srgbClr val="D9EAD3"/>
                </a:highlight>
                <a:latin typeface="Lexend"/>
                <a:ea typeface="Lexend"/>
                <a:cs typeface="Lexend"/>
                <a:sym typeface="Lexend"/>
              </a:rPr>
              <a:t>costi delle tecnologie fotovoltaiche sono diminuiti</a:t>
            </a:r>
            <a:r>
              <a:rPr lang="it" sz="1961">
                <a:latin typeface="Lexend"/>
                <a:ea typeface="Lexend"/>
                <a:cs typeface="Lexend"/>
                <a:sym typeface="Lexend"/>
              </a:rPr>
              <a:t> in modo significativo negli ultimi anni, mentre </a:t>
            </a:r>
            <a:r>
              <a:rPr b="1" lang="it" sz="1961">
                <a:solidFill>
                  <a:srgbClr val="274E13"/>
                </a:solidFill>
                <a:highlight>
                  <a:srgbClr val="D9EAD3"/>
                </a:highlight>
                <a:latin typeface="Lexend"/>
                <a:ea typeface="Lexend"/>
                <a:cs typeface="Lexend"/>
                <a:sym typeface="Lexend"/>
              </a:rPr>
              <a:t>l’efficienza dei pannelli, inverter e batterie è aumentata</a:t>
            </a:r>
            <a:r>
              <a:rPr lang="it" sz="1961">
                <a:solidFill>
                  <a:srgbClr val="274E13"/>
                </a:solidFill>
                <a:highlight>
                  <a:srgbClr val="D9EAD3"/>
                </a:highlight>
                <a:latin typeface="Lexend"/>
                <a:ea typeface="Lexend"/>
                <a:cs typeface="Lexend"/>
                <a:sym typeface="Lexend"/>
              </a:rPr>
              <a:t>.</a:t>
            </a:r>
            <a:endParaRPr sz="2211">
              <a:solidFill>
                <a:srgbClr val="274E13"/>
              </a:solidFill>
              <a:highlight>
                <a:srgbClr val="D9EAD3"/>
              </a:highlight>
              <a:latin typeface="Lexend"/>
              <a:ea typeface="Lexend"/>
              <a:cs typeface="Lexend"/>
              <a:sym typeface="Lexend"/>
            </a:endParaRPr>
          </a:p>
        </p:txBody>
      </p:sp>
      <p:pic>
        <p:nvPicPr>
          <p:cNvPr id="262" name="Google Shape;262;p28"/>
          <p:cNvPicPr preferRelativeResize="0"/>
          <p:nvPr/>
        </p:nvPicPr>
        <p:blipFill>
          <a:blip r:embed="rId4">
            <a:alphaModFix/>
          </a:blip>
          <a:stretch>
            <a:fillRect/>
          </a:stretch>
        </p:blipFill>
        <p:spPr>
          <a:xfrm>
            <a:off x="813179" y="2493475"/>
            <a:ext cx="988925" cy="988925"/>
          </a:xfrm>
          <a:prstGeom prst="rect">
            <a:avLst/>
          </a:prstGeom>
          <a:noFill/>
          <a:ln>
            <a:noFill/>
          </a:ln>
        </p:spPr>
      </p:pic>
      <p:sp>
        <p:nvSpPr>
          <p:cNvPr id="263" name="Google Shape;263;p2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pSp>
        <p:nvGrpSpPr>
          <p:cNvPr id="268" name="Google Shape;268;p29"/>
          <p:cNvGrpSpPr/>
          <p:nvPr/>
        </p:nvGrpSpPr>
        <p:grpSpPr>
          <a:xfrm>
            <a:off x="4659425" y="3634288"/>
            <a:ext cx="3865200" cy="641825"/>
            <a:chOff x="620450" y="1714200"/>
            <a:chExt cx="3865200" cy="641825"/>
          </a:xfrm>
        </p:grpSpPr>
        <p:sp>
          <p:nvSpPr>
            <p:cNvPr id="269" name="Google Shape;269;p29"/>
            <p:cNvSpPr/>
            <p:nvPr/>
          </p:nvSpPr>
          <p:spPr>
            <a:xfrm>
              <a:off x="620450" y="17142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9"/>
            <p:cNvSpPr/>
            <p:nvPr/>
          </p:nvSpPr>
          <p:spPr>
            <a:xfrm>
              <a:off x="620450" y="23086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71" name="Google Shape;271;p29"/>
          <p:cNvGrpSpPr/>
          <p:nvPr/>
        </p:nvGrpSpPr>
        <p:grpSpPr>
          <a:xfrm>
            <a:off x="4659425" y="1790413"/>
            <a:ext cx="3865200" cy="641825"/>
            <a:chOff x="620450" y="1714200"/>
            <a:chExt cx="3865200" cy="641825"/>
          </a:xfrm>
        </p:grpSpPr>
        <p:sp>
          <p:nvSpPr>
            <p:cNvPr id="272" name="Google Shape;272;p29"/>
            <p:cNvSpPr/>
            <p:nvPr/>
          </p:nvSpPr>
          <p:spPr>
            <a:xfrm>
              <a:off x="620450" y="17142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29"/>
            <p:cNvSpPr/>
            <p:nvPr/>
          </p:nvSpPr>
          <p:spPr>
            <a:xfrm>
              <a:off x="620450" y="23086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74" name="Google Shape;274;p29"/>
          <p:cNvGrpSpPr/>
          <p:nvPr/>
        </p:nvGrpSpPr>
        <p:grpSpPr>
          <a:xfrm>
            <a:off x="4659425" y="2727488"/>
            <a:ext cx="3865200" cy="641825"/>
            <a:chOff x="620450" y="1714200"/>
            <a:chExt cx="3865200" cy="641825"/>
          </a:xfrm>
        </p:grpSpPr>
        <p:sp>
          <p:nvSpPr>
            <p:cNvPr id="275" name="Google Shape;275;p29"/>
            <p:cNvSpPr/>
            <p:nvPr/>
          </p:nvSpPr>
          <p:spPr>
            <a:xfrm>
              <a:off x="620450" y="17142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29"/>
            <p:cNvSpPr/>
            <p:nvPr/>
          </p:nvSpPr>
          <p:spPr>
            <a:xfrm>
              <a:off x="620450" y="23086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7" name="Google Shape;277;p29"/>
          <p:cNvSpPr/>
          <p:nvPr/>
        </p:nvSpPr>
        <p:spPr>
          <a:xfrm>
            <a:off x="555475" y="364645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78" name="Google Shape;278;p29"/>
          <p:cNvGrpSpPr/>
          <p:nvPr/>
        </p:nvGrpSpPr>
        <p:grpSpPr>
          <a:xfrm>
            <a:off x="555475" y="2727488"/>
            <a:ext cx="3865200" cy="641825"/>
            <a:chOff x="620450" y="1714200"/>
            <a:chExt cx="3865200" cy="641825"/>
          </a:xfrm>
        </p:grpSpPr>
        <p:sp>
          <p:nvSpPr>
            <p:cNvPr id="279" name="Google Shape;279;p29"/>
            <p:cNvSpPr/>
            <p:nvPr/>
          </p:nvSpPr>
          <p:spPr>
            <a:xfrm>
              <a:off x="620450" y="17142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29"/>
            <p:cNvSpPr/>
            <p:nvPr/>
          </p:nvSpPr>
          <p:spPr>
            <a:xfrm>
              <a:off x="620450" y="23086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1" name="Google Shape;281;p29"/>
          <p:cNvSpPr/>
          <p:nvPr/>
        </p:nvSpPr>
        <p:spPr>
          <a:xfrm>
            <a:off x="555475" y="17904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29"/>
          <p:cNvSpPr txBox="1"/>
          <p:nvPr>
            <p:ph type="title"/>
          </p:nvPr>
        </p:nvSpPr>
        <p:spPr>
          <a:xfrm>
            <a:off x="311700" y="107488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Riassumiamo </a:t>
            </a:r>
            <a:r>
              <a:rPr b="1" lang="it" sz="2200">
                <a:latin typeface="Lexend"/>
                <a:ea typeface="Lexend"/>
                <a:cs typeface="Lexend"/>
                <a:sym typeface="Lexend"/>
              </a:rPr>
              <a:t>alcuni vantaggi</a:t>
            </a:r>
            <a:r>
              <a:rPr lang="it" sz="2200">
                <a:latin typeface="Lexend"/>
                <a:ea typeface="Lexend"/>
                <a:cs typeface="Lexend"/>
                <a:sym typeface="Lexend"/>
              </a:rPr>
              <a:t> del Fotovoltaico:</a:t>
            </a:r>
            <a:endParaRPr b="1" sz="2200">
              <a:latin typeface="Lexend"/>
              <a:ea typeface="Lexend"/>
              <a:cs typeface="Lexend"/>
              <a:sym typeface="Lexend"/>
            </a:endParaRPr>
          </a:p>
        </p:txBody>
      </p:sp>
      <p:sp>
        <p:nvSpPr>
          <p:cNvPr id="283" name="Google Shape;283;p2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29"/>
          <p:cNvSpPr txBox="1"/>
          <p:nvPr>
            <p:ph type="title"/>
          </p:nvPr>
        </p:nvSpPr>
        <p:spPr>
          <a:xfrm>
            <a:off x="1005475" y="2746275"/>
            <a:ext cx="3405300" cy="5715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it" sz="1700">
                <a:latin typeface="Lexend"/>
                <a:ea typeface="Lexend"/>
                <a:cs typeface="Lexend"/>
                <a:sym typeface="Lexend"/>
              </a:rPr>
              <a:t>Incentivi fiscali e agevolazioni</a:t>
            </a:r>
            <a:endParaRPr sz="1700">
              <a:latin typeface="Lexend"/>
              <a:ea typeface="Lexend"/>
              <a:cs typeface="Lexend"/>
              <a:sym typeface="Lexend"/>
            </a:endParaRPr>
          </a:p>
        </p:txBody>
      </p:sp>
      <p:sp>
        <p:nvSpPr>
          <p:cNvPr id="285" name="Google Shape;285;p29"/>
          <p:cNvSpPr txBox="1"/>
          <p:nvPr>
            <p:ph type="title"/>
          </p:nvPr>
        </p:nvSpPr>
        <p:spPr>
          <a:xfrm>
            <a:off x="1005475" y="1790400"/>
            <a:ext cx="3405300" cy="598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700">
                <a:latin typeface="Lexend"/>
                <a:ea typeface="Lexend"/>
                <a:cs typeface="Lexend"/>
                <a:sym typeface="Lexend"/>
              </a:rPr>
              <a:t>Riduzione delle bollette energ.</a:t>
            </a:r>
            <a:endParaRPr sz="1700">
              <a:latin typeface="Lexend"/>
              <a:ea typeface="Lexend"/>
              <a:cs typeface="Lexend"/>
              <a:sym typeface="Lexend"/>
            </a:endParaRPr>
          </a:p>
        </p:txBody>
      </p:sp>
      <p:sp>
        <p:nvSpPr>
          <p:cNvPr id="286" name="Google Shape;286;p29"/>
          <p:cNvSpPr txBox="1"/>
          <p:nvPr>
            <p:ph type="title"/>
          </p:nvPr>
        </p:nvSpPr>
        <p:spPr>
          <a:xfrm>
            <a:off x="5119325" y="2746275"/>
            <a:ext cx="3405300" cy="5715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it" sz="1700">
                <a:latin typeface="Lexend"/>
                <a:ea typeface="Lexend"/>
                <a:cs typeface="Lexend"/>
                <a:sym typeface="Lexend"/>
              </a:rPr>
              <a:t>Valorizzazione dell’immobile</a:t>
            </a:r>
            <a:endParaRPr sz="1700">
              <a:latin typeface="Lexend"/>
              <a:ea typeface="Lexend"/>
              <a:cs typeface="Lexend"/>
              <a:sym typeface="Lexend"/>
            </a:endParaRPr>
          </a:p>
        </p:txBody>
      </p:sp>
      <p:sp>
        <p:nvSpPr>
          <p:cNvPr id="287" name="Google Shape;287;p29"/>
          <p:cNvSpPr txBox="1"/>
          <p:nvPr>
            <p:ph type="title"/>
          </p:nvPr>
        </p:nvSpPr>
        <p:spPr>
          <a:xfrm>
            <a:off x="5119325" y="1790350"/>
            <a:ext cx="3405300" cy="598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700">
                <a:latin typeface="Lexend"/>
                <a:ea typeface="Lexend"/>
                <a:cs typeface="Lexend"/>
                <a:sym typeface="Lexend"/>
              </a:rPr>
              <a:t>ROI</a:t>
            </a:r>
            <a:r>
              <a:rPr lang="it" sz="1700">
                <a:latin typeface="Lexend"/>
                <a:ea typeface="Lexend"/>
                <a:cs typeface="Lexend"/>
                <a:sym typeface="Lexend"/>
              </a:rPr>
              <a:t> Migliorato</a:t>
            </a:r>
            <a:endParaRPr sz="1700">
              <a:latin typeface="Lexend"/>
              <a:ea typeface="Lexend"/>
              <a:cs typeface="Lexend"/>
              <a:sym typeface="Lexend"/>
            </a:endParaRPr>
          </a:p>
        </p:txBody>
      </p:sp>
      <p:sp>
        <p:nvSpPr>
          <p:cNvPr id="288" name="Google Shape;288;p29"/>
          <p:cNvSpPr txBox="1"/>
          <p:nvPr>
            <p:ph type="title"/>
          </p:nvPr>
        </p:nvSpPr>
        <p:spPr>
          <a:xfrm>
            <a:off x="1005475" y="3669450"/>
            <a:ext cx="3405300" cy="5715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it" sz="1700">
                <a:latin typeface="Lexend"/>
                <a:ea typeface="Lexend"/>
                <a:cs typeface="Lexend"/>
                <a:sym typeface="Lexend"/>
              </a:rPr>
              <a:t>Indipendenza Energetica</a:t>
            </a:r>
            <a:endParaRPr sz="1700">
              <a:latin typeface="Lexend"/>
              <a:ea typeface="Lexend"/>
              <a:cs typeface="Lexend"/>
              <a:sym typeface="Lexend"/>
            </a:endParaRPr>
          </a:p>
        </p:txBody>
      </p:sp>
      <p:sp>
        <p:nvSpPr>
          <p:cNvPr id="289" name="Google Shape;289;p29"/>
          <p:cNvSpPr txBox="1"/>
          <p:nvPr>
            <p:ph type="title"/>
          </p:nvPr>
        </p:nvSpPr>
        <p:spPr>
          <a:xfrm>
            <a:off x="5119325" y="3631825"/>
            <a:ext cx="3469200" cy="598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700">
                <a:latin typeface="Lexend"/>
                <a:ea typeface="Lexend"/>
                <a:cs typeface="Lexend"/>
                <a:sym typeface="Lexend"/>
              </a:rPr>
              <a:t>Tec. Avanzate ed Economiche</a:t>
            </a:r>
            <a:endParaRPr sz="1700">
              <a:latin typeface="Lexend"/>
              <a:ea typeface="Lexend"/>
              <a:cs typeface="Lexend"/>
              <a:sym typeface="Lexend"/>
            </a:endParaRPr>
          </a:p>
        </p:txBody>
      </p:sp>
      <p:pic>
        <p:nvPicPr>
          <p:cNvPr id="290" name="Google Shape;290;p29"/>
          <p:cNvPicPr preferRelativeResize="0"/>
          <p:nvPr/>
        </p:nvPicPr>
        <p:blipFill>
          <a:blip r:embed="rId3">
            <a:alphaModFix/>
          </a:blip>
          <a:stretch>
            <a:fillRect/>
          </a:stretch>
        </p:blipFill>
        <p:spPr>
          <a:xfrm>
            <a:off x="4768463" y="1938175"/>
            <a:ext cx="308625" cy="308625"/>
          </a:xfrm>
          <a:prstGeom prst="rect">
            <a:avLst/>
          </a:prstGeom>
          <a:noFill/>
          <a:ln>
            <a:noFill/>
          </a:ln>
        </p:spPr>
      </p:pic>
      <p:pic>
        <p:nvPicPr>
          <p:cNvPr id="291" name="Google Shape;291;p29"/>
          <p:cNvPicPr preferRelativeResize="0"/>
          <p:nvPr/>
        </p:nvPicPr>
        <p:blipFill>
          <a:blip r:embed="rId4">
            <a:alphaModFix/>
          </a:blip>
          <a:stretch>
            <a:fillRect/>
          </a:stretch>
        </p:blipFill>
        <p:spPr>
          <a:xfrm>
            <a:off x="666324" y="1938175"/>
            <a:ext cx="308625" cy="308625"/>
          </a:xfrm>
          <a:prstGeom prst="rect">
            <a:avLst/>
          </a:prstGeom>
          <a:noFill/>
          <a:ln>
            <a:noFill/>
          </a:ln>
        </p:spPr>
      </p:pic>
      <p:pic>
        <p:nvPicPr>
          <p:cNvPr id="292" name="Google Shape;292;p29"/>
          <p:cNvPicPr preferRelativeResize="0"/>
          <p:nvPr/>
        </p:nvPicPr>
        <p:blipFill>
          <a:blip r:embed="rId5">
            <a:alphaModFix/>
          </a:blip>
          <a:stretch>
            <a:fillRect/>
          </a:stretch>
        </p:blipFill>
        <p:spPr>
          <a:xfrm>
            <a:off x="666337" y="3794247"/>
            <a:ext cx="308625" cy="308625"/>
          </a:xfrm>
          <a:prstGeom prst="rect">
            <a:avLst/>
          </a:prstGeom>
          <a:noFill/>
          <a:ln>
            <a:noFill/>
          </a:ln>
        </p:spPr>
      </p:pic>
      <p:pic>
        <p:nvPicPr>
          <p:cNvPr id="293" name="Google Shape;293;p29"/>
          <p:cNvPicPr preferRelativeResize="0"/>
          <p:nvPr/>
        </p:nvPicPr>
        <p:blipFill>
          <a:blip r:embed="rId6">
            <a:alphaModFix/>
          </a:blip>
          <a:stretch>
            <a:fillRect/>
          </a:stretch>
        </p:blipFill>
        <p:spPr>
          <a:xfrm>
            <a:off x="4782072" y="2917539"/>
            <a:ext cx="281400" cy="281400"/>
          </a:xfrm>
          <a:prstGeom prst="rect">
            <a:avLst/>
          </a:prstGeom>
          <a:noFill/>
          <a:ln>
            <a:noFill/>
          </a:ln>
        </p:spPr>
      </p:pic>
      <p:pic>
        <p:nvPicPr>
          <p:cNvPr id="294" name="Google Shape;294;p29"/>
          <p:cNvPicPr preferRelativeResize="0"/>
          <p:nvPr/>
        </p:nvPicPr>
        <p:blipFill>
          <a:blip r:embed="rId7">
            <a:alphaModFix/>
          </a:blip>
          <a:stretch>
            <a:fillRect/>
          </a:stretch>
        </p:blipFill>
        <p:spPr>
          <a:xfrm>
            <a:off x="679938" y="2917539"/>
            <a:ext cx="281400" cy="281400"/>
          </a:xfrm>
          <a:prstGeom prst="rect">
            <a:avLst/>
          </a:prstGeom>
          <a:noFill/>
          <a:ln>
            <a:noFill/>
          </a:ln>
        </p:spPr>
      </p:pic>
      <p:pic>
        <p:nvPicPr>
          <p:cNvPr id="295" name="Google Shape;295;p29"/>
          <p:cNvPicPr preferRelativeResize="0"/>
          <p:nvPr/>
        </p:nvPicPr>
        <p:blipFill>
          <a:blip r:embed="rId8">
            <a:alphaModFix/>
          </a:blip>
          <a:stretch>
            <a:fillRect/>
          </a:stretch>
        </p:blipFill>
        <p:spPr>
          <a:xfrm>
            <a:off x="4768453" y="3813050"/>
            <a:ext cx="308625" cy="308625"/>
          </a:xfrm>
          <a:prstGeom prst="rect">
            <a:avLst/>
          </a:prstGeom>
          <a:noFill/>
          <a:ln>
            <a:noFill/>
          </a:ln>
        </p:spPr>
      </p:pic>
      <p:pic>
        <p:nvPicPr>
          <p:cNvPr id="296" name="Google Shape;296;p29"/>
          <p:cNvPicPr preferRelativeResize="0"/>
          <p:nvPr/>
        </p:nvPicPr>
        <p:blipFill rotWithShape="1">
          <a:blip r:embed="rId9">
            <a:alphaModFix/>
          </a:blip>
          <a:srcRect b="0" l="0" r="0" t="0"/>
          <a:stretch/>
        </p:blipFill>
        <p:spPr>
          <a:xfrm>
            <a:off x="0" y="5"/>
            <a:ext cx="9144003" cy="598289"/>
          </a:xfrm>
          <a:prstGeom prst="rect">
            <a:avLst/>
          </a:prstGeom>
          <a:noFill/>
          <a:ln>
            <a:noFill/>
          </a:ln>
        </p:spPr>
      </p:pic>
      <p:sp>
        <p:nvSpPr>
          <p:cNvPr id="297" name="Google Shape;297;p2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 </a:t>
            </a:r>
            <a:r>
              <a:rPr lang="it" sz="700">
                <a:latin typeface="Lexend"/>
                <a:ea typeface="Lexend"/>
                <a:cs typeface="Lexend"/>
                <a:sym typeface="Lexend"/>
              </a:rPr>
              <a:t>i Vantaggi del Fotovoltaico</a:t>
            </a:r>
            <a:r>
              <a:rPr lang="it" sz="700">
                <a:latin typeface="Lexend"/>
                <a:ea typeface="Lexend"/>
                <a:cs typeface="Lexend"/>
                <a:sym typeface="Lexend"/>
              </a:rPr>
              <a:t> | 16</a:t>
            </a:r>
            <a:endParaRPr sz="700">
              <a:latin typeface="Lexend"/>
              <a:ea typeface="Lexend"/>
              <a:cs typeface="Lexend"/>
              <a:sym typeface="Lexend"/>
            </a:endParaRPr>
          </a:p>
        </p:txBody>
      </p:sp>
      <p:sp>
        <p:nvSpPr>
          <p:cNvPr id="298" name="Google Shape;298;p29"/>
          <p:cNvSpPr/>
          <p:nvPr/>
        </p:nvSpPr>
        <p:spPr>
          <a:xfrm>
            <a:off x="555475" y="23848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29"/>
          <p:cNvSpPr/>
          <p:nvPr/>
        </p:nvSpPr>
        <p:spPr>
          <a:xfrm>
            <a:off x="555475" y="424087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2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0"/>
          <p:cNvSpPr txBox="1"/>
          <p:nvPr>
            <p:ph type="title"/>
          </p:nvPr>
        </p:nvSpPr>
        <p:spPr>
          <a:xfrm>
            <a:off x="227175" y="13151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Riassumendo…</a:t>
            </a:r>
            <a:endParaRPr b="1" sz="2200">
              <a:latin typeface="Lexend"/>
              <a:ea typeface="Lexend"/>
              <a:cs typeface="Lexend"/>
              <a:sym typeface="Lexend"/>
            </a:endParaRPr>
          </a:p>
        </p:txBody>
      </p:sp>
      <p:sp>
        <p:nvSpPr>
          <p:cNvPr id="306" name="Google Shape;306;p3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 name="Google Shape;307;p30"/>
          <p:cNvSpPr txBox="1"/>
          <p:nvPr>
            <p:ph idx="1" type="body"/>
          </p:nvPr>
        </p:nvSpPr>
        <p:spPr>
          <a:xfrm>
            <a:off x="700350" y="1983700"/>
            <a:ext cx="7743300" cy="1844700"/>
          </a:xfrm>
          <a:prstGeom prst="rect">
            <a:avLst/>
          </a:prstGeom>
        </p:spPr>
        <p:txBody>
          <a:bodyPr anchorCtr="0" anchor="t" bIns="91425" lIns="91425" spcFirstLastPara="1" rIns="91425" wrap="square" tIns="91425">
            <a:noAutofit/>
          </a:bodyPr>
          <a:lstStyle/>
          <a:p>
            <a:pPr indent="0" lvl="0" marL="0" rtl="0" algn="ctr">
              <a:spcBef>
                <a:spcPts val="1200"/>
              </a:spcBef>
              <a:spcAft>
                <a:spcPts val="1200"/>
              </a:spcAft>
              <a:buNone/>
            </a:pPr>
            <a:r>
              <a:rPr b="1" lang="it" sz="2200">
                <a:solidFill>
                  <a:srgbClr val="274E13"/>
                </a:solidFill>
                <a:latin typeface="Lexend"/>
                <a:ea typeface="Lexend"/>
                <a:cs typeface="Lexend"/>
                <a:sym typeface="Lexend"/>
              </a:rPr>
              <a:t>Nel 2026, investire nel fotovoltaico assicura </a:t>
            </a:r>
            <a:r>
              <a:rPr b="1" lang="it" sz="2200">
                <a:solidFill>
                  <a:srgbClr val="274E13"/>
                </a:solidFill>
                <a:highlight>
                  <a:srgbClr val="D9EAD3"/>
                </a:highlight>
                <a:latin typeface="Lexend"/>
                <a:ea typeface="Lexend"/>
                <a:cs typeface="Lexend"/>
                <a:sym typeface="Lexend"/>
              </a:rPr>
              <a:t>risparmi immediati</a:t>
            </a:r>
            <a:r>
              <a:rPr b="1" lang="it" sz="2200">
                <a:solidFill>
                  <a:srgbClr val="274E13"/>
                </a:solidFill>
                <a:latin typeface="Lexend"/>
                <a:ea typeface="Lexend"/>
                <a:cs typeface="Lexend"/>
                <a:sym typeface="Lexend"/>
              </a:rPr>
              <a:t>, un eccellente ritorno dell’investimento e incentivi fiscali, offrendo </a:t>
            </a:r>
            <a:r>
              <a:rPr b="1" lang="it" sz="2200">
                <a:solidFill>
                  <a:srgbClr val="274E13"/>
                </a:solidFill>
                <a:highlight>
                  <a:srgbClr val="D9EAD3"/>
                </a:highlight>
                <a:latin typeface="Lexend"/>
                <a:ea typeface="Lexend"/>
                <a:cs typeface="Lexend"/>
                <a:sym typeface="Lexend"/>
              </a:rPr>
              <a:t>soluzioni adatte a tutti</a:t>
            </a:r>
            <a:r>
              <a:rPr b="1" lang="it" sz="2200">
                <a:solidFill>
                  <a:srgbClr val="274E13"/>
                </a:solidFill>
                <a:latin typeface="Lexend"/>
                <a:ea typeface="Lexend"/>
                <a:cs typeface="Lexend"/>
                <a:sym typeface="Lexend"/>
              </a:rPr>
              <a:t> per una </a:t>
            </a:r>
            <a:r>
              <a:rPr b="1" lang="it" sz="2200">
                <a:solidFill>
                  <a:srgbClr val="274E13"/>
                </a:solidFill>
                <a:highlight>
                  <a:srgbClr val="D9EAD3"/>
                </a:highlight>
                <a:latin typeface="Lexend"/>
                <a:ea typeface="Lexend"/>
                <a:cs typeface="Lexend"/>
                <a:sym typeface="Lexend"/>
              </a:rPr>
              <a:t>maggiore indipendenza energetica</a:t>
            </a:r>
            <a:r>
              <a:rPr b="1" lang="it" sz="2200">
                <a:solidFill>
                  <a:srgbClr val="274E13"/>
                </a:solidFill>
                <a:latin typeface="Lexend"/>
                <a:ea typeface="Lexend"/>
                <a:cs typeface="Lexend"/>
                <a:sym typeface="Lexend"/>
              </a:rPr>
              <a:t>.</a:t>
            </a:r>
            <a:endParaRPr b="1" sz="2200">
              <a:solidFill>
                <a:srgbClr val="274E13"/>
              </a:solidFill>
              <a:latin typeface="Lexend"/>
              <a:ea typeface="Lexend"/>
              <a:cs typeface="Lexend"/>
              <a:sym typeface="Lexend"/>
            </a:endParaRPr>
          </a:p>
        </p:txBody>
      </p:sp>
      <p:pic>
        <p:nvPicPr>
          <p:cNvPr id="308" name="Google Shape;308;p3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309" name="Google Shape;309;p3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 | 17</a:t>
            </a:r>
            <a:endParaRPr sz="700">
              <a:latin typeface="Lexend"/>
              <a:ea typeface="Lexend"/>
              <a:cs typeface="Lexend"/>
              <a:sym typeface="Lexend"/>
            </a:endParaRPr>
          </a:p>
        </p:txBody>
      </p:sp>
      <p:sp>
        <p:nvSpPr>
          <p:cNvPr id="310" name="Google Shape;310;p3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1"/>
          <p:cNvSpPr txBox="1"/>
          <p:nvPr>
            <p:ph type="title"/>
          </p:nvPr>
        </p:nvSpPr>
        <p:spPr>
          <a:xfrm>
            <a:off x="311700" y="12393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La nostra Mission:</a:t>
            </a:r>
            <a:endParaRPr b="1" sz="2200">
              <a:latin typeface="Lexend"/>
              <a:ea typeface="Lexend"/>
              <a:cs typeface="Lexend"/>
              <a:sym typeface="Lexend"/>
            </a:endParaRPr>
          </a:p>
        </p:txBody>
      </p:sp>
      <p:sp>
        <p:nvSpPr>
          <p:cNvPr id="316" name="Google Shape;316;p3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31"/>
          <p:cNvSpPr txBox="1"/>
          <p:nvPr>
            <p:ph idx="1" type="body"/>
          </p:nvPr>
        </p:nvSpPr>
        <p:spPr>
          <a:xfrm>
            <a:off x="1414050" y="1836925"/>
            <a:ext cx="6315900" cy="84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it" sz="2400">
                <a:solidFill>
                  <a:srgbClr val="274E13"/>
                </a:solidFill>
                <a:latin typeface="Lexend"/>
                <a:ea typeface="Lexend"/>
                <a:cs typeface="Lexend"/>
                <a:sym typeface="Lexend"/>
              </a:rPr>
              <a:t>Rendere il fotovoltaico REALMENTE </a:t>
            </a:r>
            <a:endParaRPr b="1" sz="2400">
              <a:solidFill>
                <a:srgbClr val="274E13"/>
              </a:solidFill>
              <a:latin typeface="Lexend"/>
              <a:ea typeface="Lexend"/>
              <a:cs typeface="Lexend"/>
              <a:sym typeface="Lexend"/>
            </a:endParaRPr>
          </a:p>
          <a:p>
            <a:pPr indent="0" lvl="0" marL="0" rtl="0" algn="ctr">
              <a:spcBef>
                <a:spcPts val="0"/>
              </a:spcBef>
              <a:spcAft>
                <a:spcPts val="0"/>
              </a:spcAft>
              <a:buNone/>
            </a:pPr>
            <a:r>
              <a:rPr b="1" lang="it" sz="2400">
                <a:solidFill>
                  <a:srgbClr val="274E13"/>
                </a:solidFill>
                <a:latin typeface="Lexend"/>
                <a:ea typeface="Lexend"/>
                <a:cs typeface="Lexend"/>
                <a:sym typeface="Lexend"/>
              </a:rPr>
              <a:t>accessibile a tutte le famiglie italiane.</a:t>
            </a:r>
            <a:endParaRPr sz="2400">
              <a:solidFill>
                <a:srgbClr val="274E13"/>
              </a:solidFill>
            </a:endParaRPr>
          </a:p>
        </p:txBody>
      </p:sp>
      <p:pic>
        <p:nvPicPr>
          <p:cNvPr id="318" name="Google Shape;318;p3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319" name="Google Shape;319;p3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18</a:t>
            </a:r>
            <a:endParaRPr sz="700">
              <a:latin typeface="Lexend"/>
              <a:ea typeface="Lexend"/>
              <a:cs typeface="Lexend"/>
              <a:sym typeface="Lexend"/>
            </a:endParaRPr>
          </a:p>
        </p:txBody>
      </p:sp>
      <p:sp>
        <p:nvSpPr>
          <p:cNvPr id="320" name="Google Shape;320;p3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2"/>
          <p:cNvSpPr txBox="1"/>
          <p:nvPr>
            <p:ph type="title"/>
          </p:nvPr>
        </p:nvSpPr>
        <p:spPr>
          <a:xfrm>
            <a:off x="311700" y="12393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La nostra Mission:</a:t>
            </a:r>
            <a:endParaRPr b="1" sz="2200">
              <a:latin typeface="Lexend"/>
              <a:ea typeface="Lexend"/>
              <a:cs typeface="Lexend"/>
              <a:sym typeface="Lexend"/>
            </a:endParaRPr>
          </a:p>
        </p:txBody>
      </p:sp>
      <p:sp>
        <p:nvSpPr>
          <p:cNvPr id="326" name="Google Shape;326;p3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32"/>
          <p:cNvSpPr txBox="1"/>
          <p:nvPr>
            <p:ph idx="1" type="body"/>
          </p:nvPr>
        </p:nvSpPr>
        <p:spPr>
          <a:xfrm>
            <a:off x="1414050" y="1836925"/>
            <a:ext cx="6315900" cy="84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it" sz="2400">
                <a:solidFill>
                  <a:srgbClr val="274E13"/>
                </a:solidFill>
                <a:latin typeface="Lexend"/>
                <a:ea typeface="Lexend"/>
                <a:cs typeface="Lexend"/>
                <a:sym typeface="Lexend"/>
              </a:rPr>
              <a:t>Rendere il fotovoltaico REALMENTE </a:t>
            </a:r>
            <a:endParaRPr b="1" sz="2400">
              <a:solidFill>
                <a:srgbClr val="274E13"/>
              </a:solidFill>
              <a:latin typeface="Lexend"/>
              <a:ea typeface="Lexend"/>
              <a:cs typeface="Lexend"/>
              <a:sym typeface="Lexend"/>
            </a:endParaRPr>
          </a:p>
          <a:p>
            <a:pPr indent="0" lvl="0" marL="0" rtl="0" algn="ctr">
              <a:spcBef>
                <a:spcPts val="0"/>
              </a:spcBef>
              <a:spcAft>
                <a:spcPts val="0"/>
              </a:spcAft>
              <a:buNone/>
            </a:pPr>
            <a:r>
              <a:rPr b="1" lang="it" sz="2400">
                <a:solidFill>
                  <a:srgbClr val="274E13"/>
                </a:solidFill>
                <a:latin typeface="Lexend"/>
                <a:ea typeface="Lexend"/>
                <a:cs typeface="Lexend"/>
                <a:sym typeface="Lexend"/>
              </a:rPr>
              <a:t>accessibile a tutte le famiglie italiane.</a:t>
            </a:r>
            <a:endParaRPr sz="2400">
              <a:solidFill>
                <a:srgbClr val="274E13"/>
              </a:solidFill>
            </a:endParaRPr>
          </a:p>
        </p:txBody>
      </p:sp>
      <p:sp>
        <p:nvSpPr>
          <p:cNvPr id="328" name="Google Shape;328;p32"/>
          <p:cNvSpPr txBox="1"/>
          <p:nvPr>
            <p:ph type="title"/>
          </p:nvPr>
        </p:nvSpPr>
        <p:spPr>
          <a:xfrm>
            <a:off x="311700" y="30232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e come ci proponiamo al mercato?</a:t>
            </a:r>
            <a:endParaRPr b="1" sz="2200">
              <a:latin typeface="Lexend"/>
              <a:ea typeface="Lexend"/>
              <a:cs typeface="Lexend"/>
              <a:sym typeface="Lexend"/>
            </a:endParaRPr>
          </a:p>
        </p:txBody>
      </p:sp>
      <p:sp>
        <p:nvSpPr>
          <p:cNvPr id="329" name="Google Shape;329;p32"/>
          <p:cNvSpPr txBox="1"/>
          <p:nvPr>
            <p:ph type="title"/>
          </p:nvPr>
        </p:nvSpPr>
        <p:spPr>
          <a:xfrm>
            <a:off x="311700" y="36816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400">
                <a:solidFill>
                  <a:srgbClr val="274E13"/>
                </a:solidFill>
                <a:highlight>
                  <a:srgbClr val="D9EAD3"/>
                </a:highlight>
                <a:latin typeface="Lexend"/>
                <a:ea typeface="Lexend"/>
                <a:cs typeface="Lexend"/>
                <a:sym typeface="Lexend"/>
              </a:rPr>
              <a:t>con due soluzioni differenti</a:t>
            </a:r>
            <a:endParaRPr b="1" sz="2400">
              <a:solidFill>
                <a:srgbClr val="274E13"/>
              </a:solidFill>
              <a:highlight>
                <a:srgbClr val="D9EAD3"/>
              </a:highlight>
              <a:latin typeface="Lexend"/>
              <a:ea typeface="Lexend"/>
              <a:cs typeface="Lexend"/>
              <a:sym typeface="Lexend"/>
            </a:endParaRPr>
          </a:p>
        </p:txBody>
      </p:sp>
      <p:pic>
        <p:nvPicPr>
          <p:cNvPr id="330" name="Google Shape;330;p3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331" name="Google Shape;331;p3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19</a:t>
            </a:r>
            <a:endParaRPr sz="700">
              <a:latin typeface="Lexend"/>
              <a:ea typeface="Lexend"/>
              <a:cs typeface="Lexend"/>
              <a:sym typeface="Lexend"/>
            </a:endParaRPr>
          </a:p>
        </p:txBody>
      </p:sp>
      <p:sp>
        <p:nvSpPr>
          <p:cNvPr id="332" name="Google Shape;332;p3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3"/>
          <p:cNvSpPr/>
          <p:nvPr/>
        </p:nvSpPr>
        <p:spPr>
          <a:xfrm>
            <a:off x="4766225" y="2846975"/>
            <a:ext cx="3602700" cy="19773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33"/>
          <p:cNvSpPr/>
          <p:nvPr/>
        </p:nvSpPr>
        <p:spPr>
          <a:xfrm>
            <a:off x="729300" y="2846975"/>
            <a:ext cx="3602700" cy="1977300"/>
          </a:xfrm>
          <a:prstGeom prst="rect">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39" name="Google Shape;339;p3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340" name="Google Shape;340;p3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Prodotti</a:t>
            </a:r>
            <a:r>
              <a:rPr lang="it" sz="700">
                <a:latin typeface="Lexend"/>
                <a:ea typeface="Lexend"/>
                <a:cs typeface="Lexend"/>
                <a:sym typeface="Lexend"/>
              </a:rPr>
              <a:t> | 20</a:t>
            </a:r>
            <a:endParaRPr sz="700">
              <a:latin typeface="Lexend"/>
              <a:ea typeface="Lexend"/>
              <a:cs typeface="Lexend"/>
              <a:sym typeface="Lexend"/>
            </a:endParaRPr>
          </a:p>
        </p:txBody>
      </p:sp>
      <p:sp>
        <p:nvSpPr>
          <p:cNvPr id="341" name="Google Shape;341;p3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33"/>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I nostri Prodotti</a:t>
            </a:r>
            <a:endParaRPr b="1" sz="2200">
              <a:latin typeface="Lexend"/>
              <a:ea typeface="Lexend"/>
              <a:cs typeface="Lexend"/>
              <a:sym typeface="Lexend"/>
            </a:endParaRPr>
          </a:p>
        </p:txBody>
      </p:sp>
      <p:sp>
        <p:nvSpPr>
          <p:cNvPr id="343" name="Google Shape;343;p33"/>
          <p:cNvSpPr txBox="1"/>
          <p:nvPr>
            <p:ph idx="1" type="body"/>
          </p:nvPr>
        </p:nvSpPr>
        <p:spPr>
          <a:xfrm>
            <a:off x="902400" y="2903625"/>
            <a:ext cx="3348000" cy="18783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it" sz="1500">
                <a:solidFill>
                  <a:srgbClr val="0B5394"/>
                </a:solidFill>
                <a:highlight>
                  <a:srgbClr val="CFE2F3"/>
                </a:highlight>
                <a:latin typeface="Lexend"/>
                <a:ea typeface="Lexend"/>
                <a:cs typeface="Lexend"/>
                <a:sym typeface="Lexend"/>
              </a:rPr>
              <a:t>Linea Entry-Level: EFFYsmart</a:t>
            </a:r>
            <a:r>
              <a:rPr lang="it" sz="1500">
                <a:solidFill>
                  <a:schemeClr val="dk1"/>
                </a:solidFill>
                <a:latin typeface="Lexend"/>
                <a:ea typeface="Lexend"/>
                <a:cs typeface="Lexend"/>
                <a:sym typeface="Lexend"/>
              </a:rPr>
              <a:t>, ottima per chi cerca il giusto compromesso tra Costo-Efficienza.</a:t>
            </a:r>
            <a:endParaRPr sz="1500">
              <a:solidFill>
                <a:schemeClr val="dk1"/>
              </a:solidFill>
              <a:latin typeface="Lexend"/>
              <a:ea typeface="Lexend"/>
              <a:cs typeface="Lexend"/>
              <a:sym typeface="Lexend"/>
            </a:endParaRPr>
          </a:p>
          <a:p>
            <a:pPr indent="0" lvl="0" marL="0" rtl="0" algn="l">
              <a:spcBef>
                <a:spcPts val="0"/>
              </a:spcBef>
              <a:spcAft>
                <a:spcPts val="0"/>
              </a:spcAft>
              <a:buNone/>
            </a:pPr>
            <a:r>
              <a:t/>
            </a:r>
            <a:endParaRPr sz="900">
              <a:solidFill>
                <a:schemeClr val="dk1"/>
              </a:solidFill>
              <a:latin typeface="Lexend"/>
              <a:ea typeface="Lexend"/>
              <a:cs typeface="Lexend"/>
              <a:sym typeface="Lexend"/>
            </a:endParaRPr>
          </a:p>
          <a:p>
            <a:pPr indent="0" lvl="0" marL="0" rtl="0" algn="l">
              <a:spcBef>
                <a:spcPts val="0"/>
              </a:spcBef>
              <a:spcAft>
                <a:spcPts val="0"/>
              </a:spcAft>
              <a:buNone/>
            </a:pPr>
            <a:r>
              <a:t/>
            </a:r>
            <a:endParaRPr sz="984">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Disponibili soluzioni dal 3 al +10kwp con accumulo o senza.</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408" u="sng">
                <a:solidFill>
                  <a:schemeClr val="dk1"/>
                </a:solidFill>
                <a:latin typeface="Lexend"/>
                <a:ea typeface="Lexend"/>
                <a:cs typeface="Lexend"/>
                <a:sym typeface="Lexend"/>
              </a:rPr>
              <a:t>“Chiavi in Mano”</a:t>
            </a:r>
            <a:endParaRPr sz="1408" u="sng">
              <a:solidFill>
                <a:schemeClr val="dk1"/>
              </a:solidFill>
              <a:latin typeface="Lexend"/>
              <a:ea typeface="Lexend"/>
              <a:cs typeface="Lexend"/>
              <a:sym typeface="Lexend"/>
            </a:endParaRPr>
          </a:p>
        </p:txBody>
      </p:sp>
      <p:sp>
        <p:nvSpPr>
          <p:cNvPr id="344" name="Google Shape;344;p33"/>
          <p:cNvSpPr txBox="1"/>
          <p:nvPr>
            <p:ph idx="1" type="body"/>
          </p:nvPr>
        </p:nvSpPr>
        <p:spPr>
          <a:xfrm>
            <a:off x="4893575" y="2903624"/>
            <a:ext cx="3348000" cy="1878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it" sz="1500">
                <a:solidFill>
                  <a:srgbClr val="FF9900"/>
                </a:solidFill>
                <a:highlight>
                  <a:srgbClr val="FCE5CD"/>
                </a:highlight>
                <a:latin typeface="Lexend"/>
                <a:ea typeface="Lexend"/>
                <a:cs typeface="Lexend"/>
                <a:sym typeface="Lexend"/>
              </a:rPr>
              <a:t>Linea Premium: EFFYpro</a:t>
            </a:r>
            <a:r>
              <a:rPr lang="it" sz="1500">
                <a:solidFill>
                  <a:schemeClr val="dk1"/>
                </a:solidFill>
                <a:latin typeface="Lexend"/>
                <a:ea typeface="Lexend"/>
                <a:cs typeface="Lexend"/>
                <a:sym typeface="Lexend"/>
              </a:rPr>
              <a:t>, per chi vuole il massimo delle tecnologie e performance nella propria casa.</a:t>
            </a:r>
            <a:endParaRPr sz="1500">
              <a:solidFill>
                <a:schemeClr val="dk1"/>
              </a:solidFill>
              <a:latin typeface="Lexend"/>
              <a:ea typeface="Lexend"/>
              <a:cs typeface="Lexend"/>
              <a:sym typeface="Lexend"/>
            </a:endParaRPr>
          </a:p>
          <a:p>
            <a:pPr indent="0" lvl="0" marL="0" rtl="0" algn="l">
              <a:spcBef>
                <a:spcPts val="0"/>
              </a:spcBef>
              <a:spcAft>
                <a:spcPts val="0"/>
              </a:spcAft>
              <a:buNone/>
            </a:pPr>
            <a:r>
              <a:t/>
            </a:r>
            <a:endParaRPr sz="9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Disponibili soluzioni dal 3 al +10kwp con accumulo o senza.</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400" u="sng">
                <a:solidFill>
                  <a:schemeClr val="dk1"/>
                </a:solidFill>
                <a:latin typeface="Lexend"/>
                <a:ea typeface="Lexend"/>
                <a:cs typeface="Lexend"/>
                <a:sym typeface="Lexend"/>
              </a:rPr>
              <a:t>“Chiavi in Mano”</a:t>
            </a:r>
            <a:endParaRPr sz="1400">
              <a:solidFill>
                <a:schemeClr val="dk1"/>
              </a:solidFill>
              <a:latin typeface="Lexend"/>
              <a:ea typeface="Lexend"/>
              <a:cs typeface="Lexend"/>
              <a:sym typeface="Lexend"/>
            </a:endParaRPr>
          </a:p>
        </p:txBody>
      </p:sp>
      <p:sp>
        <p:nvSpPr>
          <p:cNvPr id="345" name="Google Shape;345;p3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346" name="Google Shape;346;p33" title="effypro.png"/>
          <p:cNvPicPr preferRelativeResize="0"/>
          <p:nvPr/>
        </p:nvPicPr>
        <p:blipFill>
          <a:blip r:embed="rId4">
            <a:alphaModFix/>
          </a:blip>
          <a:stretch>
            <a:fillRect/>
          </a:stretch>
        </p:blipFill>
        <p:spPr>
          <a:xfrm>
            <a:off x="4957263" y="1088488"/>
            <a:ext cx="2272175" cy="1769550"/>
          </a:xfrm>
          <a:prstGeom prst="rect">
            <a:avLst/>
          </a:prstGeom>
          <a:noFill/>
          <a:ln>
            <a:noFill/>
          </a:ln>
        </p:spPr>
      </p:pic>
      <p:pic>
        <p:nvPicPr>
          <p:cNvPr id="347" name="Google Shape;347;p33" title="effysmart.png"/>
          <p:cNvPicPr preferRelativeResize="0"/>
          <p:nvPr/>
        </p:nvPicPr>
        <p:blipFill>
          <a:blip r:embed="rId5">
            <a:alphaModFix/>
          </a:blip>
          <a:stretch>
            <a:fillRect/>
          </a:stretch>
        </p:blipFill>
        <p:spPr>
          <a:xfrm>
            <a:off x="989382" y="1099550"/>
            <a:ext cx="2243781" cy="1747425"/>
          </a:xfrm>
          <a:prstGeom prst="rect">
            <a:avLst/>
          </a:prstGeom>
          <a:noFill/>
          <a:ln>
            <a:noFill/>
          </a:ln>
        </p:spPr>
      </p:pic>
      <p:cxnSp>
        <p:nvCxnSpPr>
          <p:cNvPr id="348" name="Google Shape;348;p33"/>
          <p:cNvCxnSpPr/>
          <p:nvPr/>
        </p:nvCxnSpPr>
        <p:spPr>
          <a:xfrm flipH="1" rot="10800000">
            <a:off x="737100" y="2850405"/>
            <a:ext cx="3587100" cy="7800"/>
          </a:xfrm>
          <a:prstGeom prst="straightConnector1">
            <a:avLst/>
          </a:prstGeom>
          <a:noFill/>
          <a:ln cap="flat" cmpd="sng" w="28575">
            <a:solidFill>
              <a:srgbClr val="1155CC"/>
            </a:solidFill>
            <a:prstDash val="solid"/>
            <a:round/>
            <a:headEnd len="med" w="med" type="none"/>
            <a:tailEnd len="med" w="med" type="none"/>
          </a:ln>
        </p:spPr>
      </p:cxnSp>
      <p:cxnSp>
        <p:nvCxnSpPr>
          <p:cNvPr id="349" name="Google Shape;349;p33"/>
          <p:cNvCxnSpPr/>
          <p:nvPr/>
        </p:nvCxnSpPr>
        <p:spPr>
          <a:xfrm flipH="1" rot="10800000">
            <a:off x="4774025" y="2850405"/>
            <a:ext cx="3587100" cy="7800"/>
          </a:xfrm>
          <a:prstGeom prst="straightConnector1">
            <a:avLst/>
          </a:prstGeom>
          <a:noFill/>
          <a:ln cap="flat" cmpd="sng" w="28575">
            <a:solidFill>
              <a:srgbClr val="FF9900"/>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3" name="Shape 353"/>
        <p:cNvGrpSpPr/>
        <p:nvPr/>
      </p:nvGrpSpPr>
      <p:grpSpPr>
        <a:xfrm>
          <a:off x="0" y="0"/>
          <a:ext cx="0" cy="0"/>
          <a:chOff x="0" y="0"/>
          <a:chExt cx="0" cy="0"/>
        </a:xfrm>
      </p:grpSpPr>
      <p:sp>
        <p:nvSpPr>
          <p:cNvPr id="354" name="Google Shape;354;p3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5" name="Google Shape;355;p34"/>
          <p:cNvPicPr preferRelativeResize="0"/>
          <p:nvPr/>
        </p:nvPicPr>
        <p:blipFill rotWithShape="1">
          <a:blip r:embed="rId3">
            <a:alphaModFix/>
          </a:blip>
          <a:srcRect b="0" l="0" r="0" t="0"/>
          <a:stretch/>
        </p:blipFill>
        <p:spPr>
          <a:xfrm>
            <a:off x="2166350" y="1307937"/>
            <a:ext cx="4906300" cy="1991900"/>
          </a:xfrm>
          <a:prstGeom prst="rect">
            <a:avLst/>
          </a:prstGeom>
          <a:noFill/>
          <a:ln>
            <a:noFill/>
          </a:ln>
        </p:spPr>
      </p:pic>
      <p:sp>
        <p:nvSpPr>
          <p:cNvPr id="356" name="Google Shape;356;p34"/>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 e se vivo in </a:t>
            </a:r>
            <a:r>
              <a:rPr b="1" lang="it" sz="2200">
                <a:latin typeface="Lexend"/>
                <a:ea typeface="Lexend"/>
                <a:cs typeface="Lexend"/>
                <a:sym typeface="Lexend"/>
              </a:rPr>
              <a:t>appartamento</a:t>
            </a:r>
            <a:r>
              <a:rPr lang="it" sz="2200">
                <a:latin typeface="Lexend"/>
                <a:ea typeface="Lexend"/>
                <a:cs typeface="Lexend"/>
                <a:sym typeface="Lexend"/>
              </a:rPr>
              <a:t>?</a:t>
            </a:r>
            <a:endParaRPr b="1" sz="2200">
              <a:latin typeface="Lexend"/>
              <a:ea typeface="Lexend"/>
              <a:cs typeface="Lexend"/>
              <a:sym typeface="Lexend"/>
            </a:endParaRPr>
          </a:p>
        </p:txBody>
      </p:sp>
      <p:sp>
        <p:nvSpPr>
          <p:cNvPr id="357" name="Google Shape;357;p34"/>
          <p:cNvSpPr txBox="1"/>
          <p:nvPr>
            <p:ph idx="1" type="body"/>
          </p:nvPr>
        </p:nvSpPr>
        <p:spPr>
          <a:xfrm>
            <a:off x="2166450" y="3505175"/>
            <a:ext cx="4906200" cy="1359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600">
                <a:solidFill>
                  <a:schemeClr val="dk1"/>
                </a:solidFill>
                <a:latin typeface="Lexend"/>
                <a:ea typeface="Lexend"/>
                <a:cs typeface="Lexend"/>
                <a:sym typeface="Lexend"/>
              </a:rPr>
              <a:t>La </a:t>
            </a:r>
            <a:r>
              <a:rPr b="1" lang="it" sz="1600">
                <a:solidFill>
                  <a:schemeClr val="dk1"/>
                </a:solidFill>
                <a:latin typeface="Lexend"/>
                <a:ea typeface="Lexend"/>
                <a:cs typeface="Lexend"/>
                <a:sym typeface="Lexend"/>
              </a:rPr>
              <a:t>soluzione</a:t>
            </a:r>
            <a:r>
              <a:rPr lang="it" sz="1600">
                <a:solidFill>
                  <a:schemeClr val="dk1"/>
                </a:solidFill>
                <a:latin typeface="Lexend"/>
                <a:ea typeface="Lexend"/>
                <a:cs typeface="Lexend"/>
                <a:sym typeface="Lexend"/>
              </a:rPr>
              <a:t> dove è difficile o troppo costoso arrivare con il fotovoltaico tradizionale!</a:t>
            </a:r>
            <a:endParaRPr sz="1600">
              <a:solidFill>
                <a:schemeClr val="dk1"/>
              </a:solidFill>
              <a:latin typeface="Lexend"/>
              <a:ea typeface="Lexend"/>
              <a:cs typeface="Lexend"/>
              <a:sym typeface="Lexend"/>
            </a:endParaRPr>
          </a:p>
          <a:p>
            <a:pPr indent="0" lvl="0" marL="0" rtl="0" algn="ctr">
              <a:spcBef>
                <a:spcPts val="0"/>
              </a:spcBef>
              <a:spcAft>
                <a:spcPts val="0"/>
              </a:spcAft>
              <a:buNone/>
            </a:pPr>
            <a:r>
              <a:t/>
            </a:r>
            <a:endParaRPr sz="1074">
              <a:solidFill>
                <a:schemeClr val="dk1"/>
              </a:solidFill>
              <a:latin typeface="Lexend"/>
              <a:ea typeface="Lexend"/>
              <a:cs typeface="Lexend"/>
              <a:sym typeface="Lexend"/>
            </a:endParaRPr>
          </a:p>
          <a:p>
            <a:pPr indent="0" lvl="0" marL="0" rtl="0" algn="ctr">
              <a:spcBef>
                <a:spcPts val="0"/>
              </a:spcBef>
              <a:spcAft>
                <a:spcPts val="0"/>
              </a:spcAft>
              <a:buNone/>
            </a:pPr>
            <a:r>
              <a:rPr lang="it" sz="1300" u="sng">
                <a:solidFill>
                  <a:schemeClr val="dk1"/>
                </a:solidFill>
                <a:latin typeface="Lexend"/>
                <a:ea typeface="Lexend"/>
                <a:cs typeface="Lexend"/>
                <a:sym typeface="Lexend"/>
              </a:rPr>
              <a:t>“Chiavi in Mano”</a:t>
            </a:r>
            <a:r>
              <a:rPr lang="it" sz="1300">
                <a:solidFill>
                  <a:schemeClr val="dk1"/>
                </a:solidFill>
                <a:latin typeface="Lexend"/>
                <a:ea typeface="Lexend"/>
                <a:cs typeface="Lexend"/>
                <a:sym typeface="Lexend"/>
              </a:rPr>
              <a:t> o </a:t>
            </a:r>
            <a:r>
              <a:rPr lang="it" sz="1300" u="sng">
                <a:solidFill>
                  <a:schemeClr val="dk1"/>
                </a:solidFill>
                <a:latin typeface="Lexend"/>
                <a:ea typeface="Lexend"/>
                <a:cs typeface="Lexend"/>
                <a:sym typeface="Lexend"/>
              </a:rPr>
              <a:t>“KIT senza montaggio”</a:t>
            </a:r>
            <a:endParaRPr b="1" sz="1300">
              <a:solidFill>
                <a:schemeClr val="dk1"/>
              </a:solidFill>
              <a:latin typeface="Lexend"/>
              <a:ea typeface="Lexend"/>
              <a:cs typeface="Lexend"/>
              <a:sym typeface="Lexend"/>
            </a:endParaRPr>
          </a:p>
        </p:txBody>
      </p:sp>
      <p:pic>
        <p:nvPicPr>
          <p:cNvPr id="358" name="Google Shape;358;p34"/>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359" name="Google Shape;359;p3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Prodotti | 21</a:t>
            </a:r>
            <a:endParaRPr sz="700">
              <a:latin typeface="Lexend"/>
              <a:ea typeface="Lexend"/>
              <a:cs typeface="Lexend"/>
              <a:sym typeface="Lexend"/>
            </a:endParaRPr>
          </a:p>
        </p:txBody>
      </p:sp>
      <p:sp>
        <p:nvSpPr>
          <p:cNvPr id="360" name="Google Shape;360;p3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35"/>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I nostri Servizi - </a:t>
            </a:r>
            <a:r>
              <a:rPr b="1" lang="it" sz="2200">
                <a:latin typeface="Lexend"/>
                <a:ea typeface="Lexend"/>
                <a:cs typeface="Lexend"/>
                <a:sym typeface="Lexend"/>
              </a:rPr>
              <a:t>Manutenzione </a:t>
            </a:r>
            <a:r>
              <a:rPr b="1" lang="it" sz="2200">
                <a:solidFill>
                  <a:srgbClr val="999999"/>
                </a:solidFill>
                <a:latin typeface="Lexend"/>
                <a:ea typeface="Lexend"/>
                <a:cs typeface="Lexend"/>
                <a:sym typeface="Lexend"/>
              </a:rPr>
              <a:t>SILVER</a:t>
            </a:r>
            <a:endParaRPr b="1" sz="2200">
              <a:latin typeface="Lexend"/>
              <a:ea typeface="Lexend"/>
              <a:cs typeface="Lexend"/>
              <a:sym typeface="Lexend"/>
            </a:endParaRPr>
          </a:p>
        </p:txBody>
      </p:sp>
      <p:sp>
        <p:nvSpPr>
          <p:cNvPr id="367" name="Google Shape;367;p35"/>
          <p:cNvSpPr txBox="1"/>
          <p:nvPr>
            <p:ph idx="1" type="body"/>
          </p:nvPr>
        </p:nvSpPr>
        <p:spPr>
          <a:xfrm>
            <a:off x="823363" y="1715575"/>
            <a:ext cx="5102100" cy="2961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it" sz="1200">
                <a:solidFill>
                  <a:schemeClr val="dk1"/>
                </a:solidFill>
                <a:highlight>
                  <a:srgbClr val="FFFFFF"/>
                </a:highlight>
                <a:latin typeface="Lexend"/>
                <a:ea typeface="Lexend"/>
                <a:cs typeface="Lexend"/>
                <a:sym typeface="Lexend"/>
              </a:rPr>
              <a:t>Manutenzione Programmata Annuale:</a:t>
            </a:r>
            <a:endParaRPr b="1" sz="1200">
              <a:solidFill>
                <a:schemeClr val="dk1"/>
              </a:solidFill>
              <a:highlight>
                <a:srgbClr val="FFFFFF"/>
              </a:highlight>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Checkup Totale sulle componenti elettriche ed elettroniche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Sostituzione Fusibili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Produzione Impianto</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Inverter</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Batterie</a:t>
            </a:r>
            <a:endParaRPr sz="1100">
              <a:solidFill>
                <a:schemeClr val="dk1"/>
              </a:solidFill>
              <a:latin typeface="Lexend"/>
              <a:ea typeface="Lexend"/>
              <a:cs typeface="Lexend"/>
              <a:sym typeface="Lexend"/>
            </a:endParaRPr>
          </a:p>
          <a:p>
            <a:pPr indent="0" lvl="0" marL="0" rtl="0" algn="l">
              <a:spcBef>
                <a:spcPts val="1100"/>
              </a:spcBef>
              <a:spcAft>
                <a:spcPts val="0"/>
              </a:spcAft>
              <a:buNone/>
            </a:pPr>
            <a:r>
              <a:t/>
            </a:r>
            <a:endParaRPr sz="100">
              <a:solidFill>
                <a:schemeClr val="dk1"/>
              </a:solidFill>
              <a:latin typeface="Lexend"/>
              <a:ea typeface="Lexend"/>
              <a:cs typeface="Lexend"/>
              <a:sym typeface="Lexend"/>
            </a:endParaRPr>
          </a:p>
          <a:p>
            <a:pPr indent="0" lvl="0" marL="0" rtl="0" algn="l">
              <a:lnSpc>
                <a:spcPct val="100000"/>
              </a:lnSpc>
              <a:spcBef>
                <a:spcPts val="0"/>
              </a:spcBef>
              <a:spcAft>
                <a:spcPts val="0"/>
              </a:spcAft>
              <a:buNone/>
            </a:pPr>
            <a:r>
              <a:rPr b="1" lang="it" sz="1200">
                <a:solidFill>
                  <a:schemeClr val="dk1"/>
                </a:solidFill>
                <a:latin typeface="Lexend"/>
                <a:ea typeface="Lexend"/>
                <a:cs typeface="Lexend"/>
                <a:sym typeface="Lexend"/>
              </a:rPr>
              <a:t>Altri servizi Inclusi:</a:t>
            </a:r>
            <a:endParaRPr b="1" sz="1200">
              <a:solidFill>
                <a:schemeClr val="dk1"/>
              </a:solidFill>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Assicurazione Grandine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Una chiamata gratuita Annuale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Tempo di intervento garantito: </a:t>
            </a:r>
            <a:r>
              <a:rPr b="1" lang="it" sz="1100">
                <a:solidFill>
                  <a:schemeClr val="dk1"/>
                </a:solidFill>
                <a:latin typeface="Lexend"/>
                <a:ea typeface="Lexend"/>
                <a:cs typeface="Lexend"/>
                <a:sym typeface="Lexend"/>
              </a:rPr>
              <a:t>72h lavorative</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Sconto costi manutenzione extra: </a:t>
            </a:r>
            <a:r>
              <a:rPr b="1" lang="it" sz="1100">
                <a:solidFill>
                  <a:schemeClr val="dk1"/>
                </a:solidFill>
                <a:latin typeface="Lexend"/>
                <a:ea typeface="Lexend"/>
                <a:cs typeface="Lexend"/>
                <a:sym typeface="Lexend"/>
              </a:rPr>
              <a:t>30%</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 intervento di pulizia (1 in 3 anni)</a:t>
            </a:r>
            <a:endParaRPr sz="1100">
              <a:solidFill>
                <a:schemeClr val="dk1"/>
              </a:solidFill>
              <a:latin typeface="Lexend"/>
              <a:ea typeface="Lexend"/>
              <a:cs typeface="Lexend"/>
              <a:sym typeface="Lexend"/>
            </a:endParaRPr>
          </a:p>
        </p:txBody>
      </p:sp>
      <p:sp>
        <p:nvSpPr>
          <p:cNvPr id="368" name="Google Shape;368;p35"/>
          <p:cNvSpPr txBox="1"/>
          <p:nvPr>
            <p:ph type="title"/>
          </p:nvPr>
        </p:nvSpPr>
        <p:spPr>
          <a:xfrm>
            <a:off x="311700" y="1075500"/>
            <a:ext cx="8520600" cy="431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500">
                <a:latin typeface="Lexend"/>
                <a:ea typeface="Lexend"/>
                <a:cs typeface="Lexend"/>
                <a:sym typeface="Lexend"/>
              </a:rPr>
              <a:t>Protetto e Assicurato per 3 anni!</a:t>
            </a:r>
            <a:endParaRPr b="1" sz="1500">
              <a:latin typeface="Lexend"/>
              <a:ea typeface="Lexend"/>
              <a:cs typeface="Lexend"/>
              <a:sym typeface="Lexend"/>
            </a:endParaRPr>
          </a:p>
        </p:txBody>
      </p:sp>
      <p:pic>
        <p:nvPicPr>
          <p:cNvPr id="369" name="Google Shape;369;p35"/>
          <p:cNvPicPr preferRelativeResize="0"/>
          <p:nvPr/>
        </p:nvPicPr>
        <p:blipFill>
          <a:blip r:embed="rId3">
            <a:alphaModFix/>
          </a:blip>
          <a:stretch>
            <a:fillRect/>
          </a:stretch>
        </p:blipFill>
        <p:spPr>
          <a:xfrm>
            <a:off x="5925463" y="1574375"/>
            <a:ext cx="2395175" cy="3244301"/>
          </a:xfrm>
          <a:prstGeom prst="rect">
            <a:avLst/>
          </a:prstGeom>
          <a:noFill/>
          <a:ln>
            <a:noFill/>
          </a:ln>
        </p:spPr>
      </p:pic>
      <p:pic>
        <p:nvPicPr>
          <p:cNvPr id="370" name="Google Shape;370;p35"/>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371" name="Google Shape;371;p3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Servizi</a:t>
            </a:r>
            <a:r>
              <a:rPr lang="it" sz="700">
                <a:latin typeface="Lexend"/>
                <a:ea typeface="Lexend"/>
                <a:cs typeface="Lexend"/>
                <a:sym typeface="Lexend"/>
              </a:rPr>
              <a:t> | 22</a:t>
            </a:r>
            <a:endParaRPr sz="700">
              <a:latin typeface="Lexend"/>
              <a:ea typeface="Lexend"/>
              <a:cs typeface="Lexend"/>
              <a:sym typeface="Lexend"/>
            </a:endParaRPr>
          </a:p>
        </p:txBody>
      </p:sp>
      <p:sp>
        <p:nvSpPr>
          <p:cNvPr id="372" name="Google Shape;372;p3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36"/>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I nostri Servizi - </a:t>
            </a:r>
            <a:r>
              <a:rPr b="1" lang="it" sz="2200">
                <a:latin typeface="Lexend"/>
                <a:ea typeface="Lexend"/>
                <a:cs typeface="Lexend"/>
                <a:sym typeface="Lexend"/>
              </a:rPr>
              <a:t>Manutenzione </a:t>
            </a:r>
            <a:r>
              <a:rPr b="1" lang="it" sz="2200">
                <a:solidFill>
                  <a:srgbClr val="C8B82C"/>
                </a:solidFill>
                <a:latin typeface="Lexend"/>
                <a:ea typeface="Lexend"/>
                <a:cs typeface="Lexend"/>
                <a:sym typeface="Lexend"/>
              </a:rPr>
              <a:t>GOLD</a:t>
            </a:r>
            <a:endParaRPr b="1" sz="2200">
              <a:solidFill>
                <a:srgbClr val="C8B82C"/>
              </a:solidFill>
              <a:latin typeface="Lexend"/>
              <a:ea typeface="Lexend"/>
              <a:cs typeface="Lexend"/>
              <a:sym typeface="Lexend"/>
            </a:endParaRPr>
          </a:p>
        </p:txBody>
      </p:sp>
      <p:sp>
        <p:nvSpPr>
          <p:cNvPr id="379" name="Google Shape;379;p36"/>
          <p:cNvSpPr txBox="1"/>
          <p:nvPr>
            <p:ph idx="1" type="body"/>
          </p:nvPr>
        </p:nvSpPr>
        <p:spPr>
          <a:xfrm>
            <a:off x="3344263" y="1715575"/>
            <a:ext cx="5102100" cy="2961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it" sz="1200">
                <a:solidFill>
                  <a:schemeClr val="dk1"/>
                </a:solidFill>
                <a:highlight>
                  <a:srgbClr val="FFFFFF"/>
                </a:highlight>
                <a:latin typeface="Lexend"/>
                <a:ea typeface="Lexend"/>
                <a:cs typeface="Lexend"/>
                <a:sym typeface="Lexend"/>
              </a:rPr>
              <a:t>Manutenzione Programmata Annuale:</a:t>
            </a:r>
            <a:endParaRPr b="1" sz="1200">
              <a:solidFill>
                <a:schemeClr val="dk1"/>
              </a:solidFill>
              <a:highlight>
                <a:srgbClr val="FFFFFF"/>
              </a:highlight>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Checkup Totale sulle componenti elettriche ed elettroniche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Sostituzione Fusibili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Produzione Impianto</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Inverter</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Batterie</a:t>
            </a:r>
            <a:endParaRPr sz="1100">
              <a:solidFill>
                <a:schemeClr val="dk1"/>
              </a:solidFill>
              <a:latin typeface="Lexend"/>
              <a:ea typeface="Lexend"/>
              <a:cs typeface="Lexend"/>
              <a:sym typeface="Lexend"/>
            </a:endParaRPr>
          </a:p>
          <a:p>
            <a:pPr indent="0" lvl="0" marL="0" rtl="0" algn="l">
              <a:spcBef>
                <a:spcPts val="1100"/>
              </a:spcBef>
              <a:spcAft>
                <a:spcPts val="0"/>
              </a:spcAft>
              <a:buNone/>
            </a:pPr>
            <a:r>
              <a:t/>
            </a:r>
            <a:endParaRPr sz="100">
              <a:solidFill>
                <a:schemeClr val="dk1"/>
              </a:solidFill>
              <a:latin typeface="Lexend"/>
              <a:ea typeface="Lexend"/>
              <a:cs typeface="Lexend"/>
              <a:sym typeface="Lexend"/>
            </a:endParaRPr>
          </a:p>
          <a:p>
            <a:pPr indent="0" lvl="0" marL="0" rtl="0" algn="l">
              <a:lnSpc>
                <a:spcPct val="100000"/>
              </a:lnSpc>
              <a:spcBef>
                <a:spcPts val="0"/>
              </a:spcBef>
              <a:spcAft>
                <a:spcPts val="0"/>
              </a:spcAft>
              <a:buNone/>
            </a:pPr>
            <a:r>
              <a:rPr b="1" lang="it" sz="1200">
                <a:solidFill>
                  <a:schemeClr val="dk1"/>
                </a:solidFill>
                <a:latin typeface="Lexend"/>
                <a:ea typeface="Lexend"/>
                <a:cs typeface="Lexend"/>
                <a:sym typeface="Lexend"/>
              </a:rPr>
              <a:t>Altri servizi Inclusi:</a:t>
            </a:r>
            <a:endParaRPr b="1" sz="1200">
              <a:solidFill>
                <a:schemeClr val="dk1"/>
              </a:solidFill>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Assicurazione Grandine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Una chiamata gratuita Annuale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Tempo di intervento garantito: </a:t>
            </a:r>
            <a:r>
              <a:rPr b="1" lang="it" sz="1100">
                <a:solidFill>
                  <a:schemeClr val="dk1"/>
                </a:solidFill>
                <a:latin typeface="Lexend"/>
                <a:ea typeface="Lexend"/>
                <a:cs typeface="Lexend"/>
                <a:sym typeface="Lexend"/>
              </a:rPr>
              <a:t>48</a:t>
            </a:r>
            <a:r>
              <a:rPr b="1" lang="it" sz="1100">
                <a:solidFill>
                  <a:schemeClr val="dk1"/>
                </a:solidFill>
                <a:latin typeface="Lexend"/>
                <a:ea typeface="Lexend"/>
                <a:cs typeface="Lexend"/>
                <a:sym typeface="Lexend"/>
              </a:rPr>
              <a:t>h lavorative</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Sconto costi manutenzione extra: </a:t>
            </a:r>
            <a:r>
              <a:rPr b="1" lang="it" sz="1100">
                <a:solidFill>
                  <a:schemeClr val="dk1"/>
                </a:solidFill>
                <a:latin typeface="Lexend"/>
                <a:ea typeface="Lexend"/>
                <a:cs typeface="Lexend"/>
                <a:sym typeface="Lexend"/>
              </a:rPr>
              <a:t>40</a:t>
            </a:r>
            <a:r>
              <a:rPr b="1" lang="it" sz="1100">
                <a:solidFill>
                  <a:schemeClr val="dk1"/>
                </a:solidFill>
                <a:latin typeface="Lexend"/>
                <a:ea typeface="Lexend"/>
                <a:cs typeface="Lexend"/>
                <a:sym typeface="Lexend"/>
              </a:rPr>
              <a:t>%</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 intervento di pulizia (1 in 3 anni)</a:t>
            </a:r>
            <a:endParaRPr sz="1100">
              <a:solidFill>
                <a:schemeClr val="dk1"/>
              </a:solidFill>
              <a:latin typeface="Lexend"/>
              <a:ea typeface="Lexend"/>
              <a:cs typeface="Lexend"/>
              <a:sym typeface="Lexend"/>
            </a:endParaRPr>
          </a:p>
        </p:txBody>
      </p:sp>
      <p:sp>
        <p:nvSpPr>
          <p:cNvPr id="380" name="Google Shape;380;p36"/>
          <p:cNvSpPr txBox="1"/>
          <p:nvPr>
            <p:ph type="title"/>
          </p:nvPr>
        </p:nvSpPr>
        <p:spPr>
          <a:xfrm>
            <a:off x="311700" y="1075500"/>
            <a:ext cx="8520600" cy="431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500">
                <a:latin typeface="Lexend"/>
                <a:ea typeface="Lexend"/>
                <a:cs typeface="Lexend"/>
                <a:sym typeface="Lexend"/>
              </a:rPr>
              <a:t>Protetto e Assicurato per 3 anni!</a:t>
            </a:r>
            <a:endParaRPr b="1" sz="1500">
              <a:latin typeface="Lexend"/>
              <a:ea typeface="Lexend"/>
              <a:cs typeface="Lexend"/>
              <a:sym typeface="Lexend"/>
            </a:endParaRPr>
          </a:p>
        </p:txBody>
      </p:sp>
      <p:pic>
        <p:nvPicPr>
          <p:cNvPr id="381" name="Google Shape;381;p36"/>
          <p:cNvPicPr preferRelativeResize="0"/>
          <p:nvPr/>
        </p:nvPicPr>
        <p:blipFill rotWithShape="1">
          <a:blip r:embed="rId3">
            <a:alphaModFix/>
          </a:blip>
          <a:srcRect b="0" l="0" r="0" t="0"/>
          <a:stretch/>
        </p:blipFill>
        <p:spPr>
          <a:xfrm>
            <a:off x="697613" y="1574375"/>
            <a:ext cx="2395175" cy="3244301"/>
          </a:xfrm>
          <a:prstGeom prst="rect">
            <a:avLst/>
          </a:prstGeom>
          <a:noFill/>
          <a:ln>
            <a:noFill/>
          </a:ln>
        </p:spPr>
      </p:pic>
      <p:pic>
        <p:nvPicPr>
          <p:cNvPr id="382" name="Google Shape;382;p36"/>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383" name="Google Shape;383;p3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Servizi</a:t>
            </a:r>
            <a:r>
              <a:rPr lang="it" sz="700">
                <a:latin typeface="Lexend"/>
                <a:ea typeface="Lexend"/>
                <a:cs typeface="Lexend"/>
                <a:sym typeface="Lexend"/>
              </a:rPr>
              <a:t> | 23</a:t>
            </a:r>
            <a:endParaRPr sz="700">
              <a:latin typeface="Lexend"/>
              <a:ea typeface="Lexend"/>
              <a:cs typeface="Lexend"/>
              <a:sym typeface="Lexend"/>
            </a:endParaRPr>
          </a:p>
        </p:txBody>
      </p:sp>
      <p:sp>
        <p:nvSpPr>
          <p:cNvPr id="384" name="Google Shape;384;p3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37"/>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I nostri Servizi - </a:t>
            </a:r>
            <a:r>
              <a:rPr b="1" lang="it" sz="2200">
                <a:latin typeface="Lexend"/>
                <a:ea typeface="Lexend"/>
                <a:cs typeface="Lexend"/>
                <a:sym typeface="Lexend"/>
              </a:rPr>
              <a:t>Manutenzione </a:t>
            </a:r>
            <a:r>
              <a:rPr b="1" lang="it" sz="2200">
                <a:solidFill>
                  <a:srgbClr val="ADBCD4"/>
                </a:solidFill>
                <a:latin typeface="Lexend"/>
                <a:ea typeface="Lexend"/>
                <a:cs typeface="Lexend"/>
                <a:sym typeface="Lexend"/>
              </a:rPr>
              <a:t>PLATINUM</a:t>
            </a:r>
            <a:endParaRPr b="1" sz="2200">
              <a:solidFill>
                <a:srgbClr val="ADBCD4"/>
              </a:solidFill>
              <a:latin typeface="Lexend"/>
              <a:ea typeface="Lexend"/>
              <a:cs typeface="Lexend"/>
              <a:sym typeface="Lexend"/>
            </a:endParaRPr>
          </a:p>
        </p:txBody>
      </p:sp>
      <p:sp>
        <p:nvSpPr>
          <p:cNvPr id="391" name="Google Shape;391;p37"/>
          <p:cNvSpPr txBox="1"/>
          <p:nvPr>
            <p:ph idx="1" type="body"/>
          </p:nvPr>
        </p:nvSpPr>
        <p:spPr>
          <a:xfrm>
            <a:off x="823375" y="1681675"/>
            <a:ext cx="5102100" cy="3029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it" sz="1200">
                <a:solidFill>
                  <a:schemeClr val="dk1"/>
                </a:solidFill>
                <a:highlight>
                  <a:srgbClr val="FFFFFF"/>
                </a:highlight>
                <a:latin typeface="Lexend"/>
                <a:ea typeface="Lexend"/>
                <a:cs typeface="Lexend"/>
                <a:sym typeface="Lexend"/>
              </a:rPr>
              <a:t>Manutenzione Programmata Annuale:</a:t>
            </a:r>
            <a:endParaRPr b="1" sz="1200">
              <a:solidFill>
                <a:schemeClr val="dk1"/>
              </a:solidFill>
              <a:highlight>
                <a:srgbClr val="FFFFFF"/>
              </a:highlight>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Checkup Totale sulle componenti elettriche ed elettroniche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Sostituzione Fusibili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Produzione Impianto</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Inverter</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Batterie</a:t>
            </a:r>
            <a:endParaRPr sz="1100">
              <a:solidFill>
                <a:schemeClr val="dk1"/>
              </a:solidFill>
              <a:latin typeface="Lexend"/>
              <a:ea typeface="Lexend"/>
              <a:cs typeface="Lexend"/>
              <a:sym typeface="Lexend"/>
            </a:endParaRPr>
          </a:p>
          <a:p>
            <a:pPr indent="0" lvl="0" marL="0" rtl="0" algn="l">
              <a:spcBef>
                <a:spcPts val="1100"/>
              </a:spcBef>
              <a:spcAft>
                <a:spcPts val="0"/>
              </a:spcAft>
              <a:buNone/>
            </a:pPr>
            <a:r>
              <a:t/>
            </a:r>
            <a:endParaRPr sz="100">
              <a:solidFill>
                <a:schemeClr val="dk1"/>
              </a:solidFill>
              <a:latin typeface="Lexend"/>
              <a:ea typeface="Lexend"/>
              <a:cs typeface="Lexend"/>
              <a:sym typeface="Lexend"/>
            </a:endParaRPr>
          </a:p>
          <a:p>
            <a:pPr indent="0" lvl="0" marL="0" rtl="0" algn="l">
              <a:lnSpc>
                <a:spcPct val="100000"/>
              </a:lnSpc>
              <a:spcBef>
                <a:spcPts val="0"/>
              </a:spcBef>
              <a:spcAft>
                <a:spcPts val="0"/>
              </a:spcAft>
              <a:buNone/>
            </a:pPr>
            <a:r>
              <a:rPr b="1" lang="it" sz="1200">
                <a:solidFill>
                  <a:schemeClr val="dk1"/>
                </a:solidFill>
                <a:latin typeface="Lexend"/>
                <a:ea typeface="Lexend"/>
                <a:cs typeface="Lexend"/>
                <a:sym typeface="Lexend"/>
              </a:rPr>
              <a:t>Altri servizi Inclusi:</a:t>
            </a:r>
            <a:endParaRPr b="1" sz="1200">
              <a:solidFill>
                <a:schemeClr val="dk1"/>
              </a:solidFill>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Assicurazione Grandine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Una chiamata gratuita Annuale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Tempo di intervento garantito: </a:t>
            </a:r>
            <a:r>
              <a:rPr b="1" lang="it" sz="1100">
                <a:solidFill>
                  <a:schemeClr val="dk1"/>
                </a:solidFill>
                <a:latin typeface="Lexend"/>
                <a:ea typeface="Lexend"/>
                <a:cs typeface="Lexend"/>
                <a:sym typeface="Lexend"/>
              </a:rPr>
              <a:t>48</a:t>
            </a:r>
            <a:r>
              <a:rPr b="1" lang="it" sz="1100">
                <a:solidFill>
                  <a:schemeClr val="dk1"/>
                </a:solidFill>
                <a:latin typeface="Lexend"/>
                <a:ea typeface="Lexend"/>
                <a:cs typeface="Lexend"/>
                <a:sym typeface="Lexend"/>
              </a:rPr>
              <a:t>h lavorative</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Sconto costi manutenzione extra: </a:t>
            </a:r>
            <a:r>
              <a:rPr b="1" lang="it" sz="1100">
                <a:solidFill>
                  <a:schemeClr val="dk1"/>
                </a:solidFill>
                <a:latin typeface="Lexend"/>
                <a:ea typeface="Lexend"/>
                <a:cs typeface="Lexend"/>
                <a:sym typeface="Lexend"/>
              </a:rPr>
              <a:t>4</a:t>
            </a:r>
            <a:r>
              <a:rPr b="1" lang="it" sz="1100">
                <a:solidFill>
                  <a:schemeClr val="dk1"/>
                </a:solidFill>
                <a:latin typeface="Lexend"/>
                <a:ea typeface="Lexend"/>
                <a:cs typeface="Lexend"/>
                <a:sym typeface="Lexend"/>
              </a:rPr>
              <a:t>0%</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 intervento di pulizia (1 in 3 anni)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b="1" lang="it" sz="1100">
                <a:solidFill>
                  <a:schemeClr val="dk1"/>
                </a:solidFill>
                <a:latin typeface="Lexend"/>
                <a:ea typeface="Lexend"/>
                <a:cs typeface="Lexend"/>
                <a:sym typeface="Lexend"/>
              </a:rPr>
              <a:t>Sostituzione Immediata dell’hardware in garanzia </a:t>
            </a:r>
            <a:r>
              <a:rPr lang="it" sz="900">
                <a:solidFill>
                  <a:schemeClr val="dk1"/>
                </a:solidFill>
                <a:latin typeface="Lexend"/>
                <a:ea typeface="Lexend"/>
                <a:cs typeface="Lexend"/>
                <a:sym typeface="Lexend"/>
              </a:rPr>
              <a:t>(Inv. e Acc.)</a:t>
            </a:r>
            <a:endParaRPr sz="900">
              <a:solidFill>
                <a:schemeClr val="dk1"/>
              </a:solidFill>
              <a:latin typeface="Lexend"/>
              <a:ea typeface="Lexend"/>
              <a:cs typeface="Lexend"/>
              <a:sym typeface="Lexend"/>
            </a:endParaRPr>
          </a:p>
        </p:txBody>
      </p:sp>
      <p:sp>
        <p:nvSpPr>
          <p:cNvPr id="392" name="Google Shape;392;p37"/>
          <p:cNvSpPr txBox="1"/>
          <p:nvPr>
            <p:ph type="title"/>
          </p:nvPr>
        </p:nvSpPr>
        <p:spPr>
          <a:xfrm>
            <a:off x="311700" y="1075500"/>
            <a:ext cx="8520600" cy="431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500">
                <a:latin typeface="Lexend"/>
                <a:ea typeface="Lexend"/>
                <a:cs typeface="Lexend"/>
                <a:sym typeface="Lexend"/>
              </a:rPr>
              <a:t>Protetto e Assicurato per 3 anni!</a:t>
            </a:r>
            <a:endParaRPr b="1" sz="1500">
              <a:latin typeface="Lexend"/>
              <a:ea typeface="Lexend"/>
              <a:cs typeface="Lexend"/>
              <a:sym typeface="Lexend"/>
            </a:endParaRPr>
          </a:p>
        </p:txBody>
      </p:sp>
      <p:pic>
        <p:nvPicPr>
          <p:cNvPr id="393" name="Google Shape;393;p37"/>
          <p:cNvPicPr preferRelativeResize="0"/>
          <p:nvPr/>
        </p:nvPicPr>
        <p:blipFill rotWithShape="1">
          <a:blip r:embed="rId3">
            <a:alphaModFix/>
          </a:blip>
          <a:srcRect b="0" l="0" r="0" t="0"/>
          <a:stretch/>
        </p:blipFill>
        <p:spPr>
          <a:xfrm>
            <a:off x="5925463" y="1574375"/>
            <a:ext cx="2395175" cy="3244301"/>
          </a:xfrm>
          <a:prstGeom prst="rect">
            <a:avLst/>
          </a:prstGeom>
          <a:noFill/>
          <a:ln>
            <a:noFill/>
          </a:ln>
        </p:spPr>
      </p:pic>
      <p:pic>
        <p:nvPicPr>
          <p:cNvPr id="394" name="Google Shape;394;p37"/>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395" name="Google Shape;395;p3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Servizi</a:t>
            </a:r>
            <a:r>
              <a:rPr lang="it" sz="700">
                <a:latin typeface="Lexend"/>
                <a:ea typeface="Lexend"/>
                <a:cs typeface="Lexend"/>
                <a:sym typeface="Lexend"/>
              </a:rPr>
              <a:t> | 24</a:t>
            </a:r>
            <a:endParaRPr sz="700">
              <a:latin typeface="Lexend"/>
              <a:ea typeface="Lexend"/>
              <a:cs typeface="Lexend"/>
              <a:sym typeface="Lexend"/>
            </a:endParaRPr>
          </a:p>
        </p:txBody>
      </p:sp>
      <p:sp>
        <p:nvSpPr>
          <p:cNvPr id="396" name="Google Shape;396;p3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38"/>
          <p:cNvSpPr txBox="1"/>
          <p:nvPr>
            <p:ph type="title"/>
          </p:nvPr>
        </p:nvSpPr>
        <p:spPr>
          <a:xfrm>
            <a:off x="218688" y="930400"/>
            <a:ext cx="65547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I nostri Servizi - </a:t>
            </a:r>
            <a:r>
              <a:rPr b="1" lang="it" sz="2200">
                <a:latin typeface="Lexend"/>
                <a:ea typeface="Lexend"/>
                <a:cs typeface="Lexend"/>
                <a:sym typeface="Lexend"/>
              </a:rPr>
              <a:t>Assicurazione All-Risk</a:t>
            </a:r>
            <a:endParaRPr b="1" sz="2200">
              <a:solidFill>
                <a:srgbClr val="C8B82C"/>
              </a:solidFill>
              <a:latin typeface="Lexend"/>
              <a:ea typeface="Lexend"/>
              <a:cs typeface="Lexend"/>
              <a:sym typeface="Lexend"/>
            </a:endParaRPr>
          </a:p>
        </p:txBody>
      </p:sp>
      <p:sp>
        <p:nvSpPr>
          <p:cNvPr id="403" name="Google Shape;403;p38"/>
          <p:cNvSpPr txBox="1"/>
          <p:nvPr>
            <p:ph type="title"/>
          </p:nvPr>
        </p:nvSpPr>
        <p:spPr>
          <a:xfrm>
            <a:off x="218688" y="1292925"/>
            <a:ext cx="6554700" cy="431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500">
                <a:latin typeface="Lexend"/>
                <a:ea typeface="Lexend"/>
                <a:cs typeface="Lexend"/>
                <a:sym typeface="Lexend"/>
              </a:rPr>
              <a:t>Protetto e Assicurato per 10 anni!</a:t>
            </a:r>
            <a:endParaRPr b="1" sz="1500">
              <a:latin typeface="Lexend"/>
              <a:ea typeface="Lexend"/>
              <a:cs typeface="Lexend"/>
              <a:sym typeface="Lexend"/>
            </a:endParaRPr>
          </a:p>
        </p:txBody>
      </p:sp>
      <p:pic>
        <p:nvPicPr>
          <p:cNvPr id="404" name="Google Shape;404;p3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405" name="Google Shape;405;p3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Servizi | 23</a:t>
            </a:r>
            <a:endParaRPr sz="700">
              <a:latin typeface="Lexend"/>
              <a:ea typeface="Lexend"/>
              <a:cs typeface="Lexend"/>
              <a:sym typeface="Lexend"/>
            </a:endParaRPr>
          </a:p>
        </p:txBody>
      </p:sp>
      <p:sp>
        <p:nvSpPr>
          <p:cNvPr id="406" name="Google Shape;406;p3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407" name="Google Shape;407;p38"/>
          <p:cNvSpPr txBox="1"/>
          <p:nvPr/>
        </p:nvSpPr>
        <p:spPr>
          <a:xfrm>
            <a:off x="1212150" y="1925688"/>
            <a:ext cx="6719700" cy="25089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1000"/>
              </a:spcBef>
              <a:spcAft>
                <a:spcPts val="0"/>
              </a:spcAft>
              <a:buNone/>
            </a:pPr>
            <a:r>
              <a:rPr b="1" lang="it" u="sng">
                <a:solidFill>
                  <a:srgbClr val="005406"/>
                </a:solidFill>
                <a:latin typeface="Lexend"/>
                <a:ea typeface="Lexend"/>
                <a:cs typeface="Lexend"/>
                <a:sym typeface="Lexend"/>
              </a:rPr>
              <a:t>Tipo di assicurazione:</a:t>
            </a:r>
            <a:endParaRPr b="1" u="sng">
              <a:solidFill>
                <a:srgbClr val="005406"/>
              </a:solidFill>
              <a:latin typeface="Lexend"/>
              <a:ea typeface="Lexend"/>
              <a:cs typeface="Lexend"/>
              <a:sym typeface="Lexend"/>
            </a:endParaRPr>
          </a:p>
          <a:p>
            <a:pPr indent="0" lvl="0" marL="0" rtl="0" algn="ctr">
              <a:lnSpc>
                <a:spcPct val="100000"/>
              </a:lnSpc>
              <a:spcBef>
                <a:spcPts val="1000"/>
              </a:spcBef>
              <a:spcAft>
                <a:spcPts val="0"/>
              </a:spcAft>
              <a:buNone/>
            </a:pPr>
            <a:r>
              <a:rPr b="1" lang="it">
                <a:solidFill>
                  <a:srgbClr val="010101"/>
                </a:solidFill>
                <a:latin typeface="Lexend"/>
                <a:ea typeface="Lexend"/>
                <a:cs typeface="Lexend"/>
                <a:sym typeface="Lexend"/>
              </a:rPr>
              <a:t>Polizza multigaranzia dedicata</a:t>
            </a:r>
            <a:r>
              <a:rPr lang="it">
                <a:solidFill>
                  <a:srgbClr val="010101"/>
                </a:solidFill>
                <a:latin typeface="Lexend"/>
                <a:ea typeface="Lexend"/>
                <a:cs typeface="Lexend"/>
                <a:sym typeface="Lexend"/>
              </a:rPr>
              <a:t> alla protezione dei rischi su impianti fotovoltaici di persone fisiche. Prodotto modulare: il cliente costruisce il pacchetto combinando le garanzie desiderate.</a:t>
            </a:r>
            <a:endParaRPr>
              <a:solidFill>
                <a:srgbClr val="010101"/>
              </a:solidFill>
              <a:latin typeface="Lexend"/>
              <a:ea typeface="Lexend"/>
              <a:cs typeface="Lexend"/>
              <a:sym typeface="Lexend"/>
            </a:endParaRPr>
          </a:p>
          <a:p>
            <a:pPr indent="0" lvl="0" marL="0" rtl="0" algn="ctr">
              <a:lnSpc>
                <a:spcPct val="100000"/>
              </a:lnSpc>
              <a:spcBef>
                <a:spcPts val="0"/>
              </a:spcBef>
              <a:spcAft>
                <a:spcPts val="0"/>
              </a:spcAft>
              <a:buNone/>
            </a:pPr>
            <a:r>
              <a:t/>
            </a:r>
            <a:endParaRPr>
              <a:solidFill>
                <a:srgbClr val="010101"/>
              </a:solidFill>
              <a:latin typeface="Lexend"/>
              <a:ea typeface="Lexend"/>
              <a:cs typeface="Lexend"/>
              <a:sym typeface="Lexend"/>
            </a:endParaRPr>
          </a:p>
          <a:p>
            <a:pPr indent="0" lvl="0" marL="0" rtl="0" algn="ctr">
              <a:lnSpc>
                <a:spcPct val="100000"/>
              </a:lnSpc>
              <a:spcBef>
                <a:spcPts val="1000"/>
              </a:spcBef>
              <a:spcAft>
                <a:spcPts val="0"/>
              </a:spcAft>
              <a:buNone/>
            </a:pPr>
            <a:r>
              <a:rPr b="1" lang="it" u="sng">
                <a:solidFill>
                  <a:srgbClr val="005406"/>
                </a:solidFill>
                <a:latin typeface="Lexend"/>
                <a:ea typeface="Lexend"/>
                <a:cs typeface="Lexend"/>
                <a:sym typeface="Lexend"/>
              </a:rPr>
              <a:t>Cosa è assicurato:</a:t>
            </a:r>
            <a:endParaRPr b="1" u="sng">
              <a:solidFill>
                <a:srgbClr val="005406"/>
              </a:solidFill>
              <a:latin typeface="Lexend"/>
              <a:ea typeface="Lexend"/>
              <a:cs typeface="Lexend"/>
              <a:sym typeface="Lexend"/>
            </a:endParaRPr>
          </a:p>
          <a:p>
            <a:pPr indent="0" lvl="0" marL="0" rtl="0" algn="ctr">
              <a:lnSpc>
                <a:spcPct val="100000"/>
              </a:lnSpc>
              <a:spcBef>
                <a:spcPts val="1000"/>
              </a:spcBef>
              <a:spcAft>
                <a:spcPts val="1000"/>
              </a:spcAft>
              <a:buNone/>
            </a:pPr>
            <a:r>
              <a:rPr b="1" lang="it">
                <a:solidFill>
                  <a:srgbClr val="010101"/>
                </a:solidFill>
                <a:latin typeface="Lexend"/>
                <a:ea typeface="Lexend"/>
                <a:cs typeface="Lexend"/>
                <a:sym typeface="Lexend"/>
              </a:rPr>
              <a:t>Impianto fotovoltaico completo</a:t>
            </a:r>
            <a:r>
              <a:rPr lang="it">
                <a:solidFill>
                  <a:srgbClr val="010101"/>
                </a:solidFill>
                <a:latin typeface="Lexend"/>
                <a:ea typeface="Lexend"/>
                <a:cs typeface="Lexend"/>
                <a:sym typeface="Lexend"/>
              </a:rPr>
              <a:t>: moduli solari, inverter, quadri elettrici, cablaggi, strutture di sostegno, contatori, pompe di calore, batterie, colonnine di ricarica, caldaie ibride.</a:t>
            </a:r>
            <a:endParaRPr>
              <a:solidFill>
                <a:srgbClr val="010101"/>
              </a:solidFill>
              <a:latin typeface="Lexend"/>
              <a:ea typeface="Lexend"/>
              <a:cs typeface="Lexend"/>
              <a:sym typeface="Lexend"/>
            </a:endParaRPr>
          </a:p>
        </p:txBody>
      </p:sp>
      <p:pic>
        <p:nvPicPr>
          <p:cNvPr id="408" name="Google Shape;408;p38" title="images (3).png"/>
          <p:cNvPicPr preferRelativeResize="0"/>
          <p:nvPr/>
        </p:nvPicPr>
        <p:blipFill>
          <a:blip r:embed="rId4">
            <a:alphaModFix/>
          </a:blip>
          <a:stretch>
            <a:fillRect/>
          </a:stretch>
        </p:blipFill>
        <p:spPr>
          <a:xfrm>
            <a:off x="6592513" y="1046150"/>
            <a:ext cx="1773700" cy="540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39"/>
          <p:cNvSpPr txBox="1"/>
          <p:nvPr>
            <p:ph type="title"/>
          </p:nvPr>
        </p:nvSpPr>
        <p:spPr>
          <a:xfrm>
            <a:off x="218688" y="930400"/>
            <a:ext cx="65547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I nostri Servizi - </a:t>
            </a:r>
            <a:r>
              <a:rPr b="1" lang="it" sz="2200">
                <a:latin typeface="Lexend"/>
                <a:ea typeface="Lexend"/>
                <a:cs typeface="Lexend"/>
                <a:sym typeface="Lexend"/>
              </a:rPr>
              <a:t>Assicurazione All-Risk</a:t>
            </a:r>
            <a:endParaRPr b="1" sz="2200">
              <a:solidFill>
                <a:srgbClr val="C8B82C"/>
              </a:solidFill>
              <a:latin typeface="Lexend"/>
              <a:ea typeface="Lexend"/>
              <a:cs typeface="Lexend"/>
              <a:sym typeface="Lexend"/>
            </a:endParaRPr>
          </a:p>
        </p:txBody>
      </p:sp>
      <p:sp>
        <p:nvSpPr>
          <p:cNvPr id="415" name="Google Shape;415;p39"/>
          <p:cNvSpPr txBox="1"/>
          <p:nvPr>
            <p:ph type="title"/>
          </p:nvPr>
        </p:nvSpPr>
        <p:spPr>
          <a:xfrm>
            <a:off x="218688" y="1292925"/>
            <a:ext cx="6554700" cy="431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500">
                <a:latin typeface="Lexend"/>
                <a:ea typeface="Lexend"/>
                <a:cs typeface="Lexend"/>
                <a:sym typeface="Lexend"/>
              </a:rPr>
              <a:t>Protetto e Assicurato per 10 anni!</a:t>
            </a:r>
            <a:endParaRPr b="1" sz="1500">
              <a:latin typeface="Lexend"/>
              <a:ea typeface="Lexend"/>
              <a:cs typeface="Lexend"/>
              <a:sym typeface="Lexend"/>
            </a:endParaRPr>
          </a:p>
        </p:txBody>
      </p:sp>
      <p:pic>
        <p:nvPicPr>
          <p:cNvPr id="416" name="Google Shape;416;p39"/>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417" name="Google Shape;417;p3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Servizi | 23</a:t>
            </a:r>
            <a:endParaRPr sz="700">
              <a:latin typeface="Lexend"/>
              <a:ea typeface="Lexend"/>
              <a:cs typeface="Lexend"/>
              <a:sym typeface="Lexend"/>
            </a:endParaRPr>
          </a:p>
        </p:txBody>
      </p:sp>
      <p:sp>
        <p:nvSpPr>
          <p:cNvPr id="418" name="Google Shape;418;p3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419" name="Google Shape;419;p39"/>
          <p:cNvSpPr txBox="1"/>
          <p:nvPr/>
        </p:nvSpPr>
        <p:spPr>
          <a:xfrm>
            <a:off x="1212150" y="2073238"/>
            <a:ext cx="6719700" cy="23031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1000"/>
              </a:spcBef>
              <a:spcAft>
                <a:spcPts val="0"/>
              </a:spcAft>
              <a:buNone/>
            </a:pPr>
            <a:r>
              <a:rPr b="1" lang="it" u="sng">
                <a:solidFill>
                  <a:srgbClr val="005406"/>
                </a:solidFill>
                <a:latin typeface="Lexend"/>
                <a:ea typeface="Lexend"/>
                <a:cs typeface="Lexend"/>
                <a:sym typeface="Lexend"/>
              </a:rPr>
              <a:t>Eventi Assicurati</a:t>
            </a:r>
            <a:r>
              <a:rPr b="1" lang="it" u="sng">
                <a:solidFill>
                  <a:srgbClr val="005406"/>
                </a:solidFill>
                <a:latin typeface="Lexend"/>
                <a:ea typeface="Lexend"/>
                <a:cs typeface="Lexend"/>
                <a:sym typeface="Lexend"/>
              </a:rPr>
              <a:t>:</a:t>
            </a:r>
            <a:endParaRPr b="1" u="sng">
              <a:solidFill>
                <a:srgbClr val="005406"/>
              </a:solidFill>
              <a:latin typeface="Lexend"/>
              <a:ea typeface="Lexend"/>
              <a:cs typeface="Lexend"/>
              <a:sym typeface="Lexend"/>
            </a:endParaRPr>
          </a:p>
          <a:p>
            <a:pPr indent="0" lvl="0" marL="0" rtl="0" algn="ctr">
              <a:lnSpc>
                <a:spcPct val="115000"/>
              </a:lnSpc>
              <a:spcBef>
                <a:spcPts val="1000"/>
              </a:spcBef>
              <a:spcAft>
                <a:spcPts val="0"/>
              </a:spcAft>
              <a:buNone/>
            </a:pPr>
            <a:r>
              <a:rPr lang="it">
                <a:solidFill>
                  <a:schemeClr val="dk1"/>
                </a:solidFill>
                <a:latin typeface="Lexend"/>
                <a:ea typeface="Lexend"/>
                <a:cs typeface="Lexend"/>
                <a:sym typeface="Lexend"/>
              </a:rPr>
              <a:t>Sempre presenti: incendio, fulmine, esplosione, fenomeno elettrico, eventi atmosferici, atti vandalici/dolosi, ricorso terzi, diaria per danni indiretti.</a:t>
            </a:r>
            <a:endParaRPr b="1">
              <a:solidFill>
                <a:srgbClr val="010101"/>
              </a:solidFill>
              <a:latin typeface="Lexend"/>
              <a:ea typeface="Lexend"/>
              <a:cs typeface="Lexend"/>
              <a:sym typeface="Lexend"/>
            </a:endParaRPr>
          </a:p>
          <a:p>
            <a:pPr indent="0" lvl="0" marL="0" rtl="0" algn="ctr">
              <a:lnSpc>
                <a:spcPct val="100000"/>
              </a:lnSpc>
              <a:spcBef>
                <a:spcPts val="1000"/>
              </a:spcBef>
              <a:spcAft>
                <a:spcPts val="0"/>
              </a:spcAft>
              <a:buNone/>
            </a:pPr>
            <a:r>
              <a:t/>
            </a:r>
            <a:endParaRPr>
              <a:solidFill>
                <a:srgbClr val="010101"/>
              </a:solidFill>
              <a:latin typeface="Lexend"/>
              <a:ea typeface="Lexend"/>
              <a:cs typeface="Lexend"/>
              <a:sym typeface="Lexend"/>
            </a:endParaRPr>
          </a:p>
          <a:p>
            <a:pPr indent="0" lvl="0" marL="0" rtl="0" algn="ctr">
              <a:lnSpc>
                <a:spcPct val="100000"/>
              </a:lnSpc>
              <a:spcBef>
                <a:spcPts val="1000"/>
              </a:spcBef>
              <a:spcAft>
                <a:spcPts val="0"/>
              </a:spcAft>
              <a:buNone/>
            </a:pPr>
            <a:r>
              <a:rPr b="1" lang="it" u="sng">
                <a:solidFill>
                  <a:srgbClr val="005406"/>
                </a:solidFill>
                <a:latin typeface="Lexend"/>
                <a:ea typeface="Lexend"/>
                <a:cs typeface="Lexend"/>
                <a:sym typeface="Lexend"/>
              </a:rPr>
              <a:t>Esclusioni principali:</a:t>
            </a:r>
            <a:endParaRPr b="1" u="sng">
              <a:solidFill>
                <a:srgbClr val="005406"/>
              </a:solidFill>
              <a:latin typeface="Lexend"/>
              <a:ea typeface="Lexend"/>
              <a:cs typeface="Lexend"/>
              <a:sym typeface="Lexend"/>
            </a:endParaRPr>
          </a:p>
          <a:p>
            <a:pPr indent="0" lvl="0" marL="0" rtl="0" algn="ctr">
              <a:lnSpc>
                <a:spcPct val="115000"/>
              </a:lnSpc>
              <a:spcBef>
                <a:spcPts val="1000"/>
              </a:spcBef>
              <a:spcAft>
                <a:spcPts val="0"/>
              </a:spcAft>
              <a:buNone/>
            </a:pPr>
            <a:r>
              <a:rPr lang="it">
                <a:solidFill>
                  <a:schemeClr val="dk1"/>
                </a:solidFill>
                <a:latin typeface="Lexend"/>
                <a:ea typeface="Lexend"/>
                <a:cs typeface="Lexend"/>
                <a:sym typeface="Lexend"/>
              </a:rPr>
              <a:t>Danni da guerra, calamità naturali gravi, dolo dell’assicurato, mancata manutenzione, usura naturale, corrosione.</a:t>
            </a:r>
            <a:endParaRPr b="1">
              <a:solidFill>
                <a:srgbClr val="010101"/>
              </a:solidFill>
              <a:latin typeface="Lexend"/>
              <a:ea typeface="Lexend"/>
              <a:cs typeface="Lexend"/>
              <a:sym typeface="Lexend"/>
            </a:endParaRPr>
          </a:p>
        </p:txBody>
      </p:sp>
      <p:pic>
        <p:nvPicPr>
          <p:cNvPr id="420" name="Google Shape;420;p39" title="images (3).png"/>
          <p:cNvPicPr preferRelativeResize="0"/>
          <p:nvPr/>
        </p:nvPicPr>
        <p:blipFill>
          <a:blip r:embed="rId4">
            <a:alphaModFix/>
          </a:blip>
          <a:stretch>
            <a:fillRect/>
          </a:stretch>
        </p:blipFill>
        <p:spPr>
          <a:xfrm>
            <a:off x="6592513" y="1046150"/>
            <a:ext cx="1773700" cy="540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0"/>
          <p:cNvSpPr txBox="1"/>
          <p:nvPr>
            <p:ph type="title"/>
          </p:nvPr>
        </p:nvSpPr>
        <p:spPr>
          <a:xfrm>
            <a:off x="311700" y="2022146"/>
            <a:ext cx="8520600" cy="1099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3000">
                <a:highlight>
                  <a:srgbClr val="D9EAD3"/>
                </a:highlight>
                <a:latin typeface="Lexend"/>
                <a:ea typeface="Lexend"/>
                <a:cs typeface="Lexend"/>
                <a:sym typeface="Lexend"/>
              </a:rPr>
              <a:t>EKO Srl</a:t>
            </a:r>
            <a:r>
              <a:rPr lang="it" sz="3000">
                <a:latin typeface="Lexend"/>
                <a:ea typeface="Lexend"/>
                <a:cs typeface="Lexend"/>
                <a:sym typeface="Lexend"/>
              </a:rPr>
              <a:t> per </a:t>
            </a:r>
            <a:r>
              <a:rPr b="1" lang="it" sz="3000">
                <a:latin typeface="Lexend"/>
                <a:ea typeface="Lexend"/>
                <a:cs typeface="Lexend"/>
                <a:sym typeface="Lexend"/>
              </a:rPr>
              <a:t>privati</a:t>
            </a:r>
            <a:r>
              <a:rPr lang="it" sz="3000">
                <a:latin typeface="Lexend"/>
                <a:ea typeface="Lexend"/>
                <a:cs typeface="Lexend"/>
                <a:sym typeface="Lexend"/>
              </a:rPr>
              <a:t>, </a:t>
            </a:r>
            <a:r>
              <a:rPr b="1" lang="it" sz="3000">
                <a:latin typeface="Lexend"/>
                <a:ea typeface="Lexend"/>
                <a:cs typeface="Lexend"/>
                <a:sym typeface="Lexend"/>
              </a:rPr>
              <a:t>aziende</a:t>
            </a:r>
            <a:r>
              <a:rPr lang="it" sz="3000">
                <a:latin typeface="Lexend"/>
                <a:ea typeface="Lexend"/>
                <a:cs typeface="Lexend"/>
                <a:sym typeface="Lexend"/>
              </a:rPr>
              <a:t>… </a:t>
            </a:r>
            <a:endParaRPr sz="3000">
              <a:latin typeface="Lexend"/>
              <a:ea typeface="Lexend"/>
              <a:cs typeface="Lexend"/>
              <a:sym typeface="Lexend"/>
            </a:endParaRPr>
          </a:p>
          <a:p>
            <a:pPr indent="0" lvl="0" marL="0" rtl="0" algn="ctr">
              <a:lnSpc>
                <a:spcPct val="115000"/>
              </a:lnSpc>
              <a:spcBef>
                <a:spcPts val="0"/>
              </a:spcBef>
              <a:spcAft>
                <a:spcPts val="0"/>
              </a:spcAft>
              <a:buNone/>
            </a:pPr>
            <a:r>
              <a:rPr lang="it" sz="3000">
                <a:latin typeface="Lexend"/>
                <a:ea typeface="Lexend"/>
                <a:cs typeface="Lexend"/>
                <a:sym typeface="Lexend"/>
              </a:rPr>
              <a:t>e </a:t>
            </a:r>
            <a:r>
              <a:rPr b="1" lang="it" sz="3000">
                <a:latin typeface="Lexend"/>
                <a:ea typeface="Lexend"/>
                <a:cs typeface="Lexend"/>
                <a:sym typeface="Lexend"/>
              </a:rPr>
              <a:t>collaborazioni B2B</a:t>
            </a:r>
            <a:endParaRPr b="1" sz="3000">
              <a:latin typeface="Lexend"/>
              <a:ea typeface="Lexend"/>
              <a:cs typeface="Lexend"/>
              <a:sym typeface="Lexend"/>
            </a:endParaRPr>
          </a:p>
        </p:txBody>
      </p:sp>
      <p:sp>
        <p:nvSpPr>
          <p:cNvPr id="426" name="Google Shape;426;p4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27" name="Google Shape;427;p4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428" name="Google Shape;428;p4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25</a:t>
            </a:r>
            <a:endParaRPr sz="700">
              <a:latin typeface="Lexend"/>
              <a:ea typeface="Lexend"/>
              <a:cs typeface="Lexend"/>
              <a:sym typeface="Lexend"/>
            </a:endParaRPr>
          </a:p>
        </p:txBody>
      </p:sp>
      <p:sp>
        <p:nvSpPr>
          <p:cNvPr id="429" name="Google Shape;429;p4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1"/>
          <p:cNvSpPr txBox="1"/>
          <p:nvPr>
            <p:ph type="title"/>
          </p:nvPr>
        </p:nvSpPr>
        <p:spPr>
          <a:xfrm>
            <a:off x="311700" y="1617891"/>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400">
                <a:latin typeface="Lexend"/>
                <a:ea typeface="Lexend"/>
                <a:cs typeface="Lexend"/>
                <a:sym typeface="Lexend"/>
              </a:rPr>
              <a:t>EKO Srl</a:t>
            </a:r>
            <a:r>
              <a:rPr lang="it" sz="2400">
                <a:latin typeface="Lexend"/>
                <a:ea typeface="Lexend"/>
                <a:cs typeface="Lexend"/>
                <a:sym typeface="Lexend"/>
              </a:rPr>
              <a:t> per </a:t>
            </a:r>
            <a:r>
              <a:rPr b="1" lang="it" sz="2400">
                <a:latin typeface="Lexend"/>
                <a:ea typeface="Lexend"/>
                <a:cs typeface="Lexend"/>
                <a:sym typeface="Lexend"/>
              </a:rPr>
              <a:t>privati</a:t>
            </a:r>
            <a:r>
              <a:rPr lang="it" sz="2400">
                <a:latin typeface="Lexend"/>
                <a:ea typeface="Lexend"/>
                <a:cs typeface="Lexend"/>
                <a:sym typeface="Lexend"/>
              </a:rPr>
              <a:t>, </a:t>
            </a:r>
            <a:r>
              <a:rPr b="1" lang="it" sz="2400">
                <a:latin typeface="Lexend"/>
                <a:ea typeface="Lexend"/>
                <a:cs typeface="Lexend"/>
                <a:sym typeface="Lexend"/>
              </a:rPr>
              <a:t>aziende</a:t>
            </a:r>
            <a:r>
              <a:rPr lang="it" sz="2400">
                <a:latin typeface="Lexend"/>
                <a:ea typeface="Lexend"/>
                <a:cs typeface="Lexend"/>
                <a:sym typeface="Lexend"/>
              </a:rPr>
              <a:t>… e </a:t>
            </a:r>
            <a:r>
              <a:rPr b="1" lang="it" sz="2400">
                <a:latin typeface="Lexend"/>
                <a:ea typeface="Lexend"/>
                <a:cs typeface="Lexend"/>
                <a:sym typeface="Lexend"/>
              </a:rPr>
              <a:t>collaborazioni B2B</a:t>
            </a:r>
            <a:endParaRPr b="1" sz="2400">
              <a:latin typeface="Lexend"/>
              <a:ea typeface="Lexend"/>
              <a:cs typeface="Lexend"/>
              <a:sym typeface="Lexend"/>
            </a:endParaRPr>
          </a:p>
        </p:txBody>
      </p:sp>
      <p:sp>
        <p:nvSpPr>
          <p:cNvPr id="435" name="Google Shape;435;p4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6" name="Google Shape;436;p41"/>
          <p:cNvSpPr txBox="1"/>
          <p:nvPr>
            <p:ph type="title"/>
          </p:nvPr>
        </p:nvSpPr>
        <p:spPr>
          <a:xfrm>
            <a:off x="311700" y="2398798"/>
            <a:ext cx="8520600" cy="1126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3000">
                <a:solidFill>
                  <a:srgbClr val="86BD41"/>
                </a:solidFill>
                <a:latin typeface="Lexend"/>
                <a:ea typeface="Lexend"/>
                <a:cs typeface="Lexend"/>
                <a:sym typeface="Lexend"/>
              </a:rPr>
              <a:t>vi introduciamo nel nostro</a:t>
            </a:r>
            <a:endParaRPr sz="3000">
              <a:solidFill>
                <a:srgbClr val="86BD41"/>
              </a:solidFill>
              <a:latin typeface="Lexend"/>
              <a:ea typeface="Lexend"/>
              <a:cs typeface="Lexend"/>
              <a:sym typeface="Lexend"/>
            </a:endParaRPr>
          </a:p>
          <a:p>
            <a:pPr indent="0" lvl="0" marL="0" rtl="0" algn="ctr">
              <a:lnSpc>
                <a:spcPct val="115000"/>
              </a:lnSpc>
              <a:spcBef>
                <a:spcPts val="0"/>
              </a:spcBef>
              <a:spcAft>
                <a:spcPts val="0"/>
              </a:spcAft>
              <a:buNone/>
            </a:pPr>
            <a:r>
              <a:rPr b="1" lang="it" sz="3000">
                <a:solidFill>
                  <a:srgbClr val="86BD41"/>
                </a:solidFill>
                <a:latin typeface="Lexend"/>
                <a:ea typeface="Lexend"/>
                <a:cs typeface="Lexend"/>
                <a:sym typeface="Lexend"/>
              </a:rPr>
              <a:t>BUSINESS MODEL</a:t>
            </a:r>
            <a:endParaRPr b="1" sz="3000">
              <a:solidFill>
                <a:srgbClr val="86BD41"/>
              </a:solidFill>
              <a:latin typeface="Lexend"/>
              <a:ea typeface="Lexend"/>
              <a:cs typeface="Lexend"/>
              <a:sym typeface="Lexend"/>
            </a:endParaRPr>
          </a:p>
        </p:txBody>
      </p:sp>
      <p:pic>
        <p:nvPicPr>
          <p:cNvPr id="437" name="Google Shape;437;p4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438" name="Google Shape;438;p4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26</a:t>
            </a:r>
            <a:endParaRPr sz="700">
              <a:latin typeface="Lexend"/>
              <a:ea typeface="Lexend"/>
              <a:cs typeface="Lexend"/>
              <a:sym typeface="Lexend"/>
            </a:endParaRPr>
          </a:p>
        </p:txBody>
      </p:sp>
      <p:sp>
        <p:nvSpPr>
          <p:cNvPr id="439" name="Google Shape;439;p4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2"/>
          <p:cNvSpPr txBox="1"/>
          <p:nvPr>
            <p:ph type="title"/>
          </p:nvPr>
        </p:nvSpPr>
        <p:spPr>
          <a:xfrm>
            <a:off x="311700" y="1002504"/>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200">
                <a:latin typeface="Lexend"/>
                <a:ea typeface="Lexend"/>
                <a:cs typeface="Lexend"/>
                <a:sym typeface="Lexend"/>
              </a:rPr>
              <a:t>EKO Srl</a:t>
            </a:r>
            <a:r>
              <a:rPr lang="it" sz="2200">
                <a:latin typeface="Lexend"/>
                <a:ea typeface="Lexend"/>
                <a:cs typeface="Lexend"/>
                <a:sym typeface="Lexend"/>
              </a:rPr>
              <a:t> per </a:t>
            </a:r>
            <a:r>
              <a:rPr b="1" lang="it" sz="2200">
                <a:latin typeface="Lexend"/>
                <a:ea typeface="Lexend"/>
                <a:cs typeface="Lexend"/>
                <a:sym typeface="Lexend"/>
              </a:rPr>
              <a:t>privati</a:t>
            </a:r>
            <a:r>
              <a:rPr lang="it" sz="2200">
                <a:latin typeface="Lexend"/>
                <a:ea typeface="Lexend"/>
                <a:cs typeface="Lexend"/>
                <a:sym typeface="Lexend"/>
              </a:rPr>
              <a:t>, </a:t>
            </a:r>
            <a:r>
              <a:rPr b="1" lang="it" sz="2200">
                <a:latin typeface="Lexend"/>
                <a:ea typeface="Lexend"/>
                <a:cs typeface="Lexend"/>
                <a:sym typeface="Lexend"/>
              </a:rPr>
              <a:t>aziende</a:t>
            </a:r>
            <a:r>
              <a:rPr lang="it" sz="2200">
                <a:latin typeface="Lexend"/>
                <a:ea typeface="Lexend"/>
                <a:cs typeface="Lexend"/>
                <a:sym typeface="Lexend"/>
              </a:rPr>
              <a:t>… e </a:t>
            </a:r>
            <a:r>
              <a:rPr b="1" lang="it" sz="2200">
                <a:latin typeface="Lexend"/>
                <a:ea typeface="Lexend"/>
                <a:cs typeface="Lexend"/>
                <a:sym typeface="Lexend"/>
              </a:rPr>
              <a:t>collaborazioni B2B</a:t>
            </a:r>
            <a:endParaRPr b="1" sz="2200">
              <a:latin typeface="Lexend"/>
              <a:ea typeface="Lexend"/>
              <a:cs typeface="Lexend"/>
              <a:sym typeface="Lexend"/>
            </a:endParaRPr>
          </a:p>
        </p:txBody>
      </p:sp>
      <p:sp>
        <p:nvSpPr>
          <p:cNvPr id="445" name="Google Shape;445;p4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46" name="Google Shape;446;p42"/>
          <p:cNvGrpSpPr/>
          <p:nvPr/>
        </p:nvGrpSpPr>
        <p:grpSpPr>
          <a:xfrm>
            <a:off x="585268" y="1905924"/>
            <a:ext cx="2890645" cy="833046"/>
            <a:chOff x="1191125" y="1595500"/>
            <a:chExt cx="2451361" cy="706450"/>
          </a:xfrm>
        </p:grpSpPr>
        <p:pic>
          <p:nvPicPr>
            <p:cNvPr id="447" name="Google Shape;447;p42"/>
            <p:cNvPicPr preferRelativeResize="0"/>
            <p:nvPr/>
          </p:nvPicPr>
          <p:blipFill rotWithShape="1">
            <a:blip r:embed="rId3">
              <a:alphaModFix/>
            </a:blip>
            <a:srcRect b="0" l="0" r="0" t="0"/>
            <a:stretch/>
          </p:blipFill>
          <p:spPr>
            <a:xfrm>
              <a:off x="3035763" y="1595500"/>
              <a:ext cx="606724" cy="606724"/>
            </a:xfrm>
            <a:prstGeom prst="rect">
              <a:avLst/>
            </a:prstGeom>
            <a:noFill/>
            <a:ln>
              <a:noFill/>
            </a:ln>
          </p:spPr>
        </p:pic>
        <p:pic>
          <p:nvPicPr>
            <p:cNvPr id="448" name="Google Shape;448;p42"/>
            <p:cNvPicPr preferRelativeResize="0"/>
            <p:nvPr/>
          </p:nvPicPr>
          <p:blipFill>
            <a:blip r:embed="rId4">
              <a:alphaModFix/>
            </a:blip>
            <a:stretch>
              <a:fillRect/>
            </a:stretch>
          </p:blipFill>
          <p:spPr>
            <a:xfrm>
              <a:off x="2417770" y="1758152"/>
              <a:ext cx="281380" cy="281400"/>
            </a:xfrm>
            <a:prstGeom prst="rect">
              <a:avLst/>
            </a:prstGeom>
            <a:noFill/>
            <a:ln>
              <a:noFill/>
            </a:ln>
          </p:spPr>
        </p:pic>
        <p:grpSp>
          <p:nvGrpSpPr>
            <p:cNvPr id="449" name="Google Shape;449;p42"/>
            <p:cNvGrpSpPr/>
            <p:nvPr/>
          </p:nvGrpSpPr>
          <p:grpSpPr>
            <a:xfrm>
              <a:off x="1191125" y="1679050"/>
              <a:ext cx="923400" cy="622900"/>
              <a:chOff x="4937663" y="1679050"/>
              <a:chExt cx="923400" cy="622900"/>
            </a:xfrm>
          </p:grpSpPr>
          <p:pic>
            <p:nvPicPr>
              <p:cNvPr id="450" name="Google Shape;450;p42"/>
              <p:cNvPicPr preferRelativeResize="0"/>
              <p:nvPr/>
            </p:nvPicPr>
            <p:blipFill>
              <a:blip r:embed="rId5">
                <a:alphaModFix/>
              </a:blip>
              <a:stretch>
                <a:fillRect/>
              </a:stretch>
            </p:blipFill>
            <p:spPr>
              <a:xfrm>
                <a:off x="4958550" y="1679050"/>
                <a:ext cx="432475" cy="432475"/>
              </a:xfrm>
              <a:prstGeom prst="rect">
                <a:avLst/>
              </a:prstGeom>
              <a:noFill/>
              <a:ln>
                <a:noFill/>
              </a:ln>
            </p:spPr>
          </p:pic>
          <p:pic>
            <p:nvPicPr>
              <p:cNvPr id="451" name="Google Shape;451;p42"/>
              <p:cNvPicPr preferRelativeResize="0"/>
              <p:nvPr/>
            </p:nvPicPr>
            <p:blipFill>
              <a:blip r:embed="rId5">
                <a:alphaModFix/>
              </a:blip>
              <a:stretch>
                <a:fillRect/>
              </a:stretch>
            </p:blipFill>
            <p:spPr>
              <a:xfrm>
                <a:off x="5391025" y="1679050"/>
                <a:ext cx="432475" cy="432475"/>
              </a:xfrm>
              <a:prstGeom prst="rect">
                <a:avLst/>
              </a:prstGeom>
              <a:noFill/>
              <a:ln>
                <a:noFill/>
              </a:ln>
            </p:spPr>
          </p:pic>
          <p:sp>
            <p:nvSpPr>
              <p:cNvPr id="452" name="Google Shape;452;p42"/>
              <p:cNvSpPr txBox="1"/>
              <p:nvPr/>
            </p:nvSpPr>
            <p:spPr>
              <a:xfrm>
                <a:off x="4937663" y="1949450"/>
                <a:ext cx="923400" cy="35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lt1"/>
                    </a:solidFill>
                    <a:highlight>
                      <a:srgbClr val="86BD41"/>
                    </a:highlight>
                    <a:latin typeface="Lexend"/>
                    <a:ea typeface="Lexend"/>
                    <a:cs typeface="Lexend"/>
                    <a:sym typeface="Lexend"/>
                  </a:rPr>
                  <a:t>OEMs</a:t>
                </a:r>
                <a:endParaRPr sz="1500">
                  <a:solidFill>
                    <a:schemeClr val="lt1"/>
                  </a:solidFill>
                  <a:highlight>
                    <a:srgbClr val="86BD41"/>
                  </a:highlight>
                  <a:latin typeface="Lexend"/>
                  <a:ea typeface="Lexend"/>
                  <a:cs typeface="Lexend"/>
                  <a:sym typeface="Lexend"/>
                </a:endParaRPr>
              </a:p>
            </p:txBody>
          </p:sp>
        </p:grpSp>
      </p:grpSp>
      <p:pic>
        <p:nvPicPr>
          <p:cNvPr id="453" name="Google Shape;453;p42"/>
          <p:cNvPicPr preferRelativeResize="0"/>
          <p:nvPr/>
        </p:nvPicPr>
        <p:blipFill rotWithShape="1">
          <a:blip r:embed="rId6">
            <a:alphaModFix/>
          </a:blip>
          <a:srcRect b="0" l="0" r="0" t="0"/>
          <a:stretch/>
        </p:blipFill>
        <p:spPr>
          <a:xfrm>
            <a:off x="0" y="5"/>
            <a:ext cx="9144003" cy="598289"/>
          </a:xfrm>
          <a:prstGeom prst="rect">
            <a:avLst/>
          </a:prstGeom>
          <a:noFill/>
          <a:ln>
            <a:noFill/>
          </a:ln>
        </p:spPr>
      </p:pic>
      <p:sp>
        <p:nvSpPr>
          <p:cNvPr id="454" name="Google Shape;454;p4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27</a:t>
            </a:r>
            <a:endParaRPr sz="700">
              <a:latin typeface="Lexend"/>
              <a:ea typeface="Lexend"/>
              <a:cs typeface="Lexend"/>
              <a:sym typeface="Lexend"/>
            </a:endParaRPr>
          </a:p>
        </p:txBody>
      </p:sp>
      <p:sp>
        <p:nvSpPr>
          <p:cNvPr id="455" name="Google Shape;455;p4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3"/>
          <p:cNvSpPr txBox="1"/>
          <p:nvPr>
            <p:ph type="title"/>
          </p:nvPr>
        </p:nvSpPr>
        <p:spPr>
          <a:xfrm>
            <a:off x="311700" y="1002504"/>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200">
                <a:latin typeface="Lexend"/>
                <a:ea typeface="Lexend"/>
                <a:cs typeface="Lexend"/>
                <a:sym typeface="Lexend"/>
              </a:rPr>
              <a:t>EKO Srl</a:t>
            </a:r>
            <a:r>
              <a:rPr lang="it" sz="2200">
                <a:latin typeface="Lexend"/>
                <a:ea typeface="Lexend"/>
                <a:cs typeface="Lexend"/>
                <a:sym typeface="Lexend"/>
              </a:rPr>
              <a:t> per </a:t>
            </a:r>
            <a:r>
              <a:rPr b="1" lang="it" sz="2200">
                <a:latin typeface="Lexend"/>
                <a:ea typeface="Lexend"/>
                <a:cs typeface="Lexend"/>
                <a:sym typeface="Lexend"/>
              </a:rPr>
              <a:t>privati</a:t>
            </a:r>
            <a:r>
              <a:rPr lang="it" sz="2200">
                <a:latin typeface="Lexend"/>
                <a:ea typeface="Lexend"/>
                <a:cs typeface="Lexend"/>
                <a:sym typeface="Lexend"/>
              </a:rPr>
              <a:t>, </a:t>
            </a:r>
            <a:r>
              <a:rPr b="1" lang="it" sz="2200">
                <a:latin typeface="Lexend"/>
                <a:ea typeface="Lexend"/>
                <a:cs typeface="Lexend"/>
                <a:sym typeface="Lexend"/>
              </a:rPr>
              <a:t>aziende</a:t>
            </a:r>
            <a:r>
              <a:rPr lang="it" sz="2200">
                <a:latin typeface="Lexend"/>
                <a:ea typeface="Lexend"/>
                <a:cs typeface="Lexend"/>
                <a:sym typeface="Lexend"/>
              </a:rPr>
              <a:t>… e </a:t>
            </a:r>
            <a:r>
              <a:rPr b="1" lang="it" sz="2200">
                <a:latin typeface="Lexend"/>
                <a:ea typeface="Lexend"/>
                <a:cs typeface="Lexend"/>
                <a:sym typeface="Lexend"/>
              </a:rPr>
              <a:t>collaborazioni B2B</a:t>
            </a:r>
            <a:endParaRPr b="1" sz="2200">
              <a:latin typeface="Lexend"/>
              <a:ea typeface="Lexend"/>
              <a:cs typeface="Lexend"/>
              <a:sym typeface="Lexend"/>
            </a:endParaRPr>
          </a:p>
        </p:txBody>
      </p:sp>
      <p:sp>
        <p:nvSpPr>
          <p:cNvPr id="461" name="Google Shape;461;p4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62" name="Google Shape;462;p43"/>
          <p:cNvGrpSpPr/>
          <p:nvPr/>
        </p:nvGrpSpPr>
        <p:grpSpPr>
          <a:xfrm>
            <a:off x="585268" y="1905924"/>
            <a:ext cx="7973441" cy="833046"/>
            <a:chOff x="1191125" y="1595500"/>
            <a:chExt cx="6761738" cy="706450"/>
          </a:xfrm>
        </p:grpSpPr>
        <p:pic>
          <p:nvPicPr>
            <p:cNvPr id="463" name="Google Shape;463;p43"/>
            <p:cNvPicPr preferRelativeResize="0"/>
            <p:nvPr/>
          </p:nvPicPr>
          <p:blipFill rotWithShape="1">
            <a:blip r:embed="rId3">
              <a:alphaModFix/>
            </a:blip>
            <a:srcRect b="0" l="0" r="0" t="0"/>
            <a:stretch/>
          </p:blipFill>
          <p:spPr>
            <a:xfrm>
              <a:off x="3035763" y="1595500"/>
              <a:ext cx="606724" cy="606724"/>
            </a:xfrm>
            <a:prstGeom prst="rect">
              <a:avLst/>
            </a:prstGeom>
            <a:noFill/>
            <a:ln>
              <a:noFill/>
            </a:ln>
          </p:spPr>
        </p:pic>
        <p:pic>
          <p:nvPicPr>
            <p:cNvPr id="464" name="Google Shape;464;p43"/>
            <p:cNvPicPr preferRelativeResize="0"/>
            <p:nvPr/>
          </p:nvPicPr>
          <p:blipFill>
            <a:blip r:embed="rId4">
              <a:alphaModFix/>
            </a:blip>
            <a:stretch>
              <a:fillRect/>
            </a:stretch>
          </p:blipFill>
          <p:spPr>
            <a:xfrm>
              <a:off x="2417770" y="1758152"/>
              <a:ext cx="281380" cy="281400"/>
            </a:xfrm>
            <a:prstGeom prst="rect">
              <a:avLst/>
            </a:prstGeom>
            <a:noFill/>
            <a:ln>
              <a:noFill/>
            </a:ln>
          </p:spPr>
        </p:pic>
        <p:grpSp>
          <p:nvGrpSpPr>
            <p:cNvPr id="465" name="Google Shape;465;p43"/>
            <p:cNvGrpSpPr/>
            <p:nvPr/>
          </p:nvGrpSpPr>
          <p:grpSpPr>
            <a:xfrm>
              <a:off x="1191125" y="1679050"/>
              <a:ext cx="923400" cy="622900"/>
              <a:chOff x="4937663" y="1679050"/>
              <a:chExt cx="923400" cy="622900"/>
            </a:xfrm>
          </p:grpSpPr>
          <p:pic>
            <p:nvPicPr>
              <p:cNvPr id="466" name="Google Shape;466;p43"/>
              <p:cNvPicPr preferRelativeResize="0"/>
              <p:nvPr/>
            </p:nvPicPr>
            <p:blipFill>
              <a:blip r:embed="rId5">
                <a:alphaModFix/>
              </a:blip>
              <a:stretch>
                <a:fillRect/>
              </a:stretch>
            </p:blipFill>
            <p:spPr>
              <a:xfrm>
                <a:off x="4958550" y="1679050"/>
                <a:ext cx="432475" cy="432475"/>
              </a:xfrm>
              <a:prstGeom prst="rect">
                <a:avLst/>
              </a:prstGeom>
              <a:noFill/>
              <a:ln>
                <a:noFill/>
              </a:ln>
            </p:spPr>
          </p:pic>
          <p:pic>
            <p:nvPicPr>
              <p:cNvPr id="467" name="Google Shape;467;p43"/>
              <p:cNvPicPr preferRelativeResize="0"/>
              <p:nvPr/>
            </p:nvPicPr>
            <p:blipFill>
              <a:blip r:embed="rId5">
                <a:alphaModFix/>
              </a:blip>
              <a:stretch>
                <a:fillRect/>
              </a:stretch>
            </p:blipFill>
            <p:spPr>
              <a:xfrm>
                <a:off x="5391025" y="1679050"/>
                <a:ext cx="432475" cy="432475"/>
              </a:xfrm>
              <a:prstGeom prst="rect">
                <a:avLst/>
              </a:prstGeom>
              <a:noFill/>
              <a:ln>
                <a:noFill/>
              </a:ln>
            </p:spPr>
          </p:pic>
          <p:sp>
            <p:nvSpPr>
              <p:cNvPr id="468" name="Google Shape;468;p43"/>
              <p:cNvSpPr txBox="1"/>
              <p:nvPr/>
            </p:nvSpPr>
            <p:spPr>
              <a:xfrm>
                <a:off x="4937663" y="1949450"/>
                <a:ext cx="923400" cy="35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lt1"/>
                    </a:solidFill>
                    <a:highlight>
                      <a:srgbClr val="86BD41"/>
                    </a:highlight>
                    <a:latin typeface="Lexend"/>
                    <a:ea typeface="Lexend"/>
                    <a:cs typeface="Lexend"/>
                    <a:sym typeface="Lexend"/>
                  </a:rPr>
                  <a:t>OEMs</a:t>
                </a:r>
                <a:endParaRPr sz="1500">
                  <a:solidFill>
                    <a:schemeClr val="lt1"/>
                  </a:solidFill>
                  <a:highlight>
                    <a:srgbClr val="86BD41"/>
                  </a:highlight>
                  <a:latin typeface="Lexend"/>
                  <a:ea typeface="Lexend"/>
                  <a:cs typeface="Lexend"/>
                  <a:sym typeface="Lexend"/>
                </a:endParaRPr>
              </a:p>
            </p:txBody>
          </p:sp>
        </p:grpSp>
        <p:sp>
          <p:nvSpPr>
            <p:cNvPr id="469" name="Google Shape;469;p43"/>
            <p:cNvSpPr txBox="1"/>
            <p:nvPr/>
          </p:nvSpPr>
          <p:spPr>
            <a:xfrm>
              <a:off x="3871163" y="1668000"/>
              <a:ext cx="311100" cy="391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solidFill>
                    <a:schemeClr val="dk1"/>
                  </a:solidFill>
                </a:rPr>
                <a:t>=</a:t>
              </a:r>
              <a:endParaRPr sz="1800">
                <a:solidFill>
                  <a:schemeClr val="dk1"/>
                </a:solidFill>
              </a:endParaRPr>
            </a:p>
          </p:txBody>
        </p:sp>
        <p:grpSp>
          <p:nvGrpSpPr>
            <p:cNvPr id="470" name="Google Shape;470;p43"/>
            <p:cNvGrpSpPr/>
            <p:nvPr/>
          </p:nvGrpSpPr>
          <p:grpSpPr>
            <a:xfrm>
              <a:off x="4283288" y="1668001"/>
              <a:ext cx="923400" cy="594649"/>
              <a:chOff x="4566575" y="1668001"/>
              <a:chExt cx="923400" cy="594649"/>
            </a:xfrm>
          </p:grpSpPr>
          <p:pic>
            <p:nvPicPr>
              <p:cNvPr id="471" name="Google Shape;471;p43"/>
              <p:cNvPicPr preferRelativeResize="0"/>
              <p:nvPr/>
            </p:nvPicPr>
            <p:blipFill>
              <a:blip r:embed="rId6">
                <a:alphaModFix/>
              </a:blip>
              <a:stretch>
                <a:fillRect/>
              </a:stretch>
            </p:blipFill>
            <p:spPr>
              <a:xfrm>
                <a:off x="4797450" y="1668001"/>
                <a:ext cx="461677" cy="461700"/>
              </a:xfrm>
              <a:prstGeom prst="rect">
                <a:avLst/>
              </a:prstGeom>
              <a:noFill/>
              <a:ln>
                <a:noFill/>
              </a:ln>
            </p:spPr>
          </p:pic>
          <p:sp>
            <p:nvSpPr>
              <p:cNvPr id="472" name="Google Shape;472;p43"/>
              <p:cNvSpPr txBox="1"/>
              <p:nvPr/>
            </p:nvSpPr>
            <p:spPr>
              <a:xfrm>
                <a:off x="4566575" y="1949450"/>
                <a:ext cx="9234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Cost Saving</a:t>
                </a:r>
                <a:endParaRPr sz="1200">
                  <a:solidFill>
                    <a:schemeClr val="lt1"/>
                  </a:solidFill>
                  <a:highlight>
                    <a:srgbClr val="86BD41"/>
                  </a:highlight>
                  <a:latin typeface="Lexend"/>
                  <a:ea typeface="Lexend"/>
                  <a:cs typeface="Lexend"/>
                  <a:sym typeface="Lexend"/>
                </a:endParaRPr>
              </a:p>
            </p:txBody>
          </p:sp>
        </p:grpSp>
        <p:grpSp>
          <p:nvGrpSpPr>
            <p:cNvPr id="473" name="Google Shape;473;p43"/>
            <p:cNvGrpSpPr/>
            <p:nvPr/>
          </p:nvGrpSpPr>
          <p:grpSpPr>
            <a:xfrm>
              <a:off x="5207200" y="1679050"/>
              <a:ext cx="1031400" cy="583600"/>
              <a:chOff x="5490488" y="1679050"/>
              <a:chExt cx="1031400" cy="583600"/>
            </a:xfrm>
          </p:grpSpPr>
          <p:pic>
            <p:nvPicPr>
              <p:cNvPr id="474" name="Google Shape;474;p43"/>
              <p:cNvPicPr preferRelativeResize="0"/>
              <p:nvPr/>
            </p:nvPicPr>
            <p:blipFill>
              <a:blip r:embed="rId7">
                <a:alphaModFix/>
              </a:blip>
              <a:stretch>
                <a:fillRect/>
              </a:stretch>
            </p:blipFill>
            <p:spPr>
              <a:xfrm>
                <a:off x="5775347" y="1679050"/>
                <a:ext cx="461676" cy="461691"/>
              </a:xfrm>
              <a:prstGeom prst="rect">
                <a:avLst/>
              </a:prstGeom>
              <a:noFill/>
              <a:ln>
                <a:noFill/>
              </a:ln>
            </p:spPr>
          </p:pic>
          <p:sp>
            <p:nvSpPr>
              <p:cNvPr id="475" name="Google Shape;475;p43"/>
              <p:cNvSpPr txBox="1"/>
              <p:nvPr/>
            </p:nvSpPr>
            <p:spPr>
              <a:xfrm>
                <a:off x="5490488" y="1949450"/>
                <a:ext cx="10314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Ass. Ufficiale</a:t>
                </a:r>
                <a:endParaRPr sz="1200">
                  <a:solidFill>
                    <a:schemeClr val="lt1"/>
                  </a:solidFill>
                  <a:highlight>
                    <a:srgbClr val="86BD41"/>
                  </a:highlight>
                  <a:latin typeface="Lexend"/>
                  <a:ea typeface="Lexend"/>
                  <a:cs typeface="Lexend"/>
                  <a:sym typeface="Lexend"/>
                </a:endParaRPr>
              </a:p>
            </p:txBody>
          </p:sp>
        </p:grpSp>
        <p:grpSp>
          <p:nvGrpSpPr>
            <p:cNvPr id="476" name="Google Shape;476;p43"/>
            <p:cNvGrpSpPr/>
            <p:nvPr/>
          </p:nvGrpSpPr>
          <p:grpSpPr>
            <a:xfrm>
              <a:off x="6199363" y="1668000"/>
              <a:ext cx="1753500" cy="594650"/>
              <a:chOff x="6545300" y="1668000"/>
              <a:chExt cx="1753500" cy="594650"/>
            </a:xfrm>
          </p:grpSpPr>
          <p:pic>
            <p:nvPicPr>
              <p:cNvPr id="477" name="Google Shape;477;p43"/>
              <p:cNvPicPr preferRelativeResize="0"/>
              <p:nvPr/>
            </p:nvPicPr>
            <p:blipFill>
              <a:blip r:embed="rId8">
                <a:alphaModFix/>
              </a:blip>
              <a:stretch>
                <a:fillRect/>
              </a:stretch>
            </p:blipFill>
            <p:spPr>
              <a:xfrm>
                <a:off x="7413750" y="1668000"/>
                <a:ext cx="400300" cy="400325"/>
              </a:xfrm>
              <a:prstGeom prst="rect">
                <a:avLst/>
              </a:prstGeom>
              <a:noFill/>
              <a:ln>
                <a:noFill/>
              </a:ln>
            </p:spPr>
          </p:pic>
          <p:pic>
            <p:nvPicPr>
              <p:cNvPr id="478" name="Google Shape;478;p43"/>
              <p:cNvPicPr preferRelativeResize="0"/>
              <p:nvPr/>
            </p:nvPicPr>
            <p:blipFill>
              <a:blip r:embed="rId9">
                <a:alphaModFix/>
              </a:blip>
              <a:stretch>
                <a:fillRect/>
              </a:stretch>
            </p:blipFill>
            <p:spPr>
              <a:xfrm>
                <a:off x="6927375" y="1676355"/>
                <a:ext cx="428826" cy="428826"/>
              </a:xfrm>
              <a:prstGeom prst="rect">
                <a:avLst/>
              </a:prstGeom>
              <a:noFill/>
              <a:ln>
                <a:noFill/>
              </a:ln>
            </p:spPr>
          </p:pic>
          <p:sp>
            <p:nvSpPr>
              <p:cNvPr id="479" name="Google Shape;479;p43"/>
              <p:cNvSpPr txBox="1"/>
              <p:nvPr/>
            </p:nvSpPr>
            <p:spPr>
              <a:xfrm>
                <a:off x="6545300" y="1949450"/>
                <a:ext cx="17535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Merce Pronta Consegna</a:t>
                </a:r>
                <a:endParaRPr sz="1200">
                  <a:solidFill>
                    <a:schemeClr val="lt1"/>
                  </a:solidFill>
                  <a:highlight>
                    <a:srgbClr val="86BD41"/>
                  </a:highlight>
                  <a:latin typeface="Lexend"/>
                  <a:ea typeface="Lexend"/>
                  <a:cs typeface="Lexend"/>
                  <a:sym typeface="Lexend"/>
                </a:endParaRPr>
              </a:p>
            </p:txBody>
          </p:sp>
        </p:grpSp>
      </p:grpSp>
      <p:pic>
        <p:nvPicPr>
          <p:cNvPr id="480" name="Google Shape;480;p43"/>
          <p:cNvPicPr preferRelativeResize="0"/>
          <p:nvPr/>
        </p:nvPicPr>
        <p:blipFill rotWithShape="1">
          <a:blip r:embed="rId10">
            <a:alphaModFix/>
          </a:blip>
          <a:srcRect b="0" l="0" r="0" t="0"/>
          <a:stretch/>
        </p:blipFill>
        <p:spPr>
          <a:xfrm>
            <a:off x="0" y="5"/>
            <a:ext cx="9144003" cy="598289"/>
          </a:xfrm>
          <a:prstGeom prst="rect">
            <a:avLst/>
          </a:prstGeom>
          <a:noFill/>
          <a:ln>
            <a:noFill/>
          </a:ln>
        </p:spPr>
      </p:pic>
      <p:sp>
        <p:nvSpPr>
          <p:cNvPr id="481" name="Google Shape;481;p4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28</a:t>
            </a:r>
            <a:endParaRPr sz="700">
              <a:latin typeface="Lexend"/>
              <a:ea typeface="Lexend"/>
              <a:cs typeface="Lexend"/>
              <a:sym typeface="Lexend"/>
            </a:endParaRPr>
          </a:p>
        </p:txBody>
      </p:sp>
      <p:sp>
        <p:nvSpPr>
          <p:cNvPr id="482" name="Google Shape;482;p4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4"/>
          <p:cNvSpPr txBox="1"/>
          <p:nvPr>
            <p:ph type="title"/>
          </p:nvPr>
        </p:nvSpPr>
        <p:spPr>
          <a:xfrm>
            <a:off x="311700" y="1002504"/>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200">
                <a:latin typeface="Lexend"/>
                <a:ea typeface="Lexend"/>
                <a:cs typeface="Lexend"/>
                <a:sym typeface="Lexend"/>
              </a:rPr>
              <a:t>EKO Srl</a:t>
            </a:r>
            <a:r>
              <a:rPr lang="it" sz="2200">
                <a:latin typeface="Lexend"/>
                <a:ea typeface="Lexend"/>
                <a:cs typeface="Lexend"/>
                <a:sym typeface="Lexend"/>
              </a:rPr>
              <a:t> per </a:t>
            </a:r>
            <a:r>
              <a:rPr b="1" lang="it" sz="2200">
                <a:latin typeface="Lexend"/>
                <a:ea typeface="Lexend"/>
                <a:cs typeface="Lexend"/>
                <a:sym typeface="Lexend"/>
              </a:rPr>
              <a:t>privati</a:t>
            </a:r>
            <a:r>
              <a:rPr lang="it" sz="2200">
                <a:latin typeface="Lexend"/>
                <a:ea typeface="Lexend"/>
                <a:cs typeface="Lexend"/>
                <a:sym typeface="Lexend"/>
              </a:rPr>
              <a:t>, </a:t>
            </a:r>
            <a:r>
              <a:rPr b="1" lang="it" sz="2200">
                <a:latin typeface="Lexend"/>
                <a:ea typeface="Lexend"/>
                <a:cs typeface="Lexend"/>
                <a:sym typeface="Lexend"/>
              </a:rPr>
              <a:t>aziende</a:t>
            </a:r>
            <a:r>
              <a:rPr lang="it" sz="2200">
                <a:latin typeface="Lexend"/>
                <a:ea typeface="Lexend"/>
                <a:cs typeface="Lexend"/>
                <a:sym typeface="Lexend"/>
              </a:rPr>
              <a:t>… e </a:t>
            </a:r>
            <a:r>
              <a:rPr b="1" lang="it" sz="2200">
                <a:latin typeface="Lexend"/>
                <a:ea typeface="Lexend"/>
                <a:cs typeface="Lexend"/>
                <a:sym typeface="Lexend"/>
              </a:rPr>
              <a:t>collaborazioni B2B</a:t>
            </a:r>
            <a:endParaRPr b="1" sz="2200">
              <a:latin typeface="Lexend"/>
              <a:ea typeface="Lexend"/>
              <a:cs typeface="Lexend"/>
              <a:sym typeface="Lexend"/>
            </a:endParaRPr>
          </a:p>
        </p:txBody>
      </p:sp>
      <p:sp>
        <p:nvSpPr>
          <p:cNvPr id="488" name="Google Shape;488;p4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89" name="Google Shape;489;p44"/>
          <p:cNvGrpSpPr/>
          <p:nvPr/>
        </p:nvGrpSpPr>
        <p:grpSpPr>
          <a:xfrm>
            <a:off x="364905" y="1905924"/>
            <a:ext cx="8414182" cy="2444353"/>
            <a:chOff x="1004250" y="1595500"/>
            <a:chExt cx="7135500" cy="2072891"/>
          </a:xfrm>
        </p:grpSpPr>
        <p:pic>
          <p:nvPicPr>
            <p:cNvPr id="490" name="Google Shape;490;p44"/>
            <p:cNvPicPr preferRelativeResize="0"/>
            <p:nvPr/>
          </p:nvPicPr>
          <p:blipFill rotWithShape="1">
            <a:blip r:embed="rId3">
              <a:alphaModFix/>
            </a:blip>
            <a:srcRect b="0" l="0" r="0" t="0"/>
            <a:stretch/>
          </p:blipFill>
          <p:spPr>
            <a:xfrm>
              <a:off x="3035763" y="1595500"/>
              <a:ext cx="606724" cy="606724"/>
            </a:xfrm>
            <a:prstGeom prst="rect">
              <a:avLst/>
            </a:prstGeom>
            <a:noFill/>
            <a:ln>
              <a:noFill/>
            </a:ln>
          </p:spPr>
        </p:pic>
        <p:pic>
          <p:nvPicPr>
            <p:cNvPr id="491" name="Google Shape;491;p44"/>
            <p:cNvPicPr preferRelativeResize="0"/>
            <p:nvPr/>
          </p:nvPicPr>
          <p:blipFill>
            <a:blip r:embed="rId4">
              <a:alphaModFix/>
            </a:blip>
            <a:stretch>
              <a:fillRect/>
            </a:stretch>
          </p:blipFill>
          <p:spPr>
            <a:xfrm>
              <a:off x="2417770" y="1758152"/>
              <a:ext cx="281380" cy="281400"/>
            </a:xfrm>
            <a:prstGeom prst="rect">
              <a:avLst/>
            </a:prstGeom>
            <a:noFill/>
            <a:ln>
              <a:noFill/>
            </a:ln>
          </p:spPr>
        </p:pic>
        <p:grpSp>
          <p:nvGrpSpPr>
            <p:cNvPr id="492" name="Google Shape;492;p44"/>
            <p:cNvGrpSpPr/>
            <p:nvPr/>
          </p:nvGrpSpPr>
          <p:grpSpPr>
            <a:xfrm>
              <a:off x="1191125" y="1679050"/>
              <a:ext cx="923400" cy="622900"/>
              <a:chOff x="4937663" y="1679050"/>
              <a:chExt cx="923400" cy="622900"/>
            </a:xfrm>
          </p:grpSpPr>
          <p:pic>
            <p:nvPicPr>
              <p:cNvPr id="493" name="Google Shape;493;p44"/>
              <p:cNvPicPr preferRelativeResize="0"/>
              <p:nvPr/>
            </p:nvPicPr>
            <p:blipFill>
              <a:blip r:embed="rId5">
                <a:alphaModFix/>
              </a:blip>
              <a:stretch>
                <a:fillRect/>
              </a:stretch>
            </p:blipFill>
            <p:spPr>
              <a:xfrm>
                <a:off x="4958550" y="1679050"/>
                <a:ext cx="432475" cy="432475"/>
              </a:xfrm>
              <a:prstGeom prst="rect">
                <a:avLst/>
              </a:prstGeom>
              <a:noFill/>
              <a:ln>
                <a:noFill/>
              </a:ln>
            </p:spPr>
          </p:pic>
          <p:pic>
            <p:nvPicPr>
              <p:cNvPr id="494" name="Google Shape;494;p44"/>
              <p:cNvPicPr preferRelativeResize="0"/>
              <p:nvPr/>
            </p:nvPicPr>
            <p:blipFill>
              <a:blip r:embed="rId5">
                <a:alphaModFix/>
              </a:blip>
              <a:stretch>
                <a:fillRect/>
              </a:stretch>
            </p:blipFill>
            <p:spPr>
              <a:xfrm>
                <a:off x="5391025" y="1679050"/>
                <a:ext cx="432475" cy="432475"/>
              </a:xfrm>
              <a:prstGeom prst="rect">
                <a:avLst/>
              </a:prstGeom>
              <a:noFill/>
              <a:ln>
                <a:noFill/>
              </a:ln>
            </p:spPr>
          </p:pic>
          <p:sp>
            <p:nvSpPr>
              <p:cNvPr id="495" name="Google Shape;495;p44"/>
              <p:cNvSpPr txBox="1"/>
              <p:nvPr/>
            </p:nvSpPr>
            <p:spPr>
              <a:xfrm>
                <a:off x="4937663" y="1949450"/>
                <a:ext cx="923400" cy="35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lt1"/>
                    </a:solidFill>
                    <a:highlight>
                      <a:srgbClr val="86BD41"/>
                    </a:highlight>
                    <a:latin typeface="Lexend"/>
                    <a:ea typeface="Lexend"/>
                    <a:cs typeface="Lexend"/>
                    <a:sym typeface="Lexend"/>
                  </a:rPr>
                  <a:t>OEMs</a:t>
                </a:r>
                <a:endParaRPr sz="1500">
                  <a:solidFill>
                    <a:schemeClr val="lt1"/>
                  </a:solidFill>
                  <a:highlight>
                    <a:srgbClr val="86BD41"/>
                  </a:highlight>
                  <a:latin typeface="Lexend"/>
                  <a:ea typeface="Lexend"/>
                  <a:cs typeface="Lexend"/>
                  <a:sym typeface="Lexend"/>
                </a:endParaRPr>
              </a:p>
            </p:txBody>
          </p:sp>
        </p:grpSp>
        <p:sp>
          <p:nvSpPr>
            <p:cNvPr id="496" name="Google Shape;496;p44"/>
            <p:cNvSpPr txBox="1"/>
            <p:nvPr/>
          </p:nvSpPr>
          <p:spPr>
            <a:xfrm>
              <a:off x="3871163" y="1668000"/>
              <a:ext cx="311100" cy="391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solidFill>
                    <a:schemeClr val="dk1"/>
                  </a:solidFill>
                </a:rPr>
                <a:t>=</a:t>
              </a:r>
              <a:endParaRPr sz="1800">
                <a:solidFill>
                  <a:schemeClr val="dk1"/>
                </a:solidFill>
              </a:endParaRPr>
            </a:p>
          </p:txBody>
        </p:sp>
        <p:grpSp>
          <p:nvGrpSpPr>
            <p:cNvPr id="497" name="Google Shape;497;p44"/>
            <p:cNvGrpSpPr/>
            <p:nvPr/>
          </p:nvGrpSpPr>
          <p:grpSpPr>
            <a:xfrm>
              <a:off x="4283288" y="1668001"/>
              <a:ext cx="923400" cy="594649"/>
              <a:chOff x="4566575" y="1668001"/>
              <a:chExt cx="923400" cy="594649"/>
            </a:xfrm>
          </p:grpSpPr>
          <p:pic>
            <p:nvPicPr>
              <p:cNvPr id="498" name="Google Shape;498;p44"/>
              <p:cNvPicPr preferRelativeResize="0"/>
              <p:nvPr/>
            </p:nvPicPr>
            <p:blipFill>
              <a:blip r:embed="rId6">
                <a:alphaModFix/>
              </a:blip>
              <a:stretch>
                <a:fillRect/>
              </a:stretch>
            </p:blipFill>
            <p:spPr>
              <a:xfrm>
                <a:off x="4797450" y="1668001"/>
                <a:ext cx="461677" cy="461700"/>
              </a:xfrm>
              <a:prstGeom prst="rect">
                <a:avLst/>
              </a:prstGeom>
              <a:noFill/>
              <a:ln>
                <a:noFill/>
              </a:ln>
            </p:spPr>
          </p:pic>
          <p:sp>
            <p:nvSpPr>
              <p:cNvPr id="499" name="Google Shape;499;p44"/>
              <p:cNvSpPr txBox="1"/>
              <p:nvPr/>
            </p:nvSpPr>
            <p:spPr>
              <a:xfrm>
                <a:off x="4566575" y="1949450"/>
                <a:ext cx="9234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Cost Saving</a:t>
                </a:r>
                <a:endParaRPr sz="1200">
                  <a:solidFill>
                    <a:schemeClr val="lt1"/>
                  </a:solidFill>
                  <a:highlight>
                    <a:srgbClr val="86BD41"/>
                  </a:highlight>
                  <a:latin typeface="Lexend"/>
                  <a:ea typeface="Lexend"/>
                  <a:cs typeface="Lexend"/>
                  <a:sym typeface="Lexend"/>
                </a:endParaRPr>
              </a:p>
            </p:txBody>
          </p:sp>
        </p:grpSp>
        <p:grpSp>
          <p:nvGrpSpPr>
            <p:cNvPr id="500" name="Google Shape;500;p44"/>
            <p:cNvGrpSpPr/>
            <p:nvPr/>
          </p:nvGrpSpPr>
          <p:grpSpPr>
            <a:xfrm>
              <a:off x="5207200" y="1679050"/>
              <a:ext cx="1031400" cy="583600"/>
              <a:chOff x="5490488" y="1679050"/>
              <a:chExt cx="1031400" cy="583600"/>
            </a:xfrm>
          </p:grpSpPr>
          <p:pic>
            <p:nvPicPr>
              <p:cNvPr id="501" name="Google Shape;501;p44"/>
              <p:cNvPicPr preferRelativeResize="0"/>
              <p:nvPr/>
            </p:nvPicPr>
            <p:blipFill>
              <a:blip r:embed="rId7">
                <a:alphaModFix/>
              </a:blip>
              <a:stretch>
                <a:fillRect/>
              </a:stretch>
            </p:blipFill>
            <p:spPr>
              <a:xfrm>
                <a:off x="5775347" y="1679050"/>
                <a:ext cx="461676" cy="461691"/>
              </a:xfrm>
              <a:prstGeom prst="rect">
                <a:avLst/>
              </a:prstGeom>
              <a:noFill/>
              <a:ln>
                <a:noFill/>
              </a:ln>
            </p:spPr>
          </p:pic>
          <p:sp>
            <p:nvSpPr>
              <p:cNvPr id="502" name="Google Shape;502;p44"/>
              <p:cNvSpPr txBox="1"/>
              <p:nvPr/>
            </p:nvSpPr>
            <p:spPr>
              <a:xfrm>
                <a:off x="5490488" y="1949450"/>
                <a:ext cx="10314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Ass. Ufficiale</a:t>
                </a:r>
                <a:endParaRPr sz="1200">
                  <a:solidFill>
                    <a:schemeClr val="lt1"/>
                  </a:solidFill>
                  <a:highlight>
                    <a:srgbClr val="86BD41"/>
                  </a:highlight>
                  <a:latin typeface="Lexend"/>
                  <a:ea typeface="Lexend"/>
                  <a:cs typeface="Lexend"/>
                  <a:sym typeface="Lexend"/>
                </a:endParaRPr>
              </a:p>
            </p:txBody>
          </p:sp>
        </p:grpSp>
        <p:grpSp>
          <p:nvGrpSpPr>
            <p:cNvPr id="503" name="Google Shape;503;p44"/>
            <p:cNvGrpSpPr/>
            <p:nvPr/>
          </p:nvGrpSpPr>
          <p:grpSpPr>
            <a:xfrm>
              <a:off x="6199363" y="1668000"/>
              <a:ext cx="1753500" cy="594650"/>
              <a:chOff x="6545300" y="1668000"/>
              <a:chExt cx="1753500" cy="594650"/>
            </a:xfrm>
          </p:grpSpPr>
          <p:pic>
            <p:nvPicPr>
              <p:cNvPr id="504" name="Google Shape;504;p44"/>
              <p:cNvPicPr preferRelativeResize="0"/>
              <p:nvPr/>
            </p:nvPicPr>
            <p:blipFill>
              <a:blip r:embed="rId8">
                <a:alphaModFix/>
              </a:blip>
              <a:stretch>
                <a:fillRect/>
              </a:stretch>
            </p:blipFill>
            <p:spPr>
              <a:xfrm>
                <a:off x="7413750" y="1668000"/>
                <a:ext cx="400300" cy="400325"/>
              </a:xfrm>
              <a:prstGeom prst="rect">
                <a:avLst/>
              </a:prstGeom>
              <a:noFill/>
              <a:ln>
                <a:noFill/>
              </a:ln>
            </p:spPr>
          </p:pic>
          <p:pic>
            <p:nvPicPr>
              <p:cNvPr id="505" name="Google Shape;505;p44"/>
              <p:cNvPicPr preferRelativeResize="0"/>
              <p:nvPr/>
            </p:nvPicPr>
            <p:blipFill>
              <a:blip r:embed="rId9">
                <a:alphaModFix/>
              </a:blip>
              <a:stretch>
                <a:fillRect/>
              </a:stretch>
            </p:blipFill>
            <p:spPr>
              <a:xfrm>
                <a:off x="6927375" y="1676355"/>
                <a:ext cx="428826" cy="428826"/>
              </a:xfrm>
              <a:prstGeom prst="rect">
                <a:avLst/>
              </a:prstGeom>
              <a:noFill/>
              <a:ln>
                <a:noFill/>
              </a:ln>
            </p:spPr>
          </p:pic>
          <p:sp>
            <p:nvSpPr>
              <p:cNvPr id="506" name="Google Shape;506;p44"/>
              <p:cNvSpPr txBox="1"/>
              <p:nvPr/>
            </p:nvSpPr>
            <p:spPr>
              <a:xfrm>
                <a:off x="6545300" y="1949450"/>
                <a:ext cx="17535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Merce Pronta Consegna</a:t>
                </a:r>
                <a:endParaRPr sz="1200">
                  <a:solidFill>
                    <a:schemeClr val="lt1"/>
                  </a:solidFill>
                  <a:highlight>
                    <a:srgbClr val="86BD41"/>
                  </a:highlight>
                  <a:latin typeface="Lexend"/>
                  <a:ea typeface="Lexend"/>
                  <a:cs typeface="Lexend"/>
                  <a:sym typeface="Lexend"/>
                </a:endParaRPr>
              </a:p>
            </p:txBody>
          </p:sp>
        </p:grpSp>
        <p:grpSp>
          <p:nvGrpSpPr>
            <p:cNvPr id="507" name="Google Shape;507;p44"/>
            <p:cNvGrpSpPr/>
            <p:nvPr/>
          </p:nvGrpSpPr>
          <p:grpSpPr>
            <a:xfrm>
              <a:off x="1004250" y="2285413"/>
              <a:ext cx="7135500" cy="388825"/>
              <a:chOff x="1004250" y="2303450"/>
              <a:chExt cx="7135500" cy="388825"/>
            </a:xfrm>
          </p:grpSpPr>
          <p:cxnSp>
            <p:nvCxnSpPr>
              <p:cNvPr id="508" name="Google Shape;508;p44"/>
              <p:cNvCxnSpPr/>
              <p:nvPr/>
            </p:nvCxnSpPr>
            <p:spPr>
              <a:xfrm>
                <a:off x="1004250" y="2497875"/>
                <a:ext cx="7135500" cy="0"/>
              </a:xfrm>
              <a:prstGeom prst="straightConnector1">
                <a:avLst/>
              </a:prstGeom>
              <a:noFill/>
              <a:ln cap="flat" cmpd="sng" w="9525">
                <a:solidFill>
                  <a:schemeClr val="dk2"/>
                </a:solidFill>
                <a:prstDash val="solid"/>
                <a:round/>
                <a:headEnd len="med" w="med" type="none"/>
                <a:tailEnd len="med" w="med" type="none"/>
              </a:ln>
            </p:spPr>
          </p:cxnSp>
          <p:cxnSp>
            <p:nvCxnSpPr>
              <p:cNvPr id="509" name="Google Shape;509;p44"/>
              <p:cNvCxnSpPr/>
              <p:nvPr/>
            </p:nvCxnSpPr>
            <p:spPr>
              <a:xfrm>
                <a:off x="1004250"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510" name="Google Shape;510;p44"/>
              <p:cNvCxnSpPr/>
              <p:nvPr/>
            </p:nvCxnSpPr>
            <p:spPr>
              <a:xfrm>
                <a:off x="8139750"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511" name="Google Shape;511;p44"/>
              <p:cNvCxnSpPr/>
              <p:nvPr/>
            </p:nvCxnSpPr>
            <p:spPr>
              <a:xfrm>
                <a:off x="4572000" y="2497875"/>
                <a:ext cx="0" cy="194400"/>
              </a:xfrm>
              <a:prstGeom prst="straightConnector1">
                <a:avLst/>
              </a:prstGeom>
              <a:noFill/>
              <a:ln cap="flat" cmpd="sng" w="9525">
                <a:solidFill>
                  <a:schemeClr val="dk2"/>
                </a:solidFill>
                <a:prstDash val="solid"/>
                <a:round/>
                <a:headEnd len="med" w="med" type="none"/>
                <a:tailEnd len="med" w="med" type="none"/>
              </a:ln>
            </p:spPr>
          </p:cxnSp>
        </p:grpSp>
        <p:pic>
          <p:nvPicPr>
            <p:cNvPr id="512" name="Google Shape;512;p44"/>
            <p:cNvPicPr preferRelativeResize="0"/>
            <p:nvPr/>
          </p:nvPicPr>
          <p:blipFill rotWithShape="1">
            <a:blip r:embed="rId10">
              <a:alphaModFix/>
            </a:blip>
            <a:srcRect b="0" l="0" r="0" t="0"/>
            <a:stretch/>
          </p:blipFill>
          <p:spPr>
            <a:xfrm>
              <a:off x="3587425" y="2829975"/>
              <a:ext cx="441275" cy="441275"/>
            </a:xfrm>
            <a:prstGeom prst="rect">
              <a:avLst/>
            </a:prstGeom>
            <a:noFill/>
            <a:ln>
              <a:noFill/>
            </a:ln>
          </p:spPr>
        </p:pic>
        <p:sp>
          <p:nvSpPr>
            <p:cNvPr id="513" name="Google Shape;513;p44"/>
            <p:cNvSpPr txBox="1"/>
            <p:nvPr/>
          </p:nvSpPr>
          <p:spPr>
            <a:xfrm>
              <a:off x="3074712" y="3198591"/>
              <a:ext cx="1466700" cy="4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Prod. Competitivo</a:t>
              </a:r>
              <a:endParaRPr sz="1200">
                <a:solidFill>
                  <a:schemeClr val="lt1"/>
                </a:solidFill>
                <a:highlight>
                  <a:srgbClr val="047D96"/>
                </a:highlight>
                <a:latin typeface="Lexend"/>
                <a:ea typeface="Lexend"/>
                <a:cs typeface="Lexend"/>
                <a:sym typeface="Lexend"/>
              </a:endParaRPr>
            </a:p>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Economicamente</a:t>
              </a:r>
              <a:endParaRPr sz="1200">
                <a:solidFill>
                  <a:schemeClr val="lt1"/>
                </a:solidFill>
                <a:highlight>
                  <a:srgbClr val="047D96"/>
                </a:highlight>
                <a:latin typeface="Lexend"/>
                <a:ea typeface="Lexend"/>
                <a:cs typeface="Lexend"/>
                <a:sym typeface="Lexend"/>
              </a:endParaRPr>
            </a:p>
          </p:txBody>
        </p:sp>
        <p:pic>
          <p:nvPicPr>
            <p:cNvPr id="514" name="Google Shape;514;p44"/>
            <p:cNvPicPr preferRelativeResize="0"/>
            <p:nvPr/>
          </p:nvPicPr>
          <p:blipFill rotWithShape="1">
            <a:blip r:embed="rId11">
              <a:alphaModFix/>
            </a:blip>
            <a:srcRect b="0" l="0" r="0" t="0"/>
            <a:stretch/>
          </p:blipFill>
          <p:spPr>
            <a:xfrm>
              <a:off x="6388743" y="2859674"/>
              <a:ext cx="461700" cy="461700"/>
            </a:xfrm>
            <a:prstGeom prst="rect">
              <a:avLst/>
            </a:prstGeom>
            <a:noFill/>
            <a:ln>
              <a:noFill/>
            </a:ln>
          </p:spPr>
        </p:pic>
        <p:sp>
          <p:nvSpPr>
            <p:cNvPr id="515" name="Google Shape;515;p44"/>
            <p:cNvSpPr txBox="1"/>
            <p:nvPr/>
          </p:nvSpPr>
          <p:spPr>
            <a:xfrm>
              <a:off x="5751693" y="3198586"/>
              <a:ext cx="1735800" cy="4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Servizio/Assistenza OEM con EKO sul territorio</a:t>
              </a:r>
              <a:endParaRPr sz="1200">
                <a:solidFill>
                  <a:schemeClr val="lt1"/>
                </a:solidFill>
                <a:highlight>
                  <a:srgbClr val="047D96"/>
                </a:highlight>
                <a:latin typeface="Lexend"/>
                <a:ea typeface="Lexend"/>
                <a:cs typeface="Lexend"/>
                <a:sym typeface="Lexend"/>
              </a:endParaRPr>
            </a:p>
          </p:txBody>
        </p:sp>
        <p:pic>
          <p:nvPicPr>
            <p:cNvPr id="516" name="Google Shape;516;p44"/>
            <p:cNvPicPr preferRelativeResize="0"/>
            <p:nvPr/>
          </p:nvPicPr>
          <p:blipFill rotWithShape="1">
            <a:blip r:embed="rId12">
              <a:alphaModFix/>
            </a:blip>
            <a:srcRect b="0" l="0" r="10" t="0"/>
            <a:stretch/>
          </p:blipFill>
          <p:spPr>
            <a:xfrm>
              <a:off x="2169218" y="2937300"/>
              <a:ext cx="441251" cy="441272"/>
            </a:xfrm>
            <a:prstGeom prst="rect">
              <a:avLst/>
            </a:prstGeom>
            <a:noFill/>
            <a:ln>
              <a:noFill/>
            </a:ln>
          </p:spPr>
        </p:pic>
        <p:sp>
          <p:nvSpPr>
            <p:cNvPr id="517" name="Google Shape;517;p44"/>
            <p:cNvSpPr txBox="1"/>
            <p:nvPr/>
          </p:nvSpPr>
          <p:spPr>
            <a:xfrm>
              <a:off x="1656492" y="3198591"/>
              <a:ext cx="1466700" cy="4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Scelti da OEM</a:t>
              </a:r>
              <a:endParaRPr sz="1200">
                <a:solidFill>
                  <a:schemeClr val="lt1"/>
                </a:solidFill>
                <a:highlight>
                  <a:srgbClr val="047D96"/>
                </a:highlight>
                <a:latin typeface="Lexend"/>
                <a:ea typeface="Lexend"/>
                <a:cs typeface="Lexend"/>
                <a:sym typeface="Lexend"/>
              </a:endParaRPr>
            </a:p>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referenti ITALIA</a:t>
              </a:r>
              <a:endParaRPr sz="1200">
                <a:solidFill>
                  <a:schemeClr val="lt1"/>
                </a:solidFill>
                <a:highlight>
                  <a:srgbClr val="047D96"/>
                </a:highlight>
                <a:latin typeface="Lexend"/>
                <a:ea typeface="Lexend"/>
                <a:cs typeface="Lexend"/>
                <a:sym typeface="Lexend"/>
              </a:endParaRPr>
            </a:p>
          </p:txBody>
        </p:sp>
        <p:pic>
          <p:nvPicPr>
            <p:cNvPr id="518" name="Google Shape;518;p44"/>
            <p:cNvPicPr preferRelativeResize="0"/>
            <p:nvPr/>
          </p:nvPicPr>
          <p:blipFill rotWithShape="1">
            <a:blip r:embed="rId13">
              <a:alphaModFix/>
            </a:blip>
            <a:srcRect b="0" l="0" r="0" t="0"/>
            <a:stretch/>
          </p:blipFill>
          <p:spPr>
            <a:xfrm>
              <a:off x="4871570" y="2829975"/>
              <a:ext cx="496026" cy="496026"/>
            </a:xfrm>
            <a:prstGeom prst="rect">
              <a:avLst/>
            </a:prstGeom>
            <a:noFill/>
            <a:ln>
              <a:noFill/>
            </a:ln>
          </p:spPr>
        </p:pic>
        <p:sp>
          <p:nvSpPr>
            <p:cNvPr id="519" name="Google Shape;519;p44"/>
            <p:cNvSpPr txBox="1"/>
            <p:nvPr/>
          </p:nvSpPr>
          <p:spPr>
            <a:xfrm>
              <a:off x="4386225" y="3198591"/>
              <a:ext cx="1466700" cy="4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Installazione in </a:t>
              </a:r>
              <a:endParaRPr sz="1200">
                <a:solidFill>
                  <a:schemeClr val="lt1"/>
                </a:solidFill>
                <a:highlight>
                  <a:srgbClr val="047D96"/>
                </a:highlight>
                <a:latin typeface="Lexend"/>
                <a:ea typeface="Lexend"/>
                <a:cs typeface="Lexend"/>
                <a:sym typeface="Lexend"/>
              </a:endParaRPr>
            </a:p>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30 giorni FTV</a:t>
              </a:r>
              <a:endParaRPr sz="1200">
                <a:solidFill>
                  <a:schemeClr val="lt1"/>
                </a:solidFill>
                <a:highlight>
                  <a:srgbClr val="047D96"/>
                </a:highlight>
                <a:latin typeface="Lexend"/>
                <a:ea typeface="Lexend"/>
                <a:cs typeface="Lexend"/>
                <a:sym typeface="Lexend"/>
              </a:endParaRPr>
            </a:p>
          </p:txBody>
        </p:sp>
      </p:grpSp>
      <p:pic>
        <p:nvPicPr>
          <p:cNvPr id="520" name="Google Shape;520;p44"/>
          <p:cNvPicPr preferRelativeResize="0"/>
          <p:nvPr/>
        </p:nvPicPr>
        <p:blipFill rotWithShape="1">
          <a:blip r:embed="rId14">
            <a:alphaModFix/>
          </a:blip>
          <a:srcRect b="0" l="0" r="0" t="0"/>
          <a:stretch/>
        </p:blipFill>
        <p:spPr>
          <a:xfrm>
            <a:off x="0" y="5"/>
            <a:ext cx="9144003" cy="598289"/>
          </a:xfrm>
          <a:prstGeom prst="rect">
            <a:avLst/>
          </a:prstGeom>
          <a:noFill/>
          <a:ln>
            <a:noFill/>
          </a:ln>
        </p:spPr>
      </p:pic>
      <p:sp>
        <p:nvSpPr>
          <p:cNvPr id="521" name="Google Shape;521;p4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29</a:t>
            </a:r>
            <a:endParaRPr sz="700">
              <a:latin typeface="Lexend"/>
              <a:ea typeface="Lexend"/>
              <a:cs typeface="Lexend"/>
              <a:sym typeface="Lexend"/>
            </a:endParaRPr>
          </a:p>
        </p:txBody>
      </p:sp>
      <p:sp>
        <p:nvSpPr>
          <p:cNvPr id="522" name="Google Shape;522;p4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5"/>
          <p:cNvSpPr txBox="1"/>
          <p:nvPr/>
        </p:nvSpPr>
        <p:spPr>
          <a:xfrm>
            <a:off x="396300" y="1978325"/>
            <a:ext cx="8351400" cy="2292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it" sz="2200">
                <a:solidFill>
                  <a:srgbClr val="38761D"/>
                </a:solidFill>
                <a:latin typeface="Lexend"/>
                <a:ea typeface="Lexend"/>
                <a:cs typeface="Lexend"/>
                <a:sym typeface="Lexend"/>
              </a:rPr>
              <a:t>Oggi, avere un impianto fotovoltaico non è più una sfida, ma la vera differenza la fa chi </a:t>
            </a:r>
            <a:r>
              <a:rPr b="1" lang="it" sz="2300">
                <a:solidFill>
                  <a:srgbClr val="38761D"/>
                </a:solidFill>
                <a:latin typeface="Lexend"/>
                <a:ea typeface="Lexend"/>
                <a:cs typeface="Lexend"/>
                <a:sym typeface="Lexend"/>
              </a:rPr>
              <a:t>ti offre assistenza</a:t>
            </a:r>
            <a:r>
              <a:rPr b="1" lang="it" sz="2200">
                <a:solidFill>
                  <a:srgbClr val="38761D"/>
                </a:solidFill>
                <a:latin typeface="Lexend"/>
                <a:ea typeface="Lexend"/>
                <a:cs typeface="Lexend"/>
                <a:sym typeface="Lexend"/>
              </a:rPr>
              <a:t> </a:t>
            </a:r>
            <a:r>
              <a:rPr lang="it" sz="2200">
                <a:solidFill>
                  <a:srgbClr val="38761D"/>
                </a:solidFill>
                <a:latin typeface="Lexend"/>
                <a:ea typeface="Lexend"/>
                <a:cs typeface="Lexend"/>
                <a:sym typeface="Lexend"/>
              </a:rPr>
              <a:t>(pre e post vendita) </a:t>
            </a:r>
            <a:r>
              <a:rPr b="1" lang="it" sz="2200">
                <a:solidFill>
                  <a:srgbClr val="38761D"/>
                </a:solidFill>
                <a:latin typeface="Lexend"/>
                <a:ea typeface="Lexend"/>
                <a:cs typeface="Lexend"/>
                <a:sym typeface="Lexend"/>
              </a:rPr>
              <a:t>e garanzie durature.</a:t>
            </a:r>
            <a:endParaRPr b="1" sz="2200">
              <a:solidFill>
                <a:srgbClr val="38761D"/>
              </a:solidFill>
              <a:latin typeface="Lexend"/>
              <a:ea typeface="Lexend"/>
              <a:cs typeface="Lexend"/>
              <a:sym typeface="Lexend"/>
            </a:endParaRPr>
          </a:p>
          <a:p>
            <a:pPr indent="0" lvl="0" marL="0" rtl="0" algn="ctr">
              <a:lnSpc>
                <a:spcPct val="115000"/>
              </a:lnSpc>
              <a:spcBef>
                <a:spcPts val="1200"/>
              </a:spcBef>
              <a:spcAft>
                <a:spcPts val="0"/>
              </a:spcAft>
              <a:buNone/>
            </a:pPr>
            <a:r>
              <a:t/>
            </a:r>
            <a:endParaRPr b="1" sz="1900">
              <a:solidFill>
                <a:srgbClr val="38761D"/>
              </a:solidFill>
              <a:latin typeface="Lexend"/>
              <a:ea typeface="Lexend"/>
              <a:cs typeface="Lexend"/>
              <a:sym typeface="Lexend"/>
            </a:endParaRPr>
          </a:p>
          <a:p>
            <a:pPr indent="0" lvl="0" marL="0" rtl="0" algn="ctr">
              <a:lnSpc>
                <a:spcPct val="115000"/>
              </a:lnSpc>
              <a:spcBef>
                <a:spcPts val="1200"/>
              </a:spcBef>
              <a:spcAft>
                <a:spcPts val="1200"/>
              </a:spcAft>
              <a:buNone/>
            </a:pPr>
            <a:r>
              <a:rPr b="1" lang="it" sz="1800">
                <a:solidFill>
                  <a:srgbClr val="38761D"/>
                </a:solidFill>
                <a:highlight>
                  <a:srgbClr val="B6D7A8"/>
                </a:highlight>
                <a:latin typeface="Lexend"/>
                <a:ea typeface="Lexend"/>
                <a:cs typeface="Lexend"/>
                <a:sym typeface="Lexend"/>
              </a:rPr>
              <a:t>EKO progetta, installa e assiste Privati, Aziende e Collab. B2B</a:t>
            </a:r>
            <a:endParaRPr b="1" sz="1800">
              <a:solidFill>
                <a:srgbClr val="38761D"/>
              </a:solidFill>
              <a:highlight>
                <a:srgbClr val="B6D7A8"/>
              </a:highlight>
              <a:latin typeface="Lexend"/>
              <a:ea typeface="Lexend"/>
              <a:cs typeface="Lexend"/>
              <a:sym typeface="Lexend"/>
            </a:endParaRPr>
          </a:p>
        </p:txBody>
      </p:sp>
      <p:sp>
        <p:nvSpPr>
          <p:cNvPr id="528" name="Google Shape;528;p45"/>
          <p:cNvSpPr txBox="1"/>
          <p:nvPr>
            <p:ph type="title"/>
          </p:nvPr>
        </p:nvSpPr>
        <p:spPr>
          <a:xfrm>
            <a:off x="311700" y="1111029"/>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200">
                <a:latin typeface="Lexend"/>
                <a:ea typeface="Lexend"/>
                <a:cs typeface="Lexend"/>
                <a:sym typeface="Lexend"/>
              </a:rPr>
              <a:t>EKO Srl</a:t>
            </a:r>
            <a:r>
              <a:rPr lang="it" sz="2200">
                <a:latin typeface="Lexend"/>
                <a:ea typeface="Lexend"/>
                <a:cs typeface="Lexend"/>
                <a:sym typeface="Lexend"/>
              </a:rPr>
              <a:t> per </a:t>
            </a:r>
            <a:r>
              <a:rPr b="1" lang="it" sz="2200">
                <a:latin typeface="Lexend"/>
                <a:ea typeface="Lexend"/>
                <a:cs typeface="Lexend"/>
                <a:sym typeface="Lexend"/>
              </a:rPr>
              <a:t>privati</a:t>
            </a:r>
            <a:r>
              <a:rPr lang="it" sz="2200">
                <a:latin typeface="Lexend"/>
                <a:ea typeface="Lexend"/>
                <a:cs typeface="Lexend"/>
                <a:sym typeface="Lexend"/>
              </a:rPr>
              <a:t>, </a:t>
            </a:r>
            <a:r>
              <a:rPr b="1" lang="it" sz="2200">
                <a:latin typeface="Lexend"/>
                <a:ea typeface="Lexend"/>
                <a:cs typeface="Lexend"/>
                <a:sym typeface="Lexend"/>
              </a:rPr>
              <a:t>aziende</a:t>
            </a:r>
            <a:r>
              <a:rPr lang="it" sz="2200">
                <a:latin typeface="Lexend"/>
                <a:ea typeface="Lexend"/>
                <a:cs typeface="Lexend"/>
                <a:sym typeface="Lexend"/>
              </a:rPr>
              <a:t>… e </a:t>
            </a:r>
            <a:r>
              <a:rPr b="1" lang="it" sz="2200">
                <a:latin typeface="Lexend"/>
                <a:ea typeface="Lexend"/>
                <a:cs typeface="Lexend"/>
                <a:sym typeface="Lexend"/>
              </a:rPr>
              <a:t>collaborazioni B2B</a:t>
            </a:r>
            <a:endParaRPr b="1" sz="2200">
              <a:latin typeface="Lexend"/>
              <a:ea typeface="Lexend"/>
              <a:cs typeface="Lexend"/>
              <a:sym typeface="Lexend"/>
            </a:endParaRPr>
          </a:p>
        </p:txBody>
      </p:sp>
      <p:sp>
        <p:nvSpPr>
          <p:cNvPr id="529" name="Google Shape;529;p4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0" name="Google Shape;530;p4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531" name="Google Shape;531;p4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30</a:t>
            </a:r>
            <a:endParaRPr sz="700">
              <a:latin typeface="Lexend"/>
              <a:ea typeface="Lexend"/>
              <a:cs typeface="Lexend"/>
              <a:sym typeface="Lexend"/>
            </a:endParaRPr>
          </a:p>
        </p:txBody>
      </p:sp>
      <p:sp>
        <p:nvSpPr>
          <p:cNvPr id="532" name="Google Shape;532;p4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6"/>
          <p:cNvSpPr txBox="1"/>
          <p:nvPr>
            <p:ph type="title"/>
          </p:nvPr>
        </p:nvSpPr>
        <p:spPr>
          <a:xfrm>
            <a:off x="311700" y="1101091"/>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400">
                <a:latin typeface="Lexend"/>
                <a:ea typeface="Lexend"/>
                <a:cs typeface="Lexend"/>
                <a:sym typeface="Lexend"/>
              </a:rPr>
              <a:t>Scegliere EKO significa:</a:t>
            </a:r>
            <a:endParaRPr b="1" sz="2400">
              <a:latin typeface="Lexend"/>
              <a:ea typeface="Lexend"/>
              <a:cs typeface="Lexend"/>
              <a:sym typeface="Lexend"/>
            </a:endParaRPr>
          </a:p>
        </p:txBody>
      </p:sp>
      <p:sp>
        <p:nvSpPr>
          <p:cNvPr id="538" name="Google Shape;538;p46"/>
          <p:cNvSpPr txBox="1"/>
          <p:nvPr>
            <p:ph idx="1" type="body"/>
          </p:nvPr>
        </p:nvSpPr>
        <p:spPr>
          <a:xfrm>
            <a:off x="774750" y="1904825"/>
            <a:ext cx="7929000" cy="2310900"/>
          </a:xfrm>
          <a:prstGeom prst="rect">
            <a:avLst/>
          </a:prstGeom>
        </p:spPr>
        <p:txBody>
          <a:bodyPr anchorCtr="0" anchor="t" bIns="91425" lIns="91425" spcFirstLastPara="1" rIns="91425" wrap="square" tIns="91425">
            <a:noAutofit/>
          </a:bodyPr>
          <a:lstStyle/>
          <a:p>
            <a:pPr indent="-355600" lvl="0" marL="457200" rtl="0" algn="l">
              <a:lnSpc>
                <a:spcPct val="150000"/>
              </a:lnSpc>
              <a:spcBef>
                <a:spcPts val="1200"/>
              </a:spcBef>
              <a:spcAft>
                <a:spcPts val="0"/>
              </a:spcAft>
              <a:buClr>
                <a:srgbClr val="38761D"/>
              </a:buClr>
              <a:buSzPts val="2000"/>
              <a:buFont typeface="Lexend"/>
              <a:buChar char="●"/>
            </a:pPr>
            <a:r>
              <a:rPr lang="it" sz="2000">
                <a:solidFill>
                  <a:srgbClr val="38761D"/>
                </a:solidFill>
                <a:latin typeface="Lexend"/>
                <a:ea typeface="Lexend"/>
                <a:cs typeface="Lexend"/>
                <a:sym typeface="Lexend"/>
              </a:rPr>
              <a:t>Partner dinamico con focus sulla qualità del servizio</a:t>
            </a:r>
            <a:endParaRPr sz="2000">
              <a:solidFill>
                <a:srgbClr val="38761D"/>
              </a:solidFill>
              <a:latin typeface="Lexend"/>
              <a:ea typeface="Lexend"/>
              <a:cs typeface="Lexend"/>
              <a:sym typeface="Lexend"/>
            </a:endParaRPr>
          </a:p>
          <a:p>
            <a:pPr indent="-355600" lvl="0" marL="457200" rtl="0" algn="l">
              <a:lnSpc>
                <a:spcPct val="150000"/>
              </a:lnSpc>
              <a:spcBef>
                <a:spcPts val="0"/>
              </a:spcBef>
              <a:spcAft>
                <a:spcPts val="0"/>
              </a:spcAft>
              <a:buClr>
                <a:srgbClr val="38761D"/>
              </a:buClr>
              <a:buSzPts val="2000"/>
              <a:buFont typeface="Lexend"/>
              <a:buChar char="●"/>
            </a:pPr>
            <a:r>
              <a:rPr lang="it" sz="2000">
                <a:solidFill>
                  <a:srgbClr val="38761D"/>
                </a:solidFill>
                <a:latin typeface="Lexend"/>
                <a:ea typeface="Lexend"/>
                <a:cs typeface="Lexend"/>
                <a:sym typeface="Lexend"/>
              </a:rPr>
              <a:t>Attenzione all'ascolto di clienti e partner</a:t>
            </a:r>
            <a:endParaRPr sz="2000">
              <a:solidFill>
                <a:srgbClr val="38761D"/>
              </a:solidFill>
              <a:latin typeface="Lexend"/>
              <a:ea typeface="Lexend"/>
              <a:cs typeface="Lexend"/>
              <a:sym typeface="Lexend"/>
            </a:endParaRPr>
          </a:p>
          <a:p>
            <a:pPr indent="-355600" lvl="0" marL="457200" rtl="0" algn="l">
              <a:lnSpc>
                <a:spcPct val="150000"/>
              </a:lnSpc>
              <a:spcBef>
                <a:spcPts val="0"/>
              </a:spcBef>
              <a:spcAft>
                <a:spcPts val="0"/>
              </a:spcAft>
              <a:buClr>
                <a:srgbClr val="38761D"/>
              </a:buClr>
              <a:buSzPts val="2000"/>
              <a:buFont typeface="Lexend"/>
              <a:buChar char="●"/>
            </a:pPr>
            <a:r>
              <a:rPr lang="it" sz="2000">
                <a:solidFill>
                  <a:srgbClr val="38761D"/>
                </a:solidFill>
                <a:latin typeface="Lexend"/>
                <a:ea typeface="Lexend"/>
                <a:cs typeface="Lexend"/>
                <a:sym typeface="Lexend"/>
              </a:rPr>
              <a:t>Soluzioni efficienti e mirate alla soddisfazione del cliente</a:t>
            </a:r>
            <a:endParaRPr sz="2000">
              <a:solidFill>
                <a:srgbClr val="38761D"/>
              </a:solidFill>
              <a:latin typeface="Lexend"/>
              <a:ea typeface="Lexend"/>
              <a:cs typeface="Lexend"/>
              <a:sym typeface="Lexend"/>
            </a:endParaRPr>
          </a:p>
          <a:p>
            <a:pPr indent="-355600" lvl="0" marL="457200" rtl="0" algn="l">
              <a:lnSpc>
                <a:spcPct val="150000"/>
              </a:lnSpc>
              <a:spcBef>
                <a:spcPts val="0"/>
              </a:spcBef>
              <a:spcAft>
                <a:spcPts val="0"/>
              </a:spcAft>
              <a:buClr>
                <a:srgbClr val="38761D"/>
              </a:buClr>
              <a:buSzPts val="2000"/>
              <a:buFont typeface="Lexend"/>
              <a:buChar char="●"/>
            </a:pPr>
            <a:r>
              <a:rPr lang="it" sz="2000">
                <a:solidFill>
                  <a:srgbClr val="38761D"/>
                </a:solidFill>
                <a:latin typeface="Lexend"/>
                <a:ea typeface="Lexend"/>
                <a:cs typeface="Lexend"/>
                <a:sym typeface="Lexend"/>
              </a:rPr>
              <a:t>Tempistiche certe per la realizzazione dei progetti</a:t>
            </a:r>
            <a:endParaRPr sz="2000">
              <a:solidFill>
                <a:srgbClr val="38761D"/>
              </a:solidFill>
              <a:latin typeface="Lexend"/>
              <a:ea typeface="Lexend"/>
              <a:cs typeface="Lexend"/>
              <a:sym typeface="Lexend"/>
            </a:endParaRPr>
          </a:p>
          <a:p>
            <a:pPr indent="-355600" lvl="0" marL="457200" rtl="0" algn="l">
              <a:lnSpc>
                <a:spcPct val="150000"/>
              </a:lnSpc>
              <a:spcBef>
                <a:spcPts val="0"/>
              </a:spcBef>
              <a:spcAft>
                <a:spcPts val="0"/>
              </a:spcAft>
              <a:buClr>
                <a:srgbClr val="38761D"/>
              </a:buClr>
              <a:buSzPts val="2000"/>
              <a:buFont typeface="Lexend"/>
              <a:buChar char="●"/>
            </a:pPr>
            <a:r>
              <a:rPr lang="it" sz="2000">
                <a:solidFill>
                  <a:srgbClr val="38761D"/>
                </a:solidFill>
                <a:latin typeface="Lexend"/>
                <a:ea typeface="Lexend"/>
                <a:cs typeface="Lexend"/>
                <a:sym typeface="Lexend"/>
              </a:rPr>
              <a:t>Assistenza continua per partner B2B e clienti finali</a:t>
            </a:r>
            <a:endParaRPr sz="2000">
              <a:solidFill>
                <a:srgbClr val="38761D"/>
              </a:solidFill>
              <a:latin typeface="Lexend"/>
              <a:ea typeface="Lexend"/>
              <a:cs typeface="Lexend"/>
              <a:sym typeface="Lexend"/>
            </a:endParaRPr>
          </a:p>
        </p:txBody>
      </p:sp>
      <p:sp>
        <p:nvSpPr>
          <p:cNvPr id="539" name="Google Shape;539;p4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40" name="Google Shape;540;p4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541" name="Google Shape;541;p4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31</a:t>
            </a:r>
            <a:endParaRPr sz="700">
              <a:latin typeface="Lexend"/>
              <a:ea typeface="Lexend"/>
              <a:cs typeface="Lexend"/>
              <a:sym typeface="Lexend"/>
            </a:endParaRPr>
          </a:p>
        </p:txBody>
      </p:sp>
      <p:sp>
        <p:nvSpPr>
          <p:cNvPr id="542" name="Google Shape;542;p4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pic>
        <p:nvPicPr>
          <p:cNvPr id="547" name="Google Shape;547;p47"/>
          <p:cNvPicPr preferRelativeResize="0"/>
          <p:nvPr/>
        </p:nvPicPr>
        <p:blipFill>
          <a:blip r:embed="rId3">
            <a:alphaModFix/>
          </a:blip>
          <a:stretch>
            <a:fillRect/>
          </a:stretch>
        </p:blipFill>
        <p:spPr>
          <a:xfrm>
            <a:off x="0" y="0"/>
            <a:ext cx="9144003" cy="5143501"/>
          </a:xfrm>
          <a:prstGeom prst="rect">
            <a:avLst/>
          </a:prstGeom>
          <a:noFill/>
          <a:ln>
            <a:noFill/>
          </a:ln>
        </p:spPr>
      </p:pic>
      <p:sp>
        <p:nvSpPr>
          <p:cNvPr id="548" name="Google Shape;548;p47"/>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solidFill>
                  <a:schemeClr val="lt1"/>
                </a:solidFill>
                <a:latin typeface="Lexend"/>
                <a:ea typeface="Lexend"/>
                <a:cs typeface="Lexend"/>
                <a:sym typeface="Lexend"/>
              </a:rPr>
              <a:t>Area Tecnica</a:t>
            </a:r>
            <a:endParaRPr sz="7000">
              <a:solidFill>
                <a:schemeClr val="lt1"/>
              </a:solidFill>
              <a:latin typeface="Lexend"/>
              <a:ea typeface="Lexend"/>
              <a:cs typeface="Lexend"/>
              <a:sym typeface="Lexend"/>
            </a:endParaRPr>
          </a:p>
        </p:txBody>
      </p:sp>
      <p:sp>
        <p:nvSpPr>
          <p:cNvPr id="549" name="Google Shape;549;p47"/>
          <p:cNvSpPr txBox="1"/>
          <p:nvPr>
            <p:ph idx="1" type="subTitle"/>
          </p:nvPr>
        </p:nvSpPr>
        <p:spPr>
          <a:xfrm>
            <a:off x="311700" y="2829350"/>
            <a:ext cx="8520600" cy="456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2000">
                <a:solidFill>
                  <a:schemeClr val="lt1"/>
                </a:solidFill>
                <a:latin typeface="Lexend"/>
                <a:ea typeface="Lexend"/>
                <a:cs typeface="Lexend"/>
                <a:sym typeface="Lexend"/>
              </a:rPr>
              <a:t>il fotovoltaico per la casa</a:t>
            </a:r>
            <a:endParaRPr sz="2000">
              <a:solidFill>
                <a:schemeClr val="lt1"/>
              </a:solidFill>
              <a:latin typeface="Lexend"/>
              <a:ea typeface="Lexend"/>
              <a:cs typeface="Lexend"/>
              <a:sym typeface="Lexend"/>
            </a:endParaRPr>
          </a:p>
        </p:txBody>
      </p:sp>
      <p:sp>
        <p:nvSpPr>
          <p:cNvPr id="550" name="Google Shape;550;p4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47"/>
          <p:cNvSpPr/>
          <p:nvPr/>
        </p:nvSpPr>
        <p:spPr>
          <a:xfrm>
            <a:off x="4032900" y="4346425"/>
            <a:ext cx="1078200" cy="7971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2" name="Google Shape;552;p47"/>
          <p:cNvPicPr preferRelativeResize="0"/>
          <p:nvPr/>
        </p:nvPicPr>
        <p:blipFill rotWithShape="1">
          <a:blip r:embed="rId4">
            <a:alphaModFix/>
          </a:blip>
          <a:srcRect b="0" l="0" r="0" t="0"/>
          <a:stretch/>
        </p:blipFill>
        <p:spPr>
          <a:xfrm>
            <a:off x="4290378" y="4463349"/>
            <a:ext cx="563250" cy="5632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8"/>
          <p:cNvSpPr txBox="1"/>
          <p:nvPr>
            <p:ph type="title"/>
          </p:nvPr>
        </p:nvSpPr>
        <p:spPr>
          <a:xfrm>
            <a:off x="311700" y="13187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Cos’è</a:t>
            </a:r>
            <a:r>
              <a:rPr lang="it" sz="2200">
                <a:latin typeface="Lexend"/>
                <a:ea typeface="Lexend"/>
                <a:cs typeface="Lexend"/>
                <a:sym typeface="Lexend"/>
              </a:rPr>
              <a:t> </a:t>
            </a:r>
            <a:r>
              <a:rPr b="1" lang="it" sz="2200">
                <a:latin typeface="Lexend"/>
                <a:ea typeface="Lexend"/>
                <a:cs typeface="Lexend"/>
                <a:sym typeface="Lexend"/>
              </a:rPr>
              <a:t>il</a:t>
            </a:r>
            <a:r>
              <a:rPr b="1" lang="it" sz="2200">
                <a:latin typeface="Lexend"/>
                <a:ea typeface="Lexend"/>
                <a:cs typeface="Lexend"/>
                <a:sym typeface="Lexend"/>
              </a:rPr>
              <a:t> fotovoltaico</a:t>
            </a:r>
            <a:endParaRPr b="1" sz="2200">
              <a:latin typeface="Lexend"/>
              <a:ea typeface="Lexend"/>
              <a:cs typeface="Lexend"/>
              <a:sym typeface="Lexend"/>
            </a:endParaRPr>
          </a:p>
        </p:txBody>
      </p:sp>
      <p:sp>
        <p:nvSpPr>
          <p:cNvPr id="558" name="Google Shape;558;p4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48"/>
          <p:cNvSpPr txBox="1"/>
          <p:nvPr>
            <p:ph idx="1" type="body"/>
          </p:nvPr>
        </p:nvSpPr>
        <p:spPr>
          <a:xfrm>
            <a:off x="700350" y="2055725"/>
            <a:ext cx="7743300" cy="171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it" sz="1900">
                <a:solidFill>
                  <a:schemeClr val="dk1"/>
                </a:solidFill>
                <a:highlight>
                  <a:srgbClr val="D9EAD3"/>
                </a:highlight>
                <a:latin typeface="Lexend"/>
                <a:ea typeface="Lexend"/>
                <a:cs typeface="Lexend"/>
                <a:sym typeface="Lexend"/>
              </a:rPr>
              <a:t>Il </a:t>
            </a:r>
            <a:r>
              <a:rPr b="1" lang="it" sz="1900">
                <a:solidFill>
                  <a:schemeClr val="dk1"/>
                </a:solidFill>
                <a:highlight>
                  <a:srgbClr val="D9EAD3"/>
                </a:highlight>
                <a:latin typeface="Lexend"/>
                <a:ea typeface="Lexend"/>
                <a:cs typeface="Lexend"/>
                <a:sym typeface="Lexend"/>
              </a:rPr>
              <a:t>fotovoltaico</a:t>
            </a:r>
            <a:r>
              <a:rPr lang="it" sz="1900">
                <a:solidFill>
                  <a:schemeClr val="dk1"/>
                </a:solidFill>
                <a:highlight>
                  <a:srgbClr val="D9EAD3"/>
                </a:highlight>
                <a:latin typeface="Lexend"/>
                <a:ea typeface="Lexend"/>
                <a:cs typeface="Lexend"/>
                <a:sym typeface="Lexend"/>
              </a:rPr>
              <a:t> è una tecnologia che converte l'energia solare in elettricità</a:t>
            </a:r>
            <a:r>
              <a:rPr lang="it" sz="1900">
                <a:solidFill>
                  <a:schemeClr val="dk1"/>
                </a:solidFill>
                <a:latin typeface="Lexend"/>
                <a:ea typeface="Lexend"/>
                <a:cs typeface="Lexend"/>
                <a:sym typeface="Lexend"/>
              </a:rPr>
              <a:t> tramite l’energia del sole. Questo processo avviene nelle </a:t>
            </a:r>
            <a:r>
              <a:rPr b="1" lang="it" sz="1900">
                <a:solidFill>
                  <a:schemeClr val="dk1"/>
                </a:solidFill>
                <a:latin typeface="Lexend"/>
                <a:ea typeface="Lexend"/>
                <a:cs typeface="Lexend"/>
                <a:sym typeface="Lexend"/>
              </a:rPr>
              <a:t>celle fotovoltaiche</a:t>
            </a:r>
            <a:r>
              <a:rPr lang="it" sz="1900">
                <a:solidFill>
                  <a:schemeClr val="dk1"/>
                </a:solidFill>
                <a:latin typeface="Lexend"/>
                <a:ea typeface="Lexend"/>
                <a:cs typeface="Lexend"/>
                <a:sym typeface="Lexend"/>
              </a:rPr>
              <a:t>,</a:t>
            </a:r>
            <a:r>
              <a:rPr lang="it" sz="1900">
                <a:solidFill>
                  <a:schemeClr val="dk1"/>
                </a:solidFill>
                <a:latin typeface="Lexend"/>
                <a:ea typeface="Lexend"/>
                <a:cs typeface="Lexend"/>
                <a:sym typeface="Lexend"/>
              </a:rPr>
              <a:t> solitamente a base di silicio, </a:t>
            </a:r>
            <a:r>
              <a:rPr lang="it" sz="1900">
                <a:solidFill>
                  <a:schemeClr val="dk1"/>
                </a:solidFill>
                <a:highlight>
                  <a:srgbClr val="D9EAD3"/>
                </a:highlight>
                <a:latin typeface="Lexend"/>
                <a:ea typeface="Lexend"/>
                <a:cs typeface="Lexend"/>
                <a:sym typeface="Lexend"/>
              </a:rPr>
              <a:t>che generano corrente elettrica continua</a:t>
            </a:r>
            <a:r>
              <a:rPr lang="it" sz="1900">
                <a:solidFill>
                  <a:schemeClr val="dk1"/>
                </a:solidFill>
                <a:latin typeface="Lexend"/>
                <a:ea typeface="Lexend"/>
                <a:cs typeface="Lexend"/>
                <a:sym typeface="Lexend"/>
              </a:rPr>
              <a:t> (DC) che verrà </a:t>
            </a:r>
            <a:r>
              <a:rPr lang="it" sz="1900">
                <a:solidFill>
                  <a:schemeClr val="dk1"/>
                </a:solidFill>
                <a:highlight>
                  <a:srgbClr val="D9EAD3"/>
                </a:highlight>
                <a:latin typeface="Lexend"/>
                <a:ea typeface="Lexend"/>
                <a:cs typeface="Lexend"/>
                <a:sym typeface="Lexend"/>
              </a:rPr>
              <a:t>trasformata in corrente alternata (AC) dall’</a:t>
            </a:r>
            <a:r>
              <a:rPr b="1" lang="it" sz="1900">
                <a:solidFill>
                  <a:schemeClr val="dk1"/>
                </a:solidFill>
                <a:highlight>
                  <a:srgbClr val="D9EAD3"/>
                </a:highlight>
                <a:latin typeface="Lexend"/>
                <a:ea typeface="Lexend"/>
                <a:cs typeface="Lexend"/>
                <a:sym typeface="Lexend"/>
              </a:rPr>
              <a:t>inverter</a:t>
            </a:r>
            <a:r>
              <a:rPr lang="it" sz="1900">
                <a:solidFill>
                  <a:schemeClr val="dk1"/>
                </a:solidFill>
                <a:latin typeface="Lexend"/>
                <a:ea typeface="Lexend"/>
                <a:cs typeface="Lexend"/>
                <a:sym typeface="Lexend"/>
              </a:rPr>
              <a:t>.</a:t>
            </a:r>
            <a:endParaRPr sz="1900">
              <a:solidFill>
                <a:srgbClr val="38761D"/>
              </a:solidFill>
              <a:latin typeface="Lexend"/>
              <a:ea typeface="Lexend"/>
              <a:cs typeface="Lexend"/>
              <a:sym typeface="Lexend"/>
            </a:endParaRPr>
          </a:p>
        </p:txBody>
      </p:sp>
      <p:pic>
        <p:nvPicPr>
          <p:cNvPr id="560" name="Google Shape;560;p4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561" name="Google Shape;561;p4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Cos’è il Fotovoltaico</a:t>
            </a:r>
            <a:r>
              <a:rPr lang="it" sz="700">
                <a:latin typeface="Lexend"/>
                <a:ea typeface="Lexend"/>
                <a:cs typeface="Lexend"/>
                <a:sym typeface="Lexend"/>
              </a:rPr>
              <a:t> | 33</a:t>
            </a:r>
            <a:endParaRPr sz="700">
              <a:latin typeface="Lexend"/>
              <a:ea typeface="Lexend"/>
              <a:cs typeface="Lexend"/>
              <a:sym typeface="Lexend"/>
            </a:endParaRPr>
          </a:p>
        </p:txBody>
      </p:sp>
      <p:sp>
        <p:nvSpPr>
          <p:cNvPr id="562" name="Google Shape;562;p4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9"/>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Com’è fatto </a:t>
            </a:r>
            <a:r>
              <a:rPr b="1" lang="it" sz="2000">
                <a:latin typeface="Lexend"/>
                <a:ea typeface="Lexend"/>
                <a:cs typeface="Lexend"/>
                <a:sym typeface="Lexend"/>
              </a:rPr>
              <a:t>un impianto fotovoltaico</a:t>
            </a:r>
            <a:endParaRPr b="1" sz="2000">
              <a:latin typeface="Lexend"/>
              <a:ea typeface="Lexend"/>
              <a:cs typeface="Lexend"/>
              <a:sym typeface="Lexend"/>
            </a:endParaRPr>
          </a:p>
        </p:txBody>
      </p:sp>
      <p:sp>
        <p:nvSpPr>
          <p:cNvPr id="568" name="Google Shape;568;p4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9" name="Google Shape;569;p49"/>
          <p:cNvPicPr preferRelativeResize="0"/>
          <p:nvPr/>
        </p:nvPicPr>
        <p:blipFill rotWithShape="1">
          <a:blip r:embed="rId3">
            <a:alphaModFix/>
          </a:blip>
          <a:srcRect b="0" l="0" r="0" t="0"/>
          <a:stretch/>
        </p:blipFill>
        <p:spPr>
          <a:xfrm>
            <a:off x="311700" y="1004360"/>
            <a:ext cx="8520602" cy="4256140"/>
          </a:xfrm>
          <a:prstGeom prst="rect">
            <a:avLst/>
          </a:prstGeom>
          <a:noFill/>
          <a:ln>
            <a:noFill/>
          </a:ln>
        </p:spPr>
      </p:pic>
      <p:sp>
        <p:nvSpPr>
          <p:cNvPr id="570" name="Google Shape;570;p49"/>
          <p:cNvSpPr txBox="1"/>
          <p:nvPr/>
        </p:nvSpPr>
        <p:spPr>
          <a:xfrm>
            <a:off x="870059" y="4264401"/>
            <a:ext cx="1073700" cy="24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000">
                <a:solidFill>
                  <a:schemeClr val="lt1"/>
                </a:solidFill>
                <a:latin typeface="Lexend"/>
                <a:ea typeface="Lexend"/>
                <a:cs typeface="Lexend"/>
                <a:sym typeface="Lexend"/>
              </a:rPr>
              <a:t>Accumulo</a:t>
            </a:r>
            <a:endParaRPr b="1" sz="1000">
              <a:solidFill>
                <a:schemeClr val="lt1"/>
              </a:solidFill>
              <a:latin typeface="Lexend"/>
              <a:ea typeface="Lexend"/>
              <a:cs typeface="Lexend"/>
              <a:sym typeface="Lexend"/>
            </a:endParaRPr>
          </a:p>
        </p:txBody>
      </p:sp>
      <p:sp>
        <p:nvSpPr>
          <p:cNvPr id="571" name="Google Shape;571;p49"/>
          <p:cNvSpPr txBox="1"/>
          <p:nvPr/>
        </p:nvSpPr>
        <p:spPr>
          <a:xfrm>
            <a:off x="2799690" y="4264401"/>
            <a:ext cx="899700" cy="24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000">
                <a:solidFill>
                  <a:schemeClr val="lt1"/>
                </a:solidFill>
                <a:latin typeface="Lexend"/>
                <a:ea typeface="Lexend"/>
                <a:cs typeface="Lexend"/>
                <a:sym typeface="Lexend"/>
              </a:rPr>
              <a:t>Inverter</a:t>
            </a:r>
            <a:endParaRPr b="1" sz="1000">
              <a:solidFill>
                <a:schemeClr val="lt1"/>
              </a:solidFill>
              <a:latin typeface="Lexend"/>
              <a:ea typeface="Lexend"/>
              <a:cs typeface="Lexend"/>
              <a:sym typeface="Lexend"/>
            </a:endParaRPr>
          </a:p>
        </p:txBody>
      </p:sp>
      <p:sp>
        <p:nvSpPr>
          <p:cNvPr id="572" name="Google Shape;572;p49"/>
          <p:cNvSpPr txBox="1"/>
          <p:nvPr/>
        </p:nvSpPr>
        <p:spPr>
          <a:xfrm>
            <a:off x="7121186" y="2665215"/>
            <a:ext cx="1121700" cy="24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000">
                <a:solidFill>
                  <a:schemeClr val="dk1"/>
                </a:solidFill>
                <a:latin typeface="Lexend"/>
                <a:ea typeface="Lexend"/>
                <a:cs typeface="Lexend"/>
                <a:sym typeface="Lexend"/>
              </a:rPr>
              <a:t>Mobile APP</a:t>
            </a:r>
            <a:endParaRPr b="1" sz="1000">
              <a:solidFill>
                <a:schemeClr val="dk1"/>
              </a:solidFill>
              <a:latin typeface="Lexend"/>
              <a:ea typeface="Lexend"/>
              <a:cs typeface="Lexend"/>
              <a:sym typeface="Lexend"/>
            </a:endParaRPr>
          </a:p>
        </p:txBody>
      </p:sp>
      <p:sp>
        <p:nvSpPr>
          <p:cNvPr id="573" name="Google Shape;573;p49"/>
          <p:cNvSpPr txBox="1"/>
          <p:nvPr/>
        </p:nvSpPr>
        <p:spPr>
          <a:xfrm>
            <a:off x="5700614" y="2009336"/>
            <a:ext cx="750900" cy="24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000">
                <a:solidFill>
                  <a:schemeClr val="lt1"/>
                </a:solidFill>
                <a:latin typeface="Lexend"/>
                <a:ea typeface="Lexend"/>
                <a:cs typeface="Lexend"/>
                <a:sym typeface="Lexend"/>
              </a:rPr>
              <a:t>Rete</a:t>
            </a:r>
            <a:endParaRPr b="1" sz="1000">
              <a:solidFill>
                <a:schemeClr val="lt1"/>
              </a:solidFill>
              <a:latin typeface="Lexend"/>
              <a:ea typeface="Lexend"/>
              <a:cs typeface="Lexend"/>
              <a:sym typeface="Lexend"/>
            </a:endParaRPr>
          </a:p>
        </p:txBody>
      </p:sp>
      <p:sp>
        <p:nvSpPr>
          <p:cNvPr id="574" name="Google Shape;574;p49"/>
          <p:cNvSpPr txBox="1"/>
          <p:nvPr/>
        </p:nvSpPr>
        <p:spPr>
          <a:xfrm>
            <a:off x="4110918" y="3239706"/>
            <a:ext cx="1478400" cy="24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1000">
                <a:solidFill>
                  <a:schemeClr val="lt1"/>
                </a:solidFill>
                <a:latin typeface="Lexend"/>
                <a:ea typeface="Lexend"/>
                <a:cs typeface="Lexend"/>
                <a:sym typeface="Lexend"/>
              </a:rPr>
              <a:t>Carichi / Utenze</a:t>
            </a:r>
            <a:endParaRPr b="1" sz="1000">
              <a:solidFill>
                <a:schemeClr val="lt1"/>
              </a:solidFill>
              <a:latin typeface="Lexend"/>
              <a:ea typeface="Lexend"/>
              <a:cs typeface="Lexend"/>
              <a:sym typeface="Lexend"/>
            </a:endParaRPr>
          </a:p>
        </p:txBody>
      </p:sp>
      <p:sp>
        <p:nvSpPr>
          <p:cNvPr id="575" name="Google Shape;575;p49"/>
          <p:cNvSpPr txBox="1"/>
          <p:nvPr/>
        </p:nvSpPr>
        <p:spPr>
          <a:xfrm>
            <a:off x="5415562" y="3328912"/>
            <a:ext cx="1320900" cy="24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900">
                <a:solidFill>
                  <a:schemeClr val="lt1"/>
                </a:solidFill>
                <a:highlight>
                  <a:schemeClr val="dk2"/>
                </a:highlight>
                <a:latin typeface="Lexend"/>
                <a:ea typeface="Lexend"/>
                <a:cs typeface="Lexend"/>
                <a:sym typeface="Lexend"/>
              </a:rPr>
              <a:t> Contatore </a:t>
            </a:r>
            <a:endParaRPr b="1" sz="900">
              <a:solidFill>
                <a:schemeClr val="lt1"/>
              </a:solidFill>
              <a:highlight>
                <a:schemeClr val="dk2"/>
              </a:highlight>
              <a:latin typeface="Lexend"/>
              <a:ea typeface="Lexend"/>
              <a:cs typeface="Lexend"/>
              <a:sym typeface="Lexend"/>
            </a:endParaRPr>
          </a:p>
          <a:p>
            <a:pPr indent="0" lvl="0" marL="0" rtl="0" algn="ctr">
              <a:spcBef>
                <a:spcPts val="0"/>
              </a:spcBef>
              <a:spcAft>
                <a:spcPts val="0"/>
              </a:spcAft>
              <a:buNone/>
            </a:pPr>
            <a:r>
              <a:rPr b="1" lang="it" sz="900">
                <a:solidFill>
                  <a:schemeClr val="lt1"/>
                </a:solidFill>
                <a:highlight>
                  <a:schemeClr val="dk2"/>
                </a:highlight>
                <a:latin typeface="Lexend"/>
                <a:ea typeface="Lexend"/>
                <a:cs typeface="Lexend"/>
                <a:sym typeface="Lexend"/>
              </a:rPr>
              <a:t>Casa</a:t>
            </a:r>
            <a:r>
              <a:rPr b="1" lang="it" sz="900">
                <a:solidFill>
                  <a:schemeClr val="dk2"/>
                </a:solidFill>
                <a:highlight>
                  <a:schemeClr val="dk2"/>
                </a:highlight>
                <a:latin typeface="Lexend"/>
                <a:ea typeface="Lexend"/>
                <a:cs typeface="Lexend"/>
                <a:sym typeface="Lexend"/>
              </a:rPr>
              <a:t>.</a:t>
            </a:r>
            <a:endParaRPr b="1" sz="900">
              <a:solidFill>
                <a:schemeClr val="dk2"/>
              </a:solidFill>
              <a:highlight>
                <a:schemeClr val="dk2"/>
              </a:highlight>
              <a:latin typeface="Lexend"/>
              <a:ea typeface="Lexend"/>
              <a:cs typeface="Lexend"/>
              <a:sym typeface="Lexend"/>
            </a:endParaRPr>
          </a:p>
        </p:txBody>
      </p:sp>
      <p:sp>
        <p:nvSpPr>
          <p:cNvPr id="576" name="Google Shape;576;p49"/>
          <p:cNvSpPr txBox="1"/>
          <p:nvPr>
            <p:ph type="title"/>
          </p:nvPr>
        </p:nvSpPr>
        <p:spPr>
          <a:xfrm>
            <a:off x="7005312" y="1554246"/>
            <a:ext cx="1478400" cy="513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730">
                <a:latin typeface="Lexend"/>
                <a:ea typeface="Lexend"/>
                <a:cs typeface="Lexend"/>
                <a:sym typeface="Lexend"/>
              </a:rPr>
              <a:t>Legenda:</a:t>
            </a:r>
            <a:endParaRPr sz="730">
              <a:latin typeface="Lexend"/>
              <a:ea typeface="Lexend"/>
              <a:cs typeface="Lexend"/>
              <a:sym typeface="Lexend"/>
            </a:endParaRPr>
          </a:p>
          <a:p>
            <a:pPr indent="0" lvl="0" marL="0" rtl="0" algn="l">
              <a:lnSpc>
                <a:spcPct val="115000"/>
              </a:lnSpc>
              <a:spcBef>
                <a:spcPts val="0"/>
              </a:spcBef>
              <a:spcAft>
                <a:spcPts val="0"/>
              </a:spcAft>
              <a:buSzPts val="990"/>
              <a:buNone/>
            </a:pPr>
            <a:r>
              <a:rPr b="1" lang="it" sz="730">
                <a:solidFill>
                  <a:srgbClr val="047D96"/>
                </a:solidFill>
                <a:latin typeface="Lexend"/>
                <a:ea typeface="Lexend"/>
                <a:cs typeface="Lexend"/>
                <a:sym typeface="Lexend"/>
              </a:rPr>
              <a:t>CC</a:t>
            </a:r>
            <a:r>
              <a:rPr lang="it" sz="730">
                <a:latin typeface="Lexend"/>
                <a:ea typeface="Lexend"/>
                <a:cs typeface="Lexend"/>
                <a:sym typeface="Lexend"/>
              </a:rPr>
              <a:t>: Corrente Continua</a:t>
            </a:r>
            <a:endParaRPr sz="730">
              <a:latin typeface="Lexend"/>
              <a:ea typeface="Lexend"/>
              <a:cs typeface="Lexend"/>
              <a:sym typeface="Lexend"/>
            </a:endParaRPr>
          </a:p>
          <a:p>
            <a:pPr indent="0" lvl="0" marL="0" rtl="0" algn="l">
              <a:lnSpc>
                <a:spcPct val="115000"/>
              </a:lnSpc>
              <a:spcBef>
                <a:spcPts val="0"/>
              </a:spcBef>
              <a:spcAft>
                <a:spcPts val="0"/>
              </a:spcAft>
              <a:buSzPts val="990"/>
              <a:buNone/>
            </a:pPr>
            <a:r>
              <a:rPr b="1" lang="it" sz="730">
                <a:solidFill>
                  <a:srgbClr val="F27417"/>
                </a:solidFill>
                <a:latin typeface="Lexend"/>
                <a:ea typeface="Lexend"/>
                <a:cs typeface="Lexend"/>
                <a:sym typeface="Lexend"/>
              </a:rPr>
              <a:t>CA</a:t>
            </a:r>
            <a:r>
              <a:rPr lang="it" sz="730">
                <a:latin typeface="Lexend"/>
                <a:ea typeface="Lexend"/>
                <a:cs typeface="Lexend"/>
                <a:sym typeface="Lexend"/>
              </a:rPr>
              <a:t>: Corrente Alternata</a:t>
            </a:r>
            <a:endParaRPr sz="730">
              <a:latin typeface="Lexend"/>
              <a:ea typeface="Lexend"/>
              <a:cs typeface="Lexend"/>
              <a:sym typeface="Lexend"/>
            </a:endParaRPr>
          </a:p>
        </p:txBody>
      </p:sp>
      <p:pic>
        <p:nvPicPr>
          <p:cNvPr id="577" name="Google Shape;577;p49"/>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578" name="Google Shape;578;p4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Cos’è il Fotovoltaico</a:t>
            </a:r>
            <a:r>
              <a:rPr lang="it" sz="700">
                <a:latin typeface="Lexend"/>
                <a:ea typeface="Lexend"/>
                <a:cs typeface="Lexend"/>
                <a:sym typeface="Lexend"/>
              </a:rPr>
              <a:t> | 34</a:t>
            </a:r>
            <a:endParaRPr sz="700">
              <a:latin typeface="Lexend"/>
              <a:ea typeface="Lexend"/>
              <a:cs typeface="Lexend"/>
              <a:sym typeface="Lexend"/>
            </a:endParaRPr>
          </a:p>
        </p:txBody>
      </p:sp>
      <p:sp>
        <p:nvSpPr>
          <p:cNvPr id="579" name="Google Shape;579;p4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0"/>
          <p:cNvSpPr/>
          <p:nvPr/>
        </p:nvSpPr>
        <p:spPr>
          <a:xfrm>
            <a:off x="5415827" y="3155638"/>
            <a:ext cx="1057800" cy="1057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5" name="Google Shape;585;p50"/>
          <p:cNvSpPr txBox="1"/>
          <p:nvPr>
            <p:ph type="title"/>
          </p:nvPr>
        </p:nvSpPr>
        <p:spPr>
          <a:xfrm>
            <a:off x="569725" y="1080800"/>
            <a:ext cx="2481000" cy="46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it" sz="2200">
                <a:latin typeface="Lexend"/>
                <a:ea typeface="Lexend"/>
                <a:cs typeface="Lexend"/>
                <a:sym typeface="Lexend"/>
              </a:rPr>
              <a:t>L’Inverter</a:t>
            </a:r>
            <a:endParaRPr b="1" sz="2200">
              <a:latin typeface="Lexend"/>
              <a:ea typeface="Lexend"/>
              <a:cs typeface="Lexend"/>
              <a:sym typeface="Lexend"/>
            </a:endParaRPr>
          </a:p>
        </p:txBody>
      </p:sp>
      <p:sp>
        <p:nvSpPr>
          <p:cNvPr id="586" name="Google Shape;586;p5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7" name="Google Shape;587;p50"/>
          <p:cNvSpPr txBox="1"/>
          <p:nvPr>
            <p:ph idx="1" type="body"/>
          </p:nvPr>
        </p:nvSpPr>
        <p:spPr>
          <a:xfrm>
            <a:off x="569725" y="1579525"/>
            <a:ext cx="2978400" cy="282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400">
                <a:solidFill>
                  <a:schemeClr val="dk1"/>
                </a:solidFill>
                <a:latin typeface="Lexend"/>
                <a:ea typeface="Lexend"/>
                <a:cs typeface="Lexend"/>
                <a:sym typeface="Lexend"/>
              </a:rPr>
              <a:t>Gli </a:t>
            </a:r>
            <a:r>
              <a:rPr b="1" lang="it" sz="1400">
                <a:solidFill>
                  <a:schemeClr val="dk1"/>
                </a:solidFill>
                <a:latin typeface="Lexend"/>
                <a:ea typeface="Lexend"/>
                <a:cs typeface="Lexend"/>
                <a:sym typeface="Lexend"/>
              </a:rPr>
              <a:t>inverter</a:t>
            </a:r>
            <a:r>
              <a:rPr lang="it" sz="1400">
                <a:solidFill>
                  <a:schemeClr val="dk1"/>
                </a:solidFill>
                <a:latin typeface="Lexend"/>
                <a:ea typeface="Lexend"/>
                <a:cs typeface="Lexend"/>
                <a:sym typeface="Lexend"/>
              </a:rPr>
              <a:t> sono componenti fondamentali nei sistemi fotovoltaici e nei sistemi di gestione dell’energia elettrica, poiché </a:t>
            </a:r>
            <a:r>
              <a:rPr b="1" lang="it" sz="1400">
                <a:solidFill>
                  <a:schemeClr val="dk1"/>
                </a:solidFill>
                <a:highlight>
                  <a:srgbClr val="D9EAD3"/>
                </a:highlight>
                <a:latin typeface="Lexend"/>
                <a:ea typeface="Lexend"/>
                <a:cs typeface="Lexend"/>
                <a:sym typeface="Lexend"/>
              </a:rPr>
              <a:t>convertono la corrente continua (DC), generata dai pannelli solari o dalle batterie, in corrente alternata (AC), che può essere utilizzata per alimentare dispositivi domestici o immessa in rete.</a:t>
            </a:r>
            <a:endParaRPr b="1" sz="1400">
              <a:highlight>
                <a:srgbClr val="D9EAD3"/>
              </a:highlight>
              <a:latin typeface="Lexend"/>
              <a:ea typeface="Lexend"/>
              <a:cs typeface="Lexend"/>
              <a:sym typeface="Lexend"/>
            </a:endParaRPr>
          </a:p>
        </p:txBody>
      </p:sp>
      <p:pic>
        <p:nvPicPr>
          <p:cNvPr id="588" name="Google Shape;588;p50"/>
          <p:cNvPicPr preferRelativeResize="0"/>
          <p:nvPr/>
        </p:nvPicPr>
        <p:blipFill rotWithShape="1">
          <a:blip r:embed="rId3">
            <a:alphaModFix/>
          </a:blip>
          <a:srcRect b="15251" l="701" r="26274" t="997"/>
          <a:stretch/>
        </p:blipFill>
        <p:spPr>
          <a:xfrm>
            <a:off x="3482875" y="1080799"/>
            <a:ext cx="5314156" cy="3044410"/>
          </a:xfrm>
          <a:prstGeom prst="rect">
            <a:avLst/>
          </a:prstGeom>
          <a:noFill/>
          <a:ln>
            <a:noFill/>
          </a:ln>
        </p:spPr>
      </p:pic>
      <p:grpSp>
        <p:nvGrpSpPr>
          <p:cNvPr id="589" name="Google Shape;589;p50"/>
          <p:cNvGrpSpPr/>
          <p:nvPr/>
        </p:nvGrpSpPr>
        <p:grpSpPr>
          <a:xfrm>
            <a:off x="4037121" y="1901717"/>
            <a:ext cx="4877319" cy="2140877"/>
            <a:chOff x="1343280" y="1964406"/>
            <a:chExt cx="5179820" cy="2304744"/>
          </a:xfrm>
        </p:grpSpPr>
        <p:sp>
          <p:nvSpPr>
            <p:cNvPr id="590" name="Google Shape;590;p50"/>
            <p:cNvSpPr txBox="1"/>
            <p:nvPr/>
          </p:nvSpPr>
          <p:spPr>
            <a:xfrm>
              <a:off x="1343280" y="4051950"/>
              <a:ext cx="6768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700">
                  <a:solidFill>
                    <a:schemeClr val="lt1"/>
                  </a:solidFill>
                  <a:latin typeface="Lexend"/>
                  <a:ea typeface="Lexend"/>
                  <a:cs typeface="Lexend"/>
                  <a:sym typeface="Lexend"/>
                </a:rPr>
                <a:t>Accumulo</a:t>
              </a:r>
              <a:endParaRPr b="1" sz="700">
                <a:solidFill>
                  <a:schemeClr val="lt1"/>
                </a:solidFill>
                <a:latin typeface="Lexend"/>
                <a:ea typeface="Lexend"/>
                <a:cs typeface="Lexend"/>
                <a:sym typeface="Lexend"/>
              </a:endParaRPr>
            </a:p>
          </p:txBody>
        </p:sp>
        <p:sp>
          <p:nvSpPr>
            <p:cNvPr id="591" name="Google Shape;591;p50"/>
            <p:cNvSpPr txBox="1"/>
            <p:nvPr/>
          </p:nvSpPr>
          <p:spPr>
            <a:xfrm>
              <a:off x="3053550" y="4051950"/>
              <a:ext cx="6768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800">
                  <a:solidFill>
                    <a:schemeClr val="lt1"/>
                  </a:solidFill>
                  <a:latin typeface="Lexend"/>
                  <a:ea typeface="Lexend"/>
                  <a:cs typeface="Lexend"/>
                  <a:sym typeface="Lexend"/>
                </a:rPr>
                <a:t>Inverter</a:t>
              </a:r>
              <a:endParaRPr b="1" sz="800">
                <a:solidFill>
                  <a:schemeClr val="lt1"/>
                </a:solidFill>
                <a:latin typeface="Lexend"/>
                <a:ea typeface="Lexend"/>
                <a:cs typeface="Lexend"/>
                <a:sym typeface="Lexend"/>
              </a:endParaRPr>
            </a:p>
          </p:txBody>
        </p:sp>
        <p:sp>
          <p:nvSpPr>
            <p:cNvPr id="592" name="Google Shape;592;p50"/>
            <p:cNvSpPr txBox="1"/>
            <p:nvPr/>
          </p:nvSpPr>
          <p:spPr>
            <a:xfrm>
              <a:off x="5589350" y="1964406"/>
              <a:ext cx="6768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800">
                  <a:solidFill>
                    <a:schemeClr val="lt1"/>
                  </a:solidFill>
                  <a:latin typeface="Lexend"/>
                  <a:ea typeface="Lexend"/>
                  <a:cs typeface="Lexend"/>
                  <a:sym typeface="Lexend"/>
                </a:rPr>
                <a:t>Rete</a:t>
              </a:r>
              <a:endParaRPr b="1" sz="800">
                <a:solidFill>
                  <a:schemeClr val="lt1"/>
                </a:solidFill>
                <a:latin typeface="Lexend"/>
                <a:ea typeface="Lexend"/>
                <a:cs typeface="Lexend"/>
                <a:sym typeface="Lexend"/>
              </a:endParaRPr>
            </a:p>
          </p:txBody>
        </p:sp>
        <p:sp>
          <p:nvSpPr>
            <p:cNvPr id="593" name="Google Shape;593;p50"/>
            <p:cNvSpPr txBox="1"/>
            <p:nvPr/>
          </p:nvSpPr>
          <p:spPr>
            <a:xfrm>
              <a:off x="4229425" y="3087826"/>
              <a:ext cx="11907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800">
                  <a:solidFill>
                    <a:schemeClr val="lt1"/>
                  </a:solidFill>
                  <a:latin typeface="Lexend"/>
                  <a:ea typeface="Lexend"/>
                  <a:cs typeface="Lexend"/>
                  <a:sym typeface="Lexend"/>
                </a:rPr>
                <a:t>Carichi / Utenze</a:t>
              </a:r>
              <a:endParaRPr b="1" sz="800">
                <a:solidFill>
                  <a:schemeClr val="lt1"/>
                </a:solidFill>
                <a:latin typeface="Lexend"/>
                <a:ea typeface="Lexend"/>
                <a:cs typeface="Lexend"/>
                <a:sym typeface="Lexend"/>
              </a:endParaRPr>
            </a:p>
          </p:txBody>
        </p:sp>
        <p:sp>
          <p:nvSpPr>
            <p:cNvPr id="594" name="Google Shape;594;p50"/>
            <p:cNvSpPr txBox="1"/>
            <p:nvPr/>
          </p:nvSpPr>
          <p:spPr>
            <a:xfrm>
              <a:off x="5332400" y="2569560"/>
              <a:ext cx="11907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600">
                  <a:solidFill>
                    <a:schemeClr val="lt1"/>
                  </a:solidFill>
                  <a:highlight>
                    <a:schemeClr val="dk2"/>
                  </a:highlight>
                  <a:latin typeface="Lexend"/>
                  <a:ea typeface="Lexend"/>
                  <a:cs typeface="Lexend"/>
                  <a:sym typeface="Lexend"/>
                </a:rPr>
                <a:t> Contatore Casa</a:t>
              </a:r>
              <a:r>
                <a:rPr b="1" lang="it" sz="600">
                  <a:solidFill>
                    <a:schemeClr val="dk2"/>
                  </a:solidFill>
                  <a:highlight>
                    <a:schemeClr val="dk2"/>
                  </a:highlight>
                  <a:latin typeface="Lexend"/>
                  <a:ea typeface="Lexend"/>
                  <a:cs typeface="Lexend"/>
                  <a:sym typeface="Lexend"/>
                </a:rPr>
                <a:t>.</a:t>
              </a:r>
              <a:endParaRPr b="1" sz="600">
                <a:solidFill>
                  <a:schemeClr val="dk2"/>
                </a:solidFill>
                <a:highlight>
                  <a:schemeClr val="dk2"/>
                </a:highlight>
                <a:latin typeface="Lexend"/>
                <a:ea typeface="Lexend"/>
                <a:cs typeface="Lexend"/>
                <a:sym typeface="Lexend"/>
              </a:endParaRPr>
            </a:p>
          </p:txBody>
        </p:sp>
      </p:grpSp>
      <p:sp>
        <p:nvSpPr>
          <p:cNvPr id="595" name="Google Shape;595;p50"/>
          <p:cNvSpPr/>
          <p:nvPr/>
        </p:nvSpPr>
        <p:spPr>
          <a:xfrm>
            <a:off x="5838201" y="4303670"/>
            <a:ext cx="213000" cy="426300"/>
          </a:xfrm>
          <a:prstGeom prst="upArrow">
            <a:avLst>
              <a:gd fmla="val 50000" name="adj1"/>
              <a:gd fmla="val 50000" name="adj2"/>
            </a:avLst>
          </a:prstGeom>
          <a:solidFill>
            <a:srgbClr val="047D9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96" name="Google Shape;596;p50"/>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597" name="Google Shape;597;p5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Cos’è l’Inverter </a:t>
            </a:r>
            <a:r>
              <a:rPr lang="it" sz="700">
                <a:latin typeface="Lexend"/>
                <a:ea typeface="Lexend"/>
                <a:cs typeface="Lexend"/>
                <a:sym typeface="Lexend"/>
              </a:rPr>
              <a:t>| 35</a:t>
            </a:r>
            <a:endParaRPr sz="700">
              <a:latin typeface="Lexend"/>
              <a:ea typeface="Lexend"/>
              <a:cs typeface="Lexend"/>
              <a:sym typeface="Lexend"/>
            </a:endParaRPr>
          </a:p>
        </p:txBody>
      </p:sp>
      <p:sp>
        <p:nvSpPr>
          <p:cNvPr id="598" name="Google Shape;598;p5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1"/>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200">
                <a:latin typeface="Lexend"/>
                <a:ea typeface="Lexend"/>
                <a:cs typeface="Lexend"/>
                <a:sym typeface="Lexend"/>
              </a:rPr>
              <a:t>Inverter Ibrido</a:t>
            </a:r>
            <a:endParaRPr b="1" sz="2200">
              <a:latin typeface="Lexend"/>
              <a:ea typeface="Lexend"/>
              <a:cs typeface="Lexend"/>
              <a:sym typeface="Lexend"/>
            </a:endParaRPr>
          </a:p>
        </p:txBody>
      </p:sp>
      <p:sp>
        <p:nvSpPr>
          <p:cNvPr id="604" name="Google Shape;604;p5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51"/>
          <p:cNvSpPr txBox="1"/>
          <p:nvPr>
            <p:ph idx="1" type="body"/>
          </p:nvPr>
        </p:nvSpPr>
        <p:spPr>
          <a:xfrm>
            <a:off x="518100" y="1449000"/>
            <a:ext cx="8107800" cy="3150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it" sz="1435">
                <a:solidFill>
                  <a:schemeClr val="dk1"/>
                </a:solidFill>
                <a:latin typeface="Lexend"/>
                <a:ea typeface="Lexend"/>
                <a:cs typeface="Lexend"/>
                <a:sym typeface="Lexend"/>
              </a:rPr>
              <a:t>Gli </a:t>
            </a:r>
            <a:r>
              <a:rPr b="1" lang="it" sz="1435">
                <a:solidFill>
                  <a:srgbClr val="274E13"/>
                </a:solidFill>
                <a:highlight>
                  <a:srgbClr val="D9EAD3"/>
                </a:highlight>
                <a:latin typeface="Lexend"/>
                <a:ea typeface="Lexend"/>
                <a:cs typeface="Lexend"/>
                <a:sym typeface="Lexend"/>
              </a:rPr>
              <a:t>inverter ibridi</a:t>
            </a:r>
            <a:r>
              <a:rPr lang="it" sz="1435">
                <a:solidFill>
                  <a:schemeClr val="dk1"/>
                </a:solidFill>
                <a:latin typeface="Lexend"/>
                <a:ea typeface="Lexend"/>
                <a:cs typeface="Lexend"/>
                <a:sym typeface="Lexend"/>
              </a:rPr>
              <a:t> combinano la funzionalità di un inverter solare con quella di un sistema di accumulo di energia (batteria), </a:t>
            </a:r>
            <a:r>
              <a:rPr b="1" lang="it" sz="1435">
                <a:solidFill>
                  <a:srgbClr val="274E13"/>
                </a:solidFill>
                <a:highlight>
                  <a:srgbClr val="D9EAD3"/>
                </a:highlight>
                <a:latin typeface="Lexend"/>
                <a:ea typeface="Lexend"/>
                <a:cs typeface="Lexend"/>
                <a:sym typeface="Lexend"/>
              </a:rPr>
              <a:t>permettendo di gestire contemporaneamente la produzione di energia solare e lo stoccaggio in una batteria.</a:t>
            </a:r>
            <a:endParaRPr b="1" sz="1435">
              <a:solidFill>
                <a:srgbClr val="274E13"/>
              </a:solidFill>
              <a:highlight>
                <a:srgbClr val="D9EAD3"/>
              </a:highlight>
              <a:latin typeface="Lexend"/>
              <a:ea typeface="Lexend"/>
              <a:cs typeface="Lexend"/>
              <a:sym typeface="Lexend"/>
            </a:endParaRPr>
          </a:p>
          <a:p>
            <a:pPr indent="0" lvl="0" marL="0" rtl="0" algn="l">
              <a:lnSpc>
                <a:spcPct val="95000"/>
              </a:lnSpc>
              <a:spcBef>
                <a:spcPts val="0"/>
              </a:spcBef>
              <a:spcAft>
                <a:spcPts val="0"/>
              </a:spcAft>
              <a:buSzPts val="935"/>
              <a:buNone/>
            </a:pPr>
            <a:r>
              <a:t/>
            </a:r>
            <a:endParaRPr sz="1535">
              <a:solidFill>
                <a:schemeClr val="dk1"/>
              </a:solidFill>
              <a:latin typeface="Lexend"/>
              <a:ea typeface="Lexend"/>
              <a:cs typeface="Lexend"/>
              <a:sym typeface="Lexend"/>
            </a:endParaRPr>
          </a:p>
          <a:p>
            <a:pPr indent="0" lvl="0" marL="0" rtl="0" algn="l">
              <a:lnSpc>
                <a:spcPct val="95000"/>
              </a:lnSpc>
              <a:spcBef>
                <a:spcPts val="0"/>
              </a:spcBef>
              <a:spcAft>
                <a:spcPts val="0"/>
              </a:spcAft>
              <a:buSzPts val="935"/>
              <a:buNone/>
            </a:pPr>
            <a:r>
              <a:rPr lang="it" sz="1400">
                <a:solidFill>
                  <a:schemeClr val="dk1"/>
                </a:solidFill>
                <a:latin typeface="Lexend"/>
                <a:ea typeface="Lexend"/>
                <a:cs typeface="Lexend"/>
                <a:sym typeface="Lexend"/>
              </a:rPr>
              <a:t>Gli Inverter Ibridi possono:</a:t>
            </a:r>
            <a:endParaRPr sz="1400">
              <a:solidFill>
                <a:schemeClr val="dk1"/>
              </a:solidFill>
              <a:latin typeface="Lexend"/>
              <a:ea typeface="Lexend"/>
              <a:cs typeface="Lexend"/>
              <a:sym typeface="Lexend"/>
            </a:endParaRPr>
          </a:p>
          <a:p>
            <a:pPr indent="0" lvl="0" marL="0" rtl="0" algn="l">
              <a:lnSpc>
                <a:spcPct val="95000"/>
              </a:lnSpc>
              <a:spcBef>
                <a:spcPts val="0"/>
              </a:spcBef>
              <a:spcAft>
                <a:spcPts val="0"/>
              </a:spcAft>
              <a:buSzPts val="935"/>
              <a:buNone/>
            </a:pPr>
            <a:r>
              <a:t/>
            </a:r>
            <a:endParaRPr sz="1400">
              <a:solidFill>
                <a:schemeClr val="dk1"/>
              </a:solidFill>
              <a:latin typeface="Lexend"/>
              <a:ea typeface="Lexend"/>
              <a:cs typeface="Lexend"/>
              <a:sym typeface="Lexend"/>
            </a:endParaRPr>
          </a:p>
          <a:p>
            <a:pPr indent="-317500" lvl="0" marL="457200" rtl="0" algn="l">
              <a:lnSpc>
                <a:spcPct val="95000"/>
              </a:lnSpc>
              <a:spcBef>
                <a:spcPts val="0"/>
              </a:spcBef>
              <a:spcAft>
                <a:spcPts val="0"/>
              </a:spcAft>
              <a:buClr>
                <a:schemeClr val="dk1"/>
              </a:buClr>
              <a:buSzPts val="1400"/>
              <a:buChar char="●"/>
            </a:pPr>
            <a:r>
              <a:rPr b="1" lang="it" sz="1400">
                <a:solidFill>
                  <a:schemeClr val="dk1"/>
                </a:solidFill>
                <a:latin typeface="Lexend"/>
                <a:ea typeface="Lexend"/>
                <a:cs typeface="Lexend"/>
                <a:sym typeface="Lexend"/>
              </a:rPr>
              <a:t>Convertire l'energia solare in CA </a:t>
            </a:r>
            <a:r>
              <a:rPr lang="it" sz="1400">
                <a:solidFill>
                  <a:schemeClr val="dk1"/>
                </a:solidFill>
                <a:latin typeface="Lexend"/>
                <a:ea typeface="Lexend"/>
                <a:cs typeface="Lexend"/>
                <a:sym typeface="Lexend"/>
              </a:rPr>
              <a:t>(corrente alternata) per alimentare la casa o l’edificio.</a:t>
            </a:r>
            <a:endParaRPr sz="1400">
              <a:solidFill>
                <a:schemeClr val="dk1"/>
              </a:solidFill>
              <a:latin typeface="Lexend"/>
              <a:ea typeface="Lexend"/>
              <a:cs typeface="Lexend"/>
              <a:sym typeface="Lexend"/>
            </a:endParaRPr>
          </a:p>
          <a:p>
            <a:pPr indent="0" lvl="0" marL="457200" rtl="0" algn="l">
              <a:lnSpc>
                <a:spcPct val="95000"/>
              </a:lnSpc>
              <a:spcBef>
                <a:spcPts val="0"/>
              </a:spcBef>
              <a:spcAft>
                <a:spcPts val="0"/>
              </a:spcAft>
              <a:buNone/>
            </a:pPr>
            <a:r>
              <a:t/>
            </a:r>
            <a:endParaRPr sz="1000">
              <a:solidFill>
                <a:schemeClr val="dk1"/>
              </a:solidFill>
              <a:latin typeface="Lexend"/>
              <a:ea typeface="Lexend"/>
              <a:cs typeface="Lexend"/>
              <a:sym typeface="Lexend"/>
            </a:endParaRPr>
          </a:p>
          <a:p>
            <a:pPr indent="-317500" lvl="0" marL="457200" rtl="0" algn="l">
              <a:lnSpc>
                <a:spcPct val="95000"/>
              </a:lnSpc>
              <a:spcBef>
                <a:spcPts val="0"/>
              </a:spcBef>
              <a:spcAft>
                <a:spcPts val="0"/>
              </a:spcAft>
              <a:buClr>
                <a:schemeClr val="dk1"/>
              </a:buClr>
              <a:buSzPts val="1400"/>
              <a:buChar char="●"/>
            </a:pPr>
            <a:r>
              <a:rPr b="1" lang="it" sz="1400">
                <a:solidFill>
                  <a:schemeClr val="dk1"/>
                </a:solidFill>
                <a:latin typeface="Lexend"/>
                <a:ea typeface="Lexend"/>
                <a:cs typeface="Lexend"/>
                <a:sym typeface="Lexend"/>
              </a:rPr>
              <a:t>Gestire l’accumulo di energia</a:t>
            </a:r>
            <a:r>
              <a:rPr lang="it" sz="1400">
                <a:solidFill>
                  <a:schemeClr val="dk1"/>
                </a:solidFill>
                <a:latin typeface="Lexend"/>
                <a:ea typeface="Lexend"/>
                <a:cs typeface="Lexend"/>
                <a:sym typeface="Lexend"/>
              </a:rPr>
              <a:t> in una batteria, stoccando l’eccesso di energia generata durante il giorno per utilizzarla durante la notte o in momenti di bassa produzione.</a:t>
            </a:r>
            <a:endParaRPr sz="1400">
              <a:solidFill>
                <a:schemeClr val="dk1"/>
              </a:solidFill>
              <a:latin typeface="Lexend"/>
              <a:ea typeface="Lexend"/>
              <a:cs typeface="Lexend"/>
              <a:sym typeface="Lexend"/>
            </a:endParaRPr>
          </a:p>
          <a:p>
            <a:pPr indent="0" lvl="0" marL="457200" rtl="0" algn="l">
              <a:lnSpc>
                <a:spcPct val="95000"/>
              </a:lnSpc>
              <a:spcBef>
                <a:spcPts val="0"/>
              </a:spcBef>
              <a:spcAft>
                <a:spcPts val="0"/>
              </a:spcAft>
              <a:buNone/>
            </a:pPr>
            <a:r>
              <a:t/>
            </a:r>
            <a:endParaRPr sz="1000">
              <a:solidFill>
                <a:schemeClr val="dk1"/>
              </a:solidFill>
              <a:latin typeface="Lexend"/>
              <a:ea typeface="Lexend"/>
              <a:cs typeface="Lexend"/>
              <a:sym typeface="Lexend"/>
            </a:endParaRPr>
          </a:p>
          <a:p>
            <a:pPr indent="-317500" lvl="0" marL="457200" rtl="0" algn="l">
              <a:lnSpc>
                <a:spcPct val="95000"/>
              </a:lnSpc>
              <a:spcBef>
                <a:spcPts val="0"/>
              </a:spcBef>
              <a:spcAft>
                <a:spcPts val="0"/>
              </a:spcAft>
              <a:buClr>
                <a:schemeClr val="dk1"/>
              </a:buClr>
              <a:buSzPts val="1400"/>
              <a:buChar char="●"/>
            </a:pPr>
            <a:r>
              <a:rPr b="1" lang="it" sz="1400">
                <a:solidFill>
                  <a:schemeClr val="dk1"/>
                </a:solidFill>
                <a:latin typeface="Lexend"/>
                <a:ea typeface="Lexend"/>
                <a:cs typeface="Lexend"/>
                <a:sym typeface="Lexend"/>
              </a:rPr>
              <a:t>Gestire la connessione alla rete elettrica</a:t>
            </a:r>
            <a:r>
              <a:rPr lang="it" sz="1400">
                <a:solidFill>
                  <a:schemeClr val="dk1"/>
                </a:solidFill>
                <a:latin typeface="Lexend"/>
                <a:ea typeface="Lexend"/>
                <a:cs typeface="Lexend"/>
                <a:sym typeface="Lexend"/>
              </a:rPr>
              <a:t>, permettendo di prelevare energia dalla rete quando necessario o di immettere l’energia in eccesso.</a:t>
            </a:r>
            <a:endParaRPr sz="1400">
              <a:solidFill>
                <a:schemeClr val="dk1"/>
              </a:solidFill>
              <a:latin typeface="Lexend"/>
              <a:ea typeface="Lexend"/>
              <a:cs typeface="Lexend"/>
              <a:sym typeface="Lexend"/>
            </a:endParaRPr>
          </a:p>
        </p:txBody>
      </p:sp>
      <p:pic>
        <p:nvPicPr>
          <p:cNvPr id="606" name="Google Shape;606;p5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607" name="Google Shape;607;p5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Cos’è l’Inverter Ibrido</a:t>
            </a:r>
            <a:r>
              <a:rPr lang="it" sz="700">
                <a:latin typeface="Lexend"/>
                <a:ea typeface="Lexend"/>
                <a:cs typeface="Lexend"/>
                <a:sym typeface="Lexend"/>
              </a:rPr>
              <a:t> | 36</a:t>
            </a:r>
            <a:endParaRPr sz="700">
              <a:latin typeface="Lexend"/>
              <a:ea typeface="Lexend"/>
              <a:cs typeface="Lexend"/>
              <a:sym typeface="Lexend"/>
            </a:endParaRPr>
          </a:p>
        </p:txBody>
      </p:sp>
      <p:sp>
        <p:nvSpPr>
          <p:cNvPr id="608" name="Google Shape;608;p5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2"/>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it" sz="2200">
                <a:latin typeface="Lexend"/>
                <a:ea typeface="Lexend"/>
                <a:cs typeface="Lexend"/>
                <a:sym typeface="Lexend"/>
              </a:rPr>
              <a:t>Inverter Ibrido</a:t>
            </a:r>
            <a:endParaRPr b="1" sz="2200">
              <a:latin typeface="Lexend"/>
              <a:ea typeface="Lexend"/>
              <a:cs typeface="Lexend"/>
              <a:sym typeface="Lexend"/>
            </a:endParaRPr>
          </a:p>
          <a:p>
            <a:pPr indent="0" lvl="0" marL="0" rtl="0" algn="l">
              <a:lnSpc>
                <a:spcPct val="115000"/>
              </a:lnSpc>
              <a:spcBef>
                <a:spcPts val="0"/>
              </a:spcBef>
              <a:spcAft>
                <a:spcPts val="0"/>
              </a:spcAft>
              <a:buNone/>
            </a:pPr>
            <a:r>
              <a:t/>
            </a:r>
            <a:endParaRPr sz="2000">
              <a:latin typeface="Lexend"/>
              <a:ea typeface="Lexend"/>
              <a:cs typeface="Lexend"/>
              <a:sym typeface="Lexend"/>
            </a:endParaRPr>
          </a:p>
        </p:txBody>
      </p:sp>
      <p:sp>
        <p:nvSpPr>
          <p:cNvPr id="614" name="Google Shape;614;p5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615" name="Google Shape;615;p52"/>
          <p:cNvGraphicFramePr/>
          <p:nvPr/>
        </p:nvGraphicFramePr>
        <p:xfrm>
          <a:off x="629213" y="1468250"/>
          <a:ext cx="3000000" cy="3000000"/>
        </p:xfrm>
        <a:graphic>
          <a:graphicData uri="http://schemas.openxmlformats.org/drawingml/2006/table">
            <a:tbl>
              <a:tblPr>
                <a:noFill/>
                <a:tableStyleId>{7893E32E-9EC5-4C93-89A8-DD7072C48189}</a:tableStyleId>
              </a:tblPr>
              <a:tblGrid>
                <a:gridCol w="648825"/>
                <a:gridCol w="7236750"/>
              </a:tblGrid>
              <a:tr h="640775">
                <a:tc>
                  <a:txBody>
                    <a:bodyPr/>
                    <a:lstStyle/>
                    <a:p>
                      <a:pPr indent="0" lvl="0" marL="0" rtl="0" algn="l">
                        <a:spcBef>
                          <a:spcPts val="0"/>
                        </a:spcBef>
                        <a:spcAft>
                          <a:spcPts val="0"/>
                        </a:spcAft>
                        <a:buNone/>
                      </a:pPr>
                      <a:r>
                        <a:t/>
                      </a:r>
                      <a:endParaRPr sz="1100">
                        <a:latin typeface="Lexend"/>
                        <a:ea typeface="Lexend"/>
                        <a:cs typeface="Lexend"/>
                        <a:sym typeface="Lexend"/>
                      </a:endParaRPr>
                    </a:p>
                  </a:txBody>
                  <a:tcPr marT="91425" marB="91425" marR="91425" marL="91425">
                    <a:solidFill>
                      <a:srgbClr val="D9D9D9"/>
                    </a:solidFill>
                  </a:tcPr>
                </a:tc>
                <a:tc>
                  <a:txBody>
                    <a:bodyPr/>
                    <a:lstStyle/>
                    <a:p>
                      <a:pPr indent="0" lvl="0" marL="0" rtl="0" algn="l">
                        <a:lnSpc>
                          <a:spcPct val="115000"/>
                        </a:lnSpc>
                        <a:spcBef>
                          <a:spcPts val="1200"/>
                        </a:spcBef>
                        <a:spcAft>
                          <a:spcPts val="200"/>
                        </a:spcAft>
                        <a:buNone/>
                      </a:pPr>
                      <a:r>
                        <a:rPr b="1" lang="it" sz="1800">
                          <a:solidFill>
                            <a:schemeClr val="dk1"/>
                          </a:solidFill>
                          <a:latin typeface="Lexend"/>
                          <a:ea typeface="Lexend"/>
                          <a:cs typeface="Lexend"/>
                          <a:sym typeface="Lexend"/>
                        </a:rPr>
                        <a:t>Vantaggi degli Inverter Ibridi:</a:t>
                      </a:r>
                      <a:endParaRPr b="1" sz="1800">
                        <a:latin typeface="Lexend"/>
                        <a:ea typeface="Lexend"/>
                        <a:cs typeface="Lexend"/>
                        <a:sym typeface="Lexend"/>
                      </a:endParaRPr>
                    </a:p>
                  </a:txBody>
                  <a:tcPr marT="91425" marB="91425" marR="91425" marL="91425" anchor="ctr">
                    <a:solidFill>
                      <a:schemeClr val="lt2"/>
                    </a:solidFill>
                  </a:tcPr>
                </a:tc>
              </a:tr>
              <a:tr h="792900">
                <a:tc>
                  <a:txBody>
                    <a:bodyPr/>
                    <a:lstStyle/>
                    <a:p>
                      <a:pPr indent="0" lvl="0" marL="0" rtl="0" algn="ctr">
                        <a:spcBef>
                          <a:spcPts val="0"/>
                        </a:spcBef>
                        <a:spcAft>
                          <a:spcPts val="0"/>
                        </a:spcAft>
                        <a:buNone/>
                      </a:pPr>
                      <a:r>
                        <a:rPr lang="it">
                          <a:latin typeface="Lexend"/>
                          <a:ea typeface="Lexend"/>
                          <a:cs typeface="Lexend"/>
                          <a:sym typeface="Lexend"/>
                        </a:rPr>
                        <a:t>1</a:t>
                      </a:r>
                      <a:endParaRPr>
                        <a:latin typeface="Lexend"/>
                        <a:ea typeface="Lexend"/>
                        <a:cs typeface="Lexend"/>
                        <a:sym typeface="Lexend"/>
                      </a:endParaRPr>
                    </a:p>
                  </a:txBody>
                  <a:tcPr marT="91425" marB="91425" marR="91425" marL="91425">
                    <a:solidFill>
                      <a:schemeClr val="lt2"/>
                    </a:solidFill>
                  </a:tcPr>
                </a:tc>
                <a:tc>
                  <a:txBody>
                    <a:bodyPr/>
                    <a:lstStyle/>
                    <a:p>
                      <a:pPr indent="0" lvl="0" marL="0" rtl="0" algn="l">
                        <a:lnSpc>
                          <a:spcPct val="115000"/>
                        </a:lnSpc>
                        <a:spcBef>
                          <a:spcPts val="1200"/>
                        </a:spcBef>
                        <a:spcAft>
                          <a:spcPts val="1200"/>
                        </a:spcAft>
                        <a:buNone/>
                      </a:pPr>
                      <a:r>
                        <a:rPr b="1" lang="it" sz="1800">
                          <a:solidFill>
                            <a:srgbClr val="274E13"/>
                          </a:solidFill>
                          <a:highlight>
                            <a:srgbClr val="D9EAD3"/>
                          </a:highlight>
                          <a:latin typeface="Lexend"/>
                          <a:ea typeface="Lexend"/>
                          <a:cs typeface="Lexend"/>
                          <a:sym typeface="Lexend"/>
                        </a:rPr>
                        <a:t>Ottimizzazione dell’energia</a:t>
                      </a:r>
                      <a:r>
                        <a:rPr lang="it" sz="1800">
                          <a:solidFill>
                            <a:srgbClr val="274E13"/>
                          </a:solidFill>
                          <a:highlight>
                            <a:srgbClr val="D9EAD3"/>
                          </a:highlight>
                          <a:latin typeface="Lexend"/>
                          <a:ea typeface="Lexend"/>
                          <a:cs typeface="Lexend"/>
                          <a:sym typeface="Lexend"/>
                        </a:rPr>
                        <a:t>:</a:t>
                      </a:r>
                      <a:r>
                        <a:rPr lang="it">
                          <a:solidFill>
                            <a:schemeClr val="dk1"/>
                          </a:solidFill>
                          <a:latin typeface="Lexend"/>
                          <a:ea typeface="Lexend"/>
                          <a:cs typeface="Lexend"/>
                          <a:sym typeface="Lexend"/>
                        </a:rPr>
                        <a:t> Permettono di ridurre la dipendenza dalla rete elettrica e migliorare l’autoconsumo dell’energia prodotta.</a:t>
                      </a:r>
                      <a:endParaRPr sz="1500">
                        <a:latin typeface="Lexend"/>
                        <a:ea typeface="Lexend"/>
                        <a:cs typeface="Lexend"/>
                        <a:sym typeface="Lexend"/>
                      </a:endParaRPr>
                    </a:p>
                  </a:txBody>
                  <a:tcPr marT="91425" marB="91425" marR="91425" marL="91425"/>
                </a:tc>
              </a:tr>
              <a:tr h="792900">
                <a:tc>
                  <a:txBody>
                    <a:bodyPr/>
                    <a:lstStyle/>
                    <a:p>
                      <a:pPr indent="0" lvl="0" marL="0" rtl="0" algn="ctr">
                        <a:spcBef>
                          <a:spcPts val="0"/>
                        </a:spcBef>
                        <a:spcAft>
                          <a:spcPts val="0"/>
                        </a:spcAft>
                        <a:buNone/>
                      </a:pPr>
                      <a:r>
                        <a:rPr lang="it">
                          <a:latin typeface="Lexend"/>
                          <a:ea typeface="Lexend"/>
                          <a:cs typeface="Lexend"/>
                          <a:sym typeface="Lexend"/>
                        </a:rPr>
                        <a:t>2</a:t>
                      </a:r>
                      <a:endParaRPr>
                        <a:latin typeface="Lexend"/>
                        <a:ea typeface="Lexend"/>
                        <a:cs typeface="Lexend"/>
                        <a:sym typeface="Lexend"/>
                      </a:endParaRPr>
                    </a:p>
                  </a:txBody>
                  <a:tcPr marT="91425" marB="91425" marR="91425" marL="91425">
                    <a:solidFill>
                      <a:schemeClr val="lt2"/>
                    </a:solidFill>
                  </a:tcPr>
                </a:tc>
                <a:tc>
                  <a:txBody>
                    <a:bodyPr/>
                    <a:lstStyle/>
                    <a:p>
                      <a:pPr indent="0" lvl="0" marL="0" rtl="0" algn="l">
                        <a:lnSpc>
                          <a:spcPct val="115000"/>
                        </a:lnSpc>
                        <a:spcBef>
                          <a:spcPts val="1200"/>
                        </a:spcBef>
                        <a:spcAft>
                          <a:spcPts val="1200"/>
                        </a:spcAft>
                        <a:buNone/>
                      </a:pPr>
                      <a:r>
                        <a:rPr b="1" lang="it" sz="1800">
                          <a:solidFill>
                            <a:srgbClr val="274E13"/>
                          </a:solidFill>
                          <a:highlight>
                            <a:srgbClr val="D9EAD3"/>
                          </a:highlight>
                          <a:latin typeface="Lexend"/>
                          <a:ea typeface="Lexend"/>
                          <a:cs typeface="Lexend"/>
                          <a:sym typeface="Lexend"/>
                        </a:rPr>
                        <a:t>Backup energetico</a:t>
                      </a:r>
                      <a:r>
                        <a:rPr lang="it" sz="1800">
                          <a:solidFill>
                            <a:srgbClr val="274E13"/>
                          </a:solidFill>
                          <a:highlight>
                            <a:srgbClr val="D9EAD3"/>
                          </a:highlight>
                          <a:latin typeface="Lexend"/>
                          <a:ea typeface="Lexend"/>
                          <a:cs typeface="Lexend"/>
                          <a:sym typeface="Lexend"/>
                        </a:rPr>
                        <a:t>:</a:t>
                      </a:r>
                      <a:r>
                        <a:rPr lang="it">
                          <a:solidFill>
                            <a:srgbClr val="38761D"/>
                          </a:solidFill>
                          <a:latin typeface="Lexend"/>
                          <a:ea typeface="Lexend"/>
                          <a:cs typeface="Lexend"/>
                          <a:sym typeface="Lexend"/>
                        </a:rPr>
                        <a:t> </a:t>
                      </a:r>
                      <a:r>
                        <a:rPr lang="it">
                          <a:solidFill>
                            <a:schemeClr val="dk1"/>
                          </a:solidFill>
                          <a:latin typeface="Lexend"/>
                          <a:ea typeface="Lexend"/>
                          <a:cs typeface="Lexend"/>
                          <a:sym typeface="Lexend"/>
                        </a:rPr>
                        <a:t>I sistemi di accumulo forniscono energia anche durante le ore notturne.</a:t>
                      </a:r>
                      <a:endParaRPr>
                        <a:latin typeface="Lexend"/>
                        <a:ea typeface="Lexend"/>
                        <a:cs typeface="Lexend"/>
                        <a:sym typeface="Lexend"/>
                      </a:endParaRPr>
                    </a:p>
                  </a:txBody>
                  <a:tcPr marT="91425" marB="91425" marR="91425" marL="91425"/>
                </a:tc>
              </a:tr>
              <a:tr h="701600">
                <a:tc>
                  <a:txBody>
                    <a:bodyPr/>
                    <a:lstStyle/>
                    <a:p>
                      <a:pPr indent="0" lvl="0" marL="0" rtl="0" algn="ctr">
                        <a:spcBef>
                          <a:spcPts val="0"/>
                        </a:spcBef>
                        <a:spcAft>
                          <a:spcPts val="0"/>
                        </a:spcAft>
                        <a:buNone/>
                      </a:pPr>
                      <a:r>
                        <a:rPr lang="it">
                          <a:latin typeface="Lexend"/>
                          <a:ea typeface="Lexend"/>
                          <a:cs typeface="Lexend"/>
                          <a:sym typeface="Lexend"/>
                        </a:rPr>
                        <a:t>3</a:t>
                      </a:r>
                      <a:endParaRPr>
                        <a:latin typeface="Lexend"/>
                        <a:ea typeface="Lexend"/>
                        <a:cs typeface="Lexend"/>
                        <a:sym typeface="Lexend"/>
                      </a:endParaRPr>
                    </a:p>
                  </a:txBody>
                  <a:tcPr marT="91425" marB="91425" marR="91425" marL="91425">
                    <a:solidFill>
                      <a:schemeClr val="lt2"/>
                    </a:solidFill>
                  </a:tcPr>
                </a:tc>
                <a:tc>
                  <a:txBody>
                    <a:bodyPr/>
                    <a:lstStyle/>
                    <a:p>
                      <a:pPr indent="0" lvl="0" marL="0" rtl="0" algn="l">
                        <a:lnSpc>
                          <a:spcPct val="115000"/>
                        </a:lnSpc>
                        <a:spcBef>
                          <a:spcPts val="1200"/>
                        </a:spcBef>
                        <a:spcAft>
                          <a:spcPts val="1200"/>
                        </a:spcAft>
                        <a:buNone/>
                      </a:pPr>
                      <a:r>
                        <a:rPr b="1" lang="it" sz="1800">
                          <a:solidFill>
                            <a:srgbClr val="274E13"/>
                          </a:solidFill>
                          <a:highlight>
                            <a:srgbClr val="D9EAD3"/>
                          </a:highlight>
                          <a:latin typeface="Lexend"/>
                          <a:ea typeface="Lexend"/>
                          <a:cs typeface="Lexend"/>
                          <a:sym typeface="Lexend"/>
                        </a:rPr>
                        <a:t>Versatilità</a:t>
                      </a:r>
                      <a:r>
                        <a:rPr lang="it" sz="1800">
                          <a:solidFill>
                            <a:srgbClr val="274E13"/>
                          </a:solidFill>
                          <a:highlight>
                            <a:srgbClr val="D9EAD3"/>
                          </a:highlight>
                          <a:latin typeface="Lexend"/>
                          <a:ea typeface="Lexend"/>
                          <a:cs typeface="Lexend"/>
                          <a:sym typeface="Lexend"/>
                        </a:rPr>
                        <a:t>:</a:t>
                      </a:r>
                      <a:r>
                        <a:rPr lang="it">
                          <a:solidFill>
                            <a:schemeClr val="dk1"/>
                          </a:solidFill>
                          <a:latin typeface="Lexend"/>
                          <a:ea typeface="Lexend"/>
                          <a:cs typeface="Lexend"/>
                          <a:sym typeface="Lexend"/>
                        </a:rPr>
                        <a:t> Sono ideali sia per nuovi impianti fotovoltaici che per aggiornare impianti esistenti con sistemi di accumulo.</a:t>
                      </a:r>
                      <a:endParaRPr sz="1500">
                        <a:latin typeface="Lexend"/>
                        <a:ea typeface="Lexend"/>
                        <a:cs typeface="Lexend"/>
                        <a:sym typeface="Lexend"/>
                      </a:endParaRPr>
                    </a:p>
                  </a:txBody>
                  <a:tcPr marT="91425" marB="91425" marR="91425" marL="91425"/>
                </a:tc>
              </a:tr>
            </a:tbl>
          </a:graphicData>
        </a:graphic>
      </p:graphicFrame>
      <p:pic>
        <p:nvPicPr>
          <p:cNvPr id="616" name="Google Shape;616;p5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617" name="Google Shape;617;p5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Vantaggi dell</a:t>
            </a:r>
            <a:r>
              <a:rPr lang="it" sz="700">
                <a:latin typeface="Lexend"/>
                <a:ea typeface="Lexend"/>
                <a:cs typeface="Lexend"/>
                <a:sym typeface="Lexend"/>
              </a:rPr>
              <a:t>’Inverter Ibrido</a:t>
            </a:r>
            <a:r>
              <a:rPr lang="it" sz="700">
                <a:latin typeface="Lexend"/>
                <a:ea typeface="Lexend"/>
                <a:cs typeface="Lexend"/>
                <a:sym typeface="Lexend"/>
              </a:rPr>
              <a:t> | 37</a:t>
            </a:r>
            <a:endParaRPr sz="700">
              <a:latin typeface="Lexend"/>
              <a:ea typeface="Lexend"/>
              <a:cs typeface="Lexend"/>
              <a:sym typeface="Lexend"/>
            </a:endParaRPr>
          </a:p>
        </p:txBody>
      </p:sp>
      <p:sp>
        <p:nvSpPr>
          <p:cNvPr id="618" name="Google Shape;618;p5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3"/>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Inverter </a:t>
            </a:r>
            <a:r>
              <a:rPr b="1" lang="it" sz="2200">
                <a:latin typeface="Lexend"/>
                <a:ea typeface="Lexend"/>
                <a:cs typeface="Lexend"/>
                <a:sym typeface="Lexend"/>
              </a:rPr>
              <a:t>Monofase</a:t>
            </a:r>
            <a:r>
              <a:rPr lang="it" sz="2200">
                <a:latin typeface="Lexend"/>
                <a:ea typeface="Lexend"/>
                <a:cs typeface="Lexend"/>
                <a:sym typeface="Lexend"/>
              </a:rPr>
              <a:t> e </a:t>
            </a:r>
            <a:r>
              <a:rPr b="1" lang="it" sz="2200">
                <a:latin typeface="Lexend"/>
                <a:ea typeface="Lexend"/>
                <a:cs typeface="Lexend"/>
                <a:sym typeface="Lexend"/>
              </a:rPr>
              <a:t>Trifase</a:t>
            </a:r>
            <a:endParaRPr b="1" sz="2200">
              <a:latin typeface="Lexend"/>
              <a:ea typeface="Lexend"/>
              <a:cs typeface="Lexend"/>
              <a:sym typeface="Lexend"/>
            </a:endParaRPr>
          </a:p>
        </p:txBody>
      </p:sp>
      <p:sp>
        <p:nvSpPr>
          <p:cNvPr id="624" name="Google Shape;624;p5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53"/>
          <p:cNvSpPr txBox="1"/>
          <p:nvPr>
            <p:ph idx="1" type="body"/>
          </p:nvPr>
        </p:nvSpPr>
        <p:spPr>
          <a:xfrm>
            <a:off x="535500" y="1878500"/>
            <a:ext cx="5946600" cy="263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dk1"/>
                </a:solidFill>
                <a:latin typeface="Lexend"/>
                <a:ea typeface="Lexend"/>
                <a:cs typeface="Lexend"/>
                <a:sym typeface="Lexend"/>
              </a:rPr>
              <a:t>Un inverter </a:t>
            </a:r>
            <a:r>
              <a:rPr b="1" lang="it" sz="1200">
                <a:solidFill>
                  <a:schemeClr val="dk1"/>
                </a:solidFill>
                <a:latin typeface="Lexend"/>
                <a:ea typeface="Lexend"/>
                <a:cs typeface="Lexend"/>
                <a:sym typeface="Lexend"/>
              </a:rPr>
              <a:t>monofase</a:t>
            </a:r>
            <a:r>
              <a:rPr lang="it" sz="1200">
                <a:solidFill>
                  <a:schemeClr val="dk1"/>
                </a:solidFill>
                <a:latin typeface="Lexend"/>
                <a:ea typeface="Lexend"/>
                <a:cs typeface="Lexend"/>
                <a:sym typeface="Lexend"/>
              </a:rPr>
              <a:t> converte la corrente continua (DC) in corrente alternata monofase (AC), caratterizzata da un solo flusso di corrente alternata. La corrente alternata monofase è comunemente utilizzata nelle abitazioni e in piccole aziende, poiché adatta per carichi elettrici più leggeri.</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it" sz="1200">
                <a:solidFill>
                  <a:schemeClr val="dk1"/>
                </a:solidFill>
                <a:latin typeface="Lexend"/>
                <a:ea typeface="Lexend"/>
                <a:cs typeface="Lexend"/>
                <a:sym typeface="Lexend"/>
              </a:rPr>
              <a:t>Funziona con una singola fase elettrica (230V in Europa).</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it" sz="1200">
                <a:solidFill>
                  <a:schemeClr val="dk1"/>
                </a:solidFill>
                <a:latin typeface="Lexend"/>
                <a:ea typeface="Lexend"/>
                <a:cs typeface="Lexend"/>
                <a:sym typeface="Lexend"/>
              </a:rPr>
              <a:t>Adatto per impianti residenziali o piccoli carichi.</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it" sz="1200">
                <a:solidFill>
                  <a:schemeClr val="dk1"/>
                </a:solidFill>
                <a:latin typeface="Lexend"/>
                <a:ea typeface="Lexend"/>
                <a:cs typeface="Lexend"/>
                <a:sym typeface="Lexend"/>
              </a:rPr>
              <a:t>Più semplice e meno costoso rispetto al trifase.</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it" sz="1200">
                <a:solidFill>
                  <a:schemeClr val="dk1"/>
                </a:solidFill>
                <a:latin typeface="Lexend"/>
                <a:ea typeface="Lexend"/>
                <a:cs typeface="Lexend"/>
                <a:sym typeface="Lexend"/>
              </a:rPr>
              <a:t>Limite di potenza più basso rispetto ai sistemi trifase.</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chemeClr val="dk1"/>
                </a:solidFill>
                <a:latin typeface="Lexend"/>
                <a:ea typeface="Lexend"/>
                <a:cs typeface="Lexend"/>
                <a:sym typeface="Lexend"/>
              </a:rPr>
              <a:t>Applicazioni</a:t>
            </a:r>
            <a:r>
              <a:rPr lang="it" sz="1200">
                <a:solidFill>
                  <a:schemeClr val="dk1"/>
                </a:solidFill>
                <a:latin typeface="Lexend"/>
                <a:ea typeface="Lexend"/>
                <a:cs typeface="Lexend"/>
                <a:sym typeface="Lexend"/>
              </a:rPr>
              <a:t>: Installazioni domestiche con basse esigenze di potenza elettrica, come le abitazioni o piccoli uffici.</a:t>
            </a:r>
            <a:endParaRPr sz="1200">
              <a:solidFill>
                <a:schemeClr val="dk1"/>
              </a:solidFill>
              <a:latin typeface="Lexend"/>
              <a:ea typeface="Lexend"/>
              <a:cs typeface="Lexend"/>
              <a:sym typeface="Lexend"/>
            </a:endParaRPr>
          </a:p>
        </p:txBody>
      </p:sp>
      <p:pic>
        <p:nvPicPr>
          <p:cNvPr id="626" name="Google Shape;626;p53"/>
          <p:cNvPicPr preferRelativeResize="0"/>
          <p:nvPr/>
        </p:nvPicPr>
        <p:blipFill>
          <a:blip r:embed="rId3">
            <a:alphaModFix/>
          </a:blip>
          <a:stretch>
            <a:fillRect/>
          </a:stretch>
        </p:blipFill>
        <p:spPr>
          <a:xfrm>
            <a:off x="6398638" y="1455650"/>
            <a:ext cx="2209876" cy="2993302"/>
          </a:xfrm>
          <a:prstGeom prst="rect">
            <a:avLst/>
          </a:prstGeom>
          <a:noFill/>
          <a:ln>
            <a:noFill/>
          </a:ln>
        </p:spPr>
      </p:pic>
      <p:sp>
        <p:nvSpPr>
          <p:cNvPr id="627" name="Google Shape;627;p53"/>
          <p:cNvSpPr txBox="1"/>
          <p:nvPr>
            <p:ph type="title"/>
          </p:nvPr>
        </p:nvSpPr>
        <p:spPr>
          <a:xfrm>
            <a:off x="535500" y="1449006"/>
            <a:ext cx="5689800" cy="46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it" sz="2000">
                <a:latin typeface="Lexend"/>
                <a:ea typeface="Lexend"/>
                <a:cs typeface="Lexend"/>
                <a:sym typeface="Lexend"/>
              </a:rPr>
              <a:t>Inverter </a:t>
            </a:r>
            <a:r>
              <a:rPr b="1" lang="it" sz="2000">
                <a:latin typeface="Lexend"/>
                <a:ea typeface="Lexend"/>
                <a:cs typeface="Lexend"/>
                <a:sym typeface="Lexend"/>
              </a:rPr>
              <a:t>Monofase</a:t>
            </a:r>
            <a:endParaRPr b="1" sz="2000">
              <a:latin typeface="Lexend"/>
              <a:ea typeface="Lexend"/>
              <a:cs typeface="Lexend"/>
              <a:sym typeface="Lexend"/>
            </a:endParaRPr>
          </a:p>
        </p:txBody>
      </p:sp>
      <p:pic>
        <p:nvPicPr>
          <p:cNvPr id="628" name="Google Shape;628;p53"/>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629" name="Google Shape;629;p5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Sistema Ibrido - Monofase e Trifase </a:t>
            </a:r>
            <a:r>
              <a:rPr lang="it" sz="700">
                <a:latin typeface="Lexend"/>
                <a:ea typeface="Lexend"/>
                <a:cs typeface="Lexend"/>
                <a:sym typeface="Lexend"/>
              </a:rPr>
              <a:t>| 38</a:t>
            </a:r>
            <a:endParaRPr sz="700">
              <a:latin typeface="Lexend"/>
              <a:ea typeface="Lexend"/>
              <a:cs typeface="Lexend"/>
              <a:sym typeface="Lexend"/>
            </a:endParaRPr>
          </a:p>
        </p:txBody>
      </p:sp>
      <p:sp>
        <p:nvSpPr>
          <p:cNvPr id="630" name="Google Shape;630;p5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4"/>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Inverter </a:t>
            </a:r>
            <a:r>
              <a:rPr b="1" lang="it" sz="2200">
                <a:latin typeface="Lexend"/>
                <a:ea typeface="Lexend"/>
                <a:cs typeface="Lexend"/>
                <a:sym typeface="Lexend"/>
              </a:rPr>
              <a:t>Monofase</a:t>
            </a:r>
            <a:r>
              <a:rPr lang="it" sz="2200">
                <a:latin typeface="Lexend"/>
                <a:ea typeface="Lexend"/>
                <a:cs typeface="Lexend"/>
                <a:sym typeface="Lexend"/>
              </a:rPr>
              <a:t> e </a:t>
            </a:r>
            <a:r>
              <a:rPr b="1" lang="it" sz="2200">
                <a:latin typeface="Lexend"/>
                <a:ea typeface="Lexend"/>
                <a:cs typeface="Lexend"/>
                <a:sym typeface="Lexend"/>
              </a:rPr>
              <a:t>Trifase</a:t>
            </a:r>
            <a:endParaRPr b="1" sz="2200">
              <a:latin typeface="Lexend"/>
              <a:ea typeface="Lexend"/>
              <a:cs typeface="Lexend"/>
              <a:sym typeface="Lexend"/>
            </a:endParaRPr>
          </a:p>
        </p:txBody>
      </p:sp>
      <p:sp>
        <p:nvSpPr>
          <p:cNvPr id="636" name="Google Shape;636;p5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54"/>
          <p:cNvSpPr txBox="1"/>
          <p:nvPr>
            <p:ph idx="1" type="body"/>
          </p:nvPr>
        </p:nvSpPr>
        <p:spPr>
          <a:xfrm>
            <a:off x="2980875" y="1775124"/>
            <a:ext cx="5603700" cy="27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dk1"/>
                </a:solidFill>
                <a:latin typeface="Lexend"/>
                <a:ea typeface="Lexend"/>
                <a:cs typeface="Lexend"/>
                <a:sym typeface="Lexend"/>
              </a:rPr>
              <a:t>Un inverter </a:t>
            </a:r>
            <a:r>
              <a:rPr b="1" lang="it" sz="1200">
                <a:solidFill>
                  <a:schemeClr val="dk1"/>
                </a:solidFill>
                <a:latin typeface="Lexend"/>
                <a:ea typeface="Lexend"/>
                <a:cs typeface="Lexend"/>
                <a:sym typeface="Lexend"/>
              </a:rPr>
              <a:t>trifase</a:t>
            </a:r>
            <a:r>
              <a:rPr lang="it" sz="1200">
                <a:solidFill>
                  <a:schemeClr val="dk1"/>
                </a:solidFill>
                <a:latin typeface="Lexend"/>
                <a:ea typeface="Lexend"/>
                <a:cs typeface="Lexend"/>
                <a:sym typeface="Lexend"/>
              </a:rPr>
              <a:t> converte la corrente continua (DC) in corrente alternata trifase(AC), che utilizza tre flussi di corrente alternata. Questo tipo di corrente è standard per l’industria e applicazioni che richiedono maggiore potenza e stabilità.</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it" sz="1200">
                <a:solidFill>
                  <a:schemeClr val="dk1"/>
                </a:solidFill>
                <a:latin typeface="Lexend"/>
                <a:ea typeface="Lexend"/>
                <a:cs typeface="Lexend"/>
                <a:sym typeface="Lexend"/>
              </a:rPr>
              <a:t>Funziona su un sistema trifase (400V in Europa).</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it" sz="1200">
                <a:solidFill>
                  <a:schemeClr val="dk1"/>
                </a:solidFill>
                <a:latin typeface="Lexend"/>
                <a:ea typeface="Lexend"/>
                <a:cs typeface="Lexend"/>
                <a:sym typeface="Lexend"/>
              </a:rPr>
              <a:t>Efficienza nel trasporto dell’energia e gestione di carichi elevati.</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it" sz="1200">
                <a:solidFill>
                  <a:schemeClr val="dk1"/>
                </a:solidFill>
                <a:latin typeface="Lexend"/>
                <a:ea typeface="Lexend"/>
                <a:cs typeface="Lexend"/>
                <a:sym typeface="Lexend"/>
              </a:rPr>
              <a:t>Adatto a impianti commerciali, industriali e sistemi residenziali di grandi dimensioni.</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it" sz="1200">
                <a:solidFill>
                  <a:schemeClr val="dk1"/>
                </a:solidFill>
                <a:latin typeface="Lexend"/>
                <a:ea typeface="Lexend"/>
                <a:cs typeface="Lexend"/>
                <a:sym typeface="Lexend"/>
              </a:rPr>
              <a:t>Maggiore stabilità di alimentazione rispetto ai sistemi monofase.</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chemeClr val="dk1"/>
                </a:solidFill>
                <a:latin typeface="Lexend"/>
                <a:ea typeface="Lexend"/>
                <a:cs typeface="Lexend"/>
                <a:sym typeface="Lexend"/>
              </a:rPr>
              <a:t>Applicazioni</a:t>
            </a:r>
            <a:r>
              <a:rPr lang="it" sz="1200">
                <a:solidFill>
                  <a:schemeClr val="dk1"/>
                </a:solidFill>
                <a:latin typeface="Lexend"/>
                <a:ea typeface="Lexend"/>
                <a:cs typeface="Lexend"/>
                <a:sym typeface="Lexend"/>
              </a:rPr>
              <a:t>: </a:t>
            </a:r>
            <a:r>
              <a:rPr lang="it" sz="1200">
                <a:solidFill>
                  <a:schemeClr val="dk1"/>
                </a:solidFill>
                <a:latin typeface="Lexend"/>
                <a:ea typeface="Lexend"/>
                <a:cs typeface="Lexend"/>
                <a:sym typeface="Lexend"/>
              </a:rPr>
              <a:t>Grandi impianti FTV, aziende, edifici comm. e industriali.</a:t>
            </a:r>
            <a:endParaRPr sz="1200">
              <a:solidFill>
                <a:schemeClr val="dk1"/>
              </a:solidFill>
              <a:latin typeface="Lexend"/>
              <a:ea typeface="Lexend"/>
              <a:cs typeface="Lexend"/>
              <a:sym typeface="Lexend"/>
            </a:endParaRPr>
          </a:p>
        </p:txBody>
      </p:sp>
      <p:pic>
        <p:nvPicPr>
          <p:cNvPr id="638" name="Google Shape;638;p54"/>
          <p:cNvPicPr preferRelativeResize="0"/>
          <p:nvPr/>
        </p:nvPicPr>
        <p:blipFill>
          <a:blip r:embed="rId3">
            <a:alphaModFix/>
          </a:blip>
          <a:stretch>
            <a:fillRect/>
          </a:stretch>
        </p:blipFill>
        <p:spPr>
          <a:xfrm>
            <a:off x="595275" y="1399850"/>
            <a:ext cx="2209876" cy="2993310"/>
          </a:xfrm>
          <a:prstGeom prst="rect">
            <a:avLst/>
          </a:prstGeom>
          <a:noFill/>
          <a:ln>
            <a:noFill/>
          </a:ln>
        </p:spPr>
      </p:pic>
      <p:sp>
        <p:nvSpPr>
          <p:cNvPr id="639" name="Google Shape;639;p54"/>
          <p:cNvSpPr txBox="1"/>
          <p:nvPr>
            <p:ph type="title"/>
          </p:nvPr>
        </p:nvSpPr>
        <p:spPr>
          <a:xfrm>
            <a:off x="2980875" y="1311568"/>
            <a:ext cx="5689800" cy="46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it" sz="2000">
                <a:latin typeface="Lexend"/>
                <a:ea typeface="Lexend"/>
                <a:cs typeface="Lexend"/>
                <a:sym typeface="Lexend"/>
              </a:rPr>
              <a:t>Inverter </a:t>
            </a:r>
            <a:r>
              <a:rPr b="1" lang="it" sz="2000">
                <a:latin typeface="Lexend"/>
                <a:ea typeface="Lexend"/>
                <a:cs typeface="Lexend"/>
                <a:sym typeface="Lexend"/>
              </a:rPr>
              <a:t>Trifase</a:t>
            </a:r>
            <a:endParaRPr b="1" sz="2000">
              <a:latin typeface="Lexend"/>
              <a:ea typeface="Lexend"/>
              <a:cs typeface="Lexend"/>
              <a:sym typeface="Lexend"/>
            </a:endParaRPr>
          </a:p>
        </p:txBody>
      </p:sp>
      <p:pic>
        <p:nvPicPr>
          <p:cNvPr id="640" name="Google Shape;640;p54"/>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641" name="Google Shape;641;p5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Sistema Ibrido - Monofase e Trifase</a:t>
            </a:r>
            <a:r>
              <a:rPr lang="it" sz="700">
                <a:latin typeface="Lexend"/>
                <a:ea typeface="Lexend"/>
                <a:cs typeface="Lexend"/>
                <a:sym typeface="Lexend"/>
              </a:rPr>
              <a:t> | 39</a:t>
            </a:r>
            <a:endParaRPr sz="700">
              <a:latin typeface="Lexend"/>
              <a:ea typeface="Lexend"/>
              <a:cs typeface="Lexend"/>
              <a:sym typeface="Lexend"/>
            </a:endParaRPr>
          </a:p>
        </p:txBody>
      </p:sp>
      <p:sp>
        <p:nvSpPr>
          <p:cNvPr id="642" name="Google Shape;642;p5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55"/>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Inverter Monofase e Trifase:</a:t>
            </a:r>
            <a:r>
              <a:rPr b="1" lang="it" sz="2200">
                <a:latin typeface="Lexend"/>
                <a:ea typeface="Lexend"/>
                <a:cs typeface="Lexend"/>
                <a:sym typeface="Lexend"/>
              </a:rPr>
              <a:t> Vantaggi e Svantaggi</a:t>
            </a:r>
            <a:endParaRPr b="1" sz="2200">
              <a:latin typeface="Lexend"/>
              <a:ea typeface="Lexend"/>
              <a:cs typeface="Lexend"/>
              <a:sym typeface="Lexend"/>
            </a:endParaRPr>
          </a:p>
        </p:txBody>
      </p:sp>
      <p:sp>
        <p:nvSpPr>
          <p:cNvPr id="648" name="Google Shape;648;p5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649" name="Google Shape;649;p55"/>
          <p:cNvGraphicFramePr/>
          <p:nvPr/>
        </p:nvGraphicFramePr>
        <p:xfrm>
          <a:off x="570225" y="1468250"/>
          <a:ext cx="3000000" cy="3000000"/>
        </p:xfrm>
        <a:graphic>
          <a:graphicData uri="http://schemas.openxmlformats.org/drawingml/2006/table">
            <a:tbl>
              <a:tblPr>
                <a:noFill/>
                <a:tableStyleId>{7893E32E-9EC5-4C93-89A8-DD7072C48189}</a:tableStyleId>
              </a:tblPr>
              <a:tblGrid>
                <a:gridCol w="1026225"/>
                <a:gridCol w="3411025"/>
                <a:gridCol w="3566275"/>
              </a:tblGrid>
              <a:tr h="452075">
                <a:tc>
                  <a:txBody>
                    <a:bodyPr/>
                    <a:lstStyle/>
                    <a:p>
                      <a:pPr indent="0" lvl="0" marL="0" rtl="0" algn="l">
                        <a:spcBef>
                          <a:spcPts val="0"/>
                        </a:spcBef>
                        <a:spcAft>
                          <a:spcPts val="0"/>
                        </a:spcAft>
                        <a:buNone/>
                      </a:pPr>
                      <a:r>
                        <a:t/>
                      </a:r>
                      <a:endParaRPr sz="1100">
                        <a:latin typeface="Lexend"/>
                        <a:ea typeface="Lexend"/>
                        <a:cs typeface="Lexend"/>
                        <a:sym typeface="Lexend"/>
                      </a:endParaRPr>
                    </a:p>
                  </a:txBody>
                  <a:tcPr marT="91425" marB="91425" marR="91425" marL="91425">
                    <a:solidFill>
                      <a:srgbClr val="D9D9D9"/>
                    </a:solidFill>
                  </a:tcPr>
                </a:tc>
                <a:tc>
                  <a:txBody>
                    <a:bodyPr/>
                    <a:lstStyle/>
                    <a:p>
                      <a:pPr indent="0" lvl="0" marL="0" rtl="0" algn="l">
                        <a:spcBef>
                          <a:spcPts val="0"/>
                        </a:spcBef>
                        <a:spcAft>
                          <a:spcPts val="0"/>
                        </a:spcAft>
                        <a:buNone/>
                      </a:pPr>
                      <a:r>
                        <a:rPr b="1" lang="it" sz="1800">
                          <a:latin typeface="Lexend"/>
                          <a:ea typeface="Lexend"/>
                          <a:cs typeface="Lexend"/>
                          <a:sym typeface="Lexend"/>
                        </a:rPr>
                        <a:t>Monofase</a:t>
                      </a:r>
                      <a:endParaRPr b="1" sz="1800">
                        <a:latin typeface="Lexend"/>
                        <a:ea typeface="Lexend"/>
                        <a:cs typeface="Lexend"/>
                        <a:sym typeface="Lexend"/>
                      </a:endParaRPr>
                    </a:p>
                  </a:txBody>
                  <a:tcPr marT="91425" marB="91425" marR="91425" marL="91425">
                    <a:solidFill>
                      <a:schemeClr val="lt2"/>
                    </a:solidFill>
                  </a:tcPr>
                </a:tc>
                <a:tc>
                  <a:txBody>
                    <a:bodyPr/>
                    <a:lstStyle/>
                    <a:p>
                      <a:pPr indent="0" lvl="0" marL="0" rtl="0" algn="l">
                        <a:spcBef>
                          <a:spcPts val="0"/>
                        </a:spcBef>
                        <a:spcAft>
                          <a:spcPts val="0"/>
                        </a:spcAft>
                        <a:buNone/>
                      </a:pPr>
                      <a:r>
                        <a:rPr b="1" lang="it" sz="1800">
                          <a:latin typeface="Lexend"/>
                          <a:ea typeface="Lexend"/>
                          <a:cs typeface="Lexend"/>
                          <a:sym typeface="Lexend"/>
                        </a:rPr>
                        <a:t>Trifase</a:t>
                      </a:r>
                      <a:endParaRPr b="1" sz="1800">
                        <a:latin typeface="Lexend"/>
                        <a:ea typeface="Lexend"/>
                        <a:cs typeface="Lexend"/>
                        <a:sym typeface="Lexend"/>
                      </a:endParaRPr>
                    </a:p>
                  </a:txBody>
                  <a:tcPr marT="91425" marB="91425" marR="91425" marL="91425">
                    <a:solidFill>
                      <a:schemeClr val="lt2"/>
                    </a:solidFill>
                  </a:tcPr>
                </a:tc>
              </a:tr>
              <a:tr h="1407675">
                <a:tc>
                  <a:txBody>
                    <a:bodyPr/>
                    <a:lstStyle/>
                    <a:p>
                      <a:pPr indent="0" lvl="0" marL="0" rtl="0" algn="l">
                        <a:spcBef>
                          <a:spcPts val="0"/>
                        </a:spcBef>
                        <a:spcAft>
                          <a:spcPts val="0"/>
                        </a:spcAft>
                        <a:buNone/>
                      </a:pPr>
                      <a:r>
                        <a:rPr b="1" lang="it" sz="1100">
                          <a:latin typeface="Lexend"/>
                          <a:ea typeface="Lexend"/>
                          <a:cs typeface="Lexend"/>
                          <a:sym typeface="Lexend"/>
                        </a:rPr>
                        <a:t>Vantaggi</a:t>
                      </a:r>
                      <a:endParaRPr b="1" sz="1100">
                        <a:latin typeface="Lexend"/>
                        <a:ea typeface="Lexend"/>
                        <a:cs typeface="Lexend"/>
                        <a:sym typeface="Lexend"/>
                      </a:endParaRPr>
                    </a:p>
                  </a:txBody>
                  <a:tcPr marT="91425" marB="91425" marR="91425" marL="91425">
                    <a:solidFill>
                      <a:schemeClr val="lt2"/>
                    </a:solidFill>
                  </a:tcPr>
                </a:tc>
                <a:tc>
                  <a:txBody>
                    <a:bodyPr/>
                    <a:lstStyle/>
                    <a:p>
                      <a:pPr indent="-311150" lvl="0" marL="457200" rtl="0" algn="l">
                        <a:spcBef>
                          <a:spcPts val="0"/>
                        </a:spcBef>
                        <a:spcAft>
                          <a:spcPts val="0"/>
                        </a:spcAft>
                        <a:buSzPts val="1300"/>
                        <a:buFont typeface="Lexend"/>
                        <a:buChar char="●"/>
                      </a:pPr>
                      <a:r>
                        <a:rPr lang="it" sz="1300">
                          <a:latin typeface="Lexend"/>
                          <a:ea typeface="Lexend"/>
                          <a:cs typeface="Lexend"/>
                          <a:sym typeface="Lexend"/>
                        </a:rPr>
                        <a:t>Installazione semplice;</a:t>
                      </a:r>
                      <a:endParaRPr sz="1300">
                        <a:latin typeface="Lexend"/>
                        <a:ea typeface="Lexend"/>
                        <a:cs typeface="Lexend"/>
                        <a:sym typeface="Lexend"/>
                      </a:endParaRPr>
                    </a:p>
                    <a:p>
                      <a:pPr indent="0" lvl="0" marL="457200" rtl="0" algn="l">
                        <a:spcBef>
                          <a:spcPts val="0"/>
                        </a:spcBef>
                        <a:spcAft>
                          <a:spcPts val="0"/>
                        </a:spcAft>
                        <a:buNone/>
                      </a:pPr>
                      <a:r>
                        <a:t/>
                      </a:r>
                      <a:endParaRPr sz="1300">
                        <a:latin typeface="Lexend"/>
                        <a:ea typeface="Lexend"/>
                        <a:cs typeface="Lexend"/>
                        <a:sym typeface="Lexend"/>
                      </a:endParaRPr>
                    </a:p>
                    <a:p>
                      <a:pPr indent="-311150" lvl="0" marL="457200" rtl="0" algn="l">
                        <a:spcBef>
                          <a:spcPts val="0"/>
                        </a:spcBef>
                        <a:spcAft>
                          <a:spcPts val="0"/>
                        </a:spcAft>
                        <a:buSzPts val="1300"/>
                        <a:buFont typeface="Lexend"/>
                        <a:buChar char="●"/>
                      </a:pPr>
                      <a:r>
                        <a:rPr lang="it" sz="1300">
                          <a:latin typeface="Lexend"/>
                          <a:ea typeface="Lexend"/>
                          <a:cs typeface="Lexend"/>
                          <a:sym typeface="Lexend"/>
                        </a:rPr>
                        <a:t>Costi di manutenzione e d'acquisto inferiori;</a:t>
                      </a:r>
                      <a:endParaRPr sz="1300">
                        <a:latin typeface="Lexend"/>
                        <a:ea typeface="Lexend"/>
                        <a:cs typeface="Lexend"/>
                        <a:sym typeface="Lexend"/>
                      </a:endParaRPr>
                    </a:p>
                    <a:p>
                      <a:pPr indent="0" lvl="0" marL="457200" rtl="0" algn="l">
                        <a:spcBef>
                          <a:spcPts val="0"/>
                        </a:spcBef>
                        <a:spcAft>
                          <a:spcPts val="0"/>
                        </a:spcAft>
                        <a:buNone/>
                      </a:pPr>
                      <a:r>
                        <a:t/>
                      </a:r>
                      <a:endParaRPr sz="1300">
                        <a:latin typeface="Lexend"/>
                        <a:ea typeface="Lexend"/>
                        <a:cs typeface="Lexend"/>
                        <a:sym typeface="Lexend"/>
                      </a:endParaRPr>
                    </a:p>
                    <a:p>
                      <a:pPr indent="-311150" lvl="0" marL="457200" rtl="0" algn="l">
                        <a:spcBef>
                          <a:spcPts val="0"/>
                        </a:spcBef>
                        <a:spcAft>
                          <a:spcPts val="0"/>
                        </a:spcAft>
                        <a:buSzPts val="1300"/>
                        <a:buFont typeface="Lexend"/>
                        <a:buChar char="●"/>
                      </a:pPr>
                      <a:r>
                        <a:rPr lang="it" sz="1300">
                          <a:latin typeface="Lexend"/>
                          <a:ea typeface="Lexend"/>
                          <a:cs typeface="Lexend"/>
                          <a:sym typeface="Lexend"/>
                        </a:rPr>
                        <a:t>Perfetto per carichi domestici.</a:t>
                      </a:r>
                      <a:endParaRPr sz="1300">
                        <a:latin typeface="Lexend"/>
                        <a:ea typeface="Lexend"/>
                        <a:cs typeface="Lexend"/>
                        <a:sym typeface="Lexend"/>
                      </a:endParaRPr>
                    </a:p>
                  </a:txBody>
                  <a:tcPr marT="91425" marB="91425" marR="91425" marL="91425"/>
                </a:tc>
                <a:tc>
                  <a:txBody>
                    <a:bodyPr/>
                    <a:lstStyle/>
                    <a:p>
                      <a:pPr indent="-311150" lvl="0" marL="457200" rtl="0" algn="l">
                        <a:spcBef>
                          <a:spcPts val="0"/>
                        </a:spcBef>
                        <a:spcAft>
                          <a:spcPts val="0"/>
                        </a:spcAft>
                        <a:buSzPts val="1300"/>
                        <a:buFont typeface="Lexend"/>
                        <a:buChar char="●"/>
                      </a:pPr>
                      <a:r>
                        <a:rPr lang="it" sz="1300">
                          <a:latin typeface="Lexend"/>
                          <a:ea typeface="Lexend"/>
                          <a:cs typeface="Lexend"/>
                          <a:sym typeface="Lexend"/>
                        </a:rPr>
                        <a:t>Maggiore potenza disponibile e più efficienza nel trasporto;</a:t>
                      </a:r>
                      <a:endParaRPr sz="1300">
                        <a:latin typeface="Lexend"/>
                        <a:ea typeface="Lexend"/>
                        <a:cs typeface="Lexend"/>
                        <a:sym typeface="Lexend"/>
                      </a:endParaRPr>
                    </a:p>
                    <a:p>
                      <a:pPr indent="0" lvl="0" marL="457200" rtl="0" algn="l">
                        <a:spcBef>
                          <a:spcPts val="0"/>
                        </a:spcBef>
                        <a:spcAft>
                          <a:spcPts val="0"/>
                        </a:spcAft>
                        <a:buNone/>
                      </a:pPr>
                      <a:r>
                        <a:t/>
                      </a:r>
                      <a:endParaRPr sz="1300">
                        <a:latin typeface="Lexend"/>
                        <a:ea typeface="Lexend"/>
                        <a:cs typeface="Lexend"/>
                        <a:sym typeface="Lexend"/>
                      </a:endParaRPr>
                    </a:p>
                    <a:p>
                      <a:pPr indent="-311150" lvl="0" marL="457200" rtl="0" algn="l">
                        <a:spcBef>
                          <a:spcPts val="0"/>
                        </a:spcBef>
                        <a:spcAft>
                          <a:spcPts val="0"/>
                        </a:spcAft>
                        <a:buSzPts val="1300"/>
                        <a:buFont typeface="Lexend"/>
                        <a:buChar char="●"/>
                      </a:pPr>
                      <a:r>
                        <a:rPr lang="it" sz="1300">
                          <a:latin typeface="Lexend"/>
                          <a:ea typeface="Lexend"/>
                          <a:cs typeface="Lexend"/>
                          <a:sym typeface="Lexend"/>
                        </a:rPr>
                        <a:t>Gestione migliore di carichi pesanti e fluttuazioni di domanda.</a:t>
                      </a:r>
                      <a:endParaRPr sz="1300">
                        <a:latin typeface="Lexend"/>
                        <a:ea typeface="Lexend"/>
                        <a:cs typeface="Lexend"/>
                        <a:sym typeface="Lexend"/>
                      </a:endParaRPr>
                    </a:p>
                  </a:txBody>
                  <a:tcPr marT="91425" marB="91425" marR="91425" marL="91425"/>
                </a:tc>
              </a:tr>
              <a:tr h="1190400">
                <a:tc>
                  <a:txBody>
                    <a:bodyPr/>
                    <a:lstStyle/>
                    <a:p>
                      <a:pPr indent="0" lvl="0" marL="0" rtl="0" algn="l">
                        <a:spcBef>
                          <a:spcPts val="0"/>
                        </a:spcBef>
                        <a:spcAft>
                          <a:spcPts val="0"/>
                        </a:spcAft>
                        <a:buNone/>
                      </a:pPr>
                      <a:r>
                        <a:rPr b="1" lang="it" sz="1100">
                          <a:latin typeface="Lexend"/>
                          <a:ea typeface="Lexend"/>
                          <a:cs typeface="Lexend"/>
                          <a:sym typeface="Lexend"/>
                        </a:rPr>
                        <a:t>Svantaggi</a:t>
                      </a:r>
                      <a:endParaRPr b="1" sz="1100">
                        <a:latin typeface="Lexend"/>
                        <a:ea typeface="Lexend"/>
                        <a:cs typeface="Lexend"/>
                        <a:sym typeface="Lexend"/>
                      </a:endParaRPr>
                    </a:p>
                  </a:txBody>
                  <a:tcPr marT="91425" marB="91425" marR="91425" marL="91425">
                    <a:solidFill>
                      <a:schemeClr val="lt2"/>
                    </a:solidFill>
                  </a:tcPr>
                </a:tc>
                <a:tc>
                  <a:txBody>
                    <a:bodyPr/>
                    <a:lstStyle/>
                    <a:p>
                      <a:pPr indent="-311150" lvl="0" marL="457200" rtl="0" algn="l">
                        <a:spcBef>
                          <a:spcPts val="0"/>
                        </a:spcBef>
                        <a:spcAft>
                          <a:spcPts val="0"/>
                        </a:spcAft>
                        <a:buSzPts val="1300"/>
                        <a:buFont typeface="Lexend"/>
                        <a:buChar char="●"/>
                      </a:pPr>
                      <a:r>
                        <a:rPr lang="it" sz="1300">
                          <a:latin typeface="Lexend"/>
                          <a:ea typeface="Lexend"/>
                          <a:cs typeface="Lexend"/>
                          <a:sym typeface="Lexend"/>
                        </a:rPr>
                        <a:t>Non adatto per gestire grandi potenze;</a:t>
                      </a:r>
                      <a:endParaRPr sz="1300">
                        <a:latin typeface="Lexend"/>
                        <a:ea typeface="Lexend"/>
                        <a:cs typeface="Lexend"/>
                        <a:sym typeface="Lexend"/>
                      </a:endParaRPr>
                    </a:p>
                    <a:p>
                      <a:pPr indent="0" lvl="0" marL="457200" rtl="0" algn="l">
                        <a:spcBef>
                          <a:spcPts val="0"/>
                        </a:spcBef>
                        <a:spcAft>
                          <a:spcPts val="0"/>
                        </a:spcAft>
                        <a:buNone/>
                      </a:pPr>
                      <a:r>
                        <a:t/>
                      </a:r>
                      <a:endParaRPr sz="1300">
                        <a:latin typeface="Lexend"/>
                        <a:ea typeface="Lexend"/>
                        <a:cs typeface="Lexend"/>
                        <a:sym typeface="Lexend"/>
                      </a:endParaRPr>
                    </a:p>
                    <a:p>
                      <a:pPr indent="-311150" lvl="0" marL="457200" rtl="0" algn="l">
                        <a:spcBef>
                          <a:spcPts val="0"/>
                        </a:spcBef>
                        <a:spcAft>
                          <a:spcPts val="0"/>
                        </a:spcAft>
                        <a:buSzPts val="1300"/>
                        <a:buFont typeface="Lexend"/>
                        <a:buChar char="●"/>
                      </a:pPr>
                      <a:r>
                        <a:rPr lang="it" sz="1300">
                          <a:latin typeface="Lexend"/>
                          <a:ea typeface="Lexend"/>
                          <a:cs typeface="Lexend"/>
                          <a:sym typeface="Lexend"/>
                        </a:rPr>
                        <a:t>Meno efficiente nei trasporti di energia su lunghe distanze.</a:t>
                      </a:r>
                      <a:endParaRPr sz="1300">
                        <a:latin typeface="Lexend"/>
                        <a:ea typeface="Lexend"/>
                        <a:cs typeface="Lexend"/>
                        <a:sym typeface="Lexend"/>
                      </a:endParaRPr>
                    </a:p>
                  </a:txBody>
                  <a:tcPr marT="91425" marB="91425" marR="91425" marL="91425"/>
                </a:tc>
                <a:tc>
                  <a:txBody>
                    <a:bodyPr/>
                    <a:lstStyle/>
                    <a:p>
                      <a:pPr indent="-311150" lvl="0" marL="457200" rtl="0" algn="l">
                        <a:spcBef>
                          <a:spcPts val="0"/>
                        </a:spcBef>
                        <a:spcAft>
                          <a:spcPts val="0"/>
                        </a:spcAft>
                        <a:buSzPts val="1300"/>
                        <a:buFont typeface="Lexend"/>
                        <a:buChar char="●"/>
                      </a:pPr>
                      <a:r>
                        <a:rPr lang="it" sz="1300">
                          <a:latin typeface="Lexend"/>
                          <a:ea typeface="Lexend"/>
                          <a:cs typeface="Lexend"/>
                          <a:sym typeface="Lexend"/>
                        </a:rPr>
                        <a:t>Maggiore complessità di installazione;</a:t>
                      </a:r>
                      <a:endParaRPr sz="1300">
                        <a:latin typeface="Lexend"/>
                        <a:ea typeface="Lexend"/>
                        <a:cs typeface="Lexend"/>
                        <a:sym typeface="Lexend"/>
                      </a:endParaRPr>
                    </a:p>
                    <a:p>
                      <a:pPr indent="0" lvl="0" marL="457200" rtl="0" algn="l">
                        <a:spcBef>
                          <a:spcPts val="0"/>
                        </a:spcBef>
                        <a:spcAft>
                          <a:spcPts val="0"/>
                        </a:spcAft>
                        <a:buNone/>
                      </a:pPr>
                      <a:r>
                        <a:t/>
                      </a:r>
                      <a:endParaRPr sz="1300">
                        <a:latin typeface="Lexend"/>
                        <a:ea typeface="Lexend"/>
                        <a:cs typeface="Lexend"/>
                        <a:sym typeface="Lexend"/>
                      </a:endParaRPr>
                    </a:p>
                    <a:p>
                      <a:pPr indent="-311150" lvl="0" marL="457200" rtl="0" algn="l">
                        <a:spcBef>
                          <a:spcPts val="0"/>
                        </a:spcBef>
                        <a:spcAft>
                          <a:spcPts val="0"/>
                        </a:spcAft>
                        <a:buSzPts val="1300"/>
                        <a:buFont typeface="Lexend"/>
                        <a:buChar char="●"/>
                      </a:pPr>
                      <a:r>
                        <a:rPr lang="it" sz="1300">
                          <a:latin typeface="Lexend"/>
                          <a:ea typeface="Lexend"/>
                          <a:cs typeface="Lexend"/>
                          <a:sym typeface="Lexend"/>
                        </a:rPr>
                        <a:t>Costo più elevato.</a:t>
                      </a:r>
                      <a:endParaRPr sz="1300">
                        <a:latin typeface="Lexend"/>
                        <a:ea typeface="Lexend"/>
                        <a:cs typeface="Lexend"/>
                        <a:sym typeface="Lexend"/>
                      </a:endParaRPr>
                    </a:p>
                  </a:txBody>
                  <a:tcPr marT="91425" marB="91425" marR="91425" marL="91425"/>
                </a:tc>
              </a:tr>
            </a:tbl>
          </a:graphicData>
        </a:graphic>
      </p:graphicFrame>
      <p:pic>
        <p:nvPicPr>
          <p:cNvPr id="650" name="Google Shape;650;p5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651" name="Google Shape;651;p5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Sistema Ibrido - Monofase e Trifase</a:t>
            </a:r>
            <a:r>
              <a:rPr lang="it" sz="700">
                <a:latin typeface="Lexend"/>
                <a:ea typeface="Lexend"/>
                <a:cs typeface="Lexend"/>
                <a:sym typeface="Lexend"/>
              </a:rPr>
              <a:t> | 41</a:t>
            </a:r>
            <a:endParaRPr sz="700">
              <a:latin typeface="Lexend"/>
              <a:ea typeface="Lexend"/>
              <a:cs typeface="Lexend"/>
              <a:sym typeface="Lexend"/>
            </a:endParaRPr>
          </a:p>
        </p:txBody>
      </p:sp>
      <p:sp>
        <p:nvSpPr>
          <p:cNvPr id="652" name="Google Shape;652;p5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56"/>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Monofase e Trifase: </a:t>
            </a:r>
            <a:r>
              <a:rPr b="1" lang="it" sz="2200">
                <a:latin typeface="Lexend"/>
                <a:ea typeface="Lexend"/>
                <a:cs typeface="Lexend"/>
                <a:sym typeface="Lexend"/>
              </a:rPr>
              <a:t>come capiamo quale serve?</a:t>
            </a:r>
            <a:endParaRPr b="1" sz="2200">
              <a:latin typeface="Lexend"/>
              <a:ea typeface="Lexend"/>
              <a:cs typeface="Lexend"/>
              <a:sym typeface="Lexend"/>
            </a:endParaRPr>
          </a:p>
        </p:txBody>
      </p:sp>
      <p:sp>
        <p:nvSpPr>
          <p:cNvPr id="658" name="Google Shape;658;p56"/>
          <p:cNvSpPr txBox="1"/>
          <p:nvPr>
            <p:ph idx="1" type="body"/>
          </p:nvPr>
        </p:nvSpPr>
        <p:spPr>
          <a:xfrm>
            <a:off x="1001488" y="3033938"/>
            <a:ext cx="3348000" cy="90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1300">
                <a:solidFill>
                  <a:schemeClr val="dk1"/>
                </a:solidFill>
                <a:latin typeface="Lexend"/>
                <a:ea typeface="Lexend"/>
                <a:cs typeface="Lexend"/>
                <a:sym typeface="Lexend"/>
              </a:rPr>
              <a:t>Monofase:</a:t>
            </a:r>
            <a:r>
              <a:rPr lang="it" sz="1300">
                <a:solidFill>
                  <a:schemeClr val="dk1"/>
                </a:solidFill>
                <a:latin typeface="Lexend"/>
                <a:ea typeface="Lexend"/>
                <a:cs typeface="Lexend"/>
                <a:sym typeface="Lexend"/>
              </a:rPr>
              <a:t> DA </a:t>
            </a:r>
            <a:r>
              <a:rPr b="1" lang="it" sz="1300">
                <a:solidFill>
                  <a:schemeClr val="dk1"/>
                </a:solidFill>
                <a:latin typeface="Lexend"/>
                <a:ea typeface="Lexend"/>
                <a:cs typeface="Lexend"/>
                <a:sym typeface="Lexend"/>
              </a:rPr>
              <a:t>1KWp</a:t>
            </a:r>
            <a:r>
              <a:rPr lang="it" sz="1300">
                <a:solidFill>
                  <a:schemeClr val="dk1"/>
                </a:solidFill>
                <a:latin typeface="Lexend"/>
                <a:ea typeface="Lexend"/>
                <a:cs typeface="Lexend"/>
                <a:sym typeface="Lexend"/>
              </a:rPr>
              <a:t> A </a:t>
            </a:r>
            <a:r>
              <a:rPr b="1" lang="it" sz="1300">
                <a:solidFill>
                  <a:schemeClr val="dk1"/>
                </a:solidFill>
                <a:latin typeface="Lexend"/>
                <a:ea typeface="Lexend"/>
                <a:cs typeface="Lexend"/>
                <a:sym typeface="Lexend"/>
              </a:rPr>
              <a:t>9Kwp </a:t>
            </a:r>
            <a:r>
              <a:rPr lang="it" sz="1300">
                <a:solidFill>
                  <a:schemeClr val="dk1"/>
                </a:solidFill>
                <a:latin typeface="Lexend"/>
                <a:ea typeface="Lexend"/>
                <a:cs typeface="Lexend"/>
                <a:sym typeface="Lexend"/>
              </a:rPr>
              <a:t>di FTV</a:t>
            </a:r>
            <a:endParaRPr sz="13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it" sz="1300">
                <a:solidFill>
                  <a:schemeClr val="dk1"/>
                </a:solidFill>
                <a:latin typeface="Lexend"/>
                <a:ea typeface="Lexend"/>
                <a:cs typeface="Lexend"/>
                <a:sym typeface="Lexend"/>
              </a:rPr>
              <a:t>Trifase: DA </a:t>
            </a:r>
            <a:r>
              <a:rPr b="1" lang="it" sz="1300">
                <a:solidFill>
                  <a:schemeClr val="dk1"/>
                </a:solidFill>
                <a:latin typeface="Lexend"/>
                <a:ea typeface="Lexend"/>
                <a:cs typeface="Lexend"/>
                <a:sym typeface="Lexend"/>
              </a:rPr>
              <a:t>9.1KWp</a:t>
            </a:r>
            <a:r>
              <a:rPr lang="it" sz="1300">
                <a:solidFill>
                  <a:schemeClr val="dk1"/>
                </a:solidFill>
                <a:latin typeface="Lexend"/>
                <a:ea typeface="Lexend"/>
                <a:cs typeface="Lexend"/>
                <a:sym typeface="Lexend"/>
              </a:rPr>
              <a:t> A </a:t>
            </a:r>
            <a:r>
              <a:rPr b="1" lang="it" sz="1300">
                <a:solidFill>
                  <a:schemeClr val="dk1"/>
                </a:solidFill>
                <a:latin typeface="Lexend"/>
                <a:ea typeface="Lexend"/>
                <a:cs typeface="Lexend"/>
                <a:sym typeface="Lexend"/>
              </a:rPr>
              <a:t>+20KWp </a:t>
            </a:r>
            <a:r>
              <a:rPr lang="it" sz="1300">
                <a:solidFill>
                  <a:schemeClr val="dk1"/>
                </a:solidFill>
                <a:latin typeface="Lexend"/>
                <a:ea typeface="Lexend"/>
                <a:cs typeface="Lexend"/>
                <a:sym typeface="Lexend"/>
              </a:rPr>
              <a:t>di FTV</a:t>
            </a:r>
            <a:endParaRPr b="1" sz="1300"/>
          </a:p>
        </p:txBody>
      </p:sp>
      <p:sp>
        <p:nvSpPr>
          <p:cNvPr id="659" name="Google Shape;659;p56"/>
          <p:cNvSpPr txBox="1"/>
          <p:nvPr>
            <p:ph idx="1" type="body"/>
          </p:nvPr>
        </p:nvSpPr>
        <p:spPr>
          <a:xfrm>
            <a:off x="4840275" y="3033938"/>
            <a:ext cx="3348000" cy="90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it" sz="1300">
                <a:solidFill>
                  <a:schemeClr val="dk1"/>
                </a:solidFill>
                <a:latin typeface="Lexend"/>
                <a:ea typeface="Lexend"/>
                <a:cs typeface="Lexend"/>
                <a:sym typeface="Lexend"/>
              </a:rPr>
              <a:t>Monofase: DA </a:t>
            </a:r>
            <a:r>
              <a:rPr b="1" lang="it" sz="1300">
                <a:solidFill>
                  <a:schemeClr val="dk1"/>
                </a:solidFill>
                <a:latin typeface="Lexend"/>
                <a:ea typeface="Lexend"/>
                <a:cs typeface="Lexend"/>
                <a:sym typeface="Lexend"/>
              </a:rPr>
              <a:t>1KWp</a:t>
            </a:r>
            <a:r>
              <a:rPr lang="it" sz="1300">
                <a:solidFill>
                  <a:schemeClr val="dk1"/>
                </a:solidFill>
                <a:latin typeface="Lexend"/>
                <a:ea typeface="Lexend"/>
                <a:cs typeface="Lexend"/>
                <a:sym typeface="Lexend"/>
              </a:rPr>
              <a:t> A </a:t>
            </a:r>
            <a:r>
              <a:rPr b="1" lang="it" sz="1300">
                <a:solidFill>
                  <a:schemeClr val="dk1"/>
                </a:solidFill>
                <a:latin typeface="Lexend"/>
                <a:ea typeface="Lexend"/>
                <a:cs typeface="Lexend"/>
                <a:sym typeface="Lexend"/>
              </a:rPr>
              <a:t>10Kwp </a:t>
            </a:r>
            <a:r>
              <a:rPr lang="it" sz="1300">
                <a:solidFill>
                  <a:schemeClr val="dk1"/>
                </a:solidFill>
                <a:latin typeface="Lexend"/>
                <a:ea typeface="Lexend"/>
                <a:cs typeface="Lexend"/>
                <a:sym typeface="Lexend"/>
              </a:rPr>
              <a:t>di FTV</a:t>
            </a:r>
            <a:endParaRPr b="1" sz="13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sz="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300">
                <a:solidFill>
                  <a:schemeClr val="dk1"/>
                </a:solidFill>
                <a:latin typeface="Lexend"/>
                <a:ea typeface="Lexend"/>
                <a:cs typeface="Lexend"/>
                <a:sym typeface="Lexend"/>
              </a:rPr>
              <a:t>Trifase: DA </a:t>
            </a:r>
            <a:r>
              <a:rPr b="1" lang="it" sz="1300">
                <a:solidFill>
                  <a:schemeClr val="dk1"/>
                </a:solidFill>
                <a:latin typeface="Lexend"/>
                <a:ea typeface="Lexend"/>
                <a:cs typeface="Lexend"/>
                <a:sym typeface="Lexend"/>
              </a:rPr>
              <a:t>10.1KWp</a:t>
            </a:r>
            <a:r>
              <a:rPr lang="it" sz="1300">
                <a:solidFill>
                  <a:schemeClr val="dk1"/>
                </a:solidFill>
                <a:latin typeface="Lexend"/>
                <a:ea typeface="Lexend"/>
                <a:cs typeface="Lexend"/>
                <a:sym typeface="Lexend"/>
              </a:rPr>
              <a:t> A </a:t>
            </a:r>
            <a:r>
              <a:rPr b="1" lang="it" sz="1300">
                <a:solidFill>
                  <a:schemeClr val="dk1"/>
                </a:solidFill>
                <a:latin typeface="Lexend"/>
                <a:ea typeface="Lexend"/>
                <a:cs typeface="Lexend"/>
                <a:sym typeface="Lexend"/>
              </a:rPr>
              <a:t>+20KWp </a:t>
            </a:r>
            <a:r>
              <a:rPr lang="it" sz="1300">
                <a:solidFill>
                  <a:schemeClr val="dk1"/>
                </a:solidFill>
                <a:latin typeface="Lexend"/>
                <a:ea typeface="Lexend"/>
                <a:cs typeface="Lexend"/>
                <a:sym typeface="Lexend"/>
              </a:rPr>
              <a:t>di FTV</a:t>
            </a:r>
            <a:endParaRPr sz="1300">
              <a:solidFill>
                <a:schemeClr val="dk1"/>
              </a:solidFill>
              <a:latin typeface="Lexend"/>
              <a:ea typeface="Lexend"/>
              <a:cs typeface="Lexend"/>
              <a:sym typeface="Lexend"/>
            </a:endParaRPr>
          </a:p>
        </p:txBody>
      </p:sp>
      <p:sp>
        <p:nvSpPr>
          <p:cNvPr id="660" name="Google Shape;660;p56"/>
          <p:cNvSpPr txBox="1"/>
          <p:nvPr>
            <p:ph idx="1" type="body"/>
          </p:nvPr>
        </p:nvSpPr>
        <p:spPr>
          <a:xfrm>
            <a:off x="4840263" y="3850588"/>
            <a:ext cx="3348000" cy="101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400">
                <a:solidFill>
                  <a:schemeClr val="dk1"/>
                </a:solidFill>
                <a:latin typeface="Lexend"/>
                <a:ea typeface="Lexend"/>
                <a:cs typeface="Lexend"/>
                <a:sym typeface="Lexend"/>
              </a:rPr>
              <a:t>EKO</a:t>
            </a:r>
            <a:r>
              <a:rPr b="1" lang="it" sz="1400">
                <a:solidFill>
                  <a:schemeClr val="dk1"/>
                </a:solidFill>
                <a:latin typeface="Lexend"/>
                <a:ea typeface="Lexend"/>
                <a:cs typeface="Lexend"/>
                <a:sym typeface="Lexend"/>
              </a:rPr>
              <a:t> </a:t>
            </a:r>
            <a:r>
              <a:rPr lang="it" sz="1400">
                <a:solidFill>
                  <a:schemeClr val="dk1"/>
                </a:solidFill>
                <a:latin typeface="Lexend"/>
                <a:ea typeface="Lexend"/>
                <a:cs typeface="Lexend"/>
                <a:sym typeface="Lexend"/>
              </a:rPr>
              <a:t>|</a:t>
            </a:r>
            <a:r>
              <a:rPr b="1" lang="it" sz="1400">
                <a:solidFill>
                  <a:schemeClr val="dk1"/>
                </a:solidFill>
                <a:latin typeface="Lexend"/>
                <a:ea typeface="Lexend"/>
                <a:cs typeface="Lexend"/>
                <a:sym typeface="Lexend"/>
              </a:rPr>
              <a:t> Business</a:t>
            </a:r>
            <a:endParaRPr sz="1400">
              <a:solidFill>
                <a:schemeClr val="dk1"/>
              </a:solidFill>
              <a:latin typeface="Lexend"/>
              <a:ea typeface="Lexend"/>
              <a:cs typeface="Lexend"/>
              <a:sym typeface="Lexend"/>
            </a:endParaRPr>
          </a:p>
          <a:p>
            <a:pPr indent="0" lvl="0" marL="0" rtl="0" algn="l">
              <a:spcBef>
                <a:spcPts val="0"/>
              </a:spcBef>
              <a:spcAft>
                <a:spcPts val="0"/>
              </a:spcAft>
              <a:buNone/>
            </a:pPr>
            <a:r>
              <a:t/>
            </a:r>
            <a:endParaRPr sz="800">
              <a:solidFill>
                <a:schemeClr val="dk1"/>
              </a:solidFill>
              <a:latin typeface="Lexend"/>
              <a:ea typeface="Lexend"/>
              <a:cs typeface="Lexend"/>
              <a:sym typeface="Lexend"/>
            </a:endParaRPr>
          </a:p>
          <a:p>
            <a:pPr indent="0" lvl="0" marL="0" rtl="0" algn="l">
              <a:spcBef>
                <a:spcPts val="0"/>
              </a:spcBef>
              <a:spcAft>
                <a:spcPts val="0"/>
              </a:spcAft>
              <a:buNone/>
            </a:pPr>
            <a:r>
              <a:rPr lang="it" sz="1300">
                <a:solidFill>
                  <a:schemeClr val="dk1"/>
                </a:solidFill>
                <a:latin typeface="Lexend"/>
                <a:ea typeface="Lexend"/>
                <a:cs typeface="Lexend"/>
                <a:sym typeface="Lexend"/>
              </a:rPr>
              <a:t>Trifase: DA </a:t>
            </a:r>
            <a:r>
              <a:rPr b="1" lang="it" sz="1300">
                <a:solidFill>
                  <a:schemeClr val="dk1"/>
                </a:solidFill>
                <a:latin typeface="Lexend"/>
                <a:ea typeface="Lexend"/>
                <a:cs typeface="Lexend"/>
                <a:sym typeface="Lexend"/>
              </a:rPr>
              <a:t>20KWp</a:t>
            </a:r>
            <a:r>
              <a:rPr lang="it" sz="1300">
                <a:solidFill>
                  <a:schemeClr val="dk1"/>
                </a:solidFill>
                <a:latin typeface="Lexend"/>
                <a:ea typeface="Lexend"/>
                <a:cs typeface="Lexend"/>
                <a:sym typeface="Lexend"/>
              </a:rPr>
              <a:t> A </a:t>
            </a:r>
            <a:r>
              <a:rPr b="1" lang="it" sz="1300">
                <a:solidFill>
                  <a:schemeClr val="dk1"/>
                </a:solidFill>
                <a:latin typeface="Lexend"/>
                <a:ea typeface="Lexend"/>
                <a:cs typeface="Lexend"/>
                <a:sym typeface="Lexend"/>
              </a:rPr>
              <a:t>+100KWp</a:t>
            </a:r>
            <a:r>
              <a:rPr lang="it" sz="1300">
                <a:solidFill>
                  <a:schemeClr val="dk1"/>
                </a:solidFill>
                <a:latin typeface="Lexend"/>
                <a:ea typeface="Lexend"/>
                <a:cs typeface="Lexend"/>
                <a:sym typeface="Lexend"/>
              </a:rPr>
              <a:t> </a:t>
            </a:r>
            <a:r>
              <a:rPr lang="it" sz="1300">
                <a:solidFill>
                  <a:schemeClr val="dk1"/>
                </a:solidFill>
                <a:latin typeface="Lexend"/>
                <a:ea typeface="Lexend"/>
                <a:cs typeface="Lexend"/>
                <a:sym typeface="Lexend"/>
              </a:rPr>
              <a:t>di FTV</a:t>
            </a:r>
            <a:endParaRPr sz="1300"/>
          </a:p>
        </p:txBody>
      </p:sp>
      <p:sp>
        <p:nvSpPr>
          <p:cNvPr id="661" name="Google Shape;661;p5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62" name="Google Shape;662;p5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663" name="Google Shape;663;p5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Sistema Ibrido - Monofase e Trifase</a:t>
            </a:r>
            <a:r>
              <a:rPr lang="it" sz="700">
                <a:latin typeface="Lexend"/>
                <a:ea typeface="Lexend"/>
                <a:cs typeface="Lexend"/>
                <a:sym typeface="Lexend"/>
              </a:rPr>
              <a:t> | 42</a:t>
            </a:r>
            <a:endParaRPr sz="700">
              <a:latin typeface="Lexend"/>
              <a:ea typeface="Lexend"/>
              <a:cs typeface="Lexend"/>
              <a:sym typeface="Lexend"/>
            </a:endParaRPr>
          </a:p>
        </p:txBody>
      </p:sp>
      <p:sp>
        <p:nvSpPr>
          <p:cNvPr id="664" name="Google Shape;664;p5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665" name="Google Shape;665;p56" title="effypro.png"/>
          <p:cNvPicPr preferRelativeResize="0"/>
          <p:nvPr/>
        </p:nvPicPr>
        <p:blipFill>
          <a:blip r:embed="rId4">
            <a:alphaModFix/>
          </a:blip>
          <a:stretch>
            <a:fillRect/>
          </a:stretch>
        </p:blipFill>
        <p:spPr>
          <a:xfrm>
            <a:off x="4980150" y="1175863"/>
            <a:ext cx="2272175" cy="1769550"/>
          </a:xfrm>
          <a:prstGeom prst="rect">
            <a:avLst/>
          </a:prstGeom>
          <a:noFill/>
          <a:ln>
            <a:noFill/>
          </a:ln>
        </p:spPr>
      </p:pic>
      <p:pic>
        <p:nvPicPr>
          <p:cNvPr id="666" name="Google Shape;666;p56" title="effysmart.png"/>
          <p:cNvPicPr preferRelativeResize="0"/>
          <p:nvPr/>
        </p:nvPicPr>
        <p:blipFill>
          <a:blip r:embed="rId5">
            <a:alphaModFix/>
          </a:blip>
          <a:stretch>
            <a:fillRect/>
          </a:stretch>
        </p:blipFill>
        <p:spPr>
          <a:xfrm>
            <a:off x="1012270" y="1186925"/>
            <a:ext cx="2243781" cy="1747425"/>
          </a:xfrm>
          <a:prstGeom prst="rect">
            <a:avLst/>
          </a:prstGeom>
          <a:noFill/>
          <a:ln>
            <a:noFill/>
          </a:ln>
        </p:spPr>
      </p:pic>
      <p:cxnSp>
        <p:nvCxnSpPr>
          <p:cNvPr id="667" name="Google Shape;667;p56"/>
          <p:cNvCxnSpPr/>
          <p:nvPr/>
        </p:nvCxnSpPr>
        <p:spPr>
          <a:xfrm flipH="1" rot="10800000">
            <a:off x="759988" y="2937780"/>
            <a:ext cx="3587100" cy="7800"/>
          </a:xfrm>
          <a:prstGeom prst="straightConnector1">
            <a:avLst/>
          </a:prstGeom>
          <a:noFill/>
          <a:ln cap="flat" cmpd="sng" w="28575">
            <a:solidFill>
              <a:srgbClr val="1155CC"/>
            </a:solidFill>
            <a:prstDash val="solid"/>
            <a:round/>
            <a:headEnd len="med" w="med" type="none"/>
            <a:tailEnd len="med" w="med" type="none"/>
          </a:ln>
        </p:spPr>
      </p:cxnSp>
      <p:cxnSp>
        <p:nvCxnSpPr>
          <p:cNvPr id="668" name="Google Shape;668;p56"/>
          <p:cNvCxnSpPr/>
          <p:nvPr/>
        </p:nvCxnSpPr>
        <p:spPr>
          <a:xfrm flipH="1" rot="10800000">
            <a:off x="4796913" y="2937780"/>
            <a:ext cx="3587100" cy="7800"/>
          </a:xfrm>
          <a:prstGeom prst="straightConnector1">
            <a:avLst/>
          </a:prstGeom>
          <a:noFill/>
          <a:ln cap="flat" cmpd="sng" w="28575">
            <a:solidFill>
              <a:srgbClr val="FF9900"/>
            </a:solidFill>
            <a:prstDash val="solid"/>
            <a:round/>
            <a:headEnd len="med" w="med" type="none"/>
            <a:tailEnd len="med" w="med" type="non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7"/>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EFFYtech o EKO?</a:t>
            </a:r>
            <a:r>
              <a:rPr b="1" lang="it" sz="2200">
                <a:latin typeface="Lexend"/>
                <a:ea typeface="Lexend"/>
                <a:cs typeface="Lexend"/>
                <a:sym typeface="Lexend"/>
              </a:rPr>
              <a:t> Scopriamo le differenze!</a:t>
            </a:r>
            <a:endParaRPr b="1" sz="2200">
              <a:latin typeface="Lexend"/>
              <a:ea typeface="Lexend"/>
              <a:cs typeface="Lexend"/>
              <a:sym typeface="Lexend"/>
            </a:endParaRPr>
          </a:p>
        </p:txBody>
      </p:sp>
      <p:sp>
        <p:nvSpPr>
          <p:cNvPr id="674" name="Google Shape;674;p5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675" name="Google Shape;675;p57"/>
          <p:cNvGraphicFramePr/>
          <p:nvPr/>
        </p:nvGraphicFramePr>
        <p:xfrm>
          <a:off x="570225" y="1468250"/>
          <a:ext cx="3000000" cy="3000000"/>
        </p:xfrm>
        <a:graphic>
          <a:graphicData uri="http://schemas.openxmlformats.org/drawingml/2006/table">
            <a:tbl>
              <a:tblPr>
                <a:noFill/>
                <a:tableStyleId>{7893E32E-9EC5-4C93-89A8-DD7072C48189}</a:tableStyleId>
              </a:tblPr>
              <a:tblGrid>
                <a:gridCol w="1026225"/>
                <a:gridCol w="3181675"/>
                <a:gridCol w="3795625"/>
              </a:tblGrid>
              <a:tr h="379200">
                <a:tc>
                  <a:txBody>
                    <a:bodyPr/>
                    <a:lstStyle/>
                    <a:p>
                      <a:pPr indent="0" lvl="0" marL="0" rtl="0" algn="l">
                        <a:spcBef>
                          <a:spcPts val="0"/>
                        </a:spcBef>
                        <a:spcAft>
                          <a:spcPts val="0"/>
                        </a:spcAft>
                        <a:buNone/>
                      </a:pPr>
                      <a:r>
                        <a:t/>
                      </a:r>
                      <a:endParaRPr sz="1100">
                        <a:latin typeface="Lexend"/>
                        <a:ea typeface="Lexend"/>
                        <a:cs typeface="Lexend"/>
                        <a:sym typeface="Lexend"/>
                      </a:endParaRPr>
                    </a:p>
                  </a:txBody>
                  <a:tcPr marT="91425" marB="91425" marR="91425" marL="91425">
                    <a:solidFill>
                      <a:schemeClr val="lt1"/>
                    </a:solidFill>
                  </a:tcPr>
                </a:tc>
                <a:tc>
                  <a:txBody>
                    <a:bodyPr/>
                    <a:lstStyle/>
                    <a:p>
                      <a:pPr indent="0" lvl="0" marL="0" rtl="0" algn="l">
                        <a:spcBef>
                          <a:spcPts val="0"/>
                        </a:spcBef>
                        <a:spcAft>
                          <a:spcPts val="0"/>
                        </a:spcAft>
                        <a:buNone/>
                      </a:pPr>
                      <a:r>
                        <a:rPr b="1" lang="it" sz="1200">
                          <a:latin typeface="Lexend"/>
                          <a:ea typeface="Lexend"/>
                          <a:cs typeface="Lexend"/>
                          <a:sym typeface="Lexend"/>
                        </a:rPr>
                        <a:t>EFFYsmart</a:t>
                      </a:r>
                      <a:endParaRPr b="1" sz="1200">
                        <a:latin typeface="Lexend"/>
                        <a:ea typeface="Lexend"/>
                        <a:cs typeface="Lexend"/>
                        <a:sym typeface="Lexend"/>
                      </a:endParaRPr>
                    </a:p>
                  </a:txBody>
                  <a:tcPr marT="91425" marB="91425" marR="91425" marL="91425">
                    <a:solidFill>
                      <a:srgbClr val="9FC5E8"/>
                    </a:solidFill>
                  </a:tcPr>
                </a:tc>
                <a:tc>
                  <a:txBody>
                    <a:bodyPr/>
                    <a:lstStyle/>
                    <a:p>
                      <a:pPr indent="0" lvl="0" marL="0" rtl="0" algn="l">
                        <a:spcBef>
                          <a:spcPts val="0"/>
                        </a:spcBef>
                        <a:spcAft>
                          <a:spcPts val="0"/>
                        </a:spcAft>
                        <a:buNone/>
                      </a:pPr>
                      <a:r>
                        <a:rPr b="1" lang="it" sz="1200">
                          <a:latin typeface="Lexend"/>
                          <a:ea typeface="Lexend"/>
                          <a:cs typeface="Lexend"/>
                          <a:sym typeface="Lexend"/>
                        </a:rPr>
                        <a:t>EFFYpro</a:t>
                      </a:r>
                      <a:endParaRPr b="1" sz="1200">
                        <a:latin typeface="Lexend"/>
                        <a:ea typeface="Lexend"/>
                        <a:cs typeface="Lexend"/>
                        <a:sym typeface="Lexend"/>
                      </a:endParaRPr>
                    </a:p>
                  </a:txBody>
                  <a:tcPr marT="91425" marB="91425" marR="91425" marL="91425">
                    <a:solidFill>
                      <a:srgbClr val="F9CB9C"/>
                    </a:solidFill>
                  </a:tcPr>
                </a:tc>
              </a:tr>
              <a:tr h="2044075">
                <a:tc>
                  <a:txBody>
                    <a:bodyPr/>
                    <a:lstStyle/>
                    <a:p>
                      <a:pPr indent="0" lvl="0" marL="0" rtl="0" algn="l">
                        <a:spcBef>
                          <a:spcPts val="0"/>
                        </a:spcBef>
                        <a:spcAft>
                          <a:spcPts val="0"/>
                        </a:spcAft>
                        <a:buNone/>
                      </a:pPr>
                      <a:r>
                        <a:rPr b="1" lang="it" sz="1100">
                          <a:latin typeface="Lexend"/>
                          <a:ea typeface="Lexend"/>
                          <a:cs typeface="Lexend"/>
                          <a:sym typeface="Lexend"/>
                        </a:rPr>
                        <a:t>Vantaggi</a:t>
                      </a:r>
                      <a:endParaRPr b="1" sz="1100">
                        <a:latin typeface="Lexend"/>
                        <a:ea typeface="Lexend"/>
                        <a:cs typeface="Lexend"/>
                        <a:sym typeface="Lexend"/>
                      </a:endParaRPr>
                    </a:p>
                  </a:txBody>
                  <a:tcPr marT="91425" marB="91425" marR="91425" marL="91425">
                    <a:solidFill>
                      <a:schemeClr val="lt2"/>
                    </a:solidFill>
                  </a:tcPr>
                </a:tc>
                <a:tc>
                  <a:txBody>
                    <a:bodyPr/>
                    <a:lstStyle/>
                    <a:p>
                      <a:pPr indent="-311150" lvl="0" marL="457200" rtl="0" algn="l">
                        <a:spcBef>
                          <a:spcPts val="0"/>
                        </a:spcBef>
                        <a:spcAft>
                          <a:spcPts val="0"/>
                        </a:spcAft>
                        <a:buSzPts val="1300"/>
                        <a:buFont typeface="Lexend"/>
                        <a:buChar char="●"/>
                      </a:pPr>
                      <a:r>
                        <a:rPr lang="it" sz="1300">
                          <a:latin typeface="Lexend"/>
                          <a:ea typeface="Lexend"/>
                          <a:cs typeface="Lexend"/>
                          <a:sym typeface="Lexend"/>
                        </a:rPr>
                        <a:t>Più “economico”.</a:t>
                      </a:r>
                      <a:endParaRPr sz="1300">
                        <a:latin typeface="Lexend"/>
                        <a:ea typeface="Lexend"/>
                        <a:cs typeface="Lexend"/>
                        <a:sym typeface="Lexend"/>
                      </a:endParaRPr>
                    </a:p>
                    <a:p>
                      <a:pPr indent="0" lvl="0" marL="457200" rtl="0" algn="l">
                        <a:spcBef>
                          <a:spcPts val="0"/>
                        </a:spcBef>
                        <a:spcAft>
                          <a:spcPts val="0"/>
                        </a:spcAft>
                        <a:buNone/>
                      </a:pPr>
                      <a:r>
                        <a:t/>
                      </a:r>
                      <a:endParaRPr sz="1300">
                        <a:latin typeface="Lexend"/>
                        <a:ea typeface="Lexend"/>
                        <a:cs typeface="Lexend"/>
                        <a:sym typeface="Lexend"/>
                      </a:endParaRPr>
                    </a:p>
                    <a:p>
                      <a:pPr indent="-311150" lvl="0" marL="457200" rtl="0" algn="l">
                        <a:spcBef>
                          <a:spcPts val="0"/>
                        </a:spcBef>
                        <a:spcAft>
                          <a:spcPts val="0"/>
                        </a:spcAft>
                        <a:buSzPts val="1300"/>
                        <a:buFont typeface="Lexend"/>
                        <a:buChar char="●"/>
                      </a:pPr>
                      <a:r>
                        <a:rPr lang="it" sz="1300">
                          <a:latin typeface="Lexend"/>
                          <a:ea typeface="Lexend"/>
                          <a:cs typeface="Lexend"/>
                          <a:sym typeface="Lexend"/>
                        </a:rPr>
                        <a:t>Centro assistenza Italia Inverter e Batterie.</a:t>
                      </a:r>
                      <a:endParaRPr sz="1300">
                        <a:latin typeface="Lexend"/>
                        <a:ea typeface="Lexend"/>
                        <a:cs typeface="Lexend"/>
                        <a:sym typeface="Lexend"/>
                      </a:endParaRPr>
                    </a:p>
                    <a:p>
                      <a:pPr indent="0" lvl="0" marL="457200" rtl="0" algn="l">
                        <a:spcBef>
                          <a:spcPts val="0"/>
                        </a:spcBef>
                        <a:spcAft>
                          <a:spcPts val="0"/>
                        </a:spcAft>
                        <a:buNone/>
                      </a:pPr>
                      <a:r>
                        <a:t/>
                      </a:r>
                      <a:endParaRPr sz="1300">
                        <a:latin typeface="Lexend"/>
                        <a:ea typeface="Lexend"/>
                        <a:cs typeface="Lexend"/>
                        <a:sym typeface="Lexend"/>
                      </a:endParaRPr>
                    </a:p>
                    <a:p>
                      <a:pPr indent="-311150" lvl="0" marL="457200" rtl="0" algn="l">
                        <a:spcBef>
                          <a:spcPts val="0"/>
                        </a:spcBef>
                        <a:spcAft>
                          <a:spcPts val="0"/>
                        </a:spcAft>
                        <a:buClr>
                          <a:schemeClr val="dk1"/>
                        </a:buClr>
                        <a:buSzPts val="1300"/>
                        <a:buFont typeface="Lexend"/>
                        <a:buChar char="●"/>
                      </a:pPr>
                      <a:r>
                        <a:rPr lang="it" sz="1300">
                          <a:solidFill>
                            <a:schemeClr val="dk1"/>
                          </a:solidFill>
                          <a:latin typeface="Lexend"/>
                          <a:ea typeface="Lexend"/>
                          <a:cs typeface="Lexend"/>
                          <a:sym typeface="Lexend"/>
                        </a:rPr>
                        <a:t>App proprietaria che permette interventi da remoto </a:t>
                      </a:r>
                      <a:r>
                        <a:rPr lang="it" sz="1100">
                          <a:solidFill>
                            <a:schemeClr val="dk1"/>
                          </a:solidFill>
                          <a:latin typeface="Lexend"/>
                          <a:ea typeface="Lexend"/>
                          <a:cs typeface="Lexend"/>
                          <a:sym typeface="Lexend"/>
                        </a:rPr>
                        <a:t>(</a:t>
                      </a:r>
                      <a:r>
                        <a:rPr b="1" lang="it" sz="1100">
                          <a:solidFill>
                            <a:schemeClr val="dk1"/>
                          </a:solidFill>
                          <a:latin typeface="Lexend"/>
                          <a:ea typeface="Lexend"/>
                          <a:cs typeface="Lexend"/>
                          <a:sym typeface="Lexend"/>
                        </a:rPr>
                        <a:t>GONEO</a:t>
                      </a:r>
                      <a:r>
                        <a:rPr lang="it" sz="1100">
                          <a:solidFill>
                            <a:schemeClr val="dk1"/>
                          </a:solidFill>
                          <a:latin typeface="Lexend"/>
                          <a:ea typeface="Lexend"/>
                          <a:cs typeface="Lexend"/>
                          <a:sym typeface="Lexend"/>
                        </a:rPr>
                        <a:t> Monitoring Platform)</a:t>
                      </a:r>
                      <a:r>
                        <a:rPr lang="it" sz="1300">
                          <a:solidFill>
                            <a:schemeClr val="dk1"/>
                          </a:solidFill>
                          <a:latin typeface="Lexend"/>
                          <a:ea typeface="Lexend"/>
                          <a:cs typeface="Lexend"/>
                          <a:sym typeface="Lexend"/>
                        </a:rPr>
                        <a:t>.</a:t>
                      </a:r>
                      <a:endParaRPr sz="1300">
                        <a:latin typeface="Lexend"/>
                        <a:ea typeface="Lexend"/>
                        <a:cs typeface="Lexend"/>
                        <a:sym typeface="Lexend"/>
                      </a:endParaRPr>
                    </a:p>
                  </a:txBody>
                  <a:tcPr marT="91425" marB="91425" marR="91425" marL="91425">
                    <a:solidFill>
                      <a:srgbClr val="CFE2F3"/>
                    </a:solidFill>
                  </a:tcPr>
                </a:tc>
                <a:tc>
                  <a:txBody>
                    <a:bodyPr/>
                    <a:lstStyle/>
                    <a:p>
                      <a:pPr indent="-311150" lvl="0" marL="457200" rtl="0" algn="l">
                        <a:spcBef>
                          <a:spcPts val="0"/>
                        </a:spcBef>
                        <a:spcAft>
                          <a:spcPts val="0"/>
                        </a:spcAft>
                        <a:buSzPts val="1300"/>
                        <a:buFont typeface="Lexend"/>
                        <a:buChar char="●"/>
                      </a:pPr>
                      <a:r>
                        <a:rPr lang="it" sz="1300">
                          <a:latin typeface="Lexend"/>
                          <a:ea typeface="Lexend"/>
                          <a:cs typeface="Lexend"/>
                          <a:sym typeface="Lexend"/>
                        </a:rPr>
                        <a:t>Pannelli più performanti.</a:t>
                      </a:r>
                      <a:endParaRPr sz="1300">
                        <a:latin typeface="Lexend"/>
                        <a:ea typeface="Lexend"/>
                        <a:cs typeface="Lexend"/>
                        <a:sym typeface="Lexend"/>
                      </a:endParaRPr>
                    </a:p>
                    <a:p>
                      <a:pPr indent="0" lvl="0" marL="457200" rtl="0" algn="l">
                        <a:spcBef>
                          <a:spcPts val="0"/>
                        </a:spcBef>
                        <a:spcAft>
                          <a:spcPts val="0"/>
                        </a:spcAft>
                        <a:buNone/>
                      </a:pPr>
                      <a:r>
                        <a:t/>
                      </a:r>
                      <a:endParaRPr sz="1300">
                        <a:latin typeface="Lexend"/>
                        <a:ea typeface="Lexend"/>
                        <a:cs typeface="Lexend"/>
                        <a:sym typeface="Lexend"/>
                      </a:endParaRPr>
                    </a:p>
                    <a:p>
                      <a:pPr indent="-311150" lvl="0" marL="457200" rtl="0" algn="l">
                        <a:spcBef>
                          <a:spcPts val="0"/>
                        </a:spcBef>
                        <a:spcAft>
                          <a:spcPts val="0"/>
                        </a:spcAft>
                        <a:buSzPts val="1300"/>
                        <a:buFont typeface="Lexend"/>
                        <a:buChar char="●"/>
                      </a:pPr>
                      <a:r>
                        <a:rPr lang="it" sz="1300">
                          <a:latin typeface="Lexend"/>
                          <a:ea typeface="Lexend"/>
                          <a:cs typeface="Lexend"/>
                          <a:sym typeface="Lexend"/>
                        </a:rPr>
                        <a:t>Tecnologia di Accumulo con tempi di ricarica dimezzati rispetto ai competitor </a:t>
                      </a:r>
                      <a:endParaRPr sz="1300">
                        <a:latin typeface="Lexend"/>
                        <a:ea typeface="Lexend"/>
                        <a:cs typeface="Lexend"/>
                        <a:sym typeface="Lexend"/>
                      </a:endParaRPr>
                    </a:p>
                    <a:p>
                      <a:pPr indent="0" lvl="0" marL="457200" rtl="0" algn="l">
                        <a:spcBef>
                          <a:spcPts val="0"/>
                        </a:spcBef>
                        <a:spcAft>
                          <a:spcPts val="0"/>
                        </a:spcAft>
                        <a:buNone/>
                      </a:pPr>
                      <a:r>
                        <a:rPr lang="it" sz="1300">
                          <a:latin typeface="Lexend"/>
                          <a:ea typeface="Lexend"/>
                          <a:cs typeface="Lexend"/>
                          <a:sym typeface="Lexend"/>
                        </a:rPr>
                        <a:t>di alta fascia.</a:t>
                      </a:r>
                      <a:endParaRPr sz="1300">
                        <a:latin typeface="Lexend"/>
                        <a:ea typeface="Lexend"/>
                        <a:cs typeface="Lexend"/>
                        <a:sym typeface="Lexend"/>
                      </a:endParaRPr>
                    </a:p>
                    <a:p>
                      <a:pPr indent="0" lvl="0" marL="457200" rtl="0" algn="l">
                        <a:spcBef>
                          <a:spcPts val="0"/>
                        </a:spcBef>
                        <a:spcAft>
                          <a:spcPts val="0"/>
                        </a:spcAft>
                        <a:buNone/>
                      </a:pPr>
                      <a:r>
                        <a:t/>
                      </a:r>
                      <a:endParaRPr sz="1300">
                        <a:latin typeface="Lexend"/>
                        <a:ea typeface="Lexend"/>
                        <a:cs typeface="Lexend"/>
                        <a:sym typeface="Lexend"/>
                      </a:endParaRPr>
                    </a:p>
                    <a:p>
                      <a:pPr indent="-311150" lvl="0" marL="457200" rtl="0" algn="l">
                        <a:spcBef>
                          <a:spcPts val="0"/>
                        </a:spcBef>
                        <a:spcAft>
                          <a:spcPts val="0"/>
                        </a:spcAft>
                        <a:buSzPts val="1300"/>
                        <a:buFont typeface="Lexend"/>
                        <a:buChar char="●"/>
                      </a:pPr>
                      <a:r>
                        <a:rPr lang="it" sz="1300">
                          <a:latin typeface="Lexend"/>
                          <a:ea typeface="Lexend"/>
                          <a:cs typeface="Lexend"/>
                          <a:sym typeface="Lexend"/>
                        </a:rPr>
                        <a:t>App proprietaria che permette interventi da remoto </a:t>
                      </a:r>
                      <a:r>
                        <a:rPr lang="it" sz="1100">
                          <a:latin typeface="Lexend"/>
                          <a:ea typeface="Lexend"/>
                          <a:cs typeface="Lexend"/>
                          <a:sym typeface="Lexend"/>
                        </a:rPr>
                        <a:t>(</a:t>
                      </a:r>
                      <a:r>
                        <a:rPr b="1" lang="it" sz="1100">
                          <a:latin typeface="Lexend"/>
                          <a:ea typeface="Lexend"/>
                          <a:cs typeface="Lexend"/>
                          <a:sym typeface="Lexend"/>
                        </a:rPr>
                        <a:t>ALPHACLOUD</a:t>
                      </a:r>
                      <a:r>
                        <a:rPr lang="it" sz="1100">
                          <a:latin typeface="Lexend"/>
                          <a:ea typeface="Lexend"/>
                          <a:cs typeface="Lexend"/>
                          <a:sym typeface="Lexend"/>
                        </a:rPr>
                        <a:t> Monitoring Plat</a:t>
                      </a:r>
                      <a:r>
                        <a:rPr lang="it" sz="1100">
                          <a:latin typeface="Lexend"/>
                          <a:ea typeface="Lexend"/>
                          <a:cs typeface="Lexend"/>
                          <a:sym typeface="Lexend"/>
                        </a:rPr>
                        <a:t>form</a:t>
                      </a:r>
                      <a:r>
                        <a:rPr lang="it" sz="1100">
                          <a:latin typeface="Lexend"/>
                          <a:ea typeface="Lexend"/>
                          <a:cs typeface="Lexend"/>
                          <a:sym typeface="Lexend"/>
                        </a:rPr>
                        <a:t>)</a:t>
                      </a:r>
                      <a:r>
                        <a:rPr lang="it" sz="1300">
                          <a:latin typeface="Lexend"/>
                          <a:ea typeface="Lexend"/>
                          <a:cs typeface="Lexend"/>
                          <a:sym typeface="Lexend"/>
                        </a:rPr>
                        <a:t>.</a:t>
                      </a:r>
                      <a:endParaRPr sz="1300">
                        <a:latin typeface="Lexend"/>
                        <a:ea typeface="Lexend"/>
                        <a:cs typeface="Lexend"/>
                        <a:sym typeface="Lexend"/>
                      </a:endParaRPr>
                    </a:p>
                  </a:txBody>
                  <a:tcPr marT="91425" marB="91425" marR="91425" marL="91425">
                    <a:solidFill>
                      <a:srgbClr val="FCE5CD"/>
                    </a:solidFill>
                  </a:tcPr>
                </a:tc>
              </a:tr>
              <a:tr h="752650">
                <a:tc>
                  <a:txBody>
                    <a:bodyPr/>
                    <a:lstStyle/>
                    <a:p>
                      <a:pPr indent="0" lvl="0" marL="0" rtl="0" algn="l">
                        <a:spcBef>
                          <a:spcPts val="0"/>
                        </a:spcBef>
                        <a:spcAft>
                          <a:spcPts val="0"/>
                        </a:spcAft>
                        <a:buNone/>
                      </a:pPr>
                      <a:r>
                        <a:rPr b="1" lang="it" sz="1100">
                          <a:latin typeface="Lexend"/>
                          <a:ea typeface="Lexend"/>
                          <a:cs typeface="Lexend"/>
                          <a:sym typeface="Lexend"/>
                        </a:rPr>
                        <a:t>Svantaggi</a:t>
                      </a:r>
                      <a:endParaRPr b="1" sz="1100">
                        <a:latin typeface="Lexend"/>
                        <a:ea typeface="Lexend"/>
                        <a:cs typeface="Lexend"/>
                        <a:sym typeface="Lexend"/>
                      </a:endParaRPr>
                    </a:p>
                  </a:txBody>
                  <a:tcPr marT="91425" marB="91425" marR="91425" marL="91425">
                    <a:solidFill>
                      <a:schemeClr val="lt2"/>
                    </a:solidFill>
                  </a:tcPr>
                </a:tc>
                <a:tc>
                  <a:txBody>
                    <a:bodyPr/>
                    <a:lstStyle/>
                    <a:p>
                      <a:pPr indent="0" lvl="0" marL="0" rtl="0" algn="l">
                        <a:spcBef>
                          <a:spcPts val="0"/>
                        </a:spcBef>
                        <a:spcAft>
                          <a:spcPts val="0"/>
                        </a:spcAft>
                        <a:buNone/>
                      </a:pPr>
                      <a:r>
                        <a:t/>
                      </a:r>
                      <a:endParaRPr sz="1300">
                        <a:latin typeface="Lexend"/>
                        <a:ea typeface="Lexend"/>
                        <a:cs typeface="Lexend"/>
                        <a:sym typeface="Lexend"/>
                      </a:endParaRPr>
                    </a:p>
                  </a:txBody>
                  <a:tcPr marT="91425" marB="91425" marR="91425" marL="91425">
                    <a:solidFill>
                      <a:srgbClr val="CFE2F3"/>
                    </a:solidFill>
                  </a:tcPr>
                </a:tc>
                <a:tc>
                  <a:txBody>
                    <a:bodyPr/>
                    <a:lstStyle/>
                    <a:p>
                      <a:pPr indent="-311150" lvl="0" marL="457200" rtl="0" algn="l">
                        <a:spcBef>
                          <a:spcPts val="0"/>
                        </a:spcBef>
                        <a:spcAft>
                          <a:spcPts val="0"/>
                        </a:spcAft>
                        <a:buSzPts val="1300"/>
                        <a:buFont typeface="Lexend"/>
                        <a:buChar char="●"/>
                      </a:pPr>
                      <a:r>
                        <a:rPr lang="it" sz="1300">
                          <a:latin typeface="Lexend"/>
                          <a:ea typeface="Lexend"/>
                          <a:cs typeface="Lexend"/>
                          <a:sym typeface="Lexend"/>
                        </a:rPr>
                        <a:t>Più costoso</a:t>
                      </a:r>
                      <a:endParaRPr sz="1300">
                        <a:latin typeface="Lexend"/>
                        <a:ea typeface="Lexend"/>
                        <a:cs typeface="Lexend"/>
                        <a:sym typeface="Lexend"/>
                      </a:endParaRPr>
                    </a:p>
                  </a:txBody>
                  <a:tcPr marT="91425" marB="91425" marR="91425" marL="91425">
                    <a:solidFill>
                      <a:srgbClr val="FCE5CD"/>
                    </a:solidFill>
                  </a:tcPr>
                </a:tc>
              </a:tr>
            </a:tbl>
          </a:graphicData>
        </a:graphic>
      </p:graphicFrame>
      <p:pic>
        <p:nvPicPr>
          <p:cNvPr id="676" name="Google Shape;676;p5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677" name="Google Shape;677;p5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Prodotti - Differenze</a:t>
            </a:r>
            <a:r>
              <a:rPr lang="it" sz="700">
                <a:latin typeface="Lexend"/>
                <a:ea typeface="Lexend"/>
                <a:cs typeface="Lexend"/>
                <a:sym typeface="Lexend"/>
              </a:rPr>
              <a:t> | 43</a:t>
            </a:r>
            <a:endParaRPr sz="700">
              <a:latin typeface="Lexend"/>
              <a:ea typeface="Lexend"/>
              <a:cs typeface="Lexend"/>
              <a:sym typeface="Lexend"/>
            </a:endParaRPr>
          </a:p>
        </p:txBody>
      </p:sp>
      <p:sp>
        <p:nvSpPr>
          <p:cNvPr id="678" name="Google Shape;678;p5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2" name="Shape 682"/>
        <p:cNvGrpSpPr/>
        <p:nvPr/>
      </p:nvGrpSpPr>
      <p:grpSpPr>
        <a:xfrm>
          <a:off x="0" y="0"/>
          <a:ext cx="0" cy="0"/>
          <a:chOff x="0" y="0"/>
          <a:chExt cx="0" cy="0"/>
        </a:xfrm>
      </p:grpSpPr>
      <p:sp>
        <p:nvSpPr>
          <p:cNvPr id="683" name="Google Shape;683;p58"/>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Breve introduzione ad </a:t>
            </a:r>
            <a:r>
              <a:rPr b="1" lang="it" sz="2200">
                <a:latin typeface="Lexend"/>
                <a:ea typeface="Lexend"/>
                <a:cs typeface="Lexend"/>
                <a:sym typeface="Lexend"/>
              </a:rPr>
              <a:t>ALPHACLOUD</a:t>
            </a:r>
            <a:endParaRPr b="1" sz="2200">
              <a:latin typeface="Lexend"/>
              <a:ea typeface="Lexend"/>
              <a:cs typeface="Lexend"/>
              <a:sym typeface="Lexend"/>
            </a:endParaRPr>
          </a:p>
        </p:txBody>
      </p:sp>
      <p:sp>
        <p:nvSpPr>
          <p:cNvPr id="684" name="Google Shape;684;p5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5" name="Google Shape;685;p58" title="3yue21rixiugai(1).mp4">
            <a:hlinkClick r:id="rId3"/>
          </p:cNvPr>
          <p:cNvPicPr preferRelativeResize="0"/>
          <p:nvPr/>
        </p:nvPicPr>
        <p:blipFill>
          <a:blip r:embed="rId4">
            <a:alphaModFix/>
          </a:blip>
          <a:stretch>
            <a:fillRect/>
          </a:stretch>
        </p:blipFill>
        <p:spPr>
          <a:xfrm>
            <a:off x="3506236" y="1577100"/>
            <a:ext cx="4963349" cy="2791876"/>
          </a:xfrm>
          <a:prstGeom prst="rect">
            <a:avLst/>
          </a:prstGeom>
          <a:noFill/>
          <a:ln>
            <a:noFill/>
          </a:ln>
        </p:spPr>
      </p:pic>
      <p:sp>
        <p:nvSpPr>
          <p:cNvPr id="686" name="Google Shape;686;p58"/>
          <p:cNvSpPr/>
          <p:nvPr/>
        </p:nvSpPr>
        <p:spPr>
          <a:xfrm>
            <a:off x="674413" y="1577138"/>
            <a:ext cx="2831700" cy="279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58"/>
          <p:cNvSpPr txBox="1"/>
          <p:nvPr>
            <p:ph type="title"/>
          </p:nvPr>
        </p:nvSpPr>
        <p:spPr>
          <a:xfrm>
            <a:off x="311700" y="1080050"/>
            <a:ext cx="8520600" cy="3438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it" sz="1100">
                <a:latin typeface="Lexend"/>
                <a:ea typeface="Lexend"/>
                <a:cs typeface="Lexend"/>
                <a:sym typeface="Lexend"/>
              </a:rPr>
              <a:t>l’applicazione proprietaria di Alphaess per la tua CASA</a:t>
            </a:r>
            <a:endParaRPr b="1" sz="1100">
              <a:latin typeface="Lexend"/>
              <a:ea typeface="Lexend"/>
              <a:cs typeface="Lexend"/>
              <a:sym typeface="Lexend"/>
            </a:endParaRPr>
          </a:p>
        </p:txBody>
      </p:sp>
      <p:sp>
        <p:nvSpPr>
          <p:cNvPr id="688" name="Google Shape;688;p58"/>
          <p:cNvSpPr/>
          <p:nvPr/>
        </p:nvSpPr>
        <p:spPr>
          <a:xfrm>
            <a:off x="798550" y="3202025"/>
            <a:ext cx="2563500" cy="249900"/>
          </a:xfrm>
          <a:prstGeom prst="rect">
            <a:avLst/>
          </a:prstGeom>
          <a:solidFill>
            <a:srgbClr val="DEB70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9" name="Google Shape;689;p58"/>
          <p:cNvSpPr txBox="1"/>
          <p:nvPr>
            <p:ph type="title"/>
          </p:nvPr>
        </p:nvSpPr>
        <p:spPr>
          <a:xfrm>
            <a:off x="773800" y="2257074"/>
            <a:ext cx="2538600" cy="1176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3462"/>
              <a:buFont typeface="Arial"/>
              <a:buNone/>
            </a:pPr>
            <a:r>
              <a:rPr lang="it" sz="1733">
                <a:latin typeface="Lexend"/>
                <a:ea typeface="Lexend"/>
                <a:cs typeface="Lexend"/>
                <a:sym typeface="Lexend"/>
              </a:rPr>
              <a:t>Per provare </a:t>
            </a:r>
            <a:r>
              <a:rPr b="1" lang="it" sz="1733">
                <a:latin typeface="Lexend"/>
                <a:ea typeface="Lexend"/>
                <a:cs typeface="Lexend"/>
                <a:sym typeface="Lexend"/>
              </a:rPr>
              <a:t>DEMO Live</a:t>
            </a:r>
            <a:endParaRPr b="1" sz="1733">
              <a:latin typeface="Lexend"/>
              <a:ea typeface="Lexend"/>
              <a:cs typeface="Lexend"/>
              <a:sym typeface="Lexend"/>
            </a:endParaRPr>
          </a:p>
          <a:p>
            <a:pPr indent="0" lvl="0" marL="0" rtl="0" algn="l">
              <a:lnSpc>
                <a:spcPct val="115000"/>
              </a:lnSpc>
              <a:spcBef>
                <a:spcPts val="0"/>
              </a:spcBef>
              <a:spcAft>
                <a:spcPts val="0"/>
              </a:spcAft>
              <a:buNone/>
            </a:pPr>
            <a:r>
              <a:t/>
            </a:r>
            <a:endParaRPr sz="800">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Cercare AlphaESS su Apple Store o Google Play</a:t>
            </a:r>
            <a:endParaRPr sz="1122">
              <a:latin typeface="Lexend"/>
              <a:ea typeface="Lexend"/>
              <a:cs typeface="Lexend"/>
              <a:sym typeface="Lexend"/>
            </a:endParaRPr>
          </a:p>
          <a:p>
            <a:pPr indent="0" lvl="0" marL="0" rtl="0" algn="l">
              <a:lnSpc>
                <a:spcPct val="115000"/>
              </a:lnSpc>
              <a:spcBef>
                <a:spcPts val="0"/>
              </a:spcBef>
              <a:spcAft>
                <a:spcPts val="0"/>
              </a:spcAft>
              <a:buNone/>
            </a:pPr>
            <a:r>
              <a:t/>
            </a:r>
            <a:endParaRPr sz="900">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Username: </a:t>
            </a:r>
            <a:r>
              <a:rPr b="1" lang="it" sz="1122">
                <a:latin typeface="Lexend"/>
                <a:ea typeface="Lexend"/>
                <a:cs typeface="Lexend"/>
                <a:sym typeface="Lexend"/>
              </a:rPr>
              <a:t>demo</a:t>
            </a:r>
            <a:r>
              <a:rPr lang="it" sz="1122">
                <a:latin typeface="Lexend"/>
                <a:ea typeface="Lexend"/>
                <a:cs typeface="Lexend"/>
                <a:sym typeface="Lexend"/>
              </a:rPr>
              <a:t>     Password: </a:t>
            </a:r>
            <a:r>
              <a:rPr b="1" lang="it" sz="1122">
                <a:latin typeface="Lexend"/>
                <a:ea typeface="Lexend"/>
                <a:cs typeface="Lexend"/>
                <a:sym typeface="Lexend"/>
              </a:rPr>
              <a:t>demo</a:t>
            </a:r>
            <a:endParaRPr b="1" sz="1122">
              <a:latin typeface="Lexend"/>
              <a:ea typeface="Lexend"/>
              <a:cs typeface="Lexend"/>
              <a:sym typeface="Lexend"/>
            </a:endParaRPr>
          </a:p>
        </p:txBody>
      </p:sp>
      <p:pic>
        <p:nvPicPr>
          <p:cNvPr id="690" name="Google Shape;690;p58"/>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691" name="Google Shape;691;p5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APP di monitoraggio - Alphacloud | 44</a:t>
            </a:r>
            <a:endParaRPr sz="700">
              <a:latin typeface="Lexend"/>
              <a:ea typeface="Lexend"/>
              <a:cs typeface="Lexend"/>
              <a:sym typeface="Lexend"/>
            </a:endParaRPr>
          </a:p>
        </p:txBody>
      </p:sp>
      <p:sp>
        <p:nvSpPr>
          <p:cNvPr id="692" name="Google Shape;692;p5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1000"/>
                                        <p:tgtEl>
                                          <p:spTgt spid="6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59"/>
          <p:cNvSpPr txBox="1"/>
          <p:nvPr>
            <p:ph type="title"/>
          </p:nvPr>
        </p:nvSpPr>
        <p:spPr>
          <a:xfrm>
            <a:off x="311700" y="23403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a:latin typeface="Lexend"/>
                <a:ea typeface="Lexend"/>
                <a:cs typeface="Lexend"/>
                <a:sym typeface="Lexend"/>
              </a:rPr>
              <a:t>Capite le </a:t>
            </a:r>
            <a:r>
              <a:rPr b="1" lang="it">
                <a:highlight>
                  <a:srgbClr val="D9EAD3"/>
                </a:highlight>
                <a:latin typeface="Lexend"/>
                <a:ea typeface="Lexend"/>
                <a:cs typeface="Lexend"/>
                <a:sym typeface="Lexend"/>
              </a:rPr>
              <a:t>tecnologie</a:t>
            </a:r>
            <a:r>
              <a:rPr b="1" lang="it">
                <a:latin typeface="Lexend"/>
                <a:ea typeface="Lexend"/>
                <a:cs typeface="Lexend"/>
                <a:sym typeface="Lexend"/>
              </a:rPr>
              <a:t>,</a:t>
            </a:r>
            <a:r>
              <a:rPr lang="it">
                <a:latin typeface="Lexend"/>
                <a:ea typeface="Lexend"/>
                <a:cs typeface="Lexend"/>
                <a:sym typeface="Lexend"/>
              </a:rPr>
              <a:t> passiamo all’</a:t>
            </a:r>
            <a:r>
              <a:rPr b="1" lang="it">
                <a:highlight>
                  <a:srgbClr val="D9EAD3"/>
                </a:highlight>
                <a:latin typeface="Lexend"/>
                <a:ea typeface="Lexend"/>
                <a:cs typeface="Lexend"/>
                <a:sym typeface="Lexend"/>
              </a:rPr>
              <a:t>installazione</a:t>
            </a:r>
            <a:endParaRPr b="1">
              <a:highlight>
                <a:srgbClr val="D9EAD3"/>
              </a:highlight>
              <a:latin typeface="Lexend"/>
              <a:ea typeface="Lexend"/>
              <a:cs typeface="Lexend"/>
              <a:sym typeface="Lexend"/>
            </a:endParaRPr>
          </a:p>
        </p:txBody>
      </p:sp>
      <p:sp>
        <p:nvSpPr>
          <p:cNvPr id="698" name="Google Shape;698;p5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99" name="Google Shape;699;p59"/>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700" name="Google Shape;700;p5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a:t>
            </a:r>
            <a:r>
              <a:rPr lang="it" sz="700">
                <a:latin typeface="Lexend"/>
                <a:ea typeface="Lexend"/>
                <a:cs typeface="Lexend"/>
                <a:sym typeface="Lexend"/>
              </a:rPr>
              <a:t> | 45</a:t>
            </a:r>
            <a:endParaRPr sz="700">
              <a:latin typeface="Lexend"/>
              <a:ea typeface="Lexend"/>
              <a:cs typeface="Lexend"/>
              <a:sym typeface="Lexend"/>
            </a:endParaRPr>
          </a:p>
        </p:txBody>
      </p:sp>
      <p:sp>
        <p:nvSpPr>
          <p:cNvPr id="701" name="Google Shape;701;p5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60"/>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Dove EKO si differenzia: nell’</a:t>
            </a:r>
            <a:r>
              <a:rPr b="1" lang="it" sz="2200">
                <a:latin typeface="Lexend"/>
                <a:ea typeface="Lexend"/>
                <a:cs typeface="Lexend"/>
                <a:sym typeface="Lexend"/>
              </a:rPr>
              <a:t>installazione</a:t>
            </a:r>
            <a:endParaRPr b="1" sz="2200">
              <a:latin typeface="Lexend"/>
              <a:ea typeface="Lexend"/>
              <a:cs typeface="Lexend"/>
              <a:sym typeface="Lexend"/>
            </a:endParaRPr>
          </a:p>
        </p:txBody>
      </p:sp>
      <p:sp>
        <p:nvSpPr>
          <p:cNvPr id="707" name="Google Shape;707;p60"/>
          <p:cNvSpPr txBox="1"/>
          <p:nvPr>
            <p:ph idx="1" type="body"/>
          </p:nvPr>
        </p:nvSpPr>
        <p:spPr>
          <a:xfrm>
            <a:off x="396638" y="1705338"/>
            <a:ext cx="3299700" cy="2821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it" sz="1600">
                <a:solidFill>
                  <a:schemeClr val="dk1"/>
                </a:solidFill>
                <a:latin typeface="Lexend"/>
                <a:ea typeface="Lexend"/>
                <a:cs typeface="Lexend"/>
                <a:sym typeface="Lexend"/>
              </a:rPr>
              <a:t>Metodo Classico</a:t>
            </a:r>
            <a:r>
              <a:rPr lang="it" sz="1600">
                <a:solidFill>
                  <a:schemeClr val="dk1"/>
                </a:solidFill>
                <a:latin typeface="Lexend"/>
                <a:ea typeface="Lexend"/>
                <a:cs typeface="Lexend"/>
                <a:sym typeface="Lexend"/>
              </a:rPr>
              <a:t>: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it" sz="1600">
                <a:solidFill>
                  <a:schemeClr val="dk1"/>
                </a:solidFill>
                <a:latin typeface="Lexend"/>
                <a:ea typeface="Lexend"/>
                <a:cs typeface="Lexend"/>
                <a:sym typeface="Lexend"/>
              </a:rPr>
              <a:t>installazione con “vitone”</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38761D"/>
                </a:solidFill>
                <a:latin typeface="Lexend"/>
                <a:ea typeface="Lexend"/>
                <a:cs typeface="Lexend"/>
                <a:sym typeface="Lexend"/>
              </a:rPr>
              <a:t>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Veloce da installare e costo basso per l’installatore.</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CC0000"/>
                </a:solidFill>
                <a:latin typeface="Lexend"/>
                <a:ea typeface="Lexend"/>
                <a:cs typeface="Lexend"/>
                <a:sym typeface="Lexend"/>
              </a:rPr>
              <a:t>Svantaggi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spacca la tegola/legno e crea problemi nel tempo con infiltrazioni di acqua e usura materiale.</a:t>
            </a:r>
            <a:endParaRPr sz="1200">
              <a:latin typeface="Lexend"/>
              <a:ea typeface="Lexend"/>
              <a:cs typeface="Lexend"/>
              <a:sym typeface="Lexend"/>
            </a:endParaRPr>
          </a:p>
        </p:txBody>
      </p:sp>
      <p:sp>
        <p:nvSpPr>
          <p:cNvPr id="708" name="Google Shape;708;p60"/>
          <p:cNvSpPr txBox="1"/>
          <p:nvPr/>
        </p:nvSpPr>
        <p:spPr>
          <a:xfrm>
            <a:off x="3072000" y="1175875"/>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Partiamo dal Tetto…</a:t>
            </a:r>
            <a:endParaRPr/>
          </a:p>
        </p:txBody>
      </p:sp>
      <p:pic>
        <p:nvPicPr>
          <p:cNvPr id="709" name="Google Shape;709;p60"/>
          <p:cNvPicPr preferRelativeResize="0"/>
          <p:nvPr/>
        </p:nvPicPr>
        <p:blipFill rotWithShape="1">
          <a:blip r:embed="rId3">
            <a:alphaModFix/>
          </a:blip>
          <a:srcRect b="0" l="24024" r="0" t="0"/>
          <a:stretch/>
        </p:blipFill>
        <p:spPr>
          <a:xfrm>
            <a:off x="3890961" y="1705338"/>
            <a:ext cx="4856402" cy="2821425"/>
          </a:xfrm>
          <a:prstGeom prst="rect">
            <a:avLst/>
          </a:prstGeom>
          <a:noFill/>
          <a:ln>
            <a:noFill/>
          </a:ln>
        </p:spPr>
      </p:pic>
      <p:sp>
        <p:nvSpPr>
          <p:cNvPr id="710" name="Google Shape;710;p6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11" name="Google Shape;711;p60"/>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712" name="Google Shape;712;p6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 | 46</a:t>
            </a:r>
            <a:endParaRPr sz="700">
              <a:latin typeface="Lexend"/>
              <a:ea typeface="Lexend"/>
              <a:cs typeface="Lexend"/>
              <a:sym typeface="Lexend"/>
            </a:endParaRPr>
          </a:p>
        </p:txBody>
      </p:sp>
      <p:sp>
        <p:nvSpPr>
          <p:cNvPr id="713" name="Google Shape;713;p6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pic>
        <p:nvPicPr>
          <p:cNvPr id="718" name="Google Shape;718;p61"/>
          <p:cNvPicPr preferRelativeResize="0"/>
          <p:nvPr/>
        </p:nvPicPr>
        <p:blipFill rotWithShape="1">
          <a:blip r:embed="rId3">
            <a:alphaModFix/>
          </a:blip>
          <a:srcRect b="0" l="24024" r="0" t="0"/>
          <a:stretch/>
        </p:blipFill>
        <p:spPr>
          <a:xfrm>
            <a:off x="3890953" y="1705350"/>
            <a:ext cx="4856428" cy="2821499"/>
          </a:xfrm>
          <a:prstGeom prst="rect">
            <a:avLst/>
          </a:prstGeom>
          <a:noFill/>
          <a:ln>
            <a:noFill/>
          </a:ln>
        </p:spPr>
      </p:pic>
      <p:sp>
        <p:nvSpPr>
          <p:cNvPr id="719" name="Google Shape;719;p61"/>
          <p:cNvSpPr txBox="1"/>
          <p:nvPr>
            <p:ph idx="1" type="body"/>
          </p:nvPr>
        </p:nvSpPr>
        <p:spPr>
          <a:xfrm>
            <a:off x="396638" y="1705338"/>
            <a:ext cx="3299700" cy="2821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it" sz="1600">
                <a:solidFill>
                  <a:schemeClr val="dk1"/>
                </a:solidFill>
                <a:latin typeface="Lexend"/>
                <a:ea typeface="Lexend"/>
                <a:cs typeface="Lexend"/>
                <a:sym typeface="Lexend"/>
              </a:rPr>
              <a:t>Metodo EKO:</a:t>
            </a:r>
            <a:r>
              <a:rPr lang="it" sz="1600">
                <a:solidFill>
                  <a:schemeClr val="dk1"/>
                </a:solidFill>
                <a:latin typeface="Lexend"/>
                <a:ea typeface="Lexend"/>
                <a:cs typeface="Lexend"/>
                <a:sym typeface="Lexend"/>
              </a:rPr>
              <a:t>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it" sz="1600">
                <a:solidFill>
                  <a:schemeClr val="dk1"/>
                </a:solidFill>
                <a:latin typeface="Lexend"/>
                <a:ea typeface="Lexend"/>
                <a:cs typeface="Lexend"/>
                <a:sym typeface="Lexend"/>
              </a:rPr>
              <a:t>sottotegola con staffa in INOX</a:t>
            </a:r>
            <a:endParaRPr b="1" sz="19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38761D"/>
                </a:solidFill>
                <a:latin typeface="Lexend"/>
                <a:ea typeface="Lexend"/>
                <a:cs typeface="Lexend"/>
                <a:sym typeface="Lexend"/>
              </a:rPr>
              <a:t>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lavoro pulito e di qualità che non intacca l’idoneità del tetto sia a livello strutturale che di isolamento.</a:t>
            </a:r>
            <a:endParaRPr sz="14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CC0000"/>
                </a:solidFill>
                <a:latin typeface="Lexend"/>
                <a:ea typeface="Lexend"/>
                <a:cs typeface="Lexend"/>
                <a:sym typeface="Lexend"/>
              </a:rPr>
              <a:t>Svantaggi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costo più alto per l’installatore.</a:t>
            </a:r>
            <a:endParaRPr sz="1400">
              <a:latin typeface="Lexend"/>
              <a:ea typeface="Lexend"/>
              <a:cs typeface="Lexend"/>
              <a:sym typeface="Lexend"/>
            </a:endParaRPr>
          </a:p>
        </p:txBody>
      </p:sp>
      <p:sp>
        <p:nvSpPr>
          <p:cNvPr id="720" name="Google Shape;720;p6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1" name="Google Shape;721;p61"/>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722" name="Google Shape;722;p6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 | 47</a:t>
            </a:r>
            <a:endParaRPr sz="700">
              <a:latin typeface="Lexend"/>
              <a:ea typeface="Lexend"/>
              <a:cs typeface="Lexend"/>
              <a:sym typeface="Lexend"/>
            </a:endParaRPr>
          </a:p>
        </p:txBody>
      </p:sp>
      <p:sp>
        <p:nvSpPr>
          <p:cNvPr id="723" name="Google Shape;723;p61"/>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Dove EKO si differenzia: nell’</a:t>
            </a:r>
            <a:r>
              <a:rPr b="1" lang="it" sz="2200">
                <a:latin typeface="Lexend"/>
                <a:ea typeface="Lexend"/>
                <a:cs typeface="Lexend"/>
                <a:sym typeface="Lexend"/>
              </a:rPr>
              <a:t>installazione</a:t>
            </a:r>
            <a:endParaRPr b="1" sz="2200">
              <a:latin typeface="Lexend"/>
              <a:ea typeface="Lexend"/>
              <a:cs typeface="Lexend"/>
              <a:sym typeface="Lexend"/>
            </a:endParaRPr>
          </a:p>
        </p:txBody>
      </p:sp>
      <p:sp>
        <p:nvSpPr>
          <p:cNvPr id="724" name="Google Shape;724;p61"/>
          <p:cNvSpPr txBox="1"/>
          <p:nvPr/>
        </p:nvSpPr>
        <p:spPr>
          <a:xfrm>
            <a:off x="3072000" y="1175875"/>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Partiamo dal Tetto…</a:t>
            </a:r>
            <a:endParaRPr/>
          </a:p>
        </p:txBody>
      </p:sp>
      <p:sp>
        <p:nvSpPr>
          <p:cNvPr id="725" name="Google Shape;725;p6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pic>
        <p:nvPicPr>
          <p:cNvPr id="730" name="Google Shape;730;p62"/>
          <p:cNvPicPr preferRelativeResize="0"/>
          <p:nvPr/>
        </p:nvPicPr>
        <p:blipFill rotWithShape="1">
          <a:blip r:embed="rId3">
            <a:alphaModFix/>
          </a:blip>
          <a:srcRect b="0" l="24648" r="0" t="0"/>
          <a:stretch/>
        </p:blipFill>
        <p:spPr>
          <a:xfrm>
            <a:off x="3890950" y="1681725"/>
            <a:ext cx="4856428" cy="2845125"/>
          </a:xfrm>
          <a:prstGeom prst="rect">
            <a:avLst/>
          </a:prstGeom>
          <a:noFill/>
          <a:ln>
            <a:noFill/>
          </a:ln>
        </p:spPr>
      </p:pic>
      <p:sp>
        <p:nvSpPr>
          <p:cNvPr id="731" name="Google Shape;731;p6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2" name="Google Shape;732;p62"/>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733" name="Google Shape;733;p6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a:t>
            </a:r>
            <a:r>
              <a:rPr lang="it" sz="700">
                <a:latin typeface="Lexend"/>
                <a:ea typeface="Lexend"/>
                <a:cs typeface="Lexend"/>
                <a:sym typeface="Lexend"/>
              </a:rPr>
              <a:t> | 48</a:t>
            </a:r>
            <a:endParaRPr sz="700">
              <a:latin typeface="Lexend"/>
              <a:ea typeface="Lexend"/>
              <a:cs typeface="Lexend"/>
              <a:sym typeface="Lexend"/>
            </a:endParaRPr>
          </a:p>
        </p:txBody>
      </p:sp>
      <p:sp>
        <p:nvSpPr>
          <p:cNvPr id="734" name="Google Shape;734;p62"/>
          <p:cNvSpPr txBox="1"/>
          <p:nvPr>
            <p:ph idx="1" type="body"/>
          </p:nvPr>
        </p:nvSpPr>
        <p:spPr>
          <a:xfrm>
            <a:off x="396638" y="1705338"/>
            <a:ext cx="3299700" cy="2821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it" sz="1608">
                <a:solidFill>
                  <a:schemeClr val="dk1"/>
                </a:solidFill>
                <a:latin typeface="Lexend"/>
                <a:ea typeface="Lexend"/>
                <a:cs typeface="Lexend"/>
                <a:sym typeface="Lexend"/>
              </a:rPr>
              <a:t>Installazione su Lamiera Grecata con Guaina</a:t>
            </a:r>
            <a:endParaRPr b="1" sz="22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38761D"/>
                </a:solidFill>
                <a:latin typeface="Lexend"/>
                <a:ea typeface="Lexend"/>
                <a:cs typeface="Lexend"/>
                <a:sym typeface="Lexend"/>
              </a:rPr>
              <a:t>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Sigillatura totale dei fori di fissaggio.</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CC0000"/>
                </a:solidFill>
                <a:latin typeface="Lexend"/>
                <a:ea typeface="Lexend"/>
                <a:cs typeface="Lexend"/>
                <a:sym typeface="Lexend"/>
              </a:rPr>
              <a:t>Svantaggi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costo più alto per l’installatore.</a:t>
            </a:r>
            <a:endParaRPr sz="1400">
              <a:latin typeface="Lexend"/>
              <a:ea typeface="Lexend"/>
              <a:cs typeface="Lexend"/>
              <a:sym typeface="Lexend"/>
            </a:endParaRPr>
          </a:p>
        </p:txBody>
      </p:sp>
      <p:sp>
        <p:nvSpPr>
          <p:cNvPr id="735" name="Google Shape;735;p62"/>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Dove EKO si differenzia: nell’</a:t>
            </a:r>
            <a:r>
              <a:rPr b="1" lang="it" sz="2200">
                <a:latin typeface="Lexend"/>
                <a:ea typeface="Lexend"/>
                <a:cs typeface="Lexend"/>
                <a:sym typeface="Lexend"/>
              </a:rPr>
              <a:t>installazione</a:t>
            </a:r>
            <a:endParaRPr b="1" sz="2200">
              <a:latin typeface="Lexend"/>
              <a:ea typeface="Lexend"/>
              <a:cs typeface="Lexend"/>
              <a:sym typeface="Lexend"/>
            </a:endParaRPr>
          </a:p>
        </p:txBody>
      </p:sp>
      <p:sp>
        <p:nvSpPr>
          <p:cNvPr id="736" name="Google Shape;736;p62"/>
          <p:cNvSpPr txBox="1"/>
          <p:nvPr/>
        </p:nvSpPr>
        <p:spPr>
          <a:xfrm>
            <a:off x="3072000" y="1175875"/>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Partiamo dal Tetto…</a:t>
            </a:r>
            <a:endParaRPr/>
          </a:p>
        </p:txBody>
      </p:sp>
      <p:sp>
        <p:nvSpPr>
          <p:cNvPr id="737" name="Google Shape;737;p6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pic>
        <p:nvPicPr>
          <p:cNvPr id="742" name="Google Shape;742;p63"/>
          <p:cNvPicPr preferRelativeResize="0"/>
          <p:nvPr/>
        </p:nvPicPr>
        <p:blipFill rotWithShape="1">
          <a:blip r:embed="rId3">
            <a:alphaModFix/>
          </a:blip>
          <a:srcRect b="0" l="24653" r="0" t="0"/>
          <a:stretch/>
        </p:blipFill>
        <p:spPr>
          <a:xfrm>
            <a:off x="3890950" y="1681725"/>
            <a:ext cx="4856428" cy="2845125"/>
          </a:xfrm>
          <a:prstGeom prst="rect">
            <a:avLst/>
          </a:prstGeom>
          <a:noFill/>
          <a:ln>
            <a:noFill/>
          </a:ln>
        </p:spPr>
      </p:pic>
      <p:sp>
        <p:nvSpPr>
          <p:cNvPr id="743" name="Google Shape;743;p6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4" name="Google Shape;744;p63"/>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745" name="Google Shape;745;p6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 | 49</a:t>
            </a:r>
            <a:endParaRPr sz="700">
              <a:latin typeface="Lexend"/>
              <a:ea typeface="Lexend"/>
              <a:cs typeface="Lexend"/>
              <a:sym typeface="Lexend"/>
            </a:endParaRPr>
          </a:p>
        </p:txBody>
      </p:sp>
      <p:sp>
        <p:nvSpPr>
          <p:cNvPr id="746" name="Google Shape;746;p63"/>
          <p:cNvSpPr txBox="1"/>
          <p:nvPr>
            <p:ph idx="1" type="body"/>
          </p:nvPr>
        </p:nvSpPr>
        <p:spPr>
          <a:xfrm>
            <a:off x="396638" y="1705338"/>
            <a:ext cx="3299700" cy="2821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it" sz="1600">
                <a:solidFill>
                  <a:schemeClr val="dk1"/>
                </a:solidFill>
                <a:latin typeface="Lexend"/>
                <a:ea typeface="Lexend"/>
                <a:cs typeface="Lexend"/>
                <a:sym typeface="Lexend"/>
              </a:rPr>
              <a:t>Metodo Classico</a:t>
            </a:r>
            <a:r>
              <a:rPr lang="it" sz="1600">
                <a:solidFill>
                  <a:schemeClr val="dk1"/>
                </a:solidFill>
                <a:latin typeface="Lexend"/>
                <a:ea typeface="Lexend"/>
                <a:cs typeface="Lexend"/>
                <a:sym typeface="Lexend"/>
              </a:rPr>
              <a:t>: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it" sz="1600">
                <a:solidFill>
                  <a:schemeClr val="dk1"/>
                </a:solidFill>
                <a:latin typeface="Lexend"/>
                <a:ea typeface="Lexend"/>
                <a:cs typeface="Lexend"/>
                <a:sym typeface="Lexend"/>
              </a:rPr>
              <a:t>profili di posa in Alluminio</a:t>
            </a:r>
            <a:endParaRPr b="1" sz="1908">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38761D"/>
                </a:solidFill>
                <a:latin typeface="Lexend"/>
                <a:ea typeface="Lexend"/>
                <a:cs typeface="Lexend"/>
                <a:sym typeface="Lexend"/>
              </a:rPr>
              <a:t>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costo più basso per l’installatore.</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CC0000"/>
                </a:solidFill>
                <a:latin typeface="Lexend"/>
                <a:ea typeface="Lexend"/>
                <a:cs typeface="Lexend"/>
                <a:sym typeface="Lexend"/>
              </a:rPr>
              <a:t>Svantaggi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flette, si usura con esposizione costante ad intemperie.</a:t>
            </a:r>
            <a:endParaRPr sz="1600">
              <a:latin typeface="Lexend"/>
              <a:ea typeface="Lexend"/>
              <a:cs typeface="Lexend"/>
              <a:sym typeface="Lexend"/>
            </a:endParaRPr>
          </a:p>
        </p:txBody>
      </p:sp>
      <p:sp>
        <p:nvSpPr>
          <p:cNvPr id="747" name="Google Shape;747;p63"/>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Dove EKO si differenzia: nell’</a:t>
            </a:r>
            <a:r>
              <a:rPr b="1" lang="it" sz="2200">
                <a:latin typeface="Lexend"/>
                <a:ea typeface="Lexend"/>
                <a:cs typeface="Lexend"/>
                <a:sym typeface="Lexend"/>
              </a:rPr>
              <a:t>installazione</a:t>
            </a:r>
            <a:endParaRPr b="1" sz="2200">
              <a:latin typeface="Lexend"/>
              <a:ea typeface="Lexend"/>
              <a:cs typeface="Lexend"/>
              <a:sym typeface="Lexend"/>
            </a:endParaRPr>
          </a:p>
        </p:txBody>
      </p:sp>
      <p:sp>
        <p:nvSpPr>
          <p:cNvPr id="748" name="Google Shape;748;p63"/>
          <p:cNvSpPr txBox="1"/>
          <p:nvPr/>
        </p:nvSpPr>
        <p:spPr>
          <a:xfrm>
            <a:off x="3072000" y="1175875"/>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Partiamo dal Tetto…</a:t>
            </a:r>
            <a:endParaRPr/>
          </a:p>
        </p:txBody>
      </p:sp>
      <p:sp>
        <p:nvSpPr>
          <p:cNvPr id="749" name="Google Shape;749;p6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pic>
        <p:nvPicPr>
          <p:cNvPr id="754" name="Google Shape;754;p64"/>
          <p:cNvPicPr preferRelativeResize="0"/>
          <p:nvPr/>
        </p:nvPicPr>
        <p:blipFill rotWithShape="1">
          <a:blip r:embed="rId3">
            <a:alphaModFix/>
          </a:blip>
          <a:srcRect b="0" l="24653" r="0" t="0"/>
          <a:stretch/>
        </p:blipFill>
        <p:spPr>
          <a:xfrm>
            <a:off x="3890950" y="1681725"/>
            <a:ext cx="4856428" cy="2845125"/>
          </a:xfrm>
          <a:prstGeom prst="rect">
            <a:avLst/>
          </a:prstGeom>
          <a:noFill/>
          <a:ln>
            <a:noFill/>
          </a:ln>
        </p:spPr>
      </p:pic>
      <p:sp>
        <p:nvSpPr>
          <p:cNvPr id="755" name="Google Shape;755;p6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6" name="Google Shape;756;p64"/>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757" name="Google Shape;757;p6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a:t>
            </a:r>
            <a:r>
              <a:rPr lang="it" sz="700">
                <a:latin typeface="Lexend"/>
                <a:ea typeface="Lexend"/>
                <a:cs typeface="Lexend"/>
                <a:sym typeface="Lexend"/>
              </a:rPr>
              <a:t> | 50</a:t>
            </a:r>
            <a:endParaRPr sz="700">
              <a:latin typeface="Lexend"/>
              <a:ea typeface="Lexend"/>
              <a:cs typeface="Lexend"/>
              <a:sym typeface="Lexend"/>
            </a:endParaRPr>
          </a:p>
        </p:txBody>
      </p:sp>
      <p:sp>
        <p:nvSpPr>
          <p:cNvPr id="758" name="Google Shape;758;p64"/>
          <p:cNvSpPr txBox="1"/>
          <p:nvPr>
            <p:ph idx="1" type="body"/>
          </p:nvPr>
        </p:nvSpPr>
        <p:spPr>
          <a:xfrm>
            <a:off x="396638" y="1705338"/>
            <a:ext cx="3299700" cy="2821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it" sz="1600">
                <a:solidFill>
                  <a:schemeClr val="dk1"/>
                </a:solidFill>
                <a:latin typeface="Lexend"/>
                <a:ea typeface="Lexend"/>
                <a:cs typeface="Lexend"/>
                <a:sym typeface="Lexend"/>
              </a:rPr>
              <a:t>Metodo EKO</a:t>
            </a:r>
            <a:r>
              <a:rPr lang="it" sz="1600">
                <a:solidFill>
                  <a:schemeClr val="dk1"/>
                </a:solidFill>
                <a:latin typeface="Lexend"/>
                <a:ea typeface="Lexend"/>
                <a:cs typeface="Lexend"/>
                <a:sym typeface="Lexend"/>
              </a:rPr>
              <a:t>: </a:t>
            </a:r>
            <a:endParaRPr sz="16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600">
                <a:solidFill>
                  <a:schemeClr val="dk1"/>
                </a:solidFill>
                <a:latin typeface="Lexend"/>
                <a:ea typeface="Lexend"/>
                <a:cs typeface="Lexend"/>
                <a:sym typeface="Lexend"/>
              </a:rPr>
              <a:t>profili di posa in Manganesio</a:t>
            </a:r>
            <a:endParaRPr b="1" sz="2208">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38761D"/>
                </a:solidFill>
                <a:latin typeface="Lexend"/>
                <a:ea typeface="Lexend"/>
                <a:cs typeface="Lexend"/>
                <a:sym typeface="Lexend"/>
              </a:rPr>
              <a:t>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NON Flette, NON si usura, Garanzia a VITA del materiale e sue performance.</a:t>
            </a:r>
            <a:endParaRPr sz="14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CC0000"/>
                </a:solidFill>
                <a:latin typeface="Lexend"/>
                <a:ea typeface="Lexend"/>
                <a:cs typeface="Lexend"/>
                <a:sym typeface="Lexend"/>
              </a:rPr>
              <a:t>Svantaggi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costo più alto per l’installatore.</a:t>
            </a:r>
            <a:endParaRPr>
              <a:latin typeface="Lexend"/>
              <a:ea typeface="Lexend"/>
              <a:cs typeface="Lexend"/>
              <a:sym typeface="Lexend"/>
            </a:endParaRPr>
          </a:p>
        </p:txBody>
      </p:sp>
      <p:sp>
        <p:nvSpPr>
          <p:cNvPr id="759" name="Google Shape;759;p64"/>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Dove EKO si differenzia: nell’</a:t>
            </a:r>
            <a:r>
              <a:rPr b="1" lang="it" sz="2200">
                <a:latin typeface="Lexend"/>
                <a:ea typeface="Lexend"/>
                <a:cs typeface="Lexend"/>
                <a:sym typeface="Lexend"/>
              </a:rPr>
              <a:t>installazione</a:t>
            </a:r>
            <a:endParaRPr b="1" sz="2200">
              <a:latin typeface="Lexend"/>
              <a:ea typeface="Lexend"/>
              <a:cs typeface="Lexend"/>
              <a:sym typeface="Lexend"/>
            </a:endParaRPr>
          </a:p>
        </p:txBody>
      </p:sp>
      <p:sp>
        <p:nvSpPr>
          <p:cNvPr id="760" name="Google Shape;760;p64"/>
          <p:cNvSpPr txBox="1"/>
          <p:nvPr/>
        </p:nvSpPr>
        <p:spPr>
          <a:xfrm>
            <a:off x="3072000" y="1175875"/>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Partiamo dal Tetto…</a:t>
            </a:r>
            <a:endParaRPr/>
          </a:p>
        </p:txBody>
      </p:sp>
      <p:sp>
        <p:nvSpPr>
          <p:cNvPr id="761" name="Google Shape;761;p6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67" name="Google Shape;767;p6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768" name="Google Shape;768;p6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a:t>
            </a:r>
            <a:r>
              <a:rPr lang="it" sz="700">
                <a:latin typeface="Lexend"/>
                <a:ea typeface="Lexend"/>
                <a:cs typeface="Lexend"/>
                <a:sym typeface="Lexend"/>
              </a:rPr>
              <a:t> | 51</a:t>
            </a:r>
            <a:endParaRPr sz="700">
              <a:latin typeface="Lexend"/>
              <a:ea typeface="Lexend"/>
              <a:cs typeface="Lexend"/>
              <a:sym typeface="Lexend"/>
            </a:endParaRPr>
          </a:p>
        </p:txBody>
      </p:sp>
      <p:sp>
        <p:nvSpPr>
          <p:cNvPr id="769" name="Google Shape;769;p65"/>
          <p:cNvSpPr txBox="1"/>
          <p:nvPr>
            <p:ph idx="1" type="body"/>
          </p:nvPr>
        </p:nvSpPr>
        <p:spPr>
          <a:xfrm>
            <a:off x="396625" y="1705338"/>
            <a:ext cx="3299700" cy="2821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it" sz="1600">
                <a:solidFill>
                  <a:schemeClr val="dk1"/>
                </a:solidFill>
                <a:latin typeface="Lexend"/>
                <a:ea typeface="Lexend"/>
                <a:cs typeface="Lexend"/>
                <a:sym typeface="Lexend"/>
              </a:rPr>
              <a:t>Metodo EKO</a:t>
            </a:r>
            <a:r>
              <a:rPr lang="it" sz="1600">
                <a:solidFill>
                  <a:schemeClr val="dk1"/>
                </a:solidFill>
                <a:latin typeface="Lexend"/>
                <a:ea typeface="Lexend"/>
                <a:cs typeface="Lexend"/>
                <a:sym typeface="Lexend"/>
              </a:rPr>
              <a:t>: </a:t>
            </a:r>
            <a:endParaRPr sz="16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600">
                <a:solidFill>
                  <a:schemeClr val="dk1"/>
                </a:solidFill>
                <a:latin typeface="Lexend"/>
                <a:ea typeface="Lexend"/>
                <a:cs typeface="Lexend"/>
                <a:sym typeface="Lexend"/>
              </a:rPr>
              <a:t>Quadro di protezione Stringa</a:t>
            </a:r>
            <a:endParaRPr b="1" sz="2508">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38761D"/>
                </a:solidFill>
                <a:latin typeface="Lexend"/>
                <a:ea typeface="Lexend"/>
                <a:cs typeface="Lexend"/>
                <a:sym typeface="Lexend"/>
              </a:rPr>
              <a:t>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Protegge l’inverter e in caso di necessità si cambia solo il fusibile.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b="1" lang="it" sz="1200">
                <a:solidFill>
                  <a:schemeClr val="dk1"/>
                </a:solidFill>
                <a:highlight>
                  <a:srgbClr val="D9EAD3"/>
                </a:highlight>
                <a:latin typeface="Lexend"/>
                <a:ea typeface="Lexend"/>
                <a:cs typeface="Lexend"/>
                <a:sym typeface="Lexend"/>
              </a:rPr>
              <a:t>Tempo di intervento e costo di manutenzione minimo.</a:t>
            </a:r>
            <a:endParaRPr sz="1600">
              <a:solidFill>
                <a:schemeClr val="dk1"/>
              </a:solidFill>
              <a:highlight>
                <a:srgbClr val="D9EAD3"/>
              </a:highlight>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200">
                <a:solidFill>
                  <a:srgbClr val="CC0000"/>
                </a:solidFill>
                <a:latin typeface="Lexend"/>
                <a:ea typeface="Lexend"/>
                <a:cs typeface="Lexend"/>
                <a:sym typeface="Lexend"/>
              </a:rPr>
              <a:t>Svantaggi</a:t>
            </a:r>
            <a:r>
              <a:rPr lang="it"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Richiede tempo di configurazione e installazione quadro dedicato</a:t>
            </a:r>
            <a:endParaRPr sz="2000">
              <a:latin typeface="Lexend"/>
              <a:ea typeface="Lexend"/>
              <a:cs typeface="Lexend"/>
              <a:sym typeface="Lexend"/>
            </a:endParaRPr>
          </a:p>
        </p:txBody>
      </p:sp>
      <p:sp>
        <p:nvSpPr>
          <p:cNvPr id="770" name="Google Shape;770;p65"/>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Dove EKO si differenzia: nell’</a:t>
            </a:r>
            <a:r>
              <a:rPr b="1" lang="it" sz="2200">
                <a:latin typeface="Lexend"/>
                <a:ea typeface="Lexend"/>
                <a:cs typeface="Lexend"/>
                <a:sym typeface="Lexend"/>
              </a:rPr>
              <a:t>installazione</a:t>
            </a:r>
            <a:endParaRPr b="1" sz="2200">
              <a:latin typeface="Lexend"/>
              <a:ea typeface="Lexend"/>
              <a:cs typeface="Lexend"/>
              <a:sym typeface="Lexend"/>
            </a:endParaRPr>
          </a:p>
        </p:txBody>
      </p:sp>
      <p:sp>
        <p:nvSpPr>
          <p:cNvPr id="771" name="Google Shape;771;p65"/>
          <p:cNvSpPr txBox="1"/>
          <p:nvPr/>
        </p:nvSpPr>
        <p:spPr>
          <a:xfrm>
            <a:off x="3072000" y="1175875"/>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 e arriviamo in Casa.</a:t>
            </a:r>
            <a:endParaRPr/>
          </a:p>
        </p:txBody>
      </p:sp>
      <p:pic>
        <p:nvPicPr>
          <p:cNvPr id="772" name="Google Shape;772;p65"/>
          <p:cNvPicPr preferRelativeResize="0"/>
          <p:nvPr/>
        </p:nvPicPr>
        <p:blipFill rotWithShape="1">
          <a:blip r:embed="rId4">
            <a:alphaModFix/>
          </a:blip>
          <a:srcRect b="0" l="24653" r="0" t="0"/>
          <a:stretch/>
        </p:blipFill>
        <p:spPr>
          <a:xfrm>
            <a:off x="3890937" y="1681725"/>
            <a:ext cx="4856428" cy="2845125"/>
          </a:xfrm>
          <a:prstGeom prst="rect">
            <a:avLst/>
          </a:prstGeom>
          <a:noFill/>
          <a:ln>
            <a:noFill/>
          </a:ln>
        </p:spPr>
      </p:pic>
      <p:sp>
        <p:nvSpPr>
          <p:cNvPr id="773" name="Google Shape;773;p6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9" name="Google Shape;779;p66"/>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Dove EKO si differenzia: anche nei </a:t>
            </a:r>
            <a:r>
              <a:rPr b="1" lang="it" sz="2000">
                <a:latin typeface="Lexend"/>
                <a:ea typeface="Lexend"/>
                <a:cs typeface="Lexend"/>
                <a:sym typeface="Lexend"/>
              </a:rPr>
              <a:t>servizi</a:t>
            </a:r>
            <a:endParaRPr b="1" sz="2000">
              <a:latin typeface="Lexend"/>
              <a:ea typeface="Lexend"/>
              <a:cs typeface="Lexend"/>
              <a:sym typeface="Lexend"/>
            </a:endParaRPr>
          </a:p>
        </p:txBody>
      </p:sp>
      <p:sp>
        <p:nvSpPr>
          <p:cNvPr id="780" name="Google Shape;780;p66"/>
          <p:cNvSpPr txBox="1"/>
          <p:nvPr>
            <p:ph type="title"/>
          </p:nvPr>
        </p:nvSpPr>
        <p:spPr>
          <a:xfrm>
            <a:off x="2438838" y="1320700"/>
            <a:ext cx="4266300" cy="4629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it" sz="1000">
                <a:latin typeface="Lexend"/>
                <a:ea typeface="Lexend"/>
                <a:cs typeface="Lexend"/>
                <a:sym typeface="Lexend"/>
              </a:rPr>
              <a:t>Assistenza all’acquisto</a:t>
            </a:r>
            <a:endParaRPr b="1" sz="1000">
              <a:latin typeface="Lexend"/>
              <a:ea typeface="Lexend"/>
              <a:cs typeface="Lexend"/>
              <a:sym typeface="Lexend"/>
            </a:endParaRPr>
          </a:p>
        </p:txBody>
      </p:sp>
      <p:pic>
        <p:nvPicPr>
          <p:cNvPr id="781" name="Google Shape;781;p6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782" name="Google Shape;782;p6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Servizi</a:t>
            </a:r>
            <a:r>
              <a:rPr lang="it" sz="700">
                <a:latin typeface="Lexend"/>
                <a:ea typeface="Lexend"/>
                <a:cs typeface="Lexend"/>
                <a:sym typeface="Lexend"/>
              </a:rPr>
              <a:t> | 52</a:t>
            </a:r>
            <a:endParaRPr sz="700">
              <a:latin typeface="Lexend"/>
              <a:ea typeface="Lexend"/>
              <a:cs typeface="Lexend"/>
              <a:sym typeface="Lexend"/>
            </a:endParaRPr>
          </a:p>
        </p:txBody>
      </p:sp>
      <p:sp>
        <p:nvSpPr>
          <p:cNvPr id="783" name="Google Shape;783;p66"/>
          <p:cNvSpPr/>
          <p:nvPr/>
        </p:nvSpPr>
        <p:spPr>
          <a:xfrm>
            <a:off x="2815038" y="1756313"/>
            <a:ext cx="3513900" cy="462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4" name="Google Shape;784;p66"/>
          <p:cNvSpPr txBox="1"/>
          <p:nvPr>
            <p:ph type="title"/>
          </p:nvPr>
        </p:nvSpPr>
        <p:spPr>
          <a:xfrm>
            <a:off x="3409338" y="1756313"/>
            <a:ext cx="2919600" cy="462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500">
                <a:latin typeface="Lexend"/>
                <a:ea typeface="Lexend"/>
                <a:cs typeface="Lexend"/>
                <a:sym typeface="Lexend"/>
              </a:rPr>
              <a:t>Assistenza Inclusa</a:t>
            </a:r>
            <a:endParaRPr b="1" sz="1500">
              <a:latin typeface="Lexend"/>
              <a:ea typeface="Lexend"/>
              <a:cs typeface="Lexend"/>
              <a:sym typeface="Lexend"/>
            </a:endParaRPr>
          </a:p>
        </p:txBody>
      </p:sp>
      <p:sp>
        <p:nvSpPr>
          <p:cNvPr id="785" name="Google Shape;785;p66"/>
          <p:cNvSpPr/>
          <p:nvPr/>
        </p:nvSpPr>
        <p:spPr>
          <a:xfrm>
            <a:off x="2815038" y="2219213"/>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6" name="Google Shape;786;p66"/>
          <p:cNvPicPr preferRelativeResize="0"/>
          <p:nvPr/>
        </p:nvPicPr>
        <p:blipFill>
          <a:blip r:embed="rId4">
            <a:alphaModFix/>
          </a:blip>
          <a:stretch>
            <a:fillRect/>
          </a:stretch>
        </p:blipFill>
        <p:spPr>
          <a:xfrm>
            <a:off x="2988160" y="1854175"/>
            <a:ext cx="281431" cy="281400"/>
          </a:xfrm>
          <a:prstGeom prst="rect">
            <a:avLst/>
          </a:prstGeom>
          <a:noFill/>
          <a:ln>
            <a:noFill/>
          </a:ln>
        </p:spPr>
      </p:pic>
      <p:sp>
        <p:nvSpPr>
          <p:cNvPr id="787" name="Google Shape;787;p66"/>
          <p:cNvSpPr/>
          <p:nvPr/>
        </p:nvSpPr>
        <p:spPr>
          <a:xfrm>
            <a:off x="2815038" y="2370888"/>
            <a:ext cx="3513900" cy="462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8" name="Google Shape;788;p66"/>
          <p:cNvSpPr txBox="1"/>
          <p:nvPr>
            <p:ph type="title"/>
          </p:nvPr>
        </p:nvSpPr>
        <p:spPr>
          <a:xfrm>
            <a:off x="3409338" y="2370888"/>
            <a:ext cx="2919600" cy="462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500">
                <a:latin typeface="Lexend"/>
                <a:ea typeface="Lexend"/>
                <a:cs typeface="Lexend"/>
                <a:sym typeface="Lexend"/>
              </a:rPr>
              <a:t>Numero Verde Dedicato</a:t>
            </a:r>
            <a:endParaRPr b="1" sz="1500">
              <a:latin typeface="Lexend"/>
              <a:ea typeface="Lexend"/>
              <a:cs typeface="Lexend"/>
              <a:sym typeface="Lexend"/>
            </a:endParaRPr>
          </a:p>
        </p:txBody>
      </p:sp>
      <p:sp>
        <p:nvSpPr>
          <p:cNvPr id="789" name="Google Shape;789;p66"/>
          <p:cNvSpPr/>
          <p:nvPr/>
        </p:nvSpPr>
        <p:spPr>
          <a:xfrm>
            <a:off x="2815038" y="2833788"/>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0" name="Google Shape;790;p66"/>
          <p:cNvSpPr/>
          <p:nvPr/>
        </p:nvSpPr>
        <p:spPr>
          <a:xfrm>
            <a:off x="2815038" y="2980661"/>
            <a:ext cx="3513900" cy="462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1" name="Google Shape;791;p66"/>
          <p:cNvSpPr txBox="1"/>
          <p:nvPr>
            <p:ph type="title"/>
          </p:nvPr>
        </p:nvSpPr>
        <p:spPr>
          <a:xfrm>
            <a:off x="3409338" y="2980661"/>
            <a:ext cx="2919600" cy="462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500">
                <a:latin typeface="Lexend"/>
                <a:ea typeface="Lexend"/>
                <a:cs typeface="Lexend"/>
                <a:sym typeface="Lexend"/>
              </a:rPr>
              <a:t>Pronto Intervento in 72h</a:t>
            </a:r>
            <a:endParaRPr b="1" sz="1500">
              <a:latin typeface="Lexend"/>
              <a:ea typeface="Lexend"/>
              <a:cs typeface="Lexend"/>
              <a:sym typeface="Lexend"/>
            </a:endParaRPr>
          </a:p>
        </p:txBody>
      </p:sp>
      <p:sp>
        <p:nvSpPr>
          <p:cNvPr id="792" name="Google Shape;792;p66"/>
          <p:cNvSpPr/>
          <p:nvPr/>
        </p:nvSpPr>
        <p:spPr>
          <a:xfrm>
            <a:off x="2815038" y="3443561"/>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3" name="Google Shape;793;p66"/>
          <p:cNvPicPr preferRelativeResize="0"/>
          <p:nvPr/>
        </p:nvPicPr>
        <p:blipFill>
          <a:blip r:embed="rId5">
            <a:alphaModFix/>
          </a:blip>
          <a:stretch>
            <a:fillRect/>
          </a:stretch>
        </p:blipFill>
        <p:spPr>
          <a:xfrm>
            <a:off x="2988163" y="3075198"/>
            <a:ext cx="281425" cy="281425"/>
          </a:xfrm>
          <a:prstGeom prst="rect">
            <a:avLst/>
          </a:prstGeom>
          <a:noFill/>
          <a:ln>
            <a:noFill/>
          </a:ln>
        </p:spPr>
      </p:pic>
      <p:pic>
        <p:nvPicPr>
          <p:cNvPr id="794" name="Google Shape;794;p66"/>
          <p:cNvPicPr preferRelativeResize="0"/>
          <p:nvPr/>
        </p:nvPicPr>
        <p:blipFill>
          <a:blip r:embed="rId6">
            <a:alphaModFix/>
          </a:blip>
          <a:stretch>
            <a:fillRect/>
          </a:stretch>
        </p:blipFill>
        <p:spPr>
          <a:xfrm>
            <a:off x="3011461" y="2482527"/>
            <a:ext cx="234834" cy="234812"/>
          </a:xfrm>
          <a:prstGeom prst="rect">
            <a:avLst/>
          </a:prstGeom>
          <a:noFill/>
          <a:ln>
            <a:noFill/>
          </a:ln>
        </p:spPr>
      </p:pic>
      <p:sp>
        <p:nvSpPr>
          <p:cNvPr id="795" name="Google Shape;795;p66"/>
          <p:cNvSpPr/>
          <p:nvPr/>
        </p:nvSpPr>
        <p:spPr>
          <a:xfrm>
            <a:off x="2815038" y="3577914"/>
            <a:ext cx="3513900" cy="9858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66"/>
          <p:cNvSpPr txBox="1"/>
          <p:nvPr>
            <p:ph type="title"/>
          </p:nvPr>
        </p:nvSpPr>
        <p:spPr>
          <a:xfrm>
            <a:off x="3409338" y="3577839"/>
            <a:ext cx="2919600" cy="985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500">
                <a:latin typeface="Lexend"/>
                <a:ea typeface="Lexend"/>
                <a:cs typeface="Lexend"/>
                <a:sym typeface="Lexend"/>
              </a:rPr>
              <a:t>Garanzie Prodotto</a:t>
            </a:r>
            <a:endParaRPr sz="1500">
              <a:latin typeface="Lexend"/>
              <a:ea typeface="Lexend"/>
              <a:cs typeface="Lexend"/>
              <a:sym typeface="Lexend"/>
            </a:endParaRPr>
          </a:p>
          <a:p>
            <a:pPr indent="0" lvl="0" marL="0" rtl="0" algn="l">
              <a:lnSpc>
                <a:spcPct val="115000"/>
              </a:lnSpc>
              <a:spcBef>
                <a:spcPts val="0"/>
              </a:spcBef>
              <a:spcAft>
                <a:spcPts val="0"/>
              </a:spcAft>
              <a:buNone/>
            </a:pPr>
            <a:r>
              <a:rPr lang="it" sz="1100">
                <a:latin typeface="Lexend"/>
                <a:ea typeface="Lexend"/>
                <a:cs typeface="Lexend"/>
                <a:sym typeface="Lexend"/>
              </a:rPr>
              <a:t>25 anni sul Fotovoltaico</a:t>
            </a:r>
            <a:endParaRPr sz="1100">
              <a:latin typeface="Lexend"/>
              <a:ea typeface="Lexend"/>
              <a:cs typeface="Lexend"/>
              <a:sym typeface="Lexend"/>
            </a:endParaRPr>
          </a:p>
          <a:p>
            <a:pPr indent="0" lvl="0" marL="0" rtl="0" algn="l">
              <a:lnSpc>
                <a:spcPct val="115000"/>
              </a:lnSpc>
              <a:spcBef>
                <a:spcPts val="0"/>
              </a:spcBef>
              <a:spcAft>
                <a:spcPts val="0"/>
              </a:spcAft>
              <a:buNone/>
            </a:pPr>
            <a:r>
              <a:rPr lang="it" sz="1100">
                <a:latin typeface="Lexend"/>
                <a:ea typeface="Lexend"/>
                <a:cs typeface="Lexend"/>
                <a:sym typeface="Lexend"/>
              </a:rPr>
              <a:t>10 anni su Inverter e Accumulo</a:t>
            </a:r>
            <a:endParaRPr sz="1100">
              <a:latin typeface="Lexend"/>
              <a:ea typeface="Lexend"/>
              <a:cs typeface="Lexend"/>
              <a:sym typeface="Lexend"/>
            </a:endParaRPr>
          </a:p>
        </p:txBody>
      </p:sp>
      <p:sp>
        <p:nvSpPr>
          <p:cNvPr id="797" name="Google Shape;797;p66"/>
          <p:cNvSpPr/>
          <p:nvPr/>
        </p:nvSpPr>
        <p:spPr>
          <a:xfrm>
            <a:off x="2815038" y="4563636"/>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8" name="Google Shape;798;p66"/>
          <p:cNvPicPr preferRelativeResize="0"/>
          <p:nvPr/>
        </p:nvPicPr>
        <p:blipFill>
          <a:blip r:embed="rId7">
            <a:alphaModFix/>
          </a:blip>
          <a:stretch>
            <a:fillRect/>
          </a:stretch>
        </p:blipFill>
        <p:spPr>
          <a:xfrm>
            <a:off x="2988163" y="3904836"/>
            <a:ext cx="281425" cy="281425"/>
          </a:xfrm>
          <a:prstGeom prst="rect">
            <a:avLst/>
          </a:prstGeom>
          <a:noFill/>
          <a:ln>
            <a:noFill/>
          </a:ln>
        </p:spPr>
      </p:pic>
      <p:sp>
        <p:nvSpPr>
          <p:cNvPr id="799" name="Google Shape;799;p6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grpSp>
        <p:nvGrpSpPr>
          <p:cNvPr id="804" name="Google Shape;804;p67"/>
          <p:cNvGrpSpPr/>
          <p:nvPr/>
        </p:nvGrpSpPr>
        <p:grpSpPr>
          <a:xfrm>
            <a:off x="1178784" y="3005285"/>
            <a:ext cx="2097456" cy="1643399"/>
            <a:chOff x="4942010" y="1812775"/>
            <a:chExt cx="3513915" cy="878400"/>
          </a:xfrm>
        </p:grpSpPr>
        <p:sp>
          <p:nvSpPr>
            <p:cNvPr id="805" name="Google Shape;805;p67"/>
            <p:cNvSpPr/>
            <p:nvPr/>
          </p:nvSpPr>
          <p:spPr>
            <a:xfrm>
              <a:off x="4942025" y="1812775"/>
              <a:ext cx="3513900" cy="8784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6" name="Google Shape;806;p67"/>
            <p:cNvSpPr/>
            <p:nvPr/>
          </p:nvSpPr>
          <p:spPr>
            <a:xfrm>
              <a:off x="4942010" y="2665876"/>
              <a:ext cx="3513900" cy="25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07" name="Google Shape;807;p6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67"/>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Dove EKO si differenzia: anche nei </a:t>
            </a:r>
            <a:r>
              <a:rPr b="1" lang="it" sz="2000">
                <a:latin typeface="Lexend"/>
                <a:ea typeface="Lexend"/>
                <a:cs typeface="Lexend"/>
                <a:sym typeface="Lexend"/>
              </a:rPr>
              <a:t>servizi</a:t>
            </a:r>
            <a:endParaRPr b="1" sz="2000">
              <a:latin typeface="Lexend"/>
              <a:ea typeface="Lexend"/>
              <a:cs typeface="Lexend"/>
              <a:sym typeface="Lexend"/>
            </a:endParaRPr>
          </a:p>
        </p:txBody>
      </p:sp>
      <p:sp>
        <p:nvSpPr>
          <p:cNvPr id="809" name="Google Shape;809;p67"/>
          <p:cNvSpPr txBox="1"/>
          <p:nvPr>
            <p:ph type="title"/>
          </p:nvPr>
        </p:nvSpPr>
        <p:spPr>
          <a:xfrm>
            <a:off x="2438838" y="1320700"/>
            <a:ext cx="4266300" cy="4629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it" sz="1000">
                <a:latin typeface="Lexend"/>
                <a:ea typeface="Lexend"/>
                <a:cs typeface="Lexend"/>
                <a:sym typeface="Lexend"/>
              </a:rPr>
              <a:t>Pacchetti Assistenza Aggiuntivi</a:t>
            </a:r>
            <a:endParaRPr b="1" sz="1000">
              <a:latin typeface="Lexend"/>
              <a:ea typeface="Lexend"/>
              <a:cs typeface="Lexend"/>
              <a:sym typeface="Lexend"/>
            </a:endParaRPr>
          </a:p>
        </p:txBody>
      </p:sp>
      <p:sp>
        <p:nvSpPr>
          <p:cNvPr id="810" name="Google Shape;810;p67"/>
          <p:cNvSpPr txBox="1"/>
          <p:nvPr>
            <p:ph type="title"/>
          </p:nvPr>
        </p:nvSpPr>
        <p:spPr>
          <a:xfrm>
            <a:off x="1178775" y="3157613"/>
            <a:ext cx="2097600" cy="14430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it" sz="789">
                <a:latin typeface="Lexend"/>
                <a:ea typeface="Lexend"/>
                <a:cs typeface="Lexend"/>
                <a:sym typeface="Lexend"/>
              </a:rPr>
              <a:t>Manutenzione</a:t>
            </a:r>
            <a:endParaRPr sz="789">
              <a:latin typeface="Lexend"/>
              <a:ea typeface="Lexend"/>
              <a:cs typeface="Lexend"/>
              <a:sym typeface="Lexend"/>
            </a:endParaRPr>
          </a:p>
          <a:p>
            <a:pPr indent="0" lvl="0" marL="0" rtl="0" algn="ctr">
              <a:lnSpc>
                <a:spcPct val="115000"/>
              </a:lnSpc>
              <a:spcBef>
                <a:spcPts val="0"/>
              </a:spcBef>
              <a:spcAft>
                <a:spcPts val="0"/>
              </a:spcAft>
              <a:buNone/>
            </a:pPr>
            <a:r>
              <a:rPr b="1" lang="it" sz="2011">
                <a:latin typeface="Lexend"/>
                <a:ea typeface="Lexend"/>
                <a:cs typeface="Lexend"/>
                <a:sym typeface="Lexend"/>
              </a:rPr>
              <a:t>SILVER</a:t>
            </a:r>
            <a:endParaRPr b="1" sz="2011">
              <a:latin typeface="Lexend"/>
              <a:ea typeface="Lexend"/>
              <a:cs typeface="Lexend"/>
              <a:sym typeface="Lexend"/>
            </a:endParaRPr>
          </a:p>
          <a:p>
            <a:pPr indent="0" lvl="0" marL="0" rtl="0" algn="ctr">
              <a:lnSpc>
                <a:spcPct val="115000"/>
              </a:lnSpc>
              <a:spcBef>
                <a:spcPts val="0"/>
              </a:spcBef>
              <a:spcAft>
                <a:spcPts val="0"/>
              </a:spcAft>
              <a:buNone/>
            </a:pPr>
            <a:r>
              <a:rPr lang="it" sz="1122">
                <a:latin typeface="Lexend"/>
                <a:ea typeface="Lexend"/>
                <a:cs typeface="Lexend"/>
                <a:sym typeface="Lexend"/>
              </a:rPr>
              <a:t>1350,00€ + iva</a:t>
            </a:r>
            <a:endParaRPr sz="1122">
              <a:latin typeface="Lexend"/>
              <a:ea typeface="Lexend"/>
              <a:cs typeface="Lexend"/>
              <a:sym typeface="Lexend"/>
            </a:endParaRPr>
          </a:p>
          <a:p>
            <a:pPr indent="0" lvl="0" marL="0" rtl="0" algn="ctr">
              <a:lnSpc>
                <a:spcPct val="115000"/>
              </a:lnSpc>
              <a:spcBef>
                <a:spcPts val="0"/>
              </a:spcBef>
              <a:spcAft>
                <a:spcPts val="0"/>
              </a:spcAft>
              <a:buNone/>
            </a:pPr>
            <a:r>
              <a:rPr lang="it" sz="1122">
                <a:latin typeface="Lexend"/>
                <a:ea typeface="Lexend"/>
                <a:cs typeface="Lexend"/>
                <a:sym typeface="Lexend"/>
              </a:rPr>
              <a:t>450,00€/Anno x 3 anni</a:t>
            </a:r>
            <a:endParaRPr sz="1122">
              <a:latin typeface="Lexend"/>
              <a:ea typeface="Lexend"/>
              <a:cs typeface="Lexend"/>
              <a:sym typeface="Lexend"/>
            </a:endParaRPr>
          </a:p>
        </p:txBody>
      </p:sp>
      <p:pic>
        <p:nvPicPr>
          <p:cNvPr id="811" name="Google Shape;811;p6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12" name="Google Shape;812;p6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Servizi | 53</a:t>
            </a:r>
            <a:endParaRPr sz="700">
              <a:latin typeface="Lexend"/>
              <a:ea typeface="Lexend"/>
              <a:cs typeface="Lexend"/>
              <a:sym typeface="Lexend"/>
            </a:endParaRPr>
          </a:p>
        </p:txBody>
      </p:sp>
      <p:pic>
        <p:nvPicPr>
          <p:cNvPr id="813" name="Google Shape;813;p67"/>
          <p:cNvPicPr preferRelativeResize="0"/>
          <p:nvPr/>
        </p:nvPicPr>
        <p:blipFill>
          <a:blip r:embed="rId4">
            <a:alphaModFix/>
          </a:blip>
          <a:stretch>
            <a:fillRect/>
          </a:stretch>
        </p:blipFill>
        <p:spPr>
          <a:xfrm>
            <a:off x="1096313" y="1583485"/>
            <a:ext cx="2262506" cy="2068198"/>
          </a:xfrm>
          <a:prstGeom prst="rect">
            <a:avLst/>
          </a:prstGeom>
          <a:noFill/>
          <a:ln>
            <a:noFill/>
          </a:ln>
        </p:spPr>
      </p:pic>
      <p:grpSp>
        <p:nvGrpSpPr>
          <p:cNvPr id="814" name="Google Shape;814;p67"/>
          <p:cNvGrpSpPr/>
          <p:nvPr/>
        </p:nvGrpSpPr>
        <p:grpSpPr>
          <a:xfrm>
            <a:off x="3540534" y="3005285"/>
            <a:ext cx="2097456" cy="1643399"/>
            <a:chOff x="4942010" y="1812775"/>
            <a:chExt cx="3513915" cy="878400"/>
          </a:xfrm>
        </p:grpSpPr>
        <p:sp>
          <p:nvSpPr>
            <p:cNvPr id="815" name="Google Shape;815;p67"/>
            <p:cNvSpPr/>
            <p:nvPr/>
          </p:nvSpPr>
          <p:spPr>
            <a:xfrm>
              <a:off x="4942025" y="1812775"/>
              <a:ext cx="3513900" cy="8784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67"/>
            <p:cNvSpPr/>
            <p:nvPr/>
          </p:nvSpPr>
          <p:spPr>
            <a:xfrm>
              <a:off x="4942010" y="2665876"/>
              <a:ext cx="3513900" cy="25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17" name="Google Shape;817;p67"/>
          <p:cNvSpPr txBox="1"/>
          <p:nvPr>
            <p:ph type="title"/>
          </p:nvPr>
        </p:nvSpPr>
        <p:spPr>
          <a:xfrm>
            <a:off x="3540525" y="3157613"/>
            <a:ext cx="2097600" cy="14430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it" sz="789">
                <a:latin typeface="Lexend"/>
                <a:ea typeface="Lexend"/>
                <a:cs typeface="Lexend"/>
                <a:sym typeface="Lexend"/>
              </a:rPr>
              <a:t>Manutenzione</a:t>
            </a:r>
            <a:endParaRPr sz="789">
              <a:latin typeface="Lexend"/>
              <a:ea typeface="Lexend"/>
              <a:cs typeface="Lexend"/>
              <a:sym typeface="Lexend"/>
            </a:endParaRPr>
          </a:p>
          <a:p>
            <a:pPr indent="0" lvl="0" marL="0" rtl="0" algn="ctr">
              <a:lnSpc>
                <a:spcPct val="115000"/>
              </a:lnSpc>
              <a:spcBef>
                <a:spcPts val="0"/>
              </a:spcBef>
              <a:spcAft>
                <a:spcPts val="0"/>
              </a:spcAft>
              <a:buNone/>
            </a:pPr>
            <a:r>
              <a:rPr b="1" lang="it" sz="2011">
                <a:latin typeface="Lexend"/>
                <a:ea typeface="Lexend"/>
                <a:cs typeface="Lexend"/>
                <a:sym typeface="Lexend"/>
              </a:rPr>
              <a:t>GOLD</a:t>
            </a:r>
            <a:endParaRPr b="1" sz="2011">
              <a:latin typeface="Lexend"/>
              <a:ea typeface="Lexend"/>
              <a:cs typeface="Lexend"/>
              <a:sym typeface="Lexend"/>
            </a:endParaRPr>
          </a:p>
          <a:p>
            <a:pPr indent="0" lvl="0" marL="0" rtl="0" algn="ctr">
              <a:lnSpc>
                <a:spcPct val="115000"/>
              </a:lnSpc>
              <a:spcBef>
                <a:spcPts val="0"/>
              </a:spcBef>
              <a:spcAft>
                <a:spcPts val="0"/>
              </a:spcAft>
              <a:buClr>
                <a:schemeClr val="dk1"/>
              </a:buClr>
              <a:buSzPts val="1100"/>
              <a:buFont typeface="Arial"/>
              <a:buNone/>
            </a:pPr>
            <a:r>
              <a:rPr lang="it" sz="1122">
                <a:latin typeface="Lexend"/>
                <a:ea typeface="Lexend"/>
                <a:cs typeface="Lexend"/>
                <a:sym typeface="Lexend"/>
              </a:rPr>
              <a:t>1650,00€ + iva</a:t>
            </a:r>
            <a:endParaRPr sz="1122">
              <a:latin typeface="Lexend"/>
              <a:ea typeface="Lexend"/>
              <a:cs typeface="Lexend"/>
              <a:sym typeface="Lexend"/>
            </a:endParaRPr>
          </a:p>
          <a:p>
            <a:pPr indent="0" lvl="0" marL="0" rtl="0" algn="ctr">
              <a:lnSpc>
                <a:spcPct val="115000"/>
              </a:lnSpc>
              <a:spcBef>
                <a:spcPts val="0"/>
              </a:spcBef>
              <a:spcAft>
                <a:spcPts val="0"/>
              </a:spcAft>
              <a:buClr>
                <a:schemeClr val="dk1"/>
              </a:buClr>
              <a:buSzPts val="1100"/>
              <a:buFont typeface="Arial"/>
              <a:buNone/>
            </a:pPr>
            <a:r>
              <a:rPr lang="it" sz="1122">
                <a:latin typeface="Lexend"/>
                <a:ea typeface="Lexend"/>
                <a:cs typeface="Lexend"/>
                <a:sym typeface="Lexend"/>
              </a:rPr>
              <a:t>550,00€/Anno x 3 anni</a:t>
            </a:r>
            <a:endParaRPr sz="1122">
              <a:latin typeface="Lexend"/>
              <a:ea typeface="Lexend"/>
              <a:cs typeface="Lexend"/>
              <a:sym typeface="Lexend"/>
            </a:endParaRPr>
          </a:p>
        </p:txBody>
      </p:sp>
      <p:pic>
        <p:nvPicPr>
          <p:cNvPr id="818" name="Google Shape;818;p67"/>
          <p:cNvPicPr preferRelativeResize="0"/>
          <p:nvPr/>
        </p:nvPicPr>
        <p:blipFill>
          <a:blip r:embed="rId5">
            <a:alphaModFix/>
          </a:blip>
          <a:stretch>
            <a:fillRect/>
          </a:stretch>
        </p:blipFill>
        <p:spPr>
          <a:xfrm>
            <a:off x="3492587" y="1615113"/>
            <a:ext cx="2193343" cy="2004949"/>
          </a:xfrm>
          <a:prstGeom prst="rect">
            <a:avLst/>
          </a:prstGeom>
          <a:noFill/>
          <a:ln>
            <a:noFill/>
          </a:ln>
        </p:spPr>
      </p:pic>
      <p:grpSp>
        <p:nvGrpSpPr>
          <p:cNvPr id="819" name="Google Shape;819;p67"/>
          <p:cNvGrpSpPr/>
          <p:nvPr/>
        </p:nvGrpSpPr>
        <p:grpSpPr>
          <a:xfrm>
            <a:off x="5867634" y="3005285"/>
            <a:ext cx="2097456" cy="1643399"/>
            <a:chOff x="4942010" y="1812775"/>
            <a:chExt cx="3513915" cy="878400"/>
          </a:xfrm>
        </p:grpSpPr>
        <p:sp>
          <p:nvSpPr>
            <p:cNvPr id="820" name="Google Shape;820;p67"/>
            <p:cNvSpPr/>
            <p:nvPr/>
          </p:nvSpPr>
          <p:spPr>
            <a:xfrm>
              <a:off x="4942025" y="1812775"/>
              <a:ext cx="3513900" cy="8784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1" name="Google Shape;821;p67"/>
            <p:cNvSpPr/>
            <p:nvPr/>
          </p:nvSpPr>
          <p:spPr>
            <a:xfrm>
              <a:off x="4942010" y="2665876"/>
              <a:ext cx="3513900" cy="25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22" name="Google Shape;822;p67"/>
          <p:cNvSpPr txBox="1"/>
          <p:nvPr>
            <p:ph type="title"/>
          </p:nvPr>
        </p:nvSpPr>
        <p:spPr>
          <a:xfrm>
            <a:off x="5867625" y="3157613"/>
            <a:ext cx="2097600" cy="14430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it" sz="789">
                <a:latin typeface="Lexend"/>
                <a:ea typeface="Lexend"/>
                <a:cs typeface="Lexend"/>
                <a:sym typeface="Lexend"/>
              </a:rPr>
              <a:t>Manutenzione</a:t>
            </a:r>
            <a:endParaRPr sz="789">
              <a:latin typeface="Lexend"/>
              <a:ea typeface="Lexend"/>
              <a:cs typeface="Lexend"/>
              <a:sym typeface="Lexend"/>
            </a:endParaRPr>
          </a:p>
          <a:p>
            <a:pPr indent="0" lvl="0" marL="0" rtl="0" algn="ctr">
              <a:lnSpc>
                <a:spcPct val="115000"/>
              </a:lnSpc>
              <a:spcBef>
                <a:spcPts val="0"/>
              </a:spcBef>
              <a:spcAft>
                <a:spcPts val="0"/>
              </a:spcAft>
              <a:buNone/>
            </a:pPr>
            <a:r>
              <a:rPr b="1" lang="it" sz="2011">
                <a:latin typeface="Lexend"/>
                <a:ea typeface="Lexend"/>
                <a:cs typeface="Lexend"/>
                <a:sym typeface="Lexend"/>
              </a:rPr>
              <a:t>PLATINUM</a:t>
            </a:r>
            <a:endParaRPr b="1" sz="2011">
              <a:latin typeface="Lexend"/>
              <a:ea typeface="Lexend"/>
              <a:cs typeface="Lexend"/>
              <a:sym typeface="Lexend"/>
            </a:endParaRPr>
          </a:p>
          <a:p>
            <a:pPr indent="0" lvl="0" marL="0" rtl="0" algn="ctr">
              <a:lnSpc>
                <a:spcPct val="115000"/>
              </a:lnSpc>
              <a:spcBef>
                <a:spcPts val="0"/>
              </a:spcBef>
              <a:spcAft>
                <a:spcPts val="0"/>
              </a:spcAft>
              <a:buNone/>
            </a:pPr>
            <a:r>
              <a:rPr lang="it" sz="1122">
                <a:latin typeface="Lexend"/>
                <a:ea typeface="Lexend"/>
                <a:cs typeface="Lexend"/>
                <a:sym typeface="Lexend"/>
              </a:rPr>
              <a:t>2400,00€ + iva</a:t>
            </a:r>
            <a:endParaRPr sz="1122">
              <a:latin typeface="Lexend"/>
              <a:ea typeface="Lexend"/>
              <a:cs typeface="Lexend"/>
              <a:sym typeface="Lexend"/>
            </a:endParaRPr>
          </a:p>
          <a:p>
            <a:pPr indent="0" lvl="0" marL="0" rtl="0" algn="ctr">
              <a:lnSpc>
                <a:spcPct val="115000"/>
              </a:lnSpc>
              <a:spcBef>
                <a:spcPts val="0"/>
              </a:spcBef>
              <a:spcAft>
                <a:spcPts val="0"/>
              </a:spcAft>
              <a:buNone/>
            </a:pPr>
            <a:r>
              <a:rPr lang="it" sz="1122">
                <a:latin typeface="Lexend"/>
                <a:ea typeface="Lexend"/>
                <a:cs typeface="Lexend"/>
                <a:sym typeface="Lexend"/>
              </a:rPr>
              <a:t>800,00€/Anno x 3 anni</a:t>
            </a:r>
            <a:endParaRPr sz="1122">
              <a:latin typeface="Lexend"/>
              <a:ea typeface="Lexend"/>
              <a:cs typeface="Lexend"/>
              <a:sym typeface="Lexend"/>
            </a:endParaRPr>
          </a:p>
        </p:txBody>
      </p:sp>
      <p:pic>
        <p:nvPicPr>
          <p:cNvPr id="823" name="Google Shape;823;p67"/>
          <p:cNvPicPr preferRelativeResize="0"/>
          <p:nvPr/>
        </p:nvPicPr>
        <p:blipFill rotWithShape="1">
          <a:blip r:embed="rId6">
            <a:alphaModFix/>
          </a:blip>
          <a:srcRect b="0" l="0" r="0" t="0"/>
          <a:stretch/>
        </p:blipFill>
        <p:spPr>
          <a:xfrm>
            <a:off x="5785163" y="1583515"/>
            <a:ext cx="2262501" cy="2068133"/>
          </a:xfrm>
          <a:prstGeom prst="rect">
            <a:avLst/>
          </a:prstGeom>
          <a:noFill/>
          <a:ln>
            <a:noFill/>
          </a:ln>
        </p:spPr>
      </p:pic>
      <p:sp>
        <p:nvSpPr>
          <p:cNvPr id="824" name="Google Shape;824;p6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6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68"/>
          <p:cNvSpPr txBox="1"/>
          <p:nvPr>
            <p:ph type="title"/>
          </p:nvPr>
        </p:nvSpPr>
        <p:spPr>
          <a:xfrm>
            <a:off x="311700" y="10891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Tempistiche</a:t>
            </a:r>
            <a:r>
              <a:rPr lang="it" sz="2000">
                <a:latin typeface="Lexend"/>
                <a:ea typeface="Lexend"/>
                <a:cs typeface="Lexend"/>
                <a:sym typeface="Lexend"/>
              </a:rPr>
              <a:t> di Installazione fotovoltaico</a:t>
            </a:r>
            <a:endParaRPr b="1" sz="2000">
              <a:latin typeface="Lexend"/>
              <a:ea typeface="Lexend"/>
              <a:cs typeface="Lexend"/>
              <a:sym typeface="Lexend"/>
            </a:endParaRPr>
          </a:p>
        </p:txBody>
      </p:sp>
      <p:pic>
        <p:nvPicPr>
          <p:cNvPr id="831" name="Google Shape;831;p6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32" name="Google Shape;832;p6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Tempistiche di Installazione</a:t>
            </a:r>
            <a:r>
              <a:rPr lang="it" sz="700">
                <a:latin typeface="Lexend"/>
                <a:ea typeface="Lexend"/>
                <a:cs typeface="Lexend"/>
                <a:sym typeface="Lexend"/>
              </a:rPr>
              <a:t> | 54</a:t>
            </a:r>
            <a:endParaRPr sz="700">
              <a:latin typeface="Lexend"/>
              <a:ea typeface="Lexend"/>
              <a:cs typeface="Lexend"/>
              <a:sym typeface="Lexend"/>
            </a:endParaRPr>
          </a:p>
        </p:txBody>
      </p:sp>
      <p:sp>
        <p:nvSpPr>
          <p:cNvPr id="833" name="Google Shape;833;p68"/>
          <p:cNvSpPr/>
          <p:nvPr/>
        </p:nvSpPr>
        <p:spPr>
          <a:xfrm>
            <a:off x="1751850" y="1860175"/>
            <a:ext cx="5640300" cy="990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4" name="Google Shape;834;p68"/>
          <p:cNvSpPr txBox="1"/>
          <p:nvPr>
            <p:ph type="title"/>
          </p:nvPr>
        </p:nvSpPr>
        <p:spPr>
          <a:xfrm>
            <a:off x="2346150" y="1860175"/>
            <a:ext cx="5046000" cy="990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2000">
                <a:latin typeface="Lexend"/>
                <a:ea typeface="Lexend"/>
                <a:cs typeface="Lexend"/>
                <a:sym typeface="Lexend"/>
              </a:rPr>
              <a:t>2 Giorni</a:t>
            </a:r>
            <a:endParaRPr sz="2000">
              <a:latin typeface="Lexend"/>
              <a:ea typeface="Lexend"/>
              <a:cs typeface="Lexend"/>
              <a:sym typeface="Lexend"/>
            </a:endParaRPr>
          </a:p>
          <a:p>
            <a:pPr indent="0" lvl="0" marL="0" rtl="0" algn="l">
              <a:lnSpc>
                <a:spcPct val="115000"/>
              </a:lnSpc>
              <a:spcBef>
                <a:spcPts val="0"/>
              </a:spcBef>
              <a:spcAft>
                <a:spcPts val="0"/>
              </a:spcAft>
              <a:buNone/>
            </a:pPr>
            <a:r>
              <a:rPr b="1" lang="it" sz="1400">
                <a:latin typeface="Lexend"/>
                <a:ea typeface="Lexend"/>
                <a:cs typeface="Lexend"/>
                <a:sym typeface="Lexend"/>
              </a:rPr>
              <a:t>Installazione del fotovoltaico.</a:t>
            </a:r>
            <a:endParaRPr b="1" sz="1400">
              <a:latin typeface="Lexend"/>
              <a:ea typeface="Lexend"/>
              <a:cs typeface="Lexend"/>
              <a:sym typeface="Lexend"/>
            </a:endParaRPr>
          </a:p>
        </p:txBody>
      </p:sp>
      <p:sp>
        <p:nvSpPr>
          <p:cNvPr id="835" name="Google Shape;835;p68"/>
          <p:cNvSpPr/>
          <p:nvPr/>
        </p:nvSpPr>
        <p:spPr>
          <a:xfrm>
            <a:off x="1751850" y="2841325"/>
            <a:ext cx="56403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36" name="Google Shape;836;p68"/>
          <p:cNvPicPr preferRelativeResize="0"/>
          <p:nvPr/>
        </p:nvPicPr>
        <p:blipFill>
          <a:blip r:embed="rId4">
            <a:alphaModFix/>
          </a:blip>
          <a:stretch>
            <a:fillRect/>
          </a:stretch>
        </p:blipFill>
        <p:spPr>
          <a:xfrm>
            <a:off x="1917473" y="2201313"/>
            <a:ext cx="308625" cy="308625"/>
          </a:xfrm>
          <a:prstGeom prst="rect">
            <a:avLst/>
          </a:prstGeom>
          <a:noFill/>
          <a:ln>
            <a:noFill/>
          </a:ln>
        </p:spPr>
      </p:pic>
      <p:sp>
        <p:nvSpPr>
          <p:cNvPr id="837" name="Google Shape;837;p68"/>
          <p:cNvSpPr/>
          <p:nvPr/>
        </p:nvSpPr>
        <p:spPr>
          <a:xfrm>
            <a:off x="1751850" y="3053450"/>
            <a:ext cx="5640300" cy="990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8" name="Google Shape;838;p68"/>
          <p:cNvSpPr txBox="1"/>
          <p:nvPr>
            <p:ph type="title"/>
          </p:nvPr>
        </p:nvSpPr>
        <p:spPr>
          <a:xfrm>
            <a:off x="2346150" y="3053450"/>
            <a:ext cx="5046000" cy="990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2000">
                <a:latin typeface="Lexend"/>
                <a:ea typeface="Lexend"/>
                <a:cs typeface="Lexend"/>
                <a:sym typeface="Lexend"/>
              </a:rPr>
              <a:t>in 30</a:t>
            </a:r>
            <a:r>
              <a:rPr lang="it" sz="2000">
                <a:latin typeface="Lexend"/>
                <a:ea typeface="Lexend"/>
                <a:cs typeface="Lexend"/>
                <a:sym typeface="Lexend"/>
              </a:rPr>
              <a:t> Giorni</a:t>
            </a:r>
            <a:endParaRPr sz="2000">
              <a:latin typeface="Lexend"/>
              <a:ea typeface="Lexend"/>
              <a:cs typeface="Lexend"/>
              <a:sym typeface="Lexend"/>
            </a:endParaRPr>
          </a:p>
          <a:p>
            <a:pPr indent="0" lvl="0" marL="0" rtl="0" algn="l">
              <a:lnSpc>
                <a:spcPct val="115000"/>
              </a:lnSpc>
              <a:spcBef>
                <a:spcPts val="0"/>
              </a:spcBef>
              <a:spcAft>
                <a:spcPts val="0"/>
              </a:spcAft>
              <a:buNone/>
            </a:pPr>
            <a:r>
              <a:rPr b="1" lang="it" sz="1400">
                <a:latin typeface="Lexend"/>
                <a:ea typeface="Lexend"/>
                <a:cs typeface="Lexend"/>
                <a:sym typeface="Lexend"/>
              </a:rPr>
              <a:t>dalla firma del contratto è sul tuo tetto funzionante.</a:t>
            </a:r>
            <a:endParaRPr b="1" sz="1400">
              <a:latin typeface="Lexend"/>
              <a:ea typeface="Lexend"/>
              <a:cs typeface="Lexend"/>
              <a:sym typeface="Lexend"/>
            </a:endParaRPr>
          </a:p>
        </p:txBody>
      </p:sp>
      <p:sp>
        <p:nvSpPr>
          <p:cNvPr id="839" name="Google Shape;839;p68"/>
          <p:cNvSpPr/>
          <p:nvPr/>
        </p:nvSpPr>
        <p:spPr>
          <a:xfrm>
            <a:off x="1751850" y="4034600"/>
            <a:ext cx="56403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40" name="Google Shape;840;p68"/>
          <p:cNvPicPr preferRelativeResize="0"/>
          <p:nvPr/>
        </p:nvPicPr>
        <p:blipFill>
          <a:blip r:embed="rId5">
            <a:alphaModFix/>
          </a:blip>
          <a:stretch>
            <a:fillRect/>
          </a:stretch>
        </p:blipFill>
        <p:spPr>
          <a:xfrm>
            <a:off x="1905400" y="3382499"/>
            <a:ext cx="332800" cy="332800"/>
          </a:xfrm>
          <a:prstGeom prst="rect">
            <a:avLst/>
          </a:prstGeom>
          <a:noFill/>
          <a:ln>
            <a:noFill/>
          </a:ln>
        </p:spPr>
      </p:pic>
      <p:sp>
        <p:nvSpPr>
          <p:cNvPr id="841" name="Google Shape;841;p6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pic>
        <p:nvPicPr>
          <p:cNvPr id="846" name="Google Shape;846;p69"/>
          <p:cNvPicPr preferRelativeResize="0"/>
          <p:nvPr/>
        </p:nvPicPr>
        <p:blipFill>
          <a:blip r:embed="rId3">
            <a:alphaModFix/>
          </a:blip>
          <a:stretch>
            <a:fillRect/>
          </a:stretch>
        </p:blipFill>
        <p:spPr>
          <a:xfrm>
            <a:off x="0" y="0"/>
            <a:ext cx="9144003" cy="5143501"/>
          </a:xfrm>
          <a:prstGeom prst="rect">
            <a:avLst/>
          </a:prstGeom>
          <a:noFill/>
          <a:ln>
            <a:noFill/>
          </a:ln>
        </p:spPr>
      </p:pic>
      <p:sp>
        <p:nvSpPr>
          <p:cNvPr id="847" name="Google Shape;847;p69"/>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solidFill>
                  <a:schemeClr val="lt1"/>
                </a:solidFill>
                <a:latin typeface="Lexend"/>
                <a:ea typeface="Lexend"/>
                <a:cs typeface="Lexend"/>
                <a:sym typeface="Lexend"/>
              </a:rPr>
              <a:t>Area Commerciale</a:t>
            </a:r>
            <a:endParaRPr sz="7000">
              <a:solidFill>
                <a:schemeClr val="lt1"/>
              </a:solidFill>
              <a:latin typeface="Lexend"/>
              <a:ea typeface="Lexend"/>
              <a:cs typeface="Lexend"/>
              <a:sym typeface="Lexend"/>
            </a:endParaRPr>
          </a:p>
        </p:txBody>
      </p:sp>
      <p:sp>
        <p:nvSpPr>
          <p:cNvPr id="848" name="Google Shape;848;p69"/>
          <p:cNvSpPr txBox="1"/>
          <p:nvPr>
            <p:ph idx="1" type="subTitle"/>
          </p:nvPr>
        </p:nvSpPr>
        <p:spPr>
          <a:xfrm>
            <a:off x="311700" y="2829350"/>
            <a:ext cx="8520600" cy="456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2000">
                <a:solidFill>
                  <a:schemeClr val="lt1"/>
                </a:solidFill>
                <a:latin typeface="Lexend"/>
                <a:ea typeface="Lexend"/>
                <a:cs typeface="Lexend"/>
                <a:sym typeface="Lexend"/>
              </a:rPr>
              <a:t>il fotovoltaico per la casa</a:t>
            </a:r>
            <a:endParaRPr sz="2000">
              <a:solidFill>
                <a:schemeClr val="lt1"/>
              </a:solidFill>
              <a:latin typeface="Lexend"/>
              <a:ea typeface="Lexend"/>
              <a:cs typeface="Lexend"/>
              <a:sym typeface="Lexend"/>
            </a:endParaRPr>
          </a:p>
        </p:txBody>
      </p:sp>
      <p:sp>
        <p:nvSpPr>
          <p:cNvPr id="849" name="Google Shape;849;p6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0" name="Google Shape;850;p69"/>
          <p:cNvSpPr/>
          <p:nvPr/>
        </p:nvSpPr>
        <p:spPr>
          <a:xfrm>
            <a:off x="4032900" y="4346425"/>
            <a:ext cx="1078200" cy="7971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51" name="Google Shape;851;p69"/>
          <p:cNvPicPr preferRelativeResize="0"/>
          <p:nvPr/>
        </p:nvPicPr>
        <p:blipFill rotWithShape="1">
          <a:blip r:embed="rId4">
            <a:alphaModFix/>
          </a:blip>
          <a:srcRect b="0" l="0" r="0" t="0"/>
          <a:stretch/>
        </p:blipFill>
        <p:spPr>
          <a:xfrm>
            <a:off x="4290378" y="4463349"/>
            <a:ext cx="563250" cy="5632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7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7" name="Google Shape;857;p70"/>
          <p:cNvSpPr txBox="1"/>
          <p:nvPr>
            <p:ph type="title"/>
          </p:nvPr>
        </p:nvSpPr>
        <p:spPr>
          <a:xfrm>
            <a:off x="311700" y="10112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Come </a:t>
            </a:r>
            <a:r>
              <a:rPr b="1" lang="it" sz="2200">
                <a:latin typeface="Lexend"/>
                <a:ea typeface="Lexend"/>
                <a:cs typeface="Lexend"/>
                <a:sym typeface="Lexend"/>
              </a:rPr>
              <a:t>dimensionare correttamente un’impianto</a:t>
            </a:r>
            <a:endParaRPr b="1" sz="2200">
              <a:latin typeface="Lexend"/>
              <a:ea typeface="Lexend"/>
              <a:cs typeface="Lexend"/>
              <a:sym typeface="Lexend"/>
            </a:endParaRPr>
          </a:p>
        </p:txBody>
      </p:sp>
      <p:sp>
        <p:nvSpPr>
          <p:cNvPr id="858" name="Google Shape;858;p70"/>
          <p:cNvSpPr txBox="1"/>
          <p:nvPr/>
        </p:nvSpPr>
        <p:spPr>
          <a:xfrm>
            <a:off x="714300" y="1715750"/>
            <a:ext cx="7715400" cy="285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it">
                <a:solidFill>
                  <a:schemeClr val="dk1"/>
                </a:solidFill>
                <a:latin typeface="Lexend"/>
                <a:ea typeface="Lexend"/>
                <a:cs typeface="Lexend"/>
                <a:sym typeface="Lexend"/>
              </a:rPr>
              <a:t>Analisi bolletta per il dimensionamento dell'impianto fotovoltaico:</a:t>
            </a:r>
            <a:endParaRPr b="1">
              <a:solidFill>
                <a:schemeClr val="dk1"/>
              </a:solidFill>
              <a:latin typeface="Lexend"/>
              <a:ea typeface="Lexend"/>
              <a:cs typeface="Lexend"/>
              <a:sym typeface="Lexend"/>
            </a:endParaRPr>
          </a:p>
          <a:p>
            <a:pPr indent="-317500" lvl="0" marL="457200" rtl="0" algn="l">
              <a:lnSpc>
                <a:spcPct val="115000"/>
              </a:lnSpc>
              <a:spcBef>
                <a:spcPts val="1200"/>
              </a:spcBef>
              <a:spcAft>
                <a:spcPts val="0"/>
              </a:spcAft>
              <a:buClr>
                <a:schemeClr val="dk1"/>
              </a:buClr>
              <a:buSzPts val="1400"/>
              <a:buAutoNum type="arabicPeriod"/>
            </a:pPr>
            <a:r>
              <a:rPr b="1" lang="it">
                <a:solidFill>
                  <a:srgbClr val="274E13"/>
                </a:solidFill>
                <a:highlight>
                  <a:srgbClr val="D9EAD3"/>
                </a:highlight>
                <a:latin typeface="Lexend"/>
                <a:ea typeface="Lexend"/>
                <a:cs typeface="Lexend"/>
                <a:sym typeface="Lexend"/>
              </a:rPr>
              <a:t>Prima pagina</a:t>
            </a:r>
            <a:r>
              <a:rPr lang="it">
                <a:solidFill>
                  <a:srgbClr val="274E13"/>
                </a:solidFill>
                <a:highlight>
                  <a:srgbClr val="D9EAD3"/>
                </a:highlight>
                <a:latin typeface="Lexend"/>
                <a:ea typeface="Lexend"/>
                <a:cs typeface="Lexend"/>
                <a:sym typeface="Lexend"/>
              </a:rPr>
              <a:t>: </a:t>
            </a:r>
            <a:r>
              <a:rPr lang="it" sz="1600">
                <a:solidFill>
                  <a:srgbClr val="274E13"/>
                </a:solidFill>
                <a:highlight>
                  <a:srgbClr val="D9EAD3"/>
                </a:highlight>
                <a:latin typeface="Lexend"/>
                <a:ea typeface="Lexend"/>
                <a:cs typeface="Lexend"/>
                <a:sym typeface="Lexend"/>
              </a:rPr>
              <a:t>Totale € della bolletta</a:t>
            </a:r>
            <a:r>
              <a:rPr lang="it">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a:solidFill>
                <a:schemeClr val="dk1"/>
              </a:solidFill>
              <a:latin typeface="Lexend"/>
              <a:ea typeface="Lexend"/>
              <a:cs typeface="Lexend"/>
              <a:sym typeface="Lexend"/>
            </a:endParaRPr>
          </a:p>
          <a:p>
            <a:pPr indent="-317500" lvl="0" marL="457200" rtl="0" algn="l">
              <a:lnSpc>
                <a:spcPct val="115000"/>
              </a:lnSpc>
              <a:spcBef>
                <a:spcPts val="0"/>
              </a:spcBef>
              <a:spcAft>
                <a:spcPts val="0"/>
              </a:spcAft>
              <a:buClr>
                <a:schemeClr val="dk1"/>
              </a:buClr>
              <a:buSzPts val="1400"/>
              <a:buAutoNum type="arabicPeriod"/>
            </a:pPr>
            <a:r>
              <a:rPr b="1" lang="it">
                <a:solidFill>
                  <a:srgbClr val="274E13"/>
                </a:solidFill>
                <a:highlight>
                  <a:srgbClr val="D9EAD3"/>
                </a:highlight>
                <a:latin typeface="Lexend"/>
                <a:ea typeface="Lexend"/>
                <a:cs typeface="Lexend"/>
                <a:sym typeface="Lexend"/>
              </a:rPr>
              <a:t>Seconda/Terza pagina</a:t>
            </a:r>
            <a:r>
              <a:rPr lang="it">
                <a:solidFill>
                  <a:srgbClr val="274E13"/>
                </a:solidFill>
                <a:highlight>
                  <a:srgbClr val="D9EAD3"/>
                </a:highlight>
                <a:latin typeface="Lexend"/>
                <a:ea typeface="Lexend"/>
                <a:cs typeface="Lexend"/>
                <a:sym typeface="Lexend"/>
              </a:rPr>
              <a:t>: </a:t>
            </a:r>
            <a:r>
              <a:rPr lang="it" sz="1600">
                <a:solidFill>
                  <a:srgbClr val="274E13"/>
                </a:solidFill>
                <a:highlight>
                  <a:srgbClr val="D9EAD3"/>
                </a:highlight>
                <a:latin typeface="Lexend"/>
                <a:ea typeface="Lexend"/>
                <a:cs typeface="Lexend"/>
                <a:sym typeface="Lexend"/>
              </a:rPr>
              <a:t>Totale dei kWh consumati durante l'anno</a:t>
            </a:r>
            <a:r>
              <a:rPr lang="it">
                <a:solidFill>
                  <a:schemeClr val="dk1"/>
                </a:solidFill>
                <a:latin typeface="Lexend"/>
                <a:ea typeface="Lexend"/>
                <a:cs typeface="Lexend"/>
                <a:sym typeface="Lexend"/>
              </a:rPr>
              <a:t>, per effettuare il dimensionamento dell'impianto fotovoltaico.</a:t>
            </a:r>
            <a:endParaRPr>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b="1" lang="it">
                <a:solidFill>
                  <a:schemeClr val="dk1"/>
                </a:solidFill>
                <a:latin typeface="Lexend"/>
                <a:ea typeface="Lexend"/>
                <a:cs typeface="Lexend"/>
                <a:sym typeface="Lexend"/>
              </a:rPr>
              <a:t>Perché la bolletta è il punto di partenza?</a:t>
            </a:r>
            <a:r>
              <a:rPr lang="it">
                <a:solidFill>
                  <a:schemeClr val="dk1"/>
                </a:solidFill>
                <a:latin typeface="Lexend"/>
                <a:ea typeface="Lexend"/>
                <a:cs typeface="Lexend"/>
                <a:sym typeface="Lexend"/>
              </a:rPr>
              <a:t> </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it">
                <a:solidFill>
                  <a:schemeClr val="dk1"/>
                </a:solidFill>
                <a:latin typeface="Lexend"/>
                <a:ea typeface="Lexend"/>
                <a:cs typeface="Lexend"/>
                <a:sym typeface="Lexend"/>
              </a:rPr>
              <a:t>La bolletta ci fornisce tutti i dati necessari sui consumi energetici attuali della famiglia, che sono fondamentali per il calcolo del dimensionamento del sistema fotovoltaico.</a:t>
            </a:r>
            <a:endParaRPr>
              <a:solidFill>
                <a:schemeClr val="dk1"/>
              </a:solidFill>
              <a:latin typeface="Lexend"/>
              <a:ea typeface="Lexend"/>
              <a:cs typeface="Lexend"/>
              <a:sym typeface="Lexend"/>
            </a:endParaRPr>
          </a:p>
        </p:txBody>
      </p:sp>
      <p:pic>
        <p:nvPicPr>
          <p:cNvPr id="859" name="Google Shape;859;p7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60" name="Google Shape;860;p7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a:t>
            </a:r>
            <a:r>
              <a:rPr lang="it" sz="700">
                <a:latin typeface="Lexend"/>
                <a:ea typeface="Lexend"/>
                <a:cs typeface="Lexend"/>
                <a:sym typeface="Lexend"/>
              </a:rPr>
              <a:t>| 56</a:t>
            </a:r>
            <a:endParaRPr sz="700">
              <a:latin typeface="Lexend"/>
              <a:ea typeface="Lexend"/>
              <a:cs typeface="Lexend"/>
              <a:sym typeface="Lexend"/>
            </a:endParaRPr>
          </a:p>
        </p:txBody>
      </p:sp>
      <p:sp>
        <p:nvSpPr>
          <p:cNvPr id="861" name="Google Shape;861;p7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7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7" name="Google Shape;867;p71"/>
          <p:cNvSpPr txBox="1"/>
          <p:nvPr>
            <p:ph type="title"/>
          </p:nvPr>
        </p:nvSpPr>
        <p:spPr>
          <a:xfrm>
            <a:off x="311700" y="10112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 le Fasce </a:t>
            </a:r>
            <a:r>
              <a:rPr b="1" lang="it" sz="2200">
                <a:latin typeface="Lexend"/>
                <a:ea typeface="Lexend"/>
                <a:cs typeface="Lexend"/>
                <a:sym typeface="Lexend"/>
              </a:rPr>
              <a:t>F1</a:t>
            </a:r>
            <a:r>
              <a:rPr lang="it" sz="2200">
                <a:latin typeface="Lexend"/>
                <a:ea typeface="Lexend"/>
                <a:cs typeface="Lexend"/>
                <a:sym typeface="Lexend"/>
              </a:rPr>
              <a:t>, </a:t>
            </a:r>
            <a:r>
              <a:rPr b="1" lang="it" sz="2200">
                <a:latin typeface="Lexend"/>
                <a:ea typeface="Lexend"/>
                <a:cs typeface="Lexend"/>
                <a:sym typeface="Lexend"/>
              </a:rPr>
              <a:t>F2</a:t>
            </a:r>
            <a:r>
              <a:rPr lang="it" sz="2200">
                <a:latin typeface="Lexend"/>
                <a:ea typeface="Lexend"/>
                <a:cs typeface="Lexend"/>
                <a:sym typeface="Lexend"/>
              </a:rPr>
              <a:t> e </a:t>
            </a:r>
            <a:r>
              <a:rPr b="1" lang="it" sz="2200">
                <a:latin typeface="Lexend"/>
                <a:ea typeface="Lexend"/>
                <a:cs typeface="Lexend"/>
                <a:sym typeface="Lexend"/>
              </a:rPr>
              <a:t>F3</a:t>
            </a:r>
            <a:endParaRPr b="1" sz="2200">
              <a:latin typeface="Lexend"/>
              <a:ea typeface="Lexend"/>
              <a:cs typeface="Lexend"/>
              <a:sym typeface="Lexend"/>
            </a:endParaRPr>
          </a:p>
        </p:txBody>
      </p:sp>
      <p:sp>
        <p:nvSpPr>
          <p:cNvPr id="868" name="Google Shape;868;p71"/>
          <p:cNvSpPr txBox="1"/>
          <p:nvPr/>
        </p:nvSpPr>
        <p:spPr>
          <a:xfrm>
            <a:off x="1277775" y="1630525"/>
            <a:ext cx="7070100" cy="305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it" sz="1700">
                <a:solidFill>
                  <a:srgbClr val="274E13"/>
                </a:solidFill>
                <a:highlight>
                  <a:srgbClr val="D9EAD3"/>
                </a:highlight>
                <a:latin typeface="Lexend"/>
                <a:ea typeface="Lexend"/>
                <a:cs typeface="Lexend"/>
                <a:sym typeface="Lexend"/>
              </a:rPr>
              <a:t>F1 (ore di punta)</a:t>
            </a:r>
            <a:r>
              <a:rPr b="1" lang="it" sz="1500">
                <a:solidFill>
                  <a:srgbClr val="274E13"/>
                </a:solidFill>
                <a:highlight>
                  <a:srgbClr val="D9EAD3"/>
                </a:highlight>
                <a:latin typeface="Lexend"/>
                <a:ea typeface="Lexend"/>
                <a:cs typeface="Lexend"/>
                <a:sym typeface="Lexend"/>
              </a:rPr>
              <a:t>:</a:t>
            </a:r>
            <a:r>
              <a:rPr lang="it" sz="1500">
                <a:solidFill>
                  <a:schemeClr val="dk1"/>
                </a:solidFill>
                <a:latin typeface="Lexend"/>
                <a:ea typeface="Lexend"/>
                <a:cs typeface="Lexend"/>
                <a:sym typeface="Lexend"/>
              </a:rPr>
              <a:t> </a:t>
            </a:r>
            <a:r>
              <a:rPr lang="it">
                <a:solidFill>
                  <a:schemeClr val="dk1"/>
                </a:solidFill>
                <a:latin typeface="Lexend"/>
                <a:ea typeface="Lexend"/>
                <a:cs typeface="Lexend"/>
                <a:sym typeface="Lexend"/>
              </a:rPr>
              <a:t>Dal lunedì al venerdì, dalle 8:00 alle 19:00. È il periodo di massimo consumo e ha costi energetici più elevati.</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b="1" lang="it" sz="1700">
                <a:solidFill>
                  <a:srgbClr val="274E13"/>
                </a:solidFill>
                <a:highlight>
                  <a:srgbClr val="D9EAD3"/>
                </a:highlight>
                <a:latin typeface="Lexend"/>
                <a:ea typeface="Lexend"/>
                <a:cs typeface="Lexend"/>
                <a:sym typeface="Lexend"/>
              </a:rPr>
              <a:t>F2 (ore intermedie)</a:t>
            </a:r>
            <a:r>
              <a:rPr b="1" lang="it" sz="1700">
                <a:solidFill>
                  <a:schemeClr val="dk1"/>
                </a:solidFill>
                <a:latin typeface="Lexend"/>
                <a:ea typeface="Lexend"/>
                <a:cs typeface="Lexend"/>
                <a:sym typeface="Lexend"/>
              </a:rPr>
              <a:t>:</a:t>
            </a:r>
            <a:r>
              <a:rPr lang="it" sz="1500">
                <a:solidFill>
                  <a:schemeClr val="dk1"/>
                </a:solidFill>
                <a:latin typeface="Lexend"/>
                <a:ea typeface="Lexend"/>
                <a:cs typeface="Lexend"/>
                <a:sym typeface="Lexend"/>
              </a:rPr>
              <a:t> </a:t>
            </a:r>
            <a:r>
              <a:rPr lang="it">
                <a:solidFill>
                  <a:schemeClr val="dk1"/>
                </a:solidFill>
                <a:latin typeface="Lexend"/>
                <a:ea typeface="Lexend"/>
                <a:cs typeface="Lexend"/>
                <a:sym typeface="Lexend"/>
              </a:rPr>
              <a:t>Dal lunedì al venerdì, dalle 7:00 alle 8:00 e dalle 19:00 </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it">
                <a:solidFill>
                  <a:schemeClr val="dk1"/>
                </a:solidFill>
                <a:latin typeface="Lexend"/>
                <a:ea typeface="Lexend"/>
                <a:cs typeface="Lexend"/>
                <a:sym typeface="Lexend"/>
              </a:rPr>
              <a:t>alle 23:00. Sabato dalle 7:00 alle 23:00. Costi medi.</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b="1" lang="it" sz="1700">
                <a:solidFill>
                  <a:srgbClr val="274E13"/>
                </a:solidFill>
                <a:highlight>
                  <a:srgbClr val="D9EAD3"/>
                </a:highlight>
                <a:latin typeface="Lexend"/>
                <a:ea typeface="Lexend"/>
                <a:cs typeface="Lexend"/>
                <a:sym typeface="Lexend"/>
              </a:rPr>
              <a:t>F3 (ore fuori punta)</a:t>
            </a:r>
            <a:r>
              <a:rPr b="1" lang="it" sz="1500">
                <a:solidFill>
                  <a:schemeClr val="dk1"/>
                </a:solidFill>
                <a:latin typeface="Lexend"/>
                <a:ea typeface="Lexend"/>
                <a:cs typeface="Lexend"/>
                <a:sym typeface="Lexend"/>
              </a:rPr>
              <a:t>:</a:t>
            </a:r>
            <a:r>
              <a:rPr lang="it" sz="1500">
                <a:solidFill>
                  <a:schemeClr val="dk1"/>
                </a:solidFill>
                <a:latin typeface="Lexend"/>
                <a:ea typeface="Lexend"/>
                <a:cs typeface="Lexend"/>
                <a:sym typeface="Lexend"/>
              </a:rPr>
              <a:t> </a:t>
            </a:r>
            <a:r>
              <a:rPr lang="it">
                <a:solidFill>
                  <a:schemeClr val="dk1"/>
                </a:solidFill>
                <a:latin typeface="Lexend"/>
                <a:ea typeface="Lexend"/>
                <a:cs typeface="Lexend"/>
                <a:sym typeface="Lexend"/>
              </a:rPr>
              <a:t>Tutti i giorni dalle 23:00 alle 7:00, inclusi i festivi e le domeniche. Periodo con costi energetici più bassi.</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1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b="1" lang="it" sz="1500">
                <a:solidFill>
                  <a:srgbClr val="274E13"/>
                </a:solidFill>
                <a:highlight>
                  <a:srgbClr val="D9EAD3"/>
                </a:highlight>
                <a:latin typeface="Lexend"/>
                <a:ea typeface="Lexend"/>
                <a:cs typeface="Lexend"/>
                <a:sym typeface="Lexend"/>
              </a:rPr>
              <a:t>Quando valutare l'accumulo:</a:t>
            </a:r>
            <a:r>
              <a:rPr b="1" lang="it" sz="1500">
                <a:solidFill>
                  <a:schemeClr val="dk1"/>
                </a:solidFill>
                <a:latin typeface="Lexend"/>
                <a:ea typeface="Lexend"/>
                <a:cs typeface="Lexend"/>
                <a:sym typeface="Lexend"/>
              </a:rPr>
              <a:t> </a:t>
            </a:r>
            <a:r>
              <a:rPr lang="it" sz="1300">
                <a:solidFill>
                  <a:schemeClr val="dk1"/>
                </a:solidFill>
                <a:latin typeface="Lexend"/>
                <a:ea typeface="Lexend"/>
                <a:cs typeface="Lexend"/>
                <a:sym typeface="Lexend"/>
              </a:rPr>
              <a:t>Se i consumi maggiori si verificano durante le </a:t>
            </a:r>
            <a:r>
              <a:rPr b="1" lang="it" sz="1300">
                <a:solidFill>
                  <a:schemeClr val="dk1"/>
                </a:solidFill>
                <a:latin typeface="Lexend"/>
                <a:ea typeface="Lexend"/>
                <a:cs typeface="Lexend"/>
                <a:sym typeface="Lexend"/>
              </a:rPr>
              <a:t>ore serali o notturne (F3)</a:t>
            </a:r>
            <a:r>
              <a:rPr lang="it" sz="1300">
                <a:solidFill>
                  <a:schemeClr val="dk1"/>
                </a:solidFill>
                <a:latin typeface="Lexend"/>
                <a:ea typeface="Lexend"/>
                <a:cs typeface="Lexend"/>
                <a:sym typeface="Lexend"/>
              </a:rPr>
              <a:t>, quando il sole non è disponibile, un accumulo potrebbe essere utile per sfruttare l'energia solare accumulata durante il giorno.</a:t>
            </a:r>
            <a:endParaRPr sz="1700">
              <a:solidFill>
                <a:schemeClr val="dk1"/>
              </a:solidFill>
              <a:latin typeface="Lexend"/>
              <a:ea typeface="Lexend"/>
              <a:cs typeface="Lexend"/>
              <a:sym typeface="Lexend"/>
            </a:endParaRPr>
          </a:p>
        </p:txBody>
      </p:sp>
      <p:pic>
        <p:nvPicPr>
          <p:cNvPr id="869" name="Google Shape;869;p7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70" name="Google Shape;870;p7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56</a:t>
            </a:r>
            <a:endParaRPr sz="700">
              <a:latin typeface="Lexend"/>
              <a:ea typeface="Lexend"/>
              <a:cs typeface="Lexend"/>
              <a:sym typeface="Lexend"/>
            </a:endParaRPr>
          </a:p>
        </p:txBody>
      </p:sp>
      <p:pic>
        <p:nvPicPr>
          <p:cNvPr id="871" name="Google Shape;871;p71"/>
          <p:cNvPicPr preferRelativeResize="0"/>
          <p:nvPr/>
        </p:nvPicPr>
        <p:blipFill>
          <a:blip r:embed="rId4">
            <a:alphaModFix/>
          </a:blip>
          <a:stretch>
            <a:fillRect/>
          </a:stretch>
        </p:blipFill>
        <p:spPr>
          <a:xfrm>
            <a:off x="796125" y="1721850"/>
            <a:ext cx="399875" cy="399875"/>
          </a:xfrm>
          <a:prstGeom prst="rect">
            <a:avLst/>
          </a:prstGeom>
          <a:noFill/>
          <a:ln>
            <a:noFill/>
          </a:ln>
        </p:spPr>
      </p:pic>
      <p:pic>
        <p:nvPicPr>
          <p:cNvPr id="872" name="Google Shape;872;p71"/>
          <p:cNvPicPr preferRelativeResize="0"/>
          <p:nvPr/>
        </p:nvPicPr>
        <p:blipFill>
          <a:blip r:embed="rId4">
            <a:alphaModFix/>
          </a:blip>
          <a:stretch>
            <a:fillRect/>
          </a:stretch>
        </p:blipFill>
        <p:spPr>
          <a:xfrm>
            <a:off x="796125" y="2458375"/>
            <a:ext cx="399875" cy="399875"/>
          </a:xfrm>
          <a:prstGeom prst="rect">
            <a:avLst/>
          </a:prstGeom>
          <a:noFill/>
          <a:ln>
            <a:noFill/>
          </a:ln>
        </p:spPr>
      </p:pic>
      <p:pic>
        <p:nvPicPr>
          <p:cNvPr id="873" name="Google Shape;873;p71"/>
          <p:cNvPicPr preferRelativeResize="0"/>
          <p:nvPr/>
        </p:nvPicPr>
        <p:blipFill>
          <a:blip r:embed="rId4">
            <a:alphaModFix/>
          </a:blip>
          <a:stretch>
            <a:fillRect/>
          </a:stretch>
        </p:blipFill>
        <p:spPr>
          <a:xfrm>
            <a:off x="796125" y="3170550"/>
            <a:ext cx="399875" cy="399875"/>
          </a:xfrm>
          <a:prstGeom prst="rect">
            <a:avLst/>
          </a:prstGeom>
          <a:noFill/>
          <a:ln>
            <a:noFill/>
          </a:ln>
        </p:spPr>
      </p:pic>
      <p:pic>
        <p:nvPicPr>
          <p:cNvPr id="874" name="Google Shape;874;p71"/>
          <p:cNvPicPr preferRelativeResize="0"/>
          <p:nvPr/>
        </p:nvPicPr>
        <p:blipFill>
          <a:blip r:embed="rId5">
            <a:alphaModFix/>
          </a:blip>
          <a:stretch>
            <a:fillRect/>
          </a:stretch>
        </p:blipFill>
        <p:spPr>
          <a:xfrm>
            <a:off x="841775" y="3931425"/>
            <a:ext cx="308575" cy="308575"/>
          </a:xfrm>
          <a:prstGeom prst="rect">
            <a:avLst/>
          </a:prstGeom>
          <a:noFill/>
          <a:ln>
            <a:noFill/>
          </a:ln>
        </p:spPr>
      </p:pic>
      <p:sp>
        <p:nvSpPr>
          <p:cNvPr id="875" name="Google Shape;875;p7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7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1" name="Google Shape;881;p72"/>
          <p:cNvSpPr txBox="1"/>
          <p:nvPr>
            <p:ph type="title"/>
          </p:nvPr>
        </p:nvSpPr>
        <p:spPr>
          <a:xfrm>
            <a:off x="4990425" y="4399100"/>
            <a:ext cx="9417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000">
                <a:latin typeface="Lexend"/>
                <a:ea typeface="Lexend"/>
                <a:cs typeface="Lexend"/>
                <a:sym typeface="Lexend"/>
              </a:rPr>
              <a:t>pag.1</a:t>
            </a:r>
            <a:endParaRPr b="1" sz="1000">
              <a:latin typeface="Lexend"/>
              <a:ea typeface="Lexend"/>
              <a:cs typeface="Lexend"/>
              <a:sym typeface="Lexend"/>
            </a:endParaRPr>
          </a:p>
        </p:txBody>
      </p:sp>
      <p:pic>
        <p:nvPicPr>
          <p:cNvPr id="882" name="Google Shape;882;p7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83" name="Google Shape;883;p7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a:t>
            </a:r>
            <a:r>
              <a:rPr lang="it" sz="700">
                <a:latin typeface="Lexend"/>
                <a:ea typeface="Lexend"/>
                <a:cs typeface="Lexend"/>
                <a:sym typeface="Lexend"/>
              </a:rPr>
              <a:t> | 57</a:t>
            </a:r>
            <a:endParaRPr sz="700">
              <a:latin typeface="Lexend"/>
              <a:ea typeface="Lexend"/>
              <a:cs typeface="Lexend"/>
              <a:sym typeface="Lexend"/>
            </a:endParaRPr>
          </a:p>
        </p:txBody>
      </p:sp>
      <p:grpSp>
        <p:nvGrpSpPr>
          <p:cNvPr id="884" name="Google Shape;884;p72"/>
          <p:cNvGrpSpPr/>
          <p:nvPr/>
        </p:nvGrpSpPr>
        <p:grpSpPr>
          <a:xfrm>
            <a:off x="4359876" y="1178127"/>
            <a:ext cx="4490221" cy="3220983"/>
            <a:chOff x="1532388" y="826250"/>
            <a:chExt cx="5184414" cy="3718950"/>
          </a:xfrm>
        </p:grpSpPr>
        <p:pic>
          <p:nvPicPr>
            <p:cNvPr id="885" name="Google Shape;885;p72"/>
            <p:cNvPicPr preferRelativeResize="0"/>
            <p:nvPr/>
          </p:nvPicPr>
          <p:blipFill>
            <a:blip r:embed="rId4">
              <a:alphaModFix/>
            </a:blip>
            <a:stretch>
              <a:fillRect/>
            </a:stretch>
          </p:blipFill>
          <p:spPr>
            <a:xfrm>
              <a:off x="1532388" y="826250"/>
              <a:ext cx="2629420" cy="3718948"/>
            </a:xfrm>
            <a:prstGeom prst="rect">
              <a:avLst/>
            </a:prstGeom>
            <a:noFill/>
            <a:ln>
              <a:noFill/>
            </a:ln>
          </p:spPr>
        </p:pic>
        <p:pic>
          <p:nvPicPr>
            <p:cNvPr id="886" name="Google Shape;886;p72"/>
            <p:cNvPicPr preferRelativeResize="0"/>
            <p:nvPr/>
          </p:nvPicPr>
          <p:blipFill>
            <a:blip r:embed="rId5">
              <a:alphaModFix/>
            </a:blip>
            <a:stretch>
              <a:fillRect/>
            </a:stretch>
          </p:blipFill>
          <p:spPr>
            <a:xfrm>
              <a:off x="4087400" y="826263"/>
              <a:ext cx="2629401" cy="3718938"/>
            </a:xfrm>
            <a:prstGeom prst="rect">
              <a:avLst/>
            </a:prstGeom>
            <a:noFill/>
            <a:ln>
              <a:noFill/>
            </a:ln>
          </p:spPr>
        </p:pic>
      </p:grpSp>
      <p:sp>
        <p:nvSpPr>
          <p:cNvPr id="887" name="Google Shape;887;p72"/>
          <p:cNvSpPr txBox="1"/>
          <p:nvPr>
            <p:ph type="title"/>
          </p:nvPr>
        </p:nvSpPr>
        <p:spPr>
          <a:xfrm>
            <a:off x="7302150" y="4399100"/>
            <a:ext cx="9417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000">
                <a:latin typeface="Lexend"/>
                <a:ea typeface="Lexend"/>
                <a:cs typeface="Lexend"/>
                <a:sym typeface="Lexend"/>
              </a:rPr>
              <a:t>pag.2</a:t>
            </a:r>
            <a:endParaRPr b="1" sz="1000">
              <a:latin typeface="Lexend"/>
              <a:ea typeface="Lexend"/>
              <a:cs typeface="Lexend"/>
              <a:sym typeface="Lexend"/>
            </a:endParaRPr>
          </a:p>
        </p:txBody>
      </p:sp>
      <p:pic>
        <p:nvPicPr>
          <p:cNvPr id="888" name="Google Shape;888;p72"/>
          <p:cNvPicPr preferRelativeResize="0"/>
          <p:nvPr/>
        </p:nvPicPr>
        <p:blipFill>
          <a:blip r:embed="rId6">
            <a:alphaModFix/>
          </a:blip>
          <a:stretch>
            <a:fillRect/>
          </a:stretch>
        </p:blipFill>
        <p:spPr>
          <a:xfrm>
            <a:off x="531650" y="2650354"/>
            <a:ext cx="3503800" cy="831091"/>
          </a:xfrm>
          <a:prstGeom prst="rect">
            <a:avLst/>
          </a:prstGeom>
          <a:noFill/>
          <a:ln>
            <a:noFill/>
          </a:ln>
        </p:spPr>
      </p:pic>
      <p:pic>
        <p:nvPicPr>
          <p:cNvPr id="889" name="Google Shape;889;p72"/>
          <p:cNvPicPr preferRelativeResize="0"/>
          <p:nvPr/>
        </p:nvPicPr>
        <p:blipFill rotWithShape="1">
          <a:blip r:embed="rId7">
            <a:alphaModFix/>
          </a:blip>
          <a:srcRect b="43567" l="0" r="0" t="0"/>
          <a:stretch/>
        </p:blipFill>
        <p:spPr>
          <a:xfrm>
            <a:off x="531650" y="1176162"/>
            <a:ext cx="3503800" cy="1197046"/>
          </a:xfrm>
          <a:prstGeom prst="rect">
            <a:avLst/>
          </a:prstGeom>
          <a:noFill/>
          <a:ln>
            <a:noFill/>
          </a:ln>
        </p:spPr>
      </p:pic>
      <p:sp>
        <p:nvSpPr>
          <p:cNvPr id="890" name="Google Shape;890;p72"/>
          <p:cNvSpPr/>
          <p:nvPr/>
        </p:nvSpPr>
        <p:spPr>
          <a:xfrm>
            <a:off x="4384225" y="3138675"/>
            <a:ext cx="511200" cy="308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1" name="Google Shape;891;p72"/>
          <p:cNvSpPr/>
          <p:nvPr/>
        </p:nvSpPr>
        <p:spPr>
          <a:xfrm>
            <a:off x="6573300" y="1894900"/>
            <a:ext cx="1156500" cy="421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92" name="Google Shape;892;p72"/>
          <p:cNvCxnSpPr>
            <a:stCxn id="893" idx="1"/>
            <a:endCxn id="889" idx="3"/>
          </p:cNvCxnSpPr>
          <p:nvPr/>
        </p:nvCxnSpPr>
        <p:spPr>
          <a:xfrm rot="10800000">
            <a:off x="4035575" y="1774770"/>
            <a:ext cx="429600" cy="612600"/>
          </a:xfrm>
          <a:prstGeom prst="straightConnector1">
            <a:avLst/>
          </a:prstGeom>
          <a:noFill/>
          <a:ln cap="flat" cmpd="sng" w="9525">
            <a:solidFill>
              <a:srgbClr val="FF0000"/>
            </a:solidFill>
            <a:prstDash val="solid"/>
            <a:round/>
            <a:headEnd len="med" w="med" type="none"/>
            <a:tailEnd len="med" w="med" type="none"/>
          </a:ln>
        </p:spPr>
      </p:cxnSp>
      <p:cxnSp>
        <p:nvCxnSpPr>
          <p:cNvPr id="894" name="Google Shape;894;p72"/>
          <p:cNvCxnSpPr>
            <a:stCxn id="888" idx="3"/>
            <a:endCxn id="890" idx="1"/>
          </p:cNvCxnSpPr>
          <p:nvPr/>
        </p:nvCxnSpPr>
        <p:spPr>
          <a:xfrm>
            <a:off x="4035450" y="3065900"/>
            <a:ext cx="423600" cy="117900"/>
          </a:xfrm>
          <a:prstGeom prst="straightConnector1">
            <a:avLst/>
          </a:prstGeom>
          <a:noFill/>
          <a:ln cap="flat" cmpd="sng" w="9525">
            <a:solidFill>
              <a:srgbClr val="FF0000"/>
            </a:solidFill>
            <a:prstDash val="solid"/>
            <a:round/>
            <a:headEnd len="med" w="med" type="none"/>
            <a:tailEnd len="med" w="med" type="none"/>
          </a:ln>
        </p:spPr>
      </p:cxnSp>
      <p:cxnSp>
        <p:nvCxnSpPr>
          <p:cNvPr id="895" name="Google Shape;895;p72"/>
          <p:cNvCxnSpPr>
            <a:stCxn id="896" idx="3"/>
            <a:endCxn id="891" idx="4"/>
          </p:cNvCxnSpPr>
          <p:nvPr/>
        </p:nvCxnSpPr>
        <p:spPr>
          <a:xfrm flipH="1" rot="10800000">
            <a:off x="4035450" y="2316639"/>
            <a:ext cx="3116100" cy="1688700"/>
          </a:xfrm>
          <a:prstGeom prst="straightConnector1">
            <a:avLst/>
          </a:prstGeom>
          <a:noFill/>
          <a:ln cap="flat" cmpd="sng" w="9525">
            <a:solidFill>
              <a:srgbClr val="FF0000"/>
            </a:solidFill>
            <a:prstDash val="solid"/>
            <a:round/>
            <a:headEnd len="med" w="med" type="none"/>
            <a:tailEnd len="med" w="med" type="none"/>
          </a:ln>
        </p:spPr>
      </p:cxnSp>
      <p:pic>
        <p:nvPicPr>
          <p:cNvPr id="896" name="Google Shape;896;p72"/>
          <p:cNvPicPr preferRelativeResize="0"/>
          <p:nvPr/>
        </p:nvPicPr>
        <p:blipFill>
          <a:blip r:embed="rId8">
            <a:alphaModFix/>
          </a:blip>
          <a:stretch>
            <a:fillRect/>
          </a:stretch>
        </p:blipFill>
        <p:spPr>
          <a:xfrm>
            <a:off x="531650" y="3680275"/>
            <a:ext cx="3503800" cy="650129"/>
          </a:xfrm>
          <a:prstGeom prst="rect">
            <a:avLst/>
          </a:prstGeom>
          <a:noFill/>
          <a:ln>
            <a:noFill/>
          </a:ln>
        </p:spPr>
      </p:pic>
      <p:sp>
        <p:nvSpPr>
          <p:cNvPr id="893" name="Google Shape;893;p72"/>
          <p:cNvSpPr/>
          <p:nvPr/>
        </p:nvSpPr>
        <p:spPr>
          <a:xfrm>
            <a:off x="4390312" y="2342250"/>
            <a:ext cx="511200" cy="308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7" name="Google Shape;897;p72"/>
          <p:cNvSpPr txBox="1"/>
          <p:nvPr>
            <p:ph type="title"/>
          </p:nvPr>
        </p:nvSpPr>
        <p:spPr>
          <a:xfrm>
            <a:off x="57060" y="2809258"/>
            <a:ext cx="24411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500">
                <a:highlight>
                  <a:srgbClr val="FFFFFF"/>
                </a:highlight>
                <a:latin typeface="Lexend"/>
                <a:ea typeface="Lexend"/>
                <a:cs typeface="Lexend"/>
                <a:sym typeface="Lexend"/>
              </a:rPr>
              <a:t>388 </a:t>
            </a:r>
            <a:r>
              <a:rPr lang="it" sz="1700">
                <a:highlight>
                  <a:srgbClr val="FFFFFF"/>
                </a:highlight>
                <a:latin typeface="Lexend"/>
                <a:ea typeface="Lexend"/>
                <a:cs typeface="Lexend"/>
                <a:sym typeface="Lexend"/>
              </a:rPr>
              <a:t>kWh</a:t>
            </a:r>
            <a:endParaRPr b="1" sz="1700">
              <a:highlight>
                <a:srgbClr val="FFFFFF"/>
              </a:highlight>
              <a:latin typeface="Lexend"/>
              <a:ea typeface="Lexend"/>
              <a:cs typeface="Lexend"/>
              <a:sym typeface="Lexend"/>
            </a:endParaRPr>
          </a:p>
        </p:txBody>
      </p:sp>
      <p:sp>
        <p:nvSpPr>
          <p:cNvPr id="898" name="Google Shape;898;p72"/>
          <p:cNvSpPr txBox="1"/>
          <p:nvPr>
            <p:ph type="title"/>
          </p:nvPr>
        </p:nvSpPr>
        <p:spPr>
          <a:xfrm>
            <a:off x="199975" y="3130028"/>
            <a:ext cx="24411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000">
                <a:highlight>
                  <a:srgbClr val="FFFFFF"/>
                </a:highlight>
                <a:latin typeface="Lexend"/>
                <a:ea typeface="Lexend"/>
                <a:cs typeface="Lexend"/>
                <a:sym typeface="Lexend"/>
              </a:rPr>
              <a:t>consumi rilevati mensili</a:t>
            </a:r>
            <a:endParaRPr b="1" sz="1000">
              <a:highlight>
                <a:srgbClr val="FFFFFF"/>
              </a:highlight>
              <a:latin typeface="Lexend"/>
              <a:ea typeface="Lexend"/>
              <a:cs typeface="Lexend"/>
              <a:sym typeface="Lexend"/>
            </a:endParaRPr>
          </a:p>
        </p:txBody>
      </p:sp>
      <p:sp>
        <p:nvSpPr>
          <p:cNvPr id="899" name="Google Shape;899;p72"/>
          <p:cNvSpPr txBox="1"/>
          <p:nvPr>
            <p:ph type="title"/>
          </p:nvPr>
        </p:nvSpPr>
        <p:spPr>
          <a:xfrm>
            <a:off x="4301439" y="3142199"/>
            <a:ext cx="7011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rgbClr val="FFFFFF"/>
                </a:highlight>
                <a:latin typeface="Lexend"/>
                <a:ea typeface="Lexend"/>
                <a:cs typeface="Lexend"/>
                <a:sym typeface="Lexend"/>
              </a:rPr>
              <a:t>388</a:t>
            </a:r>
            <a:r>
              <a:rPr lang="it" sz="500">
                <a:highlight>
                  <a:srgbClr val="FFFFFF"/>
                </a:highlight>
                <a:latin typeface="Lexend"/>
                <a:ea typeface="Lexend"/>
                <a:cs typeface="Lexend"/>
                <a:sym typeface="Lexend"/>
              </a:rPr>
              <a:t>kWh</a:t>
            </a:r>
            <a:endParaRPr b="1" sz="500">
              <a:highlight>
                <a:srgbClr val="FFFFFF"/>
              </a:highlight>
              <a:latin typeface="Lexend"/>
              <a:ea typeface="Lexend"/>
              <a:cs typeface="Lexend"/>
              <a:sym typeface="Lexend"/>
            </a:endParaRPr>
          </a:p>
        </p:txBody>
      </p:sp>
      <p:sp>
        <p:nvSpPr>
          <p:cNvPr id="900" name="Google Shape;900;p72"/>
          <p:cNvSpPr txBox="1"/>
          <p:nvPr>
            <p:ph type="title"/>
          </p:nvPr>
        </p:nvSpPr>
        <p:spPr>
          <a:xfrm>
            <a:off x="3255103" y="3942561"/>
            <a:ext cx="7560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rgbClr val="A1D5C2"/>
                </a:highlight>
                <a:latin typeface="Lexend"/>
                <a:ea typeface="Lexend"/>
                <a:cs typeface="Lexend"/>
                <a:sym typeface="Lexend"/>
              </a:rPr>
              <a:t>4.674</a:t>
            </a:r>
            <a:r>
              <a:rPr lang="it" sz="800">
                <a:highlight>
                  <a:srgbClr val="A1D5C2"/>
                </a:highlight>
                <a:latin typeface="Lexend"/>
                <a:ea typeface="Lexend"/>
                <a:cs typeface="Lexend"/>
                <a:sym typeface="Lexend"/>
              </a:rPr>
              <a:t>kWh</a:t>
            </a:r>
            <a:r>
              <a:rPr lang="it" sz="700">
                <a:solidFill>
                  <a:srgbClr val="A1D5C2"/>
                </a:solidFill>
                <a:highlight>
                  <a:srgbClr val="A1D5C2"/>
                </a:highlight>
                <a:latin typeface="Lexend"/>
                <a:ea typeface="Lexend"/>
                <a:cs typeface="Lexend"/>
                <a:sym typeface="Lexend"/>
              </a:rPr>
              <a:t>..</a:t>
            </a:r>
            <a:endParaRPr b="1" sz="700">
              <a:solidFill>
                <a:srgbClr val="A1D5C2"/>
              </a:solidFill>
              <a:highlight>
                <a:srgbClr val="A1D5C2"/>
              </a:highlight>
              <a:latin typeface="Lexend"/>
              <a:ea typeface="Lexend"/>
              <a:cs typeface="Lexend"/>
              <a:sym typeface="Lexend"/>
            </a:endParaRPr>
          </a:p>
        </p:txBody>
      </p:sp>
      <p:sp>
        <p:nvSpPr>
          <p:cNvPr id="901" name="Google Shape;901;p72"/>
          <p:cNvSpPr txBox="1"/>
          <p:nvPr>
            <p:ph type="title"/>
          </p:nvPr>
        </p:nvSpPr>
        <p:spPr>
          <a:xfrm>
            <a:off x="1228128" y="3942561"/>
            <a:ext cx="7560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chemeClr val="lt1"/>
                </a:highlight>
                <a:latin typeface="Lexend"/>
                <a:ea typeface="Lexend"/>
                <a:cs typeface="Lexend"/>
                <a:sym typeface="Lexend"/>
              </a:rPr>
              <a:t>2.430 </a:t>
            </a:r>
            <a:r>
              <a:rPr lang="it" sz="800">
                <a:highlight>
                  <a:schemeClr val="lt1"/>
                </a:highlight>
                <a:latin typeface="Lexend"/>
                <a:ea typeface="Lexend"/>
                <a:cs typeface="Lexend"/>
                <a:sym typeface="Lexend"/>
              </a:rPr>
              <a:t>kWh</a:t>
            </a:r>
            <a:r>
              <a:rPr lang="it" sz="700">
                <a:solidFill>
                  <a:srgbClr val="A1D5C2"/>
                </a:solidFill>
                <a:highlight>
                  <a:schemeClr val="lt1"/>
                </a:highlight>
                <a:latin typeface="Lexend"/>
                <a:ea typeface="Lexend"/>
                <a:cs typeface="Lexend"/>
                <a:sym typeface="Lexend"/>
              </a:rPr>
              <a:t>..</a:t>
            </a:r>
            <a:endParaRPr b="1" sz="700">
              <a:solidFill>
                <a:srgbClr val="A1D5C2"/>
              </a:solidFill>
              <a:highlight>
                <a:schemeClr val="lt1"/>
              </a:highlight>
              <a:latin typeface="Lexend"/>
              <a:ea typeface="Lexend"/>
              <a:cs typeface="Lexend"/>
              <a:sym typeface="Lexend"/>
            </a:endParaRPr>
          </a:p>
        </p:txBody>
      </p:sp>
      <p:sp>
        <p:nvSpPr>
          <p:cNvPr id="902" name="Google Shape;902;p72"/>
          <p:cNvSpPr txBox="1"/>
          <p:nvPr>
            <p:ph type="title"/>
          </p:nvPr>
        </p:nvSpPr>
        <p:spPr>
          <a:xfrm>
            <a:off x="1905553" y="3942561"/>
            <a:ext cx="7560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chemeClr val="lt1"/>
                </a:highlight>
                <a:latin typeface="Lexend"/>
                <a:ea typeface="Lexend"/>
                <a:cs typeface="Lexend"/>
                <a:sym typeface="Lexend"/>
              </a:rPr>
              <a:t>1.435 </a:t>
            </a:r>
            <a:r>
              <a:rPr lang="it" sz="800">
                <a:highlight>
                  <a:schemeClr val="lt1"/>
                </a:highlight>
                <a:latin typeface="Lexend"/>
                <a:ea typeface="Lexend"/>
                <a:cs typeface="Lexend"/>
                <a:sym typeface="Lexend"/>
              </a:rPr>
              <a:t>kWh</a:t>
            </a:r>
            <a:r>
              <a:rPr lang="it" sz="700">
                <a:solidFill>
                  <a:srgbClr val="A1D5C2"/>
                </a:solidFill>
                <a:highlight>
                  <a:schemeClr val="lt1"/>
                </a:highlight>
                <a:latin typeface="Lexend"/>
                <a:ea typeface="Lexend"/>
                <a:cs typeface="Lexend"/>
                <a:sym typeface="Lexend"/>
              </a:rPr>
              <a:t>..</a:t>
            </a:r>
            <a:endParaRPr b="1" sz="700">
              <a:solidFill>
                <a:srgbClr val="A1D5C2"/>
              </a:solidFill>
              <a:highlight>
                <a:schemeClr val="lt1"/>
              </a:highlight>
              <a:latin typeface="Lexend"/>
              <a:ea typeface="Lexend"/>
              <a:cs typeface="Lexend"/>
              <a:sym typeface="Lexend"/>
            </a:endParaRPr>
          </a:p>
        </p:txBody>
      </p:sp>
      <p:sp>
        <p:nvSpPr>
          <p:cNvPr id="903" name="Google Shape;903;p72"/>
          <p:cNvSpPr txBox="1"/>
          <p:nvPr>
            <p:ph type="title"/>
          </p:nvPr>
        </p:nvSpPr>
        <p:spPr>
          <a:xfrm>
            <a:off x="562090" y="3942561"/>
            <a:ext cx="7560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chemeClr val="lt1"/>
                </a:highlight>
                <a:latin typeface="Lexend"/>
                <a:ea typeface="Lexend"/>
                <a:cs typeface="Lexend"/>
                <a:sym typeface="Lexend"/>
              </a:rPr>
              <a:t>809</a:t>
            </a:r>
            <a:r>
              <a:rPr b="1" lang="it" sz="800">
                <a:highlight>
                  <a:schemeClr val="lt1"/>
                </a:highlight>
                <a:latin typeface="Lexend"/>
                <a:ea typeface="Lexend"/>
                <a:cs typeface="Lexend"/>
                <a:sym typeface="Lexend"/>
              </a:rPr>
              <a:t> </a:t>
            </a:r>
            <a:r>
              <a:rPr lang="it" sz="800">
                <a:highlight>
                  <a:schemeClr val="lt1"/>
                </a:highlight>
                <a:latin typeface="Lexend"/>
                <a:ea typeface="Lexend"/>
                <a:cs typeface="Lexend"/>
                <a:sym typeface="Lexend"/>
              </a:rPr>
              <a:t>kWh</a:t>
            </a:r>
            <a:r>
              <a:rPr lang="it" sz="700">
                <a:solidFill>
                  <a:srgbClr val="A1D5C2"/>
                </a:solidFill>
                <a:highlight>
                  <a:schemeClr val="lt1"/>
                </a:highlight>
                <a:latin typeface="Lexend"/>
                <a:ea typeface="Lexend"/>
                <a:cs typeface="Lexend"/>
                <a:sym typeface="Lexend"/>
              </a:rPr>
              <a:t>..</a:t>
            </a:r>
            <a:endParaRPr b="1" sz="700">
              <a:solidFill>
                <a:srgbClr val="A1D5C2"/>
              </a:solidFill>
              <a:highlight>
                <a:schemeClr val="lt1"/>
              </a:highlight>
              <a:latin typeface="Lexend"/>
              <a:ea typeface="Lexend"/>
              <a:cs typeface="Lexend"/>
              <a:sym typeface="Lexend"/>
            </a:endParaRPr>
          </a:p>
        </p:txBody>
      </p:sp>
      <p:sp>
        <p:nvSpPr>
          <p:cNvPr id="904" name="Google Shape;904;p72"/>
          <p:cNvSpPr txBox="1"/>
          <p:nvPr>
            <p:ph type="title"/>
          </p:nvPr>
        </p:nvSpPr>
        <p:spPr>
          <a:xfrm>
            <a:off x="81408" y="1495787"/>
            <a:ext cx="24411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500">
                <a:highlight>
                  <a:srgbClr val="FCF4F8"/>
                </a:highlight>
                <a:latin typeface="Lexend"/>
                <a:ea typeface="Lexend"/>
                <a:cs typeface="Lexend"/>
                <a:sym typeface="Lexend"/>
              </a:rPr>
              <a:t>261,12</a:t>
            </a:r>
            <a:r>
              <a:rPr b="1" lang="it" sz="1700">
                <a:solidFill>
                  <a:srgbClr val="FCF4F8"/>
                </a:solidFill>
                <a:highlight>
                  <a:srgbClr val="FCF4F8"/>
                </a:highlight>
                <a:latin typeface="Lexend"/>
                <a:ea typeface="Lexend"/>
                <a:cs typeface="Lexend"/>
                <a:sym typeface="Lexend"/>
              </a:rPr>
              <a:t>.</a:t>
            </a:r>
            <a:r>
              <a:rPr lang="it" sz="2100">
                <a:highlight>
                  <a:srgbClr val="FCF4F8"/>
                </a:highlight>
                <a:latin typeface="Lexend"/>
                <a:ea typeface="Lexend"/>
                <a:cs typeface="Lexend"/>
                <a:sym typeface="Lexend"/>
              </a:rPr>
              <a:t>€</a:t>
            </a:r>
            <a:endParaRPr b="1" sz="2100">
              <a:highlight>
                <a:srgbClr val="FCF4F8"/>
              </a:highlight>
              <a:latin typeface="Lexend"/>
              <a:ea typeface="Lexend"/>
              <a:cs typeface="Lexend"/>
              <a:sym typeface="Lexend"/>
            </a:endParaRPr>
          </a:p>
        </p:txBody>
      </p:sp>
      <p:sp>
        <p:nvSpPr>
          <p:cNvPr id="905" name="Google Shape;905;p72"/>
          <p:cNvSpPr txBox="1"/>
          <p:nvPr>
            <p:ph type="title"/>
          </p:nvPr>
        </p:nvSpPr>
        <p:spPr>
          <a:xfrm>
            <a:off x="4217620" y="2355600"/>
            <a:ext cx="8922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700">
                <a:highlight>
                  <a:srgbClr val="FCF4F8"/>
                </a:highlight>
                <a:latin typeface="Lexend"/>
                <a:ea typeface="Lexend"/>
                <a:cs typeface="Lexend"/>
                <a:sym typeface="Lexend"/>
              </a:rPr>
              <a:t>261,12</a:t>
            </a:r>
            <a:r>
              <a:rPr lang="it" sz="600">
                <a:highlight>
                  <a:srgbClr val="FCF4F8"/>
                </a:highlight>
                <a:latin typeface="Lexend"/>
                <a:ea typeface="Lexend"/>
                <a:cs typeface="Lexend"/>
                <a:sym typeface="Lexend"/>
              </a:rPr>
              <a:t>€</a:t>
            </a:r>
            <a:endParaRPr b="1" sz="600">
              <a:highlight>
                <a:srgbClr val="FCF4F8"/>
              </a:highlight>
              <a:latin typeface="Lexend"/>
              <a:ea typeface="Lexend"/>
              <a:cs typeface="Lexend"/>
              <a:sym typeface="Lexend"/>
            </a:endParaRPr>
          </a:p>
        </p:txBody>
      </p:sp>
      <p:sp>
        <p:nvSpPr>
          <p:cNvPr id="906" name="Google Shape;906;p7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12" name="Google Shape;912;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7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8" name="Google Shape;918;p74"/>
          <p:cNvSpPr txBox="1"/>
          <p:nvPr/>
        </p:nvSpPr>
        <p:spPr>
          <a:xfrm>
            <a:off x="1254525" y="2449000"/>
            <a:ext cx="39141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 Totale Bolletta Mese</a:t>
            </a:r>
            <a:endParaRPr b="1" sz="2300">
              <a:solidFill>
                <a:srgbClr val="38761D"/>
              </a:solidFill>
              <a:highlight>
                <a:srgbClr val="B6D7A8"/>
              </a:highlight>
              <a:latin typeface="Lexend"/>
              <a:ea typeface="Lexend"/>
              <a:cs typeface="Lexend"/>
              <a:sym typeface="Lexend"/>
            </a:endParaRPr>
          </a:p>
        </p:txBody>
      </p:sp>
      <p:pic>
        <p:nvPicPr>
          <p:cNvPr id="919" name="Google Shape;919;p74"/>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20" name="Google Shape;920;p7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58</a:t>
            </a:r>
            <a:endParaRPr sz="700">
              <a:latin typeface="Lexend"/>
              <a:ea typeface="Lexend"/>
              <a:cs typeface="Lexend"/>
              <a:sym typeface="Lexend"/>
            </a:endParaRPr>
          </a:p>
        </p:txBody>
      </p:sp>
      <p:cxnSp>
        <p:nvCxnSpPr>
          <p:cNvPr id="921" name="Google Shape;921;p74"/>
          <p:cNvCxnSpPr/>
          <p:nvPr/>
        </p:nvCxnSpPr>
        <p:spPr>
          <a:xfrm>
            <a:off x="1254600" y="3031025"/>
            <a:ext cx="3932100" cy="0"/>
          </a:xfrm>
          <a:prstGeom prst="straightConnector1">
            <a:avLst/>
          </a:prstGeom>
          <a:noFill/>
          <a:ln cap="flat" cmpd="sng" w="9525">
            <a:solidFill>
              <a:srgbClr val="38761D"/>
            </a:solidFill>
            <a:prstDash val="solid"/>
            <a:round/>
            <a:headEnd len="med" w="med" type="none"/>
            <a:tailEnd len="med" w="med" type="none"/>
          </a:ln>
        </p:spPr>
      </p:cxnSp>
      <p:sp>
        <p:nvSpPr>
          <p:cNvPr id="922" name="Google Shape;922;p74"/>
          <p:cNvSpPr txBox="1"/>
          <p:nvPr/>
        </p:nvSpPr>
        <p:spPr>
          <a:xfrm>
            <a:off x="1254525" y="3074250"/>
            <a:ext cx="39321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kWh Consumati Mese</a:t>
            </a:r>
            <a:endParaRPr b="1" sz="2300">
              <a:solidFill>
                <a:srgbClr val="38761D"/>
              </a:solidFill>
              <a:highlight>
                <a:srgbClr val="B6D7A8"/>
              </a:highlight>
              <a:latin typeface="Lexend"/>
              <a:ea typeface="Lexend"/>
              <a:cs typeface="Lexend"/>
              <a:sym typeface="Lexend"/>
            </a:endParaRPr>
          </a:p>
        </p:txBody>
      </p:sp>
      <p:sp>
        <p:nvSpPr>
          <p:cNvPr id="923" name="Google Shape;923;p74"/>
          <p:cNvSpPr txBox="1"/>
          <p:nvPr/>
        </p:nvSpPr>
        <p:spPr>
          <a:xfrm>
            <a:off x="5247600"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a:t>
            </a:r>
            <a:endParaRPr b="1" sz="2300">
              <a:solidFill>
                <a:srgbClr val="38761D"/>
              </a:solidFill>
              <a:highlight>
                <a:srgbClr val="B6D7A8"/>
              </a:highlight>
              <a:latin typeface="Lexend"/>
              <a:ea typeface="Lexend"/>
              <a:cs typeface="Lexend"/>
              <a:sym typeface="Lexend"/>
            </a:endParaRPr>
          </a:p>
        </p:txBody>
      </p:sp>
      <p:sp>
        <p:nvSpPr>
          <p:cNvPr id="924" name="Google Shape;924;p74"/>
          <p:cNvSpPr txBox="1"/>
          <p:nvPr/>
        </p:nvSpPr>
        <p:spPr>
          <a:xfrm>
            <a:off x="5673675" y="2654088"/>
            <a:ext cx="22158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 al kWp</a:t>
            </a:r>
            <a:endParaRPr b="1" sz="2300">
              <a:solidFill>
                <a:srgbClr val="38761D"/>
              </a:solidFill>
              <a:highlight>
                <a:srgbClr val="B6D7A8"/>
              </a:highlight>
              <a:latin typeface="Lexend"/>
              <a:ea typeface="Lexend"/>
              <a:cs typeface="Lexend"/>
              <a:sym typeface="Lexend"/>
            </a:endParaRPr>
          </a:p>
        </p:txBody>
      </p:sp>
      <p:sp>
        <p:nvSpPr>
          <p:cNvPr id="925" name="Google Shape;925;p74"/>
          <p:cNvSpPr txBox="1"/>
          <p:nvPr/>
        </p:nvSpPr>
        <p:spPr>
          <a:xfrm>
            <a:off x="5673675" y="3007763"/>
            <a:ext cx="22158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a:solidFill>
                  <a:schemeClr val="dk1"/>
                </a:solidFill>
                <a:latin typeface="Lexend"/>
                <a:ea typeface="Lexend"/>
                <a:cs typeface="Lexend"/>
                <a:sym typeface="Lexend"/>
              </a:rPr>
              <a:t>che paga il cliente</a:t>
            </a:r>
            <a:endParaRPr b="1">
              <a:solidFill>
                <a:srgbClr val="38761D"/>
              </a:solidFill>
              <a:highlight>
                <a:srgbClr val="B6D7A8"/>
              </a:highlight>
              <a:latin typeface="Lexend"/>
              <a:ea typeface="Lexend"/>
              <a:cs typeface="Lexend"/>
              <a:sym typeface="Lexend"/>
            </a:endParaRPr>
          </a:p>
        </p:txBody>
      </p:sp>
      <p:sp>
        <p:nvSpPr>
          <p:cNvPr id="926" name="Google Shape;926;p74"/>
          <p:cNvSpPr txBox="1"/>
          <p:nvPr>
            <p:ph type="title"/>
          </p:nvPr>
        </p:nvSpPr>
        <p:spPr>
          <a:xfrm>
            <a:off x="311700" y="15304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a:t>
            </a:r>
            <a:r>
              <a:rPr b="1" lang="it" sz="2200">
                <a:latin typeface="Lexend"/>
                <a:ea typeface="Lexend"/>
                <a:cs typeface="Lexend"/>
                <a:sym typeface="Lexend"/>
              </a:rPr>
              <a:t> quanto spende </a:t>
            </a:r>
            <a:r>
              <a:rPr lang="it" sz="2200">
                <a:latin typeface="Lexend"/>
                <a:ea typeface="Lexend"/>
                <a:cs typeface="Lexend"/>
                <a:sym typeface="Lexend"/>
              </a:rPr>
              <a:t>il CLIENTE in</a:t>
            </a:r>
            <a:r>
              <a:rPr b="1" lang="it" sz="2200">
                <a:latin typeface="Lexend"/>
                <a:ea typeface="Lexend"/>
                <a:cs typeface="Lexend"/>
                <a:sym typeface="Lexend"/>
              </a:rPr>
              <a:t> totale all’anno</a:t>
            </a:r>
            <a:endParaRPr b="1" sz="2200">
              <a:latin typeface="Lexend"/>
              <a:ea typeface="Lexend"/>
              <a:cs typeface="Lexend"/>
              <a:sym typeface="Lexend"/>
            </a:endParaRPr>
          </a:p>
        </p:txBody>
      </p:sp>
      <p:sp>
        <p:nvSpPr>
          <p:cNvPr id="927" name="Google Shape;927;p7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7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3" name="Google Shape;933;p75"/>
          <p:cNvSpPr txBox="1"/>
          <p:nvPr/>
        </p:nvSpPr>
        <p:spPr>
          <a:xfrm>
            <a:off x="1254525" y="2449000"/>
            <a:ext cx="39141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261,12 €</a:t>
            </a:r>
            <a:endParaRPr b="1" sz="2300">
              <a:solidFill>
                <a:srgbClr val="38761D"/>
              </a:solidFill>
              <a:highlight>
                <a:srgbClr val="B6D7A8"/>
              </a:highlight>
              <a:latin typeface="Lexend"/>
              <a:ea typeface="Lexend"/>
              <a:cs typeface="Lexend"/>
              <a:sym typeface="Lexend"/>
            </a:endParaRPr>
          </a:p>
        </p:txBody>
      </p:sp>
      <p:pic>
        <p:nvPicPr>
          <p:cNvPr id="934" name="Google Shape;934;p7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35" name="Google Shape;935;p7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59</a:t>
            </a:r>
            <a:endParaRPr sz="700">
              <a:latin typeface="Lexend"/>
              <a:ea typeface="Lexend"/>
              <a:cs typeface="Lexend"/>
              <a:sym typeface="Lexend"/>
            </a:endParaRPr>
          </a:p>
        </p:txBody>
      </p:sp>
      <p:cxnSp>
        <p:nvCxnSpPr>
          <p:cNvPr id="936" name="Google Shape;936;p75"/>
          <p:cNvCxnSpPr/>
          <p:nvPr/>
        </p:nvCxnSpPr>
        <p:spPr>
          <a:xfrm>
            <a:off x="1254600" y="3031025"/>
            <a:ext cx="3932100" cy="0"/>
          </a:xfrm>
          <a:prstGeom prst="straightConnector1">
            <a:avLst/>
          </a:prstGeom>
          <a:noFill/>
          <a:ln cap="flat" cmpd="sng" w="9525">
            <a:solidFill>
              <a:srgbClr val="38761D"/>
            </a:solidFill>
            <a:prstDash val="solid"/>
            <a:round/>
            <a:headEnd len="med" w="med" type="none"/>
            <a:tailEnd len="med" w="med" type="none"/>
          </a:ln>
        </p:spPr>
      </p:cxnSp>
      <p:sp>
        <p:nvSpPr>
          <p:cNvPr id="937" name="Google Shape;937;p75"/>
          <p:cNvSpPr txBox="1"/>
          <p:nvPr/>
        </p:nvSpPr>
        <p:spPr>
          <a:xfrm>
            <a:off x="1254525" y="3074250"/>
            <a:ext cx="39321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388 kWp</a:t>
            </a:r>
            <a:endParaRPr b="1" sz="2300">
              <a:solidFill>
                <a:srgbClr val="38761D"/>
              </a:solidFill>
              <a:highlight>
                <a:srgbClr val="B6D7A8"/>
              </a:highlight>
              <a:latin typeface="Lexend"/>
              <a:ea typeface="Lexend"/>
              <a:cs typeface="Lexend"/>
              <a:sym typeface="Lexend"/>
            </a:endParaRPr>
          </a:p>
        </p:txBody>
      </p:sp>
      <p:sp>
        <p:nvSpPr>
          <p:cNvPr id="938" name="Google Shape;938;p75"/>
          <p:cNvSpPr txBox="1"/>
          <p:nvPr/>
        </p:nvSpPr>
        <p:spPr>
          <a:xfrm>
            <a:off x="5247600"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a:t>
            </a:r>
            <a:endParaRPr b="1" sz="2300">
              <a:solidFill>
                <a:srgbClr val="38761D"/>
              </a:solidFill>
              <a:highlight>
                <a:srgbClr val="B6D7A8"/>
              </a:highlight>
              <a:latin typeface="Lexend"/>
              <a:ea typeface="Lexend"/>
              <a:cs typeface="Lexend"/>
              <a:sym typeface="Lexend"/>
            </a:endParaRPr>
          </a:p>
        </p:txBody>
      </p:sp>
      <p:sp>
        <p:nvSpPr>
          <p:cNvPr id="939" name="Google Shape;939;p75"/>
          <p:cNvSpPr txBox="1"/>
          <p:nvPr/>
        </p:nvSpPr>
        <p:spPr>
          <a:xfrm>
            <a:off x="5673675" y="2761613"/>
            <a:ext cx="22158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it" sz="2300">
                <a:solidFill>
                  <a:schemeClr val="dk1"/>
                </a:solidFill>
                <a:latin typeface="Lexend"/>
                <a:ea typeface="Lexend"/>
                <a:cs typeface="Lexend"/>
                <a:sym typeface="Lexend"/>
              </a:rPr>
              <a:t>0,673 €/kWp</a:t>
            </a:r>
            <a:endParaRPr b="1" sz="2300">
              <a:solidFill>
                <a:srgbClr val="38761D"/>
              </a:solidFill>
              <a:highlight>
                <a:srgbClr val="B6D7A8"/>
              </a:highlight>
              <a:latin typeface="Lexend"/>
              <a:ea typeface="Lexend"/>
              <a:cs typeface="Lexend"/>
              <a:sym typeface="Lexend"/>
            </a:endParaRPr>
          </a:p>
        </p:txBody>
      </p:sp>
      <p:sp>
        <p:nvSpPr>
          <p:cNvPr id="940" name="Google Shape;940;p75"/>
          <p:cNvSpPr txBox="1"/>
          <p:nvPr>
            <p:ph type="title"/>
          </p:nvPr>
        </p:nvSpPr>
        <p:spPr>
          <a:xfrm>
            <a:off x="311700" y="15304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a:t>
            </a:r>
            <a:r>
              <a:rPr b="1" lang="it" sz="2200">
                <a:latin typeface="Lexend"/>
                <a:ea typeface="Lexend"/>
                <a:cs typeface="Lexend"/>
                <a:sym typeface="Lexend"/>
              </a:rPr>
              <a:t> quanto spende </a:t>
            </a:r>
            <a:r>
              <a:rPr lang="it" sz="2200">
                <a:latin typeface="Lexend"/>
                <a:ea typeface="Lexend"/>
                <a:cs typeface="Lexend"/>
                <a:sym typeface="Lexend"/>
              </a:rPr>
              <a:t>il CLIENTE in</a:t>
            </a:r>
            <a:r>
              <a:rPr b="1" lang="it" sz="2200">
                <a:latin typeface="Lexend"/>
                <a:ea typeface="Lexend"/>
                <a:cs typeface="Lexend"/>
                <a:sym typeface="Lexend"/>
              </a:rPr>
              <a:t> totale all’anno</a:t>
            </a:r>
            <a:endParaRPr b="1" sz="2200">
              <a:latin typeface="Lexend"/>
              <a:ea typeface="Lexend"/>
              <a:cs typeface="Lexend"/>
              <a:sym typeface="Lexend"/>
            </a:endParaRPr>
          </a:p>
        </p:txBody>
      </p:sp>
      <p:sp>
        <p:nvSpPr>
          <p:cNvPr id="941" name="Google Shape;941;p7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7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47" name="Google Shape;947;p7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48" name="Google Shape;948;p7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60</a:t>
            </a:r>
            <a:endParaRPr sz="700">
              <a:latin typeface="Lexend"/>
              <a:ea typeface="Lexend"/>
              <a:cs typeface="Lexend"/>
              <a:sym typeface="Lexend"/>
            </a:endParaRPr>
          </a:p>
        </p:txBody>
      </p:sp>
      <p:sp>
        <p:nvSpPr>
          <p:cNvPr id="949" name="Google Shape;949;p76"/>
          <p:cNvSpPr txBox="1"/>
          <p:nvPr/>
        </p:nvSpPr>
        <p:spPr>
          <a:xfrm>
            <a:off x="2582138"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x</a:t>
            </a:r>
            <a:endParaRPr b="1" sz="2300">
              <a:solidFill>
                <a:srgbClr val="38761D"/>
              </a:solidFill>
              <a:highlight>
                <a:srgbClr val="B6D7A8"/>
              </a:highlight>
              <a:latin typeface="Lexend"/>
              <a:ea typeface="Lexend"/>
              <a:cs typeface="Lexend"/>
              <a:sym typeface="Lexend"/>
            </a:endParaRPr>
          </a:p>
        </p:txBody>
      </p:sp>
      <p:sp>
        <p:nvSpPr>
          <p:cNvPr id="950" name="Google Shape;950;p76"/>
          <p:cNvSpPr txBox="1"/>
          <p:nvPr/>
        </p:nvSpPr>
        <p:spPr>
          <a:xfrm>
            <a:off x="543013" y="2654088"/>
            <a:ext cx="22158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 al kWp</a:t>
            </a:r>
            <a:endParaRPr b="1" sz="2300">
              <a:solidFill>
                <a:srgbClr val="38761D"/>
              </a:solidFill>
              <a:highlight>
                <a:srgbClr val="B6D7A8"/>
              </a:highlight>
              <a:latin typeface="Lexend"/>
              <a:ea typeface="Lexend"/>
              <a:cs typeface="Lexend"/>
              <a:sym typeface="Lexend"/>
            </a:endParaRPr>
          </a:p>
        </p:txBody>
      </p:sp>
      <p:sp>
        <p:nvSpPr>
          <p:cNvPr id="951" name="Google Shape;951;p76"/>
          <p:cNvSpPr txBox="1"/>
          <p:nvPr/>
        </p:nvSpPr>
        <p:spPr>
          <a:xfrm>
            <a:off x="543013" y="3007763"/>
            <a:ext cx="22158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a:solidFill>
                  <a:schemeClr val="dk1"/>
                </a:solidFill>
                <a:latin typeface="Lexend"/>
                <a:ea typeface="Lexend"/>
                <a:cs typeface="Lexend"/>
                <a:sym typeface="Lexend"/>
              </a:rPr>
              <a:t>che paga il cliente</a:t>
            </a:r>
            <a:endParaRPr b="1">
              <a:solidFill>
                <a:srgbClr val="38761D"/>
              </a:solidFill>
              <a:highlight>
                <a:srgbClr val="B6D7A8"/>
              </a:highlight>
              <a:latin typeface="Lexend"/>
              <a:ea typeface="Lexend"/>
              <a:cs typeface="Lexend"/>
              <a:sym typeface="Lexend"/>
            </a:endParaRPr>
          </a:p>
        </p:txBody>
      </p:sp>
      <p:sp>
        <p:nvSpPr>
          <p:cNvPr id="952" name="Google Shape;952;p76"/>
          <p:cNvSpPr txBox="1"/>
          <p:nvPr>
            <p:ph type="title"/>
          </p:nvPr>
        </p:nvSpPr>
        <p:spPr>
          <a:xfrm>
            <a:off x="311700" y="15304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a:t>
            </a:r>
            <a:r>
              <a:rPr b="1" lang="it" sz="2200">
                <a:latin typeface="Lexend"/>
                <a:ea typeface="Lexend"/>
                <a:cs typeface="Lexend"/>
                <a:sym typeface="Lexend"/>
              </a:rPr>
              <a:t> quanto spende </a:t>
            </a:r>
            <a:r>
              <a:rPr lang="it" sz="2200">
                <a:latin typeface="Lexend"/>
                <a:ea typeface="Lexend"/>
                <a:cs typeface="Lexend"/>
                <a:sym typeface="Lexend"/>
              </a:rPr>
              <a:t>il CLIENTE in</a:t>
            </a:r>
            <a:r>
              <a:rPr b="1" lang="it" sz="2200">
                <a:latin typeface="Lexend"/>
                <a:ea typeface="Lexend"/>
                <a:cs typeface="Lexend"/>
                <a:sym typeface="Lexend"/>
              </a:rPr>
              <a:t> totale all’anno</a:t>
            </a:r>
            <a:endParaRPr b="1" sz="2200">
              <a:latin typeface="Lexend"/>
              <a:ea typeface="Lexend"/>
              <a:cs typeface="Lexend"/>
              <a:sym typeface="Lexend"/>
            </a:endParaRPr>
          </a:p>
        </p:txBody>
      </p:sp>
      <p:sp>
        <p:nvSpPr>
          <p:cNvPr id="953" name="Google Shape;953;p76"/>
          <p:cNvSpPr txBox="1"/>
          <p:nvPr/>
        </p:nvSpPr>
        <p:spPr>
          <a:xfrm>
            <a:off x="3026513" y="2552000"/>
            <a:ext cx="2622300" cy="945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2300">
                <a:solidFill>
                  <a:schemeClr val="dk1"/>
                </a:solidFill>
                <a:latin typeface="Lexend"/>
                <a:ea typeface="Lexend"/>
                <a:cs typeface="Lexend"/>
                <a:sym typeface="Lexend"/>
              </a:rPr>
              <a:t>Tot. Consumo </a:t>
            </a:r>
            <a:endParaRPr sz="2300">
              <a:solidFill>
                <a:schemeClr val="dk1"/>
              </a:solidFill>
              <a:latin typeface="Lexend"/>
              <a:ea typeface="Lexend"/>
              <a:cs typeface="Lexend"/>
              <a:sym typeface="Lexend"/>
            </a:endParaRPr>
          </a:p>
          <a:p>
            <a:pPr indent="0" lvl="0" marL="0" rtl="0" algn="ctr">
              <a:lnSpc>
                <a:spcPct val="115000"/>
              </a:lnSpc>
              <a:spcBef>
                <a:spcPts val="0"/>
              </a:spcBef>
              <a:spcAft>
                <a:spcPts val="0"/>
              </a:spcAft>
              <a:buNone/>
            </a:pPr>
            <a:r>
              <a:rPr lang="it" sz="2300">
                <a:solidFill>
                  <a:schemeClr val="dk1"/>
                </a:solidFill>
                <a:latin typeface="Lexend"/>
                <a:ea typeface="Lexend"/>
                <a:cs typeface="Lexend"/>
                <a:sym typeface="Lexend"/>
              </a:rPr>
              <a:t>Annuo in kWp</a:t>
            </a:r>
            <a:endParaRPr b="1" sz="2300">
              <a:solidFill>
                <a:srgbClr val="38761D"/>
              </a:solidFill>
              <a:highlight>
                <a:srgbClr val="B6D7A8"/>
              </a:highlight>
              <a:latin typeface="Lexend"/>
              <a:ea typeface="Lexend"/>
              <a:cs typeface="Lexend"/>
              <a:sym typeface="Lexend"/>
            </a:endParaRPr>
          </a:p>
        </p:txBody>
      </p:sp>
      <p:sp>
        <p:nvSpPr>
          <p:cNvPr id="954" name="Google Shape;954;p76"/>
          <p:cNvSpPr txBox="1"/>
          <p:nvPr/>
        </p:nvSpPr>
        <p:spPr>
          <a:xfrm>
            <a:off x="5563288"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a:t>
            </a:r>
            <a:endParaRPr b="1" sz="2300">
              <a:solidFill>
                <a:srgbClr val="38761D"/>
              </a:solidFill>
              <a:highlight>
                <a:srgbClr val="B6D7A8"/>
              </a:highlight>
              <a:latin typeface="Lexend"/>
              <a:ea typeface="Lexend"/>
              <a:cs typeface="Lexend"/>
              <a:sym typeface="Lexend"/>
            </a:endParaRPr>
          </a:p>
        </p:txBody>
      </p:sp>
      <p:sp>
        <p:nvSpPr>
          <p:cNvPr id="955" name="Google Shape;955;p76"/>
          <p:cNvSpPr txBox="1"/>
          <p:nvPr/>
        </p:nvSpPr>
        <p:spPr>
          <a:xfrm>
            <a:off x="5978688" y="2552000"/>
            <a:ext cx="2622300" cy="945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2300">
                <a:solidFill>
                  <a:schemeClr val="dk1"/>
                </a:solidFill>
                <a:latin typeface="Lexend"/>
                <a:ea typeface="Lexend"/>
                <a:cs typeface="Lexend"/>
                <a:sym typeface="Lexend"/>
              </a:rPr>
              <a:t>Costo Bolletta all’anno</a:t>
            </a:r>
            <a:endParaRPr b="1" sz="2300">
              <a:solidFill>
                <a:srgbClr val="38761D"/>
              </a:solidFill>
              <a:highlight>
                <a:srgbClr val="B6D7A8"/>
              </a:highlight>
              <a:latin typeface="Lexend"/>
              <a:ea typeface="Lexend"/>
              <a:cs typeface="Lexend"/>
              <a:sym typeface="Lexend"/>
            </a:endParaRPr>
          </a:p>
        </p:txBody>
      </p:sp>
      <p:sp>
        <p:nvSpPr>
          <p:cNvPr id="956" name="Google Shape;956;p7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7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2" name="Google Shape;962;p7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63" name="Google Shape;963;p7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61</a:t>
            </a:r>
            <a:endParaRPr sz="700">
              <a:latin typeface="Lexend"/>
              <a:ea typeface="Lexend"/>
              <a:cs typeface="Lexend"/>
              <a:sym typeface="Lexend"/>
            </a:endParaRPr>
          </a:p>
        </p:txBody>
      </p:sp>
      <p:sp>
        <p:nvSpPr>
          <p:cNvPr id="964" name="Google Shape;964;p77"/>
          <p:cNvSpPr txBox="1"/>
          <p:nvPr/>
        </p:nvSpPr>
        <p:spPr>
          <a:xfrm>
            <a:off x="2960888"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x</a:t>
            </a:r>
            <a:endParaRPr b="1" sz="2300">
              <a:solidFill>
                <a:srgbClr val="38761D"/>
              </a:solidFill>
              <a:highlight>
                <a:srgbClr val="B6D7A8"/>
              </a:highlight>
              <a:latin typeface="Lexend"/>
              <a:ea typeface="Lexend"/>
              <a:cs typeface="Lexend"/>
              <a:sym typeface="Lexend"/>
            </a:endParaRPr>
          </a:p>
        </p:txBody>
      </p:sp>
      <p:sp>
        <p:nvSpPr>
          <p:cNvPr id="965" name="Google Shape;965;p77"/>
          <p:cNvSpPr txBox="1"/>
          <p:nvPr/>
        </p:nvSpPr>
        <p:spPr>
          <a:xfrm>
            <a:off x="713513" y="2755538"/>
            <a:ext cx="22158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Clr>
                <a:schemeClr val="dk1"/>
              </a:buClr>
              <a:buSzPts val="1100"/>
              <a:buFont typeface="Arial"/>
              <a:buNone/>
            </a:pPr>
            <a:r>
              <a:rPr lang="it" sz="2300">
                <a:solidFill>
                  <a:schemeClr val="dk1"/>
                </a:solidFill>
                <a:latin typeface="Lexend"/>
                <a:ea typeface="Lexend"/>
                <a:cs typeface="Lexend"/>
                <a:sym typeface="Lexend"/>
              </a:rPr>
              <a:t>0,673 €/kWp</a:t>
            </a:r>
            <a:endParaRPr b="1" sz="2300">
              <a:solidFill>
                <a:srgbClr val="38761D"/>
              </a:solidFill>
              <a:highlight>
                <a:srgbClr val="B6D7A8"/>
              </a:highlight>
              <a:latin typeface="Lexend"/>
              <a:ea typeface="Lexend"/>
              <a:cs typeface="Lexend"/>
              <a:sym typeface="Lexend"/>
            </a:endParaRPr>
          </a:p>
        </p:txBody>
      </p:sp>
      <p:sp>
        <p:nvSpPr>
          <p:cNvPr id="966" name="Google Shape;966;p77"/>
          <p:cNvSpPr txBox="1"/>
          <p:nvPr>
            <p:ph type="title"/>
          </p:nvPr>
        </p:nvSpPr>
        <p:spPr>
          <a:xfrm>
            <a:off x="311700" y="15304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a:t>
            </a:r>
            <a:r>
              <a:rPr b="1" lang="it" sz="2200">
                <a:latin typeface="Lexend"/>
                <a:ea typeface="Lexend"/>
                <a:cs typeface="Lexend"/>
                <a:sym typeface="Lexend"/>
              </a:rPr>
              <a:t> quanto spende </a:t>
            </a:r>
            <a:r>
              <a:rPr lang="it" sz="2200">
                <a:latin typeface="Lexend"/>
                <a:ea typeface="Lexend"/>
                <a:cs typeface="Lexend"/>
                <a:sym typeface="Lexend"/>
              </a:rPr>
              <a:t>il CLIENTE in</a:t>
            </a:r>
            <a:r>
              <a:rPr b="1" lang="it" sz="2200">
                <a:latin typeface="Lexend"/>
                <a:ea typeface="Lexend"/>
                <a:cs typeface="Lexend"/>
                <a:sym typeface="Lexend"/>
              </a:rPr>
              <a:t> totale all’anno</a:t>
            </a:r>
            <a:endParaRPr b="1" sz="2200">
              <a:latin typeface="Lexend"/>
              <a:ea typeface="Lexend"/>
              <a:cs typeface="Lexend"/>
              <a:sym typeface="Lexend"/>
            </a:endParaRPr>
          </a:p>
        </p:txBody>
      </p:sp>
      <p:sp>
        <p:nvSpPr>
          <p:cNvPr id="967" name="Google Shape;967;p77"/>
          <p:cNvSpPr txBox="1"/>
          <p:nvPr/>
        </p:nvSpPr>
        <p:spPr>
          <a:xfrm>
            <a:off x="3094842" y="2755550"/>
            <a:ext cx="26223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2300">
                <a:solidFill>
                  <a:schemeClr val="dk1"/>
                </a:solidFill>
                <a:latin typeface="Lexend"/>
                <a:ea typeface="Lexend"/>
                <a:cs typeface="Lexend"/>
                <a:sym typeface="Lexend"/>
              </a:rPr>
              <a:t>4.674 kWp</a:t>
            </a:r>
            <a:endParaRPr b="1" sz="2300">
              <a:solidFill>
                <a:srgbClr val="38761D"/>
              </a:solidFill>
              <a:highlight>
                <a:srgbClr val="B6D7A8"/>
              </a:highlight>
              <a:latin typeface="Lexend"/>
              <a:ea typeface="Lexend"/>
              <a:cs typeface="Lexend"/>
              <a:sym typeface="Lexend"/>
            </a:endParaRPr>
          </a:p>
        </p:txBody>
      </p:sp>
      <p:sp>
        <p:nvSpPr>
          <p:cNvPr id="968" name="Google Shape;968;p77"/>
          <p:cNvSpPr txBox="1"/>
          <p:nvPr/>
        </p:nvSpPr>
        <p:spPr>
          <a:xfrm>
            <a:off x="5284667"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a:t>
            </a:r>
            <a:endParaRPr b="1" sz="2300">
              <a:solidFill>
                <a:srgbClr val="38761D"/>
              </a:solidFill>
              <a:highlight>
                <a:srgbClr val="B6D7A8"/>
              </a:highlight>
              <a:latin typeface="Lexend"/>
              <a:ea typeface="Lexend"/>
              <a:cs typeface="Lexend"/>
              <a:sym typeface="Lexend"/>
            </a:endParaRPr>
          </a:p>
        </p:txBody>
      </p:sp>
      <p:sp>
        <p:nvSpPr>
          <p:cNvPr id="969" name="Google Shape;969;p77"/>
          <p:cNvSpPr txBox="1"/>
          <p:nvPr/>
        </p:nvSpPr>
        <p:spPr>
          <a:xfrm>
            <a:off x="5808167" y="2755550"/>
            <a:ext cx="26223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it" sz="2300">
                <a:solidFill>
                  <a:schemeClr val="dk1"/>
                </a:solidFill>
                <a:latin typeface="Lexend"/>
                <a:ea typeface="Lexend"/>
                <a:cs typeface="Lexend"/>
                <a:sym typeface="Lexend"/>
              </a:rPr>
              <a:t>3.145,60 €/anno</a:t>
            </a:r>
            <a:endParaRPr b="1" sz="2300">
              <a:solidFill>
                <a:srgbClr val="38761D"/>
              </a:solidFill>
              <a:highlight>
                <a:srgbClr val="B6D7A8"/>
              </a:highlight>
              <a:latin typeface="Lexend"/>
              <a:ea typeface="Lexend"/>
              <a:cs typeface="Lexend"/>
              <a:sym typeface="Lexend"/>
            </a:endParaRPr>
          </a:p>
        </p:txBody>
      </p:sp>
      <p:sp>
        <p:nvSpPr>
          <p:cNvPr id="970" name="Google Shape;970;p7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7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6" name="Google Shape;976;p78"/>
          <p:cNvSpPr txBox="1"/>
          <p:nvPr/>
        </p:nvSpPr>
        <p:spPr>
          <a:xfrm>
            <a:off x="511950" y="2082300"/>
            <a:ext cx="8120100" cy="1045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600">
                <a:solidFill>
                  <a:schemeClr val="dk1"/>
                </a:solidFill>
                <a:latin typeface="Lexend"/>
                <a:ea typeface="Lexend"/>
                <a:cs typeface="Lexend"/>
                <a:sym typeface="Lexend"/>
              </a:rPr>
              <a:t>Bene, passiamo alle </a:t>
            </a:r>
            <a:r>
              <a:rPr b="1" lang="it" sz="2600">
                <a:solidFill>
                  <a:srgbClr val="274E13"/>
                </a:solidFill>
                <a:highlight>
                  <a:srgbClr val="D9EAD3"/>
                </a:highlight>
                <a:latin typeface="Lexend"/>
                <a:ea typeface="Lexend"/>
                <a:cs typeface="Lexend"/>
                <a:sym typeface="Lexend"/>
              </a:rPr>
              <a:t>domande strategiche</a:t>
            </a:r>
            <a:r>
              <a:rPr lang="it" sz="2600">
                <a:solidFill>
                  <a:schemeClr val="dk1"/>
                </a:solidFill>
                <a:latin typeface="Lexend"/>
                <a:ea typeface="Lexend"/>
                <a:cs typeface="Lexend"/>
                <a:sym typeface="Lexend"/>
              </a:rPr>
              <a:t> per       capire da qui a 5/10 anni </a:t>
            </a:r>
            <a:r>
              <a:rPr b="1" lang="it" sz="2600">
                <a:solidFill>
                  <a:srgbClr val="274E13"/>
                </a:solidFill>
                <a:highlight>
                  <a:srgbClr val="D9EAD3"/>
                </a:highlight>
                <a:latin typeface="Lexend"/>
                <a:ea typeface="Lexend"/>
                <a:cs typeface="Lexend"/>
                <a:sym typeface="Lexend"/>
              </a:rPr>
              <a:t>gli obiettivi del cliente</a:t>
            </a:r>
            <a:r>
              <a:rPr lang="it" sz="2600">
                <a:solidFill>
                  <a:srgbClr val="274E13"/>
                </a:solidFill>
                <a:highlight>
                  <a:srgbClr val="D9EAD3"/>
                </a:highlight>
                <a:latin typeface="Lexend"/>
                <a:ea typeface="Lexend"/>
                <a:cs typeface="Lexend"/>
                <a:sym typeface="Lexend"/>
              </a:rPr>
              <a:t>.</a:t>
            </a:r>
            <a:endParaRPr b="1" sz="2600">
              <a:solidFill>
                <a:srgbClr val="274E13"/>
              </a:solidFill>
              <a:highlight>
                <a:srgbClr val="D9EAD3"/>
              </a:highlight>
              <a:latin typeface="Lexend"/>
              <a:ea typeface="Lexend"/>
              <a:cs typeface="Lexend"/>
              <a:sym typeface="Lexend"/>
            </a:endParaRPr>
          </a:p>
        </p:txBody>
      </p:sp>
      <p:pic>
        <p:nvPicPr>
          <p:cNvPr id="977" name="Google Shape;977;p7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78" name="Google Shape;978;p7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a:t>
            </a:r>
            <a:r>
              <a:rPr lang="it" sz="700">
                <a:latin typeface="Lexend"/>
                <a:ea typeface="Lexend"/>
                <a:cs typeface="Lexend"/>
                <a:sym typeface="Lexend"/>
              </a:rPr>
              <a:t>| 62</a:t>
            </a:r>
            <a:endParaRPr sz="700">
              <a:latin typeface="Lexend"/>
              <a:ea typeface="Lexend"/>
              <a:cs typeface="Lexend"/>
              <a:sym typeface="Lexend"/>
            </a:endParaRPr>
          </a:p>
        </p:txBody>
      </p:sp>
      <p:sp>
        <p:nvSpPr>
          <p:cNvPr id="979" name="Google Shape;979;p7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7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5" name="Google Shape;985;p79"/>
          <p:cNvSpPr txBox="1"/>
          <p:nvPr>
            <p:ph type="title"/>
          </p:nvPr>
        </p:nvSpPr>
        <p:spPr>
          <a:xfrm>
            <a:off x="311700" y="8435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220">
                <a:latin typeface="Lexend"/>
                <a:ea typeface="Lexend"/>
                <a:cs typeface="Lexend"/>
                <a:sym typeface="Lexend"/>
              </a:rPr>
              <a:t>Come </a:t>
            </a:r>
            <a:r>
              <a:rPr b="1" lang="it" sz="2220">
                <a:latin typeface="Lexend"/>
                <a:ea typeface="Lexend"/>
                <a:cs typeface="Lexend"/>
                <a:sym typeface="Lexend"/>
              </a:rPr>
              <a:t>dimensionare correttamente un’impianto</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986" name="Google Shape;986;p79"/>
          <p:cNvSpPr txBox="1"/>
          <p:nvPr/>
        </p:nvSpPr>
        <p:spPr>
          <a:xfrm>
            <a:off x="756863" y="1306453"/>
            <a:ext cx="76302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it" sz="1300">
                <a:solidFill>
                  <a:schemeClr val="dk1"/>
                </a:solidFill>
                <a:latin typeface="Lexend"/>
                <a:ea typeface="Lexend"/>
                <a:cs typeface="Lexend"/>
                <a:sym typeface="Lexend"/>
              </a:rPr>
              <a:t>Elementi da considerare per l’analisi dei consumi annui:</a:t>
            </a:r>
            <a:endParaRPr sz="1300">
              <a:solidFill>
                <a:schemeClr val="dk1"/>
              </a:solidFill>
              <a:latin typeface="Lexend"/>
              <a:ea typeface="Lexend"/>
              <a:cs typeface="Lexend"/>
              <a:sym typeface="Lexend"/>
            </a:endParaRPr>
          </a:p>
        </p:txBody>
      </p:sp>
      <p:sp>
        <p:nvSpPr>
          <p:cNvPr id="987" name="Google Shape;987;p79"/>
          <p:cNvSpPr txBox="1"/>
          <p:nvPr/>
        </p:nvSpPr>
        <p:spPr>
          <a:xfrm>
            <a:off x="1039975" y="1931050"/>
            <a:ext cx="7560300" cy="257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it" sz="1500">
                <a:solidFill>
                  <a:srgbClr val="274E13"/>
                </a:solidFill>
                <a:highlight>
                  <a:srgbClr val="D9EAD3"/>
                </a:highlight>
                <a:latin typeface="Lexend"/>
                <a:ea typeface="Lexend"/>
                <a:cs typeface="Lexend"/>
                <a:sym typeface="Lexend"/>
              </a:rPr>
              <a:t>Tipo di piano cottura</a:t>
            </a:r>
            <a:r>
              <a:rPr lang="it" sz="1500">
                <a:solidFill>
                  <a:srgbClr val="274E13"/>
                </a:solidFill>
                <a:highlight>
                  <a:srgbClr val="D9EAD3"/>
                </a:highlight>
                <a:latin typeface="Lexend"/>
                <a:ea typeface="Lexend"/>
                <a:cs typeface="Lexend"/>
                <a:sym typeface="Lexend"/>
              </a:rPr>
              <a:t>:</a:t>
            </a:r>
            <a:r>
              <a:rPr lang="it" sz="1100">
                <a:solidFill>
                  <a:schemeClr val="dk1"/>
                </a:solidFill>
                <a:latin typeface="Lexend"/>
                <a:ea typeface="Lexend"/>
                <a:cs typeface="Lexend"/>
                <a:sym typeface="Lexend"/>
              </a:rPr>
              <a:t> </a:t>
            </a:r>
            <a:r>
              <a:rPr lang="it" sz="1000">
                <a:solidFill>
                  <a:schemeClr val="dk1"/>
                </a:solidFill>
                <a:latin typeface="Lexend"/>
                <a:ea typeface="Lexend"/>
                <a:cs typeface="Lexend"/>
                <a:sym typeface="Lexend"/>
              </a:rPr>
              <a:t>Utilizzano gas o induzione? Se è a induzione, da quanti anni? (Se da un anno o più, bisogna includere il consumo, mediamente 550 kWh/anno).</a:t>
            </a:r>
            <a:endParaRPr sz="1000">
              <a:solidFill>
                <a:schemeClr val="dk1"/>
              </a:solidFill>
              <a:latin typeface="Lexend"/>
              <a:ea typeface="Lexend"/>
              <a:cs typeface="Lexend"/>
              <a:sym typeface="Lexend"/>
            </a:endParaRPr>
          </a:p>
          <a:p>
            <a:pPr indent="0" lvl="0" marL="0" rtl="0" algn="l">
              <a:lnSpc>
                <a:spcPct val="115000"/>
              </a:lnSpc>
              <a:spcBef>
                <a:spcPts val="1200"/>
              </a:spcBef>
              <a:spcAft>
                <a:spcPts val="0"/>
              </a:spcAft>
              <a:buNone/>
            </a:pPr>
            <a:r>
              <a:rPr b="1" lang="it" sz="1500">
                <a:solidFill>
                  <a:srgbClr val="274E13"/>
                </a:solidFill>
                <a:highlight>
                  <a:srgbClr val="D9EAD3"/>
                </a:highlight>
                <a:latin typeface="Lexend"/>
                <a:ea typeface="Lexend"/>
                <a:cs typeface="Lexend"/>
                <a:sym typeface="Lexend"/>
              </a:rPr>
              <a:t>N. di persone in famiglia</a:t>
            </a:r>
            <a:r>
              <a:rPr lang="it" sz="1500">
                <a:solidFill>
                  <a:srgbClr val="274E13"/>
                </a:solidFill>
                <a:highlight>
                  <a:srgbClr val="D9EAD3"/>
                </a:highlight>
                <a:latin typeface="Lexend"/>
                <a:ea typeface="Lexend"/>
                <a:cs typeface="Lexend"/>
                <a:sym typeface="Lexend"/>
              </a:rPr>
              <a:t>:</a:t>
            </a:r>
            <a:r>
              <a:rPr lang="it" sz="1100">
                <a:solidFill>
                  <a:schemeClr val="dk1"/>
                </a:solidFill>
                <a:latin typeface="Lexend"/>
                <a:ea typeface="Lexend"/>
                <a:cs typeface="Lexend"/>
                <a:sym typeface="Lexend"/>
              </a:rPr>
              <a:t> </a:t>
            </a:r>
            <a:r>
              <a:rPr lang="it" sz="1000">
                <a:solidFill>
                  <a:schemeClr val="dk1"/>
                </a:solidFill>
                <a:latin typeface="Lexend"/>
                <a:ea typeface="Lexend"/>
                <a:cs typeface="Lexend"/>
                <a:sym typeface="Lexend"/>
              </a:rPr>
              <a:t>Quante persone abitano in casa? È importante sapere anche l'età dei componenti per valutare se la famiglia potrebbe crescere. Ogni PP in più rappresenta circa 500 kWh di consumo annuo.</a:t>
            </a:r>
            <a:endParaRPr sz="1000">
              <a:solidFill>
                <a:schemeClr val="dk1"/>
              </a:solidFill>
              <a:latin typeface="Lexend"/>
              <a:ea typeface="Lexend"/>
              <a:cs typeface="Lexend"/>
              <a:sym typeface="Lexend"/>
            </a:endParaRPr>
          </a:p>
          <a:p>
            <a:pPr indent="0" lvl="0" marL="0" rtl="0" algn="l">
              <a:lnSpc>
                <a:spcPct val="115000"/>
              </a:lnSpc>
              <a:spcBef>
                <a:spcPts val="1200"/>
              </a:spcBef>
              <a:spcAft>
                <a:spcPts val="0"/>
              </a:spcAft>
              <a:buNone/>
            </a:pPr>
            <a:r>
              <a:rPr b="1" lang="it" sz="1500">
                <a:solidFill>
                  <a:srgbClr val="274E13"/>
                </a:solidFill>
                <a:highlight>
                  <a:srgbClr val="D9EAD3"/>
                </a:highlight>
                <a:latin typeface="Lexend"/>
                <a:ea typeface="Lexend"/>
                <a:cs typeface="Lexend"/>
                <a:sym typeface="Lexend"/>
              </a:rPr>
              <a:t>Climatizzazione</a:t>
            </a:r>
            <a:r>
              <a:rPr lang="it" sz="1500">
                <a:solidFill>
                  <a:srgbClr val="274E13"/>
                </a:solidFill>
                <a:highlight>
                  <a:srgbClr val="D9EAD3"/>
                </a:highlight>
                <a:latin typeface="Lexend"/>
                <a:ea typeface="Lexend"/>
                <a:cs typeface="Lexend"/>
                <a:sym typeface="Lexend"/>
              </a:rPr>
              <a:t>:</a:t>
            </a:r>
            <a:r>
              <a:rPr lang="it" sz="1500">
                <a:solidFill>
                  <a:schemeClr val="dk1"/>
                </a:solidFill>
                <a:latin typeface="Lexend"/>
                <a:ea typeface="Lexend"/>
                <a:cs typeface="Lexend"/>
                <a:sym typeface="Lexend"/>
              </a:rPr>
              <a:t> </a:t>
            </a:r>
            <a:r>
              <a:rPr lang="it" sz="1000">
                <a:solidFill>
                  <a:schemeClr val="dk1"/>
                </a:solidFill>
                <a:latin typeface="Lexend"/>
                <a:ea typeface="Lexend"/>
                <a:cs typeface="Lexend"/>
                <a:sym typeface="Lexend"/>
              </a:rPr>
              <a:t>Utilizzano split per il raffreddamento e/o riscaldamento? Se sì, li usano solo per il freddo o anche per il caldo? Per il riscaldamento, si utilizza una pompa di calore? In questo caso, potrebbe essere interessante proporre un impianto fotovoltaico integrato. Ogni split consuma mediamente 500 kWh all’anno.</a:t>
            </a:r>
            <a:endParaRPr sz="1000">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sz="1500">
                <a:solidFill>
                  <a:srgbClr val="274E13"/>
                </a:solidFill>
                <a:highlight>
                  <a:srgbClr val="D9EAD3"/>
                </a:highlight>
                <a:latin typeface="Lexend"/>
                <a:ea typeface="Lexend"/>
                <a:cs typeface="Lexend"/>
                <a:sym typeface="Lexend"/>
              </a:rPr>
              <a:t>Auto elettrica</a:t>
            </a:r>
            <a:r>
              <a:rPr lang="it" sz="1500">
                <a:solidFill>
                  <a:srgbClr val="274E13"/>
                </a:solidFill>
                <a:highlight>
                  <a:srgbClr val="D9EAD3"/>
                </a:highlight>
                <a:latin typeface="Lexend"/>
                <a:ea typeface="Lexend"/>
                <a:cs typeface="Lexend"/>
                <a:sym typeface="Lexend"/>
              </a:rPr>
              <a:t>:</a:t>
            </a:r>
            <a:r>
              <a:rPr lang="it" sz="1300">
                <a:solidFill>
                  <a:schemeClr val="dk1"/>
                </a:solidFill>
                <a:latin typeface="Lexend"/>
                <a:ea typeface="Lexend"/>
                <a:cs typeface="Lexend"/>
                <a:sym typeface="Lexend"/>
              </a:rPr>
              <a:t> </a:t>
            </a:r>
            <a:r>
              <a:rPr lang="it" sz="1000">
                <a:solidFill>
                  <a:schemeClr val="dk1"/>
                </a:solidFill>
                <a:latin typeface="Lexend"/>
                <a:ea typeface="Lexend"/>
                <a:cs typeface="Lexend"/>
                <a:sym typeface="Lexend"/>
              </a:rPr>
              <a:t>Hanno o prevedono di acquistare un’auto elettrica? Se la risposta è sì (anche in un futuro prossimo), è consigliabile considerare un incremento di ALMENO 6 kWh di potenza per coprire i futuri consumi dell'auto.</a:t>
            </a:r>
            <a:endParaRPr sz="1000">
              <a:latin typeface="Lexend"/>
              <a:ea typeface="Lexend"/>
              <a:cs typeface="Lexend"/>
              <a:sym typeface="Lexend"/>
            </a:endParaRPr>
          </a:p>
        </p:txBody>
      </p:sp>
      <p:pic>
        <p:nvPicPr>
          <p:cNvPr id="988" name="Google Shape;988;p79"/>
          <p:cNvPicPr preferRelativeResize="0"/>
          <p:nvPr/>
        </p:nvPicPr>
        <p:blipFill>
          <a:blip r:embed="rId3">
            <a:alphaModFix/>
          </a:blip>
          <a:stretch>
            <a:fillRect/>
          </a:stretch>
        </p:blipFill>
        <p:spPr>
          <a:xfrm>
            <a:off x="501080" y="3210054"/>
            <a:ext cx="384900" cy="384900"/>
          </a:xfrm>
          <a:prstGeom prst="rect">
            <a:avLst/>
          </a:prstGeom>
          <a:noFill/>
          <a:ln>
            <a:noFill/>
          </a:ln>
        </p:spPr>
      </p:pic>
      <p:pic>
        <p:nvPicPr>
          <p:cNvPr id="989" name="Google Shape;989;p79"/>
          <p:cNvPicPr preferRelativeResize="0"/>
          <p:nvPr/>
        </p:nvPicPr>
        <p:blipFill>
          <a:blip r:embed="rId4">
            <a:alphaModFix/>
          </a:blip>
          <a:stretch>
            <a:fillRect/>
          </a:stretch>
        </p:blipFill>
        <p:spPr>
          <a:xfrm>
            <a:off x="501079" y="3963247"/>
            <a:ext cx="384900" cy="384900"/>
          </a:xfrm>
          <a:prstGeom prst="rect">
            <a:avLst/>
          </a:prstGeom>
          <a:noFill/>
          <a:ln>
            <a:noFill/>
          </a:ln>
        </p:spPr>
      </p:pic>
      <p:pic>
        <p:nvPicPr>
          <p:cNvPr id="990" name="Google Shape;990;p79"/>
          <p:cNvPicPr preferRelativeResize="0"/>
          <p:nvPr/>
        </p:nvPicPr>
        <p:blipFill>
          <a:blip r:embed="rId5">
            <a:alphaModFix/>
          </a:blip>
          <a:stretch>
            <a:fillRect/>
          </a:stretch>
        </p:blipFill>
        <p:spPr>
          <a:xfrm>
            <a:off x="501075" y="2634851"/>
            <a:ext cx="384900" cy="384900"/>
          </a:xfrm>
          <a:prstGeom prst="rect">
            <a:avLst/>
          </a:prstGeom>
          <a:noFill/>
          <a:ln>
            <a:noFill/>
          </a:ln>
        </p:spPr>
      </p:pic>
      <p:pic>
        <p:nvPicPr>
          <p:cNvPr id="991" name="Google Shape;991;p79"/>
          <p:cNvPicPr preferRelativeResize="0"/>
          <p:nvPr/>
        </p:nvPicPr>
        <p:blipFill>
          <a:blip r:embed="rId6">
            <a:alphaModFix/>
          </a:blip>
          <a:stretch>
            <a:fillRect/>
          </a:stretch>
        </p:blipFill>
        <p:spPr>
          <a:xfrm>
            <a:off x="501080" y="2022000"/>
            <a:ext cx="384900" cy="384900"/>
          </a:xfrm>
          <a:prstGeom prst="rect">
            <a:avLst/>
          </a:prstGeom>
          <a:noFill/>
          <a:ln>
            <a:noFill/>
          </a:ln>
        </p:spPr>
      </p:pic>
      <p:pic>
        <p:nvPicPr>
          <p:cNvPr id="992" name="Google Shape;992;p79"/>
          <p:cNvPicPr preferRelativeResize="0"/>
          <p:nvPr/>
        </p:nvPicPr>
        <p:blipFill rotWithShape="1">
          <a:blip r:embed="rId7">
            <a:alphaModFix/>
          </a:blip>
          <a:srcRect b="0" l="0" r="0" t="0"/>
          <a:stretch/>
        </p:blipFill>
        <p:spPr>
          <a:xfrm>
            <a:off x="0" y="5"/>
            <a:ext cx="9144003" cy="598289"/>
          </a:xfrm>
          <a:prstGeom prst="rect">
            <a:avLst/>
          </a:prstGeom>
          <a:noFill/>
          <a:ln>
            <a:noFill/>
          </a:ln>
        </p:spPr>
      </p:pic>
      <p:sp>
        <p:nvSpPr>
          <p:cNvPr id="993" name="Google Shape;993;p7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a:t>
            </a:r>
            <a:r>
              <a:rPr lang="it" sz="700">
                <a:latin typeface="Lexend"/>
                <a:ea typeface="Lexend"/>
                <a:cs typeface="Lexend"/>
                <a:sym typeface="Lexend"/>
              </a:rPr>
              <a:t> | 63</a:t>
            </a:r>
            <a:endParaRPr sz="700">
              <a:latin typeface="Lexend"/>
              <a:ea typeface="Lexend"/>
              <a:cs typeface="Lexend"/>
              <a:sym typeface="Lexend"/>
            </a:endParaRPr>
          </a:p>
        </p:txBody>
      </p:sp>
      <p:sp>
        <p:nvSpPr>
          <p:cNvPr id="994" name="Google Shape;994;p7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8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0" name="Google Shape;1000;p80"/>
          <p:cNvSpPr txBox="1"/>
          <p:nvPr/>
        </p:nvSpPr>
        <p:spPr>
          <a:xfrm>
            <a:off x="708200" y="1623150"/>
            <a:ext cx="7788300" cy="1897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it" sz="2500">
                <a:solidFill>
                  <a:schemeClr val="dk1"/>
                </a:solidFill>
                <a:latin typeface="Lexend"/>
                <a:ea typeface="Lexend"/>
                <a:cs typeface="Lexend"/>
                <a:sym typeface="Lexend"/>
              </a:rPr>
              <a:t>Sommando tutti questi fattori</a:t>
            </a:r>
            <a:r>
              <a:rPr lang="it" sz="2500">
                <a:solidFill>
                  <a:schemeClr val="dk1"/>
                </a:solidFill>
                <a:latin typeface="Lexend"/>
                <a:ea typeface="Lexend"/>
                <a:cs typeface="Lexend"/>
                <a:sym typeface="Lexend"/>
              </a:rPr>
              <a:t>, è possibile </a:t>
            </a:r>
            <a:r>
              <a:rPr b="1" lang="it" sz="2500">
                <a:solidFill>
                  <a:srgbClr val="274E13"/>
                </a:solidFill>
                <a:highlight>
                  <a:srgbClr val="D9EAD3"/>
                </a:highlight>
                <a:latin typeface="Lexend"/>
                <a:ea typeface="Lexend"/>
                <a:cs typeface="Lexend"/>
                <a:sym typeface="Lexend"/>
              </a:rPr>
              <a:t>calcolare con precisione il taglio dell'impianto fotovoltaico necessario</a:t>
            </a:r>
            <a:r>
              <a:rPr lang="it" sz="2500">
                <a:solidFill>
                  <a:schemeClr val="dk1"/>
                </a:solidFill>
                <a:latin typeface="Lexend"/>
                <a:ea typeface="Lexend"/>
                <a:cs typeface="Lexend"/>
                <a:sym typeface="Lexend"/>
              </a:rPr>
              <a:t> per soddisfare le esigenze energetiche della famiglia.</a:t>
            </a:r>
            <a:endParaRPr sz="2500">
              <a:latin typeface="Lexend"/>
              <a:ea typeface="Lexend"/>
              <a:cs typeface="Lexend"/>
              <a:sym typeface="Lexend"/>
            </a:endParaRPr>
          </a:p>
        </p:txBody>
      </p:sp>
      <p:pic>
        <p:nvPicPr>
          <p:cNvPr id="1001" name="Google Shape;1001;p8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002" name="Google Shape;1002;p8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a:t>
            </a:r>
            <a:r>
              <a:rPr lang="it" sz="700">
                <a:latin typeface="Lexend"/>
                <a:ea typeface="Lexend"/>
                <a:cs typeface="Lexend"/>
                <a:sym typeface="Lexend"/>
              </a:rPr>
              <a:t>| 64</a:t>
            </a:r>
            <a:endParaRPr sz="700">
              <a:latin typeface="Lexend"/>
              <a:ea typeface="Lexend"/>
              <a:cs typeface="Lexend"/>
              <a:sym typeface="Lexend"/>
            </a:endParaRPr>
          </a:p>
        </p:txBody>
      </p:sp>
      <p:sp>
        <p:nvSpPr>
          <p:cNvPr id="1003" name="Google Shape;1003;p8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8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9" name="Google Shape;1009;p81"/>
          <p:cNvSpPr txBox="1"/>
          <p:nvPr>
            <p:ph type="title"/>
          </p:nvPr>
        </p:nvSpPr>
        <p:spPr>
          <a:xfrm>
            <a:off x="311700" y="9990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220">
                <a:latin typeface="Lexend"/>
                <a:ea typeface="Lexend"/>
                <a:cs typeface="Lexend"/>
                <a:sym typeface="Lexend"/>
              </a:rPr>
              <a:t>Esempio</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pic>
        <p:nvPicPr>
          <p:cNvPr id="1010" name="Google Shape;1010;p8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011" name="Google Shape;1011;p8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a:t>
            </a:r>
            <a:r>
              <a:rPr lang="it" sz="700">
                <a:latin typeface="Lexend"/>
                <a:ea typeface="Lexend"/>
                <a:cs typeface="Lexend"/>
                <a:sym typeface="Lexend"/>
              </a:rPr>
              <a:t> | 65</a:t>
            </a:r>
            <a:endParaRPr sz="700">
              <a:latin typeface="Lexend"/>
              <a:ea typeface="Lexend"/>
              <a:cs typeface="Lexend"/>
              <a:sym typeface="Lexend"/>
            </a:endParaRPr>
          </a:p>
        </p:txBody>
      </p:sp>
      <p:graphicFrame>
        <p:nvGraphicFramePr>
          <p:cNvPr id="1012" name="Google Shape;1012;p81"/>
          <p:cNvGraphicFramePr/>
          <p:nvPr/>
        </p:nvGraphicFramePr>
        <p:xfrm>
          <a:off x="967688" y="1629600"/>
          <a:ext cx="3000000" cy="3000000"/>
        </p:xfrm>
        <a:graphic>
          <a:graphicData uri="http://schemas.openxmlformats.org/drawingml/2006/table">
            <a:tbl>
              <a:tblPr>
                <a:noFill/>
                <a:tableStyleId>{7893E32E-9EC5-4C93-89A8-DD7072C48189}</a:tableStyleId>
              </a:tblPr>
              <a:tblGrid>
                <a:gridCol w="2402875"/>
                <a:gridCol w="3130800"/>
                <a:gridCol w="1674950"/>
              </a:tblGrid>
              <a:tr h="423625">
                <a:tc gridSpan="2">
                  <a:txBody>
                    <a:bodyPr/>
                    <a:lstStyle/>
                    <a:p>
                      <a:pPr indent="0" lvl="0" marL="0" rtl="0" algn="l">
                        <a:spcBef>
                          <a:spcPts val="0"/>
                        </a:spcBef>
                        <a:spcAft>
                          <a:spcPts val="0"/>
                        </a:spcAft>
                        <a:buNone/>
                      </a:pPr>
                      <a:r>
                        <a:rPr lang="it">
                          <a:latin typeface="Lexend"/>
                          <a:ea typeface="Lexend"/>
                          <a:cs typeface="Lexend"/>
                          <a:sym typeface="Lexend"/>
                        </a:rPr>
                        <a:t>Totale KWh (Anno)</a:t>
                      </a:r>
                      <a:endParaRPr>
                        <a:latin typeface="Lexend"/>
                        <a:ea typeface="Lexend"/>
                        <a:cs typeface="Lexend"/>
                        <a:sym typeface="Lexend"/>
                      </a:endParaRPr>
                    </a:p>
                  </a:txBody>
                  <a:tcPr marT="91425" marB="91425" marR="91425" marL="91425"/>
                </a:tc>
                <a:tc hMerge="1"/>
                <a:tc>
                  <a:txBody>
                    <a:bodyPr/>
                    <a:lstStyle/>
                    <a:p>
                      <a:pPr indent="0" lvl="0" marL="0" rtl="0" algn="ctr">
                        <a:spcBef>
                          <a:spcPts val="0"/>
                        </a:spcBef>
                        <a:spcAft>
                          <a:spcPts val="0"/>
                        </a:spcAft>
                        <a:buClr>
                          <a:schemeClr val="dk1"/>
                        </a:buClr>
                        <a:buSzPts val="1100"/>
                        <a:buFont typeface="Arial"/>
                        <a:buNone/>
                      </a:pPr>
                      <a:r>
                        <a:rPr lang="it">
                          <a:solidFill>
                            <a:schemeClr val="dk1"/>
                          </a:solidFill>
                          <a:latin typeface="Lexend"/>
                          <a:ea typeface="Lexend"/>
                          <a:cs typeface="Lexend"/>
                          <a:sym typeface="Lexend"/>
                        </a:rPr>
                        <a:t>4.674</a:t>
                      </a:r>
                      <a:r>
                        <a:rPr lang="it">
                          <a:solidFill>
                            <a:schemeClr val="dk1"/>
                          </a:solidFill>
                          <a:latin typeface="Lexend"/>
                          <a:ea typeface="Lexend"/>
                          <a:cs typeface="Lexend"/>
                          <a:sym typeface="Lexend"/>
                        </a:rPr>
                        <a:t> kWh</a:t>
                      </a:r>
                      <a:endParaRPr>
                        <a:latin typeface="Lexend"/>
                        <a:ea typeface="Lexend"/>
                        <a:cs typeface="Lexend"/>
                        <a:sym typeface="Lexend"/>
                      </a:endParaRPr>
                    </a:p>
                  </a:txBody>
                  <a:tcPr marT="91425" marB="91425" marR="91425" marL="91425">
                    <a:solidFill>
                      <a:srgbClr val="EFEFEF"/>
                    </a:solidFill>
                  </a:tcPr>
                </a:tc>
              </a:tr>
              <a:tr h="429700">
                <a:tc>
                  <a:txBody>
                    <a:bodyPr/>
                    <a:lstStyle/>
                    <a:p>
                      <a:pPr indent="0" lvl="0" marL="0" rtl="0" algn="l">
                        <a:spcBef>
                          <a:spcPts val="0"/>
                        </a:spcBef>
                        <a:spcAft>
                          <a:spcPts val="0"/>
                        </a:spcAft>
                        <a:buNone/>
                      </a:pPr>
                      <a:r>
                        <a:rPr lang="it">
                          <a:latin typeface="Lexend"/>
                          <a:ea typeface="Lexend"/>
                          <a:cs typeface="Lexend"/>
                          <a:sym typeface="Lexend"/>
                        </a:rPr>
                        <a:t>Piano Induzione?</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it">
                          <a:latin typeface="Lexend"/>
                          <a:ea typeface="Lexend"/>
                          <a:cs typeface="Lexend"/>
                          <a:sym typeface="Lexend"/>
                        </a:rPr>
                        <a:t>SI | NO | </a:t>
                      </a:r>
                      <a:r>
                        <a:rPr b="1" lang="it" u="sng">
                          <a:latin typeface="Lexend"/>
                          <a:ea typeface="Lexend"/>
                          <a:cs typeface="Lexend"/>
                          <a:sym typeface="Lexend"/>
                        </a:rPr>
                        <a:t>Entro 1-2 Anni</a:t>
                      </a:r>
                      <a:endParaRPr b="1" u="sng">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it">
                          <a:latin typeface="Lexend"/>
                          <a:ea typeface="Lexend"/>
                          <a:cs typeface="Lexend"/>
                          <a:sym typeface="Lexend"/>
                        </a:rPr>
                        <a:t>550 kWh</a:t>
                      </a:r>
                      <a:endParaRPr>
                        <a:latin typeface="Lexend"/>
                        <a:ea typeface="Lexend"/>
                        <a:cs typeface="Lexend"/>
                        <a:sym typeface="Lexend"/>
                      </a:endParaRPr>
                    </a:p>
                  </a:txBody>
                  <a:tcPr marT="91425" marB="91425" marR="91425" marL="91425">
                    <a:solidFill>
                      <a:srgbClr val="EFEFEF"/>
                    </a:solidFill>
                  </a:tcPr>
                </a:tc>
              </a:tr>
              <a:tr h="429700">
                <a:tc>
                  <a:txBody>
                    <a:bodyPr/>
                    <a:lstStyle/>
                    <a:p>
                      <a:pPr indent="0" lvl="0" marL="0" rtl="0" algn="l">
                        <a:spcBef>
                          <a:spcPts val="0"/>
                        </a:spcBef>
                        <a:spcAft>
                          <a:spcPts val="0"/>
                        </a:spcAft>
                        <a:buNone/>
                      </a:pPr>
                      <a:r>
                        <a:rPr lang="it">
                          <a:latin typeface="Lexend"/>
                          <a:ea typeface="Lexend"/>
                          <a:cs typeface="Lexend"/>
                          <a:sym typeface="Lexend"/>
                        </a:rPr>
                        <a:t>Componenti in Famiglia?</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it">
                          <a:latin typeface="Lexend"/>
                          <a:ea typeface="Lexend"/>
                          <a:cs typeface="Lexend"/>
                          <a:sym typeface="Lexend"/>
                        </a:rPr>
                        <a:t>2 Adulti </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it">
                          <a:latin typeface="Lexend"/>
                          <a:ea typeface="Lexend"/>
                          <a:cs typeface="Lexend"/>
                          <a:sym typeface="Lexend"/>
                        </a:rPr>
                        <a:t>0</a:t>
                      </a:r>
                      <a:endParaRPr>
                        <a:latin typeface="Lexend"/>
                        <a:ea typeface="Lexend"/>
                        <a:cs typeface="Lexend"/>
                        <a:sym typeface="Lexend"/>
                      </a:endParaRPr>
                    </a:p>
                  </a:txBody>
                  <a:tcPr marT="91425" marB="91425" marR="91425" marL="91425">
                    <a:solidFill>
                      <a:srgbClr val="EFEFEF"/>
                    </a:solidFill>
                  </a:tcPr>
                </a:tc>
              </a:tr>
              <a:tr h="429700">
                <a:tc>
                  <a:txBody>
                    <a:bodyPr/>
                    <a:lstStyle/>
                    <a:p>
                      <a:pPr indent="0" lvl="0" marL="0" rtl="0" algn="l">
                        <a:spcBef>
                          <a:spcPts val="0"/>
                        </a:spcBef>
                        <a:spcAft>
                          <a:spcPts val="0"/>
                        </a:spcAft>
                        <a:buNone/>
                      </a:pPr>
                      <a:r>
                        <a:rPr lang="it">
                          <a:latin typeface="Lexend"/>
                          <a:ea typeface="Lexend"/>
                          <a:cs typeface="Lexend"/>
                          <a:sym typeface="Lexend"/>
                        </a:rPr>
                        <a:t>Climatizzazione/Split?</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it">
                          <a:solidFill>
                            <a:schemeClr val="dk1"/>
                          </a:solidFill>
                          <a:latin typeface="Lexend"/>
                          <a:ea typeface="Lexend"/>
                          <a:cs typeface="Lexend"/>
                          <a:sym typeface="Lexend"/>
                        </a:rPr>
                        <a:t>SI | NO | </a:t>
                      </a:r>
                      <a:r>
                        <a:rPr b="1" lang="it" u="sng">
                          <a:solidFill>
                            <a:schemeClr val="dk1"/>
                          </a:solidFill>
                          <a:latin typeface="Lexend"/>
                          <a:ea typeface="Lexend"/>
                          <a:cs typeface="Lexend"/>
                          <a:sym typeface="Lexend"/>
                        </a:rPr>
                        <a:t>Entro 2-3 Anni</a:t>
                      </a:r>
                      <a:r>
                        <a:rPr b="1" lang="it">
                          <a:solidFill>
                            <a:schemeClr val="dk1"/>
                          </a:solidFill>
                          <a:latin typeface="Lexend"/>
                          <a:ea typeface="Lexend"/>
                          <a:cs typeface="Lexend"/>
                          <a:sym typeface="Lexend"/>
                        </a:rPr>
                        <a:t> </a:t>
                      </a:r>
                      <a:r>
                        <a:rPr lang="it">
                          <a:solidFill>
                            <a:schemeClr val="dk1"/>
                          </a:solidFill>
                          <a:latin typeface="Lexend"/>
                          <a:ea typeface="Lexend"/>
                          <a:cs typeface="Lexend"/>
                          <a:sym typeface="Lexend"/>
                        </a:rPr>
                        <a:t>(qta? 2)</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it">
                          <a:solidFill>
                            <a:schemeClr val="dk1"/>
                          </a:solidFill>
                          <a:latin typeface="Lexend"/>
                          <a:ea typeface="Lexend"/>
                          <a:cs typeface="Lexend"/>
                          <a:sym typeface="Lexend"/>
                        </a:rPr>
                        <a:t>1.100 k</a:t>
                      </a:r>
                      <a:r>
                        <a:rPr lang="it">
                          <a:solidFill>
                            <a:schemeClr val="dk1"/>
                          </a:solidFill>
                          <a:latin typeface="Lexend"/>
                          <a:ea typeface="Lexend"/>
                          <a:cs typeface="Lexend"/>
                          <a:sym typeface="Lexend"/>
                        </a:rPr>
                        <a:t>Wh</a:t>
                      </a:r>
                      <a:endParaRPr>
                        <a:latin typeface="Lexend"/>
                        <a:ea typeface="Lexend"/>
                        <a:cs typeface="Lexend"/>
                        <a:sym typeface="Lexend"/>
                      </a:endParaRPr>
                    </a:p>
                  </a:txBody>
                  <a:tcPr marT="91425" marB="91425" marR="91425" marL="91425">
                    <a:solidFill>
                      <a:srgbClr val="EFEFEF"/>
                    </a:solidFill>
                  </a:tcPr>
                </a:tc>
              </a:tr>
              <a:tr h="429700">
                <a:tc>
                  <a:txBody>
                    <a:bodyPr/>
                    <a:lstStyle/>
                    <a:p>
                      <a:pPr indent="0" lvl="0" marL="0" rtl="0" algn="l">
                        <a:spcBef>
                          <a:spcPts val="0"/>
                        </a:spcBef>
                        <a:spcAft>
                          <a:spcPts val="0"/>
                        </a:spcAft>
                        <a:buNone/>
                      </a:pPr>
                      <a:r>
                        <a:rPr lang="it">
                          <a:latin typeface="Lexend"/>
                          <a:ea typeface="Lexend"/>
                          <a:cs typeface="Lexend"/>
                          <a:sym typeface="Lexend"/>
                        </a:rPr>
                        <a:t>Auto Elettrica?</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it">
                          <a:solidFill>
                            <a:schemeClr val="dk1"/>
                          </a:solidFill>
                          <a:latin typeface="Lexend"/>
                          <a:ea typeface="Lexend"/>
                          <a:cs typeface="Lexend"/>
                          <a:sym typeface="Lexend"/>
                        </a:rPr>
                        <a:t>SI | </a:t>
                      </a:r>
                      <a:r>
                        <a:rPr b="1" lang="it" u="sng">
                          <a:solidFill>
                            <a:schemeClr val="dk1"/>
                          </a:solidFill>
                          <a:latin typeface="Lexend"/>
                          <a:ea typeface="Lexend"/>
                          <a:cs typeface="Lexend"/>
                          <a:sym typeface="Lexend"/>
                        </a:rPr>
                        <a:t>NO</a:t>
                      </a:r>
                      <a:r>
                        <a:rPr lang="it">
                          <a:solidFill>
                            <a:schemeClr val="dk1"/>
                          </a:solidFill>
                          <a:latin typeface="Lexend"/>
                          <a:ea typeface="Lexend"/>
                          <a:cs typeface="Lexend"/>
                          <a:sym typeface="Lexend"/>
                        </a:rPr>
                        <a:t> | Entro 2-3 Anni</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it">
                          <a:latin typeface="Lexend"/>
                          <a:ea typeface="Lexend"/>
                          <a:cs typeface="Lexend"/>
                          <a:sym typeface="Lexend"/>
                        </a:rPr>
                        <a:t>0</a:t>
                      </a:r>
                      <a:endParaRPr>
                        <a:latin typeface="Lexend"/>
                        <a:ea typeface="Lexend"/>
                        <a:cs typeface="Lexend"/>
                        <a:sym typeface="Lexend"/>
                      </a:endParaRPr>
                    </a:p>
                  </a:txBody>
                  <a:tcPr marT="91425" marB="91425" marR="91425" marL="91425">
                    <a:solidFill>
                      <a:srgbClr val="EFEFEF"/>
                    </a:solidFill>
                  </a:tcPr>
                </a:tc>
              </a:tr>
              <a:tr h="429700">
                <a:tc gridSpan="2">
                  <a:txBody>
                    <a:bodyPr/>
                    <a:lstStyle/>
                    <a:p>
                      <a:pPr indent="0" lvl="0" marL="0" rtl="0" algn="l">
                        <a:spcBef>
                          <a:spcPts val="0"/>
                        </a:spcBef>
                        <a:spcAft>
                          <a:spcPts val="0"/>
                        </a:spcAft>
                        <a:buNone/>
                      </a:pPr>
                      <a:r>
                        <a:rPr b="1" lang="it">
                          <a:latin typeface="Lexend"/>
                          <a:ea typeface="Lexend"/>
                          <a:cs typeface="Lexend"/>
                          <a:sym typeface="Lexend"/>
                        </a:rPr>
                        <a:t>TOTALE KWh/anno </a:t>
                      </a:r>
                      <a:r>
                        <a:rPr lang="it" sz="1100">
                          <a:latin typeface="Lexend"/>
                          <a:ea typeface="Lexend"/>
                          <a:cs typeface="Lexend"/>
                          <a:sym typeface="Lexend"/>
                        </a:rPr>
                        <a:t>(Attuale </a:t>
                      </a:r>
                      <a:r>
                        <a:rPr lang="it">
                          <a:latin typeface="Lexend"/>
                          <a:ea typeface="Lexend"/>
                          <a:cs typeface="Lexend"/>
                          <a:sym typeface="Lexend"/>
                        </a:rPr>
                        <a:t>+</a:t>
                      </a:r>
                      <a:r>
                        <a:rPr lang="it" sz="1100">
                          <a:latin typeface="Lexend"/>
                          <a:ea typeface="Lexend"/>
                          <a:cs typeface="Lexend"/>
                          <a:sym typeface="Lexend"/>
                        </a:rPr>
                        <a:t> Previsione Breve Termine)</a:t>
                      </a:r>
                      <a:endParaRPr sz="1100">
                        <a:latin typeface="Lexend"/>
                        <a:ea typeface="Lexend"/>
                        <a:cs typeface="Lexend"/>
                        <a:sym typeface="Lexend"/>
                      </a:endParaRPr>
                    </a:p>
                  </a:txBody>
                  <a:tcPr marT="91425" marB="91425" marR="91425" marL="91425">
                    <a:solidFill>
                      <a:srgbClr val="B6D7A8"/>
                    </a:solidFill>
                  </a:tcPr>
                </a:tc>
                <a:tc hMerge="1"/>
                <a:tc>
                  <a:txBody>
                    <a:bodyPr/>
                    <a:lstStyle/>
                    <a:p>
                      <a:pPr indent="0" lvl="0" marL="0" rtl="0" algn="ctr">
                        <a:spcBef>
                          <a:spcPts val="0"/>
                        </a:spcBef>
                        <a:spcAft>
                          <a:spcPts val="0"/>
                        </a:spcAft>
                        <a:buNone/>
                      </a:pPr>
                      <a:r>
                        <a:rPr b="1" lang="it">
                          <a:latin typeface="Lexend"/>
                          <a:ea typeface="Lexend"/>
                          <a:cs typeface="Lexend"/>
                          <a:sym typeface="Lexend"/>
                        </a:rPr>
                        <a:t>6.324</a:t>
                      </a:r>
                      <a:r>
                        <a:rPr b="1" lang="it">
                          <a:latin typeface="Lexend"/>
                          <a:ea typeface="Lexend"/>
                          <a:cs typeface="Lexend"/>
                          <a:sym typeface="Lexend"/>
                        </a:rPr>
                        <a:t> KWh</a:t>
                      </a:r>
                      <a:endParaRPr b="1">
                        <a:latin typeface="Lexend"/>
                        <a:ea typeface="Lexend"/>
                        <a:cs typeface="Lexend"/>
                        <a:sym typeface="Lexend"/>
                      </a:endParaRPr>
                    </a:p>
                  </a:txBody>
                  <a:tcPr marT="91425" marB="91425" marR="91425" marL="91425">
                    <a:solidFill>
                      <a:srgbClr val="B6D7A8"/>
                    </a:solidFill>
                  </a:tcPr>
                </a:tc>
              </a:tr>
            </a:tbl>
          </a:graphicData>
        </a:graphic>
      </p:graphicFrame>
      <p:sp>
        <p:nvSpPr>
          <p:cNvPr id="1013" name="Google Shape;1013;p8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8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9" name="Google Shape;1019;p82"/>
          <p:cNvSpPr txBox="1"/>
          <p:nvPr>
            <p:ph type="title"/>
          </p:nvPr>
        </p:nvSpPr>
        <p:spPr>
          <a:xfrm>
            <a:off x="311700" y="1647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220">
                <a:latin typeface="Lexend"/>
                <a:ea typeface="Lexend"/>
                <a:cs typeface="Lexend"/>
                <a:sym typeface="Lexend"/>
              </a:rPr>
              <a:t>Quindi cosa capiamo?</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1020" name="Google Shape;1020;p82"/>
          <p:cNvSpPr txBox="1"/>
          <p:nvPr/>
        </p:nvSpPr>
        <p:spPr>
          <a:xfrm>
            <a:off x="677775" y="2396625"/>
            <a:ext cx="7788300" cy="1124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2700">
                <a:solidFill>
                  <a:schemeClr val="dk1"/>
                </a:solidFill>
                <a:latin typeface="Lexend"/>
                <a:ea typeface="Lexend"/>
                <a:cs typeface="Lexend"/>
                <a:sym typeface="Lexend"/>
              </a:rPr>
              <a:t>che questa coppia </a:t>
            </a:r>
            <a:r>
              <a:rPr b="1" lang="it" sz="2700">
                <a:solidFill>
                  <a:schemeClr val="dk1"/>
                </a:solidFill>
                <a:highlight>
                  <a:srgbClr val="D9EAD3"/>
                </a:highlight>
                <a:latin typeface="Lexend"/>
                <a:ea typeface="Lexend"/>
                <a:cs typeface="Lexend"/>
                <a:sym typeface="Lexend"/>
              </a:rPr>
              <a:t>consuma</a:t>
            </a:r>
            <a:r>
              <a:rPr lang="it" sz="2700">
                <a:solidFill>
                  <a:schemeClr val="dk1"/>
                </a:solidFill>
                <a:latin typeface="Lexend"/>
                <a:ea typeface="Lexend"/>
                <a:cs typeface="Lexend"/>
                <a:sym typeface="Lexend"/>
              </a:rPr>
              <a:t> e ha bisogno </a:t>
            </a:r>
            <a:endParaRPr sz="2700">
              <a:solidFill>
                <a:schemeClr val="dk1"/>
              </a:solidFill>
              <a:latin typeface="Lexend"/>
              <a:ea typeface="Lexend"/>
              <a:cs typeface="Lexend"/>
              <a:sym typeface="Lexend"/>
            </a:endParaRPr>
          </a:p>
          <a:p>
            <a:pPr indent="0" lvl="0" marL="0" rtl="0" algn="ctr">
              <a:lnSpc>
                <a:spcPct val="115000"/>
              </a:lnSpc>
              <a:spcBef>
                <a:spcPts val="0"/>
              </a:spcBef>
              <a:spcAft>
                <a:spcPts val="0"/>
              </a:spcAft>
              <a:buNone/>
            </a:pPr>
            <a:r>
              <a:rPr lang="it" sz="3000">
                <a:solidFill>
                  <a:schemeClr val="dk1"/>
                </a:solidFill>
                <a:latin typeface="Lexend"/>
                <a:ea typeface="Lexend"/>
                <a:cs typeface="Lexend"/>
                <a:sym typeface="Lexend"/>
              </a:rPr>
              <a:t>minimo di un 6 + 10 kWp.</a:t>
            </a:r>
            <a:endParaRPr sz="3000">
              <a:latin typeface="Lexend"/>
              <a:ea typeface="Lexend"/>
              <a:cs typeface="Lexend"/>
              <a:sym typeface="Lexend"/>
            </a:endParaRPr>
          </a:p>
        </p:txBody>
      </p:sp>
      <p:pic>
        <p:nvPicPr>
          <p:cNvPr id="1021" name="Google Shape;1021;p8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022" name="Google Shape;1022;p8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66</a:t>
            </a:r>
            <a:endParaRPr sz="700">
              <a:latin typeface="Lexend"/>
              <a:ea typeface="Lexend"/>
              <a:cs typeface="Lexend"/>
              <a:sym typeface="Lexend"/>
            </a:endParaRPr>
          </a:p>
        </p:txBody>
      </p:sp>
      <p:sp>
        <p:nvSpPr>
          <p:cNvPr id="1023" name="Google Shape;1023;p8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8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9" name="Google Shape;1029;p83"/>
          <p:cNvSpPr txBox="1"/>
          <p:nvPr/>
        </p:nvSpPr>
        <p:spPr>
          <a:xfrm>
            <a:off x="677850" y="1735950"/>
            <a:ext cx="7788300" cy="1671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5000">
                <a:latin typeface="Lexend"/>
                <a:ea typeface="Lexend"/>
                <a:cs typeface="Lexend"/>
                <a:sym typeface="Lexend"/>
              </a:rPr>
              <a:t>OTTIMO! </a:t>
            </a:r>
            <a:endParaRPr sz="5000">
              <a:latin typeface="Lexend"/>
              <a:ea typeface="Lexend"/>
              <a:cs typeface="Lexend"/>
              <a:sym typeface="Lexend"/>
            </a:endParaRPr>
          </a:p>
          <a:p>
            <a:pPr indent="0" lvl="0" marL="0" rtl="0" algn="ctr">
              <a:lnSpc>
                <a:spcPct val="115000"/>
              </a:lnSpc>
              <a:spcBef>
                <a:spcPts val="0"/>
              </a:spcBef>
              <a:spcAft>
                <a:spcPts val="0"/>
              </a:spcAft>
              <a:buNone/>
            </a:pPr>
            <a:r>
              <a:t/>
            </a:r>
            <a:endParaRPr>
              <a:latin typeface="Lexend"/>
              <a:ea typeface="Lexend"/>
              <a:cs typeface="Lexend"/>
              <a:sym typeface="Lexend"/>
            </a:endParaRPr>
          </a:p>
          <a:p>
            <a:pPr indent="0" lvl="0" marL="0" rtl="0" algn="ctr">
              <a:lnSpc>
                <a:spcPct val="115000"/>
              </a:lnSpc>
              <a:spcBef>
                <a:spcPts val="0"/>
              </a:spcBef>
              <a:spcAft>
                <a:spcPts val="0"/>
              </a:spcAft>
              <a:buNone/>
            </a:pPr>
            <a:r>
              <a:rPr lang="it" sz="2300">
                <a:latin typeface="Lexend"/>
                <a:ea typeface="Lexend"/>
                <a:cs typeface="Lexend"/>
                <a:sym typeface="Lexend"/>
              </a:rPr>
              <a:t>Abbiamo </a:t>
            </a:r>
            <a:r>
              <a:rPr b="1" lang="it" sz="2300">
                <a:solidFill>
                  <a:srgbClr val="274E13"/>
                </a:solidFill>
                <a:highlight>
                  <a:srgbClr val="D9EAD3"/>
                </a:highlight>
                <a:latin typeface="Lexend"/>
                <a:ea typeface="Lexend"/>
                <a:cs typeface="Lexend"/>
                <a:sym typeface="Lexend"/>
              </a:rPr>
              <a:t>dimensionato correttamente un’impianto.</a:t>
            </a:r>
            <a:endParaRPr sz="2300">
              <a:solidFill>
                <a:srgbClr val="274E13"/>
              </a:solidFill>
              <a:highlight>
                <a:srgbClr val="D9EAD3"/>
              </a:highlight>
              <a:latin typeface="Lexend"/>
              <a:ea typeface="Lexend"/>
              <a:cs typeface="Lexend"/>
              <a:sym typeface="Lexend"/>
            </a:endParaRPr>
          </a:p>
        </p:txBody>
      </p:sp>
      <p:pic>
        <p:nvPicPr>
          <p:cNvPr id="1030" name="Google Shape;1030;p8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031" name="Google Shape;1031;p8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67</a:t>
            </a:r>
            <a:endParaRPr sz="700">
              <a:latin typeface="Lexend"/>
              <a:ea typeface="Lexend"/>
              <a:cs typeface="Lexend"/>
              <a:sym typeface="Lexend"/>
            </a:endParaRPr>
          </a:p>
        </p:txBody>
      </p:sp>
      <p:sp>
        <p:nvSpPr>
          <p:cNvPr id="1032" name="Google Shape;1032;p8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8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38" name="Google Shape;1038;p84"/>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039" name="Google Shape;1039;p8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Dimensioni Fotovoltaico e Proiezioni</a:t>
            </a:r>
            <a:r>
              <a:rPr lang="it" sz="700">
                <a:latin typeface="Lexend"/>
                <a:ea typeface="Lexend"/>
                <a:cs typeface="Lexend"/>
                <a:sym typeface="Lexend"/>
              </a:rPr>
              <a:t> | 68</a:t>
            </a:r>
            <a:endParaRPr sz="700">
              <a:latin typeface="Lexend"/>
              <a:ea typeface="Lexend"/>
              <a:cs typeface="Lexend"/>
              <a:sym typeface="Lexend"/>
            </a:endParaRPr>
          </a:p>
        </p:txBody>
      </p:sp>
      <p:sp>
        <p:nvSpPr>
          <p:cNvPr id="1040" name="Google Shape;1040;p84"/>
          <p:cNvSpPr txBox="1"/>
          <p:nvPr>
            <p:ph type="title"/>
          </p:nvPr>
        </p:nvSpPr>
        <p:spPr>
          <a:xfrm>
            <a:off x="311700" y="8435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220">
                <a:latin typeface="Lexend"/>
                <a:ea typeface="Lexend"/>
                <a:cs typeface="Lexend"/>
                <a:sym typeface="Lexend"/>
              </a:rPr>
              <a:t>Capiamo il </a:t>
            </a:r>
            <a:r>
              <a:rPr b="1" lang="it" sz="2220">
                <a:latin typeface="Lexend"/>
                <a:ea typeface="Lexend"/>
                <a:cs typeface="Lexend"/>
                <a:sym typeface="Lexend"/>
              </a:rPr>
              <a:t>Mercato Privati</a:t>
            </a:r>
            <a:r>
              <a:rPr lang="it" sz="2220">
                <a:latin typeface="Lexend"/>
                <a:ea typeface="Lexend"/>
                <a:cs typeface="Lexend"/>
                <a:sym typeface="Lexend"/>
              </a:rPr>
              <a:t> e i tagli più comuni</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graphicFrame>
        <p:nvGraphicFramePr>
          <p:cNvPr id="1041" name="Google Shape;1041;p84"/>
          <p:cNvGraphicFramePr/>
          <p:nvPr/>
        </p:nvGraphicFramePr>
        <p:xfrm>
          <a:off x="2994663" y="1551700"/>
          <a:ext cx="3000000" cy="3000000"/>
        </p:xfrm>
        <a:graphic>
          <a:graphicData uri="http://schemas.openxmlformats.org/drawingml/2006/table">
            <a:tbl>
              <a:tblPr>
                <a:noFill/>
                <a:tableStyleId>{7893E32E-9EC5-4C93-89A8-DD7072C48189}</a:tableStyleId>
              </a:tblPr>
              <a:tblGrid>
                <a:gridCol w="1188125"/>
                <a:gridCol w="1966550"/>
              </a:tblGrid>
              <a:tr h="381000">
                <a:tc>
                  <a:txBody>
                    <a:bodyPr/>
                    <a:lstStyle/>
                    <a:p>
                      <a:pPr indent="0" lvl="0" marL="0" rtl="0" algn="l">
                        <a:spcBef>
                          <a:spcPts val="0"/>
                        </a:spcBef>
                        <a:spcAft>
                          <a:spcPts val="0"/>
                        </a:spcAft>
                        <a:buNone/>
                      </a:pPr>
                      <a:r>
                        <a:rPr lang="it" sz="1200">
                          <a:latin typeface="Lexend"/>
                          <a:ea typeface="Lexend"/>
                          <a:cs typeface="Lexend"/>
                          <a:sym typeface="Lexend"/>
                        </a:rPr>
                        <a:t>3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latin typeface="Lexend"/>
                          <a:ea typeface="Lexend"/>
                          <a:cs typeface="Lexend"/>
                          <a:sym typeface="Lexend"/>
                        </a:rPr>
                        <a:t>3 kWp + 5Kwp</a:t>
                      </a:r>
                      <a:endParaRPr sz="1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4</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4 kWp </a:t>
                      </a:r>
                      <a:r>
                        <a:rPr lang="it" sz="1200">
                          <a:solidFill>
                            <a:schemeClr val="dk1"/>
                          </a:solidFill>
                          <a:latin typeface="Lexend"/>
                          <a:ea typeface="Lexend"/>
                          <a:cs typeface="Lexend"/>
                          <a:sym typeface="Lexend"/>
                        </a:rPr>
                        <a:t>+ 5/10Kwp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5</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5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b="1" lang="it">
                          <a:solidFill>
                            <a:srgbClr val="38761D"/>
                          </a:solidFill>
                          <a:latin typeface="Lexend"/>
                          <a:ea typeface="Lexend"/>
                          <a:cs typeface="Lexend"/>
                          <a:sym typeface="Lexend"/>
                        </a:rPr>
                        <a:t>6</a:t>
                      </a:r>
                      <a:r>
                        <a:rPr b="1" lang="it">
                          <a:solidFill>
                            <a:srgbClr val="38761D"/>
                          </a:solidFill>
                          <a:latin typeface="Lexend"/>
                          <a:ea typeface="Lexend"/>
                          <a:cs typeface="Lexend"/>
                          <a:sym typeface="Lexend"/>
                        </a:rPr>
                        <a:t> kWp</a:t>
                      </a:r>
                      <a:endParaRPr b="1">
                        <a:solidFill>
                          <a:srgbClr val="38761D"/>
                        </a:solidFill>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solidFill>
                      <a:srgbClr val="B6D7A8"/>
                    </a:solidFill>
                  </a:tcPr>
                </a:tc>
                <a:tc>
                  <a:txBody>
                    <a:bodyPr/>
                    <a:lstStyle/>
                    <a:p>
                      <a:pPr indent="0" lvl="0" marL="0" rtl="0" algn="l">
                        <a:spcBef>
                          <a:spcPts val="0"/>
                        </a:spcBef>
                        <a:spcAft>
                          <a:spcPts val="0"/>
                        </a:spcAft>
                        <a:buNone/>
                      </a:pPr>
                      <a:r>
                        <a:rPr b="1" lang="it">
                          <a:solidFill>
                            <a:srgbClr val="38761D"/>
                          </a:solidFill>
                          <a:latin typeface="Lexend"/>
                          <a:ea typeface="Lexend"/>
                          <a:cs typeface="Lexend"/>
                          <a:sym typeface="Lexend"/>
                        </a:rPr>
                        <a:t>6 kWp</a:t>
                      </a:r>
                      <a:r>
                        <a:rPr b="1" lang="it">
                          <a:solidFill>
                            <a:srgbClr val="38761D"/>
                          </a:solidFill>
                          <a:latin typeface="Lexend"/>
                          <a:ea typeface="Lexend"/>
                          <a:cs typeface="Lexend"/>
                          <a:sym typeface="Lexend"/>
                        </a:rPr>
                        <a:t> + 10Kwp</a:t>
                      </a:r>
                      <a:endParaRPr b="1">
                        <a:solidFill>
                          <a:srgbClr val="38761D"/>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7</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7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8</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8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9</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9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10</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10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042" name="Google Shape;1042;p84"/>
          <p:cNvSpPr/>
          <p:nvPr/>
        </p:nvSpPr>
        <p:spPr>
          <a:xfrm rot="-5400000">
            <a:off x="6422316" y="2660580"/>
            <a:ext cx="237000" cy="474300"/>
          </a:xfrm>
          <a:prstGeom prst="upArrow">
            <a:avLst>
              <a:gd fmla="val 50000" name="adj1"/>
              <a:gd fmla="val 50000" name="adj2"/>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3" name="Google Shape;1043;p84"/>
          <p:cNvSpPr txBox="1"/>
          <p:nvPr>
            <p:ph type="title"/>
          </p:nvPr>
        </p:nvSpPr>
        <p:spPr>
          <a:xfrm>
            <a:off x="6820575" y="2630125"/>
            <a:ext cx="1550700" cy="535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220">
                <a:latin typeface="Lexend"/>
                <a:ea typeface="Lexend"/>
                <a:cs typeface="Lexend"/>
                <a:sym typeface="Lexend"/>
              </a:rPr>
              <a:t>E’ e sarà per tutti il nuovo standard!</a:t>
            </a:r>
            <a:endParaRPr b="1" sz="1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1044" name="Google Shape;1044;p8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pic>
        <p:nvPicPr>
          <p:cNvPr id="1049" name="Google Shape;1049;p85"/>
          <p:cNvPicPr preferRelativeResize="0"/>
          <p:nvPr/>
        </p:nvPicPr>
        <p:blipFill rotWithShape="1">
          <a:blip r:embed="rId3">
            <a:alphaModFix/>
          </a:blip>
          <a:srcRect b="-949" l="-6383" r="-707" t="0"/>
          <a:stretch/>
        </p:blipFill>
        <p:spPr>
          <a:xfrm>
            <a:off x="5498700" y="824825"/>
            <a:ext cx="2741701" cy="3877775"/>
          </a:xfrm>
          <a:prstGeom prst="rect">
            <a:avLst/>
          </a:prstGeom>
          <a:noFill/>
          <a:ln cap="flat" cmpd="sng" w="9525">
            <a:solidFill>
              <a:srgbClr val="B7B7B7"/>
            </a:solidFill>
            <a:prstDash val="solid"/>
            <a:round/>
            <a:headEnd len="sm" w="sm" type="none"/>
            <a:tailEnd len="sm" w="sm" type="none"/>
          </a:ln>
        </p:spPr>
      </p:pic>
      <p:sp>
        <p:nvSpPr>
          <p:cNvPr id="1050" name="Google Shape;1050;p8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1" name="Google Shape;1051;p85"/>
          <p:cNvSpPr txBox="1"/>
          <p:nvPr>
            <p:ph type="title"/>
          </p:nvPr>
        </p:nvSpPr>
        <p:spPr>
          <a:xfrm>
            <a:off x="569725" y="1551475"/>
            <a:ext cx="3319200" cy="46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it" sz="2220">
                <a:latin typeface="Lexend"/>
                <a:ea typeface="Lexend"/>
                <a:cs typeface="Lexend"/>
                <a:sym typeface="Lexend"/>
              </a:rPr>
              <a:t>Modulo Raccolta Dati</a:t>
            </a:r>
            <a:endParaRPr b="1" sz="2220">
              <a:latin typeface="Lexend"/>
              <a:ea typeface="Lexend"/>
              <a:cs typeface="Lexend"/>
              <a:sym typeface="Lexend"/>
            </a:endParaRPr>
          </a:p>
        </p:txBody>
      </p:sp>
      <p:sp>
        <p:nvSpPr>
          <p:cNvPr id="1052" name="Google Shape;1052;p85"/>
          <p:cNvSpPr txBox="1"/>
          <p:nvPr>
            <p:ph idx="1" type="body"/>
          </p:nvPr>
        </p:nvSpPr>
        <p:spPr>
          <a:xfrm>
            <a:off x="569725" y="2050215"/>
            <a:ext cx="3996000" cy="205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300">
                <a:solidFill>
                  <a:schemeClr val="dk1"/>
                </a:solidFill>
                <a:latin typeface="Lexend"/>
                <a:ea typeface="Lexend"/>
                <a:cs typeface="Lexend"/>
                <a:sym typeface="Lexend"/>
              </a:rPr>
              <a:t>Inserire dati cliente e compilare modulo raccolta dati per la corretta ubicazione specifiche impianto.</a:t>
            </a:r>
            <a:endParaRPr sz="1300">
              <a:solidFill>
                <a:schemeClr val="dk1"/>
              </a:solidFill>
              <a:latin typeface="Lexend"/>
              <a:ea typeface="Lexend"/>
              <a:cs typeface="Lexend"/>
              <a:sym typeface="Lexend"/>
            </a:endParaRPr>
          </a:p>
          <a:p>
            <a:pPr indent="0" lvl="0" marL="0" rtl="0" algn="l">
              <a:spcBef>
                <a:spcPts val="0"/>
              </a:spcBef>
              <a:spcAft>
                <a:spcPts val="0"/>
              </a:spcAft>
              <a:buNone/>
            </a:pPr>
            <a:r>
              <a:t/>
            </a:r>
            <a:endParaRPr sz="1300">
              <a:solidFill>
                <a:schemeClr val="dk1"/>
              </a:solidFill>
              <a:latin typeface="Lexend"/>
              <a:ea typeface="Lexend"/>
              <a:cs typeface="Lexend"/>
              <a:sym typeface="Lexend"/>
            </a:endParaRPr>
          </a:p>
          <a:p>
            <a:pPr indent="0" lvl="0" marL="0" rtl="0" algn="l">
              <a:spcBef>
                <a:spcPts val="0"/>
              </a:spcBef>
              <a:spcAft>
                <a:spcPts val="0"/>
              </a:spcAft>
              <a:buNone/>
            </a:pPr>
            <a:r>
              <a:rPr lang="it" sz="1300">
                <a:solidFill>
                  <a:schemeClr val="dk1"/>
                </a:solidFill>
                <a:latin typeface="Lexend"/>
                <a:ea typeface="Lexend"/>
                <a:cs typeface="Lexend"/>
                <a:sym typeface="Lexend"/>
              </a:rPr>
              <a:t>Per una documentazione completa, allegare:</a:t>
            </a:r>
            <a:endParaRPr sz="1300">
              <a:solidFill>
                <a:schemeClr val="dk1"/>
              </a:solidFill>
              <a:latin typeface="Lexend"/>
              <a:ea typeface="Lexend"/>
              <a:cs typeface="Lexend"/>
              <a:sym typeface="Lexend"/>
            </a:endParaRPr>
          </a:p>
          <a:p>
            <a:pPr indent="-311150" lvl="0" marL="457200" rtl="0" algn="l">
              <a:spcBef>
                <a:spcPts val="0"/>
              </a:spcBef>
              <a:spcAft>
                <a:spcPts val="0"/>
              </a:spcAft>
              <a:buClr>
                <a:schemeClr val="dk1"/>
              </a:buClr>
              <a:buSzPts val="1300"/>
              <a:buFont typeface="Lexend"/>
              <a:buAutoNum type="arabicPeriod"/>
            </a:pPr>
            <a:r>
              <a:rPr lang="it" sz="1300">
                <a:solidFill>
                  <a:schemeClr val="dk1"/>
                </a:solidFill>
                <a:latin typeface="Lexend"/>
                <a:ea typeface="Lexend"/>
                <a:cs typeface="Lexend"/>
                <a:sym typeface="Lexend"/>
              </a:rPr>
              <a:t>Foto esterno e insieme dell’immobile;</a:t>
            </a:r>
            <a:endParaRPr sz="1300">
              <a:solidFill>
                <a:schemeClr val="dk1"/>
              </a:solidFill>
              <a:latin typeface="Lexend"/>
              <a:ea typeface="Lexend"/>
              <a:cs typeface="Lexend"/>
              <a:sym typeface="Lexend"/>
            </a:endParaRPr>
          </a:p>
          <a:p>
            <a:pPr indent="-311150" lvl="0" marL="457200" rtl="0" algn="l">
              <a:spcBef>
                <a:spcPts val="0"/>
              </a:spcBef>
              <a:spcAft>
                <a:spcPts val="0"/>
              </a:spcAft>
              <a:buClr>
                <a:schemeClr val="dk1"/>
              </a:buClr>
              <a:buSzPts val="1300"/>
              <a:buFont typeface="Lexend"/>
              <a:buAutoNum type="arabicPeriod"/>
            </a:pPr>
            <a:r>
              <a:rPr lang="it" sz="1300">
                <a:solidFill>
                  <a:schemeClr val="dk1"/>
                </a:solidFill>
                <a:latin typeface="Lexend"/>
                <a:ea typeface="Lexend"/>
                <a:cs typeface="Lexend"/>
                <a:sym typeface="Lexend"/>
              </a:rPr>
              <a:t>C.I. e C.F. Intestatario Bolletta;</a:t>
            </a:r>
            <a:endParaRPr sz="1300">
              <a:solidFill>
                <a:schemeClr val="dk1"/>
              </a:solidFill>
              <a:latin typeface="Lexend"/>
              <a:ea typeface="Lexend"/>
              <a:cs typeface="Lexend"/>
              <a:sym typeface="Lexend"/>
            </a:endParaRPr>
          </a:p>
          <a:p>
            <a:pPr indent="-311150" lvl="0" marL="457200" rtl="0" algn="l">
              <a:spcBef>
                <a:spcPts val="0"/>
              </a:spcBef>
              <a:spcAft>
                <a:spcPts val="0"/>
              </a:spcAft>
              <a:buClr>
                <a:schemeClr val="dk1"/>
              </a:buClr>
              <a:buSzPts val="1300"/>
              <a:buFont typeface="Lexend"/>
              <a:buAutoNum type="arabicPeriod"/>
            </a:pPr>
            <a:r>
              <a:rPr lang="it" sz="1300">
                <a:solidFill>
                  <a:schemeClr val="dk1"/>
                </a:solidFill>
                <a:latin typeface="Lexend"/>
                <a:ea typeface="Lexend"/>
                <a:cs typeface="Lexend"/>
                <a:sym typeface="Lexend"/>
              </a:rPr>
              <a:t>Scheda o Visura Catastale* e Bolletta. </a:t>
            </a:r>
            <a:endParaRPr sz="1300">
              <a:solidFill>
                <a:schemeClr val="dk1"/>
              </a:solidFill>
              <a:latin typeface="Lexend"/>
              <a:ea typeface="Lexend"/>
              <a:cs typeface="Lexend"/>
              <a:sym typeface="Lexend"/>
            </a:endParaRPr>
          </a:p>
        </p:txBody>
      </p:sp>
      <p:grpSp>
        <p:nvGrpSpPr>
          <p:cNvPr id="1053" name="Google Shape;1053;p85"/>
          <p:cNvGrpSpPr/>
          <p:nvPr/>
        </p:nvGrpSpPr>
        <p:grpSpPr>
          <a:xfrm rot="5400000">
            <a:off x="4703467" y="1796576"/>
            <a:ext cx="1132479" cy="110776"/>
            <a:chOff x="1004250" y="2303450"/>
            <a:chExt cx="3975005" cy="388825"/>
          </a:xfrm>
        </p:grpSpPr>
        <p:cxnSp>
          <p:nvCxnSpPr>
            <p:cNvPr id="1054" name="Google Shape;1054;p85"/>
            <p:cNvCxnSpPr/>
            <p:nvPr/>
          </p:nvCxnSpPr>
          <p:spPr>
            <a:xfrm rot="10800000">
              <a:off x="2991750" y="510375"/>
              <a:ext cx="0" cy="3975000"/>
            </a:xfrm>
            <a:prstGeom prst="straightConnector1">
              <a:avLst/>
            </a:prstGeom>
            <a:noFill/>
            <a:ln cap="flat" cmpd="sng" w="9525">
              <a:solidFill>
                <a:schemeClr val="dk2"/>
              </a:solidFill>
              <a:prstDash val="solid"/>
              <a:round/>
              <a:headEnd len="med" w="med" type="none"/>
              <a:tailEnd len="med" w="med" type="none"/>
            </a:ln>
          </p:spPr>
        </p:cxnSp>
        <p:cxnSp>
          <p:nvCxnSpPr>
            <p:cNvPr id="1055" name="Google Shape;1055;p85"/>
            <p:cNvCxnSpPr/>
            <p:nvPr/>
          </p:nvCxnSpPr>
          <p:spPr>
            <a:xfrm>
              <a:off x="1004250"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1056" name="Google Shape;1056;p85"/>
            <p:cNvCxnSpPr/>
            <p:nvPr/>
          </p:nvCxnSpPr>
          <p:spPr>
            <a:xfrm>
              <a:off x="4979255"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1057" name="Google Shape;1057;p85"/>
            <p:cNvCxnSpPr/>
            <p:nvPr/>
          </p:nvCxnSpPr>
          <p:spPr>
            <a:xfrm>
              <a:off x="2991753" y="2497875"/>
              <a:ext cx="0" cy="194400"/>
            </a:xfrm>
            <a:prstGeom prst="straightConnector1">
              <a:avLst/>
            </a:prstGeom>
            <a:noFill/>
            <a:ln cap="flat" cmpd="sng" w="9525">
              <a:solidFill>
                <a:schemeClr val="dk2"/>
              </a:solidFill>
              <a:prstDash val="solid"/>
              <a:round/>
              <a:headEnd len="med" w="med" type="none"/>
              <a:tailEnd len="med" w="med" type="none"/>
            </a:ln>
          </p:spPr>
        </p:cxnSp>
      </p:grpSp>
      <p:grpSp>
        <p:nvGrpSpPr>
          <p:cNvPr id="1058" name="Google Shape;1058;p85"/>
          <p:cNvGrpSpPr/>
          <p:nvPr/>
        </p:nvGrpSpPr>
        <p:grpSpPr>
          <a:xfrm rot="5400000">
            <a:off x="4572955" y="3164388"/>
            <a:ext cx="1393503" cy="110776"/>
            <a:chOff x="1004250" y="2303450"/>
            <a:chExt cx="4891200" cy="388825"/>
          </a:xfrm>
        </p:grpSpPr>
        <p:cxnSp>
          <p:nvCxnSpPr>
            <p:cNvPr id="1059" name="Google Shape;1059;p85"/>
            <p:cNvCxnSpPr/>
            <p:nvPr/>
          </p:nvCxnSpPr>
          <p:spPr>
            <a:xfrm rot="10800000">
              <a:off x="3449850" y="52275"/>
              <a:ext cx="0" cy="4891200"/>
            </a:xfrm>
            <a:prstGeom prst="straightConnector1">
              <a:avLst/>
            </a:prstGeom>
            <a:noFill/>
            <a:ln cap="flat" cmpd="sng" w="9525">
              <a:solidFill>
                <a:schemeClr val="dk2"/>
              </a:solidFill>
              <a:prstDash val="solid"/>
              <a:round/>
              <a:headEnd len="med" w="med" type="none"/>
              <a:tailEnd len="med" w="med" type="none"/>
            </a:ln>
          </p:spPr>
        </p:cxnSp>
        <p:cxnSp>
          <p:nvCxnSpPr>
            <p:cNvPr id="1060" name="Google Shape;1060;p85"/>
            <p:cNvCxnSpPr/>
            <p:nvPr/>
          </p:nvCxnSpPr>
          <p:spPr>
            <a:xfrm>
              <a:off x="1004250"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1061" name="Google Shape;1061;p85"/>
            <p:cNvCxnSpPr/>
            <p:nvPr/>
          </p:nvCxnSpPr>
          <p:spPr>
            <a:xfrm>
              <a:off x="5893787"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1062" name="Google Shape;1062;p85"/>
            <p:cNvCxnSpPr/>
            <p:nvPr/>
          </p:nvCxnSpPr>
          <p:spPr>
            <a:xfrm>
              <a:off x="3449808" y="2497875"/>
              <a:ext cx="0" cy="194400"/>
            </a:xfrm>
            <a:prstGeom prst="straightConnector1">
              <a:avLst/>
            </a:prstGeom>
            <a:noFill/>
            <a:ln cap="flat" cmpd="sng" w="9525">
              <a:solidFill>
                <a:schemeClr val="dk2"/>
              </a:solidFill>
              <a:prstDash val="solid"/>
              <a:round/>
              <a:headEnd len="med" w="med" type="none"/>
              <a:tailEnd len="med" w="med" type="none"/>
            </a:ln>
          </p:spPr>
        </p:cxnSp>
      </p:grpSp>
      <p:sp>
        <p:nvSpPr>
          <p:cNvPr id="1063" name="Google Shape;1063;p85"/>
          <p:cNvSpPr txBox="1"/>
          <p:nvPr>
            <p:ph idx="1" type="body"/>
          </p:nvPr>
        </p:nvSpPr>
        <p:spPr>
          <a:xfrm rot="-5400000">
            <a:off x="4466275" y="1675275"/>
            <a:ext cx="1137600" cy="358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000">
                <a:solidFill>
                  <a:schemeClr val="dk1"/>
                </a:solidFill>
                <a:latin typeface="Lexend"/>
                <a:ea typeface="Lexend"/>
                <a:cs typeface="Lexend"/>
                <a:sym typeface="Lexend"/>
              </a:rPr>
              <a:t>Anagrafica CL</a:t>
            </a:r>
            <a:endParaRPr b="1" sz="1000">
              <a:latin typeface="Lexend"/>
              <a:ea typeface="Lexend"/>
              <a:cs typeface="Lexend"/>
              <a:sym typeface="Lexend"/>
            </a:endParaRPr>
          </a:p>
        </p:txBody>
      </p:sp>
      <p:sp>
        <p:nvSpPr>
          <p:cNvPr id="1064" name="Google Shape;1064;p85"/>
          <p:cNvSpPr txBox="1"/>
          <p:nvPr>
            <p:ph idx="1" type="body"/>
          </p:nvPr>
        </p:nvSpPr>
        <p:spPr>
          <a:xfrm rot="-5400000">
            <a:off x="4466275" y="3040525"/>
            <a:ext cx="1137600" cy="358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000">
                <a:solidFill>
                  <a:schemeClr val="dk1"/>
                </a:solidFill>
                <a:latin typeface="Lexend"/>
                <a:ea typeface="Lexend"/>
                <a:cs typeface="Lexend"/>
                <a:sym typeface="Lexend"/>
              </a:rPr>
              <a:t>Dati Tecnici</a:t>
            </a:r>
            <a:endParaRPr b="1" sz="1000">
              <a:latin typeface="Lexend"/>
              <a:ea typeface="Lexend"/>
              <a:cs typeface="Lexend"/>
              <a:sym typeface="Lexend"/>
            </a:endParaRPr>
          </a:p>
        </p:txBody>
      </p:sp>
      <p:pic>
        <p:nvPicPr>
          <p:cNvPr id="1065" name="Google Shape;1065;p85"/>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066" name="Google Shape;1066;p8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Modulo Raccolta Dati</a:t>
            </a:r>
            <a:r>
              <a:rPr lang="it" sz="700">
                <a:latin typeface="Lexend"/>
                <a:ea typeface="Lexend"/>
                <a:cs typeface="Lexend"/>
                <a:sym typeface="Lexend"/>
              </a:rPr>
              <a:t> | 69</a:t>
            </a:r>
            <a:endParaRPr sz="700">
              <a:latin typeface="Lexend"/>
              <a:ea typeface="Lexend"/>
              <a:cs typeface="Lexend"/>
              <a:sym typeface="Lexend"/>
            </a:endParaRPr>
          </a:p>
        </p:txBody>
      </p:sp>
      <p:sp>
        <p:nvSpPr>
          <p:cNvPr id="1067" name="Google Shape;1067;p8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8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3" name="Google Shape;1073;p86"/>
          <p:cNvSpPr txBox="1"/>
          <p:nvPr>
            <p:ph type="title"/>
          </p:nvPr>
        </p:nvSpPr>
        <p:spPr>
          <a:xfrm>
            <a:off x="311700" y="9990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220">
                <a:latin typeface="Lexend"/>
                <a:ea typeface="Lexend"/>
                <a:cs typeface="Lexend"/>
                <a:sym typeface="Lexend"/>
              </a:rPr>
              <a:t>Ricapitoliamo</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pic>
        <p:nvPicPr>
          <p:cNvPr id="1074" name="Google Shape;1074;p8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075" name="Google Shape;1075;p8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nel Mercato di oggi</a:t>
            </a:r>
            <a:r>
              <a:rPr lang="it" sz="700">
                <a:latin typeface="Lexend"/>
                <a:ea typeface="Lexend"/>
                <a:cs typeface="Lexend"/>
                <a:sym typeface="Lexend"/>
              </a:rPr>
              <a:t> | 70</a:t>
            </a:r>
            <a:endParaRPr sz="700">
              <a:latin typeface="Lexend"/>
              <a:ea typeface="Lexend"/>
              <a:cs typeface="Lexend"/>
              <a:sym typeface="Lexend"/>
            </a:endParaRPr>
          </a:p>
        </p:txBody>
      </p:sp>
      <p:graphicFrame>
        <p:nvGraphicFramePr>
          <p:cNvPr id="1076" name="Google Shape;1076;p86"/>
          <p:cNvGraphicFramePr/>
          <p:nvPr/>
        </p:nvGraphicFramePr>
        <p:xfrm>
          <a:off x="468563" y="1862750"/>
          <a:ext cx="3000000" cy="3000000"/>
        </p:xfrm>
        <a:graphic>
          <a:graphicData uri="http://schemas.openxmlformats.org/drawingml/2006/table">
            <a:tbl>
              <a:tblPr>
                <a:noFill/>
                <a:tableStyleId>{7893E32E-9EC5-4C93-89A8-DD7072C48189}</a:tableStyleId>
              </a:tblPr>
              <a:tblGrid>
                <a:gridCol w="2412650"/>
                <a:gridCol w="1856025"/>
                <a:gridCol w="1671200"/>
                <a:gridCol w="2078275"/>
              </a:tblGrid>
              <a:tr h="423625">
                <a:tc>
                  <a:txBody>
                    <a:bodyPr/>
                    <a:lstStyle/>
                    <a:p>
                      <a:pPr indent="0" lvl="0" marL="0" rtl="0" algn="ctr">
                        <a:spcBef>
                          <a:spcPts val="0"/>
                        </a:spcBef>
                        <a:spcAft>
                          <a:spcPts val="0"/>
                        </a:spcAft>
                        <a:buNone/>
                      </a:pPr>
                      <a:r>
                        <a:rPr b="1" lang="it"/>
                        <a:t>Normative</a:t>
                      </a:r>
                      <a:endParaRPr b="1"/>
                    </a:p>
                  </a:txBody>
                  <a:tcPr marT="91425" marB="91425" marR="91425" marL="91425">
                    <a:solidFill>
                      <a:srgbClr val="B6D7A8"/>
                    </a:solidFill>
                  </a:tcPr>
                </a:tc>
                <a:tc>
                  <a:txBody>
                    <a:bodyPr/>
                    <a:lstStyle/>
                    <a:p>
                      <a:pPr indent="0" lvl="0" marL="0" rtl="0" algn="ctr">
                        <a:spcBef>
                          <a:spcPts val="0"/>
                        </a:spcBef>
                        <a:spcAft>
                          <a:spcPts val="0"/>
                        </a:spcAft>
                        <a:buNone/>
                      </a:pPr>
                      <a:r>
                        <a:rPr b="1" lang="it"/>
                        <a:t>Mercato</a:t>
                      </a:r>
                      <a:endParaRPr b="1"/>
                    </a:p>
                  </a:txBody>
                  <a:tcPr marT="91425" marB="91425" marR="91425" marL="91425">
                    <a:solidFill>
                      <a:srgbClr val="B6D7A8"/>
                    </a:solidFill>
                  </a:tcPr>
                </a:tc>
                <a:tc>
                  <a:txBody>
                    <a:bodyPr/>
                    <a:lstStyle/>
                    <a:p>
                      <a:pPr indent="0" lvl="0" marL="0" rtl="0" algn="ctr">
                        <a:spcBef>
                          <a:spcPts val="0"/>
                        </a:spcBef>
                        <a:spcAft>
                          <a:spcPts val="0"/>
                        </a:spcAft>
                        <a:buNone/>
                      </a:pPr>
                      <a:r>
                        <a:rPr b="1" lang="it"/>
                        <a:t>Prodotti</a:t>
                      </a:r>
                      <a:endParaRPr b="1"/>
                    </a:p>
                  </a:txBody>
                  <a:tcPr marT="91425" marB="91425" marR="91425" marL="91425">
                    <a:solidFill>
                      <a:srgbClr val="B6D7A8"/>
                    </a:solidFill>
                  </a:tcPr>
                </a:tc>
                <a:tc>
                  <a:txBody>
                    <a:bodyPr/>
                    <a:lstStyle/>
                    <a:p>
                      <a:pPr indent="0" lvl="0" marL="0" rtl="0" algn="ctr">
                        <a:spcBef>
                          <a:spcPts val="0"/>
                        </a:spcBef>
                        <a:spcAft>
                          <a:spcPts val="0"/>
                        </a:spcAft>
                        <a:buNone/>
                      </a:pPr>
                      <a:r>
                        <a:rPr b="1" lang="it"/>
                        <a:t>Servizi</a:t>
                      </a:r>
                      <a:endParaRPr b="1"/>
                    </a:p>
                  </a:txBody>
                  <a:tcPr marT="91425" marB="91425" marR="91425" marL="91425">
                    <a:solidFill>
                      <a:srgbClr val="B6D7A8"/>
                    </a:solidFill>
                  </a:tcPr>
                </a:tc>
              </a:tr>
              <a:tr h="429700">
                <a:tc>
                  <a:txBody>
                    <a:bodyPr/>
                    <a:lstStyle/>
                    <a:p>
                      <a:pPr indent="0" lvl="0" marL="0" rtl="0" algn="ctr">
                        <a:spcBef>
                          <a:spcPts val="0"/>
                        </a:spcBef>
                        <a:spcAft>
                          <a:spcPts val="0"/>
                        </a:spcAft>
                        <a:buNone/>
                      </a:pPr>
                      <a:r>
                        <a:rPr lang="it" sz="1300">
                          <a:latin typeface="Lexend"/>
                          <a:ea typeface="Lexend"/>
                          <a:cs typeface="Lexend"/>
                          <a:sym typeface="Lexend"/>
                        </a:rPr>
                        <a:t>Obblighi UE Nuove Costruzioni</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I</a:t>
                      </a:r>
                      <a:r>
                        <a:rPr lang="it" sz="1300">
                          <a:latin typeface="Lexend"/>
                          <a:ea typeface="Lexend"/>
                          <a:cs typeface="Lexend"/>
                          <a:sym typeface="Lexend"/>
                        </a:rPr>
                        <a:t>n continua crescita</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Linea Base</a:t>
                      </a:r>
                      <a:endParaRPr sz="1300">
                        <a:latin typeface="Lexend"/>
                        <a:ea typeface="Lexend"/>
                        <a:cs typeface="Lexend"/>
                        <a:sym typeface="Lexend"/>
                      </a:endParaRPr>
                    </a:p>
                    <a:p>
                      <a:pPr indent="0" lvl="0" marL="0" rtl="0" algn="ctr">
                        <a:spcBef>
                          <a:spcPts val="0"/>
                        </a:spcBef>
                        <a:spcAft>
                          <a:spcPts val="0"/>
                        </a:spcAft>
                        <a:buNone/>
                      </a:pPr>
                      <a:r>
                        <a:rPr lang="it" sz="1300">
                          <a:latin typeface="Lexend"/>
                          <a:ea typeface="Lexend"/>
                          <a:cs typeface="Lexend"/>
                          <a:sym typeface="Lexend"/>
                        </a:rPr>
                        <a:t>“chiavi in mano”</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Servizi integrati nel pacchetto chiavi in mano</a:t>
                      </a:r>
                      <a:endParaRPr sz="1300">
                        <a:latin typeface="Lexend"/>
                        <a:ea typeface="Lexend"/>
                        <a:cs typeface="Lexend"/>
                        <a:sym typeface="Lexend"/>
                      </a:endParaRPr>
                    </a:p>
                  </a:txBody>
                  <a:tcPr marT="91425" marB="91425" marR="91425" marL="91425" anchor="ctr"/>
                </a:tc>
              </a:tr>
              <a:tr h="429700">
                <a:tc>
                  <a:txBody>
                    <a:bodyPr/>
                    <a:lstStyle/>
                    <a:p>
                      <a:pPr indent="0" lvl="0" marL="0" rtl="0" algn="ctr">
                        <a:spcBef>
                          <a:spcPts val="0"/>
                        </a:spcBef>
                        <a:spcAft>
                          <a:spcPts val="0"/>
                        </a:spcAft>
                        <a:buNone/>
                      </a:pPr>
                      <a:r>
                        <a:rPr lang="it" sz="1300">
                          <a:latin typeface="Lexend"/>
                          <a:ea typeface="Lexend"/>
                          <a:cs typeface="Lexend"/>
                          <a:sym typeface="Lexend"/>
                        </a:rPr>
                        <a:t>Obblighi UE Ristrutt. e Riqualificazioni</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Persone sempre più consapevoli</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Linea Premium</a:t>
                      </a:r>
                      <a:endParaRPr sz="13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it" sz="1300">
                          <a:solidFill>
                            <a:schemeClr val="dk1"/>
                          </a:solidFill>
                          <a:latin typeface="Lexend"/>
                          <a:ea typeface="Lexend"/>
                          <a:cs typeface="Lexend"/>
                          <a:sym typeface="Lexend"/>
                        </a:rPr>
                        <a:t>“chiavi in mano”</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Servizi Extra manutenzione</a:t>
                      </a:r>
                      <a:endParaRPr sz="1300">
                        <a:latin typeface="Lexend"/>
                        <a:ea typeface="Lexend"/>
                        <a:cs typeface="Lexend"/>
                        <a:sym typeface="Lexend"/>
                      </a:endParaRPr>
                    </a:p>
                  </a:txBody>
                  <a:tcPr marT="91425" marB="91425" marR="91425" marL="91425" anchor="ctr"/>
                </a:tc>
              </a:tr>
              <a:tr h="429700">
                <a:tc>
                  <a:txBody>
                    <a:bodyPr/>
                    <a:lstStyle/>
                    <a:p>
                      <a:pPr indent="0" lvl="0" marL="0" rtl="0" algn="ctr">
                        <a:spcBef>
                          <a:spcPts val="0"/>
                        </a:spcBef>
                        <a:spcAft>
                          <a:spcPts val="0"/>
                        </a:spcAft>
                        <a:buNone/>
                      </a:pPr>
                      <a:r>
                        <a:rPr lang="it" sz="1300">
                          <a:latin typeface="Lexend"/>
                          <a:ea typeface="Lexend"/>
                          <a:cs typeface="Lexend"/>
                          <a:sym typeface="Lexend"/>
                        </a:rPr>
                        <a:t>Obblighi IT adeguamento energetico</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Agevolazioni Fiscali</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91425" marL="91425" anchor="ctr"/>
                </a:tc>
              </a:tr>
            </a:tbl>
          </a:graphicData>
        </a:graphic>
      </p:graphicFrame>
      <p:sp>
        <p:nvSpPr>
          <p:cNvPr id="1077" name="Google Shape;1077;p8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8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3" name="Google Shape;1083;p87"/>
          <p:cNvSpPr txBox="1"/>
          <p:nvPr>
            <p:ph type="title"/>
          </p:nvPr>
        </p:nvSpPr>
        <p:spPr>
          <a:xfrm>
            <a:off x="311700" y="2090550"/>
            <a:ext cx="8520600" cy="962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820">
                <a:latin typeface="Lexend"/>
                <a:ea typeface="Lexend"/>
                <a:cs typeface="Lexend"/>
                <a:sym typeface="Lexend"/>
              </a:rPr>
              <a:t>Abbattiamo le possibili </a:t>
            </a:r>
            <a:r>
              <a:rPr b="1" lang="it" sz="2820">
                <a:solidFill>
                  <a:srgbClr val="38761D"/>
                </a:solidFill>
                <a:highlight>
                  <a:srgbClr val="B6D7A8"/>
                </a:highlight>
                <a:latin typeface="Lexend"/>
                <a:ea typeface="Lexend"/>
                <a:cs typeface="Lexend"/>
                <a:sym typeface="Lexend"/>
              </a:rPr>
              <a:t>obiezioni del cliente</a:t>
            </a:r>
            <a:r>
              <a:rPr lang="it" sz="2820">
                <a:latin typeface="Lexend"/>
                <a:ea typeface="Lexend"/>
                <a:cs typeface="Lexend"/>
                <a:sym typeface="Lexend"/>
              </a:rPr>
              <a:t>.</a:t>
            </a:r>
            <a:endParaRPr sz="2820">
              <a:latin typeface="Lexend"/>
              <a:ea typeface="Lexend"/>
              <a:cs typeface="Lexend"/>
              <a:sym typeface="Lexend"/>
            </a:endParaRPr>
          </a:p>
          <a:p>
            <a:pPr indent="0" lvl="0" marL="0" rtl="0" algn="ctr">
              <a:lnSpc>
                <a:spcPct val="115000"/>
              </a:lnSpc>
              <a:spcBef>
                <a:spcPts val="0"/>
              </a:spcBef>
              <a:spcAft>
                <a:spcPts val="0"/>
              </a:spcAft>
              <a:buSzPts val="990"/>
              <a:buNone/>
            </a:pPr>
            <a:r>
              <a:rPr lang="it" sz="2020">
                <a:latin typeface="Lexend"/>
                <a:ea typeface="Lexend"/>
                <a:cs typeface="Lexend"/>
                <a:sym typeface="Lexend"/>
              </a:rPr>
              <a:t>…per esempio…</a:t>
            </a:r>
            <a:endParaRPr sz="2020">
              <a:latin typeface="Lexend"/>
              <a:ea typeface="Lexend"/>
              <a:cs typeface="Lexend"/>
              <a:sym typeface="Lexend"/>
            </a:endParaRPr>
          </a:p>
        </p:txBody>
      </p:sp>
      <p:pic>
        <p:nvPicPr>
          <p:cNvPr id="1084" name="Google Shape;1084;p8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085" name="Google Shape;1085;p8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a:t>
            </a:r>
            <a:r>
              <a:rPr lang="it" sz="700">
                <a:latin typeface="Lexend"/>
                <a:ea typeface="Lexend"/>
                <a:cs typeface="Lexend"/>
                <a:sym typeface="Lexend"/>
              </a:rPr>
              <a:t> | 71</a:t>
            </a:r>
            <a:endParaRPr sz="700">
              <a:latin typeface="Lexend"/>
              <a:ea typeface="Lexend"/>
              <a:cs typeface="Lexend"/>
              <a:sym typeface="Lexend"/>
            </a:endParaRPr>
          </a:p>
        </p:txBody>
      </p:sp>
      <p:sp>
        <p:nvSpPr>
          <p:cNvPr id="1086" name="Google Shape;1086;p8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grpSp>
        <p:nvGrpSpPr>
          <p:cNvPr id="1091" name="Google Shape;1091;p88"/>
          <p:cNvGrpSpPr/>
          <p:nvPr/>
        </p:nvGrpSpPr>
        <p:grpSpPr>
          <a:xfrm>
            <a:off x="430661" y="1626500"/>
            <a:ext cx="7345701" cy="1217537"/>
            <a:chOff x="842874" y="1708025"/>
            <a:chExt cx="7345701" cy="1217537"/>
          </a:xfrm>
        </p:grpSpPr>
        <p:pic>
          <p:nvPicPr>
            <p:cNvPr id="1092" name="Google Shape;1092;p88"/>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093" name="Google Shape;1093;p88"/>
            <p:cNvGrpSpPr/>
            <p:nvPr/>
          </p:nvGrpSpPr>
          <p:grpSpPr>
            <a:xfrm>
              <a:off x="1217082" y="1708025"/>
              <a:ext cx="6971493" cy="1147178"/>
              <a:chOff x="910432" y="2809750"/>
              <a:chExt cx="6971493" cy="1147178"/>
            </a:xfrm>
          </p:grpSpPr>
          <p:sp>
            <p:nvSpPr>
              <p:cNvPr id="1094" name="Google Shape;1094;p88"/>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5" name="Google Shape;1095;p88"/>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096" name="Google Shape;1096;p8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7" name="Google Shape;1097;p88"/>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I pannelli fotovoltaici funzionano con la pioggia?</a:t>
            </a:r>
            <a:endParaRPr sz="1920">
              <a:latin typeface="Lexend"/>
              <a:ea typeface="Lexend"/>
              <a:cs typeface="Lexend"/>
              <a:sym typeface="Lexend"/>
            </a:endParaRPr>
          </a:p>
        </p:txBody>
      </p:sp>
      <p:sp>
        <p:nvSpPr>
          <p:cNvPr id="1098" name="Google Shape;1098;p88"/>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220">
                <a:latin typeface="Lexend"/>
                <a:ea typeface="Lexend"/>
                <a:cs typeface="Lexend"/>
                <a:sym typeface="Lexend"/>
              </a:rPr>
              <a:t>Abbattiamo le obiezioni/domande</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grpSp>
        <p:nvGrpSpPr>
          <p:cNvPr id="1099" name="Google Shape;1099;p88"/>
          <p:cNvGrpSpPr/>
          <p:nvPr/>
        </p:nvGrpSpPr>
        <p:grpSpPr>
          <a:xfrm>
            <a:off x="1278950" y="2897678"/>
            <a:ext cx="7434401" cy="1461835"/>
            <a:chOff x="899150" y="2945091"/>
            <a:chExt cx="7434401" cy="1461835"/>
          </a:xfrm>
        </p:grpSpPr>
        <p:grpSp>
          <p:nvGrpSpPr>
            <p:cNvPr id="1100" name="Google Shape;1100;p88"/>
            <p:cNvGrpSpPr/>
            <p:nvPr/>
          </p:nvGrpSpPr>
          <p:grpSpPr>
            <a:xfrm flipH="1">
              <a:off x="899150" y="2945091"/>
              <a:ext cx="6971493" cy="1377312"/>
              <a:chOff x="910432" y="2579616"/>
              <a:chExt cx="6971493" cy="1377312"/>
            </a:xfrm>
          </p:grpSpPr>
          <p:sp>
            <p:nvSpPr>
              <p:cNvPr id="1101" name="Google Shape;1101;p88"/>
              <p:cNvSpPr/>
              <p:nvPr/>
            </p:nvSpPr>
            <p:spPr>
              <a:xfrm>
                <a:off x="1368924" y="2579616"/>
                <a:ext cx="6513000" cy="11127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2" name="Google Shape;1102;p88"/>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103" name="Google Shape;1103;p88"/>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104" name="Google Shape;1104;p88"/>
          <p:cNvSpPr txBox="1"/>
          <p:nvPr>
            <p:ph type="title"/>
          </p:nvPr>
        </p:nvSpPr>
        <p:spPr>
          <a:xfrm>
            <a:off x="1359350" y="2897675"/>
            <a:ext cx="6326700" cy="1093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620">
                <a:latin typeface="Lexend"/>
                <a:ea typeface="Lexend"/>
                <a:cs typeface="Lexend"/>
                <a:sym typeface="Lexend"/>
              </a:rPr>
              <a:t>Sì, i pannelli funzionano anche con la pioggia, poiché producono energia dalla luce, non dal calore. Inoltre, la pioggia aiuta a pulirli, migliorando l’efficienza.</a:t>
            </a:r>
            <a:endParaRPr sz="1620">
              <a:latin typeface="Lexend"/>
              <a:ea typeface="Lexend"/>
              <a:cs typeface="Lexend"/>
              <a:sym typeface="Lexend"/>
            </a:endParaRPr>
          </a:p>
        </p:txBody>
      </p:sp>
      <p:pic>
        <p:nvPicPr>
          <p:cNvPr id="1105" name="Google Shape;1105;p88"/>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106" name="Google Shape;1106;p8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72</a:t>
            </a:r>
            <a:endParaRPr sz="700">
              <a:latin typeface="Lexend"/>
              <a:ea typeface="Lexend"/>
              <a:cs typeface="Lexend"/>
              <a:sym typeface="Lexend"/>
            </a:endParaRPr>
          </a:p>
        </p:txBody>
      </p:sp>
      <p:sp>
        <p:nvSpPr>
          <p:cNvPr id="1107" name="Google Shape;1107;p8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grpSp>
        <p:nvGrpSpPr>
          <p:cNvPr id="1112" name="Google Shape;1112;p89"/>
          <p:cNvGrpSpPr/>
          <p:nvPr/>
        </p:nvGrpSpPr>
        <p:grpSpPr>
          <a:xfrm>
            <a:off x="430661" y="1626500"/>
            <a:ext cx="7345701" cy="1217537"/>
            <a:chOff x="842874" y="1708025"/>
            <a:chExt cx="7345701" cy="1217537"/>
          </a:xfrm>
        </p:grpSpPr>
        <p:pic>
          <p:nvPicPr>
            <p:cNvPr id="1113" name="Google Shape;1113;p89"/>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114" name="Google Shape;1114;p89"/>
            <p:cNvGrpSpPr/>
            <p:nvPr/>
          </p:nvGrpSpPr>
          <p:grpSpPr>
            <a:xfrm>
              <a:off x="1217082" y="1708025"/>
              <a:ext cx="6971493" cy="1147178"/>
              <a:chOff x="910432" y="2809750"/>
              <a:chExt cx="6971493" cy="1147178"/>
            </a:xfrm>
          </p:grpSpPr>
          <p:sp>
            <p:nvSpPr>
              <p:cNvPr id="1115" name="Google Shape;1115;p89"/>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6" name="Google Shape;1116;p89"/>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117" name="Google Shape;1117;p8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8" name="Google Shape;1118;p89"/>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I pannelli fotovoltaici funzionano con il freddo?</a:t>
            </a:r>
            <a:endParaRPr sz="1920">
              <a:latin typeface="Lexend"/>
              <a:ea typeface="Lexend"/>
              <a:cs typeface="Lexend"/>
              <a:sym typeface="Lexend"/>
            </a:endParaRPr>
          </a:p>
        </p:txBody>
      </p:sp>
      <p:grpSp>
        <p:nvGrpSpPr>
          <p:cNvPr id="1119" name="Google Shape;1119;p89"/>
          <p:cNvGrpSpPr/>
          <p:nvPr/>
        </p:nvGrpSpPr>
        <p:grpSpPr>
          <a:xfrm>
            <a:off x="1278950" y="2897678"/>
            <a:ext cx="7434401" cy="1461835"/>
            <a:chOff x="899150" y="2945091"/>
            <a:chExt cx="7434401" cy="1461835"/>
          </a:xfrm>
        </p:grpSpPr>
        <p:grpSp>
          <p:nvGrpSpPr>
            <p:cNvPr id="1120" name="Google Shape;1120;p89"/>
            <p:cNvGrpSpPr/>
            <p:nvPr/>
          </p:nvGrpSpPr>
          <p:grpSpPr>
            <a:xfrm flipH="1">
              <a:off x="899150" y="2945091"/>
              <a:ext cx="6971493" cy="1377312"/>
              <a:chOff x="910432" y="2579616"/>
              <a:chExt cx="6971493" cy="1377312"/>
            </a:xfrm>
          </p:grpSpPr>
          <p:sp>
            <p:nvSpPr>
              <p:cNvPr id="1121" name="Google Shape;1121;p89"/>
              <p:cNvSpPr/>
              <p:nvPr/>
            </p:nvSpPr>
            <p:spPr>
              <a:xfrm>
                <a:off x="1368924" y="2579616"/>
                <a:ext cx="6513000" cy="11127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2" name="Google Shape;1122;p89"/>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123" name="Google Shape;1123;p89"/>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124" name="Google Shape;1124;p89"/>
          <p:cNvSpPr txBox="1"/>
          <p:nvPr>
            <p:ph type="title"/>
          </p:nvPr>
        </p:nvSpPr>
        <p:spPr>
          <a:xfrm>
            <a:off x="1359350" y="2897675"/>
            <a:ext cx="6326700" cy="1093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620">
                <a:latin typeface="Lexend"/>
                <a:ea typeface="Lexend"/>
                <a:cs typeface="Lexend"/>
                <a:sym typeface="Lexend"/>
              </a:rPr>
              <a:t>Sì, i pannelli funzionano meglio a basse temperature. </a:t>
            </a:r>
            <a:endParaRPr sz="1620">
              <a:latin typeface="Lexend"/>
              <a:ea typeface="Lexend"/>
              <a:cs typeface="Lexend"/>
              <a:sym typeface="Lexend"/>
            </a:endParaRPr>
          </a:p>
          <a:p>
            <a:pPr indent="0" lvl="0" marL="0" rtl="0" algn="l">
              <a:lnSpc>
                <a:spcPct val="115000"/>
              </a:lnSpc>
              <a:spcBef>
                <a:spcPts val="0"/>
              </a:spcBef>
              <a:spcAft>
                <a:spcPts val="0"/>
              </a:spcAft>
              <a:buSzPts val="990"/>
              <a:buNone/>
            </a:pPr>
            <a:r>
              <a:rPr lang="it" sz="1620">
                <a:latin typeface="Lexend"/>
                <a:ea typeface="Lexend"/>
                <a:cs typeface="Lexend"/>
                <a:sym typeface="Lexend"/>
              </a:rPr>
              <a:t>Il freddo aumenta l'efficienza, poiché il surriscaldamento riduce le prestazioni.</a:t>
            </a:r>
            <a:endParaRPr sz="1620">
              <a:latin typeface="Lexend"/>
              <a:ea typeface="Lexend"/>
              <a:cs typeface="Lexend"/>
              <a:sym typeface="Lexend"/>
            </a:endParaRPr>
          </a:p>
        </p:txBody>
      </p:sp>
      <p:pic>
        <p:nvPicPr>
          <p:cNvPr id="1125" name="Google Shape;1125;p89"/>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126" name="Google Shape;1126;p8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73</a:t>
            </a:r>
            <a:endParaRPr sz="700">
              <a:latin typeface="Lexend"/>
              <a:ea typeface="Lexend"/>
              <a:cs typeface="Lexend"/>
              <a:sym typeface="Lexend"/>
            </a:endParaRPr>
          </a:p>
        </p:txBody>
      </p:sp>
      <p:sp>
        <p:nvSpPr>
          <p:cNvPr id="1127" name="Google Shape;1127;p89"/>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220">
                <a:latin typeface="Lexend"/>
                <a:ea typeface="Lexend"/>
                <a:cs typeface="Lexend"/>
                <a:sym typeface="Lexend"/>
              </a:rPr>
              <a:t>Abbattiamo le obiezioni/domande</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1128" name="Google Shape;1128;p8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grpSp>
        <p:nvGrpSpPr>
          <p:cNvPr id="1133" name="Google Shape;1133;p90"/>
          <p:cNvGrpSpPr/>
          <p:nvPr/>
        </p:nvGrpSpPr>
        <p:grpSpPr>
          <a:xfrm>
            <a:off x="430661" y="1626500"/>
            <a:ext cx="7345701" cy="1217537"/>
            <a:chOff x="842874" y="1708025"/>
            <a:chExt cx="7345701" cy="1217537"/>
          </a:xfrm>
        </p:grpSpPr>
        <p:pic>
          <p:nvPicPr>
            <p:cNvPr id="1134" name="Google Shape;1134;p90"/>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135" name="Google Shape;1135;p90"/>
            <p:cNvGrpSpPr/>
            <p:nvPr/>
          </p:nvGrpSpPr>
          <p:grpSpPr>
            <a:xfrm>
              <a:off x="1217082" y="1708025"/>
              <a:ext cx="6971493" cy="1147178"/>
              <a:chOff x="910432" y="2809750"/>
              <a:chExt cx="6971493" cy="1147178"/>
            </a:xfrm>
          </p:grpSpPr>
          <p:sp>
            <p:nvSpPr>
              <p:cNvPr id="1136" name="Google Shape;1136;p90"/>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7" name="Google Shape;1137;p90"/>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138" name="Google Shape;1138;p9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9" name="Google Shape;1139;p90"/>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Adesso non conviene… aspetto l’estate per metterli.</a:t>
            </a:r>
            <a:endParaRPr sz="1920">
              <a:latin typeface="Lexend"/>
              <a:ea typeface="Lexend"/>
              <a:cs typeface="Lexend"/>
              <a:sym typeface="Lexend"/>
            </a:endParaRPr>
          </a:p>
        </p:txBody>
      </p:sp>
      <p:grpSp>
        <p:nvGrpSpPr>
          <p:cNvPr id="1140" name="Google Shape;1140;p90"/>
          <p:cNvGrpSpPr/>
          <p:nvPr/>
        </p:nvGrpSpPr>
        <p:grpSpPr>
          <a:xfrm>
            <a:off x="1278950" y="2897678"/>
            <a:ext cx="7434401" cy="1461835"/>
            <a:chOff x="899150" y="2945091"/>
            <a:chExt cx="7434401" cy="1461835"/>
          </a:xfrm>
        </p:grpSpPr>
        <p:grpSp>
          <p:nvGrpSpPr>
            <p:cNvPr id="1141" name="Google Shape;1141;p90"/>
            <p:cNvGrpSpPr/>
            <p:nvPr/>
          </p:nvGrpSpPr>
          <p:grpSpPr>
            <a:xfrm flipH="1">
              <a:off x="899150" y="2945091"/>
              <a:ext cx="6971493" cy="1377312"/>
              <a:chOff x="910432" y="2579616"/>
              <a:chExt cx="6971493" cy="1377312"/>
            </a:xfrm>
          </p:grpSpPr>
          <p:sp>
            <p:nvSpPr>
              <p:cNvPr id="1142" name="Google Shape;1142;p90"/>
              <p:cNvSpPr/>
              <p:nvPr/>
            </p:nvSpPr>
            <p:spPr>
              <a:xfrm>
                <a:off x="1368924" y="2579616"/>
                <a:ext cx="6513000" cy="11127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3" name="Google Shape;1143;p90"/>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144" name="Google Shape;1144;p90"/>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145" name="Google Shape;1145;p90"/>
          <p:cNvSpPr txBox="1"/>
          <p:nvPr>
            <p:ph type="title"/>
          </p:nvPr>
        </p:nvSpPr>
        <p:spPr>
          <a:xfrm>
            <a:off x="1359350" y="2897675"/>
            <a:ext cx="6326700" cy="1093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620">
                <a:latin typeface="Lexend"/>
                <a:ea typeface="Lexend"/>
                <a:cs typeface="Lexend"/>
                <a:sym typeface="Lexend"/>
              </a:rPr>
              <a:t>Installarli ora ti permette di essere pronto per sfruttare tutta l'energia della stagione primaverile-estiva e iniziare a risparmiare da subito.</a:t>
            </a:r>
            <a:endParaRPr sz="1620">
              <a:latin typeface="Lexend"/>
              <a:ea typeface="Lexend"/>
              <a:cs typeface="Lexend"/>
              <a:sym typeface="Lexend"/>
            </a:endParaRPr>
          </a:p>
        </p:txBody>
      </p:sp>
      <p:pic>
        <p:nvPicPr>
          <p:cNvPr id="1146" name="Google Shape;1146;p90"/>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147" name="Google Shape;1147;p9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74</a:t>
            </a:r>
            <a:endParaRPr sz="700">
              <a:latin typeface="Lexend"/>
              <a:ea typeface="Lexend"/>
              <a:cs typeface="Lexend"/>
              <a:sym typeface="Lexend"/>
            </a:endParaRPr>
          </a:p>
        </p:txBody>
      </p:sp>
      <p:sp>
        <p:nvSpPr>
          <p:cNvPr id="1148" name="Google Shape;1148;p90"/>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220">
                <a:latin typeface="Lexend"/>
                <a:ea typeface="Lexend"/>
                <a:cs typeface="Lexend"/>
                <a:sym typeface="Lexend"/>
              </a:rPr>
              <a:t>Abbattiamo le obiezioni/domande</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1149" name="Google Shape;1149;p9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grpSp>
        <p:nvGrpSpPr>
          <p:cNvPr id="1154" name="Google Shape;1154;p91"/>
          <p:cNvGrpSpPr/>
          <p:nvPr/>
        </p:nvGrpSpPr>
        <p:grpSpPr>
          <a:xfrm>
            <a:off x="430661" y="1626500"/>
            <a:ext cx="7345701" cy="1217537"/>
            <a:chOff x="842874" y="1708025"/>
            <a:chExt cx="7345701" cy="1217537"/>
          </a:xfrm>
        </p:grpSpPr>
        <p:pic>
          <p:nvPicPr>
            <p:cNvPr id="1155" name="Google Shape;1155;p91"/>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156" name="Google Shape;1156;p91"/>
            <p:cNvGrpSpPr/>
            <p:nvPr/>
          </p:nvGrpSpPr>
          <p:grpSpPr>
            <a:xfrm>
              <a:off x="1217082" y="1708025"/>
              <a:ext cx="6971493" cy="1147178"/>
              <a:chOff x="910432" y="2809750"/>
              <a:chExt cx="6971493" cy="1147178"/>
            </a:xfrm>
          </p:grpSpPr>
          <p:sp>
            <p:nvSpPr>
              <p:cNvPr id="1157" name="Google Shape;1157;p91"/>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8" name="Google Shape;1158;p91"/>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159" name="Google Shape;1159;p9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0" name="Google Shape;1160;p91"/>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Senza incentivi non conviene fare il fotovoltaico!</a:t>
            </a:r>
            <a:endParaRPr sz="1920">
              <a:latin typeface="Lexend"/>
              <a:ea typeface="Lexend"/>
              <a:cs typeface="Lexend"/>
              <a:sym typeface="Lexend"/>
            </a:endParaRPr>
          </a:p>
        </p:txBody>
      </p:sp>
      <p:grpSp>
        <p:nvGrpSpPr>
          <p:cNvPr id="1161" name="Google Shape;1161;p91"/>
          <p:cNvGrpSpPr/>
          <p:nvPr/>
        </p:nvGrpSpPr>
        <p:grpSpPr>
          <a:xfrm>
            <a:off x="1278950" y="2776399"/>
            <a:ext cx="7434401" cy="1659314"/>
            <a:chOff x="899150" y="2747612"/>
            <a:chExt cx="7434401" cy="1659314"/>
          </a:xfrm>
        </p:grpSpPr>
        <p:grpSp>
          <p:nvGrpSpPr>
            <p:cNvPr id="1162" name="Google Shape;1162;p91"/>
            <p:cNvGrpSpPr/>
            <p:nvPr/>
          </p:nvGrpSpPr>
          <p:grpSpPr>
            <a:xfrm flipH="1">
              <a:off x="899150" y="2747612"/>
              <a:ext cx="6971493" cy="1574791"/>
              <a:chOff x="910432" y="2382137"/>
              <a:chExt cx="6971493" cy="1574791"/>
            </a:xfrm>
          </p:grpSpPr>
          <p:sp>
            <p:nvSpPr>
              <p:cNvPr id="1163" name="Google Shape;1163;p91"/>
              <p:cNvSpPr/>
              <p:nvPr/>
            </p:nvSpPr>
            <p:spPr>
              <a:xfrm>
                <a:off x="1368924" y="2382137"/>
                <a:ext cx="6513000" cy="13101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4" name="Google Shape;1164;p91"/>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165" name="Google Shape;1165;p91"/>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166" name="Google Shape;1166;p91"/>
          <p:cNvSpPr txBox="1"/>
          <p:nvPr>
            <p:ph type="title"/>
          </p:nvPr>
        </p:nvSpPr>
        <p:spPr>
          <a:xfrm>
            <a:off x="1359350" y="2776400"/>
            <a:ext cx="6326700" cy="1291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620">
                <a:latin typeface="Lexend"/>
                <a:ea typeface="Lexend"/>
                <a:cs typeface="Lexend"/>
                <a:sym typeface="Lexend"/>
              </a:rPr>
              <a:t>Anche senza incentivi, il fotovoltaico si ripaga in massimo </a:t>
            </a:r>
            <a:endParaRPr sz="1620">
              <a:latin typeface="Lexend"/>
              <a:ea typeface="Lexend"/>
              <a:cs typeface="Lexend"/>
              <a:sym typeface="Lexend"/>
            </a:endParaRPr>
          </a:p>
          <a:p>
            <a:pPr indent="0" lvl="0" marL="0" rtl="0" algn="l">
              <a:lnSpc>
                <a:spcPct val="115000"/>
              </a:lnSpc>
              <a:spcBef>
                <a:spcPts val="0"/>
              </a:spcBef>
              <a:spcAft>
                <a:spcPts val="0"/>
              </a:spcAft>
              <a:buNone/>
            </a:pPr>
            <a:r>
              <a:rPr lang="it" sz="1620">
                <a:latin typeface="Lexend"/>
                <a:ea typeface="Lexend"/>
                <a:cs typeface="Lexend"/>
                <a:sym typeface="Lexend"/>
              </a:rPr>
              <a:t>4 anni, e poi la tua bolletta rimane praticamente a 0. </a:t>
            </a:r>
            <a:endParaRPr sz="1620">
              <a:latin typeface="Lexend"/>
              <a:ea typeface="Lexend"/>
              <a:cs typeface="Lexend"/>
              <a:sym typeface="Lexend"/>
            </a:endParaRPr>
          </a:p>
          <a:p>
            <a:pPr indent="0" lvl="0" marL="0" rtl="0" algn="l">
              <a:lnSpc>
                <a:spcPct val="115000"/>
              </a:lnSpc>
              <a:spcBef>
                <a:spcPts val="0"/>
              </a:spcBef>
              <a:spcAft>
                <a:spcPts val="0"/>
              </a:spcAft>
              <a:buNone/>
            </a:pPr>
            <a:r>
              <a:rPr lang="it" sz="1620">
                <a:latin typeface="Lexend"/>
                <a:ea typeface="Lexend"/>
                <a:cs typeface="Lexend"/>
                <a:sym typeface="Lexend"/>
              </a:rPr>
              <a:t>In più, l’autoconsumo ti protegge dai futuri aumenti dei prezzi dell’energia!</a:t>
            </a:r>
            <a:endParaRPr sz="1620">
              <a:latin typeface="Lexend"/>
              <a:ea typeface="Lexend"/>
              <a:cs typeface="Lexend"/>
              <a:sym typeface="Lexend"/>
            </a:endParaRPr>
          </a:p>
        </p:txBody>
      </p:sp>
      <p:pic>
        <p:nvPicPr>
          <p:cNvPr id="1167" name="Google Shape;1167;p91"/>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168" name="Google Shape;1168;p9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75</a:t>
            </a:r>
            <a:endParaRPr sz="700">
              <a:latin typeface="Lexend"/>
              <a:ea typeface="Lexend"/>
              <a:cs typeface="Lexend"/>
              <a:sym typeface="Lexend"/>
            </a:endParaRPr>
          </a:p>
        </p:txBody>
      </p:sp>
      <p:sp>
        <p:nvSpPr>
          <p:cNvPr id="1169" name="Google Shape;1169;p91"/>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220">
                <a:latin typeface="Lexend"/>
                <a:ea typeface="Lexend"/>
                <a:cs typeface="Lexend"/>
                <a:sym typeface="Lexend"/>
              </a:rPr>
              <a:t>Abbattiamo le obiezioni/domande</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1170" name="Google Shape;1170;p9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grpSp>
        <p:nvGrpSpPr>
          <p:cNvPr id="1175" name="Google Shape;1175;p92"/>
          <p:cNvGrpSpPr/>
          <p:nvPr/>
        </p:nvGrpSpPr>
        <p:grpSpPr>
          <a:xfrm>
            <a:off x="430661" y="1626500"/>
            <a:ext cx="7345701" cy="1217537"/>
            <a:chOff x="842874" y="1708025"/>
            <a:chExt cx="7345701" cy="1217537"/>
          </a:xfrm>
        </p:grpSpPr>
        <p:pic>
          <p:nvPicPr>
            <p:cNvPr id="1176" name="Google Shape;1176;p92"/>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177" name="Google Shape;1177;p92"/>
            <p:cNvGrpSpPr/>
            <p:nvPr/>
          </p:nvGrpSpPr>
          <p:grpSpPr>
            <a:xfrm>
              <a:off x="1217082" y="1708025"/>
              <a:ext cx="6971493" cy="1147178"/>
              <a:chOff x="910432" y="2809750"/>
              <a:chExt cx="6971493" cy="1147178"/>
            </a:xfrm>
          </p:grpSpPr>
          <p:sp>
            <p:nvSpPr>
              <p:cNvPr id="1178" name="Google Shape;1178;p92"/>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9" name="Google Shape;1179;p92"/>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180" name="Google Shape;1180;p9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1" name="Google Shape;1181;p92"/>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Non c'è abbastanza sole nella mia zona</a:t>
            </a:r>
            <a:endParaRPr sz="1920">
              <a:latin typeface="Lexend"/>
              <a:ea typeface="Lexend"/>
              <a:cs typeface="Lexend"/>
              <a:sym typeface="Lexend"/>
            </a:endParaRPr>
          </a:p>
        </p:txBody>
      </p:sp>
      <p:grpSp>
        <p:nvGrpSpPr>
          <p:cNvPr id="1182" name="Google Shape;1182;p92"/>
          <p:cNvGrpSpPr/>
          <p:nvPr/>
        </p:nvGrpSpPr>
        <p:grpSpPr>
          <a:xfrm>
            <a:off x="1278950" y="2776399"/>
            <a:ext cx="7434401" cy="1659314"/>
            <a:chOff x="899150" y="2747612"/>
            <a:chExt cx="7434401" cy="1659314"/>
          </a:xfrm>
        </p:grpSpPr>
        <p:grpSp>
          <p:nvGrpSpPr>
            <p:cNvPr id="1183" name="Google Shape;1183;p92"/>
            <p:cNvGrpSpPr/>
            <p:nvPr/>
          </p:nvGrpSpPr>
          <p:grpSpPr>
            <a:xfrm flipH="1">
              <a:off x="899150" y="2747612"/>
              <a:ext cx="6971493" cy="1574791"/>
              <a:chOff x="910432" y="2382137"/>
              <a:chExt cx="6971493" cy="1574791"/>
            </a:xfrm>
          </p:grpSpPr>
          <p:sp>
            <p:nvSpPr>
              <p:cNvPr id="1184" name="Google Shape;1184;p92"/>
              <p:cNvSpPr/>
              <p:nvPr/>
            </p:nvSpPr>
            <p:spPr>
              <a:xfrm>
                <a:off x="1368924" y="2382137"/>
                <a:ext cx="6513000" cy="13101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5" name="Google Shape;1185;p92"/>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186" name="Google Shape;1186;p92"/>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187" name="Google Shape;1187;p92"/>
          <p:cNvSpPr txBox="1"/>
          <p:nvPr>
            <p:ph type="title"/>
          </p:nvPr>
        </p:nvSpPr>
        <p:spPr>
          <a:xfrm>
            <a:off x="1359350" y="2776400"/>
            <a:ext cx="6326700" cy="1291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620">
                <a:latin typeface="Lexend"/>
                <a:ea typeface="Lexend"/>
                <a:cs typeface="Lexend"/>
                <a:sym typeface="Lexend"/>
              </a:rPr>
              <a:t>I sistemi moderni funzionano anche con luce indiretta e in condizioni meteorologiche meno ottimali!</a:t>
            </a:r>
            <a:endParaRPr sz="1620">
              <a:latin typeface="Lexend"/>
              <a:ea typeface="Lexend"/>
              <a:cs typeface="Lexend"/>
              <a:sym typeface="Lexend"/>
            </a:endParaRPr>
          </a:p>
        </p:txBody>
      </p:sp>
      <p:pic>
        <p:nvPicPr>
          <p:cNvPr id="1188" name="Google Shape;1188;p92"/>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189" name="Google Shape;1189;p9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76</a:t>
            </a:r>
            <a:endParaRPr sz="700">
              <a:latin typeface="Lexend"/>
              <a:ea typeface="Lexend"/>
              <a:cs typeface="Lexend"/>
              <a:sym typeface="Lexend"/>
            </a:endParaRPr>
          </a:p>
        </p:txBody>
      </p:sp>
      <p:sp>
        <p:nvSpPr>
          <p:cNvPr id="1190" name="Google Shape;1190;p92"/>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220">
                <a:latin typeface="Lexend"/>
                <a:ea typeface="Lexend"/>
                <a:cs typeface="Lexend"/>
                <a:sym typeface="Lexend"/>
              </a:rPr>
              <a:t>Abbattiamo le obiezioni/domande</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1191" name="Google Shape;1191;p9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grpSp>
        <p:nvGrpSpPr>
          <p:cNvPr id="1196" name="Google Shape;1196;p93"/>
          <p:cNvGrpSpPr/>
          <p:nvPr/>
        </p:nvGrpSpPr>
        <p:grpSpPr>
          <a:xfrm>
            <a:off x="430661" y="1626500"/>
            <a:ext cx="7345701" cy="1217537"/>
            <a:chOff x="842874" y="1708025"/>
            <a:chExt cx="7345701" cy="1217537"/>
          </a:xfrm>
        </p:grpSpPr>
        <p:pic>
          <p:nvPicPr>
            <p:cNvPr id="1197" name="Google Shape;1197;p93"/>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198" name="Google Shape;1198;p93"/>
            <p:cNvGrpSpPr/>
            <p:nvPr/>
          </p:nvGrpSpPr>
          <p:grpSpPr>
            <a:xfrm>
              <a:off x="1217082" y="1708025"/>
              <a:ext cx="6971493" cy="1147178"/>
              <a:chOff x="910432" y="2809750"/>
              <a:chExt cx="6971493" cy="1147178"/>
            </a:xfrm>
          </p:grpSpPr>
          <p:sp>
            <p:nvSpPr>
              <p:cNvPr id="1199" name="Google Shape;1199;p93"/>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0" name="Google Shape;1200;p93"/>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201" name="Google Shape;1201;p9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2" name="Google Shape;1202;p93"/>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Non so se starò abbastanza a lungo nella casa</a:t>
            </a:r>
            <a:endParaRPr sz="1920">
              <a:latin typeface="Lexend"/>
              <a:ea typeface="Lexend"/>
              <a:cs typeface="Lexend"/>
              <a:sym typeface="Lexend"/>
            </a:endParaRPr>
          </a:p>
        </p:txBody>
      </p:sp>
      <p:grpSp>
        <p:nvGrpSpPr>
          <p:cNvPr id="1203" name="Google Shape;1203;p93"/>
          <p:cNvGrpSpPr/>
          <p:nvPr/>
        </p:nvGrpSpPr>
        <p:grpSpPr>
          <a:xfrm>
            <a:off x="1278950" y="2776399"/>
            <a:ext cx="7434401" cy="1659314"/>
            <a:chOff x="899150" y="2747612"/>
            <a:chExt cx="7434401" cy="1659314"/>
          </a:xfrm>
        </p:grpSpPr>
        <p:grpSp>
          <p:nvGrpSpPr>
            <p:cNvPr id="1204" name="Google Shape;1204;p93"/>
            <p:cNvGrpSpPr/>
            <p:nvPr/>
          </p:nvGrpSpPr>
          <p:grpSpPr>
            <a:xfrm flipH="1">
              <a:off x="899150" y="2747612"/>
              <a:ext cx="6971493" cy="1574791"/>
              <a:chOff x="910432" y="2382137"/>
              <a:chExt cx="6971493" cy="1574791"/>
            </a:xfrm>
          </p:grpSpPr>
          <p:sp>
            <p:nvSpPr>
              <p:cNvPr id="1205" name="Google Shape;1205;p93"/>
              <p:cNvSpPr/>
              <p:nvPr/>
            </p:nvSpPr>
            <p:spPr>
              <a:xfrm>
                <a:off x="1368924" y="2382137"/>
                <a:ext cx="6513000" cy="13101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6" name="Google Shape;1206;p93"/>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207" name="Google Shape;1207;p93"/>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208" name="Google Shape;1208;p93"/>
          <p:cNvSpPr txBox="1"/>
          <p:nvPr>
            <p:ph type="title"/>
          </p:nvPr>
        </p:nvSpPr>
        <p:spPr>
          <a:xfrm>
            <a:off x="1359350" y="2776400"/>
            <a:ext cx="6326700" cy="1291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620">
                <a:latin typeface="Lexend"/>
                <a:ea typeface="Lexend"/>
                <a:cs typeface="Lexend"/>
                <a:sym typeface="Lexend"/>
              </a:rPr>
              <a:t>Un sistema fotovoltaico può aumentare il valore della proprietà e renderla più attraente per i futuri acquirenti.</a:t>
            </a:r>
            <a:endParaRPr sz="1620">
              <a:latin typeface="Lexend"/>
              <a:ea typeface="Lexend"/>
              <a:cs typeface="Lexend"/>
              <a:sym typeface="Lexend"/>
            </a:endParaRPr>
          </a:p>
          <a:p>
            <a:pPr indent="0" lvl="0" marL="0" rtl="0" algn="l">
              <a:lnSpc>
                <a:spcPct val="115000"/>
              </a:lnSpc>
              <a:spcBef>
                <a:spcPts val="0"/>
              </a:spcBef>
              <a:spcAft>
                <a:spcPts val="0"/>
              </a:spcAft>
              <a:buNone/>
            </a:pPr>
            <a:r>
              <a:rPr lang="it" sz="1620">
                <a:latin typeface="Lexend"/>
                <a:ea typeface="Lexend"/>
                <a:cs typeface="Lexend"/>
                <a:sym typeface="Lexend"/>
              </a:rPr>
              <a:t>E in 3-4 anni te lo sei già ripagato beneficiando dei vantaggi del fotovoltaico!</a:t>
            </a:r>
            <a:endParaRPr sz="1620">
              <a:latin typeface="Lexend"/>
              <a:ea typeface="Lexend"/>
              <a:cs typeface="Lexend"/>
              <a:sym typeface="Lexend"/>
            </a:endParaRPr>
          </a:p>
        </p:txBody>
      </p:sp>
      <p:pic>
        <p:nvPicPr>
          <p:cNvPr id="1209" name="Google Shape;1209;p93"/>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210" name="Google Shape;1210;p9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77</a:t>
            </a:r>
            <a:endParaRPr sz="700">
              <a:latin typeface="Lexend"/>
              <a:ea typeface="Lexend"/>
              <a:cs typeface="Lexend"/>
              <a:sym typeface="Lexend"/>
            </a:endParaRPr>
          </a:p>
        </p:txBody>
      </p:sp>
      <p:sp>
        <p:nvSpPr>
          <p:cNvPr id="1211" name="Google Shape;1211;p93"/>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220">
                <a:latin typeface="Lexend"/>
                <a:ea typeface="Lexend"/>
                <a:cs typeface="Lexend"/>
                <a:sym typeface="Lexend"/>
              </a:rPr>
              <a:t>Abbattiamo le obiezioni/domande</a:t>
            </a:r>
            <a:endParaRPr b="1" sz="2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1212" name="Google Shape;1212;p9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pic>
        <p:nvPicPr>
          <p:cNvPr id="1217" name="Google Shape;1217;p94"/>
          <p:cNvPicPr preferRelativeResize="0"/>
          <p:nvPr/>
        </p:nvPicPr>
        <p:blipFill>
          <a:blip r:embed="rId3">
            <a:alphaModFix/>
          </a:blip>
          <a:stretch>
            <a:fillRect/>
          </a:stretch>
        </p:blipFill>
        <p:spPr>
          <a:xfrm>
            <a:off x="0" y="0"/>
            <a:ext cx="9144003" cy="5143501"/>
          </a:xfrm>
          <a:prstGeom prst="rect">
            <a:avLst/>
          </a:prstGeom>
          <a:noFill/>
          <a:ln>
            <a:noFill/>
          </a:ln>
        </p:spPr>
      </p:pic>
      <p:sp>
        <p:nvSpPr>
          <p:cNvPr id="1218" name="Google Shape;1218;p94"/>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solidFill>
                  <a:schemeClr val="lt1"/>
                </a:solidFill>
                <a:latin typeface="Lexend"/>
                <a:ea typeface="Lexend"/>
                <a:cs typeface="Lexend"/>
                <a:sym typeface="Lexend"/>
              </a:rPr>
              <a:t>Domande?</a:t>
            </a:r>
            <a:endParaRPr sz="7000">
              <a:solidFill>
                <a:schemeClr val="lt1"/>
              </a:solidFill>
              <a:latin typeface="Lexend"/>
              <a:ea typeface="Lexend"/>
              <a:cs typeface="Lexend"/>
              <a:sym typeface="Lexend"/>
            </a:endParaRPr>
          </a:p>
        </p:txBody>
      </p:sp>
      <p:sp>
        <p:nvSpPr>
          <p:cNvPr id="1219" name="Google Shape;1219;p94"/>
          <p:cNvSpPr txBox="1"/>
          <p:nvPr>
            <p:ph idx="1" type="subTitle"/>
          </p:nvPr>
        </p:nvSpPr>
        <p:spPr>
          <a:xfrm>
            <a:off x="311700" y="2829350"/>
            <a:ext cx="8520600" cy="456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2000">
                <a:solidFill>
                  <a:schemeClr val="lt1"/>
                </a:solidFill>
                <a:latin typeface="Lexend"/>
                <a:ea typeface="Lexend"/>
                <a:cs typeface="Lexend"/>
                <a:sym typeface="Lexend"/>
              </a:rPr>
              <a:t>Q&amp;A</a:t>
            </a:r>
            <a:endParaRPr sz="2000">
              <a:solidFill>
                <a:schemeClr val="lt1"/>
              </a:solidFill>
              <a:latin typeface="Lexend"/>
              <a:ea typeface="Lexend"/>
              <a:cs typeface="Lexend"/>
              <a:sym typeface="Lexend"/>
            </a:endParaRPr>
          </a:p>
        </p:txBody>
      </p:sp>
      <p:sp>
        <p:nvSpPr>
          <p:cNvPr id="1220" name="Google Shape;1220;p9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1" name="Google Shape;1221;p94"/>
          <p:cNvSpPr/>
          <p:nvPr/>
        </p:nvSpPr>
        <p:spPr>
          <a:xfrm>
            <a:off x="4032900" y="4346425"/>
            <a:ext cx="1078200" cy="7971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22" name="Google Shape;1222;p94"/>
          <p:cNvPicPr preferRelativeResize="0"/>
          <p:nvPr/>
        </p:nvPicPr>
        <p:blipFill rotWithShape="1">
          <a:blip r:embed="rId4">
            <a:alphaModFix/>
          </a:blip>
          <a:srcRect b="0" l="0" r="0" t="0"/>
          <a:stretch/>
        </p:blipFill>
        <p:spPr>
          <a:xfrm>
            <a:off x="4290378" y="4463349"/>
            <a:ext cx="563250" cy="5632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pic>
        <p:nvPicPr>
          <p:cNvPr id="1227" name="Google Shape;1227;p95"/>
          <p:cNvPicPr preferRelativeResize="0"/>
          <p:nvPr/>
        </p:nvPicPr>
        <p:blipFill>
          <a:blip r:embed="rId3">
            <a:alphaModFix/>
          </a:blip>
          <a:stretch>
            <a:fillRect/>
          </a:stretch>
        </p:blipFill>
        <p:spPr>
          <a:xfrm>
            <a:off x="0" y="0"/>
            <a:ext cx="9144003" cy="5143501"/>
          </a:xfrm>
          <a:prstGeom prst="rect">
            <a:avLst/>
          </a:prstGeom>
          <a:noFill/>
          <a:ln>
            <a:noFill/>
          </a:ln>
        </p:spPr>
      </p:pic>
      <p:sp>
        <p:nvSpPr>
          <p:cNvPr id="1228" name="Google Shape;1228;p95"/>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solidFill>
                  <a:schemeClr val="lt1"/>
                </a:solidFill>
                <a:latin typeface="Lexend"/>
                <a:ea typeface="Lexend"/>
                <a:cs typeface="Lexend"/>
                <a:sym typeface="Lexend"/>
              </a:rPr>
              <a:t>Il CRM di EKO</a:t>
            </a:r>
            <a:endParaRPr sz="7000">
              <a:solidFill>
                <a:schemeClr val="lt1"/>
              </a:solidFill>
              <a:latin typeface="Lexend"/>
              <a:ea typeface="Lexend"/>
              <a:cs typeface="Lexend"/>
              <a:sym typeface="Lexend"/>
            </a:endParaRPr>
          </a:p>
        </p:txBody>
      </p:sp>
      <p:sp>
        <p:nvSpPr>
          <p:cNvPr id="1229" name="Google Shape;1229;p95"/>
          <p:cNvSpPr txBox="1"/>
          <p:nvPr>
            <p:ph idx="1" type="subTitle"/>
          </p:nvPr>
        </p:nvSpPr>
        <p:spPr>
          <a:xfrm>
            <a:off x="311700" y="2829350"/>
            <a:ext cx="8520600" cy="456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2000">
                <a:solidFill>
                  <a:schemeClr val="lt1"/>
                </a:solidFill>
                <a:latin typeface="Lexend"/>
                <a:ea typeface="Lexend"/>
                <a:cs typeface="Lexend"/>
                <a:sym typeface="Lexend"/>
              </a:rPr>
              <a:t>GUIDA PRATICA</a:t>
            </a:r>
            <a:endParaRPr sz="2000">
              <a:solidFill>
                <a:schemeClr val="lt1"/>
              </a:solidFill>
              <a:latin typeface="Lexend"/>
              <a:ea typeface="Lexend"/>
              <a:cs typeface="Lexend"/>
              <a:sym typeface="Lexend"/>
            </a:endParaRPr>
          </a:p>
        </p:txBody>
      </p:sp>
      <p:sp>
        <p:nvSpPr>
          <p:cNvPr id="1230" name="Google Shape;1230;p9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1" name="Google Shape;1231;p95"/>
          <p:cNvSpPr/>
          <p:nvPr/>
        </p:nvSpPr>
        <p:spPr>
          <a:xfrm>
            <a:off x="4032900" y="4346425"/>
            <a:ext cx="1078200" cy="7971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2" name="Google Shape;1232;p95"/>
          <p:cNvPicPr preferRelativeResize="0"/>
          <p:nvPr/>
        </p:nvPicPr>
        <p:blipFill rotWithShape="1">
          <a:blip r:embed="rId4">
            <a:alphaModFix/>
          </a:blip>
          <a:srcRect b="0" l="0" r="0" t="0"/>
          <a:stretch/>
        </p:blipFill>
        <p:spPr>
          <a:xfrm>
            <a:off x="4290378" y="4463349"/>
            <a:ext cx="563250" cy="5632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9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8" name="Google Shape;1238;p9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239" name="Google Shape;1239;p9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a:t>
            </a:r>
            <a:r>
              <a:rPr lang="it" sz="700">
                <a:latin typeface="Lexend"/>
                <a:ea typeface="Lexend"/>
                <a:cs typeface="Lexend"/>
                <a:sym typeface="Lexend"/>
              </a:rPr>
              <a:t> | 77</a:t>
            </a:r>
            <a:endParaRPr sz="700">
              <a:latin typeface="Lexend"/>
              <a:ea typeface="Lexend"/>
              <a:cs typeface="Lexend"/>
              <a:sym typeface="Lexend"/>
            </a:endParaRPr>
          </a:p>
        </p:txBody>
      </p:sp>
      <p:sp>
        <p:nvSpPr>
          <p:cNvPr id="1240" name="Google Shape;1240;p9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241" name="Google Shape;1241;p96"/>
          <p:cNvSpPr/>
          <p:nvPr/>
        </p:nvSpPr>
        <p:spPr>
          <a:xfrm>
            <a:off x="1047500" y="1817850"/>
            <a:ext cx="7890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42" name="Google Shape;1242;p96"/>
          <p:cNvPicPr preferRelativeResize="0"/>
          <p:nvPr/>
        </p:nvPicPr>
        <p:blipFill>
          <a:blip r:embed="rId4">
            <a:alphaModFix/>
          </a:blip>
          <a:stretch>
            <a:fillRect/>
          </a:stretch>
        </p:blipFill>
        <p:spPr>
          <a:xfrm>
            <a:off x="689332" y="811526"/>
            <a:ext cx="7765344" cy="3992674"/>
          </a:xfrm>
          <a:prstGeom prst="rect">
            <a:avLst/>
          </a:prstGeom>
          <a:noFill/>
          <a:ln>
            <a:noFill/>
          </a:ln>
        </p:spPr>
      </p:pic>
      <p:sp>
        <p:nvSpPr>
          <p:cNvPr id="1243" name="Google Shape;1243;p96"/>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Il CRM: Dashboard</a:t>
            </a:r>
            <a:endParaRPr sz="1100">
              <a:highlight>
                <a:srgbClr val="B6D7A8"/>
              </a:highlight>
              <a:latin typeface="Lexend"/>
              <a:ea typeface="Lexend"/>
              <a:cs typeface="Lexend"/>
              <a:sym typeface="Lexen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9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49" name="Google Shape;1249;p9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250" name="Google Shape;1250;p9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251" name="Google Shape;1251;p9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252" name="Google Shape;1252;p97"/>
          <p:cNvSpPr/>
          <p:nvPr/>
        </p:nvSpPr>
        <p:spPr>
          <a:xfrm>
            <a:off x="1047500" y="1817850"/>
            <a:ext cx="7890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53" name="Google Shape;1253;p97"/>
          <p:cNvPicPr preferRelativeResize="0"/>
          <p:nvPr/>
        </p:nvPicPr>
        <p:blipFill rotWithShape="1">
          <a:blip r:embed="rId4">
            <a:alphaModFix/>
          </a:blip>
          <a:srcRect b="0" l="0" r="13696" t="0"/>
          <a:stretch/>
        </p:blipFill>
        <p:spPr>
          <a:xfrm>
            <a:off x="703073" y="750700"/>
            <a:ext cx="3726449" cy="4153201"/>
          </a:xfrm>
          <a:prstGeom prst="rect">
            <a:avLst/>
          </a:prstGeom>
          <a:noFill/>
          <a:ln>
            <a:noFill/>
          </a:ln>
        </p:spPr>
      </p:pic>
      <p:sp>
        <p:nvSpPr>
          <p:cNvPr id="1254" name="Google Shape;1254;p97"/>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Sezione CRM &gt; Contatti (Anagrafica completa)</a:t>
            </a:r>
            <a:endParaRPr sz="1100">
              <a:highlight>
                <a:srgbClr val="B6D7A8"/>
              </a:highlight>
              <a:latin typeface="Lexend"/>
              <a:ea typeface="Lexend"/>
              <a:cs typeface="Lexend"/>
              <a:sym typeface="Lexend"/>
            </a:endParaRPr>
          </a:p>
        </p:txBody>
      </p:sp>
      <p:sp>
        <p:nvSpPr>
          <p:cNvPr id="1255" name="Google Shape;1255;p97"/>
          <p:cNvSpPr/>
          <p:nvPr/>
        </p:nvSpPr>
        <p:spPr>
          <a:xfrm>
            <a:off x="653700" y="2613550"/>
            <a:ext cx="616800" cy="369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56" name="Google Shape;1256;p97"/>
          <p:cNvCxnSpPr>
            <a:stCxn id="1257" idx="1"/>
            <a:endCxn id="1258" idx="3"/>
          </p:cNvCxnSpPr>
          <p:nvPr/>
        </p:nvCxnSpPr>
        <p:spPr>
          <a:xfrm flipH="1">
            <a:off x="2250700" y="1453200"/>
            <a:ext cx="2737800" cy="1340400"/>
          </a:xfrm>
          <a:prstGeom prst="straightConnector1">
            <a:avLst/>
          </a:prstGeom>
          <a:noFill/>
          <a:ln cap="flat" cmpd="sng" w="9525">
            <a:solidFill>
              <a:schemeClr val="dk2"/>
            </a:solidFill>
            <a:prstDash val="solid"/>
            <a:round/>
            <a:headEnd len="med" w="med" type="none"/>
            <a:tailEnd len="med" w="med" type="triangle"/>
          </a:ln>
        </p:spPr>
      </p:cxnSp>
      <p:sp>
        <p:nvSpPr>
          <p:cNvPr id="1258" name="Google Shape;1258;p97"/>
          <p:cNvSpPr/>
          <p:nvPr/>
        </p:nvSpPr>
        <p:spPr>
          <a:xfrm>
            <a:off x="1461625" y="2652750"/>
            <a:ext cx="789000" cy="281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7" name="Google Shape;1257;p97"/>
          <p:cNvSpPr txBox="1"/>
          <p:nvPr>
            <p:ph type="title"/>
          </p:nvPr>
        </p:nvSpPr>
        <p:spPr>
          <a:xfrm>
            <a:off x="4988500" y="1010550"/>
            <a:ext cx="3983400" cy="885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it" sz="2020">
                <a:highlight>
                  <a:srgbClr val="B6D7A8"/>
                </a:highlight>
                <a:latin typeface="Lexend"/>
                <a:ea typeface="Lexend"/>
                <a:cs typeface="Lexend"/>
                <a:sym typeface="Lexend"/>
              </a:rPr>
              <a:t>Contatti</a:t>
            </a:r>
            <a:r>
              <a:rPr lang="it" sz="2020">
                <a:highlight>
                  <a:schemeClr val="lt1"/>
                </a:highlight>
                <a:latin typeface="Lexend"/>
                <a:ea typeface="Lexend"/>
                <a:cs typeface="Lexend"/>
                <a:sym typeface="Lexend"/>
              </a:rPr>
              <a:t> </a:t>
            </a:r>
            <a:r>
              <a:rPr lang="it" sz="2020">
                <a:latin typeface="Lexend"/>
                <a:ea typeface="Lexend"/>
                <a:cs typeface="Lexend"/>
                <a:sym typeface="Lexend"/>
              </a:rPr>
              <a:t>= Sezione Anagrafica</a:t>
            </a:r>
            <a:endParaRPr sz="2020">
              <a:latin typeface="Lexend"/>
              <a:ea typeface="Lexend"/>
              <a:cs typeface="Lexend"/>
              <a:sym typeface="Lexend"/>
            </a:endParaRPr>
          </a:p>
        </p:txBody>
      </p:sp>
      <p:sp>
        <p:nvSpPr>
          <p:cNvPr id="1259" name="Google Shape;1259;p97"/>
          <p:cNvSpPr txBox="1"/>
          <p:nvPr>
            <p:ph type="title"/>
          </p:nvPr>
        </p:nvSpPr>
        <p:spPr>
          <a:xfrm>
            <a:off x="4988500" y="1955999"/>
            <a:ext cx="3777900" cy="2529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 </a:t>
            </a:r>
            <a:r>
              <a:rPr b="1" lang="it" sz="1620">
                <a:latin typeface="Lexend"/>
                <a:ea typeface="Lexend"/>
                <a:cs typeface="Lexend"/>
                <a:sym typeface="Lexend"/>
              </a:rPr>
              <a:t>Gestione</a:t>
            </a:r>
            <a:r>
              <a:rPr lang="it" sz="1620">
                <a:latin typeface="Lexend"/>
                <a:ea typeface="Lexend"/>
                <a:cs typeface="Lexend"/>
                <a:sym typeface="Lexend"/>
              </a:rPr>
              <a:t> </a:t>
            </a:r>
            <a:r>
              <a:rPr b="1" lang="it" sz="1620">
                <a:latin typeface="Lexend"/>
                <a:ea typeface="Lexend"/>
                <a:cs typeface="Lexend"/>
                <a:sym typeface="Lexend"/>
              </a:rPr>
              <a:t>Contatti </a:t>
            </a:r>
            <a:endParaRPr b="1"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b="1"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rPr lang="it" sz="1420">
                <a:latin typeface="Lexend"/>
                <a:ea typeface="Lexend"/>
                <a:cs typeface="Lexend"/>
                <a:sym typeface="Lexend"/>
              </a:rPr>
              <a:t>si usa per la GESTIONE di vendita e ammonistrativa dei contatti</a:t>
            </a:r>
            <a:endParaRPr sz="14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sz="1420">
              <a:latin typeface="Lexend"/>
              <a:ea typeface="Lexend"/>
              <a:cs typeface="Lexend"/>
              <a:sym typeface="Lexend"/>
            </a:endParaRPr>
          </a:p>
          <a:p>
            <a:pPr indent="-318770" lvl="0" marL="457200" rtl="0" algn="l">
              <a:lnSpc>
                <a:spcPct val="115000"/>
              </a:lnSpc>
              <a:spcBef>
                <a:spcPts val="0"/>
              </a:spcBef>
              <a:spcAft>
                <a:spcPts val="0"/>
              </a:spcAft>
              <a:buSzPts val="1420"/>
              <a:buFont typeface="Lexend"/>
              <a:buChar char="-"/>
            </a:pPr>
            <a:r>
              <a:rPr lang="it" sz="1420">
                <a:latin typeface="Lexend"/>
                <a:ea typeface="Lexend"/>
                <a:cs typeface="Lexend"/>
                <a:sym typeface="Lexend"/>
              </a:rPr>
              <a:t>gestione documenti</a:t>
            </a:r>
            <a:endParaRPr sz="1420">
              <a:latin typeface="Lexend"/>
              <a:ea typeface="Lexend"/>
              <a:cs typeface="Lexend"/>
              <a:sym typeface="Lexend"/>
            </a:endParaRPr>
          </a:p>
          <a:p>
            <a:pPr indent="-318770" lvl="0" marL="457200" rtl="0" algn="l">
              <a:lnSpc>
                <a:spcPct val="115000"/>
              </a:lnSpc>
              <a:spcBef>
                <a:spcPts val="0"/>
              </a:spcBef>
              <a:spcAft>
                <a:spcPts val="0"/>
              </a:spcAft>
              <a:buSzPts val="1420"/>
              <a:buFont typeface="Lexend"/>
              <a:buChar char="-"/>
            </a:pPr>
            <a:r>
              <a:rPr lang="it" sz="1420">
                <a:latin typeface="Lexend"/>
                <a:ea typeface="Lexend"/>
                <a:cs typeface="Lexend"/>
                <a:sym typeface="Lexend"/>
              </a:rPr>
              <a:t>storico chiamate</a:t>
            </a:r>
            <a:endParaRPr sz="1420">
              <a:latin typeface="Lexend"/>
              <a:ea typeface="Lexend"/>
              <a:cs typeface="Lexend"/>
              <a:sym typeface="Lexend"/>
            </a:endParaRPr>
          </a:p>
          <a:p>
            <a:pPr indent="-318770" lvl="0" marL="457200" rtl="0" algn="l">
              <a:lnSpc>
                <a:spcPct val="115000"/>
              </a:lnSpc>
              <a:spcBef>
                <a:spcPts val="0"/>
              </a:spcBef>
              <a:spcAft>
                <a:spcPts val="0"/>
              </a:spcAft>
              <a:buSzPts val="1420"/>
              <a:buFont typeface="Lexend"/>
              <a:buChar char="-"/>
            </a:pPr>
            <a:r>
              <a:rPr lang="it" sz="1420">
                <a:latin typeface="Lexend"/>
                <a:ea typeface="Lexend"/>
                <a:cs typeface="Lexend"/>
                <a:sym typeface="Lexend"/>
              </a:rPr>
              <a:t>storico attività</a:t>
            </a:r>
            <a:endParaRPr sz="1420">
              <a:latin typeface="Lexend"/>
              <a:ea typeface="Lexend"/>
              <a:cs typeface="Lexend"/>
              <a:sym typeface="Lexend"/>
            </a:endParaRPr>
          </a:p>
          <a:p>
            <a:pPr indent="-318770" lvl="0" marL="457200" rtl="0" algn="l">
              <a:lnSpc>
                <a:spcPct val="115000"/>
              </a:lnSpc>
              <a:spcBef>
                <a:spcPts val="0"/>
              </a:spcBef>
              <a:spcAft>
                <a:spcPts val="0"/>
              </a:spcAft>
              <a:buSzPts val="1420"/>
              <a:buFont typeface="Lexend"/>
              <a:buChar char="-"/>
            </a:pPr>
            <a:r>
              <a:rPr lang="it" sz="1420">
                <a:latin typeface="Lexend"/>
                <a:ea typeface="Lexend"/>
                <a:cs typeface="Lexend"/>
                <a:sym typeface="Lexend"/>
              </a:rPr>
              <a:t>dati cliente + info impianto</a:t>
            </a:r>
            <a:endParaRPr sz="14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sz="1420">
              <a:latin typeface="Lexend"/>
              <a:ea typeface="Lexend"/>
              <a:cs typeface="Lexend"/>
              <a:sym typeface="Lexen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pic>
        <p:nvPicPr>
          <p:cNvPr id="1264" name="Google Shape;1264;p98"/>
          <p:cNvPicPr preferRelativeResize="0"/>
          <p:nvPr/>
        </p:nvPicPr>
        <p:blipFill rotWithShape="1">
          <a:blip r:embed="rId3">
            <a:alphaModFix/>
          </a:blip>
          <a:srcRect b="0" l="0" r="25662" t="0"/>
          <a:stretch/>
        </p:blipFill>
        <p:spPr>
          <a:xfrm>
            <a:off x="703075" y="750700"/>
            <a:ext cx="3726450" cy="4153200"/>
          </a:xfrm>
          <a:prstGeom prst="rect">
            <a:avLst/>
          </a:prstGeom>
          <a:noFill/>
          <a:ln>
            <a:noFill/>
          </a:ln>
        </p:spPr>
      </p:pic>
      <p:sp>
        <p:nvSpPr>
          <p:cNvPr id="1265" name="Google Shape;1265;p9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66" name="Google Shape;1266;p98"/>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267" name="Google Shape;1267;p9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268" name="Google Shape;1268;p9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269" name="Google Shape;1269;p98"/>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Sezione CRM &gt; Opportunità (selezione delle Pipeline)</a:t>
            </a:r>
            <a:endParaRPr sz="1100">
              <a:highlight>
                <a:srgbClr val="B6D7A8"/>
              </a:highlight>
              <a:latin typeface="Lexend"/>
              <a:ea typeface="Lexend"/>
              <a:cs typeface="Lexend"/>
              <a:sym typeface="Lexend"/>
            </a:endParaRPr>
          </a:p>
        </p:txBody>
      </p:sp>
      <p:sp>
        <p:nvSpPr>
          <p:cNvPr id="1270" name="Google Shape;1270;p98"/>
          <p:cNvSpPr txBox="1"/>
          <p:nvPr>
            <p:ph type="title"/>
          </p:nvPr>
        </p:nvSpPr>
        <p:spPr>
          <a:xfrm>
            <a:off x="4988500" y="2305425"/>
            <a:ext cx="3983400" cy="885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it" sz="2020">
                <a:highlight>
                  <a:srgbClr val="B6D7A8"/>
                </a:highlight>
                <a:latin typeface="Lexend"/>
                <a:ea typeface="Lexend"/>
                <a:cs typeface="Lexend"/>
                <a:sym typeface="Lexend"/>
              </a:rPr>
              <a:t>Opportunità</a:t>
            </a:r>
            <a:r>
              <a:rPr lang="it" sz="2020">
                <a:highlight>
                  <a:schemeClr val="lt1"/>
                </a:highlight>
                <a:latin typeface="Lexend"/>
                <a:ea typeface="Lexend"/>
                <a:cs typeface="Lexend"/>
                <a:sym typeface="Lexend"/>
              </a:rPr>
              <a:t> </a:t>
            </a:r>
            <a:r>
              <a:rPr lang="it" sz="2020">
                <a:latin typeface="Lexend"/>
                <a:ea typeface="Lexend"/>
                <a:cs typeface="Lexend"/>
                <a:sym typeface="Lexend"/>
              </a:rPr>
              <a:t>= Area Pipeline</a:t>
            </a:r>
            <a:endParaRPr sz="2020">
              <a:latin typeface="Lexend"/>
              <a:ea typeface="Lexend"/>
              <a:cs typeface="Lexend"/>
              <a:sym typeface="Lexend"/>
            </a:endParaRPr>
          </a:p>
        </p:txBody>
      </p:sp>
      <p:sp>
        <p:nvSpPr>
          <p:cNvPr id="1271" name="Google Shape;1271;p98"/>
          <p:cNvSpPr/>
          <p:nvPr/>
        </p:nvSpPr>
        <p:spPr>
          <a:xfrm>
            <a:off x="653700" y="2642650"/>
            <a:ext cx="616800" cy="369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72" name="Google Shape;1272;p98"/>
          <p:cNvCxnSpPr>
            <a:stCxn id="1270" idx="1"/>
            <a:endCxn id="1273" idx="3"/>
          </p:cNvCxnSpPr>
          <p:nvPr/>
        </p:nvCxnSpPr>
        <p:spPr>
          <a:xfrm flipH="1">
            <a:off x="2250700" y="2748075"/>
            <a:ext cx="2737800" cy="275400"/>
          </a:xfrm>
          <a:prstGeom prst="straightConnector1">
            <a:avLst/>
          </a:prstGeom>
          <a:noFill/>
          <a:ln cap="flat" cmpd="sng" w="9525">
            <a:solidFill>
              <a:schemeClr val="dk2"/>
            </a:solidFill>
            <a:prstDash val="solid"/>
            <a:round/>
            <a:headEnd len="med" w="med" type="none"/>
            <a:tailEnd len="med" w="med" type="triangle"/>
          </a:ln>
        </p:spPr>
      </p:cxnSp>
      <p:sp>
        <p:nvSpPr>
          <p:cNvPr id="1273" name="Google Shape;1273;p98"/>
          <p:cNvSpPr/>
          <p:nvPr/>
        </p:nvSpPr>
        <p:spPr>
          <a:xfrm>
            <a:off x="1461550" y="2882900"/>
            <a:ext cx="789000" cy="281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9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79" name="Google Shape;1279;p99"/>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280" name="Google Shape;1280;p9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281" name="Google Shape;1281;p99"/>
          <p:cNvSpPr txBox="1"/>
          <p:nvPr>
            <p:ph type="title"/>
          </p:nvPr>
        </p:nvSpPr>
        <p:spPr>
          <a:xfrm>
            <a:off x="4988500" y="1109500"/>
            <a:ext cx="3777900" cy="885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it" sz="2020">
                <a:highlight>
                  <a:srgbClr val="B6D7A8"/>
                </a:highlight>
                <a:latin typeface="Lexend"/>
                <a:ea typeface="Lexend"/>
                <a:cs typeface="Lexend"/>
                <a:sym typeface="Lexend"/>
              </a:rPr>
              <a:t>Pipeline</a:t>
            </a:r>
            <a:r>
              <a:rPr lang="it" sz="2020">
                <a:highlight>
                  <a:schemeClr val="lt1"/>
                </a:highlight>
                <a:latin typeface="Lexend"/>
                <a:ea typeface="Lexend"/>
                <a:cs typeface="Lexend"/>
                <a:sym typeface="Lexend"/>
              </a:rPr>
              <a:t> </a:t>
            </a:r>
            <a:r>
              <a:rPr lang="it" sz="2020">
                <a:latin typeface="Lexend"/>
                <a:ea typeface="Lexend"/>
                <a:cs typeface="Lexend"/>
                <a:sym typeface="Lexend"/>
              </a:rPr>
              <a:t>= Flusso di Lavoro</a:t>
            </a:r>
            <a:endParaRPr sz="2020">
              <a:latin typeface="Lexend"/>
              <a:ea typeface="Lexend"/>
              <a:cs typeface="Lexend"/>
              <a:sym typeface="Lexend"/>
            </a:endParaRPr>
          </a:p>
        </p:txBody>
      </p:sp>
      <p:sp>
        <p:nvSpPr>
          <p:cNvPr id="1282" name="Google Shape;1282;p9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1283" name="Google Shape;1283;p99"/>
          <p:cNvPicPr preferRelativeResize="0"/>
          <p:nvPr/>
        </p:nvPicPr>
        <p:blipFill rotWithShape="1">
          <a:blip r:embed="rId4">
            <a:alphaModFix/>
          </a:blip>
          <a:srcRect b="27261" l="8326" r="53430" t="2751"/>
          <a:stretch/>
        </p:blipFill>
        <p:spPr>
          <a:xfrm>
            <a:off x="532875" y="1109488"/>
            <a:ext cx="3906050" cy="3435624"/>
          </a:xfrm>
          <a:prstGeom prst="rect">
            <a:avLst/>
          </a:prstGeom>
          <a:noFill/>
          <a:ln>
            <a:noFill/>
          </a:ln>
        </p:spPr>
      </p:pic>
      <p:sp>
        <p:nvSpPr>
          <p:cNvPr id="1284" name="Google Shape;1284;p99"/>
          <p:cNvSpPr/>
          <p:nvPr/>
        </p:nvSpPr>
        <p:spPr>
          <a:xfrm>
            <a:off x="897200" y="1470955"/>
            <a:ext cx="1554900" cy="981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85" name="Google Shape;1285;p99"/>
          <p:cNvCxnSpPr>
            <a:stCxn id="1284" idx="3"/>
            <a:endCxn id="1281" idx="1"/>
          </p:cNvCxnSpPr>
          <p:nvPr/>
        </p:nvCxnSpPr>
        <p:spPr>
          <a:xfrm flipH="1" rot="10800000">
            <a:off x="2452100" y="1552255"/>
            <a:ext cx="2536500" cy="409200"/>
          </a:xfrm>
          <a:prstGeom prst="straightConnector1">
            <a:avLst/>
          </a:prstGeom>
          <a:noFill/>
          <a:ln cap="flat" cmpd="sng" w="19050">
            <a:solidFill>
              <a:srgbClr val="FF0000"/>
            </a:solidFill>
            <a:prstDash val="solid"/>
            <a:round/>
            <a:headEnd len="med" w="med" type="none"/>
            <a:tailEnd len="med" w="med" type="none"/>
          </a:ln>
        </p:spPr>
      </p:cxnSp>
      <p:sp>
        <p:nvSpPr>
          <p:cNvPr id="1286" name="Google Shape;1286;p99"/>
          <p:cNvSpPr/>
          <p:nvPr/>
        </p:nvSpPr>
        <p:spPr>
          <a:xfrm>
            <a:off x="1047500" y="1817850"/>
            <a:ext cx="7890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7" name="Google Shape;1287;p99"/>
          <p:cNvSpPr txBox="1"/>
          <p:nvPr>
            <p:ph type="title"/>
          </p:nvPr>
        </p:nvSpPr>
        <p:spPr>
          <a:xfrm>
            <a:off x="4988500" y="2056874"/>
            <a:ext cx="3777900" cy="2538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 </a:t>
            </a:r>
            <a:r>
              <a:rPr b="1" lang="it" sz="1620">
                <a:latin typeface="Lexend"/>
                <a:ea typeface="Lexend"/>
                <a:cs typeface="Lexend"/>
                <a:sym typeface="Lexend"/>
              </a:rPr>
              <a:t>Selezione Pipeline</a:t>
            </a:r>
            <a:endParaRPr b="1"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b="1" sz="1620">
              <a:latin typeface="Lexend"/>
              <a:ea typeface="Lexend"/>
              <a:cs typeface="Lexend"/>
              <a:sym typeface="Lexend"/>
            </a:endParaRPr>
          </a:p>
          <a:p>
            <a:pPr indent="-318770" lvl="0" marL="457200" rtl="0" algn="l">
              <a:lnSpc>
                <a:spcPct val="115000"/>
              </a:lnSpc>
              <a:spcBef>
                <a:spcPts val="0"/>
              </a:spcBef>
              <a:spcAft>
                <a:spcPts val="0"/>
              </a:spcAft>
              <a:buSzPts val="1420"/>
              <a:buFont typeface="Lexend"/>
              <a:buChar char="-"/>
            </a:pPr>
            <a:r>
              <a:rPr lang="it" sz="1420">
                <a:latin typeface="Lexend"/>
                <a:ea typeface="Lexend"/>
                <a:cs typeface="Lexend"/>
                <a:sym typeface="Lexend"/>
              </a:rPr>
              <a:t>Pipeline </a:t>
            </a:r>
            <a:r>
              <a:rPr lang="it" sz="1420" u="sng">
                <a:latin typeface="Lexend"/>
                <a:ea typeface="Lexend"/>
                <a:cs typeface="Lexend"/>
                <a:sym typeface="Lexend"/>
              </a:rPr>
              <a:t>Funnel Fotovoltaico</a:t>
            </a:r>
            <a:endParaRPr sz="1420" u="sng">
              <a:latin typeface="Lexend"/>
              <a:ea typeface="Lexend"/>
              <a:cs typeface="Lexend"/>
              <a:sym typeface="Lexend"/>
            </a:endParaRPr>
          </a:p>
          <a:p>
            <a:pPr indent="-318770" lvl="1" marL="914400" rtl="0" algn="l">
              <a:lnSpc>
                <a:spcPct val="115000"/>
              </a:lnSpc>
              <a:spcBef>
                <a:spcPts val="0"/>
              </a:spcBef>
              <a:spcAft>
                <a:spcPts val="0"/>
              </a:spcAft>
              <a:buSzPts val="1420"/>
              <a:buFont typeface="Lexend"/>
              <a:buChar char="-"/>
            </a:pPr>
            <a:r>
              <a:rPr lang="it" sz="1420">
                <a:latin typeface="Lexend"/>
                <a:ea typeface="Lexend"/>
                <a:cs typeface="Lexend"/>
                <a:sym typeface="Lexend"/>
              </a:rPr>
              <a:t>gestione commerciale del lead</a:t>
            </a:r>
            <a:endParaRPr sz="1420">
              <a:latin typeface="Lexend"/>
              <a:ea typeface="Lexend"/>
              <a:cs typeface="Lexend"/>
              <a:sym typeface="Lexend"/>
            </a:endParaRPr>
          </a:p>
          <a:p>
            <a:pPr indent="-318770" lvl="1" marL="914400" rtl="0" algn="l">
              <a:lnSpc>
                <a:spcPct val="115000"/>
              </a:lnSpc>
              <a:spcBef>
                <a:spcPts val="0"/>
              </a:spcBef>
              <a:spcAft>
                <a:spcPts val="0"/>
              </a:spcAft>
              <a:buSzPts val="1420"/>
              <a:buFont typeface="Lexend"/>
              <a:buChar char="-"/>
            </a:pPr>
            <a:r>
              <a:rPr lang="it" sz="1420">
                <a:latin typeface="Lexend"/>
                <a:ea typeface="Lexend"/>
                <a:cs typeface="Lexend"/>
                <a:sym typeface="Lexend"/>
              </a:rPr>
              <a:t>lead da facebook</a:t>
            </a:r>
            <a:endParaRPr sz="1420">
              <a:latin typeface="Lexend"/>
              <a:ea typeface="Lexend"/>
              <a:cs typeface="Lexend"/>
              <a:sym typeface="Lexend"/>
            </a:endParaRPr>
          </a:p>
          <a:p>
            <a:pPr indent="0" lvl="0" marL="914400" rtl="0" algn="l">
              <a:lnSpc>
                <a:spcPct val="115000"/>
              </a:lnSpc>
              <a:spcBef>
                <a:spcPts val="0"/>
              </a:spcBef>
              <a:spcAft>
                <a:spcPts val="0"/>
              </a:spcAft>
              <a:buNone/>
            </a:pPr>
            <a:r>
              <a:t/>
            </a:r>
            <a:endParaRPr sz="1420">
              <a:latin typeface="Lexend"/>
              <a:ea typeface="Lexend"/>
              <a:cs typeface="Lexend"/>
              <a:sym typeface="Lexend"/>
            </a:endParaRPr>
          </a:p>
          <a:p>
            <a:pPr indent="-318770" lvl="0" marL="457200" rtl="0" algn="l">
              <a:lnSpc>
                <a:spcPct val="115000"/>
              </a:lnSpc>
              <a:spcBef>
                <a:spcPts val="0"/>
              </a:spcBef>
              <a:spcAft>
                <a:spcPts val="0"/>
              </a:spcAft>
              <a:buSzPts val="1420"/>
              <a:buFont typeface="Lexend"/>
              <a:buChar char="-"/>
            </a:pPr>
            <a:r>
              <a:rPr lang="it" sz="1420">
                <a:latin typeface="Lexend"/>
                <a:ea typeface="Lexend"/>
                <a:cs typeface="Lexend"/>
                <a:sym typeface="Lexend"/>
              </a:rPr>
              <a:t>Pipeline </a:t>
            </a:r>
            <a:r>
              <a:rPr lang="it" sz="1420" u="sng">
                <a:latin typeface="Lexend"/>
                <a:ea typeface="Lexend"/>
                <a:cs typeface="Lexend"/>
                <a:sym typeface="Lexend"/>
              </a:rPr>
              <a:t>Gestione Clienti </a:t>
            </a:r>
            <a:endParaRPr sz="1420">
              <a:latin typeface="Lexend"/>
              <a:ea typeface="Lexend"/>
              <a:cs typeface="Lexend"/>
              <a:sym typeface="Lexend"/>
            </a:endParaRPr>
          </a:p>
          <a:p>
            <a:pPr indent="-318770" lvl="1" marL="914400" rtl="0" algn="l">
              <a:lnSpc>
                <a:spcPct val="115000"/>
              </a:lnSpc>
              <a:spcBef>
                <a:spcPts val="0"/>
              </a:spcBef>
              <a:spcAft>
                <a:spcPts val="0"/>
              </a:spcAft>
              <a:buSzPts val="1420"/>
              <a:buFont typeface="Lexend"/>
              <a:buChar char="-"/>
            </a:pPr>
            <a:r>
              <a:rPr lang="it" sz="1420">
                <a:latin typeface="Lexend"/>
                <a:ea typeface="Lexend"/>
                <a:cs typeface="Lexend"/>
                <a:sym typeface="Lexend"/>
              </a:rPr>
              <a:t>gestione post-contratto del lead e chiusura pratica</a:t>
            </a:r>
            <a:endParaRPr sz="14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sz="1420">
              <a:latin typeface="Lexend"/>
              <a:ea typeface="Lexend"/>
              <a:cs typeface="Lexend"/>
              <a:sym typeface="Lexen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0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93" name="Google Shape;1293;p10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294" name="Google Shape;1294;p10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295" name="Google Shape;1295;p100"/>
          <p:cNvSpPr txBox="1"/>
          <p:nvPr>
            <p:ph type="title"/>
          </p:nvPr>
        </p:nvSpPr>
        <p:spPr>
          <a:xfrm>
            <a:off x="2683050" y="982675"/>
            <a:ext cx="37779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Stato</a:t>
            </a:r>
            <a:endParaRPr sz="2020">
              <a:highlight>
                <a:srgbClr val="B6D7A8"/>
              </a:highlight>
              <a:latin typeface="Lexend"/>
              <a:ea typeface="Lexend"/>
              <a:cs typeface="Lexend"/>
              <a:sym typeface="Lexend"/>
            </a:endParaRPr>
          </a:p>
        </p:txBody>
      </p:sp>
      <p:sp>
        <p:nvSpPr>
          <p:cNvPr id="1296" name="Google Shape;1296;p10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297" name="Google Shape;1297;p100"/>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8" name="Google Shape;1298;p100"/>
          <p:cNvSpPr txBox="1"/>
          <p:nvPr>
            <p:ph type="title"/>
          </p:nvPr>
        </p:nvSpPr>
        <p:spPr>
          <a:xfrm>
            <a:off x="521425" y="1520425"/>
            <a:ext cx="8146500" cy="419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Sono i vari “step” che ci guidano nella lavorazione di un contatto.</a:t>
            </a:r>
            <a:endParaRPr sz="1620">
              <a:latin typeface="Lexend"/>
              <a:ea typeface="Lexend"/>
              <a:cs typeface="Lexend"/>
              <a:sym typeface="Lexend"/>
            </a:endParaRPr>
          </a:p>
        </p:txBody>
      </p:sp>
      <p:pic>
        <p:nvPicPr>
          <p:cNvPr id="1299" name="Google Shape;1299;p100"/>
          <p:cNvPicPr preferRelativeResize="0"/>
          <p:nvPr/>
        </p:nvPicPr>
        <p:blipFill rotWithShape="1">
          <a:blip r:embed="rId4">
            <a:alphaModFix/>
          </a:blip>
          <a:srcRect b="21421" l="0" r="0" t="0"/>
          <a:stretch/>
        </p:blipFill>
        <p:spPr>
          <a:xfrm>
            <a:off x="918750" y="2057353"/>
            <a:ext cx="7306401" cy="2715212"/>
          </a:xfrm>
          <a:prstGeom prst="rect">
            <a:avLst/>
          </a:prstGeom>
          <a:noFill/>
          <a:ln>
            <a:noFill/>
          </a:ln>
        </p:spPr>
      </p:pic>
      <p:sp>
        <p:nvSpPr>
          <p:cNvPr id="1300" name="Google Shape;1300;p100"/>
          <p:cNvSpPr/>
          <p:nvPr/>
        </p:nvSpPr>
        <p:spPr>
          <a:xfrm>
            <a:off x="918750" y="2559875"/>
            <a:ext cx="7306500" cy="419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10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06" name="Google Shape;1306;p10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307" name="Google Shape;1307;p10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308" name="Google Shape;1308;p101"/>
          <p:cNvSpPr txBox="1"/>
          <p:nvPr>
            <p:ph type="title"/>
          </p:nvPr>
        </p:nvSpPr>
        <p:spPr>
          <a:xfrm>
            <a:off x="2683050" y="982675"/>
            <a:ext cx="37779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a:t>
            </a:r>
            <a:endParaRPr sz="2020">
              <a:highlight>
                <a:srgbClr val="B6D7A8"/>
              </a:highlight>
              <a:latin typeface="Lexend"/>
              <a:ea typeface="Lexend"/>
              <a:cs typeface="Lexend"/>
              <a:sym typeface="Lexend"/>
            </a:endParaRPr>
          </a:p>
        </p:txBody>
      </p:sp>
      <p:sp>
        <p:nvSpPr>
          <p:cNvPr id="1309" name="Google Shape;1309;p10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310" name="Google Shape;1310;p101"/>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1" name="Google Shape;1311;p101"/>
          <p:cNvSpPr txBox="1"/>
          <p:nvPr>
            <p:ph type="title"/>
          </p:nvPr>
        </p:nvSpPr>
        <p:spPr>
          <a:xfrm>
            <a:off x="521425" y="1520425"/>
            <a:ext cx="8146500" cy="419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E’ la colonna che identifica uno STATO specifico</a:t>
            </a:r>
            <a:endParaRPr sz="1620">
              <a:latin typeface="Lexend"/>
              <a:ea typeface="Lexend"/>
              <a:cs typeface="Lexend"/>
              <a:sym typeface="Lexend"/>
            </a:endParaRPr>
          </a:p>
        </p:txBody>
      </p:sp>
      <p:pic>
        <p:nvPicPr>
          <p:cNvPr id="1312" name="Google Shape;1312;p101"/>
          <p:cNvPicPr preferRelativeResize="0"/>
          <p:nvPr/>
        </p:nvPicPr>
        <p:blipFill rotWithShape="1">
          <a:blip r:embed="rId4">
            <a:alphaModFix/>
          </a:blip>
          <a:srcRect b="21421" l="0" r="0" t="0"/>
          <a:stretch/>
        </p:blipFill>
        <p:spPr>
          <a:xfrm>
            <a:off x="918750" y="2057353"/>
            <a:ext cx="7306401" cy="2715212"/>
          </a:xfrm>
          <a:prstGeom prst="rect">
            <a:avLst/>
          </a:prstGeom>
          <a:noFill/>
          <a:ln>
            <a:noFill/>
          </a:ln>
        </p:spPr>
      </p:pic>
      <p:sp>
        <p:nvSpPr>
          <p:cNvPr id="1313" name="Google Shape;1313;p101"/>
          <p:cNvSpPr/>
          <p:nvPr/>
        </p:nvSpPr>
        <p:spPr>
          <a:xfrm>
            <a:off x="918750" y="2592750"/>
            <a:ext cx="1279500" cy="2109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10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19" name="Google Shape;1319;p10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320" name="Google Shape;1320;p10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321" name="Google Shape;1321;p102"/>
          <p:cNvSpPr txBox="1"/>
          <p:nvPr>
            <p:ph type="title"/>
          </p:nvPr>
        </p:nvSpPr>
        <p:spPr>
          <a:xfrm>
            <a:off x="2683050" y="982675"/>
            <a:ext cx="37779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Lead</a:t>
            </a:r>
            <a:endParaRPr sz="2020">
              <a:highlight>
                <a:srgbClr val="B6D7A8"/>
              </a:highlight>
              <a:latin typeface="Lexend"/>
              <a:ea typeface="Lexend"/>
              <a:cs typeface="Lexend"/>
              <a:sym typeface="Lexend"/>
            </a:endParaRPr>
          </a:p>
        </p:txBody>
      </p:sp>
      <p:sp>
        <p:nvSpPr>
          <p:cNvPr id="1322" name="Google Shape;1322;p10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323" name="Google Shape;1323;p102"/>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4" name="Google Shape;1324;p102"/>
          <p:cNvSpPr txBox="1"/>
          <p:nvPr>
            <p:ph type="title"/>
          </p:nvPr>
        </p:nvSpPr>
        <p:spPr>
          <a:xfrm>
            <a:off x="521425" y="1520425"/>
            <a:ext cx="8146500" cy="419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Scheda contatto “potenziale cliente”</a:t>
            </a:r>
            <a:endParaRPr sz="1620">
              <a:latin typeface="Lexend"/>
              <a:ea typeface="Lexend"/>
              <a:cs typeface="Lexend"/>
              <a:sym typeface="Lexend"/>
            </a:endParaRPr>
          </a:p>
        </p:txBody>
      </p:sp>
      <p:pic>
        <p:nvPicPr>
          <p:cNvPr id="1325" name="Google Shape;1325;p102"/>
          <p:cNvPicPr preferRelativeResize="0"/>
          <p:nvPr/>
        </p:nvPicPr>
        <p:blipFill rotWithShape="1">
          <a:blip r:embed="rId4">
            <a:alphaModFix/>
          </a:blip>
          <a:srcRect b="21421" l="0" r="0" t="0"/>
          <a:stretch/>
        </p:blipFill>
        <p:spPr>
          <a:xfrm>
            <a:off x="918750" y="2057353"/>
            <a:ext cx="7306401" cy="2715212"/>
          </a:xfrm>
          <a:prstGeom prst="rect">
            <a:avLst/>
          </a:prstGeom>
          <a:noFill/>
          <a:ln>
            <a:noFill/>
          </a:ln>
        </p:spPr>
      </p:pic>
      <p:sp>
        <p:nvSpPr>
          <p:cNvPr id="1326" name="Google Shape;1326;p102"/>
          <p:cNvSpPr/>
          <p:nvPr/>
        </p:nvSpPr>
        <p:spPr>
          <a:xfrm>
            <a:off x="918750" y="2940475"/>
            <a:ext cx="1279500" cy="577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0" name="Shape 1330"/>
        <p:cNvGrpSpPr/>
        <p:nvPr/>
      </p:nvGrpSpPr>
      <p:grpSpPr>
        <a:xfrm>
          <a:off x="0" y="0"/>
          <a:ext cx="0" cy="0"/>
          <a:chOff x="0" y="0"/>
          <a:chExt cx="0" cy="0"/>
        </a:xfrm>
      </p:grpSpPr>
      <p:sp>
        <p:nvSpPr>
          <p:cNvPr id="1331" name="Google Shape;1331;p10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32" name="Google Shape;1332;p10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333" name="Google Shape;1333;p10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334" name="Google Shape;1334;p103"/>
          <p:cNvSpPr txBox="1"/>
          <p:nvPr>
            <p:ph type="title"/>
          </p:nvPr>
        </p:nvSpPr>
        <p:spPr>
          <a:xfrm>
            <a:off x="1589813" y="830275"/>
            <a:ext cx="57900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Pipeline: Funnel Fotovoltaico</a:t>
            </a:r>
            <a:endParaRPr sz="2020">
              <a:highlight>
                <a:srgbClr val="B6D7A8"/>
              </a:highlight>
              <a:latin typeface="Lexend"/>
              <a:ea typeface="Lexend"/>
              <a:cs typeface="Lexend"/>
              <a:sym typeface="Lexend"/>
            </a:endParaRPr>
          </a:p>
        </p:txBody>
      </p:sp>
      <p:sp>
        <p:nvSpPr>
          <p:cNvPr id="1335" name="Google Shape;1335;p10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336" name="Google Shape;1336;p103"/>
          <p:cNvSpPr/>
          <p:nvPr/>
        </p:nvSpPr>
        <p:spPr>
          <a:xfrm>
            <a:off x="1675588" y="1609075"/>
            <a:ext cx="568500" cy="83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37" name="Google Shape;1337;p103"/>
          <p:cNvCxnSpPr/>
          <p:nvPr/>
        </p:nvCxnSpPr>
        <p:spPr>
          <a:xfrm>
            <a:off x="1633338" y="1658291"/>
            <a:ext cx="0" cy="2994300"/>
          </a:xfrm>
          <a:prstGeom prst="straightConnector1">
            <a:avLst/>
          </a:prstGeom>
          <a:noFill/>
          <a:ln cap="flat" cmpd="sng" w="9525">
            <a:solidFill>
              <a:schemeClr val="dk2"/>
            </a:solidFill>
            <a:prstDash val="dot"/>
            <a:round/>
            <a:headEnd len="med" w="med" type="none"/>
            <a:tailEnd len="med" w="med" type="none"/>
          </a:ln>
        </p:spPr>
      </p:cxnSp>
      <p:cxnSp>
        <p:nvCxnSpPr>
          <p:cNvPr id="1338" name="Google Shape;1338;p103"/>
          <p:cNvCxnSpPr/>
          <p:nvPr/>
        </p:nvCxnSpPr>
        <p:spPr>
          <a:xfrm>
            <a:off x="2310901" y="1675360"/>
            <a:ext cx="0" cy="2994300"/>
          </a:xfrm>
          <a:prstGeom prst="straightConnector1">
            <a:avLst/>
          </a:prstGeom>
          <a:noFill/>
          <a:ln cap="flat" cmpd="sng" w="9525">
            <a:solidFill>
              <a:schemeClr val="dk2"/>
            </a:solidFill>
            <a:prstDash val="dot"/>
            <a:round/>
            <a:headEnd len="med" w="med" type="none"/>
            <a:tailEnd len="med" w="med" type="none"/>
          </a:ln>
        </p:spPr>
      </p:cxnSp>
      <p:cxnSp>
        <p:nvCxnSpPr>
          <p:cNvPr id="1339" name="Google Shape;1339;p103"/>
          <p:cNvCxnSpPr/>
          <p:nvPr/>
        </p:nvCxnSpPr>
        <p:spPr>
          <a:xfrm>
            <a:off x="3024840" y="1658291"/>
            <a:ext cx="0" cy="2994300"/>
          </a:xfrm>
          <a:prstGeom prst="straightConnector1">
            <a:avLst/>
          </a:prstGeom>
          <a:noFill/>
          <a:ln cap="flat" cmpd="sng" w="9525">
            <a:solidFill>
              <a:schemeClr val="dk2"/>
            </a:solidFill>
            <a:prstDash val="dot"/>
            <a:round/>
            <a:headEnd len="med" w="med" type="none"/>
            <a:tailEnd len="med" w="med" type="none"/>
          </a:ln>
        </p:spPr>
      </p:cxnSp>
      <p:cxnSp>
        <p:nvCxnSpPr>
          <p:cNvPr id="1340" name="Google Shape;1340;p103"/>
          <p:cNvCxnSpPr/>
          <p:nvPr/>
        </p:nvCxnSpPr>
        <p:spPr>
          <a:xfrm>
            <a:off x="4109267" y="1675360"/>
            <a:ext cx="0" cy="2994300"/>
          </a:xfrm>
          <a:prstGeom prst="straightConnector1">
            <a:avLst/>
          </a:prstGeom>
          <a:noFill/>
          <a:ln cap="flat" cmpd="sng" w="9525">
            <a:solidFill>
              <a:schemeClr val="dk2"/>
            </a:solidFill>
            <a:prstDash val="dot"/>
            <a:round/>
            <a:headEnd len="med" w="med" type="none"/>
            <a:tailEnd len="med" w="med" type="none"/>
          </a:ln>
        </p:spPr>
      </p:cxnSp>
      <p:cxnSp>
        <p:nvCxnSpPr>
          <p:cNvPr id="1341" name="Google Shape;1341;p103"/>
          <p:cNvCxnSpPr/>
          <p:nvPr/>
        </p:nvCxnSpPr>
        <p:spPr>
          <a:xfrm>
            <a:off x="5218570" y="1658291"/>
            <a:ext cx="0" cy="2994300"/>
          </a:xfrm>
          <a:prstGeom prst="straightConnector1">
            <a:avLst/>
          </a:prstGeom>
          <a:noFill/>
          <a:ln cap="flat" cmpd="sng" w="9525">
            <a:solidFill>
              <a:schemeClr val="dk2"/>
            </a:solidFill>
            <a:prstDash val="dot"/>
            <a:round/>
            <a:headEnd len="med" w="med" type="none"/>
            <a:tailEnd len="med" w="med" type="none"/>
          </a:ln>
        </p:spPr>
      </p:cxnSp>
      <p:cxnSp>
        <p:nvCxnSpPr>
          <p:cNvPr id="1342" name="Google Shape;1342;p103"/>
          <p:cNvCxnSpPr/>
          <p:nvPr/>
        </p:nvCxnSpPr>
        <p:spPr>
          <a:xfrm>
            <a:off x="6851899" y="1658291"/>
            <a:ext cx="0" cy="2994300"/>
          </a:xfrm>
          <a:prstGeom prst="straightConnector1">
            <a:avLst/>
          </a:prstGeom>
          <a:noFill/>
          <a:ln cap="flat" cmpd="sng" w="9525">
            <a:solidFill>
              <a:schemeClr val="dk2"/>
            </a:solidFill>
            <a:prstDash val="dot"/>
            <a:round/>
            <a:headEnd len="med" w="med" type="none"/>
            <a:tailEnd len="med" w="med" type="none"/>
          </a:ln>
        </p:spPr>
      </p:cxnSp>
      <p:cxnSp>
        <p:nvCxnSpPr>
          <p:cNvPr id="1343" name="Google Shape;1343;p103"/>
          <p:cNvCxnSpPr/>
          <p:nvPr/>
        </p:nvCxnSpPr>
        <p:spPr>
          <a:xfrm>
            <a:off x="8326738" y="1658291"/>
            <a:ext cx="0" cy="2994300"/>
          </a:xfrm>
          <a:prstGeom prst="straightConnector1">
            <a:avLst/>
          </a:prstGeom>
          <a:noFill/>
          <a:ln cap="flat" cmpd="sng" w="9525">
            <a:solidFill>
              <a:schemeClr val="dk2"/>
            </a:solidFill>
            <a:prstDash val="dot"/>
            <a:round/>
            <a:headEnd len="med" w="med" type="none"/>
            <a:tailEnd len="med" w="med" type="none"/>
          </a:ln>
        </p:spPr>
      </p:cxnSp>
      <p:grpSp>
        <p:nvGrpSpPr>
          <p:cNvPr id="1344" name="Google Shape;1344;p103"/>
          <p:cNvGrpSpPr/>
          <p:nvPr/>
        </p:nvGrpSpPr>
        <p:grpSpPr>
          <a:xfrm>
            <a:off x="494075" y="2095125"/>
            <a:ext cx="4986213" cy="1583775"/>
            <a:chOff x="307512" y="2780925"/>
            <a:chExt cx="4986213" cy="1583775"/>
          </a:xfrm>
        </p:grpSpPr>
        <p:cxnSp>
          <p:nvCxnSpPr>
            <p:cNvPr id="1345" name="Google Shape;1345;p103"/>
            <p:cNvCxnSpPr>
              <a:endCxn id="1346" idx="1"/>
            </p:cNvCxnSpPr>
            <p:nvPr/>
          </p:nvCxnSpPr>
          <p:spPr>
            <a:xfrm>
              <a:off x="716263" y="2908225"/>
              <a:ext cx="942000" cy="0"/>
            </a:xfrm>
            <a:prstGeom prst="straightConnector1">
              <a:avLst/>
            </a:prstGeom>
            <a:noFill/>
            <a:ln cap="flat" cmpd="sng" w="9525">
              <a:solidFill>
                <a:schemeClr val="dk2"/>
              </a:solidFill>
              <a:prstDash val="solid"/>
              <a:round/>
              <a:headEnd len="med" w="med" type="none"/>
              <a:tailEnd len="med" w="med" type="triangle"/>
            </a:ln>
          </p:spPr>
        </p:cxnSp>
        <p:cxnSp>
          <p:nvCxnSpPr>
            <p:cNvPr id="1347" name="Google Shape;1347;p103"/>
            <p:cNvCxnSpPr>
              <a:stCxn id="1348" idx="3"/>
              <a:endCxn id="1349" idx="1"/>
            </p:cNvCxnSpPr>
            <p:nvPr/>
          </p:nvCxnSpPr>
          <p:spPr>
            <a:xfrm>
              <a:off x="770413" y="3642450"/>
              <a:ext cx="1522800" cy="0"/>
            </a:xfrm>
            <a:prstGeom prst="straightConnector1">
              <a:avLst/>
            </a:prstGeom>
            <a:noFill/>
            <a:ln cap="flat" cmpd="sng" w="9525">
              <a:solidFill>
                <a:schemeClr val="dk2"/>
              </a:solidFill>
              <a:prstDash val="solid"/>
              <a:round/>
              <a:headEnd len="med" w="med" type="none"/>
              <a:tailEnd len="med" w="med" type="triangle"/>
            </a:ln>
          </p:spPr>
        </p:cxnSp>
        <p:cxnSp>
          <p:nvCxnSpPr>
            <p:cNvPr id="1350" name="Google Shape;1350;p103"/>
            <p:cNvCxnSpPr/>
            <p:nvPr/>
          </p:nvCxnSpPr>
          <p:spPr>
            <a:xfrm>
              <a:off x="664588" y="4359000"/>
              <a:ext cx="3525300" cy="0"/>
            </a:xfrm>
            <a:prstGeom prst="straightConnector1">
              <a:avLst/>
            </a:prstGeom>
            <a:noFill/>
            <a:ln cap="flat" cmpd="sng" w="9525">
              <a:solidFill>
                <a:schemeClr val="dk2"/>
              </a:solidFill>
              <a:prstDash val="solid"/>
              <a:round/>
              <a:headEnd len="med" w="med" type="none"/>
              <a:tailEnd len="med" w="med" type="triangle"/>
            </a:ln>
          </p:spPr>
        </p:cxnSp>
        <p:cxnSp>
          <p:nvCxnSpPr>
            <p:cNvPr id="1351" name="Google Shape;1351;p103"/>
            <p:cNvCxnSpPr>
              <a:endCxn id="1348" idx="0"/>
            </p:cNvCxnSpPr>
            <p:nvPr/>
          </p:nvCxnSpPr>
          <p:spPr>
            <a:xfrm flipH="1">
              <a:off x="538963" y="2921700"/>
              <a:ext cx="163200" cy="489300"/>
            </a:xfrm>
            <a:prstGeom prst="straightConnector1">
              <a:avLst/>
            </a:prstGeom>
            <a:noFill/>
            <a:ln cap="flat" cmpd="sng" w="9525">
              <a:solidFill>
                <a:schemeClr val="dk2"/>
              </a:solidFill>
              <a:prstDash val="solid"/>
              <a:round/>
              <a:headEnd len="med" w="med" type="none"/>
              <a:tailEnd len="med" w="med" type="none"/>
            </a:ln>
          </p:spPr>
        </p:cxnSp>
        <p:cxnSp>
          <p:nvCxnSpPr>
            <p:cNvPr id="1352" name="Google Shape;1352;p103"/>
            <p:cNvCxnSpPr>
              <a:stCxn id="1348" idx="2"/>
            </p:cNvCxnSpPr>
            <p:nvPr/>
          </p:nvCxnSpPr>
          <p:spPr>
            <a:xfrm>
              <a:off x="538963" y="3873900"/>
              <a:ext cx="127500" cy="475800"/>
            </a:xfrm>
            <a:prstGeom prst="straightConnector1">
              <a:avLst/>
            </a:prstGeom>
            <a:noFill/>
            <a:ln cap="flat" cmpd="sng" w="9525">
              <a:solidFill>
                <a:schemeClr val="dk2"/>
              </a:solidFill>
              <a:prstDash val="solid"/>
              <a:round/>
              <a:headEnd len="med" w="med" type="none"/>
              <a:tailEnd len="med" w="med" type="none"/>
            </a:ln>
          </p:spPr>
        </p:cxnSp>
        <p:cxnSp>
          <p:nvCxnSpPr>
            <p:cNvPr id="1353" name="Google Shape;1353;p103"/>
            <p:cNvCxnSpPr/>
            <p:nvPr/>
          </p:nvCxnSpPr>
          <p:spPr>
            <a:xfrm>
              <a:off x="3889325" y="3642325"/>
              <a:ext cx="1380900" cy="0"/>
            </a:xfrm>
            <a:prstGeom prst="straightConnector1">
              <a:avLst/>
            </a:prstGeom>
            <a:noFill/>
            <a:ln cap="flat" cmpd="sng" w="9525">
              <a:solidFill>
                <a:schemeClr val="dk2"/>
              </a:solidFill>
              <a:prstDash val="solid"/>
              <a:round/>
              <a:headEnd len="med" w="med" type="none"/>
              <a:tailEnd len="med" w="med" type="triangle"/>
            </a:ln>
          </p:spPr>
        </p:cxnSp>
        <p:cxnSp>
          <p:nvCxnSpPr>
            <p:cNvPr id="1354" name="Google Shape;1354;p103"/>
            <p:cNvCxnSpPr/>
            <p:nvPr/>
          </p:nvCxnSpPr>
          <p:spPr>
            <a:xfrm>
              <a:off x="4763025" y="4364700"/>
              <a:ext cx="530700" cy="0"/>
            </a:xfrm>
            <a:prstGeom prst="straightConnector1">
              <a:avLst/>
            </a:prstGeom>
            <a:noFill/>
            <a:ln cap="flat" cmpd="sng" w="9525">
              <a:solidFill>
                <a:schemeClr val="dk2"/>
              </a:solidFill>
              <a:prstDash val="solid"/>
              <a:round/>
              <a:headEnd len="med" w="med" type="none"/>
              <a:tailEnd len="med" w="med" type="triangle"/>
            </a:ln>
          </p:spPr>
        </p:cxnSp>
        <p:pic>
          <p:nvPicPr>
            <p:cNvPr id="1348" name="Google Shape;1348;p103"/>
            <p:cNvPicPr preferRelativeResize="0"/>
            <p:nvPr/>
          </p:nvPicPr>
          <p:blipFill>
            <a:blip r:embed="rId4">
              <a:alphaModFix/>
            </a:blip>
            <a:stretch>
              <a:fillRect/>
            </a:stretch>
          </p:blipFill>
          <p:spPr>
            <a:xfrm>
              <a:off x="307512" y="3411000"/>
              <a:ext cx="462900" cy="462900"/>
            </a:xfrm>
            <a:prstGeom prst="rect">
              <a:avLst/>
            </a:prstGeom>
            <a:noFill/>
            <a:ln>
              <a:noFill/>
            </a:ln>
          </p:spPr>
        </p:pic>
        <p:pic>
          <p:nvPicPr>
            <p:cNvPr id="1355" name="Google Shape;1355;p103"/>
            <p:cNvPicPr preferRelativeResize="0"/>
            <p:nvPr/>
          </p:nvPicPr>
          <p:blipFill>
            <a:blip r:embed="rId5">
              <a:alphaModFix/>
            </a:blip>
            <a:stretch>
              <a:fillRect/>
            </a:stretch>
          </p:blipFill>
          <p:spPr>
            <a:xfrm>
              <a:off x="3450177" y="3465915"/>
              <a:ext cx="343200" cy="343200"/>
            </a:xfrm>
            <a:prstGeom prst="rect">
              <a:avLst/>
            </a:prstGeom>
            <a:noFill/>
            <a:ln>
              <a:noFill/>
            </a:ln>
          </p:spPr>
        </p:pic>
        <p:pic>
          <p:nvPicPr>
            <p:cNvPr id="1346" name="Google Shape;1346;p103"/>
            <p:cNvPicPr preferRelativeResize="0"/>
            <p:nvPr/>
          </p:nvPicPr>
          <p:blipFill>
            <a:blip r:embed="rId6">
              <a:alphaModFix/>
            </a:blip>
            <a:stretch>
              <a:fillRect/>
            </a:stretch>
          </p:blipFill>
          <p:spPr>
            <a:xfrm>
              <a:off x="1658263" y="2780925"/>
              <a:ext cx="254600" cy="254600"/>
            </a:xfrm>
            <a:prstGeom prst="rect">
              <a:avLst/>
            </a:prstGeom>
            <a:noFill/>
            <a:ln>
              <a:noFill/>
            </a:ln>
          </p:spPr>
        </p:pic>
        <p:pic>
          <p:nvPicPr>
            <p:cNvPr id="1349" name="Google Shape;1349;p103"/>
            <p:cNvPicPr preferRelativeResize="0"/>
            <p:nvPr/>
          </p:nvPicPr>
          <p:blipFill>
            <a:blip r:embed="rId7">
              <a:alphaModFix/>
            </a:blip>
            <a:stretch>
              <a:fillRect/>
            </a:stretch>
          </p:blipFill>
          <p:spPr>
            <a:xfrm>
              <a:off x="2293350" y="3454500"/>
              <a:ext cx="375900" cy="375900"/>
            </a:xfrm>
            <a:prstGeom prst="rect">
              <a:avLst/>
            </a:prstGeom>
            <a:noFill/>
            <a:ln>
              <a:noFill/>
            </a:ln>
          </p:spPr>
        </p:pic>
        <p:grpSp>
          <p:nvGrpSpPr>
            <p:cNvPr id="1356" name="Google Shape;1356;p103"/>
            <p:cNvGrpSpPr/>
            <p:nvPr/>
          </p:nvGrpSpPr>
          <p:grpSpPr>
            <a:xfrm>
              <a:off x="2973465" y="3293441"/>
              <a:ext cx="189185" cy="659755"/>
              <a:chOff x="2726552" y="3109004"/>
              <a:chExt cx="281400" cy="981340"/>
            </a:xfrm>
          </p:grpSpPr>
          <p:pic>
            <p:nvPicPr>
              <p:cNvPr id="1357" name="Google Shape;1357;p103"/>
              <p:cNvPicPr preferRelativeResize="0"/>
              <p:nvPr/>
            </p:nvPicPr>
            <p:blipFill>
              <a:blip r:embed="rId8">
                <a:alphaModFix/>
              </a:blip>
              <a:stretch>
                <a:fillRect/>
              </a:stretch>
            </p:blipFill>
            <p:spPr>
              <a:xfrm>
                <a:off x="2726552" y="3808944"/>
                <a:ext cx="281400" cy="281400"/>
              </a:xfrm>
              <a:prstGeom prst="rect">
                <a:avLst/>
              </a:prstGeom>
              <a:noFill/>
              <a:ln>
                <a:noFill/>
              </a:ln>
            </p:spPr>
          </p:pic>
          <p:pic>
            <p:nvPicPr>
              <p:cNvPr id="1358" name="Google Shape;1358;p103"/>
              <p:cNvPicPr preferRelativeResize="0"/>
              <p:nvPr/>
            </p:nvPicPr>
            <p:blipFill>
              <a:blip r:embed="rId8">
                <a:alphaModFix/>
              </a:blip>
              <a:stretch>
                <a:fillRect/>
              </a:stretch>
            </p:blipFill>
            <p:spPr>
              <a:xfrm>
                <a:off x="2726552" y="3458956"/>
                <a:ext cx="281400" cy="281400"/>
              </a:xfrm>
              <a:prstGeom prst="rect">
                <a:avLst/>
              </a:prstGeom>
              <a:noFill/>
              <a:ln>
                <a:noFill/>
              </a:ln>
            </p:spPr>
          </p:pic>
          <p:pic>
            <p:nvPicPr>
              <p:cNvPr id="1359" name="Google Shape;1359;p103"/>
              <p:cNvPicPr preferRelativeResize="0"/>
              <p:nvPr/>
            </p:nvPicPr>
            <p:blipFill>
              <a:blip r:embed="rId8">
                <a:alphaModFix/>
              </a:blip>
              <a:stretch>
                <a:fillRect/>
              </a:stretch>
            </p:blipFill>
            <p:spPr>
              <a:xfrm>
                <a:off x="2726552" y="3109004"/>
                <a:ext cx="281400" cy="281400"/>
              </a:xfrm>
              <a:prstGeom prst="rect">
                <a:avLst/>
              </a:prstGeom>
              <a:noFill/>
              <a:ln>
                <a:noFill/>
              </a:ln>
            </p:spPr>
          </p:pic>
        </p:grpSp>
        <p:cxnSp>
          <p:nvCxnSpPr>
            <p:cNvPr id="1360" name="Google Shape;1360;p103"/>
            <p:cNvCxnSpPr/>
            <p:nvPr/>
          </p:nvCxnSpPr>
          <p:spPr>
            <a:xfrm>
              <a:off x="3229325" y="3637513"/>
              <a:ext cx="154200" cy="0"/>
            </a:xfrm>
            <a:prstGeom prst="straightConnector1">
              <a:avLst/>
            </a:prstGeom>
            <a:noFill/>
            <a:ln cap="flat" cmpd="sng" w="9525">
              <a:solidFill>
                <a:schemeClr val="dk2"/>
              </a:solidFill>
              <a:prstDash val="solid"/>
              <a:round/>
              <a:headEnd len="med" w="med" type="none"/>
              <a:tailEnd len="med" w="med" type="triangle"/>
            </a:ln>
          </p:spPr>
        </p:cxnSp>
        <p:cxnSp>
          <p:nvCxnSpPr>
            <p:cNvPr id="1361" name="Google Shape;1361;p103"/>
            <p:cNvCxnSpPr>
              <a:stCxn id="1349" idx="3"/>
            </p:cNvCxnSpPr>
            <p:nvPr/>
          </p:nvCxnSpPr>
          <p:spPr>
            <a:xfrm>
              <a:off x="2669250" y="3642450"/>
              <a:ext cx="315900" cy="0"/>
            </a:xfrm>
            <a:prstGeom prst="straightConnector1">
              <a:avLst/>
            </a:prstGeom>
            <a:noFill/>
            <a:ln cap="flat" cmpd="sng" w="9525">
              <a:solidFill>
                <a:schemeClr val="dk2"/>
              </a:solidFill>
              <a:prstDash val="solid"/>
              <a:round/>
              <a:headEnd len="med" w="med" type="none"/>
              <a:tailEnd len="med" w="med" type="triangle"/>
            </a:ln>
          </p:spPr>
        </p:cxnSp>
      </p:grpSp>
      <p:sp>
        <p:nvSpPr>
          <p:cNvPr id="1362" name="Google Shape;1362;p103"/>
          <p:cNvSpPr txBox="1"/>
          <p:nvPr>
            <p:ph type="title"/>
          </p:nvPr>
        </p:nvSpPr>
        <p:spPr>
          <a:xfrm>
            <a:off x="259775" y="1703000"/>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RICHIESTA </a:t>
            </a:r>
            <a:endParaRPr b="1" sz="8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LEAD</a:t>
            </a:r>
            <a:endParaRPr b="1" sz="820">
              <a:solidFill>
                <a:srgbClr val="FF0000"/>
              </a:solidFill>
              <a:latin typeface="Oswald"/>
              <a:ea typeface="Oswald"/>
              <a:cs typeface="Oswald"/>
              <a:sym typeface="Oswald"/>
            </a:endParaRPr>
          </a:p>
        </p:txBody>
      </p:sp>
      <p:sp>
        <p:nvSpPr>
          <p:cNvPr id="1363" name="Google Shape;1363;p103"/>
          <p:cNvSpPr txBox="1"/>
          <p:nvPr>
            <p:ph type="title"/>
          </p:nvPr>
        </p:nvSpPr>
        <p:spPr>
          <a:xfrm>
            <a:off x="1636510" y="1636200"/>
            <a:ext cx="64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FAKE</a:t>
            </a:r>
            <a:endParaRPr b="1" sz="820">
              <a:solidFill>
                <a:srgbClr val="FF0000"/>
              </a:solidFill>
              <a:latin typeface="Oswald"/>
              <a:ea typeface="Oswald"/>
              <a:cs typeface="Oswald"/>
              <a:sym typeface="Oswald"/>
            </a:endParaRPr>
          </a:p>
        </p:txBody>
      </p:sp>
      <p:sp>
        <p:nvSpPr>
          <p:cNvPr id="1364" name="Google Shape;1364;p103"/>
          <p:cNvSpPr txBox="1"/>
          <p:nvPr>
            <p:ph type="title"/>
          </p:nvPr>
        </p:nvSpPr>
        <p:spPr>
          <a:xfrm>
            <a:off x="2338203" y="1703000"/>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NON RISPOSTO</a:t>
            </a:r>
            <a:endParaRPr b="1" sz="820">
              <a:solidFill>
                <a:srgbClr val="FF0000"/>
              </a:solidFill>
              <a:latin typeface="Oswald"/>
              <a:ea typeface="Oswald"/>
              <a:cs typeface="Oswald"/>
              <a:sym typeface="Oswald"/>
            </a:endParaRPr>
          </a:p>
        </p:txBody>
      </p:sp>
      <p:sp>
        <p:nvSpPr>
          <p:cNvPr id="1365" name="Google Shape;1365;p103"/>
          <p:cNvSpPr txBox="1"/>
          <p:nvPr>
            <p:ph type="title"/>
          </p:nvPr>
        </p:nvSpPr>
        <p:spPr>
          <a:xfrm>
            <a:off x="3021445" y="1703000"/>
            <a:ext cx="109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CHIAM. PRENOTATA</a:t>
            </a:r>
            <a:endParaRPr b="1" sz="8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820">
                <a:solidFill>
                  <a:srgbClr val="FF0000"/>
                </a:solidFill>
                <a:latin typeface="Oswald"/>
                <a:ea typeface="Oswald"/>
                <a:cs typeface="Oswald"/>
                <a:sym typeface="Oswald"/>
              </a:rPr>
              <a:t>(dalle email automat.)</a:t>
            </a:r>
            <a:endParaRPr sz="820">
              <a:solidFill>
                <a:srgbClr val="FF0000"/>
              </a:solidFill>
              <a:latin typeface="Oswald"/>
              <a:ea typeface="Oswald"/>
              <a:cs typeface="Oswald"/>
              <a:sym typeface="Oswald"/>
            </a:endParaRPr>
          </a:p>
        </p:txBody>
      </p:sp>
      <p:sp>
        <p:nvSpPr>
          <p:cNvPr id="1366" name="Google Shape;1366;p103"/>
          <p:cNvSpPr txBox="1"/>
          <p:nvPr>
            <p:ph type="title"/>
          </p:nvPr>
        </p:nvSpPr>
        <p:spPr>
          <a:xfrm>
            <a:off x="4110307" y="1703000"/>
            <a:ext cx="109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APPUNTAM. FISSATO</a:t>
            </a:r>
            <a:endParaRPr b="1" sz="8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820">
                <a:solidFill>
                  <a:srgbClr val="FF0000"/>
                </a:solidFill>
                <a:latin typeface="Oswald"/>
                <a:ea typeface="Oswald"/>
                <a:cs typeface="Oswald"/>
                <a:sym typeface="Oswald"/>
              </a:rPr>
              <a:t>(dal commerciale)</a:t>
            </a:r>
            <a:endParaRPr sz="820">
              <a:solidFill>
                <a:srgbClr val="FF0000"/>
              </a:solidFill>
              <a:latin typeface="Oswald"/>
              <a:ea typeface="Oswald"/>
              <a:cs typeface="Oswald"/>
              <a:sym typeface="Oswald"/>
            </a:endParaRPr>
          </a:p>
        </p:txBody>
      </p:sp>
      <p:sp>
        <p:nvSpPr>
          <p:cNvPr id="1367" name="Google Shape;1367;p103"/>
          <p:cNvSpPr txBox="1"/>
          <p:nvPr>
            <p:ph type="title"/>
          </p:nvPr>
        </p:nvSpPr>
        <p:spPr>
          <a:xfrm>
            <a:off x="6068916" y="1670763"/>
            <a:ext cx="7563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PREVENTIVO </a:t>
            </a:r>
            <a:endParaRPr b="1" sz="8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INVIATO</a:t>
            </a:r>
            <a:endParaRPr b="1" sz="820">
              <a:solidFill>
                <a:srgbClr val="FF0000"/>
              </a:solidFill>
              <a:latin typeface="Oswald"/>
              <a:ea typeface="Oswald"/>
              <a:cs typeface="Oswald"/>
              <a:sym typeface="Oswald"/>
            </a:endParaRPr>
          </a:p>
        </p:txBody>
      </p:sp>
      <p:sp>
        <p:nvSpPr>
          <p:cNvPr id="1368" name="Google Shape;1368;p103"/>
          <p:cNvSpPr txBox="1"/>
          <p:nvPr>
            <p:ph type="title"/>
          </p:nvPr>
        </p:nvSpPr>
        <p:spPr>
          <a:xfrm>
            <a:off x="7668588" y="1636200"/>
            <a:ext cx="64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VINTA</a:t>
            </a:r>
            <a:endParaRPr b="1" sz="820">
              <a:solidFill>
                <a:srgbClr val="FF0000"/>
              </a:solidFill>
              <a:latin typeface="Oswald"/>
              <a:ea typeface="Oswald"/>
              <a:cs typeface="Oswald"/>
              <a:sym typeface="Oswald"/>
            </a:endParaRPr>
          </a:p>
        </p:txBody>
      </p:sp>
      <p:sp>
        <p:nvSpPr>
          <p:cNvPr id="1369" name="Google Shape;1369;p103"/>
          <p:cNvSpPr txBox="1"/>
          <p:nvPr>
            <p:ph type="title"/>
          </p:nvPr>
        </p:nvSpPr>
        <p:spPr>
          <a:xfrm>
            <a:off x="8389288" y="1636200"/>
            <a:ext cx="5193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PERSA</a:t>
            </a:r>
            <a:endParaRPr b="1" sz="820">
              <a:solidFill>
                <a:srgbClr val="FF0000"/>
              </a:solidFill>
              <a:latin typeface="Oswald"/>
              <a:ea typeface="Oswald"/>
              <a:cs typeface="Oswald"/>
              <a:sym typeface="Oswald"/>
            </a:endParaRPr>
          </a:p>
        </p:txBody>
      </p:sp>
      <p:sp>
        <p:nvSpPr>
          <p:cNvPr id="1370" name="Google Shape;1370;p103"/>
          <p:cNvSpPr txBox="1"/>
          <p:nvPr>
            <p:ph type="title"/>
          </p:nvPr>
        </p:nvSpPr>
        <p:spPr>
          <a:xfrm>
            <a:off x="183875" y="4267700"/>
            <a:ext cx="7563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1</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chiam. lead assegnato</a:t>
            </a:r>
            <a:endParaRPr sz="1020">
              <a:latin typeface="Oswald"/>
              <a:ea typeface="Oswald"/>
              <a:cs typeface="Oswald"/>
              <a:sym typeface="Oswald"/>
            </a:endParaRPr>
          </a:p>
        </p:txBody>
      </p:sp>
      <p:sp>
        <p:nvSpPr>
          <p:cNvPr id="1371" name="Google Shape;1371;p103"/>
          <p:cNvSpPr txBox="1"/>
          <p:nvPr>
            <p:ph type="title"/>
          </p:nvPr>
        </p:nvSpPr>
        <p:spPr>
          <a:xfrm>
            <a:off x="1636510" y="4267699"/>
            <a:ext cx="64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3</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mettere i fake</a:t>
            </a:r>
            <a:endParaRPr sz="1020">
              <a:latin typeface="Oswald"/>
              <a:ea typeface="Oswald"/>
              <a:cs typeface="Oswald"/>
              <a:sym typeface="Oswald"/>
            </a:endParaRPr>
          </a:p>
        </p:txBody>
      </p:sp>
      <p:sp>
        <p:nvSpPr>
          <p:cNvPr id="1372" name="Google Shape;1372;p103"/>
          <p:cNvSpPr txBox="1"/>
          <p:nvPr>
            <p:ph type="title"/>
          </p:nvPr>
        </p:nvSpPr>
        <p:spPr>
          <a:xfrm>
            <a:off x="2310903" y="4352225"/>
            <a:ext cx="6996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4</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spostare dopo 3/4 tentativi</a:t>
            </a:r>
            <a:endParaRPr sz="1020">
              <a:latin typeface="Oswald"/>
              <a:ea typeface="Oswald"/>
              <a:cs typeface="Oswald"/>
              <a:sym typeface="Oswald"/>
            </a:endParaRPr>
          </a:p>
        </p:txBody>
      </p:sp>
      <p:sp>
        <p:nvSpPr>
          <p:cNvPr id="1373" name="Google Shape;1373;p103"/>
          <p:cNvSpPr txBox="1"/>
          <p:nvPr>
            <p:ph type="title"/>
          </p:nvPr>
        </p:nvSpPr>
        <p:spPr>
          <a:xfrm>
            <a:off x="3019895" y="4267688"/>
            <a:ext cx="109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5</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appuntamento da email autom.</a:t>
            </a:r>
            <a:endParaRPr sz="1020">
              <a:latin typeface="Oswald"/>
              <a:ea typeface="Oswald"/>
              <a:cs typeface="Oswald"/>
              <a:sym typeface="Oswald"/>
            </a:endParaRPr>
          </a:p>
        </p:txBody>
      </p:sp>
      <p:sp>
        <p:nvSpPr>
          <p:cNvPr id="1374" name="Google Shape;1374;p103"/>
          <p:cNvSpPr txBox="1"/>
          <p:nvPr>
            <p:ph type="title"/>
          </p:nvPr>
        </p:nvSpPr>
        <p:spPr>
          <a:xfrm>
            <a:off x="4109262" y="4267700"/>
            <a:ext cx="11163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6</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app. fissato dalla </a:t>
            </a:r>
            <a:endParaRPr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vs chiamata</a:t>
            </a:r>
            <a:endParaRPr sz="1020">
              <a:latin typeface="Oswald"/>
              <a:ea typeface="Oswald"/>
              <a:cs typeface="Oswald"/>
              <a:sym typeface="Oswald"/>
            </a:endParaRPr>
          </a:p>
        </p:txBody>
      </p:sp>
      <p:sp>
        <p:nvSpPr>
          <p:cNvPr id="1375" name="Google Shape;1375;p103"/>
          <p:cNvSpPr txBox="1"/>
          <p:nvPr>
            <p:ph type="title"/>
          </p:nvPr>
        </p:nvSpPr>
        <p:spPr>
          <a:xfrm>
            <a:off x="6092298" y="4267700"/>
            <a:ext cx="7329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8</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quando inviato prev</a:t>
            </a:r>
            <a:endParaRPr sz="1020">
              <a:latin typeface="Oswald"/>
              <a:ea typeface="Oswald"/>
              <a:cs typeface="Oswald"/>
              <a:sym typeface="Oswald"/>
            </a:endParaRPr>
          </a:p>
        </p:txBody>
      </p:sp>
      <p:sp>
        <p:nvSpPr>
          <p:cNvPr id="1376" name="Google Shape;1376;p103"/>
          <p:cNvSpPr txBox="1"/>
          <p:nvPr>
            <p:ph type="title"/>
          </p:nvPr>
        </p:nvSpPr>
        <p:spPr>
          <a:xfrm>
            <a:off x="7657688" y="4267700"/>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10</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offerta</a:t>
            </a:r>
            <a:r>
              <a:rPr lang="it" sz="1020">
                <a:latin typeface="Oswald"/>
                <a:ea typeface="Oswald"/>
                <a:cs typeface="Oswald"/>
                <a:sym typeface="Oswald"/>
              </a:rPr>
              <a:t> approvata</a:t>
            </a:r>
            <a:endParaRPr sz="1020">
              <a:latin typeface="Oswald"/>
              <a:ea typeface="Oswald"/>
              <a:cs typeface="Oswald"/>
              <a:sym typeface="Oswald"/>
            </a:endParaRPr>
          </a:p>
        </p:txBody>
      </p:sp>
      <p:sp>
        <p:nvSpPr>
          <p:cNvPr id="1377" name="Google Shape;1377;p103"/>
          <p:cNvSpPr txBox="1"/>
          <p:nvPr>
            <p:ph type="title"/>
          </p:nvPr>
        </p:nvSpPr>
        <p:spPr>
          <a:xfrm>
            <a:off x="8367313" y="4267700"/>
            <a:ext cx="5928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11</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scelto altro</a:t>
            </a:r>
            <a:endParaRPr sz="1020">
              <a:latin typeface="Oswald"/>
              <a:ea typeface="Oswald"/>
              <a:cs typeface="Oswald"/>
              <a:sym typeface="Oswald"/>
            </a:endParaRPr>
          </a:p>
        </p:txBody>
      </p:sp>
      <p:sp>
        <p:nvSpPr>
          <p:cNvPr id="1378" name="Google Shape;1378;p103"/>
          <p:cNvSpPr txBox="1"/>
          <p:nvPr>
            <p:ph type="title"/>
          </p:nvPr>
        </p:nvSpPr>
        <p:spPr>
          <a:xfrm>
            <a:off x="5210572" y="1683600"/>
            <a:ext cx="8538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IN ATTESA</a:t>
            </a:r>
            <a:r>
              <a:rPr b="1" lang="it" sz="820">
                <a:solidFill>
                  <a:srgbClr val="FF0000"/>
                </a:solidFill>
                <a:latin typeface="Oswald"/>
                <a:ea typeface="Oswald"/>
                <a:cs typeface="Oswald"/>
                <a:sym typeface="Oswald"/>
              </a:rPr>
              <a:t> / </a:t>
            </a:r>
            <a:endParaRPr b="1" sz="8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LAVORAZ.</a:t>
            </a:r>
            <a:endParaRPr b="1" sz="820">
              <a:solidFill>
                <a:srgbClr val="FF0000"/>
              </a:solidFill>
              <a:latin typeface="Oswald"/>
              <a:ea typeface="Oswald"/>
              <a:cs typeface="Oswald"/>
              <a:sym typeface="Oswald"/>
            </a:endParaRPr>
          </a:p>
        </p:txBody>
      </p:sp>
      <p:sp>
        <p:nvSpPr>
          <p:cNvPr id="1379" name="Google Shape;1379;p103"/>
          <p:cNvSpPr txBox="1"/>
          <p:nvPr>
            <p:ph type="title"/>
          </p:nvPr>
        </p:nvSpPr>
        <p:spPr>
          <a:xfrm>
            <a:off x="5229724" y="4267700"/>
            <a:ext cx="8346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7</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gestione pratiche cl.</a:t>
            </a:r>
            <a:endParaRPr sz="1020">
              <a:latin typeface="Oswald"/>
              <a:ea typeface="Oswald"/>
              <a:cs typeface="Oswald"/>
              <a:sym typeface="Oswald"/>
            </a:endParaRPr>
          </a:p>
        </p:txBody>
      </p:sp>
      <p:cxnSp>
        <p:nvCxnSpPr>
          <p:cNvPr id="1380" name="Google Shape;1380;p103"/>
          <p:cNvCxnSpPr/>
          <p:nvPr/>
        </p:nvCxnSpPr>
        <p:spPr>
          <a:xfrm>
            <a:off x="6051484" y="1675360"/>
            <a:ext cx="0" cy="2994300"/>
          </a:xfrm>
          <a:prstGeom prst="straightConnector1">
            <a:avLst/>
          </a:prstGeom>
          <a:noFill/>
          <a:ln cap="flat" cmpd="sng" w="9525">
            <a:solidFill>
              <a:schemeClr val="dk2"/>
            </a:solidFill>
            <a:prstDash val="dot"/>
            <a:round/>
            <a:headEnd len="med" w="med" type="none"/>
            <a:tailEnd len="med" w="med" type="none"/>
          </a:ln>
        </p:spPr>
      </p:cxnSp>
      <p:pic>
        <p:nvPicPr>
          <p:cNvPr id="1381" name="Google Shape;1381;p103"/>
          <p:cNvPicPr preferRelativeResize="0"/>
          <p:nvPr/>
        </p:nvPicPr>
        <p:blipFill>
          <a:blip r:embed="rId9">
            <a:alphaModFix/>
          </a:blip>
          <a:stretch>
            <a:fillRect/>
          </a:stretch>
        </p:blipFill>
        <p:spPr>
          <a:xfrm>
            <a:off x="5504200" y="3501600"/>
            <a:ext cx="343200" cy="343200"/>
          </a:xfrm>
          <a:prstGeom prst="rect">
            <a:avLst/>
          </a:prstGeom>
          <a:noFill/>
          <a:ln>
            <a:noFill/>
          </a:ln>
        </p:spPr>
      </p:pic>
      <p:pic>
        <p:nvPicPr>
          <p:cNvPr id="1382" name="Google Shape;1382;p103"/>
          <p:cNvPicPr preferRelativeResize="0"/>
          <p:nvPr/>
        </p:nvPicPr>
        <p:blipFill>
          <a:blip r:embed="rId9">
            <a:alphaModFix/>
          </a:blip>
          <a:stretch>
            <a:fillRect/>
          </a:stretch>
        </p:blipFill>
        <p:spPr>
          <a:xfrm>
            <a:off x="5504200" y="2765900"/>
            <a:ext cx="343200" cy="343200"/>
          </a:xfrm>
          <a:prstGeom prst="rect">
            <a:avLst/>
          </a:prstGeom>
          <a:noFill/>
          <a:ln>
            <a:noFill/>
          </a:ln>
        </p:spPr>
      </p:pic>
      <p:cxnSp>
        <p:nvCxnSpPr>
          <p:cNvPr id="1383" name="Google Shape;1383;p103"/>
          <p:cNvCxnSpPr/>
          <p:nvPr/>
        </p:nvCxnSpPr>
        <p:spPr>
          <a:xfrm>
            <a:off x="5907652" y="2956525"/>
            <a:ext cx="1755300" cy="0"/>
          </a:xfrm>
          <a:prstGeom prst="straightConnector1">
            <a:avLst/>
          </a:prstGeom>
          <a:noFill/>
          <a:ln cap="flat" cmpd="sng" w="9525">
            <a:solidFill>
              <a:schemeClr val="dk2"/>
            </a:solidFill>
            <a:prstDash val="solid"/>
            <a:round/>
            <a:headEnd len="med" w="med" type="none"/>
            <a:tailEnd len="med" w="med" type="triangle"/>
          </a:ln>
        </p:spPr>
      </p:cxnSp>
      <p:cxnSp>
        <p:nvCxnSpPr>
          <p:cNvPr id="1384" name="Google Shape;1384;p103"/>
          <p:cNvCxnSpPr/>
          <p:nvPr/>
        </p:nvCxnSpPr>
        <p:spPr>
          <a:xfrm>
            <a:off x="5907652" y="3661125"/>
            <a:ext cx="1755300" cy="0"/>
          </a:xfrm>
          <a:prstGeom prst="straightConnector1">
            <a:avLst/>
          </a:prstGeom>
          <a:noFill/>
          <a:ln cap="flat" cmpd="sng" w="9525">
            <a:solidFill>
              <a:schemeClr val="dk2"/>
            </a:solidFill>
            <a:prstDash val="solid"/>
            <a:round/>
            <a:headEnd len="med" w="med" type="none"/>
            <a:tailEnd len="med" w="med" type="triangle"/>
          </a:ln>
        </p:spPr>
      </p:cxnSp>
      <p:pic>
        <p:nvPicPr>
          <p:cNvPr id="1385" name="Google Shape;1385;p103"/>
          <p:cNvPicPr preferRelativeResize="0"/>
          <p:nvPr/>
        </p:nvPicPr>
        <p:blipFill>
          <a:blip r:embed="rId10">
            <a:alphaModFix/>
          </a:blip>
          <a:stretch>
            <a:fillRect/>
          </a:stretch>
        </p:blipFill>
        <p:spPr>
          <a:xfrm>
            <a:off x="4474125" y="3482575"/>
            <a:ext cx="362225" cy="362225"/>
          </a:xfrm>
          <a:prstGeom prst="rect">
            <a:avLst/>
          </a:prstGeom>
          <a:noFill/>
          <a:ln>
            <a:noFill/>
          </a:ln>
        </p:spPr>
      </p:pic>
      <p:cxnSp>
        <p:nvCxnSpPr>
          <p:cNvPr id="1386" name="Google Shape;1386;p103"/>
          <p:cNvCxnSpPr/>
          <p:nvPr/>
        </p:nvCxnSpPr>
        <p:spPr>
          <a:xfrm>
            <a:off x="928763" y="1658291"/>
            <a:ext cx="0" cy="2994300"/>
          </a:xfrm>
          <a:prstGeom prst="straightConnector1">
            <a:avLst/>
          </a:prstGeom>
          <a:noFill/>
          <a:ln cap="flat" cmpd="sng" w="9525">
            <a:solidFill>
              <a:schemeClr val="dk2"/>
            </a:solidFill>
            <a:prstDash val="dot"/>
            <a:round/>
            <a:headEnd len="med" w="med" type="none"/>
            <a:tailEnd len="med" w="med" type="none"/>
          </a:ln>
        </p:spPr>
      </p:cxnSp>
      <p:pic>
        <p:nvPicPr>
          <p:cNvPr id="1387" name="Google Shape;1387;p103"/>
          <p:cNvPicPr preferRelativeResize="0"/>
          <p:nvPr/>
        </p:nvPicPr>
        <p:blipFill>
          <a:blip r:embed="rId4">
            <a:alphaModFix/>
          </a:blip>
          <a:stretch>
            <a:fillRect/>
          </a:stretch>
        </p:blipFill>
        <p:spPr>
          <a:xfrm>
            <a:off x="1152700" y="3179438"/>
            <a:ext cx="256713" cy="256713"/>
          </a:xfrm>
          <a:prstGeom prst="rect">
            <a:avLst/>
          </a:prstGeom>
          <a:noFill/>
          <a:ln>
            <a:noFill/>
          </a:ln>
        </p:spPr>
      </p:pic>
      <p:cxnSp>
        <p:nvCxnSpPr>
          <p:cNvPr id="1388" name="Google Shape;1388;p103"/>
          <p:cNvCxnSpPr>
            <a:endCxn id="1387" idx="1"/>
          </p:cNvCxnSpPr>
          <p:nvPr/>
        </p:nvCxnSpPr>
        <p:spPr>
          <a:xfrm>
            <a:off x="898000" y="3307794"/>
            <a:ext cx="254700" cy="0"/>
          </a:xfrm>
          <a:prstGeom prst="straightConnector1">
            <a:avLst/>
          </a:prstGeom>
          <a:noFill/>
          <a:ln cap="flat" cmpd="sng" w="9525">
            <a:solidFill>
              <a:schemeClr val="dk2"/>
            </a:solidFill>
            <a:prstDash val="solid"/>
            <a:round/>
            <a:headEnd len="med" w="med" type="none"/>
            <a:tailEnd len="med" w="med" type="triangle"/>
          </a:ln>
        </p:spPr>
      </p:cxnSp>
      <p:sp>
        <p:nvSpPr>
          <p:cNvPr id="1389" name="Google Shape;1389;p103"/>
          <p:cNvSpPr txBox="1"/>
          <p:nvPr>
            <p:ph type="title"/>
          </p:nvPr>
        </p:nvSpPr>
        <p:spPr>
          <a:xfrm>
            <a:off x="903700" y="1703000"/>
            <a:ext cx="7563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DA RICHIAMARE</a:t>
            </a:r>
            <a:endParaRPr b="1" sz="820">
              <a:solidFill>
                <a:srgbClr val="FF0000"/>
              </a:solidFill>
              <a:latin typeface="Oswald"/>
              <a:ea typeface="Oswald"/>
              <a:cs typeface="Oswald"/>
              <a:sym typeface="Oswald"/>
            </a:endParaRPr>
          </a:p>
        </p:txBody>
      </p:sp>
      <p:sp>
        <p:nvSpPr>
          <p:cNvPr id="1390" name="Google Shape;1390;p103"/>
          <p:cNvSpPr txBox="1"/>
          <p:nvPr>
            <p:ph type="title"/>
          </p:nvPr>
        </p:nvSpPr>
        <p:spPr>
          <a:xfrm>
            <a:off x="903700" y="4260950"/>
            <a:ext cx="7563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2</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richiamare</a:t>
            </a:r>
            <a:endParaRPr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lead</a:t>
            </a:r>
            <a:endParaRPr sz="1020">
              <a:latin typeface="Oswald"/>
              <a:ea typeface="Oswald"/>
              <a:cs typeface="Oswald"/>
              <a:sym typeface="Oswald"/>
            </a:endParaRPr>
          </a:p>
        </p:txBody>
      </p:sp>
      <p:cxnSp>
        <p:nvCxnSpPr>
          <p:cNvPr id="1391" name="Google Shape;1391;p103"/>
          <p:cNvCxnSpPr/>
          <p:nvPr/>
        </p:nvCxnSpPr>
        <p:spPr>
          <a:xfrm>
            <a:off x="727600" y="3179450"/>
            <a:ext cx="180000" cy="132000"/>
          </a:xfrm>
          <a:prstGeom prst="straightConnector1">
            <a:avLst/>
          </a:prstGeom>
          <a:noFill/>
          <a:ln cap="flat" cmpd="sng" w="9525">
            <a:solidFill>
              <a:schemeClr val="dk2"/>
            </a:solidFill>
            <a:prstDash val="solid"/>
            <a:round/>
            <a:headEnd len="med" w="med" type="none"/>
            <a:tailEnd len="med" w="med" type="none"/>
          </a:ln>
        </p:spPr>
      </p:cxnSp>
      <p:sp>
        <p:nvSpPr>
          <p:cNvPr id="1392" name="Google Shape;1392;p103"/>
          <p:cNvSpPr txBox="1"/>
          <p:nvPr>
            <p:ph type="title"/>
          </p:nvPr>
        </p:nvSpPr>
        <p:spPr>
          <a:xfrm>
            <a:off x="6868754" y="1636188"/>
            <a:ext cx="7563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820">
                <a:solidFill>
                  <a:srgbClr val="FF0000"/>
                </a:solidFill>
                <a:latin typeface="Oswald"/>
                <a:ea typeface="Oswald"/>
                <a:cs typeface="Oswald"/>
                <a:sym typeface="Oswald"/>
              </a:rPr>
              <a:t>IN CHIUSURA</a:t>
            </a:r>
            <a:endParaRPr b="1" sz="820">
              <a:solidFill>
                <a:srgbClr val="FF0000"/>
              </a:solidFill>
              <a:latin typeface="Oswald"/>
              <a:ea typeface="Oswald"/>
              <a:cs typeface="Oswald"/>
              <a:sym typeface="Oswald"/>
            </a:endParaRPr>
          </a:p>
        </p:txBody>
      </p:sp>
      <p:cxnSp>
        <p:nvCxnSpPr>
          <p:cNvPr id="1393" name="Google Shape;1393;p103"/>
          <p:cNvCxnSpPr/>
          <p:nvPr/>
        </p:nvCxnSpPr>
        <p:spPr>
          <a:xfrm>
            <a:off x="7662936" y="1658291"/>
            <a:ext cx="0" cy="2994300"/>
          </a:xfrm>
          <a:prstGeom prst="straightConnector1">
            <a:avLst/>
          </a:prstGeom>
          <a:noFill/>
          <a:ln cap="flat" cmpd="sng" w="9525">
            <a:solidFill>
              <a:schemeClr val="dk2"/>
            </a:solidFill>
            <a:prstDash val="dot"/>
            <a:round/>
            <a:headEnd len="med" w="med" type="none"/>
            <a:tailEnd len="med" w="med" type="none"/>
          </a:ln>
        </p:spPr>
      </p:cxnSp>
      <p:sp>
        <p:nvSpPr>
          <p:cNvPr id="1394" name="Google Shape;1394;p103"/>
          <p:cNvSpPr txBox="1"/>
          <p:nvPr>
            <p:ph type="title"/>
          </p:nvPr>
        </p:nvSpPr>
        <p:spPr>
          <a:xfrm>
            <a:off x="6922900" y="4267700"/>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9</a:t>
            </a:r>
            <a:endParaRPr b="1" sz="1020">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lang="it" sz="1020">
                <a:latin typeface="Oswald"/>
                <a:ea typeface="Oswald"/>
                <a:cs typeface="Oswald"/>
                <a:sym typeface="Oswald"/>
              </a:rPr>
              <a:t>cliente da chiudere</a:t>
            </a:r>
            <a:endParaRPr sz="1020">
              <a:latin typeface="Oswald"/>
              <a:ea typeface="Oswald"/>
              <a:cs typeface="Oswald"/>
              <a:sym typeface="Oswa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0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00" name="Google Shape;1400;p104"/>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401" name="Google Shape;1401;p10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402" name="Google Shape;1402;p104"/>
          <p:cNvSpPr txBox="1"/>
          <p:nvPr>
            <p:ph type="title"/>
          </p:nvPr>
        </p:nvSpPr>
        <p:spPr>
          <a:xfrm>
            <a:off x="1589813" y="830275"/>
            <a:ext cx="57900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Pipeline: Funnel Fotovoltaico</a:t>
            </a:r>
            <a:endParaRPr sz="2020">
              <a:highlight>
                <a:srgbClr val="B6D7A8"/>
              </a:highlight>
              <a:latin typeface="Lexend"/>
              <a:ea typeface="Lexend"/>
              <a:cs typeface="Lexend"/>
              <a:sym typeface="Lexend"/>
            </a:endParaRPr>
          </a:p>
        </p:txBody>
      </p:sp>
      <p:sp>
        <p:nvSpPr>
          <p:cNvPr id="1403" name="Google Shape;1403;p10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404" name="Google Shape;1404;p104"/>
          <p:cNvSpPr/>
          <p:nvPr/>
        </p:nvSpPr>
        <p:spPr>
          <a:xfrm>
            <a:off x="2125861" y="1609075"/>
            <a:ext cx="568500" cy="83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05" name="Google Shape;1405;p104"/>
          <p:cNvCxnSpPr/>
          <p:nvPr/>
        </p:nvCxnSpPr>
        <p:spPr>
          <a:xfrm>
            <a:off x="2020660" y="1658291"/>
            <a:ext cx="0" cy="2994300"/>
          </a:xfrm>
          <a:prstGeom prst="straightConnector1">
            <a:avLst/>
          </a:prstGeom>
          <a:noFill/>
          <a:ln cap="flat" cmpd="sng" w="9525">
            <a:solidFill>
              <a:schemeClr val="dk2"/>
            </a:solidFill>
            <a:prstDash val="dot"/>
            <a:round/>
            <a:headEnd len="med" w="med" type="none"/>
            <a:tailEnd len="med" w="med" type="none"/>
          </a:ln>
        </p:spPr>
      </p:cxnSp>
      <p:cxnSp>
        <p:nvCxnSpPr>
          <p:cNvPr id="1406" name="Google Shape;1406;p104"/>
          <p:cNvCxnSpPr/>
          <p:nvPr/>
        </p:nvCxnSpPr>
        <p:spPr>
          <a:xfrm>
            <a:off x="2430649" y="1675360"/>
            <a:ext cx="0" cy="2994300"/>
          </a:xfrm>
          <a:prstGeom prst="straightConnector1">
            <a:avLst/>
          </a:prstGeom>
          <a:noFill/>
          <a:ln cap="flat" cmpd="sng" w="9525">
            <a:solidFill>
              <a:schemeClr val="dk2"/>
            </a:solidFill>
            <a:prstDash val="dot"/>
            <a:round/>
            <a:headEnd len="med" w="med" type="none"/>
            <a:tailEnd len="med" w="med" type="none"/>
          </a:ln>
        </p:spPr>
      </p:cxnSp>
      <p:cxnSp>
        <p:nvCxnSpPr>
          <p:cNvPr id="1407" name="Google Shape;1407;p104"/>
          <p:cNvCxnSpPr/>
          <p:nvPr/>
        </p:nvCxnSpPr>
        <p:spPr>
          <a:xfrm>
            <a:off x="3073763" y="1658291"/>
            <a:ext cx="0" cy="2994300"/>
          </a:xfrm>
          <a:prstGeom prst="straightConnector1">
            <a:avLst/>
          </a:prstGeom>
          <a:noFill/>
          <a:ln cap="flat" cmpd="sng" w="9525">
            <a:solidFill>
              <a:schemeClr val="dk2"/>
            </a:solidFill>
            <a:prstDash val="dot"/>
            <a:round/>
            <a:headEnd len="med" w="med" type="none"/>
            <a:tailEnd len="med" w="med" type="none"/>
          </a:ln>
        </p:spPr>
      </p:cxnSp>
      <p:cxnSp>
        <p:nvCxnSpPr>
          <p:cNvPr id="1408" name="Google Shape;1408;p104"/>
          <p:cNvCxnSpPr/>
          <p:nvPr/>
        </p:nvCxnSpPr>
        <p:spPr>
          <a:xfrm>
            <a:off x="4205415" y="1675360"/>
            <a:ext cx="0" cy="2994300"/>
          </a:xfrm>
          <a:prstGeom prst="straightConnector1">
            <a:avLst/>
          </a:prstGeom>
          <a:noFill/>
          <a:ln cap="flat" cmpd="sng" w="9525">
            <a:solidFill>
              <a:schemeClr val="dk2"/>
            </a:solidFill>
            <a:prstDash val="dot"/>
            <a:round/>
            <a:headEnd len="med" w="med" type="none"/>
            <a:tailEnd len="med" w="med" type="none"/>
          </a:ln>
        </p:spPr>
      </p:cxnSp>
      <p:cxnSp>
        <p:nvCxnSpPr>
          <p:cNvPr id="1409" name="Google Shape;1409;p104"/>
          <p:cNvCxnSpPr/>
          <p:nvPr/>
        </p:nvCxnSpPr>
        <p:spPr>
          <a:xfrm>
            <a:off x="4905542" y="1658291"/>
            <a:ext cx="0" cy="2994300"/>
          </a:xfrm>
          <a:prstGeom prst="straightConnector1">
            <a:avLst/>
          </a:prstGeom>
          <a:noFill/>
          <a:ln cap="flat" cmpd="sng" w="9525">
            <a:solidFill>
              <a:schemeClr val="dk2"/>
            </a:solidFill>
            <a:prstDash val="dot"/>
            <a:round/>
            <a:headEnd len="med" w="med" type="none"/>
            <a:tailEnd len="med" w="med" type="none"/>
          </a:ln>
        </p:spPr>
      </p:cxnSp>
      <p:cxnSp>
        <p:nvCxnSpPr>
          <p:cNvPr id="1410" name="Google Shape;1410;p104"/>
          <p:cNvCxnSpPr/>
          <p:nvPr/>
        </p:nvCxnSpPr>
        <p:spPr>
          <a:xfrm>
            <a:off x="6439621" y="1658291"/>
            <a:ext cx="0" cy="2994300"/>
          </a:xfrm>
          <a:prstGeom prst="straightConnector1">
            <a:avLst/>
          </a:prstGeom>
          <a:noFill/>
          <a:ln cap="flat" cmpd="sng" w="9525">
            <a:solidFill>
              <a:schemeClr val="dk2"/>
            </a:solidFill>
            <a:prstDash val="dot"/>
            <a:round/>
            <a:headEnd len="med" w="med" type="none"/>
            <a:tailEnd len="med" w="med" type="none"/>
          </a:ln>
        </p:spPr>
      </p:cxnSp>
      <p:cxnSp>
        <p:nvCxnSpPr>
          <p:cNvPr id="1411" name="Google Shape;1411;p104"/>
          <p:cNvCxnSpPr/>
          <p:nvPr/>
        </p:nvCxnSpPr>
        <p:spPr>
          <a:xfrm>
            <a:off x="7777610" y="1658291"/>
            <a:ext cx="0" cy="2994300"/>
          </a:xfrm>
          <a:prstGeom prst="straightConnector1">
            <a:avLst/>
          </a:prstGeom>
          <a:noFill/>
          <a:ln cap="flat" cmpd="sng" w="9525">
            <a:solidFill>
              <a:schemeClr val="dk2"/>
            </a:solidFill>
            <a:prstDash val="dot"/>
            <a:round/>
            <a:headEnd len="med" w="med" type="none"/>
            <a:tailEnd len="med" w="med" type="none"/>
          </a:ln>
        </p:spPr>
      </p:cxnSp>
      <p:cxnSp>
        <p:nvCxnSpPr>
          <p:cNvPr id="1412" name="Google Shape;1412;p104"/>
          <p:cNvCxnSpPr>
            <a:stCxn id="1413" idx="3"/>
            <a:endCxn id="1414" idx="1"/>
          </p:cNvCxnSpPr>
          <p:nvPr/>
        </p:nvCxnSpPr>
        <p:spPr>
          <a:xfrm>
            <a:off x="1407248" y="2956650"/>
            <a:ext cx="1157100" cy="0"/>
          </a:xfrm>
          <a:prstGeom prst="straightConnector1">
            <a:avLst/>
          </a:prstGeom>
          <a:noFill/>
          <a:ln cap="flat" cmpd="sng" w="9525">
            <a:solidFill>
              <a:schemeClr val="dk2"/>
            </a:solidFill>
            <a:prstDash val="solid"/>
            <a:round/>
            <a:headEnd len="med" w="med" type="none"/>
            <a:tailEnd len="med" w="med" type="triangle"/>
          </a:ln>
        </p:spPr>
      </p:cxnSp>
      <p:cxnSp>
        <p:nvCxnSpPr>
          <p:cNvPr id="1415" name="Google Shape;1415;p104"/>
          <p:cNvCxnSpPr>
            <a:stCxn id="1416" idx="3"/>
            <a:endCxn id="1417" idx="1"/>
          </p:cNvCxnSpPr>
          <p:nvPr/>
        </p:nvCxnSpPr>
        <p:spPr>
          <a:xfrm>
            <a:off x="4062713" y="2951715"/>
            <a:ext cx="1087800" cy="1500"/>
          </a:xfrm>
          <a:prstGeom prst="straightConnector1">
            <a:avLst/>
          </a:prstGeom>
          <a:noFill/>
          <a:ln cap="flat" cmpd="sng" w="9525">
            <a:solidFill>
              <a:schemeClr val="dk2"/>
            </a:solidFill>
            <a:prstDash val="solid"/>
            <a:round/>
            <a:headEnd len="med" w="med" type="none"/>
            <a:tailEnd len="med" w="med" type="triangle"/>
          </a:ln>
        </p:spPr>
      </p:cxnSp>
      <p:cxnSp>
        <p:nvCxnSpPr>
          <p:cNvPr id="1418" name="Google Shape;1418;p104"/>
          <p:cNvCxnSpPr/>
          <p:nvPr/>
        </p:nvCxnSpPr>
        <p:spPr>
          <a:xfrm>
            <a:off x="4801573" y="3831300"/>
            <a:ext cx="291600" cy="0"/>
          </a:xfrm>
          <a:prstGeom prst="straightConnector1">
            <a:avLst/>
          </a:prstGeom>
          <a:noFill/>
          <a:ln cap="flat" cmpd="sng" w="9525">
            <a:solidFill>
              <a:schemeClr val="dk2"/>
            </a:solidFill>
            <a:prstDash val="solid"/>
            <a:round/>
            <a:headEnd len="med" w="med" type="none"/>
            <a:tailEnd len="med" w="med" type="triangle"/>
          </a:ln>
        </p:spPr>
      </p:cxnSp>
      <p:pic>
        <p:nvPicPr>
          <p:cNvPr id="1413" name="Google Shape;1413;p104"/>
          <p:cNvPicPr preferRelativeResize="0"/>
          <p:nvPr/>
        </p:nvPicPr>
        <p:blipFill>
          <a:blip r:embed="rId4">
            <a:alphaModFix/>
          </a:blip>
          <a:stretch>
            <a:fillRect/>
          </a:stretch>
        </p:blipFill>
        <p:spPr>
          <a:xfrm>
            <a:off x="944348" y="2725200"/>
            <a:ext cx="462900" cy="462900"/>
          </a:xfrm>
          <a:prstGeom prst="rect">
            <a:avLst/>
          </a:prstGeom>
          <a:noFill/>
          <a:ln>
            <a:noFill/>
          </a:ln>
        </p:spPr>
      </p:pic>
      <p:pic>
        <p:nvPicPr>
          <p:cNvPr id="1416" name="Google Shape;1416;p104"/>
          <p:cNvPicPr preferRelativeResize="0"/>
          <p:nvPr/>
        </p:nvPicPr>
        <p:blipFill>
          <a:blip r:embed="rId5">
            <a:alphaModFix/>
          </a:blip>
          <a:stretch>
            <a:fillRect/>
          </a:stretch>
        </p:blipFill>
        <p:spPr>
          <a:xfrm>
            <a:off x="3719513" y="2780115"/>
            <a:ext cx="343200" cy="343200"/>
          </a:xfrm>
          <a:prstGeom prst="rect">
            <a:avLst/>
          </a:prstGeom>
          <a:noFill/>
          <a:ln>
            <a:noFill/>
          </a:ln>
        </p:spPr>
      </p:pic>
      <p:pic>
        <p:nvPicPr>
          <p:cNvPr id="1419" name="Google Shape;1419;p104"/>
          <p:cNvPicPr preferRelativeResize="0"/>
          <p:nvPr/>
        </p:nvPicPr>
        <p:blipFill rotWithShape="1">
          <a:blip r:embed="rId6">
            <a:alphaModFix/>
          </a:blip>
          <a:srcRect b="0" l="0" r="0" t="0"/>
          <a:stretch/>
        </p:blipFill>
        <p:spPr>
          <a:xfrm>
            <a:off x="2098348" y="2261950"/>
            <a:ext cx="254600" cy="254600"/>
          </a:xfrm>
          <a:prstGeom prst="rect">
            <a:avLst/>
          </a:prstGeom>
          <a:noFill/>
          <a:ln>
            <a:noFill/>
          </a:ln>
        </p:spPr>
      </p:pic>
      <p:pic>
        <p:nvPicPr>
          <p:cNvPr id="1414" name="Google Shape;1414;p104"/>
          <p:cNvPicPr preferRelativeResize="0"/>
          <p:nvPr/>
        </p:nvPicPr>
        <p:blipFill>
          <a:blip r:embed="rId7">
            <a:alphaModFix/>
          </a:blip>
          <a:stretch>
            <a:fillRect/>
          </a:stretch>
        </p:blipFill>
        <p:spPr>
          <a:xfrm>
            <a:off x="2564248" y="2768700"/>
            <a:ext cx="375900" cy="375900"/>
          </a:xfrm>
          <a:prstGeom prst="rect">
            <a:avLst/>
          </a:prstGeom>
          <a:noFill/>
          <a:ln>
            <a:noFill/>
          </a:ln>
        </p:spPr>
      </p:pic>
      <p:grpSp>
        <p:nvGrpSpPr>
          <p:cNvPr id="1420" name="Google Shape;1420;p104"/>
          <p:cNvGrpSpPr/>
          <p:nvPr/>
        </p:nvGrpSpPr>
        <p:grpSpPr>
          <a:xfrm>
            <a:off x="3308562" y="2607641"/>
            <a:ext cx="189185" cy="659755"/>
            <a:chOff x="2277738" y="3109004"/>
            <a:chExt cx="281400" cy="981340"/>
          </a:xfrm>
        </p:grpSpPr>
        <p:pic>
          <p:nvPicPr>
            <p:cNvPr id="1421" name="Google Shape;1421;p104"/>
            <p:cNvPicPr preferRelativeResize="0"/>
            <p:nvPr/>
          </p:nvPicPr>
          <p:blipFill>
            <a:blip r:embed="rId8">
              <a:alphaModFix/>
            </a:blip>
            <a:stretch>
              <a:fillRect/>
            </a:stretch>
          </p:blipFill>
          <p:spPr>
            <a:xfrm>
              <a:off x="2277738" y="3808944"/>
              <a:ext cx="281400" cy="281400"/>
            </a:xfrm>
            <a:prstGeom prst="rect">
              <a:avLst/>
            </a:prstGeom>
            <a:noFill/>
            <a:ln>
              <a:noFill/>
            </a:ln>
          </p:spPr>
        </p:pic>
        <p:pic>
          <p:nvPicPr>
            <p:cNvPr id="1422" name="Google Shape;1422;p104"/>
            <p:cNvPicPr preferRelativeResize="0"/>
            <p:nvPr/>
          </p:nvPicPr>
          <p:blipFill>
            <a:blip r:embed="rId8">
              <a:alphaModFix/>
            </a:blip>
            <a:stretch>
              <a:fillRect/>
            </a:stretch>
          </p:blipFill>
          <p:spPr>
            <a:xfrm>
              <a:off x="2277738" y="3458956"/>
              <a:ext cx="281400" cy="281400"/>
            </a:xfrm>
            <a:prstGeom prst="rect">
              <a:avLst/>
            </a:prstGeom>
            <a:noFill/>
            <a:ln>
              <a:noFill/>
            </a:ln>
          </p:spPr>
        </p:pic>
        <p:pic>
          <p:nvPicPr>
            <p:cNvPr id="1423" name="Google Shape;1423;p104"/>
            <p:cNvPicPr preferRelativeResize="0"/>
            <p:nvPr/>
          </p:nvPicPr>
          <p:blipFill>
            <a:blip r:embed="rId8">
              <a:alphaModFix/>
            </a:blip>
            <a:stretch>
              <a:fillRect/>
            </a:stretch>
          </p:blipFill>
          <p:spPr>
            <a:xfrm>
              <a:off x="2277738" y="3109004"/>
              <a:ext cx="281400" cy="281400"/>
            </a:xfrm>
            <a:prstGeom prst="rect">
              <a:avLst/>
            </a:prstGeom>
            <a:noFill/>
            <a:ln>
              <a:noFill/>
            </a:ln>
          </p:spPr>
        </p:pic>
      </p:grpSp>
      <p:cxnSp>
        <p:nvCxnSpPr>
          <p:cNvPr id="1424" name="Google Shape;1424;p104"/>
          <p:cNvCxnSpPr/>
          <p:nvPr/>
        </p:nvCxnSpPr>
        <p:spPr>
          <a:xfrm>
            <a:off x="3534623" y="2951713"/>
            <a:ext cx="154200" cy="0"/>
          </a:xfrm>
          <a:prstGeom prst="straightConnector1">
            <a:avLst/>
          </a:prstGeom>
          <a:noFill/>
          <a:ln cap="flat" cmpd="sng" w="9525">
            <a:solidFill>
              <a:schemeClr val="dk2"/>
            </a:solidFill>
            <a:prstDash val="solid"/>
            <a:round/>
            <a:headEnd len="med" w="med" type="none"/>
            <a:tailEnd len="med" w="med" type="triangle"/>
          </a:ln>
        </p:spPr>
      </p:cxnSp>
      <p:cxnSp>
        <p:nvCxnSpPr>
          <p:cNvPr id="1425" name="Google Shape;1425;p104"/>
          <p:cNvCxnSpPr>
            <a:stCxn id="1414" idx="3"/>
          </p:cNvCxnSpPr>
          <p:nvPr/>
        </p:nvCxnSpPr>
        <p:spPr>
          <a:xfrm>
            <a:off x="2940148" y="2956650"/>
            <a:ext cx="315900" cy="0"/>
          </a:xfrm>
          <a:prstGeom prst="straightConnector1">
            <a:avLst/>
          </a:prstGeom>
          <a:noFill/>
          <a:ln cap="flat" cmpd="sng" w="9525">
            <a:solidFill>
              <a:schemeClr val="dk2"/>
            </a:solidFill>
            <a:prstDash val="solid"/>
            <a:round/>
            <a:headEnd len="med" w="med" type="none"/>
            <a:tailEnd len="med" w="med" type="triangle"/>
          </a:ln>
        </p:spPr>
      </p:cxnSp>
      <p:sp>
        <p:nvSpPr>
          <p:cNvPr id="1426" name="Google Shape;1426;p104"/>
          <p:cNvSpPr txBox="1"/>
          <p:nvPr>
            <p:ph type="title"/>
          </p:nvPr>
        </p:nvSpPr>
        <p:spPr>
          <a:xfrm>
            <a:off x="932948"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1</a:t>
            </a:r>
            <a:endParaRPr sz="1020">
              <a:latin typeface="Oswald"/>
              <a:ea typeface="Oswald"/>
              <a:cs typeface="Oswald"/>
              <a:sym typeface="Oswald"/>
            </a:endParaRPr>
          </a:p>
        </p:txBody>
      </p:sp>
      <p:cxnSp>
        <p:nvCxnSpPr>
          <p:cNvPr id="1427" name="Google Shape;1427;p104"/>
          <p:cNvCxnSpPr/>
          <p:nvPr/>
        </p:nvCxnSpPr>
        <p:spPr>
          <a:xfrm>
            <a:off x="5704344" y="1675360"/>
            <a:ext cx="0" cy="2994300"/>
          </a:xfrm>
          <a:prstGeom prst="straightConnector1">
            <a:avLst/>
          </a:prstGeom>
          <a:noFill/>
          <a:ln cap="flat" cmpd="sng" w="9525">
            <a:solidFill>
              <a:schemeClr val="dk2"/>
            </a:solidFill>
            <a:prstDash val="dot"/>
            <a:round/>
            <a:headEnd len="med" w="med" type="none"/>
            <a:tailEnd len="med" w="med" type="none"/>
          </a:ln>
        </p:spPr>
      </p:cxnSp>
      <p:pic>
        <p:nvPicPr>
          <p:cNvPr id="1428" name="Google Shape;1428;p104"/>
          <p:cNvPicPr preferRelativeResize="0"/>
          <p:nvPr/>
        </p:nvPicPr>
        <p:blipFill>
          <a:blip r:embed="rId9">
            <a:alphaModFix/>
          </a:blip>
          <a:stretch>
            <a:fillRect/>
          </a:stretch>
        </p:blipFill>
        <p:spPr>
          <a:xfrm>
            <a:off x="5150508" y="3654000"/>
            <a:ext cx="343200" cy="343200"/>
          </a:xfrm>
          <a:prstGeom prst="rect">
            <a:avLst/>
          </a:prstGeom>
          <a:noFill/>
          <a:ln>
            <a:noFill/>
          </a:ln>
        </p:spPr>
      </p:pic>
      <p:pic>
        <p:nvPicPr>
          <p:cNvPr id="1417" name="Google Shape;1417;p104"/>
          <p:cNvPicPr preferRelativeResize="0"/>
          <p:nvPr/>
        </p:nvPicPr>
        <p:blipFill>
          <a:blip r:embed="rId9">
            <a:alphaModFix/>
          </a:blip>
          <a:stretch>
            <a:fillRect/>
          </a:stretch>
        </p:blipFill>
        <p:spPr>
          <a:xfrm>
            <a:off x="5150508" y="2781638"/>
            <a:ext cx="343200" cy="343200"/>
          </a:xfrm>
          <a:prstGeom prst="rect">
            <a:avLst/>
          </a:prstGeom>
          <a:noFill/>
          <a:ln>
            <a:noFill/>
          </a:ln>
        </p:spPr>
      </p:pic>
      <p:cxnSp>
        <p:nvCxnSpPr>
          <p:cNvPr id="1429" name="Google Shape;1429;p104"/>
          <p:cNvCxnSpPr/>
          <p:nvPr/>
        </p:nvCxnSpPr>
        <p:spPr>
          <a:xfrm>
            <a:off x="5561974" y="2956525"/>
            <a:ext cx="1226700" cy="0"/>
          </a:xfrm>
          <a:prstGeom prst="straightConnector1">
            <a:avLst/>
          </a:prstGeom>
          <a:noFill/>
          <a:ln cap="flat" cmpd="sng" w="9525">
            <a:solidFill>
              <a:schemeClr val="dk2"/>
            </a:solidFill>
            <a:prstDash val="solid"/>
            <a:round/>
            <a:headEnd len="med" w="med" type="none"/>
            <a:tailEnd len="med" w="med" type="triangle"/>
          </a:ln>
        </p:spPr>
      </p:cxnSp>
      <p:cxnSp>
        <p:nvCxnSpPr>
          <p:cNvPr id="1430" name="Google Shape;1430;p104"/>
          <p:cNvCxnSpPr/>
          <p:nvPr/>
        </p:nvCxnSpPr>
        <p:spPr>
          <a:xfrm>
            <a:off x="5561974" y="3813525"/>
            <a:ext cx="1235400" cy="0"/>
          </a:xfrm>
          <a:prstGeom prst="straightConnector1">
            <a:avLst/>
          </a:prstGeom>
          <a:noFill/>
          <a:ln cap="flat" cmpd="sng" w="9525">
            <a:solidFill>
              <a:schemeClr val="dk2"/>
            </a:solidFill>
            <a:prstDash val="solid"/>
            <a:round/>
            <a:headEnd len="med" w="med" type="none"/>
            <a:tailEnd len="med" w="med" type="triangle"/>
          </a:ln>
        </p:spPr>
      </p:cxnSp>
      <p:pic>
        <p:nvPicPr>
          <p:cNvPr id="1431" name="Google Shape;1431;p104"/>
          <p:cNvPicPr preferRelativeResize="0"/>
          <p:nvPr/>
        </p:nvPicPr>
        <p:blipFill>
          <a:blip r:embed="rId10">
            <a:alphaModFix/>
          </a:blip>
          <a:stretch>
            <a:fillRect/>
          </a:stretch>
        </p:blipFill>
        <p:spPr>
          <a:xfrm>
            <a:off x="4393131" y="3634975"/>
            <a:ext cx="362225" cy="362225"/>
          </a:xfrm>
          <a:prstGeom prst="rect">
            <a:avLst/>
          </a:prstGeom>
          <a:noFill/>
          <a:ln>
            <a:noFill/>
          </a:ln>
        </p:spPr>
      </p:pic>
      <p:cxnSp>
        <p:nvCxnSpPr>
          <p:cNvPr id="1432" name="Google Shape;1432;p104"/>
          <p:cNvCxnSpPr/>
          <p:nvPr/>
        </p:nvCxnSpPr>
        <p:spPr>
          <a:xfrm>
            <a:off x="1379035" y="1658291"/>
            <a:ext cx="0" cy="2994300"/>
          </a:xfrm>
          <a:prstGeom prst="straightConnector1">
            <a:avLst/>
          </a:prstGeom>
          <a:noFill/>
          <a:ln cap="flat" cmpd="sng" w="9525">
            <a:solidFill>
              <a:schemeClr val="dk2"/>
            </a:solidFill>
            <a:prstDash val="dot"/>
            <a:round/>
            <a:headEnd len="med" w="med" type="none"/>
            <a:tailEnd len="med" w="med" type="none"/>
          </a:ln>
        </p:spPr>
      </p:cxnSp>
      <p:pic>
        <p:nvPicPr>
          <p:cNvPr id="1433" name="Google Shape;1433;p104"/>
          <p:cNvPicPr preferRelativeResize="0"/>
          <p:nvPr/>
        </p:nvPicPr>
        <p:blipFill>
          <a:blip r:embed="rId4">
            <a:alphaModFix/>
          </a:blip>
          <a:stretch>
            <a:fillRect/>
          </a:stretch>
        </p:blipFill>
        <p:spPr>
          <a:xfrm>
            <a:off x="1571498" y="3319888"/>
            <a:ext cx="256713" cy="256713"/>
          </a:xfrm>
          <a:prstGeom prst="rect">
            <a:avLst/>
          </a:prstGeom>
          <a:noFill/>
          <a:ln>
            <a:noFill/>
          </a:ln>
        </p:spPr>
      </p:pic>
      <p:cxnSp>
        <p:nvCxnSpPr>
          <p:cNvPr id="1434" name="Google Shape;1434;p104"/>
          <p:cNvCxnSpPr/>
          <p:nvPr/>
        </p:nvCxnSpPr>
        <p:spPr>
          <a:xfrm>
            <a:off x="7108634" y="1658291"/>
            <a:ext cx="0" cy="2994300"/>
          </a:xfrm>
          <a:prstGeom prst="straightConnector1">
            <a:avLst/>
          </a:prstGeom>
          <a:noFill/>
          <a:ln cap="flat" cmpd="sng" w="9525">
            <a:solidFill>
              <a:schemeClr val="dk2"/>
            </a:solidFill>
            <a:prstDash val="dot"/>
            <a:round/>
            <a:headEnd len="med" w="med" type="none"/>
            <a:tailEnd len="med" w="med" type="none"/>
          </a:ln>
        </p:spPr>
      </p:cxnSp>
      <p:sp>
        <p:nvSpPr>
          <p:cNvPr id="1435" name="Google Shape;1435;p104"/>
          <p:cNvSpPr txBox="1"/>
          <p:nvPr>
            <p:ph type="title"/>
          </p:nvPr>
        </p:nvSpPr>
        <p:spPr>
          <a:xfrm>
            <a:off x="851598" y="1703000"/>
            <a:ext cx="527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RICHIESTA </a:t>
            </a:r>
            <a:endParaRPr b="1" sz="6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LEAD</a:t>
            </a:r>
            <a:endParaRPr b="1" sz="620">
              <a:solidFill>
                <a:srgbClr val="FF0000"/>
              </a:solidFill>
              <a:latin typeface="Oswald"/>
              <a:ea typeface="Oswald"/>
              <a:cs typeface="Oswald"/>
              <a:sym typeface="Oswald"/>
            </a:endParaRPr>
          </a:p>
        </p:txBody>
      </p:sp>
      <p:sp>
        <p:nvSpPr>
          <p:cNvPr id="1436" name="Google Shape;1436;p104"/>
          <p:cNvSpPr txBox="1"/>
          <p:nvPr>
            <p:ph type="title"/>
          </p:nvPr>
        </p:nvSpPr>
        <p:spPr>
          <a:xfrm>
            <a:off x="1370353" y="1703000"/>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DA</a:t>
            </a:r>
            <a:endParaRPr b="1" sz="6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RICHIAMARE</a:t>
            </a:r>
            <a:endParaRPr b="1" sz="620">
              <a:solidFill>
                <a:srgbClr val="FF0000"/>
              </a:solidFill>
              <a:latin typeface="Oswald"/>
              <a:ea typeface="Oswald"/>
              <a:cs typeface="Oswald"/>
              <a:sym typeface="Oswald"/>
            </a:endParaRPr>
          </a:p>
        </p:txBody>
      </p:sp>
      <p:sp>
        <p:nvSpPr>
          <p:cNvPr id="1437" name="Google Shape;1437;p104"/>
          <p:cNvSpPr txBox="1"/>
          <p:nvPr>
            <p:ph type="title"/>
          </p:nvPr>
        </p:nvSpPr>
        <p:spPr>
          <a:xfrm>
            <a:off x="2020673" y="1703000"/>
            <a:ext cx="4125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FAKE</a:t>
            </a:r>
            <a:endParaRPr b="1" sz="620">
              <a:solidFill>
                <a:srgbClr val="FF0000"/>
              </a:solidFill>
              <a:latin typeface="Oswald"/>
              <a:ea typeface="Oswald"/>
              <a:cs typeface="Oswald"/>
              <a:sym typeface="Oswald"/>
            </a:endParaRPr>
          </a:p>
        </p:txBody>
      </p:sp>
      <p:sp>
        <p:nvSpPr>
          <p:cNvPr id="1438" name="Google Shape;1438;p104"/>
          <p:cNvSpPr txBox="1"/>
          <p:nvPr>
            <p:ph type="title"/>
          </p:nvPr>
        </p:nvSpPr>
        <p:spPr>
          <a:xfrm>
            <a:off x="2422741" y="1703000"/>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NON </a:t>
            </a:r>
            <a:endParaRPr b="1" sz="6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RISPOSTO</a:t>
            </a:r>
            <a:endParaRPr b="1" sz="620">
              <a:solidFill>
                <a:srgbClr val="FF0000"/>
              </a:solidFill>
              <a:latin typeface="Oswald"/>
              <a:ea typeface="Oswald"/>
              <a:cs typeface="Oswald"/>
              <a:sym typeface="Oswald"/>
            </a:endParaRPr>
          </a:p>
        </p:txBody>
      </p:sp>
      <p:sp>
        <p:nvSpPr>
          <p:cNvPr id="1439" name="Google Shape;1439;p104"/>
          <p:cNvSpPr txBox="1"/>
          <p:nvPr>
            <p:ph type="title"/>
          </p:nvPr>
        </p:nvSpPr>
        <p:spPr>
          <a:xfrm>
            <a:off x="1476810"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2</a:t>
            </a:r>
            <a:endParaRPr sz="1020">
              <a:latin typeface="Oswald"/>
              <a:ea typeface="Oswald"/>
              <a:cs typeface="Oswald"/>
              <a:sym typeface="Oswald"/>
            </a:endParaRPr>
          </a:p>
        </p:txBody>
      </p:sp>
      <p:sp>
        <p:nvSpPr>
          <p:cNvPr id="1440" name="Google Shape;1440;p104"/>
          <p:cNvSpPr txBox="1"/>
          <p:nvPr>
            <p:ph type="title"/>
          </p:nvPr>
        </p:nvSpPr>
        <p:spPr>
          <a:xfrm>
            <a:off x="2003360"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3</a:t>
            </a:r>
            <a:endParaRPr sz="1020">
              <a:latin typeface="Oswald"/>
              <a:ea typeface="Oswald"/>
              <a:cs typeface="Oswald"/>
              <a:sym typeface="Oswald"/>
            </a:endParaRPr>
          </a:p>
        </p:txBody>
      </p:sp>
      <p:sp>
        <p:nvSpPr>
          <p:cNvPr id="1441" name="Google Shape;1441;p104"/>
          <p:cNvSpPr txBox="1"/>
          <p:nvPr>
            <p:ph type="title"/>
          </p:nvPr>
        </p:nvSpPr>
        <p:spPr>
          <a:xfrm>
            <a:off x="2529148"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4</a:t>
            </a:r>
            <a:endParaRPr sz="1020">
              <a:latin typeface="Oswald"/>
              <a:ea typeface="Oswald"/>
              <a:cs typeface="Oswald"/>
              <a:sym typeface="Oswald"/>
            </a:endParaRPr>
          </a:p>
        </p:txBody>
      </p:sp>
      <p:cxnSp>
        <p:nvCxnSpPr>
          <p:cNvPr id="1442" name="Google Shape;1442;p104"/>
          <p:cNvCxnSpPr>
            <a:stCxn id="1413" idx="2"/>
          </p:cNvCxnSpPr>
          <p:nvPr/>
        </p:nvCxnSpPr>
        <p:spPr>
          <a:xfrm flipH="1" rot="-5400000">
            <a:off x="2439098" y="1924800"/>
            <a:ext cx="635400" cy="3162000"/>
          </a:xfrm>
          <a:prstGeom prst="bentConnector2">
            <a:avLst/>
          </a:prstGeom>
          <a:noFill/>
          <a:ln cap="flat" cmpd="sng" w="9525">
            <a:solidFill>
              <a:schemeClr val="dk2"/>
            </a:solidFill>
            <a:prstDash val="solid"/>
            <a:round/>
            <a:headEnd len="med" w="med" type="none"/>
            <a:tailEnd len="med" w="med" type="triangle"/>
          </a:ln>
        </p:spPr>
      </p:cxnSp>
      <p:cxnSp>
        <p:nvCxnSpPr>
          <p:cNvPr id="1443" name="Google Shape;1443;p104"/>
          <p:cNvCxnSpPr>
            <a:stCxn id="1413" idx="2"/>
            <a:endCxn id="1433" idx="1"/>
          </p:cNvCxnSpPr>
          <p:nvPr/>
        </p:nvCxnSpPr>
        <p:spPr>
          <a:xfrm flipH="1" rot="-5400000">
            <a:off x="1243598" y="3120300"/>
            <a:ext cx="260100" cy="395700"/>
          </a:xfrm>
          <a:prstGeom prst="bentConnector2">
            <a:avLst/>
          </a:prstGeom>
          <a:noFill/>
          <a:ln cap="flat" cmpd="sng" w="9525">
            <a:solidFill>
              <a:schemeClr val="dk2"/>
            </a:solidFill>
            <a:prstDash val="solid"/>
            <a:round/>
            <a:headEnd len="med" w="med" type="none"/>
            <a:tailEnd len="med" w="med" type="triangle"/>
          </a:ln>
        </p:spPr>
      </p:cxnSp>
      <p:cxnSp>
        <p:nvCxnSpPr>
          <p:cNvPr id="1444" name="Google Shape;1444;p104"/>
          <p:cNvCxnSpPr>
            <a:stCxn id="1413" idx="0"/>
            <a:endCxn id="1419" idx="1"/>
          </p:cNvCxnSpPr>
          <p:nvPr/>
        </p:nvCxnSpPr>
        <p:spPr>
          <a:xfrm rot="-5400000">
            <a:off x="1469048" y="2095950"/>
            <a:ext cx="336000" cy="922500"/>
          </a:xfrm>
          <a:prstGeom prst="bentConnector2">
            <a:avLst/>
          </a:prstGeom>
          <a:noFill/>
          <a:ln cap="flat" cmpd="sng" w="9525">
            <a:solidFill>
              <a:schemeClr val="dk2"/>
            </a:solidFill>
            <a:prstDash val="solid"/>
            <a:round/>
            <a:headEnd len="med" w="med" type="none"/>
            <a:tailEnd len="med" w="med" type="triangle"/>
          </a:ln>
        </p:spPr>
      </p:cxnSp>
      <p:sp>
        <p:nvSpPr>
          <p:cNvPr id="1445" name="Google Shape;1445;p104"/>
          <p:cNvSpPr txBox="1"/>
          <p:nvPr>
            <p:ph type="title"/>
          </p:nvPr>
        </p:nvSpPr>
        <p:spPr>
          <a:xfrm>
            <a:off x="3277216" y="1707325"/>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CHIAMATA</a:t>
            </a:r>
            <a:endParaRPr b="1" sz="6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PRENOTATA</a:t>
            </a:r>
            <a:endParaRPr b="1" sz="620">
              <a:solidFill>
                <a:srgbClr val="FF0000"/>
              </a:solidFill>
              <a:latin typeface="Oswald"/>
              <a:ea typeface="Oswald"/>
              <a:cs typeface="Oswald"/>
              <a:sym typeface="Oswald"/>
            </a:endParaRPr>
          </a:p>
        </p:txBody>
      </p:sp>
      <p:sp>
        <p:nvSpPr>
          <p:cNvPr id="1446" name="Google Shape;1446;p104"/>
          <p:cNvSpPr txBox="1"/>
          <p:nvPr>
            <p:ph type="title"/>
          </p:nvPr>
        </p:nvSpPr>
        <p:spPr>
          <a:xfrm>
            <a:off x="4220978" y="1707325"/>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APP.TO</a:t>
            </a:r>
            <a:endParaRPr b="1" sz="6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FISSATO</a:t>
            </a:r>
            <a:endParaRPr b="1" sz="620">
              <a:solidFill>
                <a:srgbClr val="FF0000"/>
              </a:solidFill>
              <a:latin typeface="Oswald"/>
              <a:ea typeface="Oswald"/>
              <a:cs typeface="Oswald"/>
              <a:sym typeface="Oswald"/>
            </a:endParaRPr>
          </a:p>
        </p:txBody>
      </p:sp>
      <p:sp>
        <p:nvSpPr>
          <p:cNvPr id="1447" name="Google Shape;1447;p104"/>
          <p:cNvSpPr txBox="1"/>
          <p:nvPr>
            <p:ph type="title"/>
          </p:nvPr>
        </p:nvSpPr>
        <p:spPr>
          <a:xfrm>
            <a:off x="4962666" y="1707325"/>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RISENTIRE -</a:t>
            </a:r>
            <a:endParaRPr b="1" sz="6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GESTIRE</a:t>
            </a:r>
            <a:endParaRPr b="1" sz="620">
              <a:solidFill>
                <a:srgbClr val="FF0000"/>
              </a:solidFill>
              <a:latin typeface="Oswald"/>
              <a:ea typeface="Oswald"/>
              <a:cs typeface="Oswald"/>
              <a:sym typeface="Oswald"/>
            </a:endParaRPr>
          </a:p>
        </p:txBody>
      </p:sp>
      <p:sp>
        <p:nvSpPr>
          <p:cNvPr id="1448" name="Google Shape;1448;p104"/>
          <p:cNvSpPr txBox="1"/>
          <p:nvPr>
            <p:ph type="title"/>
          </p:nvPr>
        </p:nvSpPr>
        <p:spPr>
          <a:xfrm>
            <a:off x="5761566" y="1707325"/>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PREVENTIVO</a:t>
            </a:r>
            <a:endParaRPr b="1" sz="6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INVIATO</a:t>
            </a:r>
            <a:endParaRPr b="1" sz="620">
              <a:solidFill>
                <a:srgbClr val="FF0000"/>
              </a:solidFill>
              <a:latin typeface="Oswald"/>
              <a:ea typeface="Oswald"/>
              <a:cs typeface="Oswald"/>
              <a:sym typeface="Oswald"/>
            </a:endParaRPr>
          </a:p>
        </p:txBody>
      </p:sp>
      <p:sp>
        <p:nvSpPr>
          <p:cNvPr id="1449" name="Google Shape;1449;p104"/>
          <p:cNvSpPr txBox="1"/>
          <p:nvPr>
            <p:ph type="title"/>
          </p:nvPr>
        </p:nvSpPr>
        <p:spPr>
          <a:xfrm>
            <a:off x="6439616" y="1707325"/>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IN CHIUSURA</a:t>
            </a:r>
            <a:endParaRPr b="1" sz="620">
              <a:solidFill>
                <a:srgbClr val="FF0000"/>
              </a:solidFill>
              <a:latin typeface="Oswald"/>
              <a:ea typeface="Oswald"/>
              <a:cs typeface="Oswald"/>
              <a:sym typeface="Oswald"/>
            </a:endParaRPr>
          </a:p>
        </p:txBody>
      </p:sp>
      <p:sp>
        <p:nvSpPr>
          <p:cNvPr id="1450" name="Google Shape;1450;p104"/>
          <p:cNvSpPr txBox="1"/>
          <p:nvPr>
            <p:ph type="title"/>
          </p:nvPr>
        </p:nvSpPr>
        <p:spPr>
          <a:xfrm>
            <a:off x="7108616" y="1707325"/>
            <a:ext cx="669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RISENTIRE</a:t>
            </a:r>
            <a:endParaRPr b="1" sz="6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PIU AVANTI</a:t>
            </a:r>
            <a:endParaRPr b="1" sz="620">
              <a:solidFill>
                <a:srgbClr val="FF0000"/>
              </a:solidFill>
              <a:latin typeface="Oswald"/>
              <a:ea typeface="Oswald"/>
              <a:cs typeface="Oswald"/>
              <a:sym typeface="Oswald"/>
            </a:endParaRPr>
          </a:p>
        </p:txBody>
      </p:sp>
      <p:sp>
        <p:nvSpPr>
          <p:cNvPr id="1451" name="Google Shape;1451;p104"/>
          <p:cNvSpPr txBox="1"/>
          <p:nvPr>
            <p:ph type="title"/>
          </p:nvPr>
        </p:nvSpPr>
        <p:spPr>
          <a:xfrm>
            <a:off x="7830095" y="1707325"/>
            <a:ext cx="4125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FUORI</a:t>
            </a:r>
            <a:endParaRPr b="1" sz="6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ZONA</a:t>
            </a:r>
            <a:endParaRPr b="1" sz="620">
              <a:solidFill>
                <a:srgbClr val="FF0000"/>
              </a:solidFill>
              <a:latin typeface="Oswald"/>
              <a:ea typeface="Oswald"/>
              <a:cs typeface="Oswald"/>
              <a:sym typeface="Oswald"/>
            </a:endParaRPr>
          </a:p>
        </p:txBody>
      </p:sp>
      <p:cxnSp>
        <p:nvCxnSpPr>
          <p:cNvPr id="1452" name="Google Shape;1452;p104"/>
          <p:cNvCxnSpPr/>
          <p:nvPr/>
        </p:nvCxnSpPr>
        <p:spPr>
          <a:xfrm>
            <a:off x="8288485" y="1658291"/>
            <a:ext cx="0" cy="2994300"/>
          </a:xfrm>
          <a:prstGeom prst="straightConnector1">
            <a:avLst/>
          </a:prstGeom>
          <a:noFill/>
          <a:ln cap="flat" cmpd="sng" w="9525">
            <a:solidFill>
              <a:schemeClr val="dk2"/>
            </a:solidFill>
            <a:prstDash val="dot"/>
            <a:round/>
            <a:headEnd len="med" w="med" type="none"/>
            <a:tailEnd len="med" w="med" type="none"/>
          </a:ln>
        </p:spPr>
      </p:cxnSp>
      <p:sp>
        <p:nvSpPr>
          <p:cNvPr id="1453" name="Google Shape;1453;p104"/>
          <p:cNvSpPr txBox="1"/>
          <p:nvPr>
            <p:ph type="title"/>
          </p:nvPr>
        </p:nvSpPr>
        <p:spPr>
          <a:xfrm>
            <a:off x="8334396" y="1707325"/>
            <a:ext cx="527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620">
                <a:solidFill>
                  <a:srgbClr val="FF0000"/>
                </a:solidFill>
                <a:latin typeface="Oswald"/>
                <a:ea typeface="Oswald"/>
                <a:cs typeface="Oswald"/>
                <a:sym typeface="Oswald"/>
              </a:rPr>
              <a:t>PERSA</a:t>
            </a:r>
            <a:endParaRPr b="1" sz="620">
              <a:solidFill>
                <a:srgbClr val="FF0000"/>
              </a:solidFill>
              <a:latin typeface="Oswald"/>
              <a:ea typeface="Oswald"/>
              <a:cs typeface="Oswald"/>
              <a:sym typeface="Oswald"/>
            </a:endParaRPr>
          </a:p>
        </p:txBody>
      </p:sp>
      <p:sp>
        <p:nvSpPr>
          <p:cNvPr id="1454" name="Google Shape;1454;p104"/>
          <p:cNvSpPr txBox="1"/>
          <p:nvPr>
            <p:ph type="title"/>
          </p:nvPr>
        </p:nvSpPr>
        <p:spPr>
          <a:xfrm>
            <a:off x="3419824"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5</a:t>
            </a:r>
            <a:endParaRPr sz="1020">
              <a:latin typeface="Oswald"/>
              <a:ea typeface="Oswald"/>
              <a:cs typeface="Oswald"/>
              <a:sym typeface="Oswald"/>
            </a:endParaRPr>
          </a:p>
        </p:txBody>
      </p:sp>
      <p:sp>
        <p:nvSpPr>
          <p:cNvPr id="1455" name="Google Shape;1455;p104"/>
          <p:cNvSpPr txBox="1"/>
          <p:nvPr>
            <p:ph type="title"/>
          </p:nvPr>
        </p:nvSpPr>
        <p:spPr>
          <a:xfrm>
            <a:off x="4357597"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6</a:t>
            </a:r>
            <a:endParaRPr sz="1020">
              <a:latin typeface="Oswald"/>
              <a:ea typeface="Oswald"/>
              <a:cs typeface="Oswald"/>
              <a:sym typeface="Oswald"/>
            </a:endParaRPr>
          </a:p>
        </p:txBody>
      </p:sp>
      <p:sp>
        <p:nvSpPr>
          <p:cNvPr id="1456" name="Google Shape;1456;p104"/>
          <p:cNvSpPr txBox="1"/>
          <p:nvPr>
            <p:ph type="title"/>
          </p:nvPr>
        </p:nvSpPr>
        <p:spPr>
          <a:xfrm>
            <a:off x="5081897"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7</a:t>
            </a:r>
            <a:endParaRPr sz="1020">
              <a:latin typeface="Oswald"/>
              <a:ea typeface="Oswald"/>
              <a:cs typeface="Oswald"/>
              <a:sym typeface="Oswald"/>
            </a:endParaRPr>
          </a:p>
        </p:txBody>
      </p:sp>
      <p:sp>
        <p:nvSpPr>
          <p:cNvPr id="1457" name="Google Shape;1457;p104"/>
          <p:cNvSpPr txBox="1"/>
          <p:nvPr>
            <p:ph type="title"/>
          </p:nvPr>
        </p:nvSpPr>
        <p:spPr>
          <a:xfrm>
            <a:off x="5848934"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8</a:t>
            </a:r>
            <a:endParaRPr sz="1020">
              <a:latin typeface="Oswald"/>
              <a:ea typeface="Oswald"/>
              <a:cs typeface="Oswald"/>
              <a:sym typeface="Oswald"/>
            </a:endParaRPr>
          </a:p>
        </p:txBody>
      </p:sp>
      <p:sp>
        <p:nvSpPr>
          <p:cNvPr id="1458" name="Google Shape;1458;p104"/>
          <p:cNvSpPr txBox="1"/>
          <p:nvPr>
            <p:ph type="title"/>
          </p:nvPr>
        </p:nvSpPr>
        <p:spPr>
          <a:xfrm>
            <a:off x="6551084"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9</a:t>
            </a:r>
            <a:endParaRPr sz="1020">
              <a:latin typeface="Oswald"/>
              <a:ea typeface="Oswald"/>
              <a:cs typeface="Oswald"/>
              <a:sym typeface="Oswald"/>
            </a:endParaRPr>
          </a:p>
        </p:txBody>
      </p:sp>
      <p:sp>
        <p:nvSpPr>
          <p:cNvPr id="1459" name="Google Shape;1459;p104"/>
          <p:cNvSpPr txBox="1"/>
          <p:nvPr>
            <p:ph type="title"/>
          </p:nvPr>
        </p:nvSpPr>
        <p:spPr>
          <a:xfrm>
            <a:off x="7220084"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10</a:t>
            </a:r>
            <a:endParaRPr sz="1020">
              <a:latin typeface="Oswald"/>
              <a:ea typeface="Oswald"/>
              <a:cs typeface="Oswald"/>
              <a:sym typeface="Oswald"/>
            </a:endParaRPr>
          </a:p>
        </p:txBody>
      </p:sp>
      <p:sp>
        <p:nvSpPr>
          <p:cNvPr id="1460" name="Google Shape;1460;p104"/>
          <p:cNvSpPr txBox="1"/>
          <p:nvPr>
            <p:ph type="title"/>
          </p:nvPr>
        </p:nvSpPr>
        <p:spPr>
          <a:xfrm>
            <a:off x="7810022"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11</a:t>
            </a:r>
            <a:endParaRPr sz="1020">
              <a:latin typeface="Oswald"/>
              <a:ea typeface="Oswald"/>
              <a:cs typeface="Oswald"/>
              <a:sym typeface="Oswald"/>
            </a:endParaRPr>
          </a:p>
        </p:txBody>
      </p:sp>
      <p:sp>
        <p:nvSpPr>
          <p:cNvPr id="1461" name="Google Shape;1461;p104"/>
          <p:cNvSpPr txBox="1"/>
          <p:nvPr>
            <p:ph type="title"/>
          </p:nvPr>
        </p:nvSpPr>
        <p:spPr>
          <a:xfrm>
            <a:off x="8356676" y="4260950"/>
            <a:ext cx="446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12</a:t>
            </a:r>
            <a:endParaRPr sz="1020">
              <a:latin typeface="Oswald"/>
              <a:ea typeface="Oswald"/>
              <a:cs typeface="Oswald"/>
              <a:sym typeface="Oswald"/>
            </a:endParaRPr>
          </a:p>
        </p:txBody>
      </p:sp>
      <p:sp>
        <p:nvSpPr>
          <p:cNvPr id="1462" name="Google Shape;1462;p104"/>
          <p:cNvSpPr txBox="1"/>
          <p:nvPr>
            <p:ph type="title"/>
          </p:nvPr>
        </p:nvSpPr>
        <p:spPr>
          <a:xfrm>
            <a:off x="229504" y="4260950"/>
            <a:ext cx="5685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a:t>
            </a:r>
            <a:endParaRPr sz="1020">
              <a:latin typeface="Oswald"/>
              <a:ea typeface="Oswald"/>
              <a:cs typeface="Oswald"/>
              <a:sym typeface="Oswald"/>
            </a:endParaRPr>
          </a:p>
        </p:txBody>
      </p:sp>
      <p:sp>
        <p:nvSpPr>
          <p:cNvPr id="1463" name="Google Shape;1463;p104"/>
          <p:cNvSpPr txBox="1"/>
          <p:nvPr>
            <p:ph type="title"/>
          </p:nvPr>
        </p:nvSpPr>
        <p:spPr>
          <a:xfrm>
            <a:off x="229504" y="1703000"/>
            <a:ext cx="5685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NOME</a:t>
            </a:r>
            <a:endParaRPr sz="1020">
              <a:latin typeface="Oswald"/>
              <a:ea typeface="Oswald"/>
              <a:cs typeface="Oswald"/>
              <a:sym typeface="Oswa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0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69" name="Google Shape;1469;p10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470" name="Google Shape;1470;p10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471" name="Google Shape;1471;p105"/>
          <p:cNvSpPr txBox="1"/>
          <p:nvPr>
            <p:ph type="title"/>
          </p:nvPr>
        </p:nvSpPr>
        <p:spPr>
          <a:xfrm>
            <a:off x="918850" y="1682513"/>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1: Richiesta (Lead)</a:t>
            </a:r>
            <a:endParaRPr sz="2020">
              <a:highlight>
                <a:srgbClr val="B6D7A8"/>
              </a:highlight>
              <a:latin typeface="Lexend"/>
              <a:ea typeface="Lexend"/>
              <a:cs typeface="Lexend"/>
              <a:sym typeface="Lexend"/>
            </a:endParaRPr>
          </a:p>
        </p:txBody>
      </p:sp>
      <p:sp>
        <p:nvSpPr>
          <p:cNvPr id="1472" name="Google Shape;1472;p10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473" name="Google Shape;1473;p105"/>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4" name="Google Shape;1474;p105"/>
          <p:cNvSpPr txBox="1"/>
          <p:nvPr>
            <p:ph type="title"/>
          </p:nvPr>
        </p:nvSpPr>
        <p:spPr>
          <a:xfrm>
            <a:off x="521425" y="2537138"/>
            <a:ext cx="8146500" cy="12765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a:t>
            </a:r>
            <a:r>
              <a:rPr b="1" lang="it" sz="1620">
                <a:latin typeface="Lexend"/>
                <a:ea typeface="Lexend"/>
                <a:cs typeface="Lexend"/>
                <a:sym typeface="Lexend"/>
              </a:rPr>
              <a:t>arrivano i lead</a:t>
            </a:r>
            <a:r>
              <a:rPr lang="it" sz="1620">
                <a:latin typeface="Lexend"/>
                <a:ea typeface="Lexend"/>
                <a:cs typeface="Lexend"/>
                <a:sym typeface="Lexend"/>
              </a:rPr>
              <a:t> dalle campagne social che </a:t>
            </a:r>
            <a:r>
              <a:rPr b="1" lang="it" sz="1620">
                <a:latin typeface="Lexend"/>
                <a:ea typeface="Lexend"/>
                <a:cs typeface="Lexend"/>
                <a:sym typeface="Lexend"/>
              </a:rPr>
              <a:t>andranno chiamati</a:t>
            </a:r>
            <a:r>
              <a:rPr lang="it" sz="1620">
                <a:latin typeface="Lexend"/>
                <a:ea typeface="Lexend"/>
                <a:cs typeface="Lexend"/>
                <a:sym typeface="Lexend"/>
              </a:rPr>
              <a:t>.</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il sistema in automatico attribuirà i lead ai vostri account, </a:t>
            </a:r>
            <a:r>
              <a:rPr b="1" lang="it" sz="1620">
                <a:latin typeface="Lexend"/>
                <a:ea typeface="Lexend"/>
                <a:cs typeface="Lexend"/>
                <a:sym typeface="Lexend"/>
              </a:rPr>
              <a:t>quindi i lead che vedete nella pipeline sono i vostri, già attribuiti</a:t>
            </a:r>
            <a:r>
              <a:rPr lang="it" sz="1620">
                <a:latin typeface="Lexend"/>
                <a:ea typeface="Lexend"/>
                <a:cs typeface="Lexend"/>
                <a:sym typeface="Lexend"/>
              </a:rPr>
              <a:t>.</a:t>
            </a:r>
            <a:endParaRPr sz="1620">
              <a:latin typeface="Lexend"/>
              <a:ea typeface="Lexend"/>
              <a:cs typeface="Lexend"/>
              <a:sym typeface="Lexen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10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80" name="Google Shape;1480;p10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481" name="Google Shape;1481;p10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482" name="Google Shape;1482;p106"/>
          <p:cNvSpPr txBox="1"/>
          <p:nvPr>
            <p:ph type="title"/>
          </p:nvPr>
        </p:nvSpPr>
        <p:spPr>
          <a:xfrm>
            <a:off x="918850" y="1887775"/>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2: Da Richiamare</a:t>
            </a:r>
            <a:endParaRPr sz="2020">
              <a:highlight>
                <a:srgbClr val="B6D7A8"/>
              </a:highlight>
              <a:latin typeface="Lexend"/>
              <a:ea typeface="Lexend"/>
              <a:cs typeface="Lexend"/>
              <a:sym typeface="Lexend"/>
            </a:endParaRPr>
          </a:p>
        </p:txBody>
      </p:sp>
      <p:sp>
        <p:nvSpPr>
          <p:cNvPr id="1483" name="Google Shape;1483;p10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484" name="Google Shape;1484;p106"/>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5" name="Google Shape;1485;p106"/>
          <p:cNvSpPr txBox="1"/>
          <p:nvPr>
            <p:ph type="title"/>
          </p:nvPr>
        </p:nvSpPr>
        <p:spPr>
          <a:xfrm>
            <a:off x="521425" y="2770850"/>
            <a:ext cx="814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a:t>
            </a:r>
            <a:r>
              <a:rPr b="1" lang="it" sz="1620">
                <a:latin typeface="Lexend"/>
                <a:ea typeface="Lexend"/>
                <a:cs typeface="Lexend"/>
                <a:sym typeface="Lexend"/>
              </a:rPr>
              <a:t>vanno spostati</a:t>
            </a:r>
            <a:r>
              <a:rPr lang="it" sz="1620">
                <a:latin typeface="Lexend"/>
                <a:ea typeface="Lexend"/>
                <a:cs typeface="Lexend"/>
                <a:sym typeface="Lexend"/>
              </a:rPr>
              <a:t> i lead che vanno richiamati</a:t>
            </a:r>
            <a:endParaRPr sz="1620">
              <a:latin typeface="Lexend"/>
              <a:ea typeface="Lexend"/>
              <a:cs typeface="Lexend"/>
              <a:sym typeface="Lexen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10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91" name="Google Shape;1491;p10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492" name="Google Shape;1492;p10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493" name="Google Shape;1493;p107"/>
          <p:cNvSpPr txBox="1"/>
          <p:nvPr>
            <p:ph type="title"/>
          </p:nvPr>
        </p:nvSpPr>
        <p:spPr>
          <a:xfrm>
            <a:off x="918850" y="1887775"/>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3: Fake</a:t>
            </a:r>
            <a:endParaRPr sz="2020">
              <a:highlight>
                <a:srgbClr val="B6D7A8"/>
              </a:highlight>
              <a:latin typeface="Lexend"/>
              <a:ea typeface="Lexend"/>
              <a:cs typeface="Lexend"/>
              <a:sym typeface="Lexend"/>
            </a:endParaRPr>
          </a:p>
        </p:txBody>
      </p:sp>
      <p:sp>
        <p:nvSpPr>
          <p:cNvPr id="1494" name="Google Shape;1494;p10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495" name="Google Shape;1495;p107"/>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6" name="Google Shape;1496;p107"/>
          <p:cNvSpPr txBox="1"/>
          <p:nvPr>
            <p:ph type="title"/>
          </p:nvPr>
        </p:nvSpPr>
        <p:spPr>
          <a:xfrm>
            <a:off x="521425" y="2770850"/>
            <a:ext cx="814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a:t>
            </a:r>
            <a:r>
              <a:rPr b="1" lang="it" sz="1620">
                <a:latin typeface="Lexend"/>
                <a:ea typeface="Lexend"/>
                <a:cs typeface="Lexend"/>
                <a:sym typeface="Lexend"/>
              </a:rPr>
              <a:t>vanno spostati</a:t>
            </a:r>
            <a:r>
              <a:rPr lang="it" sz="1620">
                <a:latin typeface="Lexend"/>
                <a:ea typeface="Lexend"/>
                <a:cs typeface="Lexend"/>
                <a:sym typeface="Lexend"/>
              </a:rPr>
              <a:t> i lead che hanno </a:t>
            </a:r>
            <a:r>
              <a:rPr b="1" lang="it" sz="1620">
                <a:latin typeface="Lexend"/>
                <a:ea typeface="Lexend"/>
                <a:cs typeface="Lexend"/>
                <a:sym typeface="Lexend"/>
              </a:rPr>
              <a:t>contatti falsi o mancanti</a:t>
            </a:r>
            <a:r>
              <a:rPr lang="it" sz="1620">
                <a:latin typeface="Lexend"/>
                <a:ea typeface="Lexend"/>
                <a:cs typeface="Lexend"/>
                <a:sym typeface="Lexend"/>
              </a:rPr>
              <a:t>.</a:t>
            </a:r>
            <a:endParaRPr sz="1620">
              <a:latin typeface="Lexend"/>
              <a:ea typeface="Lexend"/>
              <a:cs typeface="Lexend"/>
              <a:sym typeface="Lexen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10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02" name="Google Shape;1502;p10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503" name="Google Shape;1503;p10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504" name="Google Shape;1504;p108"/>
          <p:cNvSpPr txBox="1"/>
          <p:nvPr>
            <p:ph type="title"/>
          </p:nvPr>
        </p:nvSpPr>
        <p:spPr>
          <a:xfrm>
            <a:off x="918850" y="1357575"/>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4: Non Risposto </a:t>
            </a:r>
            <a:r>
              <a:rPr lang="it" sz="1820">
                <a:highlight>
                  <a:srgbClr val="B6D7A8"/>
                </a:highlight>
                <a:latin typeface="Lexend"/>
                <a:ea typeface="Lexend"/>
                <a:cs typeface="Lexend"/>
                <a:sym typeface="Lexend"/>
              </a:rPr>
              <a:t>(spostare qui per nurturing)</a:t>
            </a:r>
            <a:endParaRPr sz="1220">
              <a:highlight>
                <a:srgbClr val="B6D7A8"/>
              </a:highlight>
              <a:latin typeface="Lexend"/>
              <a:ea typeface="Lexend"/>
              <a:cs typeface="Lexend"/>
              <a:sym typeface="Lexend"/>
            </a:endParaRPr>
          </a:p>
        </p:txBody>
      </p:sp>
      <p:sp>
        <p:nvSpPr>
          <p:cNvPr id="1505" name="Google Shape;1505;p10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506" name="Google Shape;1506;p108"/>
          <p:cNvSpPr txBox="1"/>
          <p:nvPr>
            <p:ph type="title"/>
          </p:nvPr>
        </p:nvSpPr>
        <p:spPr>
          <a:xfrm>
            <a:off x="521425" y="2411225"/>
            <a:ext cx="8146500" cy="1885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a:t>
            </a:r>
            <a:r>
              <a:rPr b="1" lang="it" sz="1620">
                <a:latin typeface="Lexend"/>
                <a:ea typeface="Lexend"/>
                <a:cs typeface="Lexend"/>
                <a:sym typeface="Lexend"/>
              </a:rPr>
              <a:t>vanno spostati</a:t>
            </a:r>
            <a:r>
              <a:rPr lang="it" sz="1620">
                <a:latin typeface="Lexend"/>
                <a:ea typeface="Lexend"/>
                <a:cs typeface="Lexend"/>
                <a:sym typeface="Lexend"/>
              </a:rPr>
              <a:t> i lead che dopo 3/4 tentativi di chiamata in orari diversi (preferibilmente), </a:t>
            </a:r>
            <a:r>
              <a:rPr b="1" lang="it" sz="1620">
                <a:latin typeface="Lexend"/>
                <a:ea typeface="Lexend"/>
                <a:cs typeface="Lexend"/>
                <a:sym typeface="Lexend"/>
              </a:rPr>
              <a:t>non hanno risposto alle vs. chiamate</a:t>
            </a:r>
            <a:r>
              <a:rPr lang="it" sz="1620">
                <a:latin typeface="Lexend"/>
                <a:ea typeface="Lexend"/>
                <a:cs typeface="Lexend"/>
                <a:sym typeface="Lexend"/>
              </a:rPr>
              <a:t>.</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In questa fase, in automatico, partiranno una serie di </a:t>
            </a:r>
            <a:r>
              <a:rPr b="1" lang="it" sz="1620">
                <a:latin typeface="Lexend"/>
                <a:ea typeface="Lexend"/>
                <a:cs typeface="Lexend"/>
                <a:sym typeface="Lexend"/>
              </a:rPr>
              <a:t>email automatiche</a:t>
            </a:r>
            <a:r>
              <a:rPr lang="it" sz="1620">
                <a:latin typeface="Lexend"/>
                <a:ea typeface="Lexend"/>
                <a:cs typeface="Lexend"/>
                <a:sym typeface="Lexend"/>
              </a:rPr>
              <a:t> per fare “nurturing” ovvero nutrimento, consapevolizzazione e chiamate all’azione da parte del contatto.</a:t>
            </a:r>
            <a:endParaRPr sz="1620">
              <a:latin typeface="Lexend"/>
              <a:ea typeface="Lexend"/>
              <a:cs typeface="Lexend"/>
              <a:sym typeface="Lexen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10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12" name="Google Shape;1512;p109"/>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513" name="Google Shape;1513;p10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514" name="Google Shape;1514;p109"/>
          <p:cNvSpPr txBox="1"/>
          <p:nvPr>
            <p:ph type="title"/>
          </p:nvPr>
        </p:nvSpPr>
        <p:spPr>
          <a:xfrm>
            <a:off x="918850" y="1122725"/>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5: Chiamata Prenotata </a:t>
            </a:r>
            <a:r>
              <a:rPr lang="it" sz="1820">
                <a:highlight>
                  <a:srgbClr val="B6D7A8"/>
                </a:highlight>
                <a:latin typeface="Lexend"/>
                <a:ea typeface="Lexend"/>
                <a:cs typeface="Lexend"/>
                <a:sym typeface="Lexend"/>
              </a:rPr>
              <a:t>(dal contatto)</a:t>
            </a:r>
            <a:endParaRPr sz="1220">
              <a:highlight>
                <a:srgbClr val="B6D7A8"/>
              </a:highlight>
              <a:latin typeface="Lexend"/>
              <a:ea typeface="Lexend"/>
              <a:cs typeface="Lexend"/>
              <a:sym typeface="Lexend"/>
            </a:endParaRPr>
          </a:p>
        </p:txBody>
      </p:sp>
      <p:sp>
        <p:nvSpPr>
          <p:cNvPr id="1515" name="Google Shape;1515;p10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516" name="Google Shape;1516;p109"/>
          <p:cNvSpPr txBox="1"/>
          <p:nvPr>
            <p:ph type="title"/>
          </p:nvPr>
        </p:nvSpPr>
        <p:spPr>
          <a:xfrm>
            <a:off x="521425" y="2176375"/>
            <a:ext cx="8146500" cy="2154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a:t>
            </a:r>
            <a:r>
              <a:rPr b="1" lang="it" sz="1620">
                <a:latin typeface="Lexend"/>
                <a:ea typeface="Lexend"/>
                <a:cs typeface="Lexend"/>
                <a:sym typeface="Lexend"/>
              </a:rPr>
              <a:t>saranno spostati</a:t>
            </a:r>
            <a:r>
              <a:rPr lang="it" sz="1620">
                <a:latin typeface="Lexend"/>
                <a:ea typeface="Lexend"/>
                <a:cs typeface="Lexend"/>
                <a:sym typeface="Lexend"/>
              </a:rPr>
              <a:t> in modo </a:t>
            </a:r>
            <a:r>
              <a:rPr b="1" lang="it" sz="1620">
                <a:latin typeface="Lexend"/>
                <a:ea typeface="Lexend"/>
                <a:cs typeface="Lexend"/>
                <a:sym typeface="Lexend"/>
              </a:rPr>
              <a:t>AUTOMATICO</a:t>
            </a:r>
            <a:r>
              <a:rPr lang="it" sz="1620">
                <a:latin typeface="Lexend"/>
                <a:ea typeface="Lexend"/>
                <a:cs typeface="Lexend"/>
                <a:sym typeface="Lexend"/>
              </a:rPr>
              <a:t> i lead che hanno risposto positivamente al nurturing della fase precedente.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Avranno quindi risposto ad una chiamata all’azione </a:t>
            </a:r>
            <a:r>
              <a:rPr b="1" lang="it" sz="1620">
                <a:latin typeface="Lexend"/>
                <a:ea typeface="Lexend"/>
                <a:cs typeface="Lexend"/>
                <a:sym typeface="Lexend"/>
              </a:rPr>
              <a:t>prenotando un appuntamento con un consulente dedicato</a:t>
            </a:r>
            <a:r>
              <a:rPr lang="it" sz="1620">
                <a:latin typeface="Lexend"/>
                <a:ea typeface="Lexend"/>
                <a:cs typeface="Lexend"/>
                <a:sym typeface="Lexend"/>
              </a:rPr>
              <a:t> (che siete voi).</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Vi troverete un appuntamento creato nel vostro calendario, lo andrete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poi a gestire e fare poi l’appuntamento vero e proprio.</a:t>
            </a:r>
            <a:endParaRPr sz="1620">
              <a:latin typeface="Lexend"/>
              <a:ea typeface="Lexend"/>
              <a:cs typeface="Lexend"/>
              <a:sym typeface="Lexen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11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22" name="Google Shape;1522;p11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523" name="Google Shape;1523;p11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524" name="Google Shape;1524;p110"/>
          <p:cNvSpPr txBox="1"/>
          <p:nvPr>
            <p:ph type="title"/>
          </p:nvPr>
        </p:nvSpPr>
        <p:spPr>
          <a:xfrm>
            <a:off x="918850" y="982675"/>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6: App. Fissato </a:t>
            </a:r>
            <a:r>
              <a:rPr lang="it" sz="1820">
                <a:highlight>
                  <a:srgbClr val="B6D7A8"/>
                </a:highlight>
                <a:latin typeface="Lexend"/>
                <a:ea typeface="Lexend"/>
                <a:cs typeface="Lexend"/>
                <a:sym typeface="Lexend"/>
              </a:rPr>
              <a:t>(dal commerciale)</a:t>
            </a:r>
            <a:endParaRPr sz="1220">
              <a:highlight>
                <a:srgbClr val="B6D7A8"/>
              </a:highlight>
              <a:latin typeface="Lexend"/>
              <a:ea typeface="Lexend"/>
              <a:cs typeface="Lexend"/>
              <a:sym typeface="Lexend"/>
            </a:endParaRPr>
          </a:p>
        </p:txBody>
      </p:sp>
      <p:sp>
        <p:nvSpPr>
          <p:cNvPr id="1525" name="Google Shape;1525;p11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526" name="Google Shape;1526;p110"/>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7" name="Google Shape;1527;p110"/>
          <p:cNvSpPr txBox="1"/>
          <p:nvPr>
            <p:ph type="title"/>
          </p:nvPr>
        </p:nvSpPr>
        <p:spPr>
          <a:xfrm>
            <a:off x="521425" y="1663325"/>
            <a:ext cx="8146500" cy="3056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sposterete i lead che hanno risposto alla vostra chiamata iniziale e che hanno dato disponibilità ad un sopralluogo ed è stato fissato l’incontro.</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1- Con l’appuntamento fissato, </a:t>
            </a:r>
            <a:r>
              <a:rPr b="1" lang="it" sz="1620" u="sng">
                <a:latin typeface="Lexend"/>
                <a:ea typeface="Lexend"/>
                <a:cs typeface="Lexend"/>
                <a:sym typeface="Lexend"/>
              </a:rPr>
              <a:t>andare sulla voce “note”</a:t>
            </a:r>
            <a:r>
              <a:rPr lang="it" sz="1620">
                <a:latin typeface="Lexend"/>
                <a:ea typeface="Lexend"/>
                <a:cs typeface="Lexend"/>
                <a:sym typeface="Lexend"/>
              </a:rPr>
              <a:t> e inserire i dati indirizzo cliente e il giorno dell’appuntamento. </a:t>
            </a:r>
            <a:r>
              <a:rPr i="1" lang="it" sz="1620">
                <a:latin typeface="Lexend"/>
                <a:ea typeface="Lexend"/>
                <a:cs typeface="Lexend"/>
                <a:sym typeface="Lexend"/>
              </a:rPr>
              <a:t>(foto1)</a:t>
            </a:r>
            <a:endParaRPr i="1"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2- Aprire scheda lead, </a:t>
            </a:r>
            <a:r>
              <a:rPr b="1" lang="it" sz="1620" u="sng">
                <a:latin typeface="Lexend"/>
                <a:ea typeface="Lexend"/>
                <a:cs typeface="Lexend"/>
                <a:sym typeface="Lexend"/>
              </a:rPr>
              <a:t>andare sulla voce “prenota/aggiorna appuntamento”</a:t>
            </a:r>
            <a:r>
              <a:rPr lang="it" sz="1620">
                <a:latin typeface="Lexend"/>
                <a:ea typeface="Lexend"/>
                <a:cs typeface="Lexend"/>
                <a:sym typeface="Lexend"/>
              </a:rPr>
              <a:t> e compilare i dati: </a:t>
            </a:r>
            <a:r>
              <a:rPr lang="it" sz="1420">
                <a:latin typeface="Lexend"/>
                <a:ea typeface="Lexend"/>
                <a:cs typeface="Lexend"/>
                <a:sym typeface="Lexend"/>
              </a:rPr>
              <a:t>selezionare “valutazione e consulenza gratuita” in calendario, il giorno, fascia oraria, luogo (indirizzo completo) e titolo “Valutazione </a:t>
            </a:r>
            <a:r>
              <a:rPr lang="it" sz="1420">
                <a:latin typeface="Lexend"/>
                <a:ea typeface="Lexend"/>
                <a:cs typeface="Lexend"/>
                <a:sym typeface="Lexend"/>
              </a:rPr>
              <a:t>Impianto</a:t>
            </a:r>
            <a:r>
              <a:rPr lang="it" sz="1420">
                <a:latin typeface="Lexend"/>
                <a:ea typeface="Lexend"/>
                <a:cs typeface="Lexend"/>
                <a:sym typeface="Lexend"/>
              </a:rPr>
              <a:t> - EKO Srl” poi premere “prenota appuntamento”.</a:t>
            </a:r>
            <a:r>
              <a:rPr lang="it" sz="1620">
                <a:latin typeface="Lexend"/>
                <a:ea typeface="Lexend"/>
                <a:cs typeface="Lexend"/>
                <a:sym typeface="Lexend"/>
              </a:rPr>
              <a:t> </a:t>
            </a:r>
            <a:r>
              <a:rPr i="1" lang="it" sz="1620">
                <a:latin typeface="Lexend"/>
                <a:ea typeface="Lexend"/>
                <a:cs typeface="Lexend"/>
                <a:sym typeface="Lexend"/>
              </a:rPr>
              <a:t>(foto2)</a:t>
            </a:r>
            <a:endParaRPr i="1" sz="1620">
              <a:latin typeface="Lexend"/>
              <a:ea typeface="Lexend"/>
              <a:cs typeface="Lexend"/>
              <a:sym typeface="Lexen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pic>
        <p:nvPicPr>
          <p:cNvPr id="1532" name="Google Shape;1532;p111"/>
          <p:cNvPicPr preferRelativeResize="0"/>
          <p:nvPr/>
        </p:nvPicPr>
        <p:blipFill rotWithShape="1">
          <a:blip r:embed="rId3">
            <a:alphaModFix/>
          </a:blip>
          <a:srcRect b="27990" l="0" r="0" t="0"/>
          <a:stretch/>
        </p:blipFill>
        <p:spPr>
          <a:xfrm>
            <a:off x="3050009" y="999650"/>
            <a:ext cx="5611940" cy="3649238"/>
          </a:xfrm>
          <a:prstGeom prst="rect">
            <a:avLst/>
          </a:prstGeom>
          <a:noFill/>
          <a:ln>
            <a:noFill/>
          </a:ln>
        </p:spPr>
      </p:pic>
      <p:sp>
        <p:nvSpPr>
          <p:cNvPr id="1533" name="Google Shape;1533;p111"/>
          <p:cNvSpPr/>
          <p:nvPr/>
        </p:nvSpPr>
        <p:spPr>
          <a:xfrm>
            <a:off x="2933325" y="937400"/>
            <a:ext cx="58614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4" name="Google Shape;1534;p11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35" name="Google Shape;1535;p111"/>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536" name="Google Shape;1536;p11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537" name="Google Shape;1537;p111"/>
          <p:cNvSpPr txBox="1"/>
          <p:nvPr>
            <p:ph type="title"/>
          </p:nvPr>
        </p:nvSpPr>
        <p:spPr>
          <a:xfrm>
            <a:off x="1911300" y="67700"/>
            <a:ext cx="53214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6: App. Fissato (dal commerciale) - Modifica NOTE da Desktop</a:t>
            </a:r>
            <a:endParaRPr sz="1100">
              <a:highlight>
                <a:srgbClr val="B6D7A8"/>
              </a:highlight>
              <a:latin typeface="Lexend"/>
              <a:ea typeface="Lexend"/>
              <a:cs typeface="Lexend"/>
              <a:sym typeface="Lexend"/>
            </a:endParaRPr>
          </a:p>
        </p:txBody>
      </p:sp>
      <p:sp>
        <p:nvSpPr>
          <p:cNvPr id="1538" name="Google Shape;1538;p111"/>
          <p:cNvSpPr txBox="1"/>
          <p:nvPr>
            <p:ph idx="4294967295" type="subTitle"/>
          </p:nvPr>
        </p:nvSpPr>
        <p:spPr>
          <a:xfrm>
            <a:off x="1123914" y="158450"/>
            <a:ext cx="6153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539" name="Google Shape;1539;p111"/>
          <p:cNvSpPr/>
          <p:nvPr/>
        </p:nvSpPr>
        <p:spPr>
          <a:xfrm>
            <a:off x="6155700" y="1891175"/>
            <a:ext cx="8055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0" name="Google Shape;1540;p111"/>
          <p:cNvSpPr/>
          <p:nvPr/>
        </p:nvSpPr>
        <p:spPr>
          <a:xfrm>
            <a:off x="3137075" y="2402950"/>
            <a:ext cx="8055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1" name="Google Shape;1541;p111"/>
          <p:cNvSpPr/>
          <p:nvPr/>
        </p:nvSpPr>
        <p:spPr>
          <a:xfrm>
            <a:off x="4544500" y="2256025"/>
            <a:ext cx="1947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2" name="Google Shape;1542;p111"/>
          <p:cNvSpPr/>
          <p:nvPr/>
        </p:nvSpPr>
        <p:spPr>
          <a:xfrm>
            <a:off x="4544500" y="3052150"/>
            <a:ext cx="1947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3" name="Google Shape;1543;p111"/>
          <p:cNvSpPr txBox="1"/>
          <p:nvPr>
            <p:ph type="title"/>
          </p:nvPr>
        </p:nvSpPr>
        <p:spPr>
          <a:xfrm>
            <a:off x="6492100" y="3052150"/>
            <a:ext cx="14064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DATA E ORA</a:t>
            </a:r>
            <a:endParaRPr b="1" sz="1020">
              <a:solidFill>
                <a:srgbClr val="FF0000"/>
              </a:solidFill>
              <a:latin typeface="Oswald"/>
              <a:ea typeface="Oswald"/>
              <a:cs typeface="Oswald"/>
              <a:sym typeface="Oswald"/>
            </a:endParaRPr>
          </a:p>
        </p:txBody>
      </p:sp>
      <p:sp>
        <p:nvSpPr>
          <p:cNvPr id="1544" name="Google Shape;1544;p111"/>
          <p:cNvSpPr txBox="1"/>
          <p:nvPr>
            <p:ph type="title"/>
          </p:nvPr>
        </p:nvSpPr>
        <p:spPr>
          <a:xfrm>
            <a:off x="6492100" y="2256025"/>
            <a:ext cx="14064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LUOGO</a:t>
            </a:r>
            <a:endParaRPr b="1" sz="1020">
              <a:solidFill>
                <a:srgbClr val="FF0000"/>
              </a:solidFill>
              <a:latin typeface="Oswald"/>
              <a:ea typeface="Oswald"/>
              <a:cs typeface="Oswald"/>
              <a:sym typeface="Oswald"/>
            </a:endParaRPr>
          </a:p>
        </p:txBody>
      </p:sp>
      <p:sp>
        <p:nvSpPr>
          <p:cNvPr id="1545" name="Google Shape;1545;p111"/>
          <p:cNvSpPr txBox="1"/>
          <p:nvPr>
            <p:ph type="title"/>
          </p:nvPr>
        </p:nvSpPr>
        <p:spPr>
          <a:xfrm>
            <a:off x="6961200" y="1891175"/>
            <a:ext cx="14064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NUOVA NOTA</a:t>
            </a:r>
            <a:endParaRPr b="1" sz="1020">
              <a:solidFill>
                <a:srgbClr val="FF0000"/>
              </a:solidFill>
              <a:latin typeface="Oswald"/>
              <a:ea typeface="Oswald"/>
              <a:cs typeface="Oswald"/>
              <a:sym typeface="Oswald"/>
            </a:endParaRPr>
          </a:p>
        </p:txBody>
      </p:sp>
      <p:pic>
        <p:nvPicPr>
          <p:cNvPr id="1546" name="Google Shape;1546;p111"/>
          <p:cNvPicPr preferRelativeResize="0"/>
          <p:nvPr/>
        </p:nvPicPr>
        <p:blipFill>
          <a:blip r:embed="rId5">
            <a:alphaModFix/>
          </a:blip>
          <a:stretch>
            <a:fillRect/>
          </a:stretch>
        </p:blipFill>
        <p:spPr>
          <a:xfrm>
            <a:off x="555200" y="2371663"/>
            <a:ext cx="1792925" cy="833775"/>
          </a:xfrm>
          <a:prstGeom prst="rect">
            <a:avLst/>
          </a:prstGeom>
          <a:noFill/>
          <a:ln>
            <a:noFill/>
          </a:ln>
        </p:spPr>
      </p:pic>
      <p:cxnSp>
        <p:nvCxnSpPr>
          <p:cNvPr id="1547" name="Google Shape;1547;p111"/>
          <p:cNvCxnSpPr>
            <a:stCxn id="1546" idx="3"/>
            <a:endCxn id="1533" idx="1"/>
          </p:cNvCxnSpPr>
          <p:nvPr/>
        </p:nvCxnSpPr>
        <p:spPr>
          <a:xfrm flipH="1" rot="10800000">
            <a:off x="2348125" y="2784650"/>
            <a:ext cx="585300" cy="3900"/>
          </a:xfrm>
          <a:prstGeom prst="straightConnector1">
            <a:avLst/>
          </a:prstGeom>
          <a:noFill/>
          <a:ln cap="flat" cmpd="sng" w="9525">
            <a:solidFill>
              <a:schemeClr val="dk2"/>
            </a:solidFill>
            <a:prstDash val="dash"/>
            <a:round/>
            <a:headEnd len="med" w="med" type="none"/>
            <a:tailEnd len="med" w="med" type="triangle"/>
          </a:ln>
        </p:spPr>
      </p:cxnSp>
      <p:sp>
        <p:nvSpPr>
          <p:cNvPr id="1548" name="Google Shape;1548;p111"/>
          <p:cNvSpPr/>
          <p:nvPr/>
        </p:nvSpPr>
        <p:spPr>
          <a:xfrm>
            <a:off x="1360025" y="2997163"/>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49" name="Google Shape;1549;p111"/>
          <p:cNvPicPr preferRelativeResize="0"/>
          <p:nvPr/>
        </p:nvPicPr>
        <p:blipFill>
          <a:blip r:embed="rId6">
            <a:alphaModFix/>
          </a:blip>
          <a:stretch>
            <a:fillRect/>
          </a:stretch>
        </p:blipFill>
        <p:spPr>
          <a:xfrm>
            <a:off x="1845450" y="2867562"/>
            <a:ext cx="502675" cy="502675"/>
          </a:xfrm>
          <a:prstGeom prst="rect">
            <a:avLst/>
          </a:prstGeom>
          <a:noFill/>
          <a:ln>
            <a:noFill/>
          </a:ln>
        </p:spPr>
      </p:pic>
      <p:sp>
        <p:nvSpPr>
          <p:cNvPr id="1550" name="Google Shape;1550;p111"/>
          <p:cNvSpPr/>
          <p:nvPr/>
        </p:nvSpPr>
        <p:spPr>
          <a:xfrm>
            <a:off x="555275" y="2365013"/>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1" name="Google Shape;1551;p111"/>
          <p:cNvSpPr txBox="1"/>
          <p:nvPr>
            <p:ph type="title"/>
          </p:nvPr>
        </p:nvSpPr>
        <p:spPr>
          <a:xfrm>
            <a:off x="479963" y="20713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CLICCARE SUL LEAD</a:t>
            </a:r>
            <a:endParaRPr b="1" sz="1020">
              <a:solidFill>
                <a:srgbClr val="FF0000"/>
              </a:solidFill>
              <a:latin typeface="Oswald"/>
              <a:ea typeface="Oswald"/>
              <a:cs typeface="Oswald"/>
              <a:sym typeface="Oswa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p11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57" name="Google Shape;1557;p11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558" name="Google Shape;1558;p11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559" name="Google Shape;1559;p11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1560" name="Google Shape;1560;p112"/>
          <p:cNvPicPr preferRelativeResize="0"/>
          <p:nvPr/>
        </p:nvPicPr>
        <p:blipFill rotWithShape="1">
          <a:blip r:embed="rId4">
            <a:alphaModFix/>
          </a:blip>
          <a:srcRect b="20255" l="0" r="0" t="0"/>
          <a:stretch/>
        </p:blipFill>
        <p:spPr>
          <a:xfrm>
            <a:off x="326700" y="1088887"/>
            <a:ext cx="2039525" cy="3409126"/>
          </a:xfrm>
          <a:prstGeom prst="rect">
            <a:avLst/>
          </a:prstGeom>
          <a:noFill/>
          <a:ln cap="flat" cmpd="sng" w="9525">
            <a:solidFill>
              <a:schemeClr val="dk1"/>
            </a:solidFill>
            <a:prstDash val="solid"/>
            <a:round/>
            <a:headEnd len="sm" w="sm" type="none"/>
            <a:tailEnd len="sm" w="sm" type="none"/>
          </a:ln>
        </p:spPr>
      </p:pic>
      <p:sp>
        <p:nvSpPr>
          <p:cNvPr id="1561" name="Google Shape;1561;p112"/>
          <p:cNvSpPr/>
          <p:nvPr/>
        </p:nvSpPr>
        <p:spPr>
          <a:xfrm>
            <a:off x="416527" y="2286511"/>
            <a:ext cx="1572600" cy="958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62" name="Google Shape;1562;p112"/>
          <p:cNvPicPr preferRelativeResize="0"/>
          <p:nvPr/>
        </p:nvPicPr>
        <p:blipFill>
          <a:blip r:embed="rId5">
            <a:alphaModFix/>
          </a:blip>
          <a:stretch>
            <a:fillRect/>
          </a:stretch>
        </p:blipFill>
        <p:spPr>
          <a:xfrm>
            <a:off x="1779136" y="2601090"/>
            <a:ext cx="396955" cy="384740"/>
          </a:xfrm>
          <a:prstGeom prst="rect">
            <a:avLst/>
          </a:prstGeom>
          <a:noFill/>
          <a:ln>
            <a:noFill/>
          </a:ln>
        </p:spPr>
      </p:pic>
      <p:pic>
        <p:nvPicPr>
          <p:cNvPr id="1563" name="Google Shape;1563;p112"/>
          <p:cNvPicPr preferRelativeResize="0"/>
          <p:nvPr/>
        </p:nvPicPr>
        <p:blipFill rotWithShape="1">
          <a:blip r:embed="rId6">
            <a:alphaModFix/>
          </a:blip>
          <a:srcRect b="22708" l="0" r="0" t="0"/>
          <a:stretch/>
        </p:blipFill>
        <p:spPr>
          <a:xfrm>
            <a:off x="2477062" y="1088887"/>
            <a:ext cx="2039525" cy="3409126"/>
          </a:xfrm>
          <a:prstGeom prst="rect">
            <a:avLst/>
          </a:prstGeom>
          <a:noFill/>
          <a:ln cap="flat" cmpd="sng" w="9525">
            <a:solidFill>
              <a:schemeClr val="dk1"/>
            </a:solidFill>
            <a:prstDash val="solid"/>
            <a:round/>
            <a:headEnd len="sm" w="sm" type="none"/>
            <a:tailEnd len="sm" w="sm" type="none"/>
          </a:ln>
        </p:spPr>
      </p:pic>
      <p:pic>
        <p:nvPicPr>
          <p:cNvPr id="1564" name="Google Shape;1564;p112"/>
          <p:cNvPicPr preferRelativeResize="0"/>
          <p:nvPr/>
        </p:nvPicPr>
        <p:blipFill rotWithShape="1">
          <a:blip r:embed="rId7">
            <a:alphaModFix/>
          </a:blip>
          <a:srcRect b="22708" l="0" r="0" t="0"/>
          <a:stretch/>
        </p:blipFill>
        <p:spPr>
          <a:xfrm>
            <a:off x="4627424" y="1088887"/>
            <a:ext cx="2039525" cy="3409126"/>
          </a:xfrm>
          <a:prstGeom prst="rect">
            <a:avLst/>
          </a:prstGeom>
          <a:noFill/>
          <a:ln cap="flat" cmpd="sng" w="9525">
            <a:solidFill>
              <a:schemeClr val="dk1"/>
            </a:solidFill>
            <a:prstDash val="solid"/>
            <a:round/>
            <a:headEnd len="sm" w="sm" type="none"/>
            <a:tailEnd len="sm" w="sm" type="none"/>
          </a:ln>
        </p:spPr>
      </p:pic>
      <p:pic>
        <p:nvPicPr>
          <p:cNvPr id="1565" name="Google Shape;1565;p112"/>
          <p:cNvPicPr preferRelativeResize="0"/>
          <p:nvPr/>
        </p:nvPicPr>
        <p:blipFill rotWithShape="1">
          <a:blip r:embed="rId8">
            <a:alphaModFix/>
          </a:blip>
          <a:srcRect b="22708" l="0" r="0" t="0"/>
          <a:stretch/>
        </p:blipFill>
        <p:spPr>
          <a:xfrm>
            <a:off x="6777774" y="1088887"/>
            <a:ext cx="2039525" cy="3409126"/>
          </a:xfrm>
          <a:prstGeom prst="rect">
            <a:avLst/>
          </a:prstGeom>
          <a:noFill/>
          <a:ln cap="flat" cmpd="sng" w="9525">
            <a:solidFill>
              <a:schemeClr val="dk1"/>
            </a:solidFill>
            <a:prstDash val="solid"/>
            <a:round/>
            <a:headEnd len="sm" w="sm" type="none"/>
            <a:tailEnd len="sm" w="sm" type="none"/>
          </a:ln>
        </p:spPr>
      </p:pic>
      <p:pic>
        <p:nvPicPr>
          <p:cNvPr id="1566" name="Google Shape;1566;p112"/>
          <p:cNvPicPr preferRelativeResize="0"/>
          <p:nvPr/>
        </p:nvPicPr>
        <p:blipFill>
          <a:blip r:embed="rId9">
            <a:alphaModFix/>
          </a:blip>
          <a:stretch>
            <a:fillRect/>
          </a:stretch>
        </p:blipFill>
        <p:spPr>
          <a:xfrm>
            <a:off x="8051222" y="3701447"/>
            <a:ext cx="670450" cy="712800"/>
          </a:xfrm>
          <a:prstGeom prst="rect">
            <a:avLst/>
          </a:prstGeom>
          <a:noFill/>
          <a:ln>
            <a:noFill/>
          </a:ln>
        </p:spPr>
      </p:pic>
      <p:sp>
        <p:nvSpPr>
          <p:cNvPr id="1567" name="Google Shape;1567;p112"/>
          <p:cNvSpPr/>
          <p:nvPr/>
        </p:nvSpPr>
        <p:spPr>
          <a:xfrm>
            <a:off x="2521975" y="1612950"/>
            <a:ext cx="1943400" cy="420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68" name="Google Shape;1568;p112"/>
          <p:cNvPicPr preferRelativeResize="0"/>
          <p:nvPr/>
        </p:nvPicPr>
        <p:blipFill>
          <a:blip r:embed="rId5">
            <a:alphaModFix/>
          </a:blip>
          <a:stretch>
            <a:fillRect/>
          </a:stretch>
        </p:blipFill>
        <p:spPr>
          <a:xfrm>
            <a:off x="3883177" y="1878073"/>
            <a:ext cx="320150" cy="310275"/>
          </a:xfrm>
          <a:prstGeom prst="rect">
            <a:avLst/>
          </a:prstGeom>
          <a:noFill/>
          <a:ln>
            <a:noFill/>
          </a:ln>
        </p:spPr>
      </p:pic>
      <p:sp>
        <p:nvSpPr>
          <p:cNvPr id="1569" name="Google Shape;1569;p112"/>
          <p:cNvSpPr/>
          <p:nvPr/>
        </p:nvSpPr>
        <p:spPr>
          <a:xfrm>
            <a:off x="5146350" y="1527225"/>
            <a:ext cx="426600" cy="310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70" name="Google Shape;1570;p112"/>
          <p:cNvPicPr preferRelativeResize="0"/>
          <p:nvPr/>
        </p:nvPicPr>
        <p:blipFill>
          <a:blip r:embed="rId5">
            <a:alphaModFix/>
          </a:blip>
          <a:stretch>
            <a:fillRect/>
          </a:stretch>
        </p:blipFill>
        <p:spPr>
          <a:xfrm>
            <a:off x="5423302" y="1667811"/>
            <a:ext cx="320150" cy="310275"/>
          </a:xfrm>
          <a:prstGeom prst="rect">
            <a:avLst/>
          </a:prstGeom>
          <a:noFill/>
          <a:ln>
            <a:noFill/>
          </a:ln>
        </p:spPr>
      </p:pic>
      <p:sp>
        <p:nvSpPr>
          <p:cNvPr id="1571" name="Google Shape;1571;p112"/>
          <p:cNvSpPr/>
          <p:nvPr/>
        </p:nvSpPr>
        <p:spPr>
          <a:xfrm>
            <a:off x="6829000" y="1823223"/>
            <a:ext cx="1943400" cy="365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2" name="Google Shape;1572;p112"/>
          <p:cNvSpPr/>
          <p:nvPr/>
        </p:nvSpPr>
        <p:spPr>
          <a:xfrm>
            <a:off x="8127050" y="3816050"/>
            <a:ext cx="616800" cy="598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3" name="Google Shape;1573;p112"/>
          <p:cNvSpPr txBox="1"/>
          <p:nvPr>
            <p:ph type="title"/>
          </p:nvPr>
        </p:nvSpPr>
        <p:spPr>
          <a:xfrm>
            <a:off x="6829013" y="3343150"/>
            <a:ext cx="19434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CREA NUOVA NOTA</a:t>
            </a:r>
            <a:endParaRPr b="1" sz="1020">
              <a:solidFill>
                <a:srgbClr val="FF0000"/>
              </a:solidFill>
              <a:latin typeface="Oswald"/>
              <a:ea typeface="Oswald"/>
              <a:cs typeface="Oswald"/>
              <a:sym typeface="Oswald"/>
            </a:endParaRPr>
          </a:p>
        </p:txBody>
      </p:sp>
      <p:cxnSp>
        <p:nvCxnSpPr>
          <p:cNvPr id="1574" name="Google Shape;1574;p112"/>
          <p:cNvCxnSpPr>
            <a:stCxn id="1573" idx="2"/>
          </p:cNvCxnSpPr>
          <p:nvPr/>
        </p:nvCxnSpPr>
        <p:spPr>
          <a:xfrm>
            <a:off x="7800713" y="3556450"/>
            <a:ext cx="236400" cy="173100"/>
          </a:xfrm>
          <a:prstGeom prst="straightConnector1">
            <a:avLst/>
          </a:prstGeom>
          <a:noFill/>
          <a:ln cap="flat" cmpd="sng" w="9525">
            <a:solidFill>
              <a:schemeClr val="dk2"/>
            </a:solidFill>
            <a:prstDash val="solid"/>
            <a:round/>
            <a:headEnd len="med" w="med" type="none"/>
            <a:tailEnd len="med" w="med" type="triangle"/>
          </a:ln>
        </p:spPr>
      </p:cxnSp>
      <p:sp>
        <p:nvSpPr>
          <p:cNvPr id="1575" name="Google Shape;1575;p112"/>
          <p:cNvSpPr txBox="1"/>
          <p:nvPr>
            <p:ph type="title"/>
          </p:nvPr>
        </p:nvSpPr>
        <p:spPr>
          <a:xfrm>
            <a:off x="1911300" y="67700"/>
            <a:ext cx="53214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6: App. Fissato (dal commerciale) - Modifica NOTE da Mobile</a:t>
            </a:r>
            <a:endParaRPr sz="1100">
              <a:highlight>
                <a:srgbClr val="B6D7A8"/>
              </a:highlight>
              <a:latin typeface="Lexend"/>
              <a:ea typeface="Lexend"/>
              <a:cs typeface="Lexend"/>
              <a:sym typeface="Lexend"/>
            </a:endParaRPr>
          </a:p>
        </p:txBody>
      </p:sp>
      <p:sp>
        <p:nvSpPr>
          <p:cNvPr id="1576" name="Google Shape;1576;p112"/>
          <p:cNvSpPr txBox="1"/>
          <p:nvPr>
            <p:ph type="title"/>
          </p:nvPr>
        </p:nvSpPr>
        <p:spPr>
          <a:xfrm>
            <a:off x="374763"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APRO IL CONTATTO</a:t>
            </a:r>
            <a:endParaRPr b="1" sz="1020">
              <a:latin typeface="Oswald"/>
              <a:ea typeface="Oswald"/>
              <a:cs typeface="Oswald"/>
              <a:sym typeface="Oswald"/>
            </a:endParaRPr>
          </a:p>
        </p:txBody>
      </p:sp>
      <p:sp>
        <p:nvSpPr>
          <p:cNvPr id="1577" name="Google Shape;1577;p112"/>
          <p:cNvSpPr txBox="1"/>
          <p:nvPr>
            <p:ph type="title"/>
          </p:nvPr>
        </p:nvSpPr>
        <p:spPr>
          <a:xfrm>
            <a:off x="2521975"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VADO IN ANAGRAFICA</a:t>
            </a:r>
            <a:endParaRPr b="1" sz="1020">
              <a:latin typeface="Oswald"/>
              <a:ea typeface="Oswald"/>
              <a:cs typeface="Oswald"/>
              <a:sym typeface="Oswald"/>
            </a:endParaRPr>
          </a:p>
        </p:txBody>
      </p:sp>
      <p:sp>
        <p:nvSpPr>
          <p:cNvPr id="1578" name="Google Shape;1578;p112"/>
          <p:cNvSpPr txBox="1"/>
          <p:nvPr>
            <p:ph type="title"/>
          </p:nvPr>
        </p:nvSpPr>
        <p:spPr>
          <a:xfrm>
            <a:off x="4675488"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APRO LE NOTE</a:t>
            </a:r>
            <a:endParaRPr b="1" sz="1020">
              <a:latin typeface="Oswald"/>
              <a:ea typeface="Oswald"/>
              <a:cs typeface="Oswald"/>
              <a:sym typeface="Oswald"/>
            </a:endParaRPr>
          </a:p>
        </p:txBody>
      </p:sp>
      <p:sp>
        <p:nvSpPr>
          <p:cNvPr id="1579" name="Google Shape;1579;p112"/>
          <p:cNvSpPr txBox="1"/>
          <p:nvPr>
            <p:ph type="title"/>
          </p:nvPr>
        </p:nvSpPr>
        <p:spPr>
          <a:xfrm>
            <a:off x="6829013"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VEDO/CREO LE NOTE</a:t>
            </a:r>
            <a:endParaRPr b="1" sz="1020">
              <a:latin typeface="Oswald"/>
              <a:ea typeface="Oswald"/>
              <a:cs typeface="Oswald"/>
              <a:sym typeface="Oswald"/>
            </a:endParaRPr>
          </a:p>
        </p:txBody>
      </p:sp>
      <p:sp>
        <p:nvSpPr>
          <p:cNvPr id="1580" name="Google Shape;1580;p112"/>
          <p:cNvSpPr/>
          <p:nvPr/>
        </p:nvSpPr>
        <p:spPr>
          <a:xfrm>
            <a:off x="2209275" y="4622250"/>
            <a:ext cx="426600" cy="873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81" name="Google Shape;1581;p112"/>
          <p:cNvSpPr/>
          <p:nvPr/>
        </p:nvSpPr>
        <p:spPr>
          <a:xfrm>
            <a:off x="4360300" y="4622250"/>
            <a:ext cx="426600" cy="873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82" name="Google Shape;1582;p112"/>
          <p:cNvSpPr/>
          <p:nvPr/>
        </p:nvSpPr>
        <p:spPr>
          <a:xfrm>
            <a:off x="6511325" y="4622250"/>
            <a:ext cx="426600" cy="873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113"/>
          <p:cNvSpPr/>
          <p:nvPr/>
        </p:nvSpPr>
        <p:spPr>
          <a:xfrm>
            <a:off x="2933325" y="937400"/>
            <a:ext cx="58614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8" name="Google Shape;1588;p11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89" name="Google Shape;1589;p11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590" name="Google Shape;1590;p11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591" name="Google Shape;1591;p11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1592" name="Google Shape;1592;p113"/>
          <p:cNvPicPr preferRelativeResize="0"/>
          <p:nvPr/>
        </p:nvPicPr>
        <p:blipFill>
          <a:blip r:embed="rId4">
            <a:alphaModFix/>
          </a:blip>
          <a:stretch>
            <a:fillRect/>
          </a:stretch>
        </p:blipFill>
        <p:spPr>
          <a:xfrm>
            <a:off x="2965742" y="1016575"/>
            <a:ext cx="5771756" cy="3536138"/>
          </a:xfrm>
          <a:prstGeom prst="rect">
            <a:avLst/>
          </a:prstGeom>
          <a:noFill/>
          <a:ln>
            <a:noFill/>
          </a:ln>
        </p:spPr>
      </p:pic>
      <p:sp>
        <p:nvSpPr>
          <p:cNvPr id="1593" name="Google Shape;1593;p113"/>
          <p:cNvSpPr/>
          <p:nvPr/>
        </p:nvSpPr>
        <p:spPr>
          <a:xfrm>
            <a:off x="3062025" y="1973500"/>
            <a:ext cx="805500" cy="332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4" name="Google Shape;1594;p113"/>
          <p:cNvSpPr/>
          <p:nvPr/>
        </p:nvSpPr>
        <p:spPr>
          <a:xfrm>
            <a:off x="4421275" y="2092600"/>
            <a:ext cx="1947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5" name="Google Shape;1595;p113"/>
          <p:cNvSpPr/>
          <p:nvPr/>
        </p:nvSpPr>
        <p:spPr>
          <a:xfrm>
            <a:off x="4421275" y="2613875"/>
            <a:ext cx="7440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6" name="Google Shape;1596;p113"/>
          <p:cNvSpPr/>
          <p:nvPr/>
        </p:nvSpPr>
        <p:spPr>
          <a:xfrm>
            <a:off x="6586925" y="2613875"/>
            <a:ext cx="7440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7" name="Google Shape;1597;p113"/>
          <p:cNvSpPr/>
          <p:nvPr/>
        </p:nvSpPr>
        <p:spPr>
          <a:xfrm>
            <a:off x="6586925" y="3173050"/>
            <a:ext cx="12072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8" name="Google Shape;1598;p113"/>
          <p:cNvSpPr/>
          <p:nvPr/>
        </p:nvSpPr>
        <p:spPr>
          <a:xfrm>
            <a:off x="4421275" y="3173050"/>
            <a:ext cx="20661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9" name="Google Shape;1599;p113"/>
          <p:cNvSpPr txBox="1"/>
          <p:nvPr>
            <p:ph type="title"/>
          </p:nvPr>
        </p:nvSpPr>
        <p:spPr>
          <a:xfrm>
            <a:off x="5165275" y="2613875"/>
            <a:ext cx="8277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DATA</a:t>
            </a:r>
            <a:endParaRPr b="1" sz="1020">
              <a:solidFill>
                <a:srgbClr val="FF0000"/>
              </a:solidFill>
              <a:latin typeface="Oswald"/>
              <a:ea typeface="Oswald"/>
              <a:cs typeface="Oswald"/>
              <a:sym typeface="Oswald"/>
            </a:endParaRPr>
          </a:p>
        </p:txBody>
      </p:sp>
      <p:sp>
        <p:nvSpPr>
          <p:cNvPr id="1600" name="Google Shape;1600;p113"/>
          <p:cNvSpPr txBox="1"/>
          <p:nvPr>
            <p:ph type="title"/>
          </p:nvPr>
        </p:nvSpPr>
        <p:spPr>
          <a:xfrm>
            <a:off x="7330925" y="2613875"/>
            <a:ext cx="8277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ORA</a:t>
            </a:r>
            <a:endParaRPr b="1" sz="1020">
              <a:solidFill>
                <a:srgbClr val="FF0000"/>
              </a:solidFill>
              <a:latin typeface="Oswald"/>
              <a:ea typeface="Oswald"/>
              <a:cs typeface="Oswald"/>
              <a:sym typeface="Oswald"/>
            </a:endParaRPr>
          </a:p>
        </p:txBody>
      </p:sp>
      <p:sp>
        <p:nvSpPr>
          <p:cNvPr id="1601" name="Google Shape;1601;p113"/>
          <p:cNvSpPr txBox="1"/>
          <p:nvPr>
            <p:ph type="title"/>
          </p:nvPr>
        </p:nvSpPr>
        <p:spPr>
          <a:xfrm>
            <a:off x="6368875" y="2092600"/>
            <a:ext cx="22020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 DA MENU A TENDINA</a:t>
            </a:r>
            <a:endParaRPr b="1" sz="1020">
              <a:solidFill>
                <a:srgbClr val="FF0000"/>
              </a:solidFill>
              <a:latin typeface="Oswald"/>
              <a:ea typeface="Oswald"/>
              <a:cs typeface="Oswald"/>
              <a:sym typeface="Oswald"/>
            </a:endParaRPr>
          </a:p>
        </p:txBody>
      </p:sp>
      <p:sp>
        <p:nvSpPr>
          <p:cNvPr id="1602" name="Google Shape;1602;p113"/>
          <p:cNvSpPr txBox="1"/>
          <p:nvPr>
            <p:ph type="title"/>
          </p:nvPr>
        </p:nvSpPr>
        <p:spPr>
          <a:xfrm>
            <a:off x="7794950" y="3173050"/>
            <a:ext cx="9999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TESTO DA SCRIVERE</a:t>
            </a:r>
            <a:endParaRPr b="1" sz="1020">
              <a:solidFill>
                <a:srgbClr val="FF0000"/>
              </a:solidFill>
              <a:latin typeface="Oswald"/>
              <a:ea typeface="Oswald"/>
              <a:cs typeface="Oswald"/>
              <a:sym typeface="Oswald"/>
            </a:endParaRPr>
          </a:p>
        </p:txBody>
      </p:sp>
      <p:sp>
        <p:nvSpPr>
          <p:cNvPr id="1603" name="Google Shape;1603;p113"/>
          <p:cNvSpPr txBox="1"/>
          <p:nvPr>
            <p:ph type="title"/>
          </p:nvPr>
        </p:nvSpPr>
        <p:spPr>
          <a:xfrm>
            <a:off x="4327925" y="3430750"/>
            <a:ext cx="9999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INDIRIZZO</a:t>
            </a:r>
            <a:endParaRPr b="1" sz="1020">
              <a:solidFill>
                <a:srgbClr val="FF0000"/>
              </a:solidFill>
              <a:latin typeface="Oswald"/>
              <a:ea typeface="Oswald"/>
              <a:cs typeface="Oswald"/>
              <a:sym typeface="Oswald"/>
            </a:endParaRPr>
          </a:p>
        </p:txBody>
      </p:sp>
      <p:sp>
        <p:nvSpPr>
          <p:cNvPr id="1604" name="Google Shape;1604;p113"/>
          <p:cNvSpPr/>
          <p:nvPr/>
        </p:nvSpPr>
        <p:spPr>
          <a:xfrm rot="2992005">
            <a:off x="7418051" y="3685476"/>
            <a:ext cx="577597" cy="281443"/>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05" name="Google Shape;1605;p113"/>
          <p:cNvPicPr preferRelativeResize="0"/>
          <p:nvPr/>
        </p:nvPicPr>
        <p:blipFill>
          <a:blip r:embed="rId5">
            <a:alphaModFix/>
          </a:blip>
          <a:stretch>
            <a:fillRect/>
          </a:stretch>
        </p:blipFill>
        <p:spPr>
          <a:xfrm>
            <a:off x="555200" y="2359313"/>
            <a:ext cx="1792925" cy="833775"/>
          </a:xfrm>
          <a:prstGeom prst="rect">
            <a:avLst/>
          </a:prstGeom>
          <a:noFill/>
          <a:ln>
            <a:noFill/>
          </a:ln>
        </p:spPr>
      </p:pic>
      <p:cxnSp>
        <p:nvCxnSpPr>
          <p:cNvPr id="1606" name="Google Shape;1606;p113"/>
          <p:cNvCxnSpPr>
            <a:stCxn id="1607" idx="3"/>
            <a:endCxn id="1587" idx="1"/>
          </p:cNvCxnSpPr>
          <p:nvPr/>
        </p:nvCxnSpPr>
        <p:spPr>
          <a:xfrm>
            <a:off x="2348075" y="2769513"/>
            <a:ext cx="585300" cy="15000"/>
          </a:xfrm>
          <a:prstGeom prst="straightConnector1">
            <a:avLst/>
          </a:prstGeom>
          <a:noFill/>
          <a:ln cap="flat" cmpd="sng" w="9525">
            <a:solidFill>
              <a:schemeClr val="dk2"/>
            </a:solidFill>
            <a:prstDash val="dash"/>
            <a:round/>
            <a:headEnd len="med" w="med" type="none"/>
            <a:tailEnd len="med" w="med" type="triangle"/>
          </a:ln>
        </p:spPr>
      </p:cxnSp>
      <p:sp>
        <p:nvSpPr>
          <p:cNvPr id="1608" name="Google Shape;1608;p113"/>
          <p:cNvSpPr/>
          <p:nvPr/>
        </p:nvSpPr>
        <p:spPr>
          <a:xfrm>
            <a:off x="1360025" y="2984813"/>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09" name="Google Shape;1609;p113"/>
          <p:cNvPicPr preferRelativeResize="0"/>
          <p:nvPr/>
        </p:nvPicPr>
        <p:blipFill>
          <a:blip r:embed="rId6">
            <a:alphaModFix/>
          </a:blip>
          <a:stretch>
            <a:fillRect/>
          </a:stretch>
        </p:blipFill>
        <p:spPr>
          <a:xfrm>
            <a:off x="1845450" y="2855212"/>
            <a:ext cx="502675" cy="502675"/>
          </a:xfrm>
          <a:prstGeom prst="rect">
            <a:avLst/>
          </a:prstGeom>
          <a:noFill/>
          <a:ln>
            <a:noFill/>
          </a:ln>
        </p:spPr>
      </p:pic>
      <p:sp>
        <p:nvSpPr>
          <p:cNvPr id="1607" name="Google Shape;1607;p113"/>
          <p:cNvSpPr/>
          <p:nvPr/>
        </p:nvSpPr>
        <p:spPr>
          <a:xfrm>
            <a:off x="555275" y="2352663"/>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0" name="Google Shape;1610;p113"/>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6: App. Fissato (dal commerciale) - Modifica APPUNTAMENTO da Desktop</a:t>
            </a:r>
            <a:endParaRPr sz="1100">
              <a:highlight>
                <a:srgbClr val="B6D7A8"/>
              </a:highlight>
              <a:latin typeface="Lexend"/>
              <a:ea typeface="Lexend"/>
              <a:cs typeface="Lexend"/>
              <a:sym typeface="Lexend"/>
            </a:endParaRPr>
          </a:p>
        </p:txBody>
      </p:sp>
      <p:sp>
        <p:nvSpPr>
          <p:cNvPr id="1611" name="Google Shape;1611;p113"/>
          <p:cNvSpPr txBox="1"/>
          <p:nvPr>
            <p:ph type="title"/>
          </p:nvPr>
        </p:nvSpPr>
        <p:spPr>
          <a:xfrm>
            <a:off x="479963" y="20713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CLICCARE SUL LEAD</a:t>
            </a:r>
            <a:endParaRPr b="1" sz="1020">
              <a:solidFill>
                <a:srgbClr val="FF0000"/>
              </a:solidFill>
              <a:latin typeface="Oswald"/>
              <a:ea typeface="Oswald"/>
              <a:cs typeface="Oswald"/>
              <a:sym typeface="Oswa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5" name="Shape 1615"/>
        <p:cNvGrpSpPr/>
        <p:nvPr/>
      </p:nvGrpSpPr>
      <p:grpSpPr>
        <a:xfrm>
          <a:off x="0" y="0"/>
          <a:ext cx="0" cy="0"/>
          <a:chOff x="0" y="0"/>
          <a:chExt cx="0" cy="0"/>
        </a:xfrm>
      </p:grpSpPr>
      <p:sp>
        <p:nvSpPr>
          <p:cNvPr id="1616" name="Google Shape;1616;p11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17" name="Google Shape;1617;p114"/>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618" name="Google Shape;1618;p11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619" name="Google Shape;1619;p11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1620" name="Google Shape;1620;p114"/>
          <p:cNvPicPr preferRelativeResize="0"/>
          <p:nvPr/>
        </p:nvPicPr>
        <p:blipFill rotWithShape="1">
          <a:blip r:embed="rId4">
            <a:alphaModFix/>
          </a:blip>
          <a:srcRect b="20255" l="0" r="0" t="0"/>
          <a:stretch/>
        </p:blipFill>
        <p:spPr>
          <a:xfrm>
            <a:off x="326700" y="1088887"/>
            <a:ext cx="2039525" cy="3409126"/>
          </a:xfrm>
          <a:prstGeom prst="rect">
            <a:avLst/>
          </a:prstGeom>
          <a:noFill/>
          <a:ln cap="flat" cmpd="sng" w="9525">
            <a:solidFill>
              <a:schemeClr val="dk1"/>
            </a:solidFill>
            <a:prstDash val="solid"/>
            <a:round/>
            <a:headEnd len="sm" w="sm" type="none"/>
            <a:tailEnd len="sm" w="sm" type="none"/>
          </a:ln>
        </p:spPr>
      </p:pic>
      <p:sp>
        <p:nvSpPr>
          <p:cNvPr id="1621" name="Google Shape;1621;p114"/>
          <p:cNvSpPr/>
          <p:nvPr/>
        </p:nvSpPr>
        <p:spPr>
          <a:xfrm>
            <a:off x="416527" y="2286511"/>
            <a:ext cx="1572600" cy="958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22" name="Google Shape;1622;p114"/>
          <p:cNvPicPr preferRelativeResize="0"/>
          <p:nvPr/>
        </p:nvPicPr>
        <p:blipFill>
          <a:blip r:embed="rId5">
            <a:alphaModFix/>
          </a:blip>
          <a:stretch>
            <a:fillRect/>
          </a:stretch>
        </p:blipFill>
        <p:spPr>
          <a:xfrm>
            <a:off x="1779136" y="2601090"/>
            <a:ext cx="396955" cy="384740"/>
          </a:xfrm>
          <a:prstGeom prst="rect">
            <a:avLst/>
          </a:prstGeom>
          <a:noFill/>
          <a:ln>
            <a:noFill/>
          </a:ln>
        </p:spPr>
      </p:pic>
      <p:pic>
        <p:nvPicPr>
          <p:cNvPr id="1623" name="Google Shape;1623;p114"/>
          <p:cNvPicPr preferRelativeResize="0"/>
          <p:nvPr/>
        </p:nvPicPr>
        <p:blipFill rotWithShape="1">
          <a:blip r:embed="rId6">
            <a:alphaModFix/>
          </a:blip>
          <a:srcRect b="22708" l="0" r="0" t="0"/>
          <a:stretch/>
        </p:blipFill>
        <p:spPr>
          <a:xfrm>
            <a:off x="2477062" y="1088887"/>
            <a:ext cx="2039525" cy="3409126"/>
          </a:xfrm>
          <a:prstGeom prst="rect">
            <a:avLst/>
          </a:prstGeom>
          <a:noFill/>
          <a:ln cap="flat" cmpd="sng" w="9525">
            <a:solidFill>
              <a:schemeClr val="dk1"/>
            </a:solidFill>
            <a:prstDash val="solid"/>
            <a:round/>
            <a:headEnd len="sm" w="sm" type="none"/>
            <a:tailEnd len="sm" w="sm" type="none"/>
          </a:ln>
        </p:spPr>
      </p:pic>
      <p:pic>
        <p:nvPicPr>
          <p:cNvPr id="1624" name="Google Shape;1624;p114"/>
          <p:cNvPicPr preferRelativeResize="0"/>
          <p:nvPr/>
        </p:nvPicPr>
        <p:blipFill rotWithShape="1">
          <a:blip r:embed="rId7">
            <a:alphaModFix/>
          </a:blip>
          <a:srcRect b="22708" l="0" r="0" t="0"/>
          <a:stretch/>
        </p:blipFill>
        <p:spPr>
          <a:xfrm>
            <a:off x="4627424" y="1088887"/>
            <a:ext cx="2039525" cy="3409126"/>
          </a:xfrm>
          <a:prstGeom prst="rect">
            <a:avLst/>
          </a:prstGeom>
          <a:noFill/>
          <a:ln cap="flat" cmpd="sng" w="9525">
            <a:solidFill>
              <a:schemeClr val="dk1"/>
            </a:solidFill>
            <a:prstDash val="solid"/>
            <a:round/>
            <a:headEnd len="sm" w="sm" type="none"/>
            <a:tailEnd len="sm" w="sm" type="none"/>
          </a:ln>
        </p:spPr>
      </p:pic>
      <p:pic>
        <p:nvPicPr>
          <p:cNvPr id="1625" name="Google Shape;1625;p114"/>
          <p:cNvPicPr preferRelativeResize="0"/>
          <p:nvPr/>
        </p:nvPicPr>
        <p:blipFill rotWithShape="1">
          <a:blip r:embed="rId8">
            <a:alphaModFix/>
          </a:blip>
          <a:srcRect b="22708" l="0" r="0" t="0"/>
          <a:stretch/>
        </p:blipFill>
        <p:spPr>
          <a:xfrm>
            <a:off x="6777774" y="1088887"/>
            <a:ext cx="2039525" cy="3409126"/>
          </a:xfrm>
          <a:prstGeom prst="rect">
            <a:avLst/>
          </a:prstGeom>
          <a:noFill/>
          <a:ln cap="flat" cmpd="sng" w="9525">
            <a:solidFill>
              <a:schemeClr val="dk1"/>
            </a:solidFill>
            <a:prstDash val="solid"/>
            <a:round/>
            <a:headEnd len="sm" w="sm" type="none"/>
            <a:tailEnd len="sm" w="sm" type="none"/>
          </a:ln>
        </p:spPr>
      </p:pic>
      <p:pic>
        <p:nvPicPr>
          <p:cNvPr id="1626" name="Google Shape;1626;p114"/>
          <p:cNvPicPr preferRelativeResize="0"/>
          <p:nvPr/>
        </p:nvPicPr>
        <p:blipFill>
          <a:blip r:embed="rId9">
            <a:alphaModFix/>
          </a:blip>
          <a:stretch>
            <a:fillRect/>
          </a:stretch>
        </p:blipFill>
        <p:spPr>
          <a:xfrm>
            <a:off x="8051222" y="3701447"/>
            <a:ext cx="670450" cy="712800"/>
          </a:xfrm>
          <a:prstGeom prst="rect">
            <a:avLst/>
          </a:prstGeom>
          <a:noFill/>
          <a:ln>
            <a:noFill/>
          </a:ln>
        </p:spPr>
      </p:pic>
      <p:sp>
        <p:nvSpPr>
          <p:cNvPr id="1627" name="Google Shape;1627;p114"/>
          <p:cNvSpPr/>
          <p:nvPr/>
        </p:nvSpPr>
        <p:spPr>
          <a:xfrm>
            <a:off x="2521975" y="1612950"/>
            <a:ext cx="1943400" cy="420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28" name="Google Shape;1628;p114"/>
          <p:cNvPicPr preferRelativeResize="0"/>
          <p:nvPr/>
        </p:nvPicPr>
        <p:blipFill>
          <a:blip r:embed="rId5">
            <a:alphaModFix/>
          </a:blip>
          <a:stretch>
            <a:fillRect/>
          </a:stretch>
        </p:blipFill>
        <p:spPr>
          <a:xfrm>
            <a:off x="3883177" y="1878073"/>
            <a:ext cx="320150" cy="310275"/>
          </a:xfrm>
          <a:prstGeom prst="rect">
            <a:avLst/>
          </a:prstGeom>
          <a:noFill/>
          <a:ln>
            <a:noFill/>
          </a:ln>
        </p:spPr>
      </p:pic>
      <p:sp>
        <p:nvSpPr>
          <p:cNvPr id="1629" name="Google Shape;1629;p114"/>
          <p:cNvSpPr/>
          <p:nvPr/>
        </p:nvSpPr>
        <p:spPr>
          <a:xfrm>
            <a:off x="5923500" y="1527225"/>
            <a:ext cx="695400" cy="310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30" name="Google Shape;1630;p114"/>
          <p:cNvPicPr preferRelativeResize="0"/>
          <p:nvPr/>
        </p:nvPicPr>
        <p:blipFill>
          <a:blip r:embed="rId5">
            <a:alphaModFix/>
          </a:blip>
          <a:stretch>
            <a:fillRect/>
          </a:stretch>
        </p:blipFill>
        <p:spPr>
          <a:xfrm flipH="1">
            <a:off x="5755002" y="1667823"/>
            <a:ext cx="320150" cy="310275"/>
          </a:xfrm>
          <a:prstGeom prst="rect">
            <a:avLst/>
          </a:prstGeom>
          <a:noFill/>
          <a:ln>
            <a:noFill/>
          </a:ln>
        </p:spPr>
      </p:pic>
      <p:sp>
        <p:nvSpPr>
          <p:cNvPr id="1631" name="Google Shape;1631;p114"/>
          <p:cNvSpPr/>
          <p:nvPr/>
        </p:nvSpPr>
        <p:spPr>
          <a:xfrm>
            <a:off x="8127050" y="3816050"/>
            <a:ext cx="616800" cy="598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2" name="Google Shape;1632;p114"/>
          <p:cNvSpPr txBox="1"/>
          <p:nvPr>
            <p:ph type="title"/>
          </p:nvPr>
        </p:nvSpPr>
        <p:spPr>
          <a:xfrm>
            <a:off x="374763"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APRO IL CONTATTO</a:t>
            </a:r>
            <a:endParaRPr b="1" sz="1020">
              <a:latin typeface="Oswald"/>
              <a:ea typeface="Oswald"/>
              <a:cs typeface="Oswald"/>
              <a:sym typeface="Oswald"/>
            </a:endParaRPr>
          </a:p>
        </p:txBody>
      </p:sp>
      <p:sp>
        <p:nvSpPr>
          <p:cNvPr id="1633" name="Google Shape;1633;p114"/>
          <p:cNvSpPr txBox="1"/>
          <p:nvPr>
            <p:ph type="title"/>
          </p:nvPr>
        </p:nvSpPr>
        <p:spPr>
          <a:xfrm>
            <a:off x="2521975"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VADO IN ANAGRAFICA</a:t>
            </a:r>
            <a:endParaRPr b="1" sz="1020">
              <a:latin typeface="Oswald"/>
              <a:ea typeface="Oswald"/>
              <a:cs typeface="Oswald"/>
              <a:sym typeface="Oswald"/>
            </a:endParaRPr>
          </a:p>
        </p:txBody>
      </p:sp>
      <p:sp>
        <p:nvSpPr>
          <p:cNvPr id="1634" name="Google Shape;1634;p114"/>
          <p:cNvSpPr txBox="1"/>
          <p:nvPr>
            <p:ph type="title"/>
          </p:nvPr>
        </p:nvSpPr>
        <p:spPr>
          <a:xfrm>
            <a:off x="4675488"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APRO GLI APPUNTAMENTI</a:t>
            </a:r>
            <a:endParaRPr b="1" sz="1020">
              <a:latin typeface="Oswald"/>
              <a:ea typeface="Oswald"/>
              <a:cs typeface="Oswald"/>
              <a:sym typeface="Oswald"/>
            </a:endParaRPr>
          </a:p>
        </p:txBody>
      </p:sp>
      <p:sp>
        <p:nvSpPr>
          <p:cNvPr id="1635" name="Google Shape;1635;p114"/>
          <p:cNvSpPr txBox="1"/>
          <p:nvPr>
            <p:ph type="title"/>
          </p:nvPr>
        </p:nvSpPr>
        <p:spPr>
          <a:xfrm>
            <a:off x="6829013"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VEDO/CREO GLI APPUNTAMENTI</a:t>
            </a:r>
            <a:endParaRPr b="1" sz="1020">
              <a:latin typeface="Oswald"/>
              <a:ea typeface="Oswald"/>
              <a:cs typeface="Oswald"/>
              <a:sym typeface="Oswald"/>
            </a:endParaRPr>
          </a:p>
        </p:txBody>
      </p:sp>
      <p:sp>
        <p:nvSpPr>
          <p:cNvPr id="1636" name="Google Shape;1636;p114"/>
          <p:cNvSpPr txBox="1"/>
          <p:nvPr>
            <p:ph type="title"/>
          </p:nvPr>
        </p:nvSpPr>
        <p:spPr>
          <a:xfrm>
            <a:off x="6829013" y="3032000"/>
            <a:ext cx="19434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CREA NUOVO APPUNTAMENTO</a:t>
            </a:r>
            <a:endParaRPr b="1" sz="1020">
              <a:solidFill>
                <a:srgbClr val="FF0000"/>
              </a:solidFill>
              <a:latin typeface="Oswald"/>
              <a:ea typeface="Oswald"/>
              <a:cs typeface="Oswald"/>
              <a:sym typeface="Oswald"/>
            </a:endParaRPr>
          </a:p>
        </p:txBody>
      </p:sp>
      <p:cxnSp>
        <p:nvCxnSpPr>
          <p:cNvPr id="1637" name="Google Shape;1637;p114"/>
          <p:cNvCxnSpPr>
            <a:stCxn id="1636" idx="2"/>
          </p:cNvCxnSpPr>
          <p:nvPr/>
        </p:nvCxnSpPr>
        <p:spPr>
          <a:xfrm>
            <a:off x="7800713" y="3245300"/>
            <a:ext cx="387900" cy="394200"/>
          </a:xfrm>
          <a:prstGeom prst="straightConnector1">
            <a:avLst/>
          </a:prstGeom>
          <a:noFill/>
          <a:ln cap="flat" cmpd="sng" w="9525">
            <a:solidFill>
              <a:schemeClr val="dk2"/>
            </a:solidFill>
            <a:prstDash val="solid"/>
            <a:round/>
            <a:headEnd len="med" w="med" type="none"/>
            <a:tailEnd len="med" w="med" type="triangle"/>
          </a:ln>
        </p:spPr>
      </p:cxnSp>
      <p:sp>
        <p:nvSpPr>
          <p:cNvPr id="1638" name="Google Shape;1638;p114"/>
          <p:cNvSpPr/>
          <p:nvPr/>
        </p:nvSpPr>
        <p:spPr>
          <a:xfrm>
            <a:off x="2209275" y="4622250"/>
            <a:ext cx="426600" cy="873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9" name="Google Shape;1639;p114"/>
          <p:cNvSpPr/>
          <p:nvPr/>
        </p:nvSpPr>
        <p:spPr>
          <a:xfrm>
            <a:off x="4360300" y="4622250"/>
            <a:ext cx="426600" cy="873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0" name="Google Shape;1640;p114"/>
          <p:cNvSpPr/>
          <p:nvPr/>
        </p:nvSpPr>
        <p:spPr>
          <a:xfrm>
            <a:off x="6539500" y="4622250"/>
            <a:ext cx="320100" cy="873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1" name="Google Shape;1641;p114"/>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6: App. Fissato (dal commerciale) - Modifica APPUNTAMENTO da Mobile</a:t>
            </a:r>
            <a:endParaRPr sz="1100">
              <a:highlight>
                <a:srgbClr val="B6D7A8"/>
              </a:highlight>
              <a:latin typeface="Lexend"/>
              <a:ea typeface="Lexend"/>
              <a:cs typeface="Lexend"/>
              <a:sym typeface="Lexend"/>
            </a:endParaRPr>
          </a:p>
        </p:txBody>
      </p:sp>
      <p:sp>
        <p:nvSpPr>
          <p:cNvPr id="1642" name="Google Shape;1642;p114"/>
          <p:cNvSpPr txBox="1"/>
          <p:nvPr>
            <p:ph type="title"/>
          </p:nvPr>
        </p:nvSpPr>
        <p:spPr>
          <a:xfrm>
            <a:off x="1684503" y="777700"/>
            <a:ext cx="5775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 SI CONSIGLIA DI CREARE/MODIFICARE APPUNTAMENTI DAL PC E NON DA TELEFONO !!</a:t>
            </a:r>
            <a:endParaRPr b="1" sz="1020">
              <a:solidFill>
                <a:srgbClr val="FF0000"/>
              </a:solidFill>
              <a:latin typeface="Oswald"/>
              <a:ea typeface="Oswald"/>
              <a:cs typeface="Oswald"/>
              <a:sym typeface="Oswa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6" name="Shape 1646"/>
        <p:cNvGrpSpPr/>
        <p:nvPr/>
      </p:nvGrpSpPr>
      <p:grpSpPr>
        <a:xfrm>
          <a:off x="0" y="0"/>
          <a:ext cx="0" cy="0"/>
          <a:chOff x="0" y="0"/>
          <a:chExt cx="0" cy="0"/>
        </a:xfrm>
      </p:grpSpPr>
      <p:sp>
        <p:nvSpPr>
          <p:cNvPr id="1647" name="Google Shape;1647;p11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48" name="Google Shape;1648;p11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649" name="Google Shape;1649;p11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650" name="Google Shape;1650;p115"/>
          <p:cNvSpPr txBox="1"/>
          <p:nvPr>
            <p:ph type="title"/>
          </p:nvPr>
        </p:nvSpPr>
        <p:spPr>
          <a:xfrm>
            <a:off x="918850" y="1177288"/>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7: Risentire / Gestire</a:t>
            </a:r>
            <a:endParaRPr sz="1220">
              <a:highlight>
                <a:srgbClr val="B6D7A8"/>
              </a:highlight>
              <a:latin typeface="Lexend"/>
              <a:ea typeface="Lexend"/>
              <a:cs typeface="Lexend"/>
              <a:sym typeface="Lexend"/>
            </a:endParaRPr>
          </a:p>
        </p:txBody>
      </p:sp>
      <p:sp>
        <p:nvSpPr>
          <p:cNvPr id="1651" name="Google Shape;1651;p11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652" name="Google Shape;1652;p115"/>
          <p:cNvSpPr txBox="1"/>
          <p:nvPr>
            <p:ph type="title"/>
          </p:nvPr>
        </p:nvSpPr>
        <p:spPr>
          <a:xfrm>
            <a:off x="521425" y="2057150"/>
            <a:ext cx="8146500" cy="2325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a:t>
            </a:r>
            <a:r>
              <a:rPr b="1" lang="it" sz="1620">
                <a:latin typeface="Lexend"/>
                <a:ea typeface="Lexend"/>
                <a:cs typeface="Lexend"/>
                <a:sym typeface="Lexend"/>
              </a:rPr>
              <a:t>saranno spostati</a:t>
            </a:r>
            <a:r>
              <a:rPr lang="it" sz="1620">
                <a:latin typeface="Lexend"/>
                <a:ea typeface="Lexend"/>
                <a:cs typeface="Lexend"/>
                <a:sym typeface="Lexend"/>
              </a:rPr>
              <a:t> i lead che sono in una fase di decisione/attesa dopo che hanno mostrato interesse e richiesto un appuntamento con voi.</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Ad </a:t>
            </a:r>
            <a:r>
              <a:rPr lang="it" sz="1620">
                <a:latin typeface="Lexend"/>
                <a:ea typeface="Lexend"/>
                <a:cs typeface="Lexend"/>
                <a:sym typeface="Lexend"/>
              </a:rPr>
              <a:t>esempio, se il lead rimanda data di appuntamento, </a:t>
            </a:r>
            <a:r>
              <a:rPr b="1" lang="it" sz="1620" u="sng">
                <a:latin typeface="Lexend"/>
                <a:ea typeface="Lexend"/>
                <a:cs typeface="Lexend"/>
                <a:sym typeface="Lexend"/>
              </a:rPr>
              <a:t>andare sulla voce “appuntamenti”</a:t>
            </a:r>
            <a:r>
              <a:rPr lang="it" sz="1620">
                <a:latin typeface="Lexend"/>
                <a:ea typeface="Lexend"/>
                <a:cs typeface="Lexend"/>
                <a:sym typeface="Lexend"/>
              </a:rPr>
              <a:t> e inserire la nuova data di incontro con il cliente. </a:t>
            </a:r>
            <a:r>
              <a:rPr i="1" lang="it" sz="1620">
                <a:latin typeface="Lexend"/>
                <a:ea typeface="Lexend"/>
                <a:cs typeface="Lexend"/>
                <a:sym typeface="Lexend"/>
              </a:rPr>
              <a:t>(foto1).</a:t>
            </a:r>
            <a:endParaRPr i="1"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Una volta spostato qui, </a:t>
            </a:r>
            <a:r>
              <a:rPr b="1" lang="it" sz="1620" u="sng">
                <a:latin typeface="Lexend"/>
                <a:ea typeface="Lexend"/>
                <a:cs typeface="Lexend"/>
                <a:sym typeface="Lexend"/>
              </a:rPr>
              <a:t>andare sulla voce “note”</a:t>
            </a:r>
            <a:r>
              <a:rPr lang="it" sz="1620">
                <a:latin typeface="Lexend"/>
                <a:ea typeface="Lexend"/>
                <a:cs typeface="Lexend"/>
                <a:sym typeface="Lexend"/>
              </a:rPr>
              <a:t> e inserire la motivazione del rinvio del vostro incontro.</a:t>
            </a:r>
            <a:endParaRPr i="1" sz="1620">
              <a:latin typeface="Lexend"/>
              <a:ea typeface="Lexend"/>
              <a:cs typeface="Lexend"/>
              <a:sym typeface="Lexen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6" name="Shape 1656"/>
        <p:cNvGrpSpPr/>
        <p:nvPr/>
      </p:nvGrpSpPr>
      <p:grpSpPr>
        <a:xfrm>
          <a:off x="0" y="0"/>
          <a:ext cx="0" cy="0"/>
          <a:chOff x="0" y="0"/>
          <a:chExt cx="0" cy="0"/>
        </a:xfrm>
      </p:grpSpPr>
      <p:sp>
        <p:nvSpPr>
          <p:cNvPr id="1657" name="Google Shape;1657;p116"/>
          <p:cNvSpPr/>
          <p:nvPr/>
        </p:nvSpPr>
        <p:spPr>
          <a:xfrm>
            <a:off x="2933325" y="937400"/>
            <a:ext cx="58614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8" name="Google Shape;1658;p11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59" name="Google Shape;1659;p11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660" name="Google Shape;1660;p11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661" name="Google Shape;1661;p11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1662" name="Google Shape;1662;p116"/>
          <p:cNvPicPr preferRelativeResize="0"/>
          <p:nvPr/>
        </p:nvPicPr>
        <p:blipFill>
          <a:blip r:embed="rId4">
            <a:alphaModFix/>
          </a:blip>
          <a:stretch>
            <a:fillRect/>
          </a:stretch>
        </p:blipFill>
        <p:spPr>
          <a:xfrm>
            <a:off x="2965742" y="1016575"/>
            <a:ext cx="5771756" cy="3536138"/>
          </a:xfrm>
          <a:prstGeom prst="rect">
            <a:avLst/>
          </a:prstGeom>
          <a:noFill/>
          <a:ln>
            <a:noFill/>
          </a:ln>
        </p:spPr>
      </p:pic>
      <p:sp>
        <p:nvSpPr>
          <p:cNvPr id="1663" name="Google Shape;1663;p116"/>
          <p:cNvSpPr/>
          <p:nvPr/>
        </p:nvSpPr>
        <p:spPr>
          <a:xfrm>
            <a:off x="3062025" y="1973500"/>
            <a:ext cx="805500" cy="332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4" name="Google Shape;1664;p116"/>
          <p:cNvSpPr/>
          <p:nvPr/>
        </p:nvSpPr>
        <p:spPr>
          <a:xfrm>
            <a:off x="4421275" y="2092600"/>
            <a:ext cx="1947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5" name="Google Shape;1665;p116"/>
          <p:cNvSpPr/>
          <p:nvPr/>
        </p:nvSpPr>
        <p:spPr>
          <a:xfrm>
            <a:off x="4421275" y="2613875"/>
            <a:ext cx="7440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6" name="Google Shape;1666;p116"/>
          <p:cNvSpPr/>
          <p:nvPr/>
        </p:nvSpPr>
        <p:spPr>
          <a:xfrm>
            <a:off x="6586925" y="2613875"/>
            <a:ext cx="7440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7" name="Google Shape;1667;p116"/>
          <p:cNvSpPr/>
          <p:nvPr/>
        </p:nvSpPr>
        <p:spPr>
          <a:xfrm>
            <a:off x="6586925" y="3173050"/>
            <a:ext cx="12072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8" name="Google Shape;1668;p116"/>
          <p:cNvSpPr/>
          <p:nvPr/>
        </p:nvSpPr>
        <p:spPr>
          <a:xfrm>
            <a:off x="4421275" y="3173050"/>
            <a:ext cx="20661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9" name="Google Shape;1669;p116"/>
          <p:cNvSpPr txBox="1"/>
          <p:nvPr>
            <p:ph type="title"/>
          </p:nvPr>
        </p:nvSpPr>
        <p:spPr>
          <a:xfrm>
            <a:off x="5165275" y="2613875"/>
            <a:ext cx="8277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DATA</a:t>
            </a:r>
            <a:endParaRPr b="1" sz="1020">
              <a:solidFill>
                <a:srgbClr val="FF0000"/>
              </a:solidFill>
              <a:latin typeface="Oswald"/>
              <a:ea typeface="Oswald"/>
              <a:cs typeface="Oswald"/>
              <a:sym typeface="Oswald"/>
            </a:endParaRPr>
          </a:p>
        </p:txBody>
      </p:sp>
      <p:sp>
        <p:nvSpPr>
          <p:cNvPr id="1670" name="Google Shape;1670;p116"/>
          <p:cNvSpPr txBox="1"/>
          <p:nvPr>
            <p:ph type="title"/>
          </p:nvPr>
        </p:nvSpPr>
        <p:spPr>
          <a:xfrm>
            <a:off x="7330925" y="2613875"/>
            <a:ext cx="8277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ORA</a:t>
            </a:r>
            <a:endParaRPr b="1" sz="1020">
              <a:solidFill>
                <a:srgbClr val="FF0000"/>
              </a:solidFill>
              <a:latin typeface="Oswald"/>
              <a:ea typeface="Oswald"/>
              <a:cs typeface="Oswald"/>
              <a:sym typeface="Oswald"/>
            </a:endParaRPr>
          </a:p>
        </p:txBody>
      </p:sp>
      <p:sp>
        <p:nvSpPr>
          <p:cNvPr id="1671" name="Google Shape;1671;p116"/>
          <p:cNvSpPr txBox="1"/>
          <p:nvPr>
            <p:ph type="title"/>
          </p:nvPr>
        </p:nvSpPr>
        <p:spPr>
          <a:xfrm>
            <a:off x="6368875" y="2092600"/>
            <a:ext cx="22020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 DA MENU A TENDINA</a:t>
            </a:r>
            <a:endParaRPr b="1" sz="1020">
              <a:solidFill>
                <a:srgbClr val="FF0000"/>
              </a:solidFill>
              <a:latin typeface="Oswald"/>
              <a:ea typeface="Oswald"/>
              <a:cs typeface="Oswald"/>
              <a:sym typeface="Oswald"/>
            </a:endParaRPr>
          </a:p>
        </p:txBody>
      </p:sp>
      <p:sp>
        <p:nvSpPr>
          <p:cNvPr id="1672" name="Google Shape;1672;p116"/>
          <p:cNvSpPr txBox="1"/>
          <p:nvPr>
            <p:ph type="title"/>
          </p:nvPr>
        </p:nvSpPr>
        <p:spPr>
          <a:xfrm>
            <a:off x="7794950" y="3173050"/>
            <a:ext cx="9999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TESTO DA SCRIVERE</a:t>
            </a:r>
            <a:endParaRPr b="1" sz="1020">
              <a:solidFill>
                <a:srgbClr val="FF0000"/>
              </a:solidFill>
              <a:latin typeface="Oswald"/>
              <a:ea typeface="Oswald"/>
              <a:cs typeface="Oswald"/>
              <a:sym typeface="Oswald"/>
            </a:endParaRPr>
          </a:p>
        </p:txBody>
      </p:sp>
      <p:sp>
        <p:nvSpPr>
          <p:cNvPr id="1673" name="Google Shape;1673;p116"/>
          <p:cNvSpPr txBox="1"/>
          <p:nvPr>
            <p:ph type="title"/>
          </p:nvPr>
        </p:nvSpPr>
        <p:spPr>
          <a:xfrm>
            <a:off x="4327925" y="3430750"/>
            <a:ext cx="9999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INDIRIZZO</a:t>
            </a:r>
            <a:endParaRPr b="1" sz="1020">
              <a:solidFill>
                <a:srgbClr val="FF0000"/>
              </a:solidFill>
              <a:latin typeface="Oswald"/>
              <a:ea typeface="Oswald"/>
              <a:cs typeface="Oswald"/>
              <a:sym typeface="Oswald"/>
            </a:endParaRPr>
          </a:p>
        </p:txBody>
      </p:sp>
      <p:sp>
        <p:nvSpPr>
          <p:cNvPr id="1674" name="Google Shape;1674;p116"/>
          <p:cNvSpPr/>
          <p:nvPr/>
        </p:nvSpPr>
        <p:spPr>
          <a:xfrm rot="2992005">
            <a:off x="7418051" y="3685476"/>
            <a:ext cx="577597" cy="281443"/>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75" name="Google Shape;1675;p116"/>
          <p:cNvPicPr preferRelativeResize="0"/>
          <p:nvPr/>
        </p:nvPicPr>
        <p:blipFill>
          <a:blip r:embed="rId5">
            <a:alphaModFix/>
          </a:blip>
          <a:stretch>
            <a:fillRect/>
          </a:stretch>
        </p:blipFill>
        <p:spPr>
          <a:xfrm>
            <a:off x="555200" y="2359313"/>
            <a:ext cx="1792925" cy="833775"/>
          </a:xfrm>
          <a:prstGeom prst="rect">
            <a:avLst/>
          </a:prstGeom>
          <a:noFill/>
          <a:ln>
            <a:noFill/>
          </a:ln>
        </p:spPr>
      </p:pic>
      <p:cxnSp>
        <p:nvCxnSpPr>
          <p:cNvPr id="1676" name="Google Shape;1676;p116"/>
          <p:cNvCxnSpPr>
            <a:stCxn id="1677" idx="3"/>
            <a:endCxn id="1657" idx="1"/>
          </p:cNvCxnSpPr>
          <p:nvPr/>
        </p:nvCxnSpPr>
        <p:spPr>
          <a:xfrm>
            <a:off x="2348075" y="2769513"/>
            <a:ext cx="585300" cy="15000"/>
          </a:xfrm>
          <a:prstGeom prst="straightConnector1">
            <a:avLst/>
          </a:prstGeom>
          <a:noFill/>
          <a:ln cap="flat" cmpd="sng" w="9525">
            <a:solidFill>
              <a:schemeClr val="dk2"/>
            </a:solidFill>
            <a:prstDash val="dash"/>
            <a:round/>
            <a:headEnd len="med" w="med" type="none"/>
            <a:tailEnd len="med" w="med" type="triangle"/>
          </a:ln>
        </p:spPr>
      </p:cxnSp>
      <p:sp>
        <p:nvSpPr>
          <p:cNvPr id="1678" name="Google Shape;1678;p116"/>
          <p:cNvSpPr/>
          <p:nvPr/>
        </p:nvSpPr>
        <p:spPr>
          <a:xfrm>
            <a:off x="1360025" y="2984813"/>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79" name="Google Shape;1679;p116"/>
          <p:cNvPicPr preferRelativeResize="0"/>
          <p:nvPr/>
        </p:nvPicPr>
        <p:blipFill>
          <a:blip r:embed="rId6">
            <a:alphaModFix/>
          </a:blip>
          <a:stretch>
            <a:fillRect/>
          </a:stretch>
        </p:blipFill>
        <p:spPr>
          <a:xfrm>
            <a:off x="1845450" y="2855212"/>
            <a:ext cx="502675" cy="502675"/>
          </a:xfrm>
          <a:prstGeom prst="rect">
            <a:avLst/>
          </a:prstGeom>
          <a:noFill/>
          <a:ln>
            <a:noFill/>
          </a:ln>
        </p:spPr>
      </p:pic>
      <p:sp>
        <p:nvSpPr>
          <p:cNvPr id="1677" name="Google Shape;1677;p116"/>
          <p:cNvSpPr/>
          <p:nvPr/>
        </p:nvSpPr>
        <p:spPr>
          <a:xfrm>
            <a:off x="555275" y="2352663"/>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0" name="Google Shape;1680;p116"/>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7: Risentire/Gestire - Modifica APPUNTAMENTO da Desktop</a:t>
            </a:r>
            <a:endParaRPr sz="1100">
              <a:highlight>
                <a:srgbClr val="B6D7A8"/>
              </a:highlight>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i="1" lang="it" sz="1100">
                <a:highlight>
                  <a:srgbClr val="B6D7A8"/>
                </a:highlight>
                <a:latin typeface="Lexend"/>
                <a:ea typeface="Lexend"/>
                <a:cs typeface="Lexend"/>
                <a:sym typeface="Lexend"/>
              </a:rPr>
              <a:t>(foto1)</a:t>
            </a:r>
            <a:endParaRPr i="1" sz="1100">
              <a:highlight>
                <a:srgbClr val="B6D7A8"/>
              </a:highlight>
              <a:latin typeface="Lexend"/>
              <a:ea typeface="Lexend"/>
              <a:cs typeface="Lexend"/>
              <a:sym typeface="Lexend"/>
            </a:endParaRPr>
          </a:p>
        </p:txBody>
      </p:sp>
      <p:sp>
        <p:nvSpPr>
          <p:cNvPr id="1681" name="Google Shape;1681;p116"/>
          <p:cNvSpPr txBox="1"/>
          <p:nvPr>
            <p:ph type="title"/>
          </p:nvPr>
        </p:nvSpPr>
        <p:spPr>
          <a:xfrm>
            <a:off x="479963" y="20713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CLICCARE SUL LEAD</a:t>
            </a:r>
            <a:endParaRPr b="1" sz="1020">
              <a:solidFill>
                <a:srgbClr val="FF0000"/>
              </a:solidFill>
              <a:latin typeface="Oswald"/>
              <a:ea typeface="Oswald"/>
              <a:cs typeface="Oswald"/>
              <a:sym typeface="Oswa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sp>
        <p:nvSpPr>
          <p:cNvPr id="1686" name="Google Shape;1686;p11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87" name="Google Shape;1687;p11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688" name="Google Shape;1688;p11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689" name="Google Shape;1689;p11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1690" name="Google Shape;1690;p117"/>
          <p:cNvPicPr preferRelativeResize="0"/>
          <p:nvPr/>
        </p:nvPicPr>
        <p:blipFill rotWithShape="1">
          <a:blip r:embed="rId4">
            <a:alphaModFix/>
          </a:blip>
          <a:srcRect b="20255" l="0" r="0" t="0"/>
          <a:stretch/>
        </p:blipFill>
        <p:spPr>
          <a:xfrm>
            <a:off x="326700" y="1088887"/>
            <a:ext cx="2039525" cy="3409126"/>
          </a:xfrm>
          <a:prstGeom prst="rect">
            <a:avLst/>
          </a:prstGeom>
          <a:noFill/>
          <a:ln cap="flat" cmpd="sng" w="9525">
            <a:solidFill>
              <a:schemeClr val="dk1"/>
            </a:solidFill>
            <a:prstDash val="solid"/>
            <a:round/>
            <a:headEnd len="sm" w="sm" type="none"/>
            <a:tailEnd len="sm" w="sm" type="none"/>
          </a:ln>
        </p:spPr>
      </p:pic>
      <p:sp>
        <p:nvSpPr>
          <p:cNvPr id="1691" name="Google Shape;1691;p117"/>
          <p:cNvSpPr/>
          <p:nvPr/>
        </p:nvSpPr>
        <p:spPr>
          <a:xfrm>
            <a:off x="416527" y="2286511"/>
            <a:ext cx="1572600" cy="958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92" name="Google Shape;1692;p117"/>
          <p:cNvPicPr preferRelativeResize="0"/>
          <p:nvPr/>
        </p:nvPicPr>
        <p:blipFill>
          <a:blip r:embed="rId5">
            <a:alphaModFix/>
          </a:blip>
          <a:stretch>
            <a:fillRect/>
          </a:stretch>
        </p:blipFill>
        <p:spPr>
          <a:xfrm>
            <a:off x="1779136" y="2601090"/>
            <a:ext cx="396955" cy="384740"/>
          </a:xfrm>
          <a:prstGeom prst="rect">
            <a:avLst/>
          </a:prstGeom>
          <a:noFill/>
          <a:ln>
            <a:noFill/>
          </a:ln>
        </p:spPr>
      </p:pic>
      <p:pic>
        <p:nvPicPr>
          <p:cNvPr id="1693" name="Google Shape;1693;p117"/>
          <p:cNvPicPr preferRelativeResize="0"/>
          <p:nvPr/>
        </p:nvPicPr>
        <p:blipFill rotWithShape="1">
          <a:blip r:embed="rId6">
            <a:alphaModFix/>
          </a:blip>
          <a:srcRect b="22708" l="0" r="0" t="0"/>
          <a:stretch/>
        </p:blipFill>
        <p:spPr>
          <a:xfrm>
            <a:off x="2477062" y="1088887"/>
            <a:ext cx="2039525" cy="3409126"/>
          </a:xfrm>
          <a:prstGeom prst="rect">
            <a:avLst/>
          </a:prstGeom>
          <a:noFill/>
          <a:ln cap="flat" cmpd="sng" w="9525">
            <a:solidFill>
              <a:schemeClr val="dk1"/>
            </a:solidFill>
            <a:prstDash val="solid"/>
            <a:round/>
            <a:headEnd len="sm" w="sm" type="none"/>
            <a:tailEnd len="sm" w="sm" type="none"/>
          </a:ln>
        </p:spPr>
      </p:pic>
      <p:pic>
        <p:nvPicPr>
          <p:cNvPr id="1694" name="Google Shape;1694;p117"/>
          <p:cNvPicPr preferRelativeResize="0"/>
          <p:nvPr/>
        </p:nvPicPr>
        <p:blipFill rotWithShape="1">
          <a:blip r:embed="rId7">
            <a:alphaModFix/>
          </a:blip>
          <a:srcRect b="22708" l="0" r="0" t="0"/>
          <a:stretch/>
        </p:blipFill>
        <p:spPr>
          <a:xfrm>
            <a:off x="4627424" y="1088887"/>
            <a:ext cx="2039525" cy="3409126"/>
          </a:xfrm>
          <a:prstGeom prst="rect">
            <a:avLst/>
          </a:prstGeom>
          <a:noFill/>
          <a:ln cap="flat" cmpd="sng" w="9525">
            <a:solidFill>
              <a:schemeClr val="dk1"/>
            </a:solidFill>
            <a:prstDash val="solid"/>
            <a:round/>
            <a:headEnd len="sm" w="sm" type="none"/>
            <a:tailEnd len="sm" w="sm" type="none"/>
          </a:ln>
        </p:spPr>
      </p:pic>
      <p:pic>
        <p:nvPicPr>
          <p:cNvPr id="1695" name="Google Shape;1695;p117"/>
          <p:cNvPicPr preferRelativeResize="0"/>
          <p:nvPr/>
        </p:nvPicPr>
        <p:blipFill rotWithShape="1">
          <a:blip r:embed="rId8">
            <a:alphaModFix/>
          </a:blip>
          <a:srcRect b="22708" l="0" r="0" t="0"/>
          <a:stretch/>
        </p:blipFill>
        <p:spPr>
          <a:xfrm>
            <a:off x="6777774" y="1088887"/>
            <a:ext cx="2039525" cy="3409126"/>
          </a:xfrm>
          <a:prstGeom prst="rect">
            <a:avLst/>
          </a:prstGeom>
          <a:noFill/>
          <a:ln cap="flat" cmpd="sng" w="9525">
            <a:solidFill>
              <a:schemeClr val="dk1"/>
            </a:solidFill>
            <a:prstDash val="solid"/>
            <a:round/>
            <a:headEnd len="sm" w="sm" type="none"/>
            <a:tailEnd len="sm" w="sm" type="none"/>
          </a:ln>
        </p:spPr>
      </p:pic>
      <p:pic>
        <p:nvPicPr>
          <p:cNvPr id="1696" name="Google Shape;1696;p117"/>
          <p:cNvPicPr preferRelativeResize="0"/>
          <p:nvPr/>
        </p:nvPicPr>
        <p:blipFill>
          <a:blip r:embed="rId9">
            <a:alphaModFix/>
          </a:blip>
          <a:stretch>
            <a:fillRect/>
          </a:stretch>
        </p:blipFill>
        <p:spPr>
          <a:xfrm>
            <a:off x="8051222" y="3701447"/>
            <a:ext cx="670450" cy="712800"/>
          </a:xfrm>
          <a:prstGeom prst="rect">
            <a:avLst/>
          </a:prstGeom>
          <a:noFill/>
          <a:ln>
            <a:noFill/>
          </a:ln>
        </p:spPr>
      </p:pic>
      <p:sp>
        <p:nvSpPr>
          <p:cNvPr id="1697" name="Google Shape;1697;p117"/>
          <p:cNvSpPr/>
          <p:nvPr/>
        </p:nvSpPr>
        <p:spPr>
          <a:xfrm>
            <a:off x="2521975" y="1612950"/>
            <a:ext cx="1943400" cy="420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98" name="Google Shape;1698;p117"/>
          <p:cNvPicPr preferRelativeResize="0"/>
          <p:nvPr/>
        </p:nvPicPr>
        <p:blipFill>
          <a:blip r:embed="rId5">
            <a:alphaModFix/>
          </a:blip>
          <a:stretch>
            <a:fillRect/>
          </a:stretch>
        </p:blipFill>
        <p:spPr>
          <a:xfrm>
            <a:off x="3883177" y="1878073"/>
            <a:ext cx="320150" cy="310275"/>
          </a:xfrm>
          <a:prstGeom prst="rect">
            <a:avLst/>
          </a:prstGeom>
          <a:noFill/>
          <a:ln>
            <a:noFill/>
          </a:ln>
        </p:spPr>
      </p:pic>
      <p:sp>
        <p:nvSpPr>
          <p:cNvPr id="1699" name="Google Shape;1699;p117"/>
          <p:cNvSpPr/>
          <p:nvPr/>
        </p:nvSpPr>
        <p:spPr>
          <a:xfrm>
            <a:off x="5923500" y="1527225"/>
            <a:ext cx="695400" cy="310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00" name="Google Shape;1700;p117"/>
          <p:cNvPicPr preferRelativeResize="0"/>
          <p:nvPr/>
        </p:nvPicPr>
        <p:blipFill>
          <a:blip r:embed="rId5">
            <a:alphaModFix/>
          </a:blip>
          <a:stretch>
            <a:fillRect/>
          </a:stretch>
        </p:blipFill>
        <p:spPr>
          <a:xfrm flipH="1">
            <a:off x="5755002" y="1667823"/>
            <a:ext cx="320150" cy="310275"/>
          </a:xfrm>
          <a:prstGeom prst="rect">
            <a:avLst/>
          </a:prstGeom>
          <a:noFill/>
          <a:ln>
            <a:noFill/>
          </a:ln>
        </p:spPr>
      </p:pic>
      <p:sp>
        <p:nvSpPr>
          <p:cNvPr id="1701" name="Google Shape;1701;p117"/>
          <p:cNvSpPr/>
          <p:nvPr/>
        </p:nvSpPr>
        <p:spPr>
          <a:xfrm>
            <a:off x="8127050" y="3816050"/>
            <a:ext cx="616800" cy="598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2" name="Google Shape;1702;p117"/>
          <p:cNvSpPr txBox="1"/>
          <p:nvPr>
            <p:ph type="title"/>
          </p:nvPr>
        </p:nvSpPr>
        <p:spPr>
          <a:xfrm>
            <a:off x="374763"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APRO IL CONTATTO</a:t>
            </a:r>
            <a:endParaRPr b="1" sz="1020">
              <a:latin typeface="Oswald"/>
              <a:ea typeface="Oswald"/>
              <a:cs typeface="Oswald"/>
              <a:sym typeface="Oswald"/>
            </a:endParaRPr>
          </a:p>
        </p:txBody>
      </p:sp>
      <p:sp>
        <p:nvSpPr>
          <p:cNvPr id="1703" name="Google Shape;1703;p117"/>
          <p:cNvSpPr txBox="1"/>
          <p:nvPr>
            <p:ph type="title"/>
          </p:nvPr>
        </p:nvSpPr>
        <p:spPr>
          <a:xfrm>
            <a:off x="2521975"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VADO IN ANAGRAFICA</a:t>
            </a:r>
            <a:endParaRPr b="1" sz="1020">
              <a:latin typeface="Oswald"/>
              <a:ea typeface="Oswald"/>
              <a:cs typeface="Oswald"/>
              <a:sym typeface="Oswald"/>
            </a:endParaRPr>
          </a:p>
        </p:txBody>
      </p:sp>
      <p:sp>
        <p:nvSpPr>
          <p:cNvPr id="1704" name="Google Shape;1704;p117"/>
          <p:cNvSpPr txBox="1"/>
          <p:nvPr>
            <p:ph type="title"/>
          </p:nvPr>
        </p:nvSpPr>
        <p:spPr>
          <a:xfrm>
            <a:off x="4675488"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APRO GLI APPUNTAMENTI</a:t>
            </a:r>
            <a:endParaRPr b="1" sz="1020">
              <a:latin typeface="Oswald"/>
              <a:ea typeface="Oswald"/>
              <a:cs typeface="Oswald"/>
              <a:sym typeface="Oswald"/>
            </a:endParaRPr>
          </a:p>
        </p:txBody>
      </p:sp>
      <p:sp>
        <p:nvSpPr>
          <p:cNvPr id="1705" name="Google Shape;1705;p117"/>
          <p:cNvSpPr txBox="1"/>
          <p:nvPr>
            <p:ph type="title"/>
          </p:nvPr>
        </p:nvSpPr>
        <p:spPr>
          <a:xfrm>
            <a:off x="6829013" y="455925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VEDO/CREO GLI APPUNTAMENTI</a:t>
            </a:r>
            <a:endParaRPr b="1" sz="1020">
              <a:latin typeface="Oswald"/>
              <a:ea typeface="Oswald"/>
              <a:cs typeface="Oswald"/>
              <a:sym typeface="Oswald"/>
            </a:endParaRPr>
          </a:p>
        </p:txBody>
      </p:sp>
      <p:sp>
        <p:nvSpPr>
          <p:cNvPr id="1706" name="Google Shape;1706;p117"/>
          <p:cNvSpPr txBox="1"/>
          <p:nvPr>
            <p:ph type="title"/>
          </p:nvPr>
        </p:nvSpPr>
        <p:spPr>
          <a:xfrm>
            <a:off x="6829013" y="3032000"/>
            <a:ext cx="19434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CREA NUOVO APPUNTAMENTO</a:t>
            </a:r>
            <a:endParaRPr b="1" sz="1020">
              <a:solidFill>
                <a:srgbClr val="FF0000"/>
              </a:solidFill>
              <a:latin typeface="Oswald"/>
              <a:ea typeface="Oswald"/>
              <a:cs typeface="Oswald"/>
              <a:sym typeface="Oswald"/>
            </a:endParaRPr>
          </a:p>
        </p:txBody>
      </p:sp>
      <p:cxnSp>
        <p:nvCxnSpPr>
          <p:cNvPr id="1707" name="Google Shape;1707;p117"/>
          <p:cNvCxnSpPr>
            <a:stCxn id="1706" idx="2"/>
          </p:cNvCxnSpPr>
          <p:nvPr/>
        </p:nvCxnSpPr>
        <p:spPr>
          <a:xfrm>
            <a:off x="7800713" y="3245300"/>
            <a:ext cx="387900" cy="394200"/>
          </a:xfrm>
          <a:prstGeom prst="straightConnector1">
            <a:avLst/>
          </a:prstGeom>
          <a:noFill/>
          <a:ln cap="flat" cmpd="sng" w="9525">
            <a:solidFill>
              <a:schemeClr val="dk2"/>
            </a:solidFill>
            <a:prstDash val="solid"/>
            <a:round/>
            <a:headEnd len="med" w="med" type="none"/>
            <a:tailEnd len="med" w="med" type="triangle"/>
          </a:ln>
        </p:spPr>
      </p:cxnSp>
      <p:sp>
        <p:nvSpPr>
          <p:cNvPr id="1708" name="Google Shape;1708;p117"/>
          <p:cNvSpPr/>
          <p:nvPr/>
        </p:nvSpPr>
        <p:spPr>
          <a:xfrm>
            <a:off x="2209275" y="4622250"/>
            <a:ext cx="426600" cy="873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9" name="Google Shape;1709;p117"/>
          <p:cNvSpPr/>
          <p:nvPr/>
        </p:nvSpPr>
        <p:spPr>
          <a:xfrm>
            <a:off x="4360300" y="4622250"/>
            <a:ext cx="426600" cy="873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0" name="Google Shape;1710;p117"/>
          <p:cNvSpPr/>
          <p:nvPr/>
        </p:nvSpPr>
        <p:spPr>
          <a:xfrm>
            <a:off x="6539500" y="4622250"/>
            <a:ext cx="320100" cy="873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1" name="Google Shape;1711;p117"/>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7: Risentire/Gestire - Modifica APPUNTAMENTO da Desktop</a:t>
            </a:r>
            <a:endParaRPr sz="1100">
              <a:highlight>
                <a:srgbClr val="B6D7A8"/>
              </a:highlight>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i="1" lang="it" sz="1100">
                <a:highlight>
                  <a:srgbClr val="B6D7A8"/>
                </a:highlight>
                <a:latin typeface="Lexend"/>
                <a:ea typeface="Lexend"/>
                <a:cs typeface="Lexend"/>
                <a:sym typeface="Lexend"/>
              </a:rPr>
              <a:t>(foto1)</a:t>
            </a:r>
            <a:endParaRPr sz="1100">
              <a:highlight>
                <a:srgbClr val="B6D7A8"/>
              </a:highlight>
              <a:latin typeface="Lexend"/>
              <a:ea typeface="Lexend"/>
              <a:cs typeface="Lexend"/>
              <a:sym typeface="Lexend"/>
            </a:endParaRPr>
          </a:p>
        </p:txBody>
      </p:sp>
      <p:sp>
        <p:nvSpPr>
          <p:cNvPr id="1712" name="Google Shape;1712;p117"/>
          <p:cNvSpPr txBox="1"/>
          <p:nvPr>
            <p:ph type="title"/>
          </p:nvPr>
        </p:nvSpPr>
        <p:spPr>
          <a:xfrm>
            <a:off x="1684503" y="777700"/>
            <a:ext cx="57750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 SI CONSIGLIA DI CREARE/MODIFICARE APPUNTAMENTI DAL PC E NON DA TELEFONO !!</a:t>
            </a:r>
            <a:endParaRPr b="1" sz="1020">
              <a:solidFill>
                <a:srgbClr val="FF0000"/>
              </a:solidFill>
              <a:latin typeface="Oswald"/>
              <a:ea typeface="Oswald"/>
              <a:cs typeface="Oswald"/>
              <a:sym typeface="Oswa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sp>
        <p:nvSpPr>
          <p:cNvPr id="1717" name="Google Shape;1717;p11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18" name="Google Shape;1718;p11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719" name="Google Shape;1719;p11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720" name="Google Shape;1720;p118"/>
          <p:cNvSpPr txBox="1"/>
          <p:nvPr>
            <p:ph type="title"/>
          </p:nvPr>
        </p:nvSpPr>
        <p:spPr>
          <a:xfrm>
            <a:off x="918850" y="849550"/>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8: Preventivo Inviato</a:t>
            </a:r>
            <a:endParaRPr sz="1220">
              <a:highlight>
                <a:srgbClr val="B6D7A8"/>
              </a:highlight>
              <a:latin typeface="Lexend"/>
              <a:ea typeface="Lexend"/>
              <a:cs typeface="Lexend"/>
              <a:sym typeface="Lexend"/>
            </a:endParaRPr>
          </a:p>
        </p:txBody>
      </p:sp>
      <p:sp>
        <p:nvSpPr>
          <p:cNvPr id="1721" name="Google Shape;1721;p11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722" name="Google Shape;1722;p118"/>
          <p:cNvSpPr txBox="1"/>
          <p:nvPr>
            <p:ph type="title"/>
          </p:nvPr>
        </p:nvSpPr>
        <p:spPr>
          <a:xfrm>
            <a:off x="521425" y="1496250"/>
            <a:ext cx="8146500" cy="33045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sposterete i lead che, una volta fatto l’incontro, andrete a creare l’offerta economica e quanto necessario per rispondere alle domande del cliente.</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1- Con l’appuntamento concluso, </a:t>
            </a:r>
            <a:r>
              <a:rPr b="1" lang="it" sz="1620" u="sng">
                <a:latin typeface="Lexend"/>
                <a:ea typeface="Lexend"/>
                <a:cs typeface="Lexend"/>
                <a:sym typeface="Lexend"/>
              </a:rPr>
              <a:t>andare sulla voce “note”</a:t>
            </a:r>
            <a:r>
              <a:rPr lang="it" sz="1620">
                <a:latin typeface="Lexend"/>
                <a:ea typeface="Lexend"/>
                <a:cs typeface="Lexend"/>
                <a:sym typeface="Lexend"/>
              </a:rPr>
              <a:t> e inserire le note dell’appuntamento concluso. </a:t>
            </a:r>
            <a:r>
              <a:rPr i="1" lang="it" sz="1620">
                <a:latin typeface="Lexend"/>
                <a:ea typeface="Lexend"/>
                <a:cs typeface="Lexend"/>
                <a:sym typeface="Lexend"/>
              </a:rPr>
              <a:t>(foto1)</a:t>
            </a:r>
            <a:endParaRPr i="1"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i="1"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2- Con l’appuntamento concluso, </a:t>
            </a:r>
            <a:r>
              <a:rPr b="1" lang="it" sz="1620" u="sng">
                <a:latin typeface="Lexend"/>
                <a:ea typeface="Lexend"/>
                <a:cs typeface="Lexend"/>
                <a:sym typeface="Lexend"/>
              </a:rPr>
              <a:t>andare sulla voce “documenti”</a:t>
            </a:r>
            <a:r>
              <a:rPr lang="it" sz="1620">
                <a:latin typeface="Lexend"/>
                <a:ea typeface="Lexend"/>
                <a:cs typeface="Lexend"/>
                <a:sym typeface="Lexend"/>
              </a:rPr>
              <a:t> e caricate la foto/scan del modulo raccolta dati EKO. </a:t>
            </a:r>
            <a:r>
              <a:rPr i="1" lang="it" sz="1620">
                <a:latin typeface="Lexend"/>
                <a:ea typeface="Lexend"/>
                <a:cs typeface="Lexend"/>
                <a:sym typeface="Lexend"/>
              </a:rPr>
              <a:t>(foto2)</a:t>
            </a:r>
            <a:endParaRPr i="1"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t/>
            </a:r>
            <a:endParaRPr i="1" sz="1620">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3- Con il preventivo pronto, </a:t>
            </a:r>
            <a:r>
              <a:rPr b="1" lang="it" sz="1620" u="sng">
                <a:latin typeface="Lexend"/>
                <a:ea typeface="Lexend"/>
                <a:cs typeface="Lexend"/>
                <a:sym typeface="Lexend"/>
              </a:rPr>
              <a:t>andare sulla voce “documenti”</a:t>
            </a:r>
            <a:r>
              <a:rPr lang="it" sz="1620">
                <a:latin typeface="Lexend"/>
                <a:ea typeface="Lexend"/>
                <a:cs typeface="Lexend"/>
                <a:sym typeface="Lexend"/>
              </a:rPr>
              <a:t> e caricate il preventivo definitivo (non firmato) che avete mandato al cliente. </a:t>
            </a:r>
            <a:r>
              <a:rPr i="1" lang="it" sz="1620">
                <a:latin typeface="Lexend"/>
                <a:ea typeface="Lexend"/>
                <a:cs typeface="Lexend"/>
                <a:sym typeface="Lexend"/>
              </a:rPr>
              <a:t>(foto3)</a:t>
            </a:r>
            <a:endParaRPr i="1" sz="1620">
              <a:latin typeface="Lexend"/>
              <a:ea typeface="Lexend"/>
              <a:cs typeface="Lexend"/>
              <a:sym typeface="Lexen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pic>
        <p:nvPicPr>
          <p:cNvPr id="1727" name="Google Shape;1727;p119"/>
          <p:cNvPicPr preferRelativeResize="0"/>
          <p:nvPr/>
        </p:nvPicPr>
        <p:blipFill rotWithShape="1">
          <a:blip r:embed="rId3">
            <a:alphaModFix/>
          </a:blip>
          <a:srcRect b="27990" l="0" r="0" t="0"/>
          <a:stretch/>
        </p:blipFill>
        <p:spPr>
          <a:xfrm>
            <a:off x="3050009" y="999650"/>
            <a:ext cx="5611940" cy="3649238"/>
          </a:xfrm>
          <a:prstGeom prst="rect">
            <a:avLst/>
          </a:prstGeom>
          <a:noFill/>
          <a:ln>
            <a:noFill/>
          </a:ln>
        </p:spPr>
      </p:pic>
      <p:sp>
        <p:nvSpPr>
          <p:cNvPr id="1728" name="Google Shape;1728;p119"/>
          <p:cNvSpPr/>
          <p:nvPr/>
        </p:nvSpPr>
        <p:spPr>
          <a:xfrm>
            <a:off x="2933325" y="937400"/>
            <a:ext cx="58614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9" name="Google Shape;1729;p11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30" name="Google Shape;1730;p119"/>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731" name="Google Shape;1731;p11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732" name="Google Shape;1732;p119"/>
          <p:cNvSpPr txBox="1"/>
          <p:nvPr>
            <p:ph type="title"/>
          </p:nvPr>
        </p:nvSpPr>
        <p:spPr>
          <a:xfrm>
            <a:off x="1911300" y="67700"/>
            <a:ext cx="53214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8: In Attesa/Lavorazione - Caricare note appuntamento da Desktop</a:t>
            </a:r>
            <a:endParaRPr sz="1100">
              <a:highlight>
                <a:srgbClr val="B6D7A8"/>
              </a:highlight>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i="1" lang="it" sz="1100">
                <a:highlight>
                  <a:srgbClr val="B6D7A8"/>
                </a:highlight>
                <a:latin typeface="Lexend"/>
                <a:ea typeface="Lexend"/>
                <a:cs typeface="Lexend"/>
                <a:sym typeface="Lexend"/>
              </a:rPr>
              <a:t>(foto1)</a:t>
            </a:r>
            <a:endParaRPr sz="1100">
              <a:highlight>
                <a:srgbClr val="B6D7A8"/>
              </a:highlight>
              <a:latin typeface="Lexend"/>
              <a:ea typeface="Lexend"/>
              <a:cs typeface="Lexend"/>
              <a:sym typeface="Lexend"/>
            </a:endParaRPr>
          </a:p>
        </p:txBody>
      </p:sp>
      <p:sp>
        <p:nvSpPr>
          <p:cNvPr id="1733" name="Google Shape;1733;p119"/>
          <p:cNvSpPr txBox="1"/>
          <p:nvPr>
            <p:ph idx="4294967295" type="subTitle"/>
          </p:nvPr>
        </p:nvSpPr>
        <p:spPr>
          <a:xfrm>
            <a:off x="1123914" y="158450"/>
            <a:ext cx="6153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734" name="Google Shape;1734;p119"/>
          <p:cNvSpPr/>
          <p:nvPr/>
        </p:nvSpPr>
        <p:spPr>
          <a:xfrm>
            <a:off x="6155700" y="1891175"/>
            <a:ext cx="8055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5" name="Google Shape;1735;p119"/>
          <p:cNvSpPr/>
          <p:nvPr/>
        </p:nvSpPr>
        <p:spPr>
          <a:xfrm>
            <a:off x="3137075" y="2402950"/>
            <a:ext cx="8055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6" name="Google Shape;1736;p119"/>
          <p:cNvSpPr/>
          <p:nvPr/>
        </p:nvSpPr>
        <p:spPr>
          <a:xfrm>
            <a:off x="4544500" y="2256025"/>
            <a:ext cx="1947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7" name="Google Shape;1737;p119"/>
          <p:cNvSpPr/>
          <p:nvPr/>
        </p:nvSpPr>
        <p:spPr>
          <a:xfrm>
            <a:off x="4544500" y="3052150"/>
            <a:ext cx="1947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8" name="Google Shape;1738;p119"/>
          <p:cNvSpPr txBox="1"/>
          <p:nvPr>
            <p:ph type="title"/>
          </p:nvPr>
        </p:nvSpPr>
        <p:spPr>
          <a:xfrm>
            <a:off x="6492100" y="3052150"/>
            <a:ext cx="14064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DATA E ORA</a:t>
            </a:r>
            <a:endParaRPr b="1" sz="1020">
              <a:solidFill>
                <a:srgbClr val="FF0000"/>
              </a:solidFill>
              <a:latin typeface="Oswald"/>
              <a:ea typeface="Oswald"/>
              <a:cs typeface="Oswald"/>
              <a:sym typeface="Oswald"/>
            </a:endParaRPr>
          </a:p>
        </p:txBody>
      </p:sp>
      <p:sp>
        <p:nvSpPr>
          <p:cNvPr id="1739" name="Google Shape;1739;p119"/>
          <p:cNvSpPr txBox="1"/>
          <p:nvPr>
            <p:ph type="title"/>
          </p:nvPr>
        </p:nvSpPr>
        <p:spPr>
          <a:xfrm>
            <a:off x="6492100" y="2256025"/>
            <a:ext cx="14064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LUOGO</a:t>
            </a:r>
            <a:endParaRPr b="1" sz="1020">
              <a:solidFill>
                <a:srgbClr val="FF0000"/>
              </a:solidFill>
              <a:latin typeface="Oswald"/>
              <a:ea typeface="Oswald"/>
              <a:cs typeface="Oswald"/>
              <a:sym typeface="Oswald"/>
            </a:endParaRPr>
          </a:p>
        </p:txBody>
      </p:sp>
      <p:sp>
        <p:nvSpPr>
          <p:cNvPr id="1740" name="Google Shape;1740;p119"/>
          <p:cNvSpPr txBox="1"/>
          <p:nvPr>
            <p:ph type="title"/>
          </p:nvPr>
        </p:nvSpPr>
        <p:spPr>
          <a:xfrm>
            <a:off x="6961200" y="1891175"/>
            <a:ext cx="14064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NUOVA NOTA</a:t>
            </a:r>
            <a:endParaRPr b="1" sz="1020">
              <a:solidFill>
                <a:srgbClr val="FF0000"/>
              </a:solidFill>
              <a:latin typeface="Oswald"/>
              <a:ea typeface="Oswald"/>
              <a:cs typeface="Oswald"/>
              <a:sym typeface="Oswald"/>
            </a:endParaRPr>
          </a:p>
        </p:txBody>
      </p:sp>
      <p:pic>
        <p:nvPicPr>
          <p:cNvPr id="1741" name="Google Shape;1741;p119"/>
          <p:cNvPicPr preferRelativeResize="0"/>
          <p:nvPr/>
        </p:nvPicPr>
        <p:blipFill>
          <a:blip r:embed="rId5">
            <a:alphaModFix/>
          </a:blip>
          <a:stretch>
            <a:fillRect/>
          </a:stretch>
        </p:blipFill>
        <p:spPr>
          <a:xfrm>
            <a:off x="555200" y="2371663"/>
            <a:ext cx="1792925" cy="833775"/>
          </a:xfrm>
          <a:prstGeom prst="rect">
            <a:avLst/>
          </a:prstGeom>
          <a:noFill/>
          <a:ln>
            <a:noFill/>
          </a:ln>
        </p:spPr>
      </p:pic>
      <p:cxnSp>
        <p:nvCxnSpPr>
          <p:cNvPr id="1742" name="Google Shape;1742;p119"/>
          <p:cNvCxnSpPr>
            <a:stCxn id="1741" idx="3"/>
            <a:endCxn id="1728" idx="1"/>
          </p:cNvCxnSpPr>
          <p:nvPr/>
        </p:nvCxnSpPr>
        <p:spPr>
          <a:xfrm flipH="1" rot="10800000">
            <a:off x="2348125" y="2784650"/>
            <a:ext cx="585300" cy="3900"/>
          </a:xfrm>
          <a:prstGeom prst="straightConnector1">
            <a:avLst/>
          </a:prstGeom>
          <a:noFill/>
          <a:ln cap="flat" cmpd="sng" w="9525">
            <a:solidFill>
              <a:schemeClr val="dk2"/>
            </a:solidFill>
            <a:prstDash val="dash"/>
            <a:round/>
            <a:headEnd len="med" w="med" type="none"/>
            <a:tailEnd len="med" w="med" type="triangle"/>
          </a:ln>
        </p:spPr>
      </p:cxnSp>
      <p:sp>
        <p:nvSpPr>
          <p:cNvPr id="1743" name="Google Shape;1743;p119"/>
          <p:cNvSpPr/>
          <p:nvPr/>
        </p:nvSpPr>
        <p:spPr>
          <a:xfrm>
            <a:off x="1360025" y="2997163"/>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44" name="Google Shape;1744;p119"/>
          <p:cNvPicPr preferRelativeResize="0"/>
          <p:nvPr/>
        </p:nvPicPr>
        <p:blipFill>
          <a:blip r:embed="rId6">
            <a:alphaModFix/>
          </a:blip>
          <a:stretch>
            <a:fillRect/>
          </a:stretch>
        </p:blipFill>
        <p:spPr>
          <a:xfrm>
            <a:off x="1845450" y="2867562"/>
            <a:ext cx="502675" cy="502675"/>
          </a:xfrm>
          <a:prstGeom prst="rect">
            <a:avLst/>
          </a:prstGeom>
          <a:noFill/>
          <a:ln>
            <a:noFill/>
          </a:ln>
        </p:spPr>
      </p:pic>
      <p:sp>
        <p:nvSpPr>
          <p:cNvPr id="1745" name="Google Shape;1745;p119"/>
          <p:cNvSpPr/>
          <p:nvPr/>
        </p:nvSpPr>
        <p:spPr>
          <a:xfrm>
            <a:off x="555275" y="2365013"/>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6" name="Google Shape;1746;p119"/>
          <p:cNvSpPr txBox="1"/>
          <p:nvPr>
            <p:ph type="title"/>
          </p:nvPr>
        </p:nvSpPr>
        <p:spPr>
          <a:xfrm>
            <a:off x="479963" y="20713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CLICCARE SUL LEAD</a:t>
            </a:r>
            <a:endParaRPr b="1" sz="1020">
              <a:solidFill>
                <a:srgbClr val="FF0000"/>
              </a:solidFill>
              <a:latin typeface="Oswald"/>
              <a:ea typeface="Oswald"/>
              <a:cs typeface="Oswald"/>
              <a:sym typeface="Oswa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0" name="Shape 1750"/>
        <p:cNvGrpSpPr/>
        <p:nvPr/>
      </p:nvGrpSpPr>
      <p:grpSpPr>
        <a:xfrm>
          <a:off x="0" y="0"/>
          <a:ext cx="0" cy="0"/>
          <a:chOff x="0" y="0"/>
          <a:chExt cx="0" cy="0"/>
        </a:xfrm>
      </p:grpSpPr>
      <p:sp>
        <p:nvSpPr>
          <p:cNvPr id="1751" name="Google Shape;1751;p120"/>
          <p:cNvSpPr/>
          <p:nvPr/>
        </p:nvSpPr>
        <p:spPr>
          <a:xfrm>
            <a:off x="2933325" y="937400"/>
            <a:ext cx="58614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2" name="Google Shape;1752;p12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53" name="Google Shape;1753;p12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754" name="Google Shape;1754;p12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755" name="Google Shape;1755;p12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1756" name="Google Shape;1756;p120"/>
          <p:cNvPicPr preferRelativeResize="0"/>
          <p:nvPr/>
        </p:nvPicPr>
        <p:blipFill>
          <a:blip r:embed="rId4">
            <a:alphaModFix/>
          </a:blip>
          <a:stretch>
            <a:fillRect/>
          </a:stretch>
        </p:blipFill>
        <p:spPr>
          <a:xfrm>
            <a:off x="2948912" y="1249785"/>
            <a:ext cx="5830226" cy="3077551"/>
          </a:xfrm>
          <a:prstGeom prst="rect">
            <a:avLst/>
          </a:prstGeom>
          <a:noFill/>
          <a:ln>
            <a:noFill/>
          </a:ln>
        </p:spPr>
      </p:pic>
      <p:pic>
        <p:nvPicPr>
          <p:cNvPr id="1757" name="Google Shape;1757;p120"/>
          <p:cNvPicPr preferRelativeResize="0"/>
          <p:nvPr/>
        </p:nvPicPr>
        <p:blipFill>
          <a:blip r:embed="rId5">
            <a:alphaModFix/>
          </a:blip>
          <a:stretch>
            <a:fillRect/>
          </a:stretch>
        </p:blipFill>
        <p:spPr>
          <a:xfrm>
            <a:off x="555200" y="2371663"/>
            <a:ext cx="1792925" cy="833775"/>
          </a:xfrm>
          <a:prstGeom prst="rect">
            <a:avLst/>
          </a:prstGeom>
          <a:noFill/>
          <a:ln>
            <a:noFill/>
          </a:ln>
        </p:spPr>
      </p:pic>
      <p:sp>
        <p:nvSpPr>
          <p:cNvPr id="1758" name="Google Shape;1758;p120"/>
          <p:cNvSpPr/>
          <p:nvPr/>
        </p:nvSpPr>
        <p:spPr>
          <a:xfrm>
            <a:off x="1360025" y="2997163"/>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9" name="Google Shape;1759;p120"/>
          <p:cNvSpPr/>
          <p:nvPr/>
        </p:nvSpPr>
        <p:spPr>
          <a:xfrm>
            <a:off x="555275" y="2365013"/>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0" name="Google Shape;1760;p120"/>
          <p:cNvSpPr txBox="1"/>
          <p:nvPr>
            <p:ph type="title"/>
          </p:nvPr>
        </p:nvSpPr>
        <p:spPr>
          <a:xfrm>
            <a:off x="479963" y="20713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CLICCARE SUL NOME DEL LEAD</a:t>
            </a:r>
            <a:endParaRPr b="1" sz="1020">
              <a:solidFill>
                <a:srgbClr val="FF0000"/>
              </a:solidFill>
              <a:latin typeface="Oswald"/>
              <a:ea typeface="Oswald"/>
              <a:cs typeface="Oswald"/>
              <a:sym typeface="Oswald"/>
            </a:endParaRPr>
          </a:p>
        </p:txBody>
      </p:sp>
      <p:cxnSp>
        <p:nvCxnSpPr>
          <p:cNvPr id="1761" name="Google Shape;1761;p120"/>
          <p:cNvCxnSpPr/>
          <p:nvPr/>
        </p:nvCxnSpPr>
        <p:spPr>
          <a:xfrm>
            <a:off x="521275" y="2601600"/>
            <a:ext cx="838800" cy="0"/>
          </a:xfrm>
          <a:prstGeom prst="straightConnector1">
            <a:avLst/>
          </a:prstGeom>
          <a:noFill/>
          <a:ln cap="flat" cmpd="sng" w="38100">
            <a:solidFill>
              <a:srgbClr val="FF0000"/>
            </a:solidFill>
            <a:prstDash val="solid"/>
            <a:round/>
            <a:headEnd len="med" w="med" type="none"/>
            <a:tailEnd len="med" w="med" type="none"/>
          </a:ln>
        </p:spPr>
      </p:cxnSp>
      <p:pic>
        <p:nvPicPr>
          <p:cNvPr id="1762" name="Google Shape;1762;p120"/>
          <p:cNvPicPr preferRelativeResize="0"/>
          <p:nvPr/>
        </p:nvPicPr>
        <p:blipFill>
          <a:blip r:embed="rId6">
            <a:alphaModFix/>
          </a:blip>
          <a:stretch>
            <a:fillRect/>
          </a:stretch>
        </p:blipFill>
        <p:spPr>
          <a:xfrm>
            <a:off x="1310975" y="2460906"/>
            <a:ext cx="281386" cy="281400"/>
          </a:xfrm>
          <a:prstGeom prst="rect">
            <a:avLst/>
          </a:prstGeom>
          <a:noFill/>
          <a:ln>
            <a:noFill/>
          </a:ln>
        </p:spPr>
      </p:pic>
      <p:sp>
        <p:nvSpPr>
          <p:cNvPr id="1763" name="Google Shape;1763;p120"/>
          <p:cNvSpPr/>
          <p:nvPr/>
        </p:nvSpPr>
        <p:spPr>
          <a:xfrm>
            <a:off x="8051225" y="1325600"/>
            <a:ext cx="2814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4" name="Google Shape;1764;p120"/>
          <p:cNvSpPr/>
          <p:nvPr/>
        </p:nvSpPr>
        <p:spPr>
          <a:xfrm>
            <a:off x="8079650" y="1605200"/>
            <a:ext cx="630300" cy="281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5" name="Google Shape;1765;p120"/>
          <p:cNvSpPr txBox="1"/>
          <p:nvPr>
            <p:ph type="title"/>
          </p:nvPr>
        </p:nvSpPr>
        <p:spPr>
          <a:xfrm>
            <a:off x="6229663" y="104600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 DOCUMENTI</a:t>
            </a:r>
            <a:endParaRPr b="1" sz="1020">
              <a:solidFill>
                <a:srgbClr val="FF0000"/>
              </a:solidFill>
              <a:latin typeface="Oswald"/>
              <a:ea typeface="Oswald"/>
              <a:cs typeface="Oswald"/>
              <a:sym typeface="Oswald"/>
            </a:endParaRPr>
          </a:p>
        </p:txBody>
      </p:sp>
      <p:sp>
        <p:nvSpPr>
          <p:cNvPr id="1766" name="Google Shape;1766;p120"/>
          <p:cNvSpPr txBox="1"/>
          <p:nvPr>
            <p:ph type="title"/>
          </p:nvPr>
        </p:nvSpPr>
        <p:spPr>
          <a:xfrm>
            <a:off x="6888363" y="30118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CARICARE MODULO</a:t>
            </a:r>
            <a:endParaRPr b="1" sz="1020">
              <a:solidFill>
                <a:srgbClr val="FF0000"/>
              </a:solidFill>
              <a:latin typeface="Oswald"/>
              <a:ea typeface="Oswald"/>
              <a:cs typeface="Oswald"/>
              <a:sym typeface="Oswald"/>
            </a:endParaRPr>
          </a:p>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RACCOLTA DATI EKO</a:t>
            </a:r>
            <a:endParaRPr b="1" sz="1020">
              <a:solidFill>
                <a:srgbClr val="FF0000"/>
              </a:solidFill>
              <a:latin typeface="Oswald"/>
              <a:ea typeface="Oswald"/>
              <a:cs typeface="Oswald"/>
              <a:sym typeface="Oswald"/>
            </a:endParaRPr>
          </a:p>
        </p:txBody>
      </p:sp>
      <p:cxnSp>
        <p:nvCxnSpPr>
          <p:cNvPr id="1767" name="Google Shape;1767;p120"/>
          <p:cNvCxnSpPr/>
          <p:nvPr/>
        </p:nvCxnSpPr>
        <p:spPr>
          <a:xfrm>
            <a:off x="7975400" y="1151525"/>
            <a:ext cx="156300" cy="90000"/>
          </a:xfrm>
          <a:prstGeom prst="straightConnector1">
            <a:avLst/>
          </a:prstGeom>
          <a:noFill/>
          <a:ln cap="flat" cmpd="sng" w="9525">
            <a:solidFill>
              <a:schemeClr val="dk2"/>
            </a:solidFill>
            <a:prstDash val="solid"/>
            <a:round/>
            <a:headEnd len="med" w="med" type="none"/>
            <a:tailEnd len="med" w="med" type="triangle"/>
          </a:ln>
        </p:spPr>
      </p:cxnSp>
      <p:cxnSp>
        <p:nvCxnSpPr>
          <p:cNvPr id="1768" name="Google Shape;1768;p120"/>
          <p:cNvCxnSpPr/>
          <p:nvPr/>
        </p:nvCxnSpPr>
        <p:spPr>
          <a:xfrm flipH="1" rot="10800000">
            <a:off x="8202875" y="1966500"/>
            <a:ext cx="80700" cy="938400"/>
          </a:xfrm>
          <a:prstGeom prst="straightConnector1">
            <a:avLst/>
          </a:prstGeom>
          <a:noFill/>
          <a:ln cap="flat" cmpd="sng" w="9525">
            <a:solidFill>
              <a:schemeClr val="dk2"/>
            </a:solidFill>
            <a:prstDash val="solid"/>
            <a:round/>
            <a:headEnd len="med" w="med" type="none"/>
            <a:tailEnd len="med" w="med" type="triangle"/>
          </a:ln>
        </p:spPr>
      </p:cxnSp>
      <p:cxnSp>
        <p:nvCxnSpPr>
          <p:cNvPr id="1769" name="Google Shape;1769;p120"/>
          <p:cNvCxnSpPr/>
          <p:nvPr/>
        </p:nvCxnSpPr>
        <p:spPr>
          <a:xfrm>
            <a:off x="2348075" y="2769513"/>
            <a:ext cx="585300" cy="15000"/>
          </a:xfrm>
          <a:prstGeom prst="straightConnector1">
            <a:avLst/>
          </a:prstGeom>
          <a:noFill/>
          <a:ln cap="flat" cmpd="sng" w="9525">
            <a:solidFill>
              <a:schemeClr val="dk2"/>
            </a:solidFill>
            <a:prstDash val="dash"/>
            <a:round/>
            <a:headEnd len="med" w="med" type="none"/>
            <a:tailEnd len="med" w="med" type="triangle"/>
          </a:ln>
        </p:spPr>
      </p:cxnSp>
      <p:sp>
        <p:nvSpPr>
          <p:cNvPr id="1770" name="Google Shape;1770;p120"/>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8: In Attesa/Lavorazione - Caricare modulo dati EKO da Desktop</a:t>
            </a:r>
            <a:endParaRPr sz="1100">
              <a:highlight>
                <a:srgbClr val="B6D7A8"/>
              </a:highlight>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i="1" lang="it" sz="1100">
                <a:highlight>
                  <a:srgbClr val="B6D7A8"/>
                </a:highlight>
                <a:latin typeface="Lexend"/>
                <a:ea typeface="Lexend"/>
                <a:cs typeface="Lexend"/>
                <a:sym typeface="Lexend"/>
              </a:rPr>
              <a:t>(foto2)</a:t>
            </a:r>
            <a:endParaRPr i="1" sz="1100">
              <a:highlight>
                <a:srgbClr val="B6D7A8"/>
              </a:highlight>
              <a:latin typeface="Lexend"/>
              <a:ea typeface="Lexend"/>
              <a:cs typeface="Lexend"/>
              <a:sym typeface="Lexen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sp>
        <p:nvSpPr>
          <p:cNvPr id="1775" name="Google Shape;1775;p121"/>
          <p:cNvSpPr/>
          <p:nvPr/>
        </p:nvSpPr>
        <p:spPr>
          <a:xfrm>
            <a:off x="2933325" y="937400"/>
            <a:ext cx="58614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6" name="Google Shape;1776;p12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77" name="Google Shape;1777;p12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778" name="Google Shape;1778;p12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779" name="Google Shape;1779;p12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pic>
        <p:nvPicPr>
          <p:cNvPr id="1780" name="Google Shape;1780;p121"/>
          <p:cNvPicPr preferRelativeResize="0"/>
          <p:nvPr/>
        </p:nvPicPr>
        <p:blipFill>
          <a:blip r:embed="rId4">
            <a:alphaModFix/>
          </a:blip>
          <a:stretch>
            <a:fillRect/>
          </a:stretch>
        </p:blipFill>
        <p:spPr>
          <a:xfrm>
            <a:off x="2948912" y="1249785"/>
            <a:ext cx="5830226" cy="3077551"/>
          </a:xfrm>
          <a:prstGeom prst="rect">
            <a:avLst/>
          </a:prstGeom>
          <a:noFill/>
          <a:ln>
            <a:noFill/>
          </a:ln>
        </p:spPr>
      </p:pic>
      <p:pic>
        <p:nvPicPr>
          <p:cNvPr id="1781" name="Google Shape;1781;p121"/>
          <p:cNvPicPr preferRelativeResize="0"/>
          <p:nvPr/>
        </p:nvPicPr>
        <p:blipFill>
          <a:blip r:embed="rId5">
            <a:alphaModFix/>
          </a:blip>
          <a:stretch>
            <a:fillRect/>
          </a:stretch>
        </p:blipFill>
        <p:spPr>
          <a:xfrm>
            <a:off x="555200" y="2371663"/>
            <a:ext cx="1792925" cy="833775"/>
          </a:xfrm>
          <a:prstGeom prst="rect">
            <a:avLst/>
          </a:prstGeom>
          <a:noFill/>
          <a:ln>
            <a:noFill/>
          </a:ln>
        </p:spPr>
      </p:pic>
      <p:sp>
        <p:nvSpPr>
          <p:cNvPr id="1782" name="Google Shape;1782;p121"/>
          <p:cNvSpPr/>
          <p:nvPr/>
        </p:nvSpPr>
        <p:spPr>
          <a:xfrm>
            <a:off x="1360025" y="2997163"/>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3" name="Google Shape;1783;p121"/>
          <p:cNvSpPr/>
          <p:nvPr/>
        </p:nvSpPr>
        <p:spPr>
          <a:xfrm>
            <a:off x="555275" y="2365013"/>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4" name="Google Shape;1784;p121"/>
          <p:cNvSpPr txBox="1"/>
          <p:nvPr>
            <p:ph type="title"/>
          </p:nvPr>
        </p:nvSpPr>
        <p:spPr>
          <a:xfrm>
            <a:off x="479963" y="20713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CLICCARE SUL NOME DEL LEAD</a:t>
            </a:r>
            <a:endParaRPr b="1" sz="1020">
              <a:solidFill>
                <a:srgbClr val="FF0000"/>
              </a:solidFill>
              <a:latin typeface="Oswald"/>
              <a:ea typeface="Oswald"/>
              <a:cs typeface="Oswald"/>
              <a:sym typeface="Oswald"/>
            </a:endParaRPr>
          </a:p>
        </p:txBody>
      </p:sp>
      <p:cxnSp>
        <p:nvCxnSpPr>
          <p:cNvPr id="1785" name="Google Shape;1785;p121"/>
          <p:cNvCxnSpPr/>
          <p:nvPr/>
        </p:nvCxnSpPr>
        <p:spPr>
          <a:xfrm>
            <a:off x="521275" y="2601600"/>
            <a:ext cx="838800" cy="0"/>
          </a:xfrm>
          <a:prstGeom prst="straightConnector1">
            <a:avLst/>
          </a:prstGeom>
          <a:noFill/>
          <a:ln cap="flat" cmpd="sng" w="38100">
            <a:solidFill>
              <a:srgbClr val="FF0000"/>
            </a:solidFill>
            <a:prstDash val="solid"/>
            <a:round/>
            <a:headEnd len="med" w="med" type="none"/>
            <a:tailEnd len="med" w="med" type="none"/>
          </a:ln>
        </p:spPr>
      </p:cxnSp>
      <p:pic>
        <p:nvPicPr>
          <p:cNvPr id="1786" name="Google Shape;1786;p121"/>
          <p:cNvPicPr preferRelativeResize="0"/>
          <p:nvPr/>
        </p:nvPicPr>
        <p:blipFill>
          <a:blip r:embed="rId6">
            <a:alphaModFix/>
          </a:blip>
          <a:stretch>
            <a:fillRect/>
          </a:stretch>
        </p:blipFill>
        <p:spPr>
          <a:xfrm>
            <a:off x="1310975" y="2460906"/>
            <a:ext cx="281386" cy="281400"/>
          </a:xfrm>
          <a:prstGeom prst="rect">
            <a:avLst/>
          </a:prstGeom>
          <a:noFill/>
          <a:ln>
            <a:noFill/>
          </a:ln>
        </p:spPr>
      </p:pic>
      <p:sp>
        <p:nvSpPr>
          <p:cNvPr id="1787" name="Google Shape;1787;p121"/>
          <p:cNvSpPr/>
          <p:nvPr/>
        </p:nvSpPr>
        <p:spPr>
          <a:xfrm>
            <a:off x="8051225" y="1325600"/>
            <a:ext cx="2814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8" name="Google Shape;1788;p121"/>
          <p:cNvSpPr/>
          <p:nvPr/>
        </p:nvSpPr>
        <p:spPr>
          <a:xfrm>
            <a:off x="8079650" y="1605200"/>
            <a:ext cx="630300" cy="281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9" name="Google Shape;1789;p121"/>
          <p:cNvSpPr txBox="1"/>
          <p:nvPr>
            <p:ph type="title"/>
          </p:nvPr>
        </p:nvSpPr>
        <p:spPr>
          <a:xfrm>
            <a:off x="6229663" y="1046000"/>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 DOCUMENTI</a:t>
            </a:r>
            <a:endParaRPr b="1" sz="1020">
              <a:solidFill>
                <a:srgbClr val="FF0000"/>
              </a:solidFill>
              <a:latin typeface="Oswald"/>
              <a:ea typeface="Oswald"/>
              <a:cs typeface="Oswald"/>
              <a:sym typeface="Oswald"/>
            </a:endParaRPr>
          </a:p>
        </p:txBody>
      </p:sp>
      <p:sp>
        <p:nvSpPr>
          <p:cNvPr id="1790" name="Google Shape;1790;p121"/>
          <p:cNvSpPr txBox="1"/>
          <p:nvPr>
            <p:ph type="title"/>
          </p:nvPr>
        </p:nvSpPr>
        <p:spPr>
          <a:xfrm>
            <a:off x="6888363" y="29356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CARICARE PREVENTIVO</a:t>
            </a:r>
            <a:endParaRPr b="1" sz="1020">
              <a:solidFill>
                <a:srgbClr val="FF0000"/>
              </a:solidFill>
              <a:latin typeface="Oswald"/>
              <a:ea typeface="Oswald"/>
              <a:cs typeface="Oswald"/>
              <a:sym typeface="Oswald"/>
            </a:endParaRPr>
          </a:p>
        </p:txBody>
      </p:sp>
      <p:cxnSp>
        <p:nvCxnSpPr>
          <p:cNvPr id="1791" name="Google Shape;1791;p121"/>
          <p:cNvCxnSpPr/>
          <p:nvPr/>
        </p:nvCxnSpPr>
        <p:spPr>
          <a:xfrm>
            <a:off x="7975400" y="1151525"/>
            <a:ext cx="156300" cy="90000"/>
          </a:xfrm>
          <a:prstGeom prst="straightConnector1">
            <a:avLst/>
          </a:prstGeom>
          <a:noFill/>
          <a:ln cap="flat" cmpd="sng" w="9525">
            <a:solidFill>
              <a:schemeClr val="dk2"/>
            </a:solidFill>
            <a:prstDash val="solid"/>
            <a:round/>
            <a:headEnd len="med" w="med" type="none"/>
            <a:tailEnd len="med" w="med" type="triangle"/>
          </a:ln>
        </p:spPr>
      </p:cxnSp>
      <p:cxnSp>
        <p:nvCxnSpPr>
          <p:cNvPr id="1792" name="Google Shape;1792;p121"/>
          <p:cNvCxnSpPr/>
          <p:nvPr/>
        </p:nvCxnSpPr>
        <p:spPr>
          <a:xfrm flipH="1" rot="10800000">
            <a:off x="8202875" y="1966500"/>
            <a:ext cx="80700" cy="938400"/>
          </a:xfrm>
          <a:prstGeom prst="straightConnector1">
            <a:avLst/>
          </a:prstGeom>
          <a:noFill/>
          <a:ln cap="flat" cmpd="sng" w="9525">
            <a:solidFill>
              <a:schemeClr val="dk2"/>
            </a:solidFill>
            <a:prstDash val="solid"/>
            <a:round/>
            <a:headEnd len="med" w="med" type="none"/>
            <a:tailEnd len="med" w="med" type="triangle"/>
          </a:ln>
        </p:spPr>
      </p:cxnSp>
      <p:cxnSp>
        <p:nvCxnSpPr>
          <p:cNvPr id="1793" name="Google Shape;1793;p121"/>
          <p:cNvCxnSpPr/>
          <p:nvPr/>
        </p:nvCxnSpPr>
        <p:spPr>
          <a:xfrm>
            <a:off x="2348075" y="2769513"/>
            <a:ext cx="585300" cy="15000"/>
          </a:xfrm>
          <a:prstGeom prst="straightConnector1">
            <a:avLst/>
          </a:prstGeom>
          <a:noFill/>
          <a:ln cap="flat" cmpd="sng" w="9525">
            <a:solidFill>
              <a:schemeClr val="dk2"/>
            </a:solidFill>
            <a:prstDash val="dash"/>
            <a:round/>
            <a:headEnd len="med" w="med" type="none"/>
            <a:tailEnd len="med" w="med" type="triangle"/>
          </a:ln>
        </p:spPr>
      </p:cxnSp>
      <p:sp>
        <p:nvSpPr>
          <p:cNvPr id="1794" name="Google Shape;1794;p121"/>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8: In Attesa/Lavorazione - Caricare preventivo da Desktop</a:t>
            </a:r>
            <a:endParaRPr sz="1100">
              <a:highlight>
                <a:srgbClr val="B6D7A8"/>
              </a:highlight>
              <a:latin typeface="Lexend"/>
              <a:ea typeface="Lexend"/>
              <a:cs typeface="Lexend"/>
              <a:sym typeface="Lexend"/>
            </a:endParaRPr>
          </a:p>
          <a:p>
            <a:pPr indent="0" lvl="0" marL="0" rtl="0" algn="ctr">
              <a:lnSpc>
                <a:spcPct val="115000"/>
              </a:lnSpc>
              <a:spcBef>
                <a:spcPts val="0"/>
              </a:spcBef>
              <a:spcAft>
                <a:spcPts val="0"/>
              </a:spcAft>
              <a:buClr>
                <a:schemeClr val="dk1"/>
              </a:buClr>
              <a:buSzPts val="990"/>
              <a:buFont typeface="Arial"/>
              <a:buNone/>
            </a:pPr>
            <a:r>
              <a:rPr i="1" lang="it" sz="1100">
                <a:highlight>
                  <a:srgbClr val="B6D7A8"/>
                </a:highlight>
                <a:latin typeface="Lexend"/>
                <a:ea typeface="Lexend"/>
                <a:cs typeface="Lexend"/>
                <a:sym typeface="Lexend"/>
              </a:rPr>
              <a:t>(</a:t>
            </a:r>
            <a:r>
              <a:rPr i="1" lang="it" sz="1100">
                <a:highlight>
                  <a:srgbClr val="B6D7A8"/>
                </a:highlight>
                <a:latin typeface="Lexend"/>
                <a:ea typeface="Lexend"/>
                <a:cs typeface="Lexend"/>
                <a:sym typeface="Lexend"/>
              </a:rPr>
              <a:t>foto3)</a:t>
            </a:r>
            <a:endParaRPr i="1" sz="1100">
              <a:highlight>
                <a:srgbClr val="B6D7A8"/>
              </a:highlight>
              <a:latin typeface="Lexend"/>
              <a:ea typeface="Lexend"/>
              <a:cs typeface="Lexend"/>
              <a:sym typeface="Lexen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8" name="Shape 1798"/>
        <p:cNvGrpSpPr/>
        <p:nvPr/>
      </p:nvGrpSpPr>
      <p:grpSpPr>
        <a:xfrm>
          <a:off x="0" y="0"/>
          <a:ext cx="0" cy="0"/>
          <a:chOff x="0" y="0"/>
          <a:chExt cx="0" cy="0"/>
        </a:xfrm>
      </p:grpSpPr>
      <p:sp>
        <p:nvSpPr>
          <p:cNvPr id="1799" name="Google Shape;1799;p12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00" name="Google Shape;1800;p12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801" name="Google Shape;1801;p12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802" name="Google Shape;1802;p122"/>
          <p:cNvSpPr txBox="1"/>
          <p:nvPr>
            <p:ph type="title"/>
          </p:nvPr>
        </p:nvSpPr>
        <p:spPr>
          <a:xfrm>
            <a:off x="918850" y="1890350"/>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9: In Chiusura</a:t>
            </a:r>
            <a:endParaRPr sz="1220">
              <a:highlight>
                <a:srgbClr val="B6D7A8"/>
              </a:highlight>
              <a:latin typeface="Lexend"/>
              <a:ea typeface="Lexend"/>
              <a:cs typeface="Lexend"/>
              <a:sym typeface="Lexend"/>
            </a:endParaRPr>
          </a:p>
        </p:txBody>
      </p:sp>
      <p:sp>
        <p:nvSpPr>
          <p:cNvPr id="1803" name="Google Shape;1803;p12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804" name="Google Shape;1804;p122"/>
          <p:cNvSpPr txBox="1"/>
          <p:nvPr>
            <p:ph type="title"/>
          </p:nvPr>
        </p:nvSpPr>
        <p:spPr>
          <a:xfrm>
            <a:off x="521425" y="2537050"/>
            <a:ext cx="8146500" cy="716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sposterete i lead che, una volta fatto il preventivo, andrete a chiudere nei prossimi giorni. </a:t>
            </a:r>
            <a:endParaRPr i="1" sz="1620">
              <a:latin typeface="Lexend"/>
              <a:ea typeface="Lexend"/>
              <a:cs typeface="Lexend"/>
              <a:sym typeface="Lexen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
        <p:nvSpPr>
          <p:cNvPr id="1809" name="Google Shape;1809;p12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10" name="Google Shape;1810;p12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811" name="Google Shape;1811;p12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812" name="Google Shape;1812;p123"/>
          <p:cNvSpPr txBox="1"/>
          <p:nvPr>
            <p:ph type="title"/>
          </p:nvPr>
        </p:nvSpPr>
        <p:spPr>
          <a:xfrm>
            <a:off x="918850" y="1012150"/>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10: Vinta </a:t>
            </a:r>
            <a:r>
              <a:rPr lang="it" sz="1820">
                <a:highlight>
                  <a:srgbClr val="B6D7A8"/>
                </a:highlight>
                <a:latin typeface="Lexend"/>
                <a:ea typeface="Lexend"/>
                <a:cs typeface="Lexend"/>
                <a:sym typeface="Lexend"/>
              </a:rPr>
              <a:t>(trattativa)</a:t>
            </a:r>
            <a:endParaRPr sz="1220">
              <a:highlight>
                <a:srgbClr val="B6D7A8"/>
              </a:highlight>
              <a:latin typeface="Lexend"/>
              <a:ea typeface="Lexend"/>
              <a:cs typeface="Lexend"/>
              <a:sym typeface="Lexend"/>
            </a:endParaRPr>
          </a:p>
        </p:txBody>
      </p:sp>
      <p:sp>
        <p:nvSpPr>
          <p:cNvPr id="1813" name="Google Shape;1813;p12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814" name="Google Shape;1814;p123"/>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5" name="Google Shape;1815;p123"/>
          <p:cNvSpPr txBox="1"/>
          <p:nvPr>
            <p:ph type="title"/>
          </p:nvPr>
        </p:nvSpPr>
        <p:spPr>
          <a:xfrm>
            <a:off x="521425" y="1692800"/>
            <a:ext cx="8146500" cy="2791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sposterete i lead che hanno aderito alla vostra proposta commerciale.</a:t>
            </a:r>
            <a:endParaRPr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In Anagrafica, aggiungerete:</a:t>
            </a:r>
            <a:endParaRPr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lang="it" sz="1620">
                <a:latin typeface="Lexend"/>
                <a:ea typeface="Lexend"/>
                <a:cs typeface="Lexend"/>
                <a:sym typeface="Lexend"/>
              </a:rPr>
              <a:t>📌 </a:t>
            </a:r>
            <a:r>
              <a:rPr b="1" lang="it" sz="1620">
                <a:latin typeface="Lexend"/>
                <a:ea typeface="Lexend"/>
                <a:cs typeface="Lexend"/>
                <a:sym typeface="Lexend"/>
              </a:rPr>
              <a:t>FASE della Pipeline</a:t>
            </a:r>
            <a:r>
              <a:rPr lang="it" sz="1620">
                <a:latin typeface="Lexend"/>
                <a:ea typeface="Lexend"/>
                <a:cs typeface="Lexend"/>
                <a:sym typeface="Lexend"/>
              </a:rPr>
              <a:t>: Vinta (menu a tendina)</a:t>
            </a:r>
            <a:endParaRPr sz="16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lang="it" sz="1620">
                <a:latin typeface="Lexend"/>
                <a:ea typeface="Lexend"/>
                <a:cs typeface="Lexend"/>
                <a:sym typeface="Lexend"/>
              </a:rPr>
              <a:t>📌 </a:t>
            </a:r>
            <a:r>
              <a:rPr b="1" lang="it" sz="1620">
                <a:latin typeface="Lexend"/>
                <a:ea typeface="Lexend"/>
                <a:cs typeface="Lexend"/>
                <a:sym typeface="Lexend"/>
              </a:rPr>
              <a:t>STATO del Cliente</a:t>
            </a:r>
            <a:r>
              <a:rPr lang="it" sz="1620">
                <a:latin typeface="Lexend"/>
                <a:ea typeface="Lexend"/>
                <a:cs typeface="Lexend"/>
                <a:sym typeface="Lexend"/>
              </a:rPr>
              <a:t>: Vinta </a:t>
            </a:r>
            <a:r>
              <a:rPr lang="it" sz="1620">
                <a:latin typeface="Lexend"/>
                <a:ea typeface="Lexend"/>
                <a:cs typeface="Lexend"/>
                <a:sym typeface="Lexend"/>
              </a:rPr>
              <a:t>(menu a tendina)</a:t>
            </a:r>
            <a:endParaRPr sz="16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lang="it" sz="1620">
                <a:latin typeface="Lexend"/>
                <a:ea typeface="Lexend"/>
                <a:cs typeface="Lexend"/>
                <a:sym typeface="Lexend"/>
              </a:rPr>
              <a:t>📌 </a:t>
            </a:r>
            <a:r>
              <a:rPr b="1" lang="it" sz="1620">
                <a:latin typeface="Lexend"/>
                <a:ea typeface="Lexend"/>
                <a:cs typeface="Lexend"/>
                <a:sym typeface="Lexend"/>
              </a:rPr>
              <a:t>VALORE OPPORTUNITA’</a:t>
            </a:r>
            <a:r>
              <a:rPr lang="it" sz="1620">
                <a:latin typeface="Lexend"/>
                <a:ea typeface="Lexend"/>
                <a:cs typeface="Lexend"/>
                <a:sym typeface="Lexend"/>
              </a:rPr>
              <a:t>: Importo in € della vs offerta.</a:t>
            </a:r>
            <a:endParaRPr sz="1620">
              <a:latin typeface="Lexend"/>
              <a:ea typeface="Lexend"/>
              <a:cs typeface="Lexend"/>
              <a:sym typeface="Lexend"/>
            </a:endParaRPr>
          </a:p>
          <a:p>
            <a:pPr indent="0" lvl="0" marL="0" rtl="0" algn="l">
              <a:lnSpc>
                <a:spcPct val="115000"/>
              </a:lnSpc>
              <a:spcBef>
                <a:spcPts val="0"/>
              </a:spcBef>
              <a:spcAft>
                <a:spcPts val="0"/>
              </a:spcAft>
              <a:buNone/>
            </a:pPr>
            <a:r>
              <a:t/>
            </a:r>
            <a:endParaRPr sz="1620">
              <a:latin typeface="Lexend"/>
              <a:ea typeface="Lexend"/>
              <a:cs typeface="Lexend"/>
              <a:sym typeface="Lexend"/>
            </a:endParaRPr>
          </a:p>
          <a:p>
            <a:pPr indent="0" lvl="0" marL="0" rtl="0" algn="l">
              <a:lnSpc>
                <a:spcPct val="115000"/>
              </a:lnSpc>
              <a:spcBef>
                <a:spcPts val="0"/>
              </a:spcBef>
              <a:spcAft>
                <a:spcPts val="0"/>
              </a:spcAft>
              <a:buNone/>
            </a:pPr>
            <a:r>
              <a:rPr lang="it" sz="1620">
                <a:latin typeface="Lexend"/>
                <a:ea typeface="Lexend"/>
                <a:cs typeface="Lexend"/>
                <a:sym typeface="Lexend"/>
              </a:rPr>
              <a:t>Cliccare su “Aggiorna”</a:t>
            </a:r>
            <a:endParaRPr sz="1620">
              <a:latin typeface="Lexend"/>
              <a:ea typeface="Lexend"/>
              <a:cs typeface="Lexend"/>
              <a:sym typeface="Lexen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pic>
        <p:nvPicPr>
          <p:cNvPr id="1820" name="Google Shape;1820;p124"/>
          <p:cNvPicPr preferRelativeResize="0"/>
          <p:nvPr/>
        </p:nvPicPr>
        <p:blipFill>
          <a:blip r:embed="rId3">
            <a:alphaModFix/>
          </a:blip>
          <a:stretch>
            <a:fillRect/>
          </a:stretch>
        </p:blipFill>
        <p:spPr>
          <a:xfrm>
            <a:off x="3414774" y="973288"/>
            <a:ext cx="4898505" cy="3622725"/>
          </a:xfrm>
          <a:prstGeom prst="rect">
            <a:avLst/>
          </a:prstGeom>
          <a:noFill/>
          <a:ln>
            <a:noFill/>
          </a:ln>
        </p:spPr>
      </p:pic>
      <p:sp>
        <p:nvSpPr>
          <p:cNvPr id="1821" name="Google Shape;1821;p124"/>
          <p:cNvSpPr/>
          <p:nvPr/>
        </p:nvSpPr>
        <p:spPr>
          <a:xfrm>
            <a:off x="3350325" y="937400"/>
            <a:ext cx="50421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2" name="Google Shape;1822;p12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23" name="Google Shape;1823;p124"/>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824" name="Google Shape;1824;p12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825" name="Google Shape;1825;p12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826" name="Google Shape;1826;p124"/>
          <p:cNvSpPr/>
          <p:nvPr/>
        </p:nvSpPr>
        <p:spPr>
          <a:xfrm>
            <a:off x="3455325" y="1423800"/>
            <a:ext cx="9327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7" name="Google Shape;1827;p124"/>
          <p:cNvSpPr/>
          <p:nvPr/>
        </p:nvSpPr>
        <p:spPr>
          <a:xfrm>
            <a:off x="6466525" y="2912400"/>
            <a:ext cx="435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8" name="Google Shape;1828;p124"/>
          <p:cNvSpPr/>
          <p:nvPr/>
        </p:nvSpPr>
        <p:spPr>
          <a:xfrm>
            <a:off x="6466525" y="3362600"/>
            <a:ext cx="435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9" name="Google Shape;1829;p124"/>
          <p:cNvSpPr/>
          <p:nvPr/>
        </p:nvSpPr>
        <p:spPr>
          <a:xfrm>
            <a:off x="4658250" y="3362600"/>
            <a:ext cx="435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0" name="Google Shape;1830;p124"/>
          <p:cNvSpPr txBox="1"/>
          <p:nvPr>
            <p:ph type="title"/>
          </p:nvPr>
        </p:nvSpPr>
        <p:spPr>
          <a:xfrm>
            <a:off x="6902125" y="2912400"/>
            <a:ext cx="11898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a:t>
            </a:r>
            <a:endParaRPr b="1" sz="1020">
              <a:solidFill>
                <a:srgbClr val="FF0000"/>
              </a:solidFill>
              <a:latin typeface="Oswald"/>
              <a:ea typeface="Oswald"/>
              <a:cs typeface="Oswald"/>
              <a:sym typeface="Oswald"/>
            </a:endParaRPr>
          </a:p>
        </p:txBody>
      </p:sp>
      <p:sp>
        <p:nvSpPr>
          <p:cNvPr id="1831" name="Google Shape;1831;p124"/>
          <p:cNvSpPr/>
          <p:nvPr/>
        </p:nvSpPr>
        <p:spPr>
          <a:xfrm rot="2992005">
            <a:off x="7418051" y="3801014"/>
            <a:ext cx="577597" cy="281443"/>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32" name="Google Shape;1832;p124"/>
          <p:cNvPicPr preferRelativeResize="0"/>
          <p:nvPr/>
        </p:nvPicPr>
        <p:blipFill>
          <a:blip r:embed="rId5">
            <a:alphaModFix/>
          </a:blip>
          <a:stretch>
            <a:fillRect/>
          </a:stretch>
        </p:blipFill>
        <p:spPr>
          <a:xfrm>
            <a:off x="555200" y="2388188"/>
            <a:ext cx="1792925" cy="833775"/>
          </a:xfrm>
          <a:prstGeom prst="rect">
            <a:avLst/>
          </a:prstGeom>
          <a:noFill/>
          <a:ln>
            <a:noFill/>
          </a:ln>
        </p:spPr>
      </p:pic>
      <p:cxnSp>
        <p:nvCxnSpPr>
          <p:cNvPr id="1833" name="Google Shape;1833;p124"/>
          <p:cNvCxnSpPr>
            <a:stCxn id="1834" idx="3"/>
            <a:endCxn id="1821" idx="1"/>
          </p:cNvCxnSpPr>
          <p:nvPr/>
        </p:nvCxnSpPr>
        <p:spPr>
          <a:xfrm flipH="1" rot="10800000">
            <a:off x="2348075" y="2784588"/>
            <a:ext cx="1002300" cy="13800"/>
          </a:xfrm>
          <a:prstGeom prst="straightConnector1">
            <a:avLst/>
          </a:prstGeom>
          <a:noFill/>
          <a:ln cap="flat" cmpd="sng" w="9525">
            <a:solidFill>
              <a:schemeClr val="dk2"/>
            </a:solidFill>
            <a:prstDash val="dash"/>
            <a:round/>
            <a:headEnd len="med" w="med" type="none"/>
            <a:tailEnd len="med" w="med" type="triangle"/>
          </a:ln>
        </p:spPr>
      </p:cxnSp>
      <p:sp>
        <p:nvSpPr>
          <p:cNvPr id="1835" name="Google Shape;1835;p124"/>
          <p:cNvSpPr/>
          <p:nvPr/>
        </p:nvSpPr>
        <p:spPr>
          <a:xfrm>
            <a:off x="1360025" y="3013688"/>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36" name="Google Shape;1836;p124"/>
          <p:cNvPicPr preferRelativeResize="0"/>
          <p:nvPr/>
        </p:nvPicPr>
        <p:blipFill>
          <a:blip r:embed="rId6">
            <a:alphaModFix/>
          </a:blip>
          <a:stretch>
            <a:fillRect/>
          </a:stretch>
        </p:blipFill>
        <p:spPr>
          <a:xfrm>
            <a:off x="1845450" y="2884087"/>
            <a:ext cx="502675" cy="502675"/>
          </a:xfrm>
          <a:prstGeom prst="rect">
            <a:avLst/>
          </a:prstGeom>
          <a:noFill/>
          <a:ln>
            <a:noFill/>
          </a:ln>
        </p:spPr>
      </p:pic>
      <p:sp>
        <p:nvSpPr>
          <p:cNvPr id="1834" name="Google Shape;1834;p124"/>
          <p:cNvSpPr/>
          <p:nvPr/>
        </p:nvSpPr>
        <p:spPr>
          <a:xfrm>
            <a:off x="555275" y="2381538"/>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7" name="Google Shape;1837;p124"/>
          <p:cNvSpPr txBox="1"/>
          <p:nvPr>
            <p:ph type="title"/>
          </p:nvPr>
        </p:nvSpPr>
        <p:spPr>
          <a:xfrm>
            <a:off x="5093850" y="3362600"/>
            <a:ext cx="11898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a:t>
            </a:r>
            <a:endParaRPr b="1" sz="1020">
              <a:solidFill>
                <a:srgbClr val="FF0000"/>
              </a:solidFill>
              <a:latin typeface="Oswald"/>
              <a:ea typeface="Oswald"/>
              <a:cs typeface="Oswald"/>
              <a:sym typeface="Oswald"/>
            </a:endParaRPr>
          </a:p>
        </p:txBody>
      </p:sp>
      <p:sp>
        <p:nvSpPr>
          <p:cNvPr id="1838" name="Google Shape;1838;p124"/>
          <p:cNvSpPr txBox="1"/>
          <p:nvPr>
            <p:ph type="title"/>
          </p:nvPr>
        </p:nvSpPr>
        <p:spPr>
          <a:xfrm>
            <a:off x="6902125" y="3362600"/>
            <a:ext cx="11898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INS. IMPORTO</a:t>
            </a:r>
            <a:endParaRPr b="1" sz="1020">
              <a:solidFill>
                <a:srgbClr val="FF0000"/>
              </a:solidFill>
              <a:latin typeface="Oswald"/>
              <a:ea typeface="Oswald"/>
              <a:cs typeface="Oswald"/>
              <a:sym typeface="Oswald"/>
            </a:endParaRPr>
          </a:p>
        </p:txBody>
      </p:sp>
      <p:sp>
        <p:nvSpPr>
          <p:cNvPr id="1839" name="Google Shape;1839;p124"/>
          <p:cNvSpPr/>
          <p:nvPr/>
        </p:nvSpPr>
        <p:spPr>
          <a:xfrm>
            <a:off x="3871600" y="1018850"/>
            <a:ext cx="587400" cy="123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0" name="Google Shape;1840;p124"/>
          <p:cNvSpPr txBox="1"/>
          <p:nvPr>
            <p:ph idx="4294967295" type="subTitle"/>
          </p:nvPr>
        </p:nvSpPr>
        <p:spPr>
          <a:xfrm>
            <a:off x="3796638" y="93978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solidFill>
                  <a:schemeClr val="dk1"/>
                </a:solidFill>
              </a:rPr>
              <a:t>“Massimo Arvonio”</a:t>
            </a:r>
            <a:endParaRPr sz="700">
              <a:solidFill>
                <a:schemeClr val="dk1"/>
              </a:solidFill>
            </a:endParaRPr>
          </a:p>
        </p:txBody>
      </p:sp>
      <p:sp>
        <p:nvSpPr>
          <p:cNvPr id="1841" name="Google Shape;1841;p124"/>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10: Vinta - Modifica DATI CLIENTE da Desktop</a:t>
            </a:r>
            <a:endParaRPr sz="1100">
              <a:highlight>
                <a:srgbClr val="B6D7A8"/>
              </a:highlight>
              <a:latin typeface="Lexend"/>
              <a:ea typeface="Lexend"/>
              <a:cs typeface="Lexend"/>
              <a:sym typeface="Lexen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5" name="Shape 1845"/>
        <p:cNvGrpSpPr/>
        <p:nvPr/>
      </p:nvGrpSpPr>
      <p:grpSpPr>
        <a:xfrm>
          <a:off x="0" y="0"/>
          <a:ext cx="0" cy="0"/>
          <a:chOff x="0" y="0"/>
          <a:chExt cx="0" cy="0"/>
        </a:xfrm>
      </p:grpSpPr>
      <p:sp>
        <p:nvSpPr>
          <p:cNvPr id="1846" name="Google Shape;1846;p12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47" name="Google Shape;1847;p12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848" name="Google Shape;1848;p12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849" name="Google Shape;1849;p12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cxnSp>
        <p:nvCxnSpPr>
          <p:cNvPr id="1850" name="Google Shape;1850;p125"/>
          <p:cNvCxnSpPr>
            <a:stCxn id="1851" idx="3"/>
            <a:endCxn id="1852" idx="1"/>
          </p:cNvCxnSpPr>
          <p:nvPr/>
        </p:nvCxnSpPr>
        <p:spPr>
          <a:xfrm>
            <a:off x="4013578" y="2827311"/>
            <a:ext cx="895200" cy="0"/>
          </a:xfrm>
          <a:prstGeom prst="straightConnector1">
            <a:avLst/>
          </a:prstGeom>
          <a:noFill/>
          <a:ln cap="flat" cmpd="sng" w="9525">
            <a:solidFill>
              <a:srgbClr val="FF0000"/>
            </a:solidFill>
            <a:prstDash val="dash"/>
            <a:round/>
            <a:headEnd len="med" w="med" type="none"/>
            <a:tailEnd len="med" w="med" type="triangle"/>
          </a:ln>
        </p:spPr>
      </p:cxnSp>
      <p:sp>
        <p:nvSpPr>
          <p:cNvPr id="1853" name="Google Shape;1853;p125"/>
          <p:cNvSpPr/>
          <p:nvPr/>
        </p:nvSpPr>
        <p:spPr>
          <a:xfrm>
            <a:off x="1360025" y="4018500"/>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52" name="Google Shape;1852;p125"/>
          <p:cNvPicPr preferRelativeResize="0"/>
          <p:nvPr/>
        </p:nvPicPr>
        <p:blipFill rotWithShape="1">
          <a:blip r:embed="rId4">
            <a:alphaModFix/>
          </a:blip>
          <a:srcRect b="20255" l="0" r="0" t="0"/>
          <a:stretch/>
        </p:blipFill>
        <p:spPr>
          <a:xfrm>
            <a:off x="4908700" y="776438"/>
            <a:ext cx="2378350" cy="4101724"/>
          </a:xfrm>
          <a:prstGeom prst="rect">
            <a:avLst/>
          </a:prstGeom>
          <a:noFill/>
          <a:ln cap="flat" cmpd="sng" w="9525">
            <a:solidFill>
              <a:schemeClr val="dk1"/>
            </a:solidFill>
            <a:prstDash val="solid"/>
            <a:round/>
            <a:headEnd len="sm" w="sm" type="none"/>
            <a:tailEnd len="sm" w="sm" type="none"/>
          </a:ln>
        </p:spPr>
      </p:pic>
      <p:pic>
        <p:nvPicPr>
          <p:cNvPr id="1854" name="Google Shape;1854;p125"/>
          <p:cNvPicPr preferRelativeResize="0"/>
          <p:nvPr/>
        </p:nvPicPr>
        <p:blipFill rotWithShape="1">
          <a:blip r:embed="rId5">
            <a:alphaModFix/>
          </a:blip>
          <a:srcRect b="20255" l="0" r="0" t="0"/>
          <a:stretch/>
        </p:blipFill>
        <p:spPr>
          <a:xfrm>
            <a:off x="1856950" y="776450"/>
            <a:ext cx="2378350" cy="4101699"/>
          </a:xfrm>
          <a:prstGeom prst="rect">
            <a:avLst/>
          </a:prstGeom>
          <a:noFill/>
          <a:ln cap="flat" cmpd="sng" w="9525">
            <a:solidFill>
              <a:schemeClr val="dk1"/>
            </a:solidFill>
            <a:prstDash val="solid"/>
            <a:round/>
            <a:headEnd len="sm" w="sm" type="none"/>
            <a:tailEnd len="sm" w="sm" type="none"/>
          </a:ln>
        </p:spPr>
      </p:pic>
      <p:sp>
        <p:nvSpPr>
          <p:cNvPr id="1855" name="Google Shape;1855;p125"/>
          <p:cNvSpPr/>
          <p:nvPr/>
        </p:nvSpPr>
        <p:spPr>
          <a:xfrm>
            <a:off x="1961700" y="2217375"/>
            <a:ext cx="1833900" cy="115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51" name="Google Shape;1851;p125"/>
          <p:cNvPicPr preferRelativeResize="0"/>
          <p:nvPr/>
        </p:nvPicPr>
        <p:blipFill>
          <a:blip r:embed="rId6">
            <a:alphaModFix/>
          </a:blip>
          <a:stretch>
            <a:fillRect/>
          </a:stretch>
        </p:blipFill>
        <p:spPr>
          <a:xfrm>
            <a:off x="3550677" y="2595861"/>
            <a:ext cx="462900" cy="462900"/>
          </a:xfrm>
          <a:prstGeom prst="rect">
            <a:avLst/>
          </a:prstGeom>
          <a:noFill/>
          <a:ln>
            <a:noFill/>
          </a:ln>
        </p:spPr>
      </p:pic>
      <p:sp>
        <p:nvSpPr>
          <p:cNvPr id="1856" name="Google Shape;1856;p125"/>
          <p:cNvSpPr/>
          <p:nvPr/>
        </p:nvSpPr>
        <p:spPr>
          <a:xfrm>
            <a:off x="4989050" y="3525200"/>
            <a:ext cx="677700" cy="26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7" name="Google Shape;1857;p125"/>
          <p:cNvSpPr/>
          <p:nvPr/>
        </p:nvSpPr>
        <p:spPr>
          <a:xfrm>
            <a:off x="4989050" y="3175400"/>
            <a:ext cx="677700" cy="26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8" name="Google Shape;1858;p125"/>
          <p:cNvSpPr/>
          <p:nvPr/>
        </p:nvSpPr>
        <p:spPr>
          <a:xfrm>
            <a:off x="4989050" y="3850925"/>
            <a:ext cx="677700" cy="26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9" name="Google Shape;1859;p125"/>
          <p:cNvSpPr/>
          <p:nvPr/>
        </p:nvSpPr>
        <p:spPr>
          <a:xfrm rot="-2698738">
            <a:off x="6421928" y="1526387"/>
            <a:ext cx="577636" cy="281287"/>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0" name="Google Shape;1860;p125"/>
          <p:cNvSpPr/>
          <p:nvPr/>
        </p:nvSpPr>
        <p:spPr>
          <a:xfrm>
            <a:off x="6908150" y="1059925"/>
            <a:ext cx="378900" cy="26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1" name="Google Shape;1861;p125"/>
          <p:cNvSpPr txBox="1"/>
          <p:nvPr>
            <p:ph type="title"/>
          </p:nvPr>
        </p:nvSpPr>
        <p:spPr>
          <a:xfrm>
            <a:off x="5666750" y="3199250"/>
            <a:ext cx="11898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a:t>
            </a:r>
            <a:endParaRPr b="1" sz="1020">
              <a:solidFill>
                <a:srgbClr val="FF0000"/>
              </a:solidFill>
              <a:latin typeface="Oswald"/>
              <a:ea typeface="Oswald"/>
              <a:cs typeface="Oswald"/>
              <a:sym typeface="Oswald"/>
            </a:endParaRPr>
          </a:p>
        </p:txBody>
      </p:sp>
      <p:sp>
        <p:nvSpPr>
          <p:cNvPr id="1862" name="Google Shape;1862;p125"/>
          <p:cNvSpPr txBox="1"/>
          <p:nvPr>
            <p:ph type="title"/>
          </p:nvPr>
        </p:nvSpPr>
        <p:spPr>
          <a:xfrm>
            <a:off x="5666750" y="3549050"/>
            <a:ext cx="11898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a:t>
            </a:r>
            <a:endParaRPr b="1" sz="1020">
              <a:solidFill>
                <a:srgbClr val="FF0000"/>
              </a:solidFill>
              <a:latin typeface="Oswald"/>
              <a:ea typeface="Oswald"/>
              <a:cs typeface="Oswald"/>
              <a:sym typeface="Oswald"/>
            </a:endParaRPr>
          </a:p>
        </p:txBody>
      </p:sp>
      <p:sp>
        <p:nvSpPr>
          <p:cNvPr id="1863" name="Google Shape;1863;p125"/>
          <p:cNvSpPr txBox="1"/>
          <p:nvPr>
            <p:ph type="title"/>
          </p:nvPr>
        </p:nvSpPr>
        <p:spPr>
          <a:xfrm>
            <a:off x="5666750" y="3874775"/>
            <a:ext cx="15036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INSERIRE IMPORTO</a:t>
            </a:r>
            <a:endParaRPr b="1" sz="1020">
              <a:solidFill>
                <a:srgbClr val="FF0000"/>
              </a:solidFill>
              <a:latin typeface="Oswald"/>
              <a:ea typeface="Oswald"/>
              <a:cs typeface="Oswald"/>
              <a:sym typeface="Oswald"/>
            </a:endParaRPr>
          </a:p>
        </p:txBody>
      </p:sp>
      <p:sp>
        <p:nvSpPr>
          <p:cNvPr id="1864" name="Google Shape;1864;p125"/>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10: Vinta - Modifica DATI CLIENTE da Mobile</a:t>
            </a:r>
            <a:endParaRPr sz="1100">
              <a:highlight>
                <a:srgbClr val="B6D7A8"/>
              </a:highlight>
              <a:latin typeface="Lexend"/>
              <a:ea typeface="Lexend"/>
              <a:cs typeface="Lexend"/>
              <a:sym typeface="Lexen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8" name="Shape 1868"/>
        <p:cNvGrpSpPr/>
        <p:nvPr/>
      </p:nvGrpSpPr>
      <p:grpSpPr>
        <a:xfrm>
          <a:off x="0" y="0"/>
          <a:ext cx="0" cy="0"/>
          <a:chOff x="0" y="0"/>
          <a:chExt cx="0" cy="0"/>
        </a:xfrm>
      </p:grpSpPr>
      <p:sp>
        <p:nvSpPr>
          <p:cNvPr id="1869" name="Google Shape;1869;p12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70" name="Google Shape;1870;p12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871" name="Google Shape;1871;p12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872" name="Google Shape;1872;p126"/>
          <p:cNvSpPr txBox="1"/>
          <p:nvPr>
            <p:ph type="title"/>
          </p:nvPr>
        </p:nvSpPr>
        <p:spPr>
          <a:xfrm>
            <a:off x="918850" y="1012150"/>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11: Persa </a:t>
            </a:r>
            <a:r>
              <a:rPr lang="it" sz="1820">
                <a:highlight>
                  <a:srgbClr val="B6D7A8"/>
                </a:highlight>
                <a:latin typeface="Lexend"/>
                <a:ea typeface="Lexend"/>
                <a:cs typeface="Lexend"/>
                <a:sym typeface="Lexend"/>
              </a:rPr>
              <a:t>(trattativa)</a:t>
            </a:r>
            <a:endParaRPr sz="1220">
              <a:highlight>
                <a:srgbClr val="B6D7A8"/>
              </a:highlight>
              <a:latin typeface="Lexend"/>
              <a:ea typeface="Lexend"/>
              <a:cs typeface="Lexend"/>
              <a:sym typeface="Lexend"/>
            </a:endParaRPr>
          </a:p>
        </p:txBody>
      </p:sp>
      <p:sp>
        <p:nvSpPr>
          <p:cNvPr id="1873" name="Google Shape;1873;p12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874" name="Google Shape;1874;p126"/>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5" name="Google Shape;1875;p126"/>
          <p:cNvSpPr txBox="1"/>
          <p:nvPr>
            <p:ph type="title"/>
          </p:nvPr>
        </p:nvSpPr>
        <p:spPr>
          <a:xfrm>
            <a:off x="521425" y="1692800"/>
            <a:ext cx="8146500" cy="2791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Qui sposterete i lead che hanno aderito alla vostra proposta commerciale.</a:t>
            </a:r>
            <a:endParaRPr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rPr lang="it" sz="1620">
                <a:latin typeface="Lexend"/>
                <a:ea typeface="Lexend"/>
                <a:cs typeface="Lexend"/>
                <a:sym typeface="Lexend"/>
              </a:rPr>
              <a:t>In Anagrafica, aggiungerete:</a:t>
            </a:r>
            <a:endParaRPr sz="1620">
              <a:latin typeface="Lexend"/>
              <a:ea typeface="Lexend"/>
              <a:cs typeface="Lexend"/>
              <a:sym typeface="Lexend"/>
            </a:endParaRPr>
          </a:p>
          <a:p>
            <a:pPr indent="0" lvl="0" marL="0" rtl="0" algn="l">
              <a:lnSpc>
                <a:spcPct val="115000"/>
              </a:lnSpc>
              <a:spcBef>
                <a:spcPts val="0"/>
              </a:spcBef>
              <a:spcAft>
                <a:spcPts val="0"/>
              </a:spcAft>
              <a:buClr>
                <a:schemeClr val="dk1"/>
              </a:buClr>
              <a:buSzPts val="990"/>
              <a:buFont typeface="Arial"/>
              <a:buNone/>
            </a:pPr>
            <a:r>
              <a:t/>
            </a:r>
            <a:endParaRPr sz="16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lang="it" sz="1620">
                <a:latin typeface="Lexend"/>
                <a:ea typeface="Lexend"/>
                <a:cs typeface="Lexend"/>
                <a:sym typeface="Lexend"/>
              </a:rPr>
              <a:t>📌 </a:t>
            </a:r>
            <a:r>
              <a:rPr b="1" lang="it" sz="1620">
                <a:latin typeface="Lexend"/>
                <a:ea typeface="Lexend"/>
                <a:cs typeface="Lexend"/>
                <a:sym typeface="Lexend"/>
              </a:rPr>
              <a:t>FASE</a:t>
            </a:r>
            <a:r>
              <a:rPr lang="it" sz="1620">
                <a:latin typeface="Lexend"/>
                <a:ea typeface="Lexend"/>
                <a:cs typeface="Lexend"/>
                <a:sym typeface="Lexend"/>
              </a:rPr>
              <a:t>: Persa (menu a tendina)</a:t>
            </a:r>
            <a:endParaRPr sz="16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lang="it" sz="1620">
                <a:latin typeface="Lexend"/>
                <a:ea typeface="Lexend"/>
                <a:cs typeface="Lexend"/>
                <a:sym typeface="Lexend"/>
              </a:rPr>
              <a:t>📌 </a:t>
            </a:r>
            <a:r>
              <a:rPr b="1" lang="it" sz="1620">
                <a:latin typeface="Lexend"/>
                <a:ea typeface="Lexend"/>
                <a:cs typeface="Lexend"/>
                <a:sym typeface="Lexend"/>
              </a:rPr>
              <a:t>STATO</a:t>
            </a:r>
            <a:r>
              <a:rPr lang="it" sz="1620">
                <a:latin typeface="Lexend"/>
                <a:ea typeface="Lexend"/>
                <a:cs typeface="Lexend"/>
                <a:sym typeface="Lexend"/>
              </a:rPr>
              <a:t>: Persa (menu a tendina)</a:t>
            </a:r>
            <a:endParaRPr sz="16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lang="it" sz="1620">
                <a:latin typeface="Lexend"/>
                <a:ea typeface="Lexend"/>
                <a:cs typeface="Lexend"/>
                <a:sym typeface="Lexend"/>
              </a:rPr>
              <a:t>📌 </a:t>
            </a:r>
            <a:r>
              <a:rPr b="1" lang="it" sz="1620">
                <a:latin typeface="Lexend"/>
                <a:ea typeface="Lexend"/>
                <a:cs typeface="Lexend"/>
                <a:sym typeface="Lexend"/>
              </a:rPr>
              <a:t>VALORE OPPORTUNITA’</a:t>
            </a:r>
            <a:r>
              <a:rPr lang="it" sz="1620">
                <a:latin typeface="Lexend"/>
                <a:ea typeface="Lexend"/>
                <a:cs typeface="Lexend"/>
                <a:sym typeface="Lexend"/>
              </a:rPr>
              <a:t>: Lasciare 0€</a:t>
            </a:r>
            <a:endParaRPr sz="16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lang="it" sz="1620">
                <a:latin typeface="Lexend"/>
                <a:ea typeface="Lexend"/>
                <a:cs typeface="Lexend"/>
                <a:sym typeface="Lexend"/>
              </a:rPr>
              <a:t>📌 </a:t>
            </a:r>
            <a:r>
              <a:rPr b="1" lang="it" sz="1620">
                <a:latin typeface="Lexend"/>
                <a:ea typeface="Lexend"/>
                <a:cs typeface="Lexend"/>
                <a:sym typeface="Lexend"/>
              </a:rPr>
              <a:t>MOTIVO DELLA PERDITA</a:t>
            </a:r>
            <a:r>
              <a:rPr lang="it" sz="1620">
                <a:latin typeface="Lexend"/>
                <a:ea typeface="Lexend"/>
                <a:cs typeface="Lexend"/>
                <a:sym typeface="Lexend"/>
              </a:rPr>
              <a:t>: Motivazione (menu a tendina)</a:t>
            </a:r>
            <a:endParaRPr sz="1620">
              <a:latin typeface="Lexend"/>
              <a:ea typeface="Lexend"/>
              <a:cs typeface="Lexend"/>
              <a:sym typeface="Lexend"/>
            </a:endParaRPr>
          </a:p>
          <a:p>
            <a:pPr indent="0" lvl="0" marL="0" rtl="0" algn="l">
              <a:lnSpc>
                <a:spcPct val="115000"/>
              </a:lnSpc>
              <a:spcBef>
                <a:spcPts val="0"/>
              </a:spcBef>
              <a:spcAft>
                <a:spcPts val="0"/>
              </a:spcAft>
              <a:buNone/>
            </a:pPr>
            <a:r>
              <a:t/>
            </a:r>
            <a:endParaRPr sz="1620">
              <a:latin typeface="Lexend"/>
              <a:ea typeface="Lexend"/>
              <a:cs typeface="Lexend"/>
              <a:sym typeface="Lexend"/>
            </a:endParaRPr>
          </a:p>
          <a:p>
            <a:pPr indent="0" lvl="0" marL="0" rtl="0" algn="l">
              <a:lnSpc>
                <a:spcPct val="115000"/>
              </a:lnSpc>
              <a:spcBef>
                <a:spcPts val="0"/>
              </a:spcBef>
              <a:spcAft>
                <a:spcPts val="0"/>
              </a:spcAft>
              <a:buNone/>
            </a:pPr>
            <a:r>
              <a:rPr lang="it" sz="1620">
                <a:latin typeface="Lexend"/>
                <a:ea typeface="Lexend"/>
                <a:cs typeface="Lexend"/>
                <a:sym typeface="Lexend"/>
              </a:rPr>
              <a:t>Cliccare su “Aggiorna”</a:t>
            </a:r>
            <a:endParaRPr sz="1620">
              <a:latin typeface="Lexend"/>
              <a:ea typeface="Lexend"/>
              <a:cs typeface="Lexend"/>
              <a:sym typeface="Lexen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9" name="Shape 1879"/>
        <p:cNvGrpSpPr/>
        <p:nvPr/>
      </p:nvGrpSpPr>
      <p:grpSpPr>
        <a:xfrm>
          <a:off x="0" y="0"/>
          <a:ext cx="0" cy="0"/>
          <a:chOff x="0" y="0"/>
          <a:chExt cx="0" cy="0"/>
        </a:xfrm>
      </p:grpSpPr>
      <p:sp>
        <p:nvSpPr>
          <p:cNvPr id="1880" name="Google Shape;1880;p127"/>
          <p:cNvSpPr/>
          <p:nvPr/>
        </p:nvSpPr>
        <p:spPr>
          <a:xfrm>
            <a:off x="3350325" y="937400"/>
            <a:ext cx="50421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81" name="Google Shape;1881;p127"/>
          <p:cNvPicPr preferRelativeResize="0"/>
          <p:nvPr/>
        </p:nvPicPr>
        <p:blipFill>
          <a:blip r:embed="rId3">
            <a:alphaModFix/>
          </a:blip>
          <a:stretch>
            <a:fillRect/>
          </a:stretch>
        </p:blipFill>
        <p:spPr>
          <a:xfrm>
            <a:off x="3428051" y="982099"/>
            <a:ext cx="4886635" cy="3622725"/>
          </a:xfrm>
          <a:prstGeom prst="rect">
            <a:avLst/>
          </a:prstGeom>
          <a:noFill/>
          <a:ln>
            <a:noFill/>
          </a:ln>
        </p:spPr>
      </p:pic>
      <p:sp>
        <p:nvSpPr>
          <p:cNvPr id="1882" name="Google Shape;1882;p12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83" name="Google Shape;1883;p127"/>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884" name="Google Shape;1884;p12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885" name="Google Shape;1885;p12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886" name="Google Shape;1886;p127"/>
          <p:cNvSpPr/>
          <p:nvPr/>
        </p:nvSpPr>
        <p:spPr>
          <a:xfrm>
            <a:off x="3455325" y="1480675"/>
            <a:ext cx="9327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7" name="Google Shape;1887;p127"/>
          <p:cNvSpPr/>
          <p:nvPr/>
        </p:nvSpPr>
        <p:spPr>
          <a:xfrm>
            <a:off x="6466525" y="2381550"/>
            <a:ext cx="435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8" name="Google Shape;1888;p127"/>
          <p:cNvSpPr/>
          <p:nvPr/>
        </p:nvSpPr>
        <p:spPr>
          <a:xfrm>
            <a:off x="4658250" y="2822375"/>
            <a:ext cx="435600" cy="21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9" name="Google Shape;1889;p127"/>
          <p:cNvSpPr txBox="1"/>
          <p:nvPr>
            <p:ph type="title"/>
          </p:nvPr>
        </p:nvSpPr>
        <p:spPr>
          <a:xfrm>
            <a:off x="6902125" y="2381550"/>
            <a:ext cx="11898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a:t>
            </a:r>
            <a:endParaRPr b="1" sz="1020">
              <a:solidFill>
                <a:srgbClr val="FF0000"/>
              </a:solidFill>
              <a:latin typeface="Oswald"/>
              <a:ea typeface="Oswald"/>
              <a:cs typeface="Oswald"/>
              <a:sym typeface="Oswald"/>
            </a:endParaRPr>
          </a:p>
        </p:txBody>
      </p:sp>
      <p:sp>
        <p:nvSpPr>
          <p:cNvPr id="1890" name="Google Shape;1890;p127"/>
          <p:cNvSpPr/>
          <p:nvPr/>
        </p:nvSpPr>
        <p:spPr>
          <a:xfrm rot="2992005">
            <a:off x="7446476" y="3876839"/>
            <a:ext cx="577597" cy="281443"/>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91" name="Google Shape;1891;p127"/>
          <p:cNvPicPr preferRelativeResize="0"/>
          <p:nvPr/>
        </p:nvPicPr>
        <p:blipFill>
          <a:blip r:embed="rId5">
            <a:alphaModFix/>
          </a:blip>
          <a:stretch>
            <a:fillRect/>
          </a:stretch>
        </p:blipFill>
        <p:spPr>
          <a:xfrm>
            <a:off x="555200" y="2388188"/>
            <a:ext cx="1792925" cy="833775"/>
          </a:xfrm>
          <a:prstGeom prst="rect">
            <a:avLst/>
          </a:prstGeom>
          <a:noFill/>
          <a:ln>
            <a:noFill/>
          </a:ln>
        </p:spPr>
      </p:pic>
      <p:cxnSp>
        <p:nvCxnSpPr>
          <p:cNvPr id="1892" name="Google Shape;1892;p127"/>
          <p:cNvCxnSpPr>
            <a:stCxn id="1893" idx="3"/>
            <a:endCxn id="1880" idx="1"/>
          </p:cNvCxnSpPr>
          <p:nvPr/>
        </p:nvCxnSpPr>
        <p:spPr>
          <a:xfrm flipH="1" rot="10800000">
            <a:off x="2348075" y="2784588"/>
            <a:ext cx="1002300" cy="13800"/>
          </a:xfrm>
          <a:prstGeom prst="straightConnector1">
            <a:avLst/>
          </a:prstGeom>
          <a:noFill/>
          <a:ln cap="flat" cmpd="sng" w="9525">
            <a:solidFill>
              <a:schemeClr val="dk2"/>
            </a:solidFill>
            <a:prstDash val="dash"/>
            <a:round/>
            <a:headEnd len="med" w="med" type="none"/>
            <a:tailEnd len="med" w="med" type="triangle"/>
          </a:ln>
        </p:spPr>
      </p:cxnSp>
      <p:sp>
        <p:nvSpPr>
          <p:cNvPr id="1894" name="Google Shape;1894;p127"/>
          <p:cNvSpPr/>
          <p:nvPr/>
        </p:nvSpPr>
        <p:spPr>
          <a:xfrm>
            <a:off x="1360025" y="3013688"/>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95" name="Google Shape;1895;p127"/>
          <p:cNvPicPr preferRelativeResize="0"/>
          <p:nvPr/>
        </p:nvPicPr>
        <p:blipFill>
          <a:blip r:embed="rId6">
            <a:alphaModFix/>
          </a:blip>
          <a:stretch>
            <a:fillRect/>
          </a:stretch>
        </p:blipFill>
        <p:spPr>
          <a:xfrm>
            <a:off x="1845450" y="2884087"/>
            <a:ext cx="502675" cy="502675"/>
          </a:xfrm>
          <a:prstGeom prst="rect">
            <a:avLst/>
          </a:prstGeom>
          <a:noFill/>
          <a:ln>
            <a:noFill/>
          </a:ln>
        </p:spPr>
      </p:pic>
      <p:sp>
        <p:nvSpPr>
          <p:cNvPr id="1893" name="Google Shape;1893;p127"/>
          <p:cNvSpPr/>
          <p:nvPr/>
        </p:nvSpPr>
        <p:spPr>
          <a:xfrm>
            <a:off x="555275" y="2381538"/>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6" name="Google Shape;1896;p127"/>
          <p:cNvSpPr txBox="1"/>
          <p:nvPr>
            <p:ph type="title"/>
          </p:nvPr>
        </p:nvSpPr>
        <p:spPr>
          <a:xfrm>
            <a:off x="5093850" y="2822375"/>
            <a:ext cx="11898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a:t>
            </a:r>
            <a:endParaRPr b="1" sz="1020">
              <a:solidFill>
                <a:srgbClr val="FF0000"/>
              </a:solidFill>
              <a:latin typeface="Oswald"/>
              <a:ea typeface="Oswald"/>
              <a:cs typeface="Oswald"/>
              <a:sym typeface="Oswald"/>
            </a:endParaRPr>
          </a:p>
        </p:txBody>
      </p:sp>
      <p:sp>
        <p:nvSpPr>
          <p:cNvPr id="1897" name="Google Shape;1897;p127"/>
          <p:cNvSpPr/>
          <p:nvPr/>
        </p:nvSpPr>
        <p:spPr>
          <a:xfrm>
            <a:off x="3895300" y="1043700"/>
            <a:ext cx="587400" cy="123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8" name="Google Shape;1898;p127"/>
          <p:cNvSpPr txBox="1"/>
          <p:nvPr>
            <p:ph idx="4294967295" type="subTitle"/>
          </p:nvPr>
        </p:nvSpPr>
        <p:spPr>
          <a:xfrm>
            <a:off x="3815368" y="964650"/>
            <a:ext cx="18426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solidFill>
                  <a:schemeClr val="dk1"/>
                </a:solidFill>
              </a:rPr>
              <a:t>“Massimo Arvonio”</a:t>
            </a:r>
            <a:endParaRPr sz="700">
              <a:solidFill>
                <a:schemeClr val="dk1"/>
              </a:solidFill>
            </a:endParaRPr>
          </a:p>
        </p:txBody>
      </p:sp>
      <p:sp>
        <p:nvSpPr>
          <p:cNvPr id="1899" name="Google Shape;1899;p127"/>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11: Persa - Modifica DATI CLIENTE da Desktop</a:t>
            </a:r>
            <a:endParaRPr sz="1100">
              <a:highlight>
                <a:srgbClr val="B6D7A8"/>
              </a:highlight>
              <a:latin typeface="Lexend"/>
              <a:ea typeface="Lexend"/>
              <a:cs typeface="Lexend"/>
              <a:sym typeface="Lexend"/>
            </a:endParaRPr>
          </a:p>
        </p:txBody>
      </p:sp>
      <p:sp>
        <p:nvSpPr>
          <p:cNvPr id="1900" name="Google Shape;1900;p127"/>
          <p:cNvSpPr/>
          <p:nvPr/>
        </p:nvSpPr>
        <p:spPr>
          <a:xfrm>
            <a:off x="4658250" y="3277300"/>
            <a:ext cx="1032900" cy="807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1" name="Google Shape;1901;p127"/>
          <p:cNvSpPr txBox="1"/>
          <p:nvPr>
            <p:ph type="title"/>
          </p:nvPr>
        </p:nvSpPr>
        <p:spPr>
          <a:xfrm>
            <a:off x="5691150" y="3277300"/>
            <a:ext cx="19005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 MOTIVAZIONE</a:t>
            </a:r>
            <a:endParaRPr b="1" sz="1020">
              <a:solidFill>
                <a:srgbClr val="FF0000"/>
              </a:solidFill>
              <a:latin typeface="Oswald"/>
              <a:ea typeface="Oswald"/>
              <a:cs typeface="Oswald"/>
              <a:sym typeface="Oswald"/>
            </a:endParaRPr>
          </a:p>
        </p:txBody>
      </p:sp>
      <p:sp>
        <p:nvSpPr>
          <p:cNvPr id="1902" name="Google Shape;1902;p127"/>
          <p:cNvSpPr/>
          <p:nvPr/>
        </p:nvSpPr>
        <p:spPr>
          <a:xfrm>
            <a:off x="4710375" y="1972563"/>
            <a:ext cx="587400" cy="123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3" name="Google Shape;1903;p127"/>
          <p:cNvSpPr txBox="1"/>
          <p:nvPr>
            <p:ph idx="4294967295" type="subTitle"/>
          </p:nvPr>
        </p:nvSpPr>
        <p:spPr>
          <a:xfrm>
            <a:off x="4623918" y="1893500"/>
            <a:ext cx="18426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solidFill>
                  <a:srgbClr val="656769"/>
                </a:solidFill>
              </a:rPr>
              <a:t>Massimo Arvonio</a:t>
            </a:r>
            <a:endParaRPr sz="700">
              <a:solidFill>
                <a:srgbClr val="656769"/>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7" name="Shape 1907"/>
        <p:cNvGrpSpPr/>
        <p:nvPr/>
      </p:nvGrpSpPr>
      <p:grpSpPr>
        <a:xfrm>
          <a:off x="0" y="0"/>
          <a:ext cx="0" cy="0"/>
          <a:chOff x="0" y="0"/>
          <a:chExt cx="0" cy="0"/>
        </a:xfrm>
      </p:grpSpPr>
      <p:sp>
        <p:nvSpPr>
          <p:cNvPr id="1908" name="Google Shape;1908;p12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09" name="Google Shape;1909;p12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910" name="Google Shape;1910;p12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911" name="Google Shape;1911;p12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cxnSp>
        <p:nvCxnSpPr>
          <p:cNvPr id="1912" name="Google Shape;1912;p128"/>
          <p:cNvCxnSpPr>
            <a:stCxn id="1913" idx="3"/>
            <a:endCxn id="1914" idx="1"/>
          </p:cNvCxnSpPr>
          <p:nvPr/>
        </p:nvCxnSpPr>
        <p:spPr>
          <a:xfrm>
            <a:off x="4013578" y="2827311"/>
            <a:ext cx="895200" cy="0"/>
          </a:xfrm>
          <a:prstGeom prst="straightConnector1">
            <a:avLst/>
          </a:prstGeom>
          <a:noFill/>
          <a:ln cap="flat" cmpd="sng" w="9525">
            <a:solidFill>
              <a:srgbClr val="FF0000"/>
            </a:solidFill>
            <a:prstDash val="dash"/>
            <a:round/>
            <a:headEnd len="med" w="med" type="none"/>
            <a:tailEnd len="med" w="med" type="triangle"/>
          </a:ln>
        </p:spPr>
      </p:cxnSp>
      <p:sp>
        <p:nvSpPr>
          <p:cNvPr id="1915" name="Google Shape;1915;p128"/>
          <p:cNvSpPr/>
          <p:nvPr/>
        </p:nvSpPr>
        <p:spPr>
          <a:xfrm>
            <a:off x="1360025" y="4018500"/>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14" name="Google Shape;1914;p128"/>
          <p:cNvPicPr preferRelativeResize="0"/>
          <p:nvPr/>
        </p:nvPicPr>
        <p:blipFill rotWithShape="1">
          <a:blip r:embed="rId4">
            <a:alphaModFix/>
          </a:blip>
          <a:srcRect b="20255" l="0" r="0" t="0"/>
          <a:stretch/>
        </p:blipFill>
        <p:spPr>
          <a:xfrm>
            <a:off x="4908700" y="776438"/>
            <a:ext cx="2378350" cy="4101724"/>
          </a:xfrm>
          <a:prstGeom prst="rect">
            <a:avLst/>
          </a:prstGeom>
          <a:noFill/>
          <a:ln cap="flat" cmpd="sng" w="9525">
            <a:solidFill>
              <a:schemeClr val="dk1"/>
            </a:solidFill>
            <a:prstDash val="solid"/>
            <a:round/>
            <a:headEnd len="sm" w="sm" type="none"/>
            <a:tailEnd len="sm" w="sm" type="none"/>
          </a:ln>
        </p:spPr>
      </p:pic>
      <p:pic>
        <p:nvPicPr>
          <p:cNvPr id="1916" name="Google Shape;1916;p128"/>
          <p:cNvPicPr preferRelativeResize="0"/>
          <p:nvPr/>
        </p:nvPicPr>
        <p:blipFill rotWithShape="1">
          <a:blip r:embed="rId5">
            <a:alphaModFix/>
          </a:blip>
          <a:srcRect b="20255" l="0" r="0" t="0"/>
          <a:stretch/>
        </p:blipFill>
        <p:spPr>
          <a:xfrm>
            <a:off x="1856950" y="776450"/>
            <a:ext cx="2378350" cy="4101699"/>
          </a:xfrm>
          <a:prstGeom prst="rect">
            <a:avLst/>
          </a:prstGeom>
          <a:noFill/>
          <a:ln cap="flat" cmpd="sng" w="9525">
            <a:solidFill>
              <a:schemeClr val="dk1"/>
            </a:solidFill>
            <a:prstDash val="solid"/>
            <a:round/>
            <a:headEnd len="sm" w="sm" type="none"/>
            <a:tailEnd len="sm" w="sm" type="none"/>
          </a:ln>
        </p:spPr>
      </p:pic>
      <p:sp>
        <p:nvSpPr>
          <p:cNvPr id="1917" name="Google Shape;1917;p128"/>
          <p:cNvSpPr/>
          <p:nvPr/>
        </p:nvSpPr>
        <p:spPr>
          <a:xfrm>
            <a:off x="1961700" y="2217375"/>
            <a:ext cx="1833900" cy="115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13" name="Google Shape;1913;p128"/>
          <p:cNvPicPr preferRelativeResize="0"/>
          <p:nvPr/>
        </p:nvPicPr>
        <p:blipFill>
          <a:blip r:embed="rId6">
            <a:alphaModFix/>
          </a:blip>
          <a:stretch>
            <a:fillRect/>
          </a:stretch>
        </p:blipFill>
        <p:spPr>
          <a:xfrm>
            <a:off x="3550677" y="2595861"/>
            <a:ext cx="462900" cy="462900"/>
          </a:xfrm>
          <a:prstGeom prst="rect">
            <a:avLst/>
          </a:prstGeom>
          <a:noFill/>
          <a:ln>
            <a:noFill/>
          </a:ln>
        </p:spPr>
      </p:pic>
      <p:sp>
        <p:nvSpPr>
          <p:cNvPr id="1918" name="Google Shape;1918;p128"/>
          <p:cNvSpPr/>
          <p:nvPr/>
        </p:nvSpPr>
        <p:spPr>
          <a:xfrm>
            <a:off x="4989050" y="3525200"/>
            <a:ext cx="677700" cy="26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9" name="Google Shape;1919;p128"/>
          <p:cNvSpPr/>
          <p:nvPr/>
        </p:nvSpPr>
        <p:spPr>
          <a:xfrm>
            <a:off x="4989050" y="3175400"/>
            <a:ext cx="677700" cy="26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0" name="Google Shape;1920;p128"/>
          <p:cNvSpPr/>
          <p:nvPr/>
        </p:nvSpPr>
        <p:spPr>
          <a:xfrm>
            <a:off x="4989050" y="4248975"/>
            <a:ext cx="677700" cy="26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1" name="Google Shape;1921;p128"/>
          <p:cNvSpPr/>
          <p:nvPr/>
        </p:nvSpPr>
        <p:spPr>
          <a:xfrm rot="-2698738">
            <a:off x="6421928" y="1526387"/>
            <a:ext cx="577636" cy="281287"/>
          </a:xfrm>
          <a:prstGeom prst="righ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2" name="Google Shape;1922;p128"/>
          <p:cNvSpPr/>
          <p:nvPr/>
        </p:nvSpPr>
        <p:spPr>
          <a:xfrm>
            <a:off x="6908150" y="1059925"/>
            <a:ext cx="378900" cy="26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3" name="Google Shape;1923;p128"/>
          <p:cNvSpPr txBox="1"/>
          <p:nvPr>
            <p:ph type="title"/>
          </p:nvPr>
        </p:nvSpPr>
        <p:spPr>
          <a:xfrm>
            <a:off x="5666750" y="3199250"/>
            <a:ext cx="11898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a:t>
            </a:r>
            <a:endParaRPr b="1" sz="1020">
              <a:solidFill>
                <a:srgbClr val="FF0000"/>
              </a:solidFill>
              <a:latin typeface="Oswald"/>
              <a:ea typeface="Oswald"/>
              <a:cs typeface="Oswald"/>
              <a:sym typeface="Oswald"/>
            </a:endParaRPr>
          </a:p>
        </p:txBody>
      </p:sp>
      <p:sp>
        <p:nvSpPr>
          <p:cNvPr id="1924" name="Google Shape;1924;p128"/>
          <p:cNvSpPr txBox="1"/>
          <p:nvPr>
            <p:ph type="title"/>
          </p:nvPr>
        </p:nvSpPr>
        <p:spPr>
          <a:xfrm>
            <a:off x="5666750" y="3549050"/>
            <a:ext cx="11898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a:t>
            </a:r>
            <a:endParaRPr b="1" sz="1020">
              <a:solidFill>
                <a:srgbClr val="FF0000"/>
              </a:solidFill>
              <a:latin typeface="Oswald"/>
              <a:ea typeface="Oswald"/>
              <a:cs typeface="Oswald"/>
              <a:sym typeface="Oswald"/>
            </a:endParaRPr>
          </a:p>
        </p:txBody>
      </p:sp>
      <p:sp>
        <p:nvSpPr>
          <p:cNvPr id="1925" name="Google Shape;1925;p128"/>
          <p:cNvSpPr txBox="1"/>
          <p:nvPr>
            <p:ph type="title"/>
          </p:nvPr>
        </p:nvSpPr>
        <p:spPr>
          <a:xfrm>
            <a:off x="5666750" y="4272825"/>
            <a:ext cx="15036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SELEZIONARE</a:t>
            </a:r>
            <a:r>
              <a:rPr b="1" lang="it" sz="1020">
                <a:solidFill>
                  <a:srgbClr val="FF0000"/>
                </a:solidFill>
                <a:latin typeface="Oswald"/>
                <a:ea typeface="Oswald"/>
                <a:cs typeface="Oswald"/>
                <a:sym typeface="Oswald"/>
              </a:rPr>
              <a:t> MOTIVO</a:t>
            </a:r>
            <a:endParaRPr b="1" sz="1020">
              <a:solidFill>
                <a:srgbClr val="FF0000"/>
              </a:solidFill>
              <a:latin typeface="Oswald"/>
              <a:ea typeface="Oswald"/>
              <a:cs typeface="Oswald"/>
              <a:sym typeface="Oswald"/>
            </a:endParaRPr>
          </a:p>
        </p:txBody>
      </p:sp>
      <p:sp>
        <p:nvSpPr>
          <p:cNvPr id="1926" name="Google Shape;1926;p128"/>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11: Persa - Modifica DATI CLIENTE da Mobile</a:t>
            </a:r>
            <a:endParaRPr sz="1100">
              <a:highlight>
                <a:srgbClr val="B6D7A8"/>
              </a:highlight>
              <a:latin typeface="Lexend"/>
              <a:ea typeface="Lexend"/>
              <a:cs typeface="Lexend"/>
              <a:sym typeface="Lexen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0" name="Shape 1930"/>
        <p:cNvGrpSpPr/>
        <p:nvPr/>
      </p:nvGrpSpPr>
      <p:grpSpPr>
        <a:xfrm>
          <a:off x="0" y="0"/>
          <a:ext cx="0" cy="0"/>
          <a:chOff x="0" y="0"/>
          <a:chExt cx="0" cy="0"/>
        </a:xfrm>
      </p:grpSpPr>
      <p:sp>
        <p:nvSpPr>
          <p:cNvPr id="1931" name="Google Shape;1931;p12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32" name="Google Shape;1932;p129"/>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933" name="Google Shape;1933;p12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934" name="Google Shape;1934;p129"/>
          <p:cNvSpPr txBox="1"/>
          <p:nvPr>
            <p:ph type="title"/>
          </p:nvPr>
        </p:nvSpPr>
        <p:spPr>
          <a:xfrm>
            <a:off x="1242850" y="982675"/>
            <a:ext cx="64611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Pipeline: Gestione Clienti</a:t>
            </a:r>
            <a:endParaRPr sz="2020">
              <a:highlight>
                <a:srgbClr val="B6D7A8"/>
              </a:highlight>
              <a:latin typeface="Lexend"/>
              <a:ea typeface="Lexend"/>
              <a:cs typeface="Lexend"/>
              <a:sym typeface="Lexend"/>
            </a:endParaRPr>
          </a:p>
        </p:txBody>
      </p:sp>
      <p:sp>
        <p:nvSpPr>
          <p:cNvPr id="1935" name="Google Shape;1935;p12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936" name="Google Shape;1936;p129"/>
          <p:cNvSpPr/>
          <p:nvPr/>
        </p:nvSpPr>
        <p:spPr>
          <a:xfrm>
            <a:off x="1489025" y="16101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37" name="Google Shape;1937;p129"/>
          <p:cNvCxnSpPr/>
          <p:nvPr/>
        </p:nvCxnSpPr>
        <p:spPr>
          <a:xfrm>
            <a:off x="2692913" y="2016550"/>
            <a:ext cx="0" cy="2385300"/>
          </a:xfrm>
          <a:prstGeom prst="straightConnector1">
            <a:avLst/>
          </a:prstGeom>
          <a:noFill/>
          <a:ln cap="flat" cmpd="sng" w="9525">
            <a:solidFill>
              <a:schemeClr val="dk2"/>
            </a:solidFill>
            <a:prstDash val="dot"/>
            <a:round/>
            <a:headEnd len="med" w="med" type="none"/>
            <a:tailEnd len="med" w="med" type="none"/>
          </a:ln>
        </p:spPr>
      </p:cxnSp>
      <p:cxnSp>
        <p:nvCxnSpPr>
          <p:cNvPr id="1938" name="Google Shape;1938;p129"/>
          <p:cNvCxnSpPr/>
          <p:nvPr/>
        </p:nvCxnSpPr>
        <p:spPr>
          <a:xfrm>
            <a:off x="4484013" y="2016550"/>
            <a:ext cx="0" cy="2385300"/>
          </a:xfrm>
          <a:prstGeom prst="straightConnector1">
            <a:avLst/>
          </a:prstGeom>
          <a:noFill/>
          <a:ln cap="flat" cmpd="sng" w="9525">
            <a:solidFill>
              <a:schemeClr val="dk2"/>
            </a:solidFill>
            <a:prstDash val="dot"/>
            <a:round/>
            <a:headEnd len="med" w="med" type="none"/>
            <a:tailEnd len="med" w="med" type="none"/>
          </a:ln>
        </p:spPr>
      </p:cxnSp>
      <p:cxnSp>
        <p:nvCxnSpPr>
          <p:cNvPr id="1939" name="Google Shape;1939;p129"/>
          <p:cNvCxnSpPr/>
          <p:nvPr/>
        </p:nvCxnSpPr>
        <p:spPr>
          <a:xfrm>
            <a:off x="6269638" y="2030146"/>
            <a:ext cx="0" cy="2385300"/>
          </a:xfrm>
          <a:prstGeom prst="straightConnector1">
            <a:avLst/>
          </a:prstGeom>
          <a:noFill/>
          <a:ln cap="flat" cmpd="sng" w="9525">
            <a:solidFill>
              <a:schemeClr val="dk2"/>
            </a:solidFill>
            <a:prstDash val="dot"/>
            <a:round/>
            <a:headEnd len="med" w="med" type="none"/>
            <a:tailEnd len="med" w="med" type="none"/>
          </a:ln>
        </p:spPr>
      </p:cxnSp>
      <p:sp>
        <p:nvSpPr>
          <p:cNvPr id="1940" name="Google Shape;1940;p129"/>
          <p:cNvSpPr txBox="1"/>
          <p:nvPr>
            <p:ph type="title"/>
          </p:nvPr>
        </p:nvSpPr>
        <p:spPr>
          <a:xfrm>
            <a:off x="908616" y="2016550"/>
            <a:ext cx="17376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START</a:t>
            </a:r>
            <a:endParaRPr b="1" sz="1020">
              <a:solidFill>
                <a:srgbClr val="FF0000"/>
              </a:solidFill>
              <a:latin typeface="Oswald"/>
              <a:ea typeface="Oswald"/>
              <a:cs typeface="Oswald"/>
              <a:sym typeface="Oswald"/>
            </a:endParaRPr>
          </a:p>
        </p:txBody>
      </p:sp>
      <p:sp>
        <p:nvSpPr>
          <p:cNvPr id="1941" name="Google Shape;1941;p129"/>
          <p:cNvSpPr txBox="1"/>
          <p:nvPr>
            <p:ph type="title"/>
          </p:nvPr>
        </p:nvSpPr>
        <p:spPr>
          <a:xfrm>
            <a:off x="2720691" y="2016550"/>
            <a:ext cx="17376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DATA INSTALLAZIONE</a:t>
            </a:r>
            <a:endParaRPr b="1" sz="1020">
              <a:solidFill>
                <a:srgbClr val="FF0000"/>
              </a:solidFill>
              <a:latin typeface="Oswald"/>
              <a:ea typeface="Oswald"/>
              <a:cs typeface="Oswald"/>
              <a:sym typeface="Oswald"/>
            </a:endParaRPr>
          </a:p>
        </p:txBody>
      </p:sp>
      <p:sp>
        <p:nvSpPr>
          <p:cNvPr id="1942" name="Google Shape;1942;p129"/>
          <p:cNvSpPr txBox="1"/>
          <p:nvPr>
            <p:ph type="title"/>
          </p:nvPr>
        </p:nvSpPr>
        <p:spPr>
          <a:xfrm>
            <a:off x="4523478" y="2016550"/>
            <a:ext cx="17067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CHIUSURA CANTIERE</a:t>
            </a:r>
            <a:endParaRPr b="1" sz="1020">
              <a:solidFill>
                <a:srgbClr val="FF0000"/>
              </a:solidFill>
              <a:latin typeface="Oswald"/>
              <a:ea typeface="Oswald"/>
              <a:cs typeface="Oswald"/>
              <a:sym typeface="Oswald"/>
            </a:endParaRPr>
          </a:p>
        </p:txBody>
      </p:sp>
      <p:sp>
        <p:nvSpPr>
          <p:cNvPr id="1943" name="Google Shape;1943;p129"/>
          <p:cNvSpPr txBox="1"/>
          <p:nvPr>
            <p:ph type="title"/>
          </p:nvPr>
        </p:nvSpPr>
        <p:spPr>
          <a:xfrm>
            <a:off x="6300583" y="2016550"/>
            <a:ext cx="17376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FASCICOLO FINALE</a:t>
            </a:r>
            <a:endParaRPr b="1" sz="1020">
              <a:solidFill>
                <a:srgbClr val="FF0000"/>
              </a:solidFill>
              <a:latin typeface="Oswald"/>
              <a:ea typeface="Oswald"/>
              <a:cs typeface="Oswald"/>
              <a:sym typeface="Oswald"/>
            </a:endParaRPr>
          </a:p>
        </p:txBody>
      </p:sp>
      <p:sp>
        <p:nvSpPr>
          <p:cNvPr id="1944" name="Google Shape;1944;p129"/>
          <p:cNvSpPr txBox="1"/>
          <p:nvPr>
            <p:ph type="title"/>
          </p:nvPr>
        </p:nvSpPr>
        <p:spPr>
          <a:xfrm>
            <a:off x="1228857" y="3806538"/>
            <a:ext cx="109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1</a:t>
            </a:r>
            <a:endParaRPr b="1" sz="1020">
              <a:latin typeface="Oswald"/>
              <a:ea typeface="Oswald"/>
              <a:cs typeface="Oswald"/>
              <a:sym typeface="Oswald"/>
            </a:endParaRPr>
          </a:p>
        </p:txBody>
      </p:sp>
      <p:sp>
        <p:nvSpPr>
          <p:cNvPr id="1945" name="Google Shape;1945;p129"/>
          <p:cNvSpPr txBox="1"/>
          <p:nvPr>
            <p:ph type="title"/>
          </p:nvPr>
        </p:nvSpPr>
        <p:spPr>
          <a:xfrm>
            <a:off x="3039907" y="3806538"/>
            <a:ext cx="109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2</a:t>
            </a:r>
            <a:endParaRPr b="1" sz="1020">
              <a:latin typeface="Oswald"/>
              <a:ea typeface="Oswald"/>
              <a:cs typeface="Oswald"/>
              <a:sym typeface="Oswald"/>
            </a:endParaRPr>
          </a:p>
        </p:txBody>
      </p:sp>
      <p:sp>
        <p:nvSpPr>
          <p:cNvPr id="1946" name="Google Shape;1946;p129"/>
          <p:cNvSpPr txBox="1"/>
          <p:nvPr>
            <p:ph type="title"/>
          </p:nvPr>
        </p:nvSpPr>
        <p:spPr>
          <a:xfrm>
            <a:off x="4828282" y="3806538"/>
            <a:ext cx="109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3</a:t>
            </a:r>
            <a:endParaRPr b="1" sz="1020">
              <a:latin typeface="Oswald"/>
              <a:ea typeface="Oswald"/>
              <a:cs typeface="Oswald"/>
              <a:sym typeface="Oswald"/>
            </a:endParaRPr>
          </a:p>
        </p:txBody>
      </p:sp>
      <p:sp>
        <p:nvSpPr>
          <p:cNvPr id="1947" name="Google Shape;1947;p129"/>
          <p:cNvSpPr txBox="1"/>
          <p:nvPr>
            <p:ph type="title"/>
          </p:nvPr>
        </p:nvSpPr>
        <p:spPr>
          <a:xfrm>
            <a:off x="6620845" y="3806538"/>
            <a:ext cx="10971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latin typeface="Oswald"/>
                <a:ea typeface="Oswald"/>
                <a:cs typeface="Oswald"/>
                <a:sym typeface="Oswald"/>
              </a:rPr>
              <a:t>FASE 4</a:t>
            </a:r>
            <a:endParaRPr b="1" sz="1020">
              <a:latin typeface="Oswald"/>
              <a:ea typeface="Oswald"/>
              <a:cs typeface="Oswald"/>
              <a:sym typeface="Oswald"/>
            </a:endParaRPr>
          </a:p>
        </p:txBody>
      </p:sp>
      <p:grpSp>
        <p:nvGrpSpPr>
          <p:cNvPr id="1948" name="Google Shape;1948;p129"/>
          <p:cNvGrpSpPr/>
          <p:nvPr/>
        </p:nvGrpSpPr>
        <p:grpSpPr>
          <a:xfrm>
            <a:off x="1537650" y="2709250"/>
            <a:ext cx="5899337" cy="538177"/>
            <a:chOff x="1527038" y="3160700"/>
            <a:chExt cx="5899337" cy="538177"/>
          </a:xfrm>
        </p:grpSpPr>
        <p:pic>
          <p:nvPicPr>
            <p:cNvPr id="1949" name="Google Shape;1949;p129"/>
            <p:cNvPicPr preferRelativeResize="0"/>
            <p:nvPr/>
          </p:nvPicPr>
          <p:blipFill>
            <a:blip r:embed="rId4">
              <a:alphaModFix/>
            </a:blip>
            <a:stretch>
              <a:fillRect/>
            </a:stretch>
          </p:blipFill>
          <p:spPr>
            <a:xfrm>
              <a:off x="1527038" y="3183549"/>
              <a:ext cx="492475" cy="492475"/>
            </a:xfrm>
            <a:prstGeom prst="rect">
              <a:avLst/>
            </a:prstGeom>
            <a:noFill/>
            <a:ln>
              <a:noFill/>
            </a:ln>
          </p:spPr>
        </p:pic>
        <p:cxnSp>
          <p:nvCxnSpPr>
            <p:cNvPr id="1950" name="Google Shape;1950;p129"/>
            <p:cNvCxnSpPr/>
            <p:nvPr/>
          </p:nvCxnSpPr>
          <p:spPr>
            <a:xfrm>
              <a:off x="2217300" y="3413850"/>
              <a:ext cx="930000" cy="0"/>
            </a:xfrm>
            <a:prstGeom prst="straightConnector1">
              <a:avLst/>
            </a:prstGeom>
            <a:noFill/>
            <a:ln cap="flat" cmpd="sng" w="9525">
              <a:solidFill>
                <a:schemeClr val="dk2"/>
              </a:solidFill>
              <a:prstDash val="solid"/>
              <a:round/>
              <a:headEnd len="med" w="med" type="none"/>
              <a:tailEnd len="med" w="med" type="triangle"/>
            </a:ln>
          </p:spPr>
        </p:cxnSp>
        <p:pic>
          <p:nvPicPr>
            <p:cNvPr id="1951" name="Google Shape;1951;p129"/>
            <p:cNvPicPr preferRelativeResize="0"/>
            <p:nvPr/>
          </p:nvPicPr>
          <p:blipFill>
            <a:blip r:embed="rId5">
              <a:alphaModFix/>
            </a:blip>
            <a:stretch>
              <a:fillRect/>
            </a:stretch>
          </p:blipFill>
          <p:spPr>
            <a:xfrm>
              <a:off x="3308771" y="3160703"/>
              <a:ext cx="538175" cy="538168"/>
            </a:xfrm>
            <a:prstGeom prst="rect">
              <a:avLst/>
            </a:prstGeom>
            <a:noFill/>
            <a:ln>
              <a:noFill/>
            </a:ln>
          </p:spPr>
        </p:pic>
        <p:cxnSp>
          <p:nvCxnSpPr>
            <p:cNvPr id="1952" name="Google Shape;1952;p129"/>
            <p:cNvCxnSpPr/>
            <p:nvPr/>
          </p:nvCxnSpPr>
          <p:spPr>
            <a:xfrm>
              <a:off x="4005663" y="3413850"/>
              <a:ext cx="930000" cy="0"/>
            </a:xfrm>
            <a:prstGeom prst="straightConnector1">
              <a:avLst/>
            </a:prstGeom>
            <a:noFill/>
            <a:ln cap="flat" cmpd="sng" w="9525">
              <a:solidFill>
                <a:schemeClr val="dk2"/>
              </a:solidFill>
              <a:prstDash val="solid"/>
              <a:round/>
              <a:headEnd len="med" w="med" type="none"/>
              <a:tailEnd len="med" w="med" type="triangle"/>
            </a:ln>
          </p:spPr>
        </p:cxnSp>
        <p:pic>
          <p:nvPicPr>
            <p:cNvPr id="1953" name="Google Shape;1953;p129"/>
            <p:cNvPicPr preferRelativeResize="0"/>
            <p:nvPr/>
          </p:nvPicPr>
          <p:blipFill>
            <a:blip r:embed="rId6">
              <a:alphaModFix/>
            </a:blip>
            <a:stretch>
              <a:fillRect/>
            </a:stretch>
          </p:blipFill>
          <p:spPr>
            <a:xfrm>
              <a:off x="5097124" y="3160702"/>
              <a:ext cx="538175" cy="538175"/>
            </a:xfrm>
            <a:prstGeom prst="rect">
              <a:avLst/>
            </a:prstGeom>
            <a:noFill/>
            <a:ln>
              <a:noFill/>
            </a:ln>
          </p:spPr>
        </p:pic>
        <p:cxnSp>
          <p:nvCxnSpPr>
            <p:cNvPr id="1954" name="Google Shape;1954;p129"/>
            <p:cNvCxnSpPr/>
            <p:nvPr/>
          </p:nvCxnSpPr>
          <p:spPr>
            <a:xfrm>
              <a:off x="5796738" y="3413850"/>
              <a:ext cx="930000" cy="0"/>
            </a:xfrm>
            <a:prstGeom prst="straightConnector1">
              <a:avLst/>
            </a:prstGeom>
            <a:noFill/>
            <a:ln cap="flat" cmpd="sng" w="9525">
              <a:solidFill>
                <a:schemeClr val="dk2"/>
              </a:solidFill>
              <a:prstDash val="solid"/>
              <a:round/>
              <a:headEnd len="med" w="med" type="none"/>
              <a:tailEnd len="med" w="med" type="triangle"/>
            </a:ln>
          </p:spPr>
        </p:cxnSp>
        <p:pic>
          <p:nvPicPr>
            <p:cNvPr id="1955" name="Google Shape;1955;p129"/>
            <p:cNvPicPr preferRelativeResize="0"/>
            <p:nvPr/>
          </p:nvPicPr>
          <p:blipFill>
            <a:blip r:embed="rId7">
              <a:alphaModFix/>
            </a:blip>
            <a:stretch>
              <a:fillRect/>
            </a:stretch>
          </p:blipFill>
          <p:spPr>
            <a:xfrm>
              <a:off x="6888200" y="3160700"/>
              <a:ext cx="538175" cy="538175"/>
            </a:xfrm>
            <a:prstGeom prst="rect">
              <a:avLst/>
            </a:prstGeom>
            <a:noFill/>
            <a:ln>
              <a:noFill/>
            </a:ln>
          </p:spPr>
        </p:pic>
      </p:gr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9" name="Shape 1959"/>
        <p:cNvGrpSpPr/>
        <p:nvPr/>
      </p:nvGrpSpPr>
      <p:grpSpPr>
        <a:xfrm>
          <a:off x="0" y="0"/>
          <a:ext cx="0" cy="0"/>
          <a:chOff x="0" y="0"/>
          <a:chExt cx="0" cy="0"/>
        </a:xfrm>
      </p:grpSpPr>
      <p:sp>
        <p:nvSpPr>
          <p:cNvPr id="1960" name="Google Shape;1960;p13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61" name="Google Shape;1961;p13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962" name="Google Shape;1962;p13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963" name="Google Shape;1963;p130"/>
          <p:cNvSpPr txBox="1"/>
          <p:nvPr>
            <p:ph type="title"/>
          </p:nvPr>
        </p:nvSpPr>
        <p:spPr>
          <a:xfrm>
            <a:off x="918850" y="1368588"/>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1: Start</a:t>
            </a:r>
            <a:endParaRPr sz="1220">
              <a:highlight>
                <a:srgbClr val="B6D7A8"/>
              </a:highlight>
              <a:latin typeface="Lexend"/>
              <a:ea typeface="Lexend"/>
              <a:cs typeface="Lexend"/>
              <a:sym typeface="Lexend"/>
            </a:endParaRPr>
          </a:p>
        </p:txBody>
      </p:sp>
      <p:sp>
        <p:nvSpPr>
          <p:cNvPr id="1964" name="Google Shape;1964;p13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965" name="Google Shape;1965;p130"/>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6" name="Google Shape;1966;p130"/>
          <p:cNvSpPr txBox="1"/>
          <p:nvPr>
            <p:ph type="title"/>
          </p:nvPr>
        </p:nvSpPr>
        <p:spPr>
          <a:xfrm>
            <a:off x="521425" y="1494813"/>
            <a:ext cx="8146500" cy="27912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it" sz="1620">
                <a:latin typeface="Lexend"/>
                <a:ea typeface="Lexend"/>
                <a:cs typeface="Lexend"/>
                <a:sym typeface="Lexend"/>
              </a:rPr>
              <a:t>In AUTOMATICO, una volta che il lead è diventato “VINTO”, </a:t>
            </a:r>
            <a:endParaRPr sz="1620">
              <a:latin typeface="Lexend"/>
              <a:ea typeface="Lexend"/>
              <a:cs typeface="Lexend"/>
              <a:sym typeface="Lexend"/>
            </a:endParaRPr>
          </a:p>
          <a:p>
            <a:pPr indent="0" lvl="0" marL="0" rtl="0" algn="ctr">
              <a:lnSpc>
                <a:spcPct val="115000"/>
              </a:lnSpc>
              <a:spcBef>
                <a:spcPts val="0"/>
              </a:spcBef>
              <a:spcAft>
                <a:spcPts val="0"/>
              </a:spcAft>
              <a:buNone/>
            </a:pPr>
            <a:r>
              <a:rPr lang="it" sz="1620">
                <a:latin typeface="Lexend"/>
                <a:ea typeface="Lexend"/>
                <a:cs typeface="Lexend"/>
                <a:sym typeface="Lexend"/>
              </a:rPr>
              <a:t>finirà qui nella gestione cliente. </a:t>
            </a:r>
            <a:endParaRPr sz="1620">
              <a:latin typeface="Lexend"/>
              <a:ea typeface="Lexend"/>
              <a:cs typeface="Lexend"/>
              <a:sym typeface="Lexend"/>
            </a:endParaRPr>
          </a:p>
          <a:p>
            <a:pPr indent="0" lvl="0" marL="0" rtl="0" algn="ctr">
              <a:lnSpc>
                <a:spcPct val="115000"/>
              </a:lnSpc>
              <a:spcBef>
                <a:spcPts val="0"/>
              </a:spcBef>
              <a:spcAft>
                <a:spcPts val="0"/>
              </a:spcAft>
              <a:buNone/>
            </a:pPr>
            <a:r>
              <a:t/>
            </a:r>
            <a:endParaRPr sz="1620">
              <a:latin typeface="Lexend"/>
              <a:ea typeface="Lexend"/>
              <a:cs typeface="Lexend"/>
              <a:sym typeface="Lexend"/>
            </a:endParaRPr>
          </a:p>
          <a:p>
            <a:pPr indent="0" lvl="0" marL="0" rtl="0" algn="ctr">
              <a:lnSpc>
                <a:spcPct val="115000"/>
              </a:lnSpc>
              <a:spcBef>
                <a:spcPts val="0"/>
              </a:spcBef>
              <a:spcAft>
                <a:spcPts val="0"/>
              </a:spcAft>
              <a:buNone/>
            </a:pPr>
            <a:r>
              <a:rPr lang="it" sz="1620">
                <a:latin typeface="Lexend"/>
                <a:ea typeface="Lexend"/>
                <a:cs typeface="Lexend"/>
                <a:sym typeface="Lexend"/>
              </a:rPr>
              <a:t>Questa è una fase dove non succede nulla, è solo di visualizzazione.</a:t>
            </a:r>
            <a:endParaRPr sz="1620">
              <a:latin typeface="Lexend"/>
              <a:ea typeface="Lexend"/>
              <a:cs typeface="Lexend"/>
              <a:sym typeface="Lexen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0" name="Shape 1970"/>
        <p:cNvGrpSpPr/>
        <p:nvPr/>
      </p:nvGrpSpPr>
      <p:grpSpPr>
        <a:xfrm>
          <a:off x="0" y="0"/>
          <a:ext cx="0" cy="0"/>
          <a:chOff x="0" y="0"/>
          <a:chExt cx="0" cy="0"/>
        </a:xfrm>
      </p:grpSpPr>
      <p:sp>
        <p:nvSpPr>
          <p:cNvPr id="1971" name="Google Shape;1971;p13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72" name="Google Shape;1972;p13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973" name="Google Shape;1973;p13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974" name="Google Shape;1974;p131"/>
          <p:cNvSpPr txBox="1"/>
          <p:nvPr>
            <p:ph type="title"/>
          </p:nvPr>
        </p:nvSpPr>
        <p:spPr>
          <a:xfrm>
            <a:off x="918850" y="1292763"/>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2: Data Installazione</a:t>
            </a:r>
            <a:endParaRPr sz="1220">
              <a:highlight>
                <a:srgbClr val="B6D7A8"/>
              </a:highlight>
              <a:latin typeface="Lexend"/>
              <a:ea typeface="Lexend"/>
              <a:cs typeface="Lexend"/>
              <a:sym typeface="Lexend"/>
            </a:endParaRPr>
          </a:p>
        </p:txBody>
      </p:sp>
      <p:sp>
        <p:nvSpPr>
          <p:cNvPr id="1975" name="Google Shape;1975;p13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976" name="Google Shape;1976;p131"/>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7" name="Google Shape;1977;p131"/>
          <p:cNvSpPr txBox="1"/>
          <p:nvPr>
            <p:ph type="title"/>
          </p:nvPr>
        </p:nvSpPr>
        <p:spPr>
          <a:xfrm>
            <a:off x="521425" y="2039772"/>
            <a:ext cx="8146500" cy="2163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it" sz="1620">
                <a:latin typeface="Lexend"/>
                <a:ea typeface="Lexend"/>
                <a:cs typeface="Lexend"/>
                <a:sym typeface="Lexend"/>
              </a:rPr>
              <a:t>Una volta programmata la data di installazione dell’impianto fotovoltaico, dovrà essere inserita nell’anagrafica cliente nella sezione “specifiche impianto” nella voce “data di installazione”.</a:t>
            </a:r>
            <a:endParaRPr sz="1620">
              <a:latin typeface="Lexend"/>
              <a:ea typeface="Lexend"/>
              <a:cs typeface="Lexend"/>
              <a:sym typeface="Lexend"/>
            </a:endParaRPr>
          </a:p>
          <a:p>
            <a:pPr indent="0" lvl="0" marL="0" rtl="0" algn="ctr">
              <a:lnSpc>
                <a:spcPct val="115000"/>
              </a:lnSpc>
              <a:spcBef>
                <a:spcPts val="0"/>
              </a:spcBef>
              <a:spcAft>
                <a:spcPts val="0"/>
              </a:spcAft>
              <a:buNone/>
            </a:pPr>
            <a:r>
              <a:t/>
            </a:r>
            <a:endParaRPr sz="1620">
              <a:latin typeface="Lexend"/>
              <a:ea typeface="Lexend"/>
              <a:cs typeface="Lexend"/>
              <a:sym typeface="Lexend"/>
            </a:endParaRPr>
          </a:p>
          <a:p>
            <a:pPr indent="0" lvl="0" marL="0" rtl="0" algn="ctr">
              <a:lnSpc>
                <a:spcPct val="115000"/>
              </a:lnSpc>
              <a:spcBef>
                <a:spcPts val="0"/>
              </a:spcBef>
              <a:spcAft>
                <a:spcPts val="0"/>
              </a:spcAft>
              <a:buNone/>
            </a:pPr>
            <a:r>
              <a:rPr lang="it" sz="1620">
                <a:latin typeface="Lexend"/>
                <a:ea typeface="Lexend"/>
                <a:cs typeface="Lexend"/>
                <a:sym typeface="Lexend"/>
              </a:rPr>
              <a:t>Una volta inserita la data, il lead dovrà essere spostato qui, nella fase “data installazione”, così da mandare un messaggio automatico al cliente.</a:t>
            </a:r>
            <a:endParaRPr sz="1620">
              <a:latin typeface="Lexend"/>
              <a:ea typeface="Lexend"/>
              <a:cs typeface="Lexend"/>
              <a:sym typeface="Lexen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pic>
        <p:nvPicPr>
          <p:cNvPr id="1982" name="Google Shape;1982;p132"/>
          <p:cNvPicPr preferRelativeResize="0"/>
          <p:nvPr/>
        </p:nvPicPr>
        <p:blipFill>
          <a:blip r:embed="rId3">
            <a:alphaModFix/>
          </a:blip>
          <a:stretch>
            <a:fillRect/>
          </a:stretch>
        </p:blipFill>
        <p:spPr>
          <a:xfrm>
            <a:off x="2906098" y="999852"/>
            <a:ext cx="2701274" cy="3496448"/>
          </a:xfrm>
          <a:prstGeom prst="rect">
            <a:avLst/>
          </a:prstGeom>
          <a:noFill/>
          <a:ln>
            <a:noFill/>
          </a:ln>
        </p:spPr>
      </p:pic>
      <p:sp>
        <p:nvSpPr>
          <p:cNvPr id="1983" name="Google Shape;1983;p132"/>
          <p:cNvSpPr/>
          <p:nvPr/>
        </p:nvSpPr>
        <p:spPr>
          <a:xfrm>
            <a:off x="2768825" y="937400"/>
            <a:ext cx="29334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4" name="Google Shape;1984;p13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85" name="Google Shape;1985;p132"/>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986" name="Google Shape;1986;p13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1987" name="Google Shape;1987;p13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988" name="Google Shape;1988;p132"/>
          <p:cNvSpPr/>
          <p:nvPr/>
        </p:nvSpPr>
        <p:spPr>
          <a:xfrm>
            <a:off x="2932750" y="1893500"/>
            <a:ext cx="698700" cy="315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9" name="Google Shape;1989;p132"/>
          <p:cNvSpPr txBox="1"/>
          <p:nvPr>
            <p:ph type="title"/>
          </p:nvPr>
        </p:nvSpPr>
        <p:spPr>
          <a:xfrm>
            <a:off x="3661858" y="1927575"/>
            <a:ext cx="19455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INSERIRE DATA INSTALLAZIONE</a:t>
            </a:r>
            <a:endParaRPr b="1" sz="1020">
              <a:solidFill>
                <a:srgbClr val="FF0000"/>
              </a:solidFill>
              <a:latin typeface="Oswald"/>
              <a:ea typeface="Oswald"/>
              <a:cs typeface="Oswald"/>
              <a:sym typeface="Oswald"/>
            </a:endParaRPr>
          </a:p>
        </p:txBody>
      </p:sp>
      <p:pic>
        <p:nvPicPr>
          <p:cNvPr id="1990" name="Google Shape;1990;p132"/>
          <p:cNvPicPr preferRelativeResize="0"/>
          <p:nvPr/>
        </p:nvPicPr>
        <p:blipFill>
          <a:blip r:embed="rId5">
            <a:alphaModFix/>
          </a:blip>
          <a:stretch>
            <a:fillRect/>
          </a:stretch>
        </p:blipFill>
        <p:spPr>
          <a:xfrm>
            <a:off x="555200" y="2388188"/>
            <a:ext cx="1792925" cy="833775"/>
          </a:xfrm>
          <a:prstGeom prst="rect">
            <a:avLst/>
          </a:prstGeom>
          <a:noFill/>
          <a:ln>
            <a:noFill/>
          </a:ln>
        </p:spPr>
      </p:pic>
      <p:cxnSp>
        <p:nvCxnSpPr>
          <p:cNvPr id="1991" name="Google Shape;1991;p132"/>
          <p:cNvCxnSpPr>
            <a:stCxn id="1992" idx="3"/>
            <a:endCxn id="1983" idx="1"/>
          </p:cNvCxnSpPr>
          <p:nvPr/>
        </p:nvCxnSpPr>
        <p:spPr>
          <a:xfrm flipH="1" rot="10800000">
            <a:off x="2348075" y="2784588"/>
            <a:ext cx="420900" cy="13800"/>
          </a:xfrm>
          <a:prstGeom prst="straightConnector1">
            <a:avLst/>
          </a:prstGeom>
          <a:noFill/>
          <a:ln cap="flat" cmpd="sng" w="9525">
            <a:solidFill>
              <a:schemeClr val="dk2"/>
            </a:solidFill>
            <a:prstDash val="dash"/>
            <a:round/>
            <a:headEnd len="med" w="med" type="none"/>
            <a:tailEnd len="med" w="med" type="triangle"/>
          </a:ln>
        </p:spPr>
      </p:cxnSp>
      <p:sp>
        <p:nvSpPr>
          <p:cNvPr id="1993" name="Google Shape;1993;p132"/>
          <p:cNvSpPr/>
          <p:nvPr/>
        </p:nvSpPr>
        <p:spPr>
          <a:xfrm>
            <a:off x="1360025" y="3013688"/>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2" name="Google Shape;1992;p132"/>
          <p:cNvSpPr/>
          <p:nvPr/>
        </p:nvSpPr>
        <p:spPr>
          <a:xfrm>
            <a:off x="555275" y="2381538"/>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4" name="Google Shape;1994;p132"/>
          <p:cNvSpPr/>
          <p:nvPr/>
        </p:nvSpPr>
        <p:spPr>
          <a:xfrm>
            <a:off x="3895300" y="1043700"/>
            <a:ext cx="587400" cy="123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5" name="Google Shape;1995;p132"/>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2: Data Installazione - Come inserire la data di installazione</a:t>
            </a:r>
            <a:endParaRPr sz="1100">
              <a:highlight>
                <a:srgbClr val="B6D7A8"/>
              </a:highlight>
              <a:latin typeface="Lexend"/>
              <a:ea typeface="Lexend"/>
              <a:cs typeface="Lexend"/>
              <a:sym typeface="Lexend"/>
            </a:endParaRPr>
          </a:p>
        </p:txBody>
      </p:sp>
      <p:cxnSp>
        <p:nvCxnSpPr>
          <p:cNvPr id="1996" name="Google Shape;1996;p132"/>
          <p:cNvCxnSpPr>
            <a:stCxn id="1983" idx="3"/>
            <a:endCxn id="1997" idx="1"/>
          </p:cNvCxnSpPr>
          <p:nvPr/>
        </p:nvCxnSpPr>
        <p:spPr>
          <a:xfrm flipH="1" rot="10800000">
            <a:off x="5702225" y="1231550"/>
            <a:ext cx="510300" cy="1553100"/>
          </a:xfrm>
          <a:prstGeom prst="straightConnector1">
            <a:avLst/>
          </a:prstGeom>
          <a:noFill/>
          <a:ln cap="flat" cmpd="sng" w="9525">
            <a:solidFill>
              <a:schemeClr val="dk2"/>
            </a:solidFill>
            <a:prstDash val="dash"/>
            <a:round/>
            <a:headEnd len="med" w="med" type="none"/>
            <a:tailEnd len="med" w="med" type="triangle"/>
          </a:ln>
        </p:spPr>
      </p:cxnSp>
      <p:sp>
        <p:nvSpPr>
          <p:cNvPr id="1998" name="Google Shape;1998;p132"/>
          <p:cNvSpPr txBox="1"/>
          <p:nvPr>
            <p:ph type="title"/>
          </p:nvPr>
        </p:nvSpPr>
        <p:spPr>
          <a:xfrm>
            <a:off x="479963" y="20713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CLICCARE SUL NOME DEL LEAD</a:t>
            </a:r>
            <a:endParaRPr b="1" sz="1020">
              <a:solidFill>
                <a:srgbClr val="FF0000"/>
              </a:solidFill>
              <a:latin typeface="Oswald"/>
              <a:ea typeface="Oswald"/>
              <a:cs typeface="Oswald"/>
              <a:sym typeface="Oswald"/>
            </a:endParaRPr>
          </a:p>
        </p:txBody>
      </p:sp>
      <p:cxnSp>
        <p:nvCxnSpPr>
          <p:cNvPr id="1999" name="Google Shape;1999;p132"/>
          <p:cNvCxnSpPr/>
          <p:nvPr/>
        </p:nvCxnSpPr>
        <p:spPr>
          <a:xfrm>
            <a:off x="521275" y="2601600"/>
            <a:ext cx="838800" cy="0"/>
          </a:xfrm>
          <a:prstGeom prst="straightConnector1">
            <a:avLst/>
          </a:prstGeom>
          <a:noFill/>
          <a:ln cap="flat" cmpd="sng" w="38100">
            <a:solidFill>
              <a:srgbClr val="FF0000"/>
            </a:solidFill>
            <a:prstDash val="solid"/>
            <a:round/>
            <a:headEnd len="med" w="med" type="none"/>
            <a:tailEnd len="med" w="med" type="none"/>
          </a:ln>
        </p:spPr>
      </p:cxnSp>
      <p:pic>
        <p:nvPicPr>
          <p:cNvPr id="2000" name="Google Shape;2000;p132"/>
          <p:cNvPicPr preferRelativeResize="0"/>
          <p:nvPr/>
        </p:nvPicPr>
        <p:blipFill>
          <a:blip r:embed="rId6">
            <a:alphaModFix/>
          </a:blip>
          <a:stretch>
            <a:fillRect/>
          </a:stretch>
        </p:blipFill>
        <p:spPr>
          <a:xfrm>
            <a:off x="1310975" y="2460906"/>
            <a:ext cx="281386" cy="281400"/>
          </a:xfrm>
          <a:prstGeom prst="rect">
            <a:avLst/>
          </a:prstGeom>
          <a:noFill/>
          <a:ln>
            <a:noFill/>
          </a:ln>
        </p:spPr>
      </p:pic>
      <p:cxnSp>
        <p:nvCxnSpPr>
          <p:cNvPr id="2001" name="Google Shape;2001;p132"/>
          <p:cNvCxnSpPr>
            <a:stCxn id="1983" idx="3"/>
            <a:endCxn id="2002" idx="1"/>
          </p:cNvCxnSpPr>
          <p:nvPr/>
        </p:nvCxnSpPr>
        <p:spPr>
          <a:xfrm flipH="1" rot="10800000">
            <a:off x="5702225" y="1614350"/>
            <a:ext cx="510300" cy="1170300"/>
          </a:xfrm>
          <a:prstGeom prst="straightConnector1">
            <a:avLst/>
          </a:prstGeom>
          <a:noFill/>
          <a:ln cap="flat" cmpd="sng" w="9525">
            <a:solidFill>
              <a:schemeClr val="dk2"/>
            </a:solidFill>
            <a:prstDash val="dash"/>
            <a:round/>
            <a:headEnd len="med" w="med" type="none"/>
            <a:tailEnd len="med" w="med" type="triangle"/>
          </a:ln>
        </p:spPr>
      </p:cxnSp>
      <p:sp>
        <p:nvSpPr>
          <p:cNvPr id="1997" name="Google Shape;1997;p132"/>
          <p:cNvSpPr/>
          <p:nvPr/>
        </p:nvSpPr>
        <p:spPr>
          <a:xfrm>
            <a:off x="6212600" y="1124950"/>
            <a:ext cx="2615700" cy="21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Lexend"/>
                <a:ea typeface="Lexend"/>
                <a:cs typeface="Lexend"/>
                <a:sym typeface="Lexend"/>
              </a:rPr>
              <a:t>EMAIL</a:t>
            </a:r>
            <a:endParaRPr>
              <a:latin typeface="Lexend"/>
              <a:ea typeface="Lexend"/>
              <a:cs typeface="Lexend"/>
              <a:sym typeface="Lexend"/>
            </a:endParaRPr>
          </a:p>
        </p:txBody>
      </p:sp>
      <p:sp>
        <p:nvSpPr>
          <p:cNvPr id="2002" name="Google Shape;2002;p132"/>
          <p:cNvSpPr/>
          <p:nvPr/>
        </p:nvSpPr>
        <p:spPr>
          <a:xfrm>
            <a:off x="6212600" y="1507725"/>
            <a:ext cx="2615700" cy="21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Lexend"/>
                <a:ea typeface="Lexend"/>
                <a:cs typeface="Lexend"/>
                <a:sym typeface="Lexend"/>
              </a:rPr>
              <a:t>SMS</a:t>
            </a:r>
            <a:endParaRPr>
              <a:latin typeface="Lexend"/>
              <a:ea typeface="Lexend"/>
              <a:cs typeface="Lexend"/>
              <a:sym typeface="Lexend"/>
            </a:endParaRPr>
          </a:p>
        </p:txBody>
      </p:sp>
      <p:sp>
        <p:nvSpPr>
          <p:cNvPr id="2003" name="Google Shape;2003;p132"/>
          <p:cNvSpPr txBox="1"/>
          <p:nvPr/>
        </p:nvSpPr>
        <p:spPr>
          <a:xfrm>
            <a:off x="6212700" y="1932600"/>
            <a:ext cx="2615700" cy="215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it" sz="750">
                <a:solidFill>
                  <a:schemeClr val="dk1"/>
                </a:solidFill>
              </a:rPr>
              <a:t>Messaggio:</a:t>
            </a:r>
            <a:endParaRPr b="1" i="1" sz="750">
              <a:solidFill>
                <a:schemeClr val="dk1"/>
              </a:solidFill>
            </a:endParaRPr>
          </a:p>
          <a:p>
            <a:pPr indent="0" lvl="0" marL="0" rtl="0" algn="l">
              <a:lnSpc>
                <a:spcPct val="115000"/>
              </a:lnSpc>
              <a:spcBef>
                <a:spcPts val="0"/>
              </a:spcBef>
              <a:spcAft>
                <a:spcPts val="0"/>
              </a:spcAft>
              <a:buNone/>
            </a:pPr>
            <a:r>
              <a:rPr i="1" lang="it" sz="750">
                <a:solidFill>
                  <a:schemeClr val="dk1"/>
                </a:solidFill>
              </a:rPr>
              <a:t>Oggetto: Conferma data installazione impianto fotovoltaico </a:t>
            </a:r>
            <a:endParaRPr i="1" sz="750">
              <a:solidFill>
                <a:schemeClr val="dk1"/>
              </a:solidFill>
            </a:endParaRPr>
          </a:p>
          <a:p>
            <a:pPr indent="0" lvl="0" marL="0" rtl="0" algn="l">
              <a:lnSpc>
                <a:spcPct val="115000"/>
              </a:lnSpc>
              <a:spcBef>
                <a:spcPts val="0"/>
              </a:spcBef>
              <a:spcAft>
                <a:spcPts val="0"/>
              </a:spcAft>
              <a:buNone/>
            </a:pPr>
            <a:r>
              <a:t/>
            </a:r>
            <a:endParaRPr i="1" sz="750">
              <a:solidFill>
                <a:schemeClr val="dk1"/>
              </a:solidFill>
            </a:endParaRPr>
          </a:p>
          <a:p>
            <a:pPr indent="0" lvl="0" marL="0" rtl="0" algn="l">
              <a:lnSpc>
                <a:spcPct val="115000"/>
              </a:lnSpc>
              <a:spcBef>
                <a:spcPts val="0"/>
              </a:spcBef>
              <a:spcAft>
                <a:spcPts val="0"/>
              </a:spcAft>
              <a:buNone/>
            </a:pPr>
            <a:r>
              <a:rPr i="1" lang="it" sz="750">
                <a:solidFill>
                  <a:schemeClr val="dk1"/>
                </a:solidFill>
              </a:rPr>
              <a:t>Gentile [Nome e Cognome], </a:t>
            </a:r>
            <a:endParaRPr i="1" sz="750">
              <a:solidFill>
                <a:schemeClr val="dk1"/>
              </a:solidFill>
            </a:endParaRPr>
          </a:p>
          <a:p>
            <a:pPr indent="0" lvl="0" marL="0" rtl="0" algn="l">
              <a:lnSpc>
                <a:spcPct val="115000"/>
              </a:lnSpc>
              <a:spcBef>
                <a:spcPts val="0"/>
              </a:spcBef>
              <a:spcAft>
                <a:spcPts val="0"/>
              </a:spcAft>
              <a:buNone/>
            </a:pPr>
            <a:r>
              <a:rPr i="1" lang="it" sz="750">
                <a:solidFill>
                  <a:schemeClr val="dk1"/>
                </a:solidFill>
              </a:rPr>
              <a:t>La informiamo che l’installazione del suo impianto fotovoltaico è programmata per il giorno 01/01/2024. </a:t>
            </a:r>
            <a:endParaRPr i="1" sz="750">
              <a:solidFill>
                <a:schemeClr val="dk1"/>
              </a:solidFill>
            </a:endParaRPr>
          </a:p>
          <a:p>
            <a:pPr indent="0" lvl="0" marL="0" rtl="0" algn="l">
              <a:lnSpc>
                <a:spcPct val="115000"/>
              </a:lnSpc>
              <a:spcBef>
                <a:spcPts val="0"/>
              </a:spcBef>
              <a:spcAft>
                <a:spcPts val="0"/>
              </a:spcAft>
              <a:buNone/>
            </a:pPr>
            <a:r>
              <a:t/>
            </a:r>
            <a:endParaRPr i="1" sz="750">
              <a:solidFill>
                <a:schemeClr val="dk1"/>
              </a:solidFill>
            </a:endParaRPr>
          </a:p>
          <a:p>
            <a:pPr indent="0" lvl="0" marL="0" rtl="0" algn="l">
              <a:lnSpc>
                <a:spcPct val="115000"/>
              </a:lnSpc>
              <a:spcBef>
                <a:spcPts val="0"/>
              </a:spcBef>
              <a:spcAft>
                <a:spcPts val="0"/>
              </a:spcAft>
              <a:buNone/>
            </a:pPr>
            <a:r>
              <a:rPr i="1" lang="it" sz="750">
                <a:solidFill>
                  <a:schemeClr val="dk1"/>
                </a:solidFill>
              </a:rPr>
              <a:t>Qualora non potesse essere presente o sorgessero eventuali problemi, La invitiamo a contattarci al numero 800 26 80 22 oppure all’indirizzo email info@ekosrl.net. </a:t>
            </a:r>
            <a:endParaRPr i="1" sz="750">
              <a:solidFill>
                <a:schemeClr val="dk1"/>
              </a:solidFill>
            </a:endParaRPr>
          </a:p>
          <a:p>
            <a:pPr indent="0" lvl="0" marL="0" rtl="0" algn="l">
              <a:lnSpc>
                <a:spcPct val="115000"/>
              </a:lnSpc>
              <a:spcBef>
                <a:spcPts val="0"/>
              </a:spcBef>
              <a:spcAft>
                <a:spcPts val="0"/>
              </a:spcAft>
              <a:buNone/>
            </a:pPr>
            <a:r>
              <a:t/>
            </a:r>
            <a:endParaRPr i="1" sz="750">
              <a:solidFill>
                <a:schemeClr val="dk1"/>
              </a:solidFill>
            </a:endParaRPr>
          </a:p>
          <a:p>
            <a:pPr indent="0" lvl="0" marL="0" rtl="0" algn="l">
              <a:lnSpc>
                <a:spcPct val="115000"/>
              </a:lnSpc>
              <a:spcBef>
                <a:spcPts val="0"/>
              </a:spcBef>
              <a:spcAft>
                <a:spcPts val="0"/>
              </a:spcAft>
              <a:buNone/>
            </a:pPr>
            <a:r>
              <a:rPr i="1" lang="it" sz="750">
                <a:solidFill>
                  <a:schemeClr val="dk1"/>
                </a:solidFill>
              </a:rPr>
              <a:t>Grazie per la collaborazione. </a:t>
            </a:r>
            <a:endParaRPr i="1" sz="750">
              <a:solidFill>
                <a:schemeClr val="dk1"/>
              </a:solidFill>
            </a:endParaRPr>
          </a:p>
          <a:p>
            <a:pPr indent="0" lvl="0" marL="0" rtl="0" algn="l">
              <a:lnSpc>
                <a:spcPct val="115000"/>
              </a:lnSpc>
              <a:spcBef>
                <a:spcPts val="0"/>
              </a:spcBef>
              <a:spcAft>
                <a:spcPts val="0"/>
              </a:spcAft>
              <a:buNone/>
            </a:pPr>
            <a:r>
              <a:rPr i="1" lang="it" sz="750">
                <a:solidFill>
                  <a:schemeClr val="dk1"/>
                </a:solidFill>
              </a:rPr>
              <a:t>Cordiali saluti, </a:t>
            </a:r>
            <a:endParaRPr i="1" sz="750">
              <a:solidFill>
                <a:schemeClr val="dk1"/>
              </a:solidFill>
            </a:endParaRPr>
          </a:p>
          <a:p>
            <a:pPr indent="0" lvl="0" marL="0" rtl="0" algn="l">
              <a:lnSpc>
                <a:spcPct val="115000"/>
              </a:lnSpc>
              <a:spcBef>
                <a:spcPts val="0"/>
              </a:spcBef>
              <a:spcAft>
                <a:spcPts val="0"/>
              </a:spcAft>
              <a:buNone/>
            </a:pPr>
            <a:r>
              <a:rPr i="1" lang="it" sz="750">
                <a:solidFill>
                  <a:schemeClr val="dk1"/>
                </a:solidFill>
              </a:rPr>
              <a:t>EKO Srl</a:t>
            </a:r>
            <a:endParaRPr i="1" sz="750">
              <a:solidFill>
                <a:schemeClr val="dk1"/>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7" name="Shape 2007"/>
        <p:cNvGrpSpPr/>
        <p:nvPr/>
      </p:nvGrpSpPr>
      <p:grpSpPr>
        <a:xfrm>
          <a:off x="0" y="0"/>
          <a:ext cx="0" cy="0"/>
          <a:chOff x="0" y="0"/>
          <a:chExt cx="0" cy="0"/>
        </a:xfrm>
      </p:grpSpPr>
      <p:sp>
        <p:nvSpPr>
          <p:cNvPr id="2008" name="Google Shape;2008;p13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09" name="Google Shape;2009;p13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2010" name="Google Shape;2010;p13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2011" name="Google Shape;2011;p133"/>
          <p:cNvSpPr txBox="1"/>
          <p:nvPr>
            <p:ph type="title"/>
          </p:nvPr>
        </p:nvSpPr>
        <p:spPr>
          <a:xfrm>
            <a:off x="918850" y="1292763"/>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3: Chiusura Cantiere</a:t>
            </a:r>
            <a:endParaRPr sz="1220">
              <a:highlight>
                <a:srgbClr val="B6D7A8"/>
              </a:highlight>
              <a:latin typeface="Lexend"/>
              <a:ea typeface="Lexend"/>
              <a:cs typeface="Lexend"/>
              <a:sym typeface="Lexend"/>
            </a:endParaRPr>
          </a:p>
        </p:txBody>
      </p:sp>
      <p:sp>
        <p:nvSpPr>
          <p:cNvPr id="2012" name="Google Shape;2012;p13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013" name="Google Shape;2013;p133"/>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4" name="Google Shape;2014;p133"/>
          <p:cNvSpPr txBox="1"/>
          <p:nvPr>
            <p:ph type="title"/>
          </p:nvPr>
        </p:nvSpPr>
        <p:spPr>
          <a:xfrm>
            <a:off x="521425" y="2039772"/>
            <a:ext cx="8146500" cy="2163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it" sz="1620">
                <a:latin typeface="Lexend"/>
                <a:ea typeface="Lexend"/>
                <a:cs typeface="Lexend"/>
                <a:sym typeface="Lexend"/>
              </a:rPr>
              <a:t>Una volta comunicato dal resp. cantiere che </a:t>
            </a:r>
            <a:r>
              <a:rPr b="1" lang="it" sz="1620">
                <a:latin typeface="Lexend"/>
                <a:ea typeface="Lexend"/>
                <a:cs typeface="Lexend"/>
                <a:sym typeface="Lexend"/>
              </a:rPr>
              <a:t>l’impianto è stato installato e il cantiere è chiuso</a:t>
            </a:r>
            <a:r>
              <a:rPr lang="it" sz="1620">
                <a:latin typeface="Lexend"/>
                <a:ea typeface="Lexend"/>
                <a:cs typeface="Lexend"/>
                <a:sym typeface="Lexend"/>
              </a:rPr>
              <a:t>, </a:t>
            </a:r>
            <a:r>
              <a:rPr lang="it" sz="1620">
                <a:latin typeface="Lexend"/>
                <a:ea typeface="Lexend"/>
                <a:cs typeface="Lexend"/>
                <a:sym typeface="Lexend"/>
              </a:rPr>
              <a:t>dovrà essere inserita nell’anagrafica cliente nella sezione “specifiche impianto” nella voce “data chiusura cantiere”.</a:t>
            </a:r>
            <a:endParaRPr sz="1620">
              <a:latin typeface="Lexend"/>
              <a:ea typeface="Lexend"/>
              <a:cs typeface="Lexend"/>
              <a:sym typeface="Lexend"/>
            </a:endParaRPr>
          </a:p>
          <a:p>
            <a:pPr indent="0" lvl="0" marL="0" rtl="0" algn="ctr">
              <a:lnSpc>
                <a:spcPct val="115000"/>
              </a:lnSpc>
              <a:spcBef>
                <a:spcPts val="0"/>
              </a:spcBef>
              <a:spcAft>
                <a:spcPts val="0"/>
              </a:spcAft>
              <a:buNone/>
            </a:pPr>
            <a:r>
              <a:t/>
            </a:r>
            <a:endParaRPr sz="1620">
              <a:latin typeface="Lexend"/>
              <a:ea typeface="Lexend"/>
              <a:cs typeface="Lexend"/>
              <a:sym typeface="Lexend"/>
            </a:endParaRPr>
          </a:p>
          <a:p>
            <a:pPr indent="0" lvl="0" marL="0" rtl="0" algn="ctr">
              <a:lnSpc>
                <a:spcPct val="115000"/>
              </a:lnSpc>
              <a:spcBef>
                <a:spcPts val="0"/>
              </a:spcBef>
              <a:spcAft>
                <a:spcPts val="0"/>
              </a:spcAft>
              <a:buNone/>
            </a:pPr>
            <a:r>
              <a:rPr lang="it" sz="1620">
                <a:latin typeface="Lexend"/>
                <a:ea typeface="Lexend"/>
                <a:cs typeface="Lexend"/>
                <a:sym typeface="Lexend"/>
              </a:rPr>
              <a:t>Una volta inserita la data, il lead dovrà essere spostato qui, nella fase “chiusura cantiere”, così da mandare un messaggio automatico al cliente.</a:t>
            </a:r>
            <a:endParaRPr sz="1620">
              <a:latin typeface="Lexend"/>
              <a:ea typeface="Lexend"/>
              <a:cs typeface="Lexend"/>
              <a:sym typeface="Lexen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8" name="Shape 2018"/>
        <p:cNvGrpSpPr/>
        <p:nvPr/>
      </p:nvGrpSpPr>
      <p:grpSpPr>
        <a:xfrm>
          <a:off x="0" y="0"/>
          <a:ext cx="0" cy="0"/>
          <a:chOff x="0" y="0"/>
          <a:chExt cx="0" cy="0"/>
        </a:xfrm>
      </p:grpSpPr>
      <p:pic>
        <p:nvPicPr>
          <p:cNvPr id="2019" name="Google Shape;2019;p134"/>
          <p:cNvPicPr preferRelativeResize="0"/>
          <p:nvPr/>
        </p:nvPicPr>
        <p:blipFill>
          <a:blip r:embed="rId3">
            <a:alphaModFix/>
          </a:blip>
          <a:stretch>
            <a:fillRect/>
          </a:stretch>
        </p:blipFill>
        <p:spPr>
          <a:xfrm>
            <a:off x="2906098" y="999852"/>
            <a:ext cx="2701274" cy="3496448"/>
          </a:xfrm>
          <a:prstGeom prst="rect">
            <a:avLst/>
          </a:prstGeom>
          <a:noFill/>
          <a:ln>
            <a:noFill/>
          </a:ln>
        </p:spPr>
      </p:pic>
      <p:sp>
        <p:nvSpPr>
          <p:cNvPr id="2020" name="Google Shape;2020;p134"/>
          <p:cNvSpPr/>
          <p:nvPr/>
        </p:nvSpPr>
        <p:spPr>
          <a:xfrm>
            <a:off x="2768825" y="937400"/>
            <a:ext cx="2933400" cy="36945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1" name="Google Shape;2021;p13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22" name="Google Shape;2022;p134"/>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2023" name="Google Shape;2023;p13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2024" name="Google Shape;2024;p13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025" name="Google Shape;2025;p134"/>
          <p:cNvSpPr/>
          <p:nvPr/>
        </p:nvSpPr>
        <p:spPr>
          <a:xfrm>
            <a:off x="2932750" y="2173725"/>
            <a:ext cx="698700" cy="315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6" name="Google Shape;2026;p134"/>
          <p:cNvSpPr txBox="1"/>
          <p:nvPr>
            <p:ph type="title"/>
          </p:nvPr>
        </p:nvSpPr>
        <p:spPr>
          <a:xfrm>
            <a:off x="3661858" y="2207800"/>
            <a:ext cx="19455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INSERIRE DATA CHIUSURA</a:t>
            </a:r>
            <a:endParaRPr b="1" sz="1020">
              <a:solidFill>
                <a:srgbClr val="FF0000"/>
              </a:solidFill>
              <a:latin typeface="Oswald"/>
              <a:ea typeface="Oswald"/>
              <a:cs typeface="Oswald"/>
              <a:sym typeface="Oswald"/>
            </a:endParaRPr>
          </a:p>
        </p:txBody>
      </p:sp>
      <p:pic>
        <p:nvPicPr>
          <p:cNvPr id="2027" name="Google Shape;2027;p134"/>
          <p:cNvPicPr preferRelativeResize="0"/>
          <p:nvPr/>
        </p:nvPicPr>
        <p:blipFill>
          <a:blip r:embed="rId5">
            <a:alphaModFix/>
          </a:blip>
          <a:stretch>
            <a:fillRect/>
          </a:stretch>
        </p:blipFill>
        <p:spPr>
          <a:xfrm>
            <a:off x="555200" y="2388188"/>
            <a:ext cx="1792925" cy="833775"/>
          </a:xfrm>
          <a:prstGeom prst="rect">
            <a:avLst/>
          </a:prstGeom>
          <a:noFill/>
          <a:ln>
            <a:noFill/>
          </a:ln>
        </p:spPr>
      </p:pic>
      <p:cxnSp>
        <p:nvCxnSpPr>
          <p:cNvPr id="2028" name="Google Shape;2028;p134"/>
          <p:cNvCxnSpPr>
            <a:stCxn id="2029" idx="3"/>
            <a:endCxn id="2020" idx="1"/>
          </p:cNvCxnSpPr>
          <p:nvPr/>
        </p:nvCxnSpPr>
        <p:spPr>
          <a:xfrm flipH="1" rot="10800000">
            <a:off x="2348075" y="2784588"/>
            <a:ext cx="420900" cy="13800"/>
          </a:xfrm>
          <a:prstGeom prst="straightConnector1">
            <a:avLst/>
          </a:prstGeom>
          <a:noFill/>
          <a:ln cap="flat" cmpd="sng" w="9525">
            <a:solidFill>
              <a:schemeClr val="dk2"/>
            </a:solidFill>
            <a:prstDash val="dash"/>
            <a:round/>
            <a:headEnd len="med" w="med" type="none"/>
            <a:tailEnd len="med" w="med" type="triangle"/>
          </a:ln>
        </p:spPr>
      </p:cxnSp>
      <p:sp>
        <p:nvSpPr>
          <p:cNvPr id="2030" name="Google Shape;2030;p134"/>
          <p:cNvSpPr/>
          <p:nvPr/>
        </p:nvSpPr>
        <p:spPr>
          <a:xfrm>
            <a:off x="1360025" y="3013688"/>
            <a:ext cx="720000" cy="1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9" name="Google Shape;2029;p134"/>
          <p:cNvSpPr/>
          <p:nvPr/>
        </p:nvSpPr>
        <p:spPr>
          <a:xfrm>
            <a:off x="555275" y="2381538"/>
            <a:ext cx="1792800" cy="833700"/>
          </a:xfrm>
          <a:prstGeom prst="roundRect">
            <a:avLst>
              <a:gd fmla="val 423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1" name="Google Shape;2031;p134"/>
          <p:cNvSpPr/>
          <p:nvPr/>
        </p:nvSpPr>
        <p:spPr>
          <a:xfrm>
            <a:off x="3895300" y="1043700"/>
            <a:ext cx="587400" cy="123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2" name="Google Shape;2032;p134"/>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3: Chiusura Cantiere - Come inserire la data di chiusura cantiere</a:t>
            </a:r>
            <a:endParaRPr sz="1100">
              <a:highlight>
                <a:srgbClr val="B6D7A8"/>
              </a:highlight>
              <a:latin typeface="Lexend"/>
              <a:ea typeface="Lexend"/>
              <a:cs typeface="Lexend"/>
              <a:sym typeface="Lexend"/>
            </a:endParaRPr>
          </a:p>
        </p:txBody>
      </p:sp>
      <p:cxnSp>
        <p:nvCxnSpPr>
          <p:cNvPr id="2033" name="Google Shape;2033;p134"/>
          <p:cNvCxnSpPr>
            <a:stCxn id="2020" idx="3"/>
            <a:endCxn id="2034" idx="1"/>
          </p:cNvCxnSpPr>
          <p:nvPr/>
        </p:nvCxnSpPr>
        <p:spPr>
          <a:xfrm flipH="1" rot="10800000">
            <a:off x="5702225" y="1231550"/>
            <a:ext cx="510300" cy="1553100"/>
          </a:xfrm>
          <a:prstGeom prst="straightConnector1">
            <a:avLst/>
          </a:prstGeom>
          <a:noFill/>
          <a:ln cap="flat" cmpd="sng" w="9525">
            <a:solidFill>
              <a:schemeClr val="dk2"/>
            </a:solidFill>
            <a:prstDash val="dash"/>
            <a:round/>
            <a:headEnd len="med" w="med" type="none"/>
            <a:tailEnd len="med" w="med" type="triangle"/>
          </a:ln>
        </p:spPr>
      </p:cxnSp>
      <p:sp>
        <p:nvSpPr>
          <p:cNvPr id="2035" name="Google Shape;2035;p134"/>
          <p:cNvSpPr txBox="1"/>
          <p:nvPr>
            <p:ph type="title"/>
          </p:nvPr>
        </p:nvSpPr>
        <p:spPr>
          <a:xfrm>
            <a:off x="479963" y="2071375"/>
            <a:ext cx="1943400" cy="213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CLICCARE SUL NOME DEL LEAD</a:t>
            </a:r>
            <a:endParaRPr b="1" sz="1020">
              <a:solidFill>
                <a:srgbClr val="FF0000"/>
              </a:solidFill>
              <a:latin typeface="Oswald"/>
              <a:ea typeface="Oswald"/>
              <a:cs typeface="Oswald"/>
              <a:sym typeface="Oswald"/>
            </a:endParaRPr>
          </a:p>
        </p:txBody>
      </p:sp>
      <p:cxnSp>
        <p:nvCxnSpPr>
          <p:cNvPr id="2036" name="Google Shape;2036;p134"/>
          <p:cNvCxnSpPr/>
          <p:nvPr/>
        </p:nvCxnSpPr>
        <p:spPr>
          <a:xfrm>
            <a:off x="521275" y="2601600"/>
            <a:ext cx="838800" cy="0"/>
          </a:xfrm>
          <a:prstGeom prst="straightConnector1">
            <a:avLst/>
          </a:prstGeom>
          <a:noFill/>
          <a:ln cap="flat" cmpd="sng" w="38100">
            <a:solidFill>
              <a:srgbClr val="FF0000"/>
            </a:solidFill>
            <a:prstDash val="solid"/>
            <a:round/>
            <a:headEnd len="med" w="med" type="none"/>
            <a:tailEnd len="med" w="med" type="none"/>
          </a:ln>
        </p:spPr>
      </p:cxnSp>
      <p:pic>
        <p:nvPicPr>
          <p:cNvPr id="2037" name="Google Shape;2037;p134"/>
          <p:cNvPicPr preferRelativeResize="0"/>
          <p:nvPr/>
        </p:nvPicPr>
        <p:blipFill>
          <a:blip r:embed="rId6">
            <a:alphaModFix/>
          </a:blip>
          <a:stretch>
            <a:fillRect/>
          </a:stretch>
        </p:blipFill>
        <p:spPr>
          <a:xfrm>
            <a:off x="1310975" y="2460906"/>
            <a:ext cx="281386" cy="281400"/>
          </a:xfrm>
          <a:prstGeom prst="rect">
            <a:avLst/>
          </a:prstGeom>
          <a:noFill/>
          <a:ln>
            <a:noFill/>
          </a:ln>
        </p:spPr>
      </p:pic>
      <p:cxnSp>
        <p:nvCxnSpPr>
          <p:cNvPr id="2038" name="Google Shape;2038;p134"/>
          <p:cNvCxnSpPr>
            <a:stCxn id="2020" idx="3"/>
            <a:endCxn id="2039" idx="1"/>
          </p:cNvCxnSpPr>
          <p:nvPr/>
        </p:nvCxnSpPr>
        <p:spPr>
          <a:xfrm flipH="1" rot="10800000">
            <a:off x="5702225" y="1614350"/>
            <a:ext cx="510300" cy="1170300"/>
          </a:xfrm>
          <a:prstGeom prst="straightConnector1">
            <a:avLst/>
          </a:prstGeom>
          <a:noFill/>
          <a:ln cap="flat" cmpd="sng" w="9525">
            <a:solidFill>
              <a:schemeClr val="dk2"/>
            </a:solidFill>
            <a:prstDash val="dash"/>
            <a:round/>
            <a:headEnd len="med" w="med" type="none"/>
            <a:tailEnd len="med" w="med" type="triangle"/>
          </a:ln>
        </p:spPr>
      </p:cxnSp>
      <p:sp>
        <p:nvSpPr>
          <p:cNvPr id="2034" name="Google Shape;2034;p134"/>
          <p:cNvSpPr/>
          <p:nvPr/>
        </p:nvSpPr>
        <p:spPr>
          <a:xfrm>
            <a:off x="6212600" y="1124950"/>
            <a:ext cx="2615700" cy="21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Lexend"/>
                <a:ea typeface="Lexend"/>
                <a:cs typeface="Lexend"/>
                <a:sym typeface="Lexend"/>
              </a:rPr>
              <a:t>EMAIL</a:t>
            </a:r>
            <a:endParaRPr>
              <a:latin typeface="Lexend"/>
              <a:ea typeface="Lexend"/>
              <a:cs typeface="Lexend"/>
              <a:sym typeface="Lexend"/>
            </a:endParaRPr>
          </a:p>
        </p:txBody>
      </p:sp>
      <p:sp>
        <p:nvSpPr>
          <p:cNvPr id="2039" name="Google Shape;2039;p134"/>
          <p:cNvSpPr/>
          <p:nvPr/>
        </p:nvSpPr>
        <p:spPr>
          <a:xfrm>
            <a:off x="6212600" y="1507725"/>
            <a:ext cx="2615700" cy="21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Lexend"/>
                <a:ea typeface="Lexend"/>
                <a:cs typeface="Lexend"/>
                <a:sym typeface="Lexend"/>
              </a:rPr>
              <a:t>SMS</a:t>
            </a:r>
            <a:endParaRPr>
              <a:latin typeface="Lexend"/>
              <a:ea typeface="Lexend"/>
              <a:cs typeface="Lexend"/>
              <a:sym typeface="Lexend"/>
            </a:endParaRPr>
          </a:p>
        </p:txBody>
      </p:sp>
      <p:sp>
        <p:nvSpPr>
          <p:cNvPr id="2040" name="Google Shape;2040;p134"/>
          <p:cNvSpPr txBox="1"/>
          <p:nvPr/>
        </p:nvSpPr>
        <p:spPr>
          <a:xfrm>
            <a:off x="6156500" y="1932600"/>
            <a:ext cx="2727900" cy="294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i="1" lang="it" sz="750">
                <a:solidFill>
                  <a:schemeClr val="dk1"/>
                </a:solidFill>
              </a:rPr>
              <a:t>Messaggio:</a:t>
            </a:r>
            <a:endParaRPr b="1" i="1" sz="750">
              <a:solidFill>
                <a:schemeClr val="dk1"/>
              </a:solidFill>
            </a:endParaRPr>
          </a:p>
          <a:p>
            <a:pPr indent="0" lvl="0" marL="0" rtl="0" algn="l">
              <a:lnSpc>
                <a:spcPct val="115000"/>
              </a:lnSpc>
              <a:spcBef>
                <a:spcPts val="0"/>
              </a:spcBef>
              <a:spcAft>
                <a:spcPts val="0"/>
              </a:spcAft>
              <a:buNone/>
            </a:pPr>
            <a:r>
              <a:rPr i="1" lang="it" sz="750">
                <a:solidFill>
                  <a:schemeClr val="dk1"/>
                </a:solidFill>
              </a:rPr>
              <a:t>Oggetto: Conferma conclusione lavori installazione impianto fotovoltaico </a:t>
            </a:r>
            <a:endParaRPr i="1" sz="75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i="1" sz="750">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it" sz="750">
                <a:solidFill>
                  <a:schemeClr val="dk1"/>
                </a:solidFill>
              </a:rPr>
              <a:t>Gentile [Nome e Cognome], </a:t>
            </a:r>
            <a:endParaRPr i="1" sz="750">
              <a:solidFill>
                <a:schemeClr val="dk1"/>
              </a:solidFill>
            </a:endParaRPr>
          </a:p>
          <a:p>
            <a:pPr indent="0" lvl="0" marL="0" rtl="0" algn="l">
              <a:lnSpc>
                <a:spcPct val="115000"/>
              </a:lnSpc>
              <a:spcBef>
                <a:spcPts val="0"/>
              </a:spcBef>
              <a:spcAft>
                <a:spcPts val="0"/>
              </a:spcAft>
              <a:buNone/>
            </a:pPr>
            <a:r>
              <a:rPr i="1" lang="it" sz="750">
                <a:solidFill>
                  <a:schemeClr val="dk1"/>
                </a:solidFill>
              </a:rPr>
              <a:t>Siamo lieti di informarla che l’installazione del suo impianto fotovoltaico è stata completata con successo e a regola d’arte. Il cantiere è stato chiuso, e l’impianto è ora pronto per entrare in funzione secondo i tempi previsti. </a:t>
            </a:r>
            <a:endParaRPr i="1" sz="75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i="1" sz="750">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it" sz="750">
                <a:solidFill>
                  <a:schemeClr val="dk1"/>
                </a:solidFill>
              </a:rPr>
              <a:t>Nelle prossime tre settimane circa, riceverà un’email a questo indirizzo con tutta la documentazione tecnica aggiuntiva relativa al suo impianto. </a:t>
            </a:r>
            <a:endParaRPr i="1" sz="750">
              <a:solidFill>
                <a:schemeClr val="dk1"/>
              </a:solidFill>
            </a:endParaRPr>
          </a:p>
          <a:p>
            <a:pPr indent="0" lvl="0" marL="0" rtl="0" algn="l">
              <a:lnSpc>
                <a:spcPct val="115000"/>
              </a:lnSpc>
              <a:spcBef>
                <a:spcPts val="0"/>
              </a:spcBef>
              <a:spcAft>
                <a:spcPts val="0"/>
              </a:spcAft>
              <a:buNone/>
            </a:pPr>
            <a:r>
              <a:rPr i="1" lang="it" sz="750">
                <a:solidFill>
                  <a:schemeClr val="dk1"/>
                </a:solidFill>
              </a:rPr>
              <a:t>Per qualsiasi necessità o ulteriori informazioni, restiamo a Sua completa disposizione. Può contattarci al numero 800 26 80 22 oppure all’indirizzo email info@ekosrl.net. </a:t>
            </a:r>
            <a:endParaRPr i="1" sz="75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i="1" sz="750">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it" sz="750">
                <a:solidFill>
                  <a:schemeClr val="dk1"/>
                </a:solidFill>
              </a:rPr>
              <a:t>Grazie per aver scelto EKO Srl. </a:t>
            </a:r>
            <a:endParaRPr i="1" sz="750">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it" sz="750">
                <a:solidFill>
                  <a:schemeClr val="dk1"/>
                </a:solidFill>
              </a:rPr>
              <a:t>Cordiali saluti, </a:t>
            </a:r>
            <a:endParaRPr i="1" sz="750">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it" sz="750">
                <a:solidFill>
                  <a:schemeClr val="dk1"/>
                </a:solidFill>
              </a:rPr>
              <a:t>EKO Srl</a:t>
            </a:r>
            <a:endParaRPr i="1" sz="750">
              <a:solidFill>
                <a:schemeClr val="dk1"/>
              </a:solidFill>
            </a:endParaRPr>
          </a:p>
          <a:p>
            <a:pPr indent="0" lvl="0" marL="0" rtl="0" algn="l">
              <a:lnSpc>
                <a:spcPct val="115000"/>
              </a:lnSpc>
              <a:spcBef>
                <a:spcPts val="0"/>
              </a:spcBef>
              <a:spcAft>
                <a:spcPts val="0"/>
              </a:spcAft>
              <a:buNone/>
            </a:pPr>
            <a:r>
              <a:t/>
            </a:r>
            <a:endParaRPr b="1" i="1" sz="650">
              <a:solidFill>
                <a:schemeClr val="dk1"/>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4" name="Shape 2044"/>
        <p:cNvGrpSpPr/>
        <p:nvPr/>
      </p:nvGrpSpPr>
      <p:grpSpPr>
        <a:xfrm>
          <a:off x="0" y="0"/>
          <a:ext cx="0" cy="0"/>
          <a:chOff x="0" y="0"/>
          <a:chExt cx="0" cy="0"/>
        </a:xfrm>
      </p:grpSpPr>
      <p:sp>
        <p:nvSpPr>
          <p:cNvPr id="2045" name="Google Shape;2045;p13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46" name="Google Shape;2046;p13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2047" name="Google Shape;2047;p13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2048" name="Google Shape;2048;p135"/>
          <p:cNvSpPr txBox="1"/>
          <p:nvPr>
            <p:ph type="title"/>
          </p:nvPr>
        </p:nvSpPr>
        <p:spPr>
          <a:xfrm>
            <a:off x="918850" y="832438"/>
            <a:ext cx="73065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2620">
                <a:highlight>
                  <a:srgbClr val="B6D7A8"/>
                </a:highlight>
                <a:latin typeface="Lexend"/>
                <a:ea typeface="Lexend"/>
                <a:cs typeface="Lexend"/>
                <a:sym typeface="Lexend"/>
              </a:rPr>
              <a:t>FASE 4: Fascicolo Finale</a:t>
            </a:r>
            <a:endParaRPr sz="1220">
              <a:highlight>
                <a:srgbClr val="B6D7A8"/>
              </a:highlight>
              <a:latin typeface="Lexend"/>
              <a:ea typeface="Lexend"/>
              <a:cs typeface="Lexend"/>
              <a:sym typeface="Lexend"/>
            </a:endParaRPr>
          </a:p>
        </p:txBody>
      </p:sp>
      <p:sp>
        <p:nvSpPr>
          <p:cNvPr id="2049" name="Google Shape;2049;p13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050" name="Google Shape;2050;p135"/>
          <p:cNvSpPr/>
          <p:nvPr/>
        </p:nvSpPr>
        <p:spPr>
          <a:xfrm>
            <a:off x="1489025" y="1686325"/>
            <a:ext cx="568500" cy="8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1" name="Google Shape;2051;p135"/>
          <p:cNvSpPr txBox="1"/>
          <p:nvPr>
            <p:ph type="title"/>
          </p:nvPr>
        </p:nvSpPr>
        <p:spPr>
          <a:xfrm>
            <a:off x="521425" y="1579450"/>
            <a:ext cx="8146500" cy="31977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it" sz="1620">
                <a:latin typeface="Lexend"/>
                <a:ea typeface="Lexend"/>
                <a:cs typeface="Lexend"/>
                <a:sym typeface="Lexend"/>
              </a:rPr>
              <a:t>Una volta ricevuti i tutti i documenti dal tecnico, l’incaricato (segretaria) provvederà a:</a:t>
            </a:r>
            <a:endParaRPr sz="1620">
              <a:latin typeface="Lexend"/>
              <a:ea typeface="Lexend"/>
              <a:cs typeface="Lexend"/>
              <a:sym typeface="Lexend"/>
            </a:endParaRPr>
          </a:p>
          <a:p>
            <a:pPr indent="0" lvl="0" marL="0" rtl="0" algn="ctr">
              <a:lnSpc>
                <a:spcPct val="115000"/>
              </a:lnSpc>
              <a:spcBef>
                <a:spcPts val="0"/>
              </a:spcBef>
              <a:spcAft>
                <a:spcPts val="0"/>
              </a:spcAft>
              <a:buNone/>
            </a:pPr>
            <a:r>
              <a:t/>
            </a:r>
            <a:endParaRPr sz="16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b="1" lang="it" sz="1620">
                <a:latin typeface="Lexend"/>
                <a:ea typeface="Lexend"/>
                <a:cs typeface="Lexend"/>
                <a:sym typeface="Lexend"/>
              </a:rPr>
              <a:t>Inviare email </a:t>
            </a:r>
            <a:r>
              <a:rPr lang="it" sz="1620">
                <a:latin typeface="Lexend"/>
                <a:ea typeface="Lexend"/>
                <a:cs typeface="Lexend"/>
                <a:sym typeface="Lexend"/>
              </a:rPr>
              <a:t>da CRM con tutti gli allegati tecnici dell’impianto.</a:t>
            </a:r>
            <a:endParaRPr sz="16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b="1" lang="it" sz="1620">
                <a:latin typeface="Lexend"/>
                <a:ea typeface="Lexend"/>
                <a:cs typeface="Lexend"/>
                <a:sym typeface="Lexend"/>
              </a:rPr>
              <a:t>Aggiornare le informazioni cliente</a:t>
            </a:r>
            <a:r>
              <a:rPr lang="it" sz="1620">
                <a:latin typeface="Lexend"/>
                <a:ea typeface="Lexend"/>
                <a:cs typeface="Lexend"/>
                <a:sym typeface="Lexend"/>
              </a:rPr>
              <a:t> in “Anagrafica” &gt; “Area Privata”</a:t>
            </a:r>
            <a:endParaRPr sz="1620">
              <a:latin typeface="Lexend"/>
              <a:ea typeface="Lexend"/>
              <a:cs typeface="Lexend"/>
              <a:sym typeface="Lexend"/>
            </a:endParaRPr>
          </a:p>
          <a:p>
            <a:pPr indent="-312420" lvl="1" marL="914400" rtl="0" algn="l">
              <a:lnSpc>
                <a:spcPct val="115000"/>
              </a:lnSpc>
              <a:spcBef>
                <a:spcPts val="0"/>
              </a:spcBef>
              <a:spcAft>
                <a:spcPts val="0"/>
              </a:spcAft>
              <a:buSzPts val="1320"/>
              <a:buFont typeface="Lexend"/>
              <a:buChar char="-"/>
            </a:pPr>
            <a:r>
              <a:rPr lang="it" sz="1320">
                <a:latin typeface="Lexend"/>
                <a:ea typeface="Lexend"/>
                <a:cs typeface="Lexend"/>
                <a:sym typeface="Lexend"/>
              </a:rPr>
              <a:t>APP</a:t>
            </a:r>
            <a:endParaRPr sz="1320">
              <a:latin typeface="Lexend"/>
              <a:ea typeface="Lexend"/>
              <a:cs typeface="Lexend"/>
              <a:sym typeface="Lexend"/>
            </a:endParaRPr>
          </a:p>
          <a:p>
            <a:pPr indent="-312420" lvl="1" marL="914400" rtl="0" algn="l">
              <a:lnSpc>
                <a:spcPct val="115000"/>
              </a:lnSpc>
              <a:spcBef>
                <a:spcPts val="0"/>
              </a:spcBef>
              <a:spcAft>
                <a:spcPts val="0"/>
              </a:spcAft>
              <a:buSzPts val="1320"/>
              <a:buFont typeface="Lexend"/>
              <a:buChar char="-"/>
            </a:pPr>
            <a:r>
              <a:rPr lang="it" sz="1320">
                <a:latin typeface="Lexend"/>
                <a:ea typeface="Lexend"/>
                <a:cs typeface="Lexend"/>
                <a:sym typeface="Lexend"/>
              </a:rPr>
              <a:t>User ID - APP</a:t>
            </a:r>
            <a:endParaRPr sz="1320">
              <a:latin typeface="Lexend"/>
              <a:ea typeface="Lexend"/>
              <a:cs typeface="Lexend"/>
              <a:sym typeface="Lexend"/>
            </a:endParaRPr>
          </a:p>
          <a:p>
            <a:pPr indent="-312420" lvl="1" marL="914400" rtl="0" algn="l">
              <a:lnSpc>
                <a:spcPct val="115000"/>
              </a:lnSpc>
              <a:spcBef>
                <a:spcPts val="0"/>
              </a:spcBef>
              <a:spcAft>
                <a:spcPts val="0"/>
              </a:spcAft>
              <a:buSzPts val="1320"/>
              <a:buFont typeface="Lexend"/>
              <a:buChar char="-"/>
            </a:pPr>
            <a:r>
              <a:rPr lang="it" sz="1320">
                <a:latin typeface="Lexend"/>
                <a:ea typeface="Lexend"/>
                <a:cs typeface="Lexend"/>
                <a:sym typeface="Lexend"/>
              </a:rPr>
              <a:t>Password - APP</a:t>
            </a:r>
            <a:endParaRPr sz="1320">
              <a:latin typeface="Lexend"/>
              <a:ea typeface="Lexend"/>
              <a:cs typeface="Lexend"/>
              <a:sym typeface="Lexend"/>
            </a:endParaRPr>
          </a:p>
          <a:p>
            <a:pPr indent="-312420" lvl="1" marL="914400" rtl="0" algn="l">
              <a:lnSpc>
                <a:spcPct val="115000"/>
              </a:lnSpc>
              <a:spcBef>
                <a:spcPts val="0"/>
              </a:spcBef>
              <a:spcAft>
                <a:spcPts val="0"/>
              </a:spcAft>
              <a:buSzPts val="1320"/>
              <a:buFont typeface="Lexend"/>
              <a:buChar char="-"/>
            </a:pPr>
            <a:r>
              <a:rPr lang="it" sz="1320">
                <a:latin typeface="Lexend"/>
                <a:ea typeface="Lexend"/>
                <a:cs typeface="Lexend"/>
                <a:sym typeface="Lexend"/>
              </a:rPr>
              <a:t>User ID - Portale GSE</a:t>
            </a:r>
            <a:endParaRPr sz="1320">
              <a:latin typeface="Lexend"/>
              <a:ea typeface="Lexend"/>
              <a:cs typeface="Lexend"/>
              <a:sym typeface="Lexend"/>
            </a:endParaRPr>
          </a:p>
          <a:p>
            <a:pPr indent="-312420" lvl="1" marL="914400" rtl="0" algn="l">
              <a:lnSpc>
                <a:spcPct val="115000"/>
              </a:lnSpc>
              <a:spcBef>
                <a:spcPts val="0"/>
              </a:spcBef>
              <a:spcAft>
                <a:spcPts val="0"/>
              </a:spcAft>
              <a:buSzPts val="1320"/>
              <a:buFont typeface="Lexend"/>
              <a:buChar char="-"/>
            </a:pPr>
            <a:r>
              <a:rPr lang="it" sz="1320">
                <a:latin typeface="Lexend"/>
                <a:ea typeface="Lexend"/>
                <a:cs typeface="Lexend"/>
                <a:sym typeface="Lexend"/>
              </a:rPr>
              <a:t>Password - Portale GSE</a:t>
            </a:r>
            <a:endParaRPr sz="1320">
              <a:latin typeface="Lexend"/>
              <a:ea typeface="Lexend"/>
              <a:cs typeface="Lexend"/>
              <a:sym typeface="Lexend"/>
            </a:endParaRPr>
          </a:p>
          <a:p>
            <a:pPr indent="-331470" lvl="0" marL="457200" rtl="0" algn="l">
              <a:lnSpc>
                <a:spcPct val="115000"/>
              </a:lnSpc>
              <a:spcBef>
                <a:spcPts val="0"/>
              </a:spcBef>
              <a:spcAft>
                <a:spcPts val="0"/>
              </a:spcAft>
              <a:buSzPts val="1620"/>
              <a:buFont typeface="Lexend"/>
              <a:buChar char="-"/>
            </a:pPr>
            <a:r>
              <a:rPr b="1" lang="it" sz="1620">
                <a:latin typeface="Lexend"/>
                <a:ea typeface="Lexend"/>
                <a:cs typeface="Lexend"/>
                <a:sym typeface="Lexend"/>
              </a:rPr>
              <a:t>S</a:t>
            </a:r>
            <a:r>
              <a:rPr b="1" lang="it" sz="1620">
                <a:latin typeface="Lexend"/>
                <a:ea typeface="Lexend"/>
                <a:cs typeface="Lexend"/>
                <a:sym typeface="Lexend"/>
              </a:rPr>
              <a:t>postare il lead nella fase FASCICOLO FINALE</a:t>
            </a:r>
            <a:r>
              <a:rPr lang="it" sz="1620">
                <a:latin typeface="Lexend"/>
                <a:ea typeface="Lexend"/>
                <a:cs typeface="Lexend"/>
                <a:sym typeface="Lexend"/>
              </a:rPr>
              <a:t>, dove il sistema genererà il documento ultimo del cliente con tutte le credenziali e info.</a:t>
            </a:r>
            <a:endParaRPr sz="1620">
              <a:latin typeface="Lexend"/>
              <a:ea typeface="Lexend"/>
              <a:cs typeface="Lexend"/>
              <a:sym typeface="Lexen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5" name="Shape 2055"/>
        <p:cNvGrpSpPr/>
        <p:nvPr/>
      </p:nvGrpSpPr>
      <p:grpSpPr>
        <a:xfrm>
          <a:off x="0" y="0"/>
          <a:ext cx="0" cy="0"/>
          <a:chOff x="0" y="0"/>
          <a:chExt cx="0" cy="0"/>
        </a:xfrm>
      </p:grpSpPr>
      <p:pic>
        <p:nvPicPr>
          <p:cNvPr id="2056" name="Google Shape;2056;p136"/>
          <p:cNvPicPr preferRelativeResize="0"/>
          <p:nvPr/>
        </p:nvPicPr>
        <p:blipFill>
          <a:blip r:embed="rId3">
            <a:alphaModFix/>
          </a:blip>
          <a:stretch>
            <a:fillRect/>
          </a:stretch>
        </p:blipFill>
        <p:spPr>
          <a:xfrm>
            <a:off x="673738" y="743663"/>
            <a:ext cx="7921723" cy="4099575"/>
          </a:xfrm>
          <a:prstGeom prst="rect">
            <a:avLst/>
          </a:prstGeom>
          <a:noFill/>
          <a:ln>
            <a:noFill/>
          </a:ln>
        </p:spPr>
      </p:pic>
      <p:sp>
        <p:nvSpPr>
          <p:cNvPr id="2057" name="Google Shape;2057;p13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58" name="Google Shape;2058;p136"/>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2059" name="Google Shape;2059;p13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CRM | 77</a:t>
            </a:r>
            <a:endParaRPr sz="700">
              <a:latin typeface="Lexend"/>
              <a:ea typeface="Lexend"/>
              <a:cs typeface="Lexend"/>
              <a:sym typeface="Lexend"/>
            </a:endParaRPr>
          </a:p>
        </p:txBody>
      </p:sp>
      <p:sp>
        <p:nvSpPr>
          <p:cNvPr id="2060" name="Google Shape;2060;p13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061" name="Google Shape;2061;p136"/>
          <p:cNvSpPr/>
          <p:nvPr/>
        </p:nvSpPr>
        <p:spPr>
          <a:xfrm>
            <a:off x="1509475" y="2004625"/>
            <a:ext cx="2022900" cy="1664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2" name="Google Shape;2062;p136"/>
          <p:cNvSpPr txBox="1"/>
          <p:nvPr>
            <p:ph type="title"/>
          </p:nvPr>
        </p:nvSpPr>
        <p:spPr>
          <a:xfrm>
            <a:off x="3628958" y="2730025"/>
            <a:ext cx="1945500" cy="213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it" sz="1020">
                <a:solidFill>
                  <a:srgbClr val="FF0000"/>
                </a:solidFill>
                <a:latin typeface="Oswald"/>
                <a:ea typeface="Oswald"/>
                <a:cs typeface="Oswald"/>
                <a:sym typeface="Oswald"/>
              </a:rPr>
              <a:t>INSERIRE DATI QUI</a:t>
            </a:r>
            <a:endParaRPr b="1" sz="1020">
              <a:solidFill>
                <a:srgbClr val="FF0000"/>
              </a:solidFill>
              <a:latin typeface="Oswald"/>
              <a:ea typeface="Oswald"/>
              <a:cs typeface="Oswald"/>
              <a:sym typeface="Oswald"/>
            </a:endParaRPr>
          </a:p>
        </p:txBody>
      </p:sp>
      <p:sp>
        <p:nvSpPr>
          <p:cNvPr id="2063" name="Google Shape;2063;p136"/>
          <p:cNvSpPr/>
          <p:nvPr/>
        </p:nvSpPr>
        <p:spPr>
          <a:xfrm>
            <a:off x="3895300" y="1043700"/>
            <a:ext cx="587400" cy="123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4" name="Google Shape;2064;p136"/>
          <p:cNvSpPr txBox="1"/>
          <p:nvPr>
            <p:ph type="title"/>
          </p:nvPr>
        </p:nvSpPr>
        <p:spPr>
          <a:xfrm>
            <a:off x="1630200" y="67700"/>
            <a:ext cx="5883600" cy="462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lang="it" sz="1100">
                <a:highlight>
                  <a:srgbClr val="B6D7A8"/>
                </a:highlight>
                <a:latin typeface="Lexend"/>
                <a:ea typeface="Lexend"/>
                <a:cs typeface="Lexend"/>
                <a:sym typeface="Lexend"/>
              </a:rPr>
              <a:t>FASE 4: Fascicolo Finale</a:t>
            </a:r>
            <a:endParaRPr sz="1100">
              <a:highlight>
                <a:srgbClr val="B6D7A8"/>
              </a:highlight>
              <a:latin typeface="Lexend"/>
              <a:ea typeface="Lexend"/>
              <a:cs typeface="Lexend"/>
              <a:sym typeface="Lexen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pic>
        <p:nvPicPr>
          <p:cNvPr id="2069" name="Google Shape;2069;p137"/>
          <p:cNvPicPr preferRelativeResize="0"/>
          <p:nvPr/>
        </p:nvPicPr>
        <p:blipFill>
          <a:blip r:embed="rId3">
            <a:alphaModFix/>
          </a:blip>
          <a:stretch>
            <a:fillRect/>
          </a:stretch>
        </p:blipFill>
        <p:spPr>
          <a:xfrm>
            <a:off x="4075400" y="3347495"/>
            <a:ext cx="993199" cy="1017675"/>
          </a:xfrm>
          <a:prstGeom prst="rect">
            <a:avLst/>
          </a:prstGeom>
          <a:noFill/>
          <a:ln>
            <a:noFill/>
          </a:ln>
        </p:spPr>
      </p:pic>
      <p:sp>
        <p:nvSpPr>
          <p:cNvPr id="2070" name="Google Shape;2070;p137"/>
          <p:cNvSpPr txBox="1"/>
          <p:nvPr>
            <p:ph idx="1" type="subTitle"/>
          </p:nvPr>
        </p:nvSpPr>
        <p:spPr>
          <a:xfrm>
            <a:off x="311700" y="2728850"/>
            <a:ext cx="8520600" cy="5505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None/>
            </a:pPr>
            <a:r>
              <a:rPr lang="it" sz="1500">
                <a:latin typeface="Lexend"/>
                <a:ea typeface="Lexend"/>
                <a:cs typeface="Lexend"/>
                <a:sym typeface="Lexend"/>
              </a:rPr>
              <a:t>EKO Srl</a:t>
            </a:r>
            <a:endParaRPr sz="1500">
              <a:latin typeface="Lexend"/>
              <a:ea typeface="Lexend"/>
              <a:cs typeface="Lexend"/>
              <a:sym typeface="Lexend"/>
            </a:endParaRPr>
          </a:p>
        </p:txBody>
      </p:sp>
      <p:sp>
        <p:nvSpPr>
          <p:cNvPr id="2071" name="Google Shape;2071;p13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2" name="Google Shape;2072;p137"/>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latin typeface="Lexend"/>
                <a:ea typeface="Lexend"/>
                <a:cs typeface="Lexend"/>
                <a:sym typeface="Lexend"/>
              </a:rPr>
              <a:t>Grazie</a:t>
            </a:r>
            <a:endParaRPr sz="7000">
              <a:latin typeface="Lexend"/>
              <a:ea typeface="Lexend"/>
              <a:cs typeface="Lexend"/>
              <a:sym typeface="Lexend"/>
            </a:endParaRPr>
          </a:p>
        </p:txBody>
      </p:sp>
      <p:pic>
        <p:nvPicPr>
          <p:cNvPr id="2073" name="Google Shape;2073;p137"/>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2074" name="Google Shape;2074;p137"/>
          <p:cNvSpPr txBox="1"/>
          <p:nvPr>
            <p:ph idx="1"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