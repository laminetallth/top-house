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Lst>
  <p:sldSz cy="5143500" cx="9144000"/>
  <p:notesSz cx="6858000" cy="9144000"/>
  <p:embeddedFontLst>
    <p:embeddedFont>
      <p:font typeface="Lexend"/>
      <p:regular r:id="rId84"/>
      <p:bold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273CD7E-ADB5-4E27-A5E8-29BB0BF39C83}">
  <a:tblStyle styleId="{9273CD7E-ADB5-4E27-A5E8-29BB0BF39C8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Lexend-regular.fntdata"/><Relationship Id="rId83" Type="http://schemas.openxmlformats.org/officeDocument/2006/relationships/slide" Target="slides/slide77.xml"/><Relationship Id="rId42" Type="http://schemas.openxmlformats.org/officeDocument/2006/relationships/slide" Target="slides/slide36.xml"/><Relationship Id="rId41" Type="http://schemas.openxmlformats.org/officeDocument/2006/relationships/slide" Target="slides/slide35.xml"/><Relationship Id="rId85" Type="http://schemas.openxmlformats.org/officeDocument/2006/relationships/font" Target="fonts/Lexend-bold.fntdata"/><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slide" Target="slides/slide74.xml"/><Relationship Id="rId82" Type="http://schemas.openxmlformats.org/officeDocument/2006/relationships/slide" Target="slides/slide76.xml"/><Relationship Id="rId81" Type="http://schemas.openxmlformats.org/officeDocument/2006/relationships/slide" Target="slides/slide75.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slide" Target="slides/slide71.xml"/><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slide" Target="slides/slide73.xml"/><Relationship Id="rId34" Type="http://schemas.openxmlformats.org/officeDocument/2006/relationships/slide" Target="slides/slide28.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0ba15c8f20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0ba15c8f20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adcbf036b_0_5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adcbf036b_0_5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0adcbf036b_0_2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0adcbf036b_0_2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ba15c8f20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ba15c8f20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0adcbf036b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0adcbf036b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0adcbf036b_0_2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0adcbf036b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0adcbf036b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0adcbf036b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0adcbf036b_0_2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0adcbf036b_0_2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0adcbf036b_0_2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0adcbf036b_0_2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fc7ec24b6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fc7ec24b6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0ba15c8f20_0_4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0ba15c8f20_0_4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fc7ec24b64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fc7ec24b64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2fc7ec24b64_0_2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2fc7ec24b64_0_2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2fc7ec24b64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2fc7ec24b64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2fc7ec24b64_0_2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2fc7ec24b64_0_2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30ba15c8f20_0_2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30ba15c8f20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0a9469dca8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0a9469dca8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30a9469dca8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30a9469dca8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0adcbf036b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0adcbf036b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0a7673ead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0a7673ead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0adcbf036b_0_5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0adcbf036b_0_5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a8ab9c5d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a8ab9c5d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30ba15c8f20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30ba15c8f20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30ba15c8f2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30ba15c8f2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0adcbf036b_0_3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0adcbf036b_0_3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0adcbf036b_0_5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0adcbf036b_0_5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0adcbf036b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30adcbf036b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8" name="Shape 428"/>
        <p:cNvGrpSpPr/>
        <p:nvPr/>
      </p:nvGrpSpPr>
      <p:grpSpPr>
        <a:xfrm>
          <a:off x="0" y="0"/>
          <a:ext cx="0" cy="0"/>
          <a:chOff x="0" y="0"/>
          <a:chExt cx="0" cy="0"/>
        </a:xfrm>
      </p:grpSpPr>
      <p:sp>
        <p:nvSpPr>
          <p:cNvPr id="429" name="Google Shape;429;g30ba15c8f20_0_5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0" name="Google Shape;430;g30ba15c8f20_0_5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0ba15c8f20_0_4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0ba15c8f20_0_4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0ba15c8f20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0ba15c8f20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0adcbf036b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0adcbf036b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it">
                <a:solidFill>
                  <a:schemeClr val="dk1"/>
                </a:solidFill>
                <a:latin typeface="Lexend"/>
                <a:ea typeface="Lexend"/>
                <a:cs typeface="Lexend"/>
                <a:sym typeface="Lexend"/>
              </a:rPr>
              <a:t>In EKO Srl, la forza delle nostre collaborazioni internazionali, principalmente con aziende OEM cinesi, ci consente di offrire ai nostri partner un vantaggio competitivo unico: un potere d’acquisto vantaggioso e un contatto diretto con i centri di assistenza ufficiali. </a:t>
            </a:r>
            <a:r>
              <a:rPr b="1" lang="it">
                <a:solidFill>
                  <a:schemeClr val="dk1"/>
                </a:solidFill>
                <a:latin typeface="Lexend"/>
                <a:ea typeface="Lexend"/>
                <a:cs typeface="Lexend"/>
                <a:sym typeface="Lexend"/>
              </a:rPr>
              <a:t>Questo significa offrire prodotti di alta qualità e garantire anche un supporto post-vendita sicuro ed efficiente.</a:t>
            </a:r>
            <a:endParaRPr b="1">
              <a:solidFill>
                <a:schemeClr val="dk1"/>
              </a:solidFill>
              <a:latin typeface="Lexend"/>
              <a:ea typeface="Lexend"/>
              <a:cs typeface="Lexend"/>
              <a:sym typeface="Lexend"/>
            </a:endParaRPr>
          </a:p>
          <a:p>
            <a:pPr indent="0" lvl="0" marL="0" rtl="0" algn="l">
              <a:lnSpc>
                <a:spcPct val="115000"/>
              </a:lnSpc>
              <a:spcBef>
                <a:spcPts val="1200"/>
              </a:spcBef>
              <a:spcAft>
                <a:spcPts val="1200"/>
              </a:spcAft>
              <a:buNone/>
            </a:pPr>
            <a:r>
              <a:rPr b="1" lang="it">
                <a:solidFill>
                  <a:schemeClr val="dk1"/>
                </a:solidFill>
                <a:latin typeface="Lexend"/>
                <a:ea typeface="Lexend"/>
                <a:cs typeface="Lexend"/>
                <a:sym typeface="Lexend"/>
              </a:rPr>
              <a:t>Oggi, avere un impianto fotovoltaico non è più una sfida, ma la vera differenza la fa chi ti offre assistenza e garanzie durature.</a:t>
            </a:r>
            <a:r>
              <a:rPr lang="it">
                <a:solidFill>
                  <a:schemeClr val="dk1"/>
                </a:solidFill>
                <a:latin typeface="Lexend"/>
                <a:ea typeface="Lexend"/>
                <a:cs typeface="Lexend"/>
                <a:sym typeface="Lexend"/>
              </a:rPr>
              <a:t> Noi di EKO Srl, forti delle nostre relazioni consolidate, assicuriamo ai nostri partner e clienti installazioni rapide e un servizio affidabile. In Lombardia e Piemonte, garantiamo l'installazione entro 30 giorni dalla firma del contratto e l’attivazione dell’impianto pochi giorni dopo.</a:t>
            </a:r>
            <a:endParaRPr sz="12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30a7673eadd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30a7673eadd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30adcbf036b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30adcbf036b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30a9469dca8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30a9469dca8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30adcbf036b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30adcbf036b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g30adcbf036b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3" name="Google Shape;573;g30adcbf036b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g30ba15c8f20_0_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3" name="Google Shape;583;g30ba15c8f20_0_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0adcbf036b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3" name="Google Shape;593;g30adcbf036b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0adcbf036b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0adcbf036b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g30adcbf036b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g30adcbf036b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g30adcbf036b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7" name="Google Shape;627;g30adcbf036b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g30b6744115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1" name="Google Shape;641;g30b6744115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30adcbf036b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3" name="Google Shape;653;g30adcbf036b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30adcbf036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30adcbf036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0a8ab9c5d6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6" name="Google Shape;676;g30a8ab9c5d6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0a9469dca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0" name="Google Shape;690;g30a9469dca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0a9469dca8_0_1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0a9469dca8_0_1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0a9469dca8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6" name="Google Shape;716;g30a9469dca8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30a9469dca8_0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8" name="Google Shape;728;g30a9469dca8_0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6" name="Shape 766"/>
        <p:cNvGrpSpPr/>
        <p:nvPr/>
      </p:nvGrpSpPr>
      <p:grpSpPr>
        <a:xfrm>
          <a:off x="0" y="0"/>
          <a:ext cx="0" cy="0"/>
          <a:chOff x="0" y="0"/>
          <a:chExt cx="0" cy="0"/>
        </a:xfrm>
      </p:grpSpPr>
      <p:sp>
        <p:nvSpPr>
          <p:cNvPr id="767" name="Google Shape;767;g30a9469dca8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8" name="Google Shape;768;g30a9469dca8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0a9469dca8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5" name="Google Shape;785;g30a9469dca8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3" name="Shape 793"/>
        <p:cNvGrpSpPr/>
        <p:nvPr/>
      </p:nvGrpSpPr>
      <p:grpSpPr>
        <a:xfrm>
          <a:off x="0" y="0"/>
          <a:ext cx="0" cy="0"/>
          <a:chOff x="0" y="0"/>
          <a:chExt cx="0" cy="0"/>
        </a:xfrm>
      </p:grpSpPr>
      <p:sp>
        <p:nvSpPr>
          <p:cNvPr id="794" name="Google Shape;794;g30ba15c8f20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5" name="Google Shape;795;g30ba15c8f20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g30dc9d58d8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5" name="Google Shape;805;g30dc9d58d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7" name="Shape 817"/>
        <p:cNvGrpSpPr/>
        <p:nvPr/>
      </p:nvGrpSpPr>
      <p:grpSpPr>
        <a:xfrm>
          <a:off x="0" y="0"/>
          <a:ext cx="0" cy="0"/>
          <a:chOff x="0" y="0"/>
          <a:chExt cx="0" cy="0"/>
        </a:xfrm>
      </p:grpSpPr>
      <p:sp>
        <p:nvSpPr>
          <p:cNvPr id="818" name="Google Shape;818;g2fc7ec24b6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9" name="Google Shape;819;g2fc7ec24b6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g30ca06b03b0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0" name="Google Shape;850;g30ca06b03b0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g30ca06b03b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5" name="Google Shape;865;g30ca06b03b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0ca06b03b0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9" name="Google Shape;879;g30ca06b03b0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0ca06b03b0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30ca06b03b0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30ba15c8f20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30ba15c8f20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g30ba15c8f20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7" name="Google Shape;917;g30ba15c8f20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0" name="Shape 930"/>
        <p:cNvGrpSpPr/>
        <p:nvPr/>
      </p:nvGrpSpPr>
      <p:grpSpPr>
        <a:xfrm>
          <a:off x="0" y="0"/>
          <a:ext cx="0" cy="0"/>
          <a:chOff x="0" y="0"/>
          <a:chExt cx="0" cy="0"/>
        </a:xfrm>
      </p:grpSpPr>
      <p:sp>
        <p:nvSpPr>
          <p:cNvPr id="931" name="Google Shape;931;g2fc7ec24b64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2" name="Google Shape;932;g2fc7ec24b64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9" name="Shape 939"/>
        <p:cNvGrpSpPr/>
        <p:nvPr/>
      </p:nvGrpSpPr>
      <p:grpSpPr>
        <a:xfrm>
          <a:off x="0" y="0"/>
          <a:ext cx="0" cy="0"/>
          <a:chOff x="0" y="0"/>
          <a:chExt cx="0" cy="0"/>
        </a:xfrm>
      </p:grpSpPr>
      <p:sp>
        <p:nvSpPr>
          <p:cNvPr id="940" name="Google Shape;940;g2fc7ec24b64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1" name="Google Shape;941;g2fc7ec24b6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9" name="Shape 949"/>
        <p:cNvGrpSpPr/>
        <p:nvPr/>
      </p:nvGrpSpPr>
      <p:grpSpPr>
        <a:xfrm>
          <a:off x="0" y="0"/>
          <a:ext cx="0" cy="0"/>
          <a:chOff x="0" y="0"/>
          <a:chExt cx="0" cy="0"/>
        </a:xfrm>
      </p:grpSpPr>
      <p:sp>
        <p:nvSpPr>
          <p:cNvPr id="950" name="Google Shape;950;g2fc7ec24b64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1" name="Google Shape;951;g2fc7ec24b64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9" name="Shape 959"/>
        <p:cNvGrpSpPr/>
        <p:nvPr/>
      </p:nvGrpSpPr>
      <p:grpSpPr>
        <a:xfrm>
          <a:off x="0" y="0"/>
          <a:ext cx="0" cy="0"/>
          <a:chOff x="0" y="0"/>
          <a:chExt cx="0" cy="0"/>
        </a:xfrm>
      </p:grpSpPr>
      <p:sp>
        <p:nvSpPr>
          <p:cNvPr id="960" name="Google Shape;960;g2fc7ec24b64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1" name="Google Shape;961;g2fc7ec24b64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g2fc7ec24b64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0" name="Google Shape;970;g2fc7ec24b64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0" name="Shape 980"/>
        <p:cNvGrpSpPr/>
        <p:nvPr/>
      </p:nvGrpSpPr>
      <p:grpSpPr>
        <a:xfrm>
          <a:off x="0" y="0"/>
          <a:ext cx="0" cy="0"/>
          <a:chOff x="0" y="0"/>
          <a:chExt cx="0" cy="0"/>
        </a:xfrm>
      </p:grpSpPr>
      <p:sp>
        <p:nvSpPr>
          <p:cNvPr id="981" name="Google Shape;981;g30a9469dca8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2" name="Google Shape;982;g30a9469dca8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6" name="Shape 1006"/>
        <p:cNvGrpSpPr/>
        <p:nvPr/>
      </p:nvGrpSpPr>
      <p:grpSpPr>
        <a:xfrm>
          <a:off x="0" y="0"/>
          <a:ext cx="0" cy="0"/>
          <a:chOff x="0" y="0"/>
          <a:chExt cx="0" cy="0"/>
        </a:xfrm>
      </p:grpSpPr>
      <p:sp>
        <p:nvSpPr>
          <p:cNvPr id="1007" name="Google Shape;1007;g2fc7ec24b64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8" name="Google Shape;1008;g2fc7ec24b64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6" name="Shape 1016"/>
        <p:cNvGrpSpPr/>
        <p:nvPr/>
      </p:nvGrpSpPr>
      <p:grpSpPr>
        <a:xfrm>
          <a:off x="0" y="0"/>
          <a:ext cx="0" cy="0"/>
          <a:chOff x="0" y="0"/>
          <a:chExt cx="0" cy="0"/>
        </a:xfrm>
      </p:grpSpPr>
      <p:sp>
        <p:nvSpPr>
          <p:cNvPr id="1017" name="Google Shape;1017;g2fc7ec24b64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8" name="Google Shape;1018;g2fc7ec24b64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0ba15c8f20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7" name="Google Shape;1027;g30ba15c8f20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6" name="Shape 1046"/>
        <p:cNvGrpSpPr/>
        <p:nvPr/>
      </p:nvGrpSpPr>
      <p:grpSpPr>
        <a:xfrm>
          <a:off x="0" y="0"/>
          <a:ext cx="0" cy="0"/>
          <a:chOff x="0" y="0"/>
          <a:chExt cx="0" cy="0"/>
        </a:xfrm>
      </p:grpSpPr>
      <p:sp>
        <p:nvSpPr>
          <p:cNvPr id="1047" name="Google Shape;1047;g2fc7ec24b64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8" name="Google Shape;1048;g2fc7ec24b64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7" name="Shape 1067"/>
        <p:cNvGrpSpPr/>
        <p:nvPr/>
      </p:nvGrpSpPr>
      <p:grpSpPr>
        <a:xfrm>
          <a:off x="0" y="0"/>
          <a:ext cx="0" cy="0"/>
          <a:chOff x="0" y="0"/>
          <a:chExt cx="0" cy="0"/>
        </a:xfrm>
      </p:grpSpPr>
      <p:sp>
        <p:nvSpPr>
          <p:cNvPr id="1068" name="Google Shape;1068;g2fc7ec24b64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9" name="Google Shape;1069;g2fc7ec24b64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fc7ec24b64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fc7ec24b64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9" name="Shape 1109"/>
        <p:cNvGrpSpPr/>
        <p:nvPr/>
      </p:nvGrpSpPr>
      <p:grpSpPr>
        <a:xfrm>
          <a:off x="0" y="0"/>
          <a:ext cx="0" cy="0"/>
          <a:chOff x="0" y="0"/>
          <a:chExt cx="0" cy="0"/>
        </a:xfrm>
      </p:grpSpPr>
      <p:sp>
        <p:nvSpPr>
          <p:cNvPr id="1110" name="Google Shape;1110;g2fc7ec24b64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1" name="Google Shape;1111;g2fc7ec24b64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g2fc7ec24b64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2" name="Google Shape;1132;g2fc7ec24b64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0b67441157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0b67441157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1" name="Shape 1161"/>
        <p:cNvGrpSpPr/>
        <p:nvPr/>
      </p:nvGrpSpPr>
      <p:grpSpPr>
        <a:xfrm>
          <a:off x="0" y="0"/>
          <a:ext cx="0" cy="0"/>
          <a:chOff x="0" y="0"/>
          <a:chExt cx="0" cy="0"/>
        </a:xfrm>
      </p:grpSpPr>
      <p:sp>
        <p:nvSpPr>
          <p:cNvPr id="1162" name="Google Shape;1162;g30b67441157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3" name="Google Shape;1163;g30b67441157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5.png"/><Relationship Id="rId4" Type="http://schemas.openxmlformats.org/officeDocument/2006/relationships/image" Target="../media/image13.png"/><Relationship Id="rId10" Type="http://schemas.openxmlformats.org/officeDocument/2006/relationships/image" Target="../media/image7.png"/><Relationship Id="rId9" Type="http://schemas.openxmlformats.org/officeDocument/2006/relationships/image" Target="../media/image14.png"/><Relationship Id="rId5" Type="http://schemas.openxmlformats.org/officeDocument/2006/relationships/image" Target="../media/image5.png"/><Relationship Id="rId6" Type="http://schemas.openxmlformats.org/officeDocument/2006/relationships/image" Target="../media/image11.png"/><Relationship Id="rId7" Type="http://schemas.openxmlformats.org/officeDocument/2006/relationships/image" Target="../media/image8.png"/><Relationship Id="rId8"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9.png"/><Relationship Id="rId5" Type="http://schemas.openxmlformats.org/officeDocument/2006/relationships/image" Target="../media/image12.png"/><Relationship Id="rId6" Type="http://schemas.openxmlformats.org/officeDocument/2006/relationships/image" Target="../media/image6.png"/><Relationship Id="rId7"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9.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21.png"/><Relationship Id="rId4" Type="http://schemas.openxmlformats.org/officeDocument/2006/relationships/image" Target="../media/image19.png"/><Relationship Id="rId9" Type="http://schemas.openxmlformats.org/officeDocument/2006/relationships/image" Target="../media/image7.png"/><Relationship Id="rId5" Type="http://schemas.openxmlformats.org/officeDocument/2006/relationships/image" Target="../media/image22.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2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5.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7.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32.png"/><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image8.png"/><Relationship Id="rId5" Type="http://schemas.openxmlformats.org/officeDocument/2006/relationships/image" Target="../media/image33.png"/><Relationship Id="rId6"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31.png"/><Relationship Id="rId4" Type="http://schemas.openxmlformats.org/officeDocument/2006/relationships/image" Target="../media/image8.png"/><Relationship Id="rId10" Type="http://schemas.openxmlformats.org/officeDocument/2006/relationships/image" Target="../media/image7.png"/><Relationship Id="rId9" Type="http://schemas.openxmlformats.org/officeDocument/2006/relationships/image" Target="../media/image11.png"/><Relationship Id="rId5" Type="http://schemas.openxmlformats.org/officeDocument/2006/relationships/image" Target="../media/image33.png"/><Relationship Id="rId6" Type="http://schemas.openxmlformats.org/officeDocument/2006/relationships/image" Target="../media/image37.png"/><Relationship Id="rId7" Type="http://schemas.openxmlformats.org/officeDocument/2006/relationships/image" Target="../media/image14.png"/><Relationship Id="rId8" Type="http://schemas.openxmlformats.org/officeDocument/2006/relationships/image" Target="../media/image13.png"/></Relationships>
</file>

<file path=ppt/slides/_rels/slide30.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22.png"/><Relationship Id="rId13" Type="http://schemas.openxmlformats.org/officeDocument/2006/relationships/image" Target="../media/image39.png"/><Relationship Id="rId12" Type="http://schemas.openxmlformats.org/officeDocument/2006/relationships/image" Target="../media/image3.png"/><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1.png"/><Relationship Id="rId4" Type="http://schemas.openxmlformats.org/officeDocument/2006/relationships/image" Target="../media/image8.png"/><Relationship Id="rId9" Type="http://schemas.openxmlformats.org/officeDocument/2006/relationships/image" Target="../media/image11.png"/><Relationship Id="rId14" Type="http://schemas.openxmlformats.org/officeDocument/2006/relationships/image" Target="../media/image7.png"/><Relationship Id="rId5" Type="http://schemas.openxmlformats.org/officeDocument/2006/relationships/image" Target="../media/image33.png"/><Relationship Id="rId6" Type="http://schemas.openxmlformats.org/officeDocument/2006/relationships/image" Target="../media/image37.png"/><Relationship Id="rId7" Type="http://schemas.openxmlformats.org/officeDocument/2006/relationships/image" Target="../media/image14.png"/><Relationship Id="rId8"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57.jpg"/><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5.png"/><Relationship Id="rId4" Type="http://schemas.openxmlformats.org/officeDocument/2006/relationships/image" Target="../media/image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45.png"/><Relationship Id="rId4" Type="http://schemas.openxmlformats.org/officeDocument/2006/relationships/image" Target="../media/image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6.png"/><Relationship Id="rId4" Type="http://schemas.openxmlformats.org/officeDocument/2006/relationships/image" Target="../media/image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9.png"/><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7.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3.png"/><Relationship Id="rId4" Type="http://schemas.openxmlformats.org/officeDocument/2006/relationships/image" Target="../media/image29.png"/><Relationship Id="rId5" Type="http://schemas.openxmlformats.org/officeDocument/2006/relationships/image" Target="../media/image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48.png"/><Relationship Id="rId4" Type="http://schemas.openxmlformats.org/officeDocument/2006/relationships/image" Target="../media/image2.png"/><Relationship Id="rId5"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hyperlink" Target="http://drive.google.com/file/d/1J__xwyw_tM0b-BiFmjXchj6Ak0O1n7xT/view" TargetMode="External"/><Relationship Id="rId4" Type="http://schemas.openxmlformats.org/officeDocument/2006/relationships/image" Target="../media/image47.jpg"/><Relationship Id="rId5"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image" Target="../media/image63.jpg"/><Relationship Id="rId4" Type="http://schemas.openxmlformats.org/officeDocument/2006/relationships/image" Target="../media/image58.jpg"/><Relationship Id="rId5" Type="http://schemas.openxmlformats.org/officeDocument/2006/relationships/image" Target="../media/image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62.jpg"/><Relationship Id="rId4" Type="http://schemas.openxmlformats.org/officeDocument/2006/relationships/image" Target="../media/image7.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61.jpg"/><Relationship Id="rId4" Type="http://schemas.openxmlformats.org/officeDocument/2006/relationships/image" Target="../media/image55.jpg"/><Relationship Id="rId5" Type="http://schemas.openxmlformats.org/officeDocument/2006/relationships/image" Target="../media/image7.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2.png"/><Relationship Id="rId4" Type="http://schemas.openxmlformats.org/officeDocument/2006/relationships/image" Target="../media/image7.png"/></Relationships>
</file>

<file path=ppt/slides/_rels/slide50.xml.rels><?xml version="1.0" encoding="UTF-8" standalone="yes"?><Relationships xmlns="http://schemas.openxmlformats.org/package/2006/relationships"><Relationship Id="rId10" Type="http://schemas.openxmlformats.org/officeDocument/2006/relationships/image" Target="../media/image70.png"/><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7.png"/><Relationship Id="rId4" Type="http://schemas.openxmlformats.org/officeDocument/2006/relationships/image" Target="../media/image5.png"/><Relationship Id="rId9" Type="http://schemas.openxmlformats.org/officeDocument/2006/relationships/image" Target="../media/image60.png"/><Relationship Id="rId5" Type="http://schemas.openxmlformats.org/officeDocument/2006/relationships/image" Target="../media/image53.png"/><Relationship Id="rId6" Type="http://schemas.openxmlformats.org/officeDocument/2006/relationships/image" Target="../media/image59.png"/><Relationship Id="rId7" Type="http://schemas.openxmlformats.org/officeDocument/2006/relationships/image" Target="../media/image22.png"/><Relationship Id="rId8" Type="http://schemas.openxmlformats.org/officeDocument/2006/relationships/image" Target="../media/image5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7.png"/><Relationship Id="rId4" Type="http://schemas.openxmlformats.org/officeDocument/2006/relationships/image" Target="../media/image5.png"/><Relationship Id="rId5"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57.jp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7.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7.png"/><Relationship Id="rId4" Type="http://schemas.openxmlformats.org/officeDocument/2006/relationships/image" Target="../media/image64.png"/><Relationship Id="rId5" Type="http://schemas.openxmlformats.org/officeDocument/2006/relationships/image" Target="../media/image66.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7.png"/><Relationship Id="rId4" Type="http://schemas.openxmlformats.org/officeDocument/2006/relationships/image" Target="../media/image80.jpg"/><Relationship Id="rId5" Type="http://schemas.openxmlformats.org/officeDocument/2006/relationships/image" Target="../media/image79.jpg"/><Relationship Id="rId6" Type="http://schemas.openxmlformats.org/officeDocument/2006/relationships/image" Target="../media/image68.png"/><Relationship Id="rId7" Type="http://schemas.openxmlformats.org/officeDocument/2006/relationships/image" Target="../media/image74.png"/><Relationship Id="rId8" Type="http://schemas.openxmlformats.org/officeDocument/2006/relationships/image" Target="../media/image6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7.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 Id="rId3" Type="http://schemas.openxmlformats.org/officeDocument/2006/relationships/image" Target="../media/image7.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7.png"/><Relationship Id="rId4" Type="http://schemas.openxmlformats.org/officeDocument/2006/relationships/image" Target="../media/image73.png"/><Relationship Id="rId5" Type="http://schemas.openxmlformats.org/officeDocument/2006/relationships/image" Target="../media/image71.png"/><Relationship Id="rId6" Type="http://schemas.openxmlformats.org/officeDocument/2006/relationships/image" Target="../media/image72.png"/><Relationship Id="rId7" Type="http://schemas.openxmlformats.org/officeDocument/2006/relationships/image" Target="../media/image75.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7.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7.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7.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7.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7.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 Id="rId3" Type="http://schemas.openxmlformats.org/officeDocument/2006/relationships/image" Target="../media/image78.png"/><Relationship Id="rId4" Type="http://schemas.openxmlformats.org/officeDocument/2006/relationships/image" Target="../media/image2.png"/><Relationship Id="rId5" Type="http://schemas.openxmlformats.org/officeDocument/2006/relationships/image" Target="../media/image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 Id="rId3" Type="http://schemas.openxmlformats.org/officeDocument/2006/relationships/image" Target="../media/image78.png"/><Relationship Id="rId4" Type="http://schemas.openxmlformats.org/officeDocument/2006/relationships/image" Target="../media/image2.png"/><Relationship Id="rId5" Type="http://schemas.openxmlformats.org/officeDocument/2006/relationships/image" Target="../media/image7.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 Id="rId3" Type="http://schemas.openxmlformats.org/officeDocument/2006/relationships/image" Target="../media/image78.png"/><Relationship Id="rId4" Type="http://schemas.openxmlformats.org/officeDocument/2006/relationships/image" Target="../media/image2.png"/><Relationship Id="rId5" Type="http://schemas.openxmlformats.org/officeDocument/2006/relationships/image" Target="../media/image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78.png"/><Relationship Id="rId4" Type="http://schemas.openxmlformats.org/officeDocument/2006/relationships/image" Target="../media/image2.png"/><Relationship Id="rId5" Type="http://schemas.openxmlformats.org/officeDocument/2006/relationships/image" Target="../media/image7.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 Id="rId3" Type="http://schemas.openxmlformats.org/officeDocument/2006/relationships/image" Target="../media/image78.png"/><Relationship Id="rId4" Type="http://schemas.openxmlformats.org/officeDocument/2006/relationships/image" Target="../media/image2.png"/><Relationship Id="rId5" Type="http://schemas.openxmlformats.org/officeDocument/2006/relationships/image" Target="../media/image7.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 Id="rId3" Type="http://schemas.openxmlformats.org/officeDocument/2006/relationships/image" Target="../media/image78.png"/><Relationship Id="rId4" Type="http://schemas.openxmlformats.org/officeDocument/2006/relationships/image" Target="../media/image2.png"/><Relationship Id="rId5" Type="http://schemas.openxmlformats.org/officeDocument/2006/relationships/image" Target="../media/image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 Id="rId3" Type="http://schemas.openxmlformats.org/officeDocument/2006/relationships/image" Target="../media/image57.jpg"/><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 Id="rId3" Type="http://schemas.openxmlformats.org/officeDocument/2006/relationships/image" Target="../media/image2.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idx="1" type="subTitle"/>
          </p:nvPr>
        </p:nvSpPr>
        <p:spPr>
          <a:xfrm>
            <a:off x="311700" y="2728850"/>
            <a:ext cx="8520600" cy="5505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it" sz="1500">
                <a:latin typeface="Lexend"/>
                <a:ea typeface="Lexend"/>
                <a:cs typeface="Lexend"/>
                <a:sym typeface="Lexend"/>
              </a:rPr>
              <a:t>Azienda, Fotovoltaico &amp; Servizi</a:t>
            </a:r>
            <a:endParaRPr sz="1500">
              <a:latin typeface="Lexend"/>
              <a:ea typeface="Lexend"/>
              <a:cs typeface="Lexend"/>
              <a:sym typeface="Lexend"/>
            </a:endParaRPr>
          </a:p>
        </p:txBody>
      </p:sp>
      <p:sp>
        <p:nvSpPr>
          <p:cNvPr id="55" name="Google Shape;55;p1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4262062" y="3395760"/>
            <a:ext cx="619876" cy="635148"/>
          </a:xfrm>
          <a:prstGeom prst="rect">
            <a:avLst/>
          </a:prstGeom>
          <a:noFill/>
          <a:ln>
            <a:noFill/>
          </a:ln>
        </p:spPr>
      </p:pic>
      <p:sp>
        <p:nvSpPr>
          <p:cNvPr id="57" name="Google Shape;57;p13"/>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latin typeface="Lexend"/>
                <a:ea typeface="Lexend"/>
                <a:cs typeface="Lexend"/>
                <a:sym typeface="Lexend"/>
              </a:rPr>
              <a:t>EKO Srl</a:t>
            </a:r>
            <a:endParaRPr sz="7000">
              <a:latin typeface="Lexend"/>
              <a:ea typeface="Lexend"/>
              <a:cs typeface="Lexend"/>
              <a:sym typeface="Lexend"/>
            </a:endParaRPr>
          </a:p>
        </p:txBody>
      </p:sp>
      <p:pic>
        <p:nvPicPr>
          <p:cNvPr id="58" name="Google Shape;58;p13"/>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59" name="Google Shape;59;p13"/>
          <p:cNvSpPr txBox="1"/>
          <p:nvPr>
            <p:ph idx="1"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4"/>
          <p:cNvPicPr preferRelativeResize="0"/>
          <p:nvPr/>
        </p:nvPicPr>
        <p:blipFill>
          <a:blip r:embed="rId3">
            <a:alphaModFix/>
          </a:blip>
          <a:stretch>
            <a:fillRect/>
          </a:stretch>
        </p:blipFill>
        <p:spPr>
          <a:xfrm>
            <a:off x="3146900" y="1731910"/>
            <a:ext cx="2761576" cy="2524412"/>
          </a:xfrm>
          <a:prstGeom prst="rect">
            <a:avLst/>
          </a:prstGeom>
          <a:noFill/>
          <a:ln>
            <a:noFill/>
          </a:ln>
        </p:spPr>
      </p:pic>
      <p:sp>
        <p:nvSpPr>
          <p:cNvPr id="65" name="Google Shape;65;p1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Breve introduzione su </a:t>
            </a:r>
            <a:r>
              <a:rPr b="1" lang="it" sz="2000">
                <a:latin typeface="Lexend"/>
                <a:ea typeface="Lexend"/>
                <a:cs typeface="Lexend"/>
                <a:sym typeface="Lexend"/>
              </a:rPr>
              <a:t>EKO Srl</a:t>
            </a:r>
            <a:endParaRPr b="1" sz="2000">
              <a:latin typeface="Lexend"/>
              <a:ea typeface="Lexend"/>
              <a:cs typeface="Lexend"/>
              <a:sym typeface="Lexend"/>
            </a:endParaRPr>
          </a:p>
        </p:txBody>
      </p:sp>
      <p:pic>
        <p:nvPicPr>
          <p:cNvPr id="67" name="Google Shape;67;p14"/>
          <p:cNvPicPr preferRelativeResize="0"/>
          <p:nvPr/>
        </p:nvPicPr>
        <p:blipFill>
          <a:blip r:embed="rId4">
            <a:alphaModFix/>
          </a:blip>
          <a:stretch>
            <a:fillRect/>
          </a:stretch>
        </p:blipFill>
        <p:spPr>
          <a:xfrm>
            <a:off x="1018350" y="1778761"/>
            <a:ext cx="387800" cy="387807"/>
          </a:xfrm>
          <a:prstGeom prst="rect">
            <a:avLst/>
          </a:prstGeom>
          <a:noFill/>
          <a:ln>
            <a:noFill/>
          </a:ln>
        </p:spPr>
      </p:pic>
      <p:pic>
        <p:nvPicPr>
          <p:cNvPr id="68" name="Google Shape;68;p14"/>
          <p:cNvPicPr preferRelativeResize="0"/>
          <p:nvPr/>
        </p:nvPicPr>
        <p:blipFill>
          <a:blip r:embed="rId5">
            <a:alphaModFix/>
          </a:blip>
          <a:stretch>
            <a:fillRect/>
          </a:stretch>
        </p:blipFill>
        <p:spPr>
          <a:xfrm>
            <a:off x="713550" y="2832249"/>
            <a:ext cx="387800" cy="387807"/>
          </a:xfrm>
          <a:prstGeom prst="rect">
            <a:avLst/>
          </a:prstGeom>
          <a:noFill/>
          <a:ln>
            <a:noFill/>
          </a:ln>
        </p:spPr>
      </p:pic>
      <p:pic>
        <p:nvPicPr>
          <p:cNvPr id="69" name="Google Shape;69;p14"/>
          <p:cNvPicPr preferRelativeResize="0"/>
          <p:nvPr/>
        </p:nvPicPr>
        <p:blipFill>
          <a:blip r:embed="rId6">
            <a:alphaModFix/>
          </a:blip>
          <a:stretch>
            <a:fillRect/>
          </a:stretch>
        </p:blipFill>
        <p:spPr>
          <a:xfrm>
            <a:off x="5709175" y="1778766"/>
            <a:ext cx="387800" cy="387807"/>
          </a:xfrm>
          <a:prstGeom prst="rect">
            <a:avLst/>
          </a:prstGeom>
          <a:noFill/>
          <a:ln>
            <a:noFill/>
          </a:ln>
        </p:spPr>
      </p:pic>
      <p:pic>
        <p:nvPicPr>
          <p:cNvPr id="70" name="Google Shape;70;p14"/>
          <p:cNvPicPr preferRelativeResize="0"/>
          <p:nvPr/>
        </p:nvPicPr>
        <p:blipFill>
          <a:blip r:embed="rId7">
            <a:alphaModFix/>
          </a:blip>
          <a:stretch>
            <a:fillRect/>
          </a:stretch>
        </p:blipFill>
        <p:spPr>
          <a:xfrm>
            <a:off x="1018350" y="3805559"/>
            <a:ext cx="387800" cy="387807"/>
          </a:xfrm>
          <a:prstGeom prst="rect">
            <a:avLst/>
          </a:prstGeom>
          <a:noFill/>
          <a:ln>
            <a:noFill/>
          </a:ln>
        </p:spPr>
      </p:pic>
      <p:pic>
        <p:nvPicPr>
          <p:cNvPr id="71" name="Google Shape;71;p14"/>
          <p:cNvPicPr preferRelativeResize="0"/>
          <p:nvPr/>
        </p:nvPicPr>
        <p:blipFill>
          <a:blip r:embed="rId8">
            <a:alphaModFix/>
          </a:blip>
          <a:stretch>
            <a:fillRect/>
          </a:stretch>
        </p:blipFill>
        <p:spPr>
          <a:xfrm>
            <a:off x="5709175" y="3768011"/>
            <a:ext cx="387800" cy="387800"/>
          </a:xfrm>
          <a:prstGeom prst="rect">
            <a:avLst/>
          </a:prstGeom>
          <a:noFill/>
          <a:ln>
            <a:noFill/>
          </a:ln>
        </p:spPr>
      </p:pic>
      <p:pic>
        <p:nvPicPr>
          <p:cNvPr id="72" name="Google Shape;72;p14"/>
          <p:cNvPicPr preferRelativeResize="0"/>
          <p:nvPr/>
        </p:nvPicPr>
        <p:blipFill>
          <a:blip r:embed="rId9">
            <a:alphaModFix/>
          </a:blip>
          <a:stretch>
            <a:fillRect/>
          </a:stretch>
        </p:blipFill>
        <p:spPr>
          <a:xfrm>
            <a:off x="6013975" y="2832249"/>
            <a:ext cx="387800" cy="387800"/>
          </a:xfrm>
          <a:prstGeom prst="rect">
            <a:avLst/>
          </a:prstGeom>
          <a:noFill/>
          <a:ln>
            <a:noFill/>
          </a:ln>
        </p:spPr>
      </p:pic>
      <p:sp>
        <p:nvSpPr>
          <p:cNvPr id="73" name="Google Shape;73;p14"/>
          <p:cNvSpPr txBox="1"/>
          <p:nvPr>
            <p:ph type="title"/>
          </p:nvPr>
        </p:nvSpPr>
        <p:spPr>
          <a:xfrm>
            <a:off x="1466225" y="1666075"/>
            <a:ext cx="2090100" cy="66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990"/>
              <a:buFont typeface="Arial"/>
              <a:buNone/>
            </a:pPr>
            <a:r>
              <a:rPr lang="it" sz="1320">
                <a:latin typeface="Lexend"/>
                <a:ea typeface="Lexend"/>
                <a:cs typeface="Lexend"/>
                <a:sym typeface="Lexend"/>
              </a:rPr>
              <a:t>800m2 di Azienda</a:t>
            </a:r>
            <a:endParaRPr sz="1320">
              <a:latin typeface="Lexend"/>
              <a:ea typeface="Lexend"/>
              <a:cs typeface="Lexend"/>
              <a:sym typeface="Lexend"/>
            </a:endParaRPr>
          </a:p>
          <a:p>
            <a:pPr indent="0" lvl="0" marL="0" rtl="0" algn="l">
              <a:lnSpc>
                <a:spcPct val="115000"/>
              </a:lnSpc>
              <a:spcBef>
                <a:spcPts val="0"/>
              </a:spcBef>
              <a:spcAft>
                <a:spcPts val="0"/>
              </a:spcAft>
              <a:buSzPts val="990"/>
              <a:buNone/>
            </a:pPr>
            <a:r>
              <a:rPr lang="it" sz="1320">
                <a:latin typeface="Lexend"/>
                <a:ea typeface="Lexend"/>
                <a:cs typeface="Lexend"/>
                <a:sym typeface="Lexend"/>
              </a:rPr>
              <a:t>Uffici + Magazzino</a:t>
            </a:r>
            <a:endParaRPr sz="1320">
              <a:latin typeface="Lexend"/>
              <a:ea typeface="Lexend"/>
              <a:cs typeface="Lexend"/>
              <a:sym typeface="Lexend"/>
            </a:endParaRPr>
          </a:p>
        </p:txBody>
      </p:sp>
      <p:sp>
        <p:nvSpPr>
          <p:cNvPr id="74" name="Google Shape;74;p14"/>
          <p:cNvSpPr txBox="1"/>
          <p:nvPr>
            <p:ph type="title"/>
          </p:nvPr>
        </p:nvSpPr>
        <p:spPr>
          <a:xfrm>
            <a:off x="1158975" y="2755648"/>
            <a:ext cx="2090100" cy="71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320">
                <a:latin typeface="Lexend"/>
                <a:ea typeface="Lexend"/>
                <a:cs typeface="Lexend"/>
                <a:sym typeface="Lexend"/>
              </a:rPr>
              <a:t>Squadre di installatori interni ed esterni</a:t>
            </a:r>
            <a:endParaRPr sz="1320">
              <a:latin typeface="Lexend"/>
              <a:ea typeface="Lexend"/>
              <a:cs typeface="Lexend"/>
              <a:sym typeface="Lexend"/>
            </a:endParaRPr>
          </a:p>
        </p:txBody>
      </p:sp>
      <p:sp>
        <p:nvSpPr>
          <p:cNvPr id="75" name="Google Shape;75;p14"/>
          <p:cNvSpPr txBox="1"/>
          <p:nvPr>
            <p:ph type="title"/>
          </p:nvPr>
        </p:nvSpPr>
        <p:spPr>
          <a:xfrm>
            <a:off x="6461850" y="2733275"/>
            <a:ext cx="1968600" cy="71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320">
                <a:latin typeface="Lexend"/>
                <a:ea typeface="Lexend"/>
                <a:cs typeface="Lexend"/>
                <a:sym typeface="Lexend"/>
              </a:rPr>
              <a:t>Assistenza dedicata Full-Remote o in loco</a:t>
            </a:r>
            <a:endParaRPr sz="1320">
              <a:latin typeface="Lexend"/>
              <a:ea typeface="Lexend"/>
              <a:cs typeface="Lexend"/>
              <a:sym typeface="Lexend"/>
            </a:endParaRPr>
          </a:p>
        </p:txBody>
      </p:sp>
      <p:sp>
        <p:nvSpPr>
          <p:cNvPr id="76" name="Google Shape;76;p14"/>
          <p:cNvSpPr txBox="1"/>
          <p:nvPr>
            <p:ph type="title"/>
          </p:nvPr>
        </p:nvSpPr>
        <p:spPr>
          <a:xfrm>
            <a:off x="1466225" y="3733350"/>
            <a:ext cx="2047500" cy="66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320">
                <a:latin typeface="Lexend"/>
                <a:ea typeface="Lexend"/>
                <a:cs typeface="Lexend"/>
                <a:sym typeface="Lexend"/>
              </a:rPr>
              <a:t>Acc. di distribuzione e Assistenza con OEM</a:t>
            </a:r>
            <a:endParaRPr sz="1320">
              <a:latin typeface="Lexend"/>
              <a:ea typeface="Lexend"/>
              <a:cs typeface="Lexend"/>
              <a:sym typeface="Lexend"/>
            </a:endParaRPr>
          </a:p>
        </p:txBody>
      </p:sp>
      <p:sp>
        <p:nvSpPr>
          <p:cNvPr id="77" name="Google Shape;77;p14"/>
          <p:cNvSpPr txBox="1"/>
          <p:nvPr>
            <p:ph type="title"/>
          </p:nvPr>
        </p:nvSpPr>
        <p:spPr>
          <a:xfrm>
            <a:off x="6210950" y="1666075"/>
            <a:ext cx="2047500" cy="6696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320">
                <a:latin typeface="Lexend"/>
                <a:ea typeface="Lexend"/>
                <a:cs typeface="Lexend"/>
                <a:sym typeface="Lexend"/>
              </a:rPr>
              <a:t>500m2 di Magazzino Pronta Consegna</a:t>
            </a:r>
            <a:endParaRPr sz="1320">
              <a:latin typeface="Lexend"/>
              <a:ea typeface="Lexend"/>
              <a:cs typeface="Lexend"/>
              <a:sym typeface="Lexend"/>
            </a:endParaRPr>
          </a:p>
        </p:txBody>
      </p:sp>
      <p:sp>
        <p:nvSpPr>
          <p:cNvPr id="78" name="Google Shape;78;p14"/>
          <p:cNvSpPr txBox="1"/>
          <p:nvPr>
            <p:ph type="title"/>
          </p:nvPr>
        </p:nvSpPr>
        <p:spPr>
          <a:xfrm>
            <a:off x="6192689" y="3695800"/>
            <a:ext cx="2090100" cy="715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lang="it" sz="1320">
                <a:latin typeface="Lexend"/>
                <a:ea typeface="Lexend"/>
                <a:cs typeface="Lexend"/>
                <a:sym typeface="Lexend"/>
              </a:rPr>
              <a:t>Servizi in IT con focus Lombardia e Piemonte</a:t>
            </a:r>
            <a:endParaRPr sz="1320">
              <a:latin typeface="Lexend"/>
              <a:ea typeface="Lexend"/>
              <a:cs typeface="Lexend"/>
              <a:sym typeface="Lexend"/>
            </a:endParaRPr>
          </a:p>
        </p:txBody>
      </p:sp>
      <p:pic>
        <p:nvPicPr>
          <p:cNvPr id="79" name="Google Shape;79;p14"/>
          <p:cNvPicPr preferRelativeResize="0"/>
          <p:nvPr/>
        </p:nvPicPr>
        <p:blipFill rotWithShape="1">
          <a:blip r:embed="rId10">
            <a:alphaModFix/>
          </a:blip>
          <a:srcRect b="0" l="0" r="0" t="0"/>
          <a:stretch/>
        </p:blipFill>
        <p:spPr>
          <a:xfrm>
            <a:off x="0" y="5"/>
            <a:ext cx="9144003" cy="598289"/>
          </a:xfrm>
          <a:prstGeom prst="rect">
            <a:avLst/>
          </a:prstGeom>
          <a:noFill/>
          <a:ln>
            <a:noFill/>
          </a:ln>
        </p:spPr>
      </p:pic>
      <p:sp>
        <p:nvSpPr>
          <p:cNvPr id="80" name="Google Shape;80;p1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81" name="Google Shape;81;p1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Chi Siamo</a:t>
            </a:r>
            <a:r>
              <a:rPr lang="it" sz="700">
                <a:latin typeface="Lexend"/>
                <a:ea typeface="Lexend"/>
                <a:cs typeface="Lexend"/>
                <a:sym typeface="Lexend"/>
              </a:rPr>
              <a:t> | 01</a:t>
            </a:r>
            <a:endParaRPr sz="7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5"/>
          <p:cNvSpPr/>
          <p:nvPr/>
        </p:nvSpPr>
        <p:spPr>
          <a:xfrm>
            <a:off x="639150" y="2521900"/>
            <a:ext cx="2584500" cy="206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5"/>
          <p:cNvSpPr/>
          <p:nvPr/>
        </p:nvSpPr>
        <p:spPr>
          <a:xfrm>
            <a:off x="3371704" y="2521900"/>
            <a:ext cx="2449800" cy="206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 name="Google Shape;88;p15"/>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Il fotovoltaico in Italia:</a:t>
            </a:r>
            <a:r>
              <a:rPr lang="it" sz="2000">
                <a:latin typeface="Lexend"/>
                <a:ea typeface="Lexend"/>
                <a:cs typeface="Lexend"/>
                <a:sym typeface="Lexend"/>
              </a:rPr>
              <a:t> Incentivi, Norme e Obiettivi IT/UE</a:t>
            </a:r>
            <a:endParaRPr b="1" sz="2000">
              <a:latin typeface="Lexend"/>
              <a:ea typeface="Lexend"/>
              <a:cs typeface="Lexend"/>
              <a:sym typeface="Lexend"/>
            </a:endParaRPr>
          </a:p>
        </p:txBody>
      </p:sp>
      <p:sp>
        <p:nvSpPr>
          <p:cNvPr id="89" name="Google Shape;89;p1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0" name="Google Shape;90;p15"/>
          <p:cNvSpPr txBox="1"/>
          <p:nvPr>
            <p:ph idx="1" type="body"/>
          </p:nvPr>
        </p:nvSpPr>
        <p:spPr>
          <a:xfrm>
            <a:off x="639150" y="1288024"/>
            <a:ext cx="7865700" cy="717900"/>
          </a:xfrm>
          <a:prstGeom prst="rect">
            <a:avLst/>
          </a:prstGeom>
        </p:spPr>
        <p:txBody>
          <a:bodyPr anchorCtr="0" anchor="t" bIns="91425" lIns="91425" spcFirstLastPara="1" rIns="91425" wrap="square" tIns="91425">
            <a:noAutofit/>
          </a:bodyPr>
          <a:lstStyle/>
          <a:p>
            <a:pPr indent="0" lvl="0" marL="0" rtl="0" algn="ctr">
              <a:spcBef>
                <a:spcPts val="1200"/>
              </a:spcBef>
              <a:spcAft>
                <a:spcPts val="1200"/>
              </a:spcAft>
              <a:buNone/>
            </a:pPr>
            <a:r>
              <a:rPr lang="it" sz="1300">
                <a:solidFill>
                  <a:schemeClr val="dk1"/>
                </a:solidFill>
                <a:latin typeface="Lexend"/>
                <a:ea typeface="Lexend"/>
                <a:cs typeface="Lexend"/>
                <a:sym typeface="Lexend"/>
              </a:rPr>
              <a:t>Il fotovoltaico è centrale nella transizione energetica in Italia e Europa, contribuendo al raggiungimento dell'obiettivo UE di ridurre le emissioni di CO2 del 55% entro il 2030 grazie all'espansione delle energie rinnovabili.</a:t>
            </a:r>
            <a:endParaRPr sz="1300">
              <a:solidFill>
                <a:schemeClr val="dk1"/>
              </a:solidFill>
              <a:latin typeface="Lexend"/>
              <a:ea typeface="Lexend"/>
              <a:cs typeface="Lexend"/>
              <a:sym typeface="Lexend"/>
            </a:endParaRPr>
          </a:p>
        </p:txBody>
      </p:sp>
      <p:sp>
        <p:nvSpPr>
          <p:cNvPr id="91" name="Google Shape;91;p15"/>
          <p:cNvSpPr txBox="1"/>
          <p:nvPr>
            <p:ph idx="1" type="body"/>
          </p:nvPr>
        </p:nvSpPr>
        <p:spPr>
          <a:xfrm>
            <a:off x="639225" y="2833100"/>
            <a:ext cx="2584500" cy="16833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b="1" lang="it" sz="1200">
                <a:solidFill>
                  <a:schemeClr val="dk1"/>
                </a:solidFill>
                <a:latin typeface="Lexend"/>
                <a:ea typeface="Lexend"/>
                <a:cs typeface="Lexend"/>
                <a:sym typeface="Lexend"/>
              </a:rPr>
              <a:t>NUOVE COSTRUZIONI</a:t>
            </a:r>
            <a:endParaRPr sz="700">
              <a:solidFill>
                <a:schemeClr val="dk1"/>
              </a:solidFill>
              <a:latin typeface="Lexend"/>
              <a:ea typeface="Lexend"/>
              <a:cs typeface="Lexend"/>
              <a:sym typeface="Lexend"/>
            </a:endParaRPr>
          </a:p>
          <a:p>
            <a:pPr indent="0" lvl="0" marL="0" rtl="0" algn="ctr">
              <a:spcBef>
                <a:spcPts val="1200"/>
              </a:spcBef>
              <a:spcAft>
                <a:spcPts val="1200"/>
              </a:spcAft>
              <a:buClr>
                <a:schemeClr val="dk1"/>
              </a:buClr>
              <a:buSzPts val="1100"/>
              <a:buFont typeface="Arial"/>
              <a:buNone/>
            </a:pPr>
            <a:r>
              <a:rPr lang="it" sz="950">
                <a:solidFill>
                  <a:schemeClr val="dk1"/>
                </a:solidFill>
                <a:latin typeface="Lexend"/>
                <a:ea typeface="Lexend"/>
                <a:cs typeface="Lexend"/>
                <a:sym typeface="Lexend"/>
              </a:rPr>
              <a:t>Dal 1° gennaio 2021, tutte le nuove costruzioni devono rispettare i criteri NZEB, che richiedono edifici a consumo energetico quasi nullo. Questo implica l'uso di fonti rinnovabili, come il fotovoltaico, per coprire gran parte del fabbisogno energetico.</a:t>
            </a:r>
            <a:endParaRPr sz="950">
              <a:solidFill>
                <a:schemeClr val="dk1"/>
              </a:solidFill>
              <a:latin typeface="Lexend"/>
              <a:ea typeface="Lexend"/>
              <a:cs typeface="Lexend"/>
              <a:sym typeface="Lexend"/>
            </a:endParaRPr>
          </a:p>
        </p:txBody>
      </p:sp>
      <p:sp>
        <p:nvSpPr>
          <p:cNvPr id="92" name="Google Shape;92;p15"/>
          <p:cNvSpPr txBox="1"/>
          <p:nvPr>
            <p:ph idx="1" type="body"/>
          </p:nvPr>
        </p:nvSpPr>
        <p:spPr>
          <a:xfrm>
            <a:off x="3371750" y="2833050"/>
            <a:ext cx="2449800" cy="16833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b="1" lang="it" sz="1200">
                <a:solidFill>
                  <a:schemeClr val="dk1"/>
                </a:solidFill>
                <a:latin typeface="Lexend"/>
                <a:ea typeface="Lexend"/>
                <a:cs typeface="Lexend"/>
                <a:sym typeface="Lexend"/>
              </a:rPr>
              <a:t>RIQUALIFICAZIONE</a:t>
            </a:r>
            <a:endParaRPr b="1" sz="1200">
              <a:solidFill>
                <a:schemeClr val="dk1"/>
              </a:solidFill>
              <a:latin typeface="Lexend"/>
              <a:ea typeface="Lexend"/>
              <a:cs typeface="Lexend"/>
              <a:sym typeface="Lexend"/>
            </a:endParaRPr>
          </a:p>
          <a:p>
            <a:pPr indent="0" lvl="0" marL="0" rtl="0" algn="ctr">
              <a:spcBef>
                <a:spcPts val="1200"/>
              </a:spcBef>
              <a:spcAft>
                <a:spcPts val="0"/>
              </a:spcAft>
              <a:buClr>
                <a:schemeClr val="dk1"/>
              </a:buClr>
              <a:buSzPts val="1100"/>
              <a:buFont typeface="Arial"/>
              <a:buNone/>
            </a:pPr>
            <a:r>
              <a:rPr lang="it" sz="950">
                <a:solidFill>
                  <a:schemeClr val="dk1"/>
                </a:solidFill>
                <a:latin typeface="Lexend"/>
                <a:ea typeface="Lexend"/>
                <a:cs typeface="Lexend"/>
                <a:sym typeface="Lexend"/>
              </a:rPr>
              <a:t>Il criterio EPBD impone un miglioramento progressivo della classe energetica degli edifici, con scadenze fissate per il 2030 e il 2050, mirate a ridurre significativamente il consumo energetico in Europa.</a:t>
            </a:r>
            <a:endParaRPr sz="950">
              <a:solidFill>
                <a:schemeClr val="dk1"/>
              </a:solidFill>
              <a:latin typeface="Lexend"/>
              <a:ea typeface="Lexend"/>
              <a:cs typeface="Lexend"/>
              <a:sym typeface="Lexend"/>
            </a:endParaRPr>
          </a:p>
          <a:p>
            <a:pPr indent="0" lvl="0" marL="0" rtl="0" algn="ctr">
              <a:spcBef>
                <a:spcPts val="1200"/>
              </a:spcBef>
              <a:spcAft>
                <a:spcPts val="1200"/>
              </a:spcAft>
              <a:buClr>
                <a:schemeClr val="dk1"/>
              </a:buClr>
              <a:buSzPts val="1100"/>
              <a:buFont typeface="Arial"/>
              <a:buNone/>
            </a:pPr>
            <a:r>
              <a:t/>
            </a:r>
            <a:endParaRPr sz="800">
              <a:solidFill>
                <a:schemeClr val="dk1"/>
              </a:solidFill>
              <a:latin typeface="Lexend"/>
              <a:ea typeface="Lexend"/>
              <a:cs typeface="Lexend"/>
              <a:sym typeface="Lexend"/>
            </a:endParaRPr>
          </a:p>
        </p:txBody>
      </p:sp>
      <p:sp>
        <p:nvSpPr>
          <p:cNvPr id="93" name="Google Shape;93;p15"/>
          <p:cNvSpPr/>
          <p:nvPr/>
        </p:nvSpPr>
        <p:spPr>
          <a:xfrm>
            <a:off x="5969496" y="2521900"/>
            <a:ext cx="2535300" cy="2069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94" name="Google Shape;94;p15"/>
          <p:cNvGrpSpPr/>
          <p:nvPr/>
        </p:nvGrpSpPr>
        <p:grpSpPr>
          <a:xfrm>
            <a:off x="6895475" y="2385525"/>
            <a:ext cx="597796" cy="360800"/>
            <a:chOff x="5427725" y="2210950"/>
            <a:chExt cx="597796" cy="360800"/>
          </a:xfrm>
        </p:grpSpPr>
        <p:pic>
          <p:nvPicPr>
            <p:cNvPr id="95" name="Google Shape;95;p15"/>
            <p:cNvPicPr preferRelativeResize="0"/>
            <p:nvPr/>
          </p:nvPicPr>
          <p:blipFill>
            <a:blip r:embed="rId3">
              <a:alphaModFix/>
            </a:blip>
            <a:stretch>
              <a:fillRect/>
            </a:stretch>
          </p:blipFill>
          <p:spPr>
            <a:xfrm>
              <a:off x="5427725" y="2250650"/>
              <a:ext cx="281400" cy="281400"/>
            </a:xfrm>
            <a:prstGeom prst="rect">
              <a:avLst/>
            </a:prstGeom>
            <a:noFill/>
            <a:ln>
              <a:noFill/>
            </a:ln>
          </p:spPr>
        </p:pic>
        <p:pic>
          <p:nvPicPr>
            <p:cNvPr id="96" name="Google Shape;96;p15"/>
            <p:cNvPicPr preferRelativeResize="0"/>
            <p:nvPr/>
          </p:nvPicPr>
          <p:blipFill>
            <a:blip r:embed="rId4">
              <a:alphaModFix/>
            </a:blip>
            <a:stretch>
              <a:fillRect/>
            </a:stretch>
          </p:blipFill>
          <p:spPr>
            <a:xfrm>
              <a:off x="5664721" y="2210950"/>
              <a:ext cx="360800" cy="360800"/>
            </a:xfrm>
            <a:prstGeom prst="rect">
              <a:avLst/>
            </a:prstGeom>
            <a:noFill/>
            <a:ln>
              <a:noFill/>
            </a:ln>
          </p:spPr>
        </p:pic>
      </p:grpSp>
      <p:grpSp>
        <p:nvGrpSpPr>
          <p:cNvPr id="97" name="Google Shape;97;p15"/>
          <p:cNvGrpSpPr/>
          <p:nvPr/>
        </p:nvGrpSpPr>
        <p:grpSpPr>
          <a:xfrm>
            <a:off x="4313363" y="2400850"/>
            <a:ext cx="566484" cy="321100"/>
            <a:chOff x="3521825" y="2226275"/>
            <a:chExt cx="566484" cy="321100"/>
          </a:xfrm>
        </p:grpSpPr>
        <p:pic>
          <p:nvPicPr>
            <p:cNvPr id="98" name="Google Shape;98;p15"/>
            <p:cNvPicPr preferRelativeResize="0"/>
            <p:nvPr/>
          </p:nvPicPr>
          <p:blipFill>
            <a:blip r:embed="rId5">
              <a:alphaModFix/>
            </a:blip>
            <a:stretch>
              <a:fillRect/>
            </a:stretch>
          </p:blipFill>
          <p:spPr>
            <a:xfrm>
              <a:off x="3521825" y="2246125"/>
              <a:ext cx="281400" cy="281400"/>
            </a:xfrm>
            <a:prstGeom prst="rect">
              <a:avLst/>
            </a:prstGeom>
            <a:noFill/>
            <a:ln>
              <a:noFill/>
            </a:ln>
          </p:spPr>
        </p:pic>
        <p:pic>
          <p:nvPicPr>
            <p:cNvPr id="99" name="Google Shape;99;p15"/>
            <p:cNvPicPr preferRelativeResize="0"/>
            <p:nvPr/>
          </p:nvPicPr>
          <p:blipFill>
            <a:blip r:embed="rId6">
              <a:alphaModFix/>
            </a:blip>
            <a:stretch>
              <a:fillRect/>
            </a:stretch>
          </p:blipFill>
          <p:spPr>
            <a:xfrm>
              <a:off x="3767231" y="2226275"/>
              <a:ext cx="321078" cy="321100"/>
            </a:xfrm>
            <a:prstGeom prst="rect">
              <a:avLst/>
            </a:prstGeom>
            <a:noFill/>
            <a:ln>
              <a:noFill/>
            </a:ln>
          </p:spPr>
        </p:pic>
      </p:grpSp>
      <p:grpSp>
        <p:nvGrpSpPr>
          <p:cNvPr id="100" name="Google Shape;100;p15"/>
          <p:cNvGrpSpPr/>
          <p:nvPr/>
        </p:nvGrpSpPr>
        <p:grpSpPr>
          <a:xfrm>
            <a:off x="1715575" y="2400850"/>
            <a:ext cx="566484" cy="321100"/>
            <a:chOff x="3521825" y="2226275"/>
            <a:chExt cx="566484" cy="321100"/>
          </a:xfrm>
        </p:grpSpPr>
        <p:pic>
          <p:nvPicPr>
            <p:cNvPr id="101" name="Google Shape;101;p15"/>
            <p:cNvPicPr preferRelativeResize="0"/>
            <p:nvPr/>
          </p:nvPicPr>
          <p:blipFill>
            <a:blip r:embed="rId5">
              <a:alphaModFix/>
            </a:blip>
            <a:stretch>
              <a:fillRect/>
            </a:stretch>
          </p:blipFill>
          <p:spPr>
            <a:xfrm>
              <a:off x="3521825" y="2246125"/>
              <a:ext cx="281400" cy="281400"/>
            </a:xfrm>
            <a:prstGeom prst="rect">
              <a:avLst/>
            </a:prstGeom>
            <a:noFill/>
            <a:ln>
              <a:noFill/>
            </a:ln>
          </p:spPr>
        </p:pic>
        <p:pic>
          <p:nvPicPr>
            <p:cNvPr id="102" name="Google Shape;102;p15"/>
            <p:cNvPicPr preferRelativeResize="0"/>
            <p:nvPr/>
          </p:nvPicPr>
          <p:blipFill>
            <a:blip r:embed="rId6">
              <a:alphaModFix/>
            </a:blip>
            <a:stretch>
              <a:fillRect/>
            </a:stretch>
          </p:blipFill>
          <p:spPr>
            <a:xfrm>
              <a:off x="3767231" y="2226275"/>
              <a:ext cx="321078" cy="321100"/>
            </a:xfrm>
            <a:prstGeom prst="rect">
              <a:avLst/>
            </a:prstGeom>
            <a:noFill/>
            <a:ln>
              <a:noFill/>
            </a:ln>
          </p:spPr>
        </p:pic>
      </p:grpSp>
      <p:sp>
        <p:nvSpPr>
          <p:cNvPr id="103" name="Google Shape;103;p15"/>
          <p:cNvSpPr txBox="1"/>
          <p:nvPr>
            <p:ph idx="1" type="body"/>
          </p:nvPr>
        </p:nvSpPr>
        <p:spPr>
          <a:xfrm>
            <a:off x="5969488" y="2833050"/>
            <a:ext cx="2535300" cy="1683300"/>
          </a:xfrm>
          <a:prstGeom prst="rect">
            <a:avLst/>
          </a:prstGeom>
        </p:spPr>
        <p:txBody>
          <a:bodyPr anchorCtr="0" anchor="t" bIns="91425" lIns="91425" spcFirstLastPara="1" rIns="91425" wrap="square" tIns="91425">
            <a:noAutofit/>
          </a:bodyPr>
          <a:lstStyle/>
          <a:p>
            <a:pPr indent="0" lvl="0" marL="0" rtl="0" algn="ctr">
              <a:spcBef>
                <a:spcPts val="1200"/>
              </a:spcBef>
              <a:spcAft>
                <a:spcPts val="0"/>
              </a:spcAft>
              <a:buNone/>
            </a:pPr>
            <a:r>
              <a:rPr b="1" lang="it" sz="1200">
                <a:solidFill>
                  <a:schemeClr val="dk1"/>
                </a:solidFill>
                <a:latin typeface="Lexend"/>
                <a:ea typeface="Lexend"/>
                <a:cs typeface="Lexend"/>
                <a:sym typeface="Lexend"/>
              </a:rPr>
              <a:t>OBIETTIVI ITALIA</a:t>
            </a:r>
            <a:endParaRPr b="1" sz="1200">
              <a:solidFill>
                <a:schemeClr val="dk1"/>
              </a:solidFill>
              <a:latin typeface="Lexend"/>
              <a:ea typeface="Lexend"/>
              <a:cs typeface="Lexend"/>
              <a:sym typeface="Lexend"/>
            </a:endParaRPr>
          </a:p>
          <a:p>
            <a:pPr indent="0" lvl="0" marL="0" rtl="0" algn="ctr">
              <a:spcBef>
                <a:spcPts val="1200"/>
              </a:spcBef>
              <a:spcAft>
                <a:spcPts val="1200"/>
              </a:spcAft>
              <a:buNone/>
            </a:pPr>
            <a:r>
              <a:rPr lang="it" sz="950">
                <a:solidFill>
                  <a:schemeClr val="dk1"/>
                </a:solidFill>
                <a:latin typeface="Lexend"/>
                <a:ea typeface="Lexend"/>
                <a:cs typeface="Lexend"/>
                <a:sym typeface="Lexend"/>
              </a:rPr>
              <a:t>Il PNIEC punta sull'obbligo di adeguamento energetico degli edifici e sul fotovoltaico come elemento chiave per ridurre i costi e rispettare le normative ambientali, con un ruolo centrale nel mix energetico nazionale.</a:t>
            </a:r>
            <a:endParaRPr sz="950">
              <a:solidFill>
                <a:schemeClr val="dk1"/>
              </a:solidFill>
              <a:latin typeface="Lexend"/>
              <a:ea typeface="Lexend"/>
              <a:cs typeface="Lexend"/>
              <a:sym typeface="Lexend"/>
            </a:endParaRPr>
          </a:p>
        </p:txBody>
      </p:sp>
      <p:sp>
        <p:nvSpPr>
          <p:cNvPr id="104" name="Google Shape;104;p15"/>
          <p:cNvSpPr/>
          <p:nvPr/>
        </p:nvSpPr>
        <p:spPr>
          <a:xfrm>
            <a:off x="639150" y="4586875"/>
            <a:ext cx="2584500" cy="2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5"/>
          <p:cNvSpPr/>
          <p:nvPr/>
        </p:nvSpPr>
        <p:spPr>
          <a:xfrm>
            <a:off x="3371750" y="4586875"/>
            <a:ext cx="2449800" cy="234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 name="Google Shape;106;p15"/>
          <p:cNvSpPr/>
          <p:nvPr/>
        </p:nvSpPr>
        <p:spPr>
          <a:xfrm>
            <a:off x="5969650" y="4586875"/>
            <a:ext cx="2535300" cy="23400"/>
          </a:xfrm>
          <a:prstGeom prst="rect">
            <a:avLst/>
          </a:prstGeom>
          <a:solidFill>
            <a:srgbClr val="86BD4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7" name="Google Shape;107;p15"/>
          <p:cNvPicPr preferRelativeResize="0"/>
          <p:nvPr/>
        </p:nvPicPr>
        <p:blipFill rotWithShape="1">
          <a:blip r:embed="rId7">
            <a:alphaModFix/>
          </a:blip>
          <a:srcRect b="0" l="0" r="0" t="0"/>
          <a:stretch/>
        </p:blipFill>
        <p:spPr>
          <a:xfrm>
            <a:off x="0" y="5"/>
            <a:ext cx="9144003" cy="598289"/>
          </a:xfrm>
          <a:prstGeom prst="rect">
            <a:avLst/>
          </a:prstGeom>
          <a:noFill/>
          <a:ln>
            <a:noFill/>
          </a:ln>
        </p:spPr>
      </p:pic>
      <p:sp>
        <p:nvSpPr>
          <p:cNvPr id="108" name="Google Shape;108;p1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09" name="Google Shape;109;p1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Incentivi, Norme e Obiettivi</a:t>
            </a:r>
            <a:r>
              <a:rPr lang="it" sz="700">
                <a:latin typeface="Lexend"/>
                <a:ea typeface="Lexend"/>
                <a:cs typeface="Lexend"/>
                <a:sym typeface="Lexend"/>
              </a:rPr>
              <a:t> | 02</a:t>
            </a:r>
            <a:endParaRPr sz="700">
              <a:latin typeface="Lexend"/>
              <a:ea typeface="Lexend"/>
              <a:cs typeface="Lexend"/>
              <a:sym typeface="Lexen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6"/>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Il mercato</a:t>
            </a:r>
            <a:r>
              <a:rPr lang="it" sz="2000">
                <a:latin typeface="Lexend"/>
                <a:ea typeface="Lexend"/>
                <a:cs typeface="Lexend"/>
                <a:sym typeface="Lexend"/>
              </a:rPr>
              <a:t> come sta rispondendo?</a:t>
            </a:r>
            <a:endParaRPr sz="2000">
              <a:latin typeface="Lexend"/>
              <a:ea typeface="Lexend"/>
              <a:cs typeface="Lexend"/>
              <a:sym typeface="Lexend"/>
            </a:endParaRPr>
          </a:p>
        </p:txBody>
      </p:sp>
      <p:sp>
        <p:nvSpPr>
          <p:cNvPr id="115" name="Google Shape;115;p1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6" name="Google Shape;116;p16"/>
          <p:cNvPicPr preferRelativeResize="0"/>
          <p:nvPr/>
        </p:nvPicPr>
        <p:blipFill>
          <a:blip r:embed="rId3">
            <a:alphaModFix/>
          </a:blip>
          <a:stretch>
            <a:fillRect/>
          </a:stretch>
        </p:blipFill>
        <p:spPr>
          <a:xfrm>
            <a:off x="791575" y="1198775"/>
            <a:ext cx="7596349" cy="3575625"/>
          </a:xfrm>
          <a:prstGeom prst="rect">
            <a:avLst/>
          </a:prstGeom>
          <a:noFill/>
          <a:ln>
            <a:noFill/>
          </a:ln>
        </p:spPr>
      </p:pic>
      <p:pic>
        <p:nvPicPr>
          <p:cNvPr id="117" name="Google Shape;117;p16"/>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18" name="Google Shape;118;p1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19" name="Google Shape;119;p1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03</a:t>
            </a:r>
            <a:endParaRPr sz="700">
              <a:latin typeface="Lexend"/>
              <a:ea typeface="Lexend"/>
              <a:cs typeface="Lexend"/>
              <a:sym typeface="Lexen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7"/>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2020">
                <a:latin typeface="Lexend"/>
                <a:ea typeface="Lexend"/>
                <a:cs typeface="Lexend"/>
                <a:sym typeface="Lexend"/>
              </a:rPr>
              <a:t>Il mercato</a:t>
            </a:r>
            <a:r>
              <a:rPr lang="it" sz="2020">
                <a:latin typeface="Lexend"/>
                <a:ea typeface="Lexend"/>
                <a:cs typeface="Lexend"/>
                <a:sym typeface="Lexend"/>
              </a:rPr>
              <a:t> come sta rispondendo?</a:t>
            </a:r>
            <a:endParaRPr sz="2020">
              <a:latin typeface="Lexend"/>
              <a:ea typeface="Lexend"/>
              <a:cs typeface="Lexend"/>
              <a:sym typeface="Lexend"/>
            </a:endParaRPr>
          </a:p>
          <a:p>
            <a:pPr indent="0" lvl="0" marL="0" rtl="0" algn="l">
              <a:lnSpc>
                <a:spcPct val="115000"/>
              </a:lnSpc>
              <a:spcBef>
                <a:spcPts val="0"/>
              </a:spcBef>
              <a:spcAft>
                <a:spcPts val="0"/>
              </a:spcAft>
              <a:buSzPts val="990"/>
              <a:buNone/>
            </a:pPr>
            <a:r>
              <a:t/>
            </a:r>
            <a:endParaRPr sz="1620">
              <a:latin typeface="Lexend"/>
              <a:ea typeface="Lexend"/>
              <a:cs typeface="Lexend"/>
              <a:sym typeface="Lexend"/>
            </a:endParaRPr>
          </a:p>
        </p:txBody>
      </p:sp>
      <p:sp>
        <p:nvSpPr>
          <p:cNvPr id="125" name="Google Shape;125;p1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26" name="Google Shape;126;p17"/>
          <p:cNvPicPr preferRelativeResize="0"/>
          <p:nvPr/>
        </p:nvPicPr>
        <p:blipFill rotWithShape="1">
          <a:blip r:embed="rId3">
            <a:alphaModFix/>
          </a:blip>
          <a:srcRect b="24704" l="1239" r="1229" t="0"/>
          <a:stretch/>
        </p:blipFill>
        <p:spPr>
          <a:xfrm>
            <a:off x="1807588" y="1283975"/>
            <a:ext cx="5359775" cy="3074150"/>
          </a:xfrm>
          <a:prstGeom prst="rect">
            <a:avLst/>
          </a:prstGeom>
          <a:noFill/>
          <a:ln>
            <a:noFill/>
          </a:ln>
        </p:spPr>
      </p:pic>
      <p:sp>
        <p:nvSpPr>
          <p:cNvPr id="127" name="Google Shape;127;p17"/>
          <p:cNvSpPr txBox="1"/>
          <p:nvPr>
            <p:ph type="title"/>
          </p:nvPr>
        </p:nvSpPr>
        <p:spPr>
          <a:xfrm rot="-3599321">
            <a:off x="14018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Lombardia</a:t>
            </a:r>
            <a:endParaRPr b="1" sz="700">
              <a:latin typeface="Lexend"/>
              <a:ea typeface="Lexend"/>
              <a:cs typeface="Lexend"/>
              <a:sym typeface="Lexend"/>
            </a:endParaRPr>
          </a:p>
        </p:txBody>
      </p:sp>
      <p:sp>
        <p:nvSpPr>
          <p:cNvPr id="128" name="Google Shape;128;p17"/>
          <p:cNvSpPr txBox="1"/>
          <p:nvPr>
            <p:ph type="title"/>
          </p:nvPr>
        </p:nvSpPr>
        <p:spPr>
          <a:xfrm rot="-3599321">
            <a:off x="16514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Veneto</a:t>
            </a:r>
            <a:endParaRPr b="1" sz="700">
              <a:latin typeface="Lexend"/>
              <a:ea typeface="Lexend"/>
              <a:cs typeface="Lexend"/>
              <a:sym typeface="Lexend"/>
            </a:endParaRPr>
          </a:p>
        </p:txBody>
      </p:sp>
      <p:sp>
        <p:nvSpPr>
          <p:cNvPr id="129" name="Google Shape;129;p17"/>
          <p:cNvSpPr txBox="1"/>
          <p:nvPr>
            <p:ph type="title"/>
          </p:nvPr>
        </p:nvSpPr>
        <p:spPr>
          <a:xfrm rot="-3599321">
            <a:off x="19045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E. Romagna</a:t>
            </a:r>
            <a:endParaRPr b="1" sz="700">
              <a:latin typeface="Lexend"/>
              <a:ea typeface="Lexend"/>
              <a:cs typeface="Lexend"/>
              <a:sym typeface="Lexend"/>
            </a:endParaRPr>
          </a:p>
        </p:txBody>
      </p:sp>
      <p:sp>
        <p:nvSpPr>
          <p:cNvPr id="130" name="Google Shape;130;p17"/>
          <p:cNvSpPr txBox="1"/>
          <p:nvPr>
            <p:ph type="title"/>
          </p:nvPr>
        </p:nvSpPr>
        <p:spPr>
          <a:xfrm rot="-3599321">
            <a:off x="21602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Piemonte</a:t>
            </a:r>
            <a:endParaRPr b="1" sz="700">
              <a:latin typeface="Lexend"/>
              <a:ea typeface="Lexend"/>
              <a:cs typeface="Lexend"/>
              <a:sym typeface="Lexend"/>
            </a:endParaRPr>
          </a:p>
        </p:txBody>
      </p:sp>
      <p:sp>
        <p:nvSpPr>
          <p:cNvPr id="131" name="Google Shape;131;p17"/>
          <p:cNvSpPr txBox="1"/>
          <p:nvPr>
            <p:ph type="title"/>
          </p:nvPr>
        </p:nvSpPr>
        <p:spPr>
          <a:xfrm rot="-3599321">
            <a:off x="24097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Lazio</a:t>
            </a:r>
            <a:endParaRPr b="1" sz="700">
              <a:latin typeface="Lexend"/>
              <a:ea typeface="Lexend"/>
              <a:cs typeface="Lexend"/>
              <a:sym typeface="Lexend"/>
            </a:endParaRPr>
          </a:p>
        </p:txBody>
      </p:sp>
      <p:sp>
        <p:nvSpPr>
          <p:cNvPr id="132" name="Google Shape;132;p17"/>
          <p:cNvSpPr txBox="1"/>
          <p:nvPr>
            <p:ph type="title"/>
          </p:nvPr>
        </p:nvSpPr>
        <p:spPr>
          <a:xfrm rot="-3599321">
            <a:off x="26532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Sicilia</a:t>
            </a:r>
            <a:endParaRPr b="1" sz="700">
              <a:latin typeface="Lexend"/>
              <a:ea typeface="Lexend"/>
              <a:cs typeface="Lexend"/>
              <a:sym typeface="Lexend"/>
            </a:endParaRPr>
          </a:p>
        </p:txBody>
      </p:sp>
      <p:sp>
        <p:nvSpPr>
          <p:cNvPr id="133" name="Google Shape;133;p17"/>
          <p:cNvSpPr txBox="1"/>
          <p:nvPr>
            <p:ph type="title"/>
          </p:nvPr>
        </p:nvSpPr>
        <p:spPr>
          <a:xfrm rot="-3599321">
            <a:off x="29185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Puglia</a:t>
            </a:r>
            <a:endParaRPr b="1" sz="700">
              <a:latin typeface="Lexend"/>
              <a:ea typeface="Lexend"/>
              <a:cs typeface="Lexend"/>
              <a:sym typeface="Lexend"/>
            </a:endParaRPr>
          </a:p>
        </p:txBody>
      </p:sp>
      <p:sp>
        <p:nvSpPr>
          <p:cNvPr id="134" name="Google Shape;134;p17"/>
          <p:cNvSpPr txBox="1"/>
          <p:nvPr>
            <p:ph type="title"/>
          </p:nvPr>
        </p:nvSpPr>
        <p:spPr>
          <a:xfrm rot="-3599321">
            <a:off x="31681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b="1" lang="it" sz="700">
                <a:latin typeface="Lexend"/>
                <a:ea typeface="Lexend"/>
                <a:cs typeface="Lexend"/>
                <a:sym typeface="Lexend"/>
              </a:rPr>
              <a:t>Toscana</a:t>
            </a:r>
            <a:endParaRPr b="1" sz="700">
              <a:latin typeface="Lexend"/>
              <a:ea typeface="Lexend"/>
              <a:cs typeface="Lexend"/>
              <a:sym typeface="Lexend"/>
            </a:endParaRPr>
          </a:p>
        </p:txBody>
      </p:sp>
      <p:sp>
        <p:nvSpPr>
          <p:cNvPr id="135" name="Google Shape;135;p17"/>
          <p:cNvSpPr txBox="1"/>
          <p:nvPr>
            <p:ph type="title"/>
          </p:nvPr>
        </p:nvSpPr>
        <p:spPr>
          <a:xfrm rot="-3599321">
            <a:off x="34176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Campania</a:t>
            </a:r>
            <a:endParaRPr sz="700">
              <a:latin typeface="Lexend"/>
              <a:ea typeface="Lexend"/>
              <a:cs typeface="Lexend"/>
              <a:sym typeface="Lexend"/>
            </a:endParaRPr>
          </a:p>
        </p:txBody>
      </p:sp>
      <p:sp>
        <p:nvSpPr>
          <p:cNvPr id="136" name="Google Shape;136;p17"/>
          <p:cNvSpPr txBox="1"/>
          <p:nvPr>
            <p:ph type="title"/>
          </p:nvPr>
        </p:nvSpPr>
        <p:spPr>
          <a:xfrm rot="-3599321">
            <a:off x="36769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Friuli V. G.</a:t>
            </a:r>
            <a:endParaRPr sz="700">
              <a:latin typeface="Lexend"/>
              <a:ea typeface="Lexend"/>
              <a:cs typeface="Lexend"/>
              <a:sym typeface="Lexend"/>
            </a:endParaRPr>
          </a:p>
        </p:txBody>
      </p:sp>
      <p:sp>
        <p:nvSpPr>
          <p:cNvPr id="137" name="Google Shape;137;p17"/>
          <p:cNvSpPr txBox="1"/>
          <p:nvPr>
            <p:ph type="title"/>
          </p:nvPr>
        </p:nvSpPr>
        <p:spPr>
          <a:xfrm rot="-3599321">
            <a:off x="39264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Sardegna</a:t>
            </a:r>
            <a:endParaRPr sz="700">
              <a:latin typeface="Lexend"/>
              <a:ea typeface="Lexend"/>
              <a:cs typeface="Lexend"/>
              <a:sym typeface="Lexend"/>
            </a:endParaRPr>
          </a:p>
        </p:txBody>
      </p:sp>
      <p:sp>
        <p:nvSpPr>
          <p:cNvPr id="138" name="Google Shape;138;p17"/>
          <p:cNvSpPr txBox="1"/>
          <p:nvPr>
            <p:ph type="title"/>
          </p:nvPr>
        </p:nvSpPr>
        <p:spPr>
          <a:xfrm rot="-3599321">
            <a:off x="41821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Marche</a:t>
            </a:r>
            <a:endParaRPr sz="700">
              <a:latin typeface="Lexend"/>
              <a:ea typeface="Lexend"/>
              <a:cs typeface="Lexend"/>
              <a:sym typeface="Lexend"/>
            </a:endParaRPr>
          </a:p>
        </p:txBody>
      </p:sp>
      <p:sp>
        <p:nvSpPr>
          <p:cNvPr id="139" name="Google Shape;139;p17"/>
          <p:cNvSpPr txBox="1"/>
          <p:nvPr>
            <p:ph type="title"/>
          </p:nvPr>
        </p:nvSpPr>
        <p:spPr>
          <a:xfrm rot="-3599321">
            <a:off x="443534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Calabria</a:t>
            </a:r>
            <a:endParaRPr sz="700">
              <a:latin typeface="Lexend"/>
              <a:ea typeface="Lexend"/>
              <a:cs typeface="Lexend"/>
              <a:sym typeface="Lexend"/>
            </a:endParaRPr>
          </a:p>
        </p:txBody>
      </p:sp>
      <p:sp>
        <p:nvSpPr>
          <p:cNvPr id="140" name="Google Shape;140;p17"/>
          <p:cNvSpPr txBox="1"/>
          <p:nvPr>
            <p:ph type="title"/>
          </p:nvPr>
        </p:nvSpPr>
        <p:spPr>
          <a:xfrm rot="-3599321">
            <a:off x="46848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Trentino A.A.</a:t>
            </a:r>
            <a:endParaRPr sz="700">
              <a:latin typeface="Lexend"/>
              <a:ea typeface="Lexend"/>
              <a:cs typeface="Lexend"/>
              <a:sym typeface="Lexend"/>
            </a:endParaRPr>
          </a:p>
        </p:txBody>
      </p:sp>
      <p:sp>
        <p:nvSpPr>
          <p:cNvPr id="141" name="Google Shape;141;p17"/>
          <p:cNvSpPr txBox="1"/>
          <p:nvPr>
            <p:ph type="title"/>
          </p:nvPr>
        </p:nvSpPr>
        <p:spPr>
          <a:xfrm rot="-3599321">
            <a:off x="49465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Abruzzo</a:t>
            </a:r>
            <a:endParaRPr sz="700">
              <a:latin typeface="Lexend"/>
              <a:ea typeface="Lexend"/>
              <a:cs typeface="Lexend"/>
              <a:sym typeface="Lexend"/>
            </a:endParaRPr>
          </a:p>
        </p:txBody>
      </p:sp>
      <p:sp>
        <p:nvSpPr>
          <p:cNvPr id="142" name="Google Shape;142;p17"/>
          <p:cNvSpPr txBox="1"/>
          <p:nvPr>
            <p:ph type="title"/>
          </p:nvPr>
        </p:nvSpPr>
        <p:spPr>
          <a:xfrm rot="-3599321">
            <a:off x="51937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Umbria</a:t>
            </a:r>
            <a:endParaRPr sz="700">
              <a:latin typeface="Lexend"/>
              <a:ea typeface="Lexend"/>
              <a:cs typeface="Lexend"/>
              <a:sym typeface="Lexend"/>
            </a:endParaRPr>
          </a:p>
        </p:txBody>
      </p:sp>
      <p:sp>
        <p:nvSpPr>
          <p:cNvPr id="143" name="Google Shape;143;p17"/>
          <p:cNvSpPr txBox="1"/>
          <p:nvPr>
            <p:ph type="title"/>
          </p:nvPr>
        </p:nvSpPr>
        <p:spPr>
          <a:xfrm rot="-3599321">
            <a:off x="54431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Liguria</a:t>
            </a:r>
            <a:endParaRPr sz="700">
              <a:latin typeface="Lexend"/>
              <a:ea typeface="Lexend"/>
              <a:cs typeface="Lexend"/>
              <a:sym typeface="Lexend"/>
            </a:endParaRPr>
          </a:p>
        </p:txBody>
      </p:sp>
      <p:sp>
        <p:nvSpPr>
          <p:cNvPr id="144" name="Google Shape;144;p17"/>
          <p:cNvSpPr txBox="1"/>
          <p:nvPr>
            <p:ph type="title"/>
          </p:nvPr>
        </p:nvSpPr>
        <p:spPr>
          <a:xfrm rot="-3599321">
            <a:off x="569266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Basilicata</a:t>
            </a:r>
            <a:endParaRPr sz="700">
              <a:latin typeface="Lexend"/>
              <a:ea typeface="Lexend"/>
              <a:cs typeface="Lexend"/>
              <a:sym typeface="Lexend"/>
            </a:endParaRPr>
          </a:p>
        </p:txBody>
      </p:sp>
      <p:sp>
        <p:nvSpPr>
          <p:cNvPr id="145" name="Google Shape;145;p17"/>
          <p:cNvSpPr txBox="1"/>
          <p:nvPr>
            <p:ph type="title"/>
          </p:nvPr>
        </p:nvSpPr>
        <p:spPr>
          <a:xfrm rot="-3599321">
            <a:off x="5952094"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Molise</a:t>
            </a:r>
            <a:endParaRPr sz="700">
              <a:latin typeface="Lexend"/>
              <a:ea typeface="Lexend"/>
              <a:cs typeface="Lexend"/>
              <a:sym typeface="Lexend"/>
            </a:endParaRPr>
          </a:p>
        </p:txBody>
      </p:sp>
      <p:sp>
        <p:nvSpPr>
          <p:cNvPr id="146" name="Google Shape;146;p17"/>
          <p:cNvSpPr txBox="1"/>
          <p:nvPr>
            <p:ph type="title"/>
          </p:nvPr>
        </p:nvSpPr>
        <p:spPr>
          <a:xfrm rot="-3599321">
            <a:off x="6201519" y="4649401"/>
            <a:ext cx="984263" cy="221777"/>
          </a:xfrm>
          <a:prstGeom prst="rect">
            <a:avLst/>
          </a:prstGeom>
        </p:spPr>
        <p:txBody>
          <a:bodyPr anchorCtr="0" anchor="ctr" bIns="91425" lIns="91425" spcFirstLastPara="1" rIns="91425" wrap="square" tIns="91425">
            <a:noAutofit/>
          </a:bodyPr>
          <a:lstStyle/>
          <a:p>
            <a:pPr indent="0" lvl="0" marL="0" rtl="0" algn="r">
              <a:lnSpc>
                <a:spcPct val="115000"/>
              </a:lnSpc>
              <a:spcBef>
                <a:spcPts val="0"/>
              </a:spcBef>
              <a:spcAft>
                <a:spcPts val="0"/>
              </a:spcAft>
              <a:buClr>
                <a:schemeClr val="dk1"/>
              </a:buClr>
              <a:buSzPts val="990"/>
              <a:buFont typeface="Arial"/>
              <a:buNone/>
            </a:pPr>
            <a:r>
              <a:rPr lang="it" sz="700">
                <a:latin typeface="Lexend"/>
                <a:ea typeface="Lexend"/>
                <a:cs typeface="Lexend"/>
                <a:sym typeface="Lexend"/>
              </a:rPr>
              <a:t>Valle D’Aosta</a:t>
            </a:r>
            <a:endParaRPr sz="700">
              <a:latin typeface="Lexend"/>
              <a:ea typeface="Lexend"/>
              <a:cs typeface="Lexend"/>
              <a:sym typeface="Lexend"/>
            </a:endParaRPr>
          </a:p>
        </p:txBody>
      </p:sp>
      <p:pic>
        <p:nvPicPr>
          <p:cNvPr id="147" name="Google Shape;147;p1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48" name="Google Shape;148;p1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49" name="Google Shape;149;p1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04</a:t>
            </a:r>
            <a:endParaRPr sz="700">
              <a:latin typeface="Lexend"/>
              <a:ea typeface="Lexend"/>
              <a:cs typeface="Lexend"/>
              <a:sym typeface="Lexen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8"/>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990"/>
              <a:buFont typeface="Arial"/>
              <a:buNone/>
            </a:pPr>
            <a:r>
              <a:rPr b="1" lang="it" sz="2020">
                <a:latin typeface="Lexend"/>
                <a:ea typeface="Lexend"/>
                <a:cs typeface="Lexend"/>
                <a:sym typeface="Lexend"/>
              </a:rPr>
              <a:t>Il mercato</a:t>
            </a:r>
            <a:r>
              <a:rPr lang="it" sz="2020">
                <a:latin typeface="Lexend"/>
                <a:ea typeface="Lexend"/>
                <a:cs typeface="Lexend"/>
                <a:sym typeface="Lexend"/>
              </a:rPr>
              <a:t> come sta rispondendo?</a:t>
            </a:r>
            <a:endParaRPr sz="2020">
              <a:latin typeface="Lexend"/>
              <a:ea typeface="Lexend"/>
              <a:cs typeface="Lexend"/>
              <a:sym typeface="Lexend"/>
            </a:endParaRPr>
          </a:p>
          <a:p>
            <a:pPr indent="0" lvl="0" marL="0" rtl="0" algn="l">
              <a:lnSpc>
                <a:spcPct val="115000"/>
              </a:lnSpc>
              <a:spcBef>
                <a:spcPts val="0"/>
              </a:spcBef>
              <a:spcAft>
                <a:spcPts val="0"/>
              </a:spcAft>
              <a:buSzPts val="990"/>
              <a:buNone/>
            </a:pPr>
            <a:r>
              <a:t/>
            </a:r>
            <a:endParaRPr sz="1620">
              <a:latin typeface="Lexend"/>
              <a:ea typeface="Lexend"/>
              <a:cs typeface="Lexend"/>
              <a:sym typeface="Lexend"/>
            </a:endParaRPr>
          </a:p>
        </p:txBody>
      </p:sp>
      <p:sp>
        <p:nvSpPr>
          <p:cNvPr id="155" name="Google Shape;155;p1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56" name="Google Shape;156;p18"/>
          <p:cNvPicPr preferRelativeResize="0"/>
          <p:nvPr/>
        </p:nvPicPr>
        <p:blipFill>
          <a:blip r:embed="rId3">
            <a:alphaModFix/>
          </a:blip>
          <a:stretch>
            <a:fillRect/>
          </a:stretch>
        </p:blipFill>
        <p:spPr>
          <a:xfrm>
            <a:off x="1908313" y="1297587"/>
            <a:ext cx="5158323" cy="3637014"/>
          </a:xfrm>
          <a:prstGeom prst="rect">
            <a:avLst/>
          </a:prstGeom>
          <a:noFill/>
          <a:ln>
            <a:noFill/>
          </a:ln>
        </p:spPr>
      </p:pic>
      <p:pic>
        <p:nvPicPr>
          <p:cNvPr id="157" name="Google Shape;157;p18"/>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58" name="Google Shape;158;p1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59" name="Google Shape;159;p1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05</a:t>
            </a:r>
            <a:endParaRPr sz="700">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227175"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E le </a:t>
            </a:r>
            <a:r>
              <a:rPr b="1" lang="it" sz="2000">
                <a:latin typeface="Lexend"/>
                <a:ea typeface="Lexend"/>
                <a:cs typeface="Lexend"/>
                <a:sym typeface="Lexend"/>
              </a:rPr>
              <a:t>proiezioni</a:t>
            </a:r>
            <a:r>
              <a:rPr lang="it" sz="2000">
                <a:latin typeface="Lexend"/>
                <a:ea typeface="Lexend"/>
                <a:cs typeface="Lexend"/>
                <a:sym typeface="Lexend"/>
              </a:rPr>
              <a:t> di mercato?</a:t>
            </a:r>
            <a:endParaRPr sz="2000">
              <a:latin typeface="Lexend"/>
              <a:ea typeface="Lexend"/>
              <a:cs typeface="Lexend"/>
              <a:sym typeface="Lexend"/>
            </a:endParaRPr>
          </a:p>
        </p:txBody>
      </p:sp>
      <p:sp>
        <p:nvSpPr>
          <p:cNvPr id="165" name="Google Shape;165;p1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66" name="Google Shape;166;p19"/>
          <p:cNvPicPr preferRelativeResize="0"/>
          <p:nvPr/>
        </p:nvPicPr>
        <p:blipFill>
          <a:blip r:embed="rId3">
            <a:alphaModFix/>
          </a:blip>
          <a:stretch>
            <a:fillRect/>
          </a:stretch>
        </p:blipFill>
        <p:spPr>
          <a:xfrm>
            <a:off x="1339500" y="1248875"/>
            <a:ext cx="6336701" cy="3465400"/>
          </a:xfrm>
          <a:prstGeom prst="rect">
            <a:avLst/>
          </a:prstGeom>
          <a:noFill/>
          <a:ln>
            <a:noFill/>
          </a:ln>
        </p:spPr>
      </p:pic>
      <p:pic>
        <p:nvPicPr>
          <p:cNvPr id="167" name="Google Shape;167;p19"/>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68" name="Google Shape;168;p1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69" name="Google Shape;169;p1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06</a:t>
            </a:r>
            <a:endParaRPr sz="700">
              <a:latin typeface="Lexend"/>
              <a:ea typeface="Lexend"/>
              <a:cs typeface="Lexend"/>
              <a:sym typeface="Lexen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0"/>
          <p:cNvSpPr txBox="1"/>
          <p:nvPr>
            <p:ph type="title"/>
          </p:nvPr>
        </p:nvSpPr>
        <p:spPr>
          <a:xfrm>
            <a:off x="311700" y="2111850"/>
            <a:ext cx="8520600" cy="919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3020">
                <a:latin typeface="Lexend"/>
                <a:ea typeface="Lexend"/>
                <a:cs typeface="Lexend"/>
                <a:sym typeface="Lexend"/>
              </a:rPr>
              <a:t>abbiamo quindi capito che </a:t>
            </a:r>
            <a:endParaRPr sz="3020">
              <a:latin typeface="Lexend"/>
              <a:ea typeface="Lexend"/>
              <a:cs typeface="Lexend"/>
              <a:sym typeface="Lexend"/>
            </a:endParaRPr>
          </a:p>
          <a:p>
            <a:pPr indent="0" lvl="0" marL="0" rtl="0" algn="ctr">
              <a:lnSpc>
                <a:spcPct val="115000"/>
              </a:lnSpc>
              <a:spcBef>
                <a:spcPts val="0"/>
              </a:spcBef>
              <a:spcAft>
                <a:spcPts val="0"/>
              </a:spcAft>
              <a:buSzPts val="990"/>
              <a:buNone/>
            </a:pPr>
            <a:r>
              <a:rPr lang="it" sz="3020">
                <a:latin typeface="Lexend"/>
                <a:ea typeface="Lexend"/>
                <a:cs typeface="Lexend"/>
                <a:sym typeface="Lexend"/>
              </a:rPr>
              <a:t>il </a:t>
            </a:r>
            <a:r>
              <a:rPr b="1" lang="it" sz="3020">
                <a:solidFill>
                  <a:srgbClr val="274E13"/>
                </a:solidFill>
                <a:highlight>
                  <a:srgbClr val="D9EAD3"/>
                </a:highlight>
                <a:latin typeface="Lexend"/>
                <a:ea typeface="Lexend"/>
                <a:cs typeface="Lexend"/>
                <a:sym typeface="Lexend"/>
              </a:rPr>
              <a:t>trend di mercato è a nostro favore.</a:t>
            </a:r>
            <a:endParaRPr b="1" sz="3020">
              <a:solidFill>
                <a:srgbClr val="274E13"/>
              </a:solidFill>
              <a:highlight>
                <a:srgbClr val="D9EAD3"/>
              </a:highlight>
              <a:latin typeface="Lexend"/>
              <a:ea typeface="Lexend"/>
              <a:cs typeface="Lexend"/>
              <a:sym typeface="Lexend"/>
            </a:endParaRPr>
          </a:p>
        </p:txBody>
      </p:sp>
      <p:sp>
        <p:nvSpPr>
          <p:cNvPr id="175" name="Google Shape;175;p2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76" name="Google Shape;176;p2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77" name="Google Shape;177;p2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78" name="Google Shape;178;p2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07</a:t>
            </a:r>
            <a:endParaRPr sz="700">
              <a:latin typeface="Lexend"/>
              <a:ea typeface="Lexend"/>
              <a:cs typeface="Lexend"/>
              <a:sym typeface="Lexen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type="title"/>
          </p:nvPr>
        </p:nvSpPr>
        <p:spPr>
          <a:xfrm>
            <a:off x="311700" y="1486650"/>
            <a:ext cx="8520600" cy="21702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it" sz="2578">
                <a:latin typeface="Lexend"/>
                <a:ea typeface="Lexend"/>
                <a:cs typeface="Lexend"/>
                <a:sym typeface="Lexend"/>
              </a:rPr>
              <a:t>e che le </a:t>
            </a:r>
            <a:r>
              <a:rPr b="1" lang="it" sz="2578">
                <a:latin typeface="Lexend"/>
                <a:ea typeface="Lexend"/>
                <a:cs typeface="Lexend"/>
                <a:sym typeface="Lexend"/>
              </a:rPr>
              <a:t>persone</a:t>
            </a:r>
            <a:r>
              <a:rPr lang="it" sz="2578">
                <a:latin typeface="Lexend"/>
                <a:ea typeface="Lexend"/>
                <a:cs typeface="Lexend"/>
                <a:sym typeface="Lexend"/>
              </a:rPr>
              <a:t> sono anche </a:t>
            </a:r>
            <a:endParaRPr sz="2578">
              <a:latin typeface="Lexend"/>
              <a:ea typeface="Lexend"/>
              <a:cs typeface="Lexend"/>
              <a:sym typeface="Lexend"/>
            </a:endParaRPr>
          </a:p>
          <a:p>
            <a:pPr indent="0" lvl="0" marL="0" rtl="0" algn="ctr">
              <a:lnSpc>
                <a:spcPct val="115000"/>
              </a:lnSpc>
              <a:spcBef>
                <a:spcPts val="0"/>
              </a:spcBef>
              <a:spcAft>
                <a:spcPts val="0"/>
              </a:spcAft>
              <a:buNone/>
            </a:pPr>
            <a:r>
              <a:rPr b="1" lang="it" sz="2578">
                <a:solidFill>
                  <a:srgbClr val="38761D"/>
                </a:solidFill>
                <a:highlight>
                  <a:srgbClr val="B6D7A8"/>
                </a:highlight>
                <a:latin typeface="Lexend"/>
                <a:ea typeface="Lexend"/>
                <a:cs typeface="Lexend"/>
                <a:sym typeface="Lexend"/>
              </a:rPr>
              <a:t>più coscienti</a:t>
            </a:r>
            <a:r>
              <a:rPr b="1" lang="it" sz="2578">
                <a:latin typeface="Lexend"/>
                <a:ea typeface="Lexend"/>
                <a:cs typeface="Lexend"/>
                <a:sym typeface="Lexend"/>
              </a:rPr>
              <a:t> di cos’è il fotovoltaico.</a:t>
            </a:r>
            <a:endParaRPr b="1" sz="2578">
              <a:latin typeface="Lexend"/>
              <a:ea typeface="Lexend"/>
              <a:cs typeface="Lexend"/>
              <a:sym typeface="Lexend"/>
            </a:endParaRPr>
          </a:p>
          <a:p>
            <a:pPr indent="0" lvl="0" marL="0" rtl="0" algn="ctr">
              <a:lnSpc>
                <a:spcPct val="115000"/>
              </a:lnSpc>
              <a:spcBef>
                <a:spcPts val="0"/>
              </a:spcBef>
              <a:spcAft>
                <a:spcPts val="0"/>
              </a:spcAft>
              <a:buNone/>
            </a:pPr>
            <a:r>
              <a:t/>
            </a:r>
            <a:endParaRPr sz="1800">
              <a:latin typeface="Lexend"/>
              <a:ea typeface="Lexend"/>
              <a:cs typeface="Lexend"/>
              <a:sym typeface="Lexend"/>
            </a:endParaRPr>
          </a:p>
          <a:p>
            <a:pPr indent="0" lvl="0" marL="0" rtl="0" algn="ctr">
              <a:lnSpc>
                <a:spcPct val="115000"/>
              </a:lnSpc>
              <a:spcBef>
                <a:spcPts val="0"/>
              </a:spcBef>
              <a:spcAft>
                <a:spcPts val="0"/>
              </a:spcAft>
              <a:buNone/>
            </a:pPr>
            <a:r>
              <a:rPr lang="it" sz="2022">
                <a:latin typeface="Lexend"/>
                <a:ea typeface="Lexend"/>
                <a:cs typeface="Lexend"/>
                <a:sym typeface="Lexend"/>
              </a:rPr>
              <a:t>… come Tecnologia</a:t>
            </a:r>
            <a:endParaRPr sz="2022">
              <a:latin typeface="Lexend"/>
              <a:ea typeface="Lexend"/>
              <a:cs typeface="Lexend"/>
              <a:sym typeface="Lexend"/>
            </a:endParaRPr>
          </a:p>
          <a:p>
            <a:pPr indent="0" lvl="0" marL="0" rtl="0" algn="ctr">
              <a:lnSpc>
                <a:spcPct val="115000"/>
              </a:lnSpc>
              <a:spcBef>
                <a:spcPts val="0"/>
              </a:spcBef>
              <a:spcAft>
                <a:spcPts val="0"/>
              </a:spcAft>
              <a:buNone/>
            </a:pPr>
            <a:r>
              <a:t/>
            </a:r>
            <a:endParaRPr sz="1800">
              <a:latin typeface="Lexend"/>
              <a:ea typeface="Lexend"/>
              <a:cs typeface="Lexend"/>
              <a:sym typeface="Lexend"/>
            </a:endParaRPr>
          </a:p>
          <a:p>
            <a:pPr indent="0" lvl="0" marL="0" rtl="0" algn="ctr">
              <a:lnSpc>
                <a:spcPct val="115000"/>
              </a:lnSpc>
              <a:spcBef>
                <a:spcPts val="0"/>
              </a:spcBef>
              <a:spcAft>
                <a:spcPts val="0"/>
              </a:spcAft>
              <a:buNone/>
            </a:pPr>
            <a:r>
              <a:rPr lang="it" sz="2000">
                <a:latin typeface="Lexend"/>
                <a:ea typeface="Lexend"/>
                <a:cs typeface="Lexend"/>
                <a:sym typeface="Lexend"/>
              </a:rPr>
              <a:t>… e benefici (diretti e indiretti).</a:t>
            </a:r>
            <a:endParaRPr sz="2000">
              <a:latin typeface="Lexend"/>
              <a:ea typeface="Lexend"/>
              <a:cs typeface="Lexend"/>
              <a:sym typeface="Lexend"/>
            </a:endParaRPr>
          </a:p>
        </p:txBody>
      </p:sp>
      <p:sp>
        <p:nvSpPr>
          <p:cNvPr id="184" name="Google Shape;184;p2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85" name="Google Shape;185;p2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86" name="Google Shape;186;p2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87" name="Google Shape;187;p2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a:t>
            </a:r>
            <a:r>
              <a:rPr lang="it" sz="700">
                <a:latin typeface="Lexend"/>
                <a:ea typeface="Lexend"/>
                <a:cs typeface="Lexend"/>
                <a:sym typeface="Lexend"/>
              </a:rPr>
              <a:t> | 08</a:t>
            </a:r>
            <a:endParaRPr sz="700">
              <a:latin typeface="Lexend"/>
              <a:ea typeface="Lexend"/>
              <a:cs typeface="Lexend"/>
              <a:sym typeface="Lexen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2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3" name="Google Shape;193;p22"/>
          <p:cNvSpPr txBox="1"/>
          <p:nvPr>
            <p:ph type="title"/>
          </p:nvPr>
        </p:nvSpPr>
        <p:spPr>
          <a:xfrm>
            <a:off x="311700" y="2090550"/>
            <a:ext cx="8520600" cy="962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620">
                <a:latin typeface="Lexend"/>
                <a:ea typeface="Lexend"/>
                <a:cs typeface="Lexend"/>
                <a:sym typeface="Lexend"/>
              </a:rPr>
              <a:t>è SOLO una questione di quanto noi </a:t>
            </a:r>
            <a:endParaRPr sz="2620">
              <a:latin typeface="Lexend"/>
              <a:ea typeface="Lexend"/>
              <a:cs typeface="Lexend"/>
              <a:sym typeface="Lexend"/>
            </a:endParaRPr>
          </a:p>
          <a:p>
            <a:pPr indent="0" lvl="0" marL="0" rtl="0" algn="ctr">
              <a:lnSpc>
                <a:spcPct val="115000"/>
              </a:lnSpc>
              <a:spcBef>
                <a:spcPts val="0"/>
              </a:spcBef>
              <a:spcAft>
                <a:spcPts val="0"/>
              </a:spcAft>
              <a:buSzPts val="990"/>
              <a:buNone/>
            </a:pPr>
            <a:r>
              <a:rPr b="1" lang="it" sz="2620">
                <a:latin typeface="Lexend"/>
                <a:ea typeface="Lexend"/>
                <a:cs typeface="Lexend"/>
                <a:sym typeface="Lexend"/>
              </a:rPr>
              <a:t>vogliamo sfruttare tutto ciò!</a:t>
            </a:r>
            <a:endParaRPr b="1" sz="2620">
              <a:latin typeface="Lexend"/>
              <a:ea typeface="Lexend"/>
              <a:cs typeface="Lexend"/>
              <a:sym typeface="Lexend"/>
            </a:endParaRPr>
          </a:p>
        </p:txBody>
      </p:sp>
      <p:pic>
        <p:nvPicPr>
          <p:cNvPr id="194" name="Google Shape;194;p2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95" name="Google Shape;195;p2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96" name="Google Shape;196;p2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Il Mercato </a:t>
            </a:r>
            <a:r>
              <a:rPr lang="it" sz="700">
                <a:latin typeface="Lexend"/>
                <a:ea typeface="Lexend"/>
                <a:cs typeface="Lexend"/>
                <a:sym typeface="Lexend"/>
              </a:rPr>
              <a:t>| 09</a:t>
            </a:r>
            <a:endParaRPr sz="700">
              <a:latin typeface="Lexend"/>
              <a:ea typeface="Lexend"/>
              <a:cs typeface="Lexend"/>
              <a:sym typeface="Lexen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pic>
        <p:nvPicPr>
          <p:cNvPr id="201" name="Google Shape;201;p23"/>
          <p:cNvPicPr preferRelativeResize="0"/>
          <p:nvPr/>
        </p:nvPicPr>
        <p:blipFill>
          <a:blip r:embed="rId3">
            <a:alphaModFix/>
          </a:blip>
          <a:stretch>
            <a:fillRect/>
          </a:stretch>
        </p:blipFill>
        <p:spPr>
          <a:xfrm>
            <a:off x="1131100" y="2426200"/>
            <a:ext cx="1061075" cy="1061075"/>
          </a:xfrm>
          <a:prstGeom prst="rect">
            <a:avLst/>
          </a:prstGeom>
          <a:noFill/>
          <a:ln>
            <a:noFill/>
          </a:ln>
        </p:spPr>
      </p:pic>
      <p:sp>
        <p:nvSpPr>
          <p:cNvPr id="202" name="Google Shape;202;p2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3" name="Google Shape;203;p23"/>
          <p:cNvSpPr txBox="1"/>
          <p:nvPr>
            <p:ph type="title"/>
          </p:nvPr>
        </p:nvSpPr>
        <p:spPr>
          <a:xfrm>
            <a:off x="2478825" y="1967638"/>
            <a:ext cx="5534100" cy="1978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000">
                <a:latin typeface="Lexend"/>
                <a:ea typeface="Lexend"/>
                <a:cs typeface="Lexend"/>
                <a:sym typeface="Lexend"/>
              </a:rPr>
              <a:t>Riduzione delle Bollette Energetiche</a:t>
            </a:r>
            <a:endParaRPr b="1" sz="2000">
              <a:latin typeface="Lexend"/>
              <a:ea typeface="Lexend"/>
              <a:cs typeface="Lexend"/>
              <a:sym typeface="Lexend"/>
            </a:endParaRPr>
          </a:p>
          <a:p>
            <a:pPr indent="0" lvl="0" marL="0" rtl="0" algn="l">
              <a:lnSpc>
                <a:spcPct val="115000"/>
              </a:lnSpc>
              <a:spcBef>
                <a:spcPts val="0"/>
              </a:spcBef>
              <a:spcAft>
                <a:spcPts val="0"/>
              </a:spcAft>
              <a:buNone/>
            </a:pPr>
            <a:r>
              <a:rPr lang="it" sz="1600">
                <a:latin typeface="Lexend"/>
                <a:ea typeface="Lexend"/>
                <a:cs typeface="Lexend"/>
                <a:sym typeface="Lexend"/>
              </a:rPr>
              <a:t>Nel 2024, </a:t>
            </a:r>
            <a:r>
              <a:rPr b="1" lang="it" sz="1600">
                <a:solidFill>
                  <a:srgbClr val="38761D"/>
                </a:solidFill>
                <a:highlight>
                  <a:srgbClr val="B6D7A8"/>
                </a:highlight>
                <a:latin typeface="Lexend"/>
                <a:ea typeface="Lexend"/>
                <a:cs typeface="Lexend"/>
                <a:sym typeface="Lexend"/>
              </a:rPr>
              <a:t>un impianto fotovoltaico può coprire fino all'80% del fabbisogno energetico di una famiglia</a:t>
            </a:r>
            <a:r>
              <a:rPr lang="it" sz="1600">
                <a:latin typeface="Lexend"/>
                <a:ea typeface="Lexend"/>
                <a:cs typeface="Lexend"/>
                <a:sym typeface="Lexend"/>
              </a:rPr>
              <a:t>, riducendo la bolletta e la dipendenza dalle utility, offrendo energia gratuita e protezione dalle variazioni di prezzo.</a:t>
            </a:r>
            <a:endParaRPr sz="1600">
              <a:latin typeface="Lexend"/>
              <a:ea typeface="Lexend"/>
              <a:cs typeface="Lexend"/>
              <a:sym typeface="Lexend"/>
            </a:endParaRPr>
          </a:p>
        </p:txBody>
      </p:sp>
      <p:pic>
        <p:nvPicPr>
          <p:cNvPr id="204" name="Google Shape;204;p23"/>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205" name="Google Shape;205;p2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06" name="Google Shape;206;p2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10</a:t>
            </a:r>
            <a:endParaRPr sz="700">
              <a:latin typeface="Lexend"/>
              <a:ea typeface="Lexend"/>
              <a:cs typeface="Lexend"/>
              <a:sym typeface="Lexend"/>
            </a:endParaRPr>
          </a:p>
        </p:txBody>
      </p:sp>
      <p:sp>
        <p:nvSpPr>
          <p:cNvPr id="207" name="Google Shape;207;p23"/>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 nel dettaglio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3" name="Google Shape;213;p24"/>
          <p:cNvSpPr txBox="1"/>
          <p:nvPr>
            <p:ph type="title"/>
          </p:nvPr>
        </p:nvSpPr>
        <p:spPr>
          <a:xfrm>
            <a:off x="2478813" y="1908875"/>
            <a:ext cx="5534100" cy="1339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000">
                <a:latin typeface="Lexend"/>
                <a:ea typeface="Lexend"/>
                <a:cs typeface="Lexend"/>
                <a:sym typeface="Lexend"/>
              </a:rPr>
              <a:t>Ritorno sull’Investimento Migliorato</a:t>
            </a:r>
            <a:endParaRPr b="1" sz="2000">
              <a:latin typeface="Lexend"/>
              <a:ea typeface="Lexend"/>
              <a:cs typeface="Lexend"/>
              <a:sym typeface="Lexend"/>
            </a:endParaRPr>
          </a:p>
          <a:p>
            <a:pPr indent="0" lvl="0" marL="0" rtl="0" algn="l">
              <a:lnSpc>
                <a:spcPct val="115000"/>
              </a:lnSpc>
              <a:spcBef>
                <a:spcPts val="0"/>
              </a:spcBef>
              <a:spcAft>
                <a:spcPts val="0"/>
              </a:spcAft>
              <a:buNone/>
            </a:pPr>
            <a:r>
              <a:rPr lang="it" sz="1600">
                <a:latin typeface="Lexend"/>
                <a:ea typeface="Lexend"/>
                <a:cs typeface="Lexend"/>
                <a:sym typeface="Lexend"/>
              </a:rPr>
              <a:t>Un impianto ben dimensionato può coprire fino al 70-80% del fabbisogno energetico di una famiglia media, con un risparmio notevole sul lungo termine.</a:t>
            </a:r>
            <a:endParaRPr sz="1600">
              <a:latin typeface="Lexend"/>
              <a:ea typeface="Lexend"/>
              <a:cs typeface="Lexend"/>
              <a:sym typeface="Lexend"/>
            </a:endParaRPr>
          </a:p>
        </p:txBody>
      </p:sp>
      <p:pic>
        <p:nvPicPr>
          <p:cNvPr id="214" name="Google Shape;214;p2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15" name="Google Shape;215;p2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16" name="Google Shape;216;p2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11</a:t>
            </a:r>
            <a:endParaRPr sz="700">
              <a:latin typeface="Lexend"/>
              <a:ea typeface="Lexend"/>
              <a:cs typeface="Lexend"/>
              <a:sym typeface="Lexend"/>
            </a:endParaRPr>
          </a:p>
        </p:txBody>
      </p:sp>
      <p:pic>
        <p:nvPicPr>
          <p:cNvPr id="217" name="Google Shape;217;p24"/>
          <p:cNvPicPr preferRelativeResize="0"/>
          <p:nvPr/>
        </p:nvPicPr>
        <p:blipFill>
          <a:blip r:embed="rId4">
            <a:alphaModFix/>
          </a:blip>
          <a:stretch>
            <a:fillRect/>
          </a:stretch>
        </p:blipFill>
        <p:spPr>
          <a:xfrm>
            <a:off x="1131088" y="2426284"/>
            <a:ext cx="1061075" cy="1061000"/>
          </a:xfrm>
          <a:prstGeom prst="rect">
            <a:avLst/>
          </a:prstGeom>
          <a:noFill/>
          <a:ln>
            <a:noFill/>
          </a:ln>
        </p:spPr>
      </p:pic>
      <p:sp>
        <p:nvSpPr>
          <p:cNvPr id="218" name="Google Shape;218;p24"/>
          <p:cNvSpPr txBox="1"/>
          <p:nvPr>
            <p:ph type="title"/>
          </p:nvPr>
        </p:nvSpPr>
        <p:spPr>
          <a:xfrm>
            <a:off x="2478813" y="3273550"/>
            <a:ext cx="5534100" cy="7659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1600">
                <a:solidFill>
                  <a:srgbClr val="38761D"/>
                </a:solidFill>
                <a:highlight>
                  <a:srgbClr val="B6D7A8"/>
                </a:highlight>
                <a:latin typeface="Lexend"/>
                <a:ea typeface="Lexend"/>
                <a:cs typeface="Lexend"/>
                <a:sym typeface="Lexend"/>
              </a:rPr>
              <a:t>Oggi, un impianto si ripaga al massimo in 4 anni, </a:t>
            </a:r>
            <a:endParaRPr b="1" sz="1600">
              <a:solidFill>
                <a:srgbClr val="38761D"/>
              </a:solidFill>
              <a:highlight>
                <a:srgbClr val="B6D7A8"/>
              </a:highlight>
              <a:latin typeface="Lexend"/>
              <a:ea typeface="Lexend"/>
              <a:cs typeface="Lexend"/>
              <a:sym typeface="Lexend"/>
            </a:endParaRPr>
          </a:p>
          <a:p>
            <a:pPr indent="0" lvl="0" marL="0" rtl="0" algn="l">
              <a:lnSpc>
                <a:spcPct val="115000"/>
              </a:lnSpc>
              <a:spcBef>
                <a:spcPts val="0"/>
              </a:spcBef>
              <a:spcAft>
                <a:spcPts val="0"/>
              </a:spcAft>
              <a:buNone/>
            </a:pPr>
            <a:r>
              <a:rPr b="1" lang="it" sz="1600">
                <a:solidFill>
                  <a:srgbClr val="38761D"/>
                </a:solidFill>
                <a:highlight>
                  <a:srgbClr val="B6D7A8"/>
                </a:highlight>
                <a:latin typeface="Lexend"/>
                <a:ea typeface="Lexend"/>
                <a:cs typeface="Lexend"/>
                <a:sym typeface="Lexend"/>
              </a:rPr>
              <a:t>in funzione dei consumi del cliente.</a:t>
            </a:r>
            <a:endParaRPr b="1" sz="1600">
              <a:solidFill>
                <a:srgbClr val="38761D"/>
              </a:solidFill>
              <a:highlight>
                <a:srgbClr val="B6D7A8"/>
              </a:highlight>
              <a:latin typeface="Lexend"/>
              <a:ea typeface="Lexend"/>
              <a:cs typeface="Lexend"/>
              <a:sym typeface="Lexend"/>
            </a:endParaRPr>
          </a:p>
        </p:txBody>
      </p:sp>
      <p:sp>
        <p:nvSpPr>
          <p:cNvPr id="219" name="Google Shape;219;p24"/>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 nel dettaglio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2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5" name="Google Shape;225;p25"/>
          <p:cNvSpPr txBox="1"/>
          <p:nvPr>
            <p:ph type="title"/>
          </p:nvPr>
        </p:nvSpPr>
        <p:spPr>
          <a:xfrm>
            <a:off x="2478813" y="2287175"/>
            <a:ext cx="5534100" cy="1339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b="1" lang="it" sz="2000">
                <a:latin typeface="Lexend"/>
                <a:ea typeface="Lexend"/>
                <a:cs typeface="Lexend"/>
                <a:sym typeface="Lexend"/>
              </a:rPr>
              <a:t>Incentivi Fiscali e Agevolazioni</a:t>
            </a:r>
            <a:endParaRPr b="1" sz="2000">
              <a:latin typeface="Lexend"/>
              <a:ea typeface="Lexend"/>
              <a:cs typeface="Lexend"/>
              <a:sym typeface="Lexend"/>
            </a:endParaRPr>
          </a:p>
          <a:p>
            <a:pPr indent="0" lvl="0" marL="0" rtl="0" algn="l">
              <a:lnSpc>
                <a:spcPct val="115000"/>
              </a:lnSpc>
              <a:spcBef>
                <a:spcPts val="0"/>
              </a:spcBef>
              <a:spcAft>
                <a:spcPts val="0"/>
              </a:spcAft>
              <a:buNone/>
            </a:pPr>
            <a:r>
              <a:rPr lang="it" sz="1600">
                <a:latin typeface="Lexend"/>
                <a:ea typeface="Lexend"/>
                <a:cs typeface="Lexend"/>
                <a:sym typeface="Lexend"/>
              </a:rPr>
              <a:t>Nel 2024, continuano ad essere in vigore in Italia forti incentivi fiscali per chi installa impianti fotovoltaici: </a:t>
            </a:r>
            <a:r>
              <a:rPr b="1" lang="it" sz="1600">
                <a:solidFill>
                  <a:srgbClr val="38761D"/>
                </a:solidFill>
                <a:highlight>
                  <a:srgbClr val="B6D7A8"/>
                </a:highlight>
                <a:latin typeface="Lexend"/>
                <a:ea typeface="Lexend"/>
                <a:cs typeface="Lexend"/>
                <a:sym typeface="Lexend"/>
              </a:rPr>
              <a:t>Detrazione 50% in 10 anni e Scambio sul posto.</a:t>
            </a:r>
            <a:endParaRPr b="1" sz="1600">
              <a:solidFill>
                <a:srgbClr val="38761D"/>
              </a:solidFill>
              <a:highlight>
                <a:srgbClr val="B6D7A8"/>
              </a:highlight>
              <a:latin typeface="Lexend"/>
              <a:ea typeface="Lexend"/>
              <a:cs typeface="Lexend"/>
              <a:sym typeface="Lexend"/>
            </a:endParaRPr>
          </a:p>
        </p:txBody>
      </p:sp>
      <p:pic>
        <p:nvPicPr>
          <p:cNvPr id="226" name="Google Shape;226;p2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27" name="Google Shape;227;p2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28" name="Google Shape;228;p2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12</a:t>
            </a:r>
            <a:endParaRPr sz="700">
              <a:latin typeface="Lexend"/>
              <a:ea typeface="Lexend"/>
              <a:cs typeface="Lexend"/>
              <a:sym typeface="Lexend"/>
            </a:endParaRPr>
          </a:p>
        </p:txBody>
      </p:sp>
      <p:sp>
        <p:nvSpPr>
          <p:cNvPr id="229" name="Google Shape;229;p25"/>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 nel dettaglio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pic>
        <p:nvPicPr>
          <p:cNvPr id="230" name="Google Shape;230;p25"/>
          <p:cNvPicPr preferRelativeResize="0"/>
          <p:nvPr/>
        </p:nvPicPr>
        <p:blipFill>
          <a:blip r:embed="rId4">
            <a:alphaModFix/>
          </a:blip>
          <a:stretch>
            <a:fillRect/>
          </a:stretch>
        </p:blipFill>
        <p:spPr>
          <a:xfrm>
            <a:off x="1208225" y="2503374"/>
            <a:ext cx="906801" cy="9068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2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6" name="Google Shape;236;p26"/>
          <p:cNvSpPr txBox="1"/>
          <p:nvPr>
            <p:ph type="title"/>
          </p:nvPr>
        </p:nvSpPr>
        <p:spPr>
          <a:xfrm>
            <a:off x="2478825" y="2199425"/>
            <a:ext cx="5534100" cy="1514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it" sz="2222">
                <a:latin typeface="Lexend"/>
                <a:ea typeface="Lexend"/>
                <a:cs typeface="Lexend"/>
                <a:sym typeface="Lexend"/>
              </a:rPr>
              <a:t>Valorizzazione dell Immobile</a:t>
            </a:r>
            <a:endParaRPr b="1" sz="2222">
              <a:latin typeface="Lexend"/>
              <a:ea typeface="Lexend"/>
              <a:cs typeface="Lexend"/>
              <a:sym typeface="Lexend"/>
            </a:endParaRPr>
          </a:p>
          <a:p>
            <a:pPr indent="0" lvl="0" marL="0" rtl="0" algn="l">
              <a:lnSpc>
                <a:spcPct val="115000"/>
              </a:lnSpc>
              <a:spcBef>
                <a:spcPts val="0"/>
              </a:spcBef>
              <a:spcAft>
                <a:spcPts val="0"/>
              </a:spcAft>
              <a:buNone/>
            </a:pPr>
            <a:r>
              <a:rPr lang="it" sz="1778">
                <a:latin typeface="Lexend"/>
                <a:ea typeface="Lexend"/>
                <a:cs typeface="Lexend"/>
                <a:sym typeface="Lexend"/>
              </a:rPr>
              <a:t>Le case dotate di impianti sono </a:t>
            </a:r>
            <a:r>
              <a:rPr b="1" lang="it" sz="1778">
                <a:solidFill>
                  <a:srgbClr val="38761D"/>
                </a:solidFill>
                <a:highlight>
                  <a:srgbClr val="B6D7A8"/>
                </a:highlight>
                <a:latin typeface="Lexend"/>
                <a:ea typeface="Lexend"/>
                <a:cs typeface="Lexend"/>
                <a:sym typeface="Lexend"/>
              </a:rPr>
              <a:t>più attraenti sul mercato</a:t>
            </a:r>
            <a:r>
              <a:rPr lang="it" sz="1778">
                <a:latin typeface="Lexend"/>
                <a:ea typeface="Lexend"/>
                <a:cs typeface="Lexend"/>
                <a:sym typeface="Lexend"/>
              </a:rPr>
              <a:t> immobiliare perché offrono un </a:t>
            </a:r>
            <a:r>
              <a:rPr b="1" lang="it" sz="1778">
                <a:solidFill>
                  <a:srgbClr val="38761D"/>
                </a:solidFill>
                <a:highlight>
                  <a:srgbClr val="B6D7A8"/>
                </a:highlight>
                <a:latin typeface="Lexend"/>
                <a:ea typeface="Lexend"/>
                <a:cs typeface="Lexend"/>
                <a:sym typeface="Lexend"/>
              </a:rPr>
              <a:t>risparmio energetico immediato</a:t>
            </a:r>
            <a:r>
              <a:rPr lang="it" sz="1778">
                <a:latin typeface="Lexend"/>
                <a:ea typeface="Lexend"/>
                <a:cs typeface="Lexend"/>
                <a:sym typeface="Lexend"/>
              </a:rPr>
              <a:t> ai futuri acquirenti e una </a:t>
            </a:r>
            <a:r>
              <a:rPr b="1" lang="it" sz="1778">
                <a:solidFill>
                  <a:srgbClr val="38761D"/>
                </a:solidFill>
                <a:highlight>
                  <a:srgbClr val="B6D7A8"/>
                </a:highlight>
                <a:latin typeface="Lexend"/>
                <a:ea typeface="Lexend"/>
                <a:cs typeface="Lexend"/>
                <a:sym typeface="Lexend"/>
              </a:rPr>
              <a:t>migliore certificazione energetica.</a:t>
            </a:r>
            <a:endParaRPr b="1" sz="1778">
              <a:solidFill>
                <a:srgbClr val="38761D"/>
              </a:solidFill>
              <a:highlight>
                <a:srgbClr val="B6D7A8"/>
              </a:highlight>
              <a:latin typeface="Lexend"/>
              <a:ea typeface="Lexend"/>
              <a:cs typeface="Lexend"/>
              <a:sym typeface="Lexend"/>
            </a:endParaRPr>
          </a:p>
        </p:txBody>
      </p:sp>
      <p:pic>
        <p:nvPicPr>
          <p:cNvPr id="237" name="Google Shape;237;p2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38" name="Google Shape;238;p2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39" name="Google Shape;239;p2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13</a:t>
            </a:r>
            <a:endParaRPr sz="700">
              <a:latin typeface="Lexend"/>
              <a:ea typeface="Lexend"/>
              <a:cs typeface="Lexend"/>
              <a:sym typeface="Lexend"/>
            </a:endParaRPr>
          </a:p>
        </p:txBody>
      </p:sp>
      <p:sp>
        <p:nvSpPr>
          <p:cNvPr id="240" name="Google Shape;240;p26"/>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 nel dettaglio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pic>
        <p:nvPicPr>
          <p:cNvPr id="241" name="Google Shape;241;p26"/>
          <p:cNvPicPr preferRelativeResize="0"/>
          <p:nvPr/>
        </p:nvPicPr>
        <p:blipFill>
          <a:blip r:embed="rId4">
            <a:alphaModFix/>
          </a:blip>
          <a:stretch>
            <a:fillRect/>
          </a:stretch>
        </p:blipFill>
        <p:spPr>
          <a:xfrm>
            <a:off x="1205162" y="2500300"/>
            <a:ext cx="912950" cy="912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2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27"/>
          <p:cNvSpPr txBox="1"/>
          <p:nvPr>
            <p:ph type="title"/>
          </p:nvPr>
        </p:nvSpPr>
        <p:spPr>
          <a:xfrm>
            <a:off x="2478825" y="2332025"/>
            <a:ext cx="5534100" cy="12495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it" sz="2222">
                <a:latin typeface="Lexend"/>
                <a:ea typeface="Lexend"/>
                <a:cs typeface="Lexend"/>
                <a:sym typeface="Lexend"/>
              </a:rPr>
              <a:t>Indipendenza Energetica</a:t>
            </a:r>
            <a:endParaRPr b="1" sz="2222">
              <a:latin typeface="Lexend"/>
              <a:ea typeface="Lexend"/>
              <a:cs typeface="Lexend"/>
              <a:sym typeface="Lexend"/>
            </a:endParaRPr>
          </a:p>
          <a:p>
            <a:pPr indent="0" lvl="0" marL="0" rtl="0" algn="l">
              <a:lnSpc>
                <a:spcPct val="115000"/>
              </a:lnSpc>
              <a:spcBef>
                <a:spcPts val="0"/>
              </a:spcBef>
              <a:spcAft>
                <a:spcPts val="0"/>
              </a:spcAft>
              <a:buNone/>
            </a:pPr>
            <a:r>
              <a:rPr lang="it" sz="1600">
                <a:latin typeface="Lexend"/>
                <a:ea typeface="Lexend"/>
                <a:cs typeface="Lexend"/>
                <a:sym typeface="Lexend"/>
              </a:rPr>
              <a:t>Il fotovoltaico </a:t>
            </a:r>
            <a:r>
              <a:rPr b="1" lang="it" sz="1600">
                <a:solidFill>
                  <a:srgbClr val="38761D"/>
                </a:solidFill>
                <a:highlight>
                  <a:srgbClr val="B6D7A8"/>
                </a:highlight>
                <a:latin typeface="Lexend"/>
                <a:ea typeface="Lexend"/>
                <a:cs typeface="Lexend"/>
                <a:sym typeface="Lexend"/>
              </a:rPr>
              <a:t>riduce la dipendenza dalla rete elettrica e alla variazioni dei prezzi</a:t>
            </a:r>
            <a:r>
              <a:rPr lang="it" sz="1600">
                <a:latin typeface="Lexend"/>
                <a:ea typeface="Lexend"/>
                <a:cs typeface="Lexend"/>
                <a:sym typeface="Lexend"/>
              </a:rPr>
              <a:t>, mentre le batterie di accumulo garantiscono energia di notte.</a:t>
            </a:r>
            <a:endParaRPr b="1" sz="1600">
              <a:solidFill>
                <a:srgbClr val="38761D"/>
              </a:solidFill>
              <a:highlight>
                <a:srgbClr val="B6D7A8"/>
              </a:highlight>
              <a:latin typeface="Lexend"/>
              <a:ea typeface="Lexend"/>
              <a:cs typeface="Lexend"/>
              <a:sym typeface="Lexend"/>
            </a:endParaRPr>
          </a:p>
        </p:txBody>
      </p:sp>
      <p:pic>
        <p:nvPicPr>
          <p:cNvPr id="248" name="Google Shape;248;p2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49" name="Google Shape;249;p2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50" name="Google Shape;250;p2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14</a:t>
            </a:r>
            <a:endParaRPr sz="700">
              <a:latin typeface="Lexend"/>
              <a:ea typeface="Lexend"/>
              <a:cs typeface="Lexend"/>
              <a:sym typeface="Lexend"/>
            </a:endParaRPr>
          </a:p>
        </p:txBody>
      </p:sp>
      <p:sp>
        <p:nvSpPr>
          <p:cNvPr id="251" name="Google Shape;251;p27"/>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 nel dettaglio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pic>
        <p:nvPicPr>
          <p:cNvPr id="252" name="Google Shape;252;p27"/>
          <p:cNvPicPr preferRelativeResize="0"/>
          <p:nvPr/>
        </p:nvPicPr>
        <p:blipFill>
          <a:blip r:embed="rId4">
            <a:alphaModFix/>
          </a:blip>
          <a:stretch>
            <a:fillRect/>
          </a:stretch>
        </p:blipFill>
        <p:spPr>
          <a:xfrm>
            <a:off x="1205150" y="2500297"/>
            <a:ext cx="912950" cy="912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2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58" name="Google Shape;258;p28"/>
          <p:cNvSpPr txBox="1"/>
          <p:nvPr>
            <p:ph type="title"/>
          </p:nvPr>
        </p:nvSpPr>
        <p:spPr>
          <a:xfrm>
            <a:off x="2478825" y="2332025"/>
            <a:ext cx="5756100" cy="14274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b="1" lang="it" sz="2222">
                <a:latin typeface="Lexend"/>
                <a:ea typeface="Lexend"/>
                <a:cs typeface="Lexend"/>
                <a:sym typeface="Lexend"/>
              </a:rPr>
              <a:t>Tec. sempre più Avanzate ed Economiche</a:t>
            </a:r>
            <a:endParaRPr b="1" sz="2222">
              <a:latin typeface="Lexend"/>
              <a:ea typeface="Lexend"/>
              <a:cs typeface="Lexend"/>
              <a:sym typeface="Lexend"/>
            </a:endParaRPr>
          </a:p>
          <a:p>
            <a:pPr indent="0" lvl="0" marL="0" rtl="0" algn="l">
              <a:lnSpc>
                <a:spcPct val="115000"/>
              </a:lnSpc>
              <a:spcBef>
                <a:spcPts val="0"/>
              </a:spcBef>
              <a:spcAft>
                <a:spcPts val="0"/>
              </a:spcAft>
              <a:buNone/>
            </a:pPr>
            <a:r>
              <a:rPr lang="it" sz="1750">
                <a:latin typeface="Lexend"/>
                <a:ea typeface="Lexend"/>
                <a:cs typeface="Lexend"/>
                <a:sym typeface="Lexend"/>
              </a:rPr>
              <a:t>I </a:t>
            </a:r>
            <a:r>
              <a:rPr b="1" lang="it" sz="1750">
                <a:solidFill>
                  <a:srgbClr val="38761D"/>
                </a:solidFill>
                <a:highlight>
                  <a:srgbClr val="B6D7A8"/>
                </a:highlight>
                <a:latin typeface="Lexend"/>
                <a:ea typeface="Lexend"/>
                <a:cs typeface="Lexend"/>
                <a:sym typeface="Lexend"/>
              </a:rPr>
              <a:t>costi delle tecnologie fotovoltaiche sono diminuiti</a:t>
            </a:r>
            <a:r>
              <a:rPr lang="it" sz="1750">
                <a:latin typeface="Lexend"/>
                <a:ea typeface="Lexend"/>
                <a:cs typeface="Lexend"/>
                <a:sym typeface="Lexend"/>
              </a:rPr>
              <a:t> in modo significativo negli ultimi anni, mentre </a:t>
            </a:r>
            <a:r>
              <a:rPr b="1" lang="it" sz="1750">
                <a:solidFill>
                  <a:srgbClr val="38761D"/>
                </a:solidFill>
                <a:highlight>
                  <a:srgbClr val="B6D7A8"/>
                </a:highlight>
                <a:latin typeface="Lexend"/>
                <a:ea typeface="Lexend"/>
                <a:cs typeface="Lexend"/>
                <a:sym typeface="Lexend"/>
              </a:rPr>
              <a:t>l’efficienza dei pannelli, inverter e batterie è aumentata</a:t>
            </a:r>
            <a:r>
              <a:rPr lang="it" sz="1750">
                <a:latin typeface="Lexend"/>
                <a:ea typeface="Lexend"/>
                <a:cs typeface="Lexend"/>
                <a:sym typeface="Lexend"/>
              </a:rPr>
              <a:t>.</a:t>
            </a:r>
            <a:endParaRPr sz="1750">
              <a:latin typeface="Lexend"/>
              <a:ea typeface="Lexend"/>
              <a:cs typeface="Lexend"/>
              <a:sym typeface="Lexend"/>
            </a:endParaRPr>
          </a:p>
        </p:txBody>
      </p:sp>
      <p:pic>
        <p:nvPicPr>
          <p:cNvPr id="259" name="Google Shape;259;p2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260" name="Google Shape;260;p2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61" name="Google Shape;261;p2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15</a:t>
            </a:r>
            <a:endParaRPr sz="700">
              <a:latin typeface="Lexend"/>
              <a:ea typeface="Lexend"/>
              <a:cs typeface="Lexend"/>
              <a:sym typeface="Lexend"/>
            </a:endParaRPr>
          </a:p>
        </p:txBody>
      </p:sp>
      <p:sp>
        <p:nvSpPr>
          <p:cNvPr id="262" name="Google Shape;262;p28"/>
          <p:cNvSpPr txBox="1"/>
          <p:nvPr>
            <p:ph type="title"/>
          </p:nvPr>
        </p:nvSpPr>
        <p:spPr>
          <a:xfrm>
            <a:off x="221075" y="12210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 nel dettaglio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pic>
        <p:nvPicPr>
          <p:cNvPr id="263" name="Google Shape;263;p28"/>
          <p:cNvPicPr preferRelativeResize="0"/>
          <p:nvPr/>
        </p:nvPicPr>
        <p:blipFill>
          <a:blip r:embed="rId4">
            <a:alphaModFix/>
          </a:blip>
          <a:stretch>
            <a:fillRect/>
          </a:stretch>
        </p:blipFill>
        <p:spPr>
          <a:xfrm>
            <a:off x="1291963" y="2676075"/>
            <a:ext cx="739300" cy="7393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grpSp>
        <p:nvGrpSpPr>
          <p:cNvPr id="268" name="Google Shape;268;p29"/>
          <p:cNvGrpSpPr/>
          <p:nvPr/>
        </p:nvGrpSpPr>
        <p:grpSpPr>
          <a:xfrm>
            <a:off x="4659425" y="3634288"/>
            <a:ext cx="3865200" cy="641825"/>
            <a:chOff x="620450" y="1714200"/>
            <a:chExt cx="3865200" cy="641825"/>
          </a:xfrm>
        </p:grpSpPr>
        <p:sp>
          <p:nvSpPr>
            <p:cNvPr id="269" name="Google Shape;269;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0" name="Google Shape;270;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71" name="Google Shape;271;p29"/>
          <p:cNvGrpSpPr/>
          <p:nvPr/>
        </p:nvGrpSpPr>
        <p:grpSpPr>
          <a:xfrm>
            <a:off x="4659425" y="1790413"/>
            <a:ext cx="3865200" cy="641825"/>
            <a:chOff x="620450" y="1714200"/>
            <a:chExt cx="3865200" cy="641825"/>
          </a:xfrm>
        </p:grpSpPr>
        <p:sp>
          <p:nvSpPr>
            <p:cNvPr id="272" name="Google Shape;272;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3" name="Google Shape;273;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274" name="Google Shape;274;p29"/>
          <p:cNvGrpSpPr/>
          <p:nvPr/>
        </p:nvGrpSpPr>
        <p:grpSpPr>
          <a:xfrm>
            <a:off x="4659425" y="2727488"/>
            <a:ext cx="3865200" cy="641825"/>
            <a:chOff x="620450" y="1714200"/>
            <a:chExt cx="3865200" cy="641825"/>
          </a:xfrm>
        </p:grpSpPr>
        <p:sp>
          <p:nvSpPr>
            <p:cNvPr id="275" name="Google Shape;275;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76" name="Google Shape;276;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77" name="Google Shape;277;p29"/>
          <p:cNvSpPr/>
          <p:nvPr/>
        </p:nvSpPr>
        <p:spPr>
          <a:xfrm>
            <a:off x="555475" y="364645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278" name="Google Shape;278;p29"/>
          <p:cNvGrpSpPr/>
          <p:nvPr/>
        </p:nvGrpSpPr>
        <p:grpSpPr>
          <a:xfrm>
            <a:off x="555475" y="2727488"/>
            <a:ext cx="3865200" cy="641825"/>
            <a:chOff x="620450" y="1714200"/>
            <a:chExt cx="3865200" cy="641825"/>
          </a:xfrm>
        </p:grpSpPr>
        <p:sp>
          <p:nvSpPr>
            <p:cNvPr id="279" name="Google Shape;279;p29"/>
            <p:cNvSpPr/>
            <p:nvPr/>
          </p:nvSpPr>
          <p:spPr>
            <a:xfrm>
              <a:off x="620450" y="17142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0" name="Google Shape;280;p29"/>
            <p:cNvSpPr/>
            <p:nvPr/>
          </p:nvSpPr>
          <p:spPr>
            <a:xfrm>
              <a:off x="620450" y="23086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281" name="Google Shape;281;p29"/>
          <p:cNvSpPr/>
          <p:nvPr/>
        </p:nvSpPr>
        <p:spPr>
          <a:xfrm>
            <a:off x="555475" y="1790400"/>
            <a:ext cx="3865200" cy="6042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2" name="Google Shape;282;p29"/>
          <p:cNvSpPr txBox="1"/>
          <p:nvPr>
            <p:ph type="title"/>
          </p:nvPr>
        </p:nvSpPr>
        <p:spPr>
          <a:xfrm>
            <a:off x="311700" y="107488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Riassumiamo </a:t>
            </a:r>
            <a:r>
              <a:rPr b="1" lang="it" sz="2000">
                <a:latin typeface="Lexend"/>
                <a:ea typeface="Lexend"/>
                <a:cs typeface="Lexend"/>
                <a:sym typeface="Lexend"/>
              </a:rPr>
              <a:t>alcuni vantaggi</a:t>
            </a:r>
            <a:r>
              <a:rPr lang="it" sz="2000">
                <a:latin typeface="Lexend"/>
                <a:ea typeface="Lexend"/>
                <a:cs typeface="Lexend"/>
                <a:sym typeface="Lexend"/>
              </a:rPr>
              <a:t> del Fotovoltaico:</a:t>
            </a:r>
            <a:endParaRPr b="1" sz="2000">
              <a:latin typeface="Lexend"/>
              <a:ea typeface="Lexend"/>
              <a:cs typeface="Lexend"/>
              <a:sym typeface="Lexend"/>
            </a:endParaRPr>
          </a:p>
        </p:txBody>
      </p:sp>
      <p:sp>
        <p:nvSpPr>
          <p:cNvPr id="283" name="Google Shape;283;p2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4" name="Google Shape;284;p29"/>
          <p:cNvSpPr txBox="1"/>
          <p:nvPr>
            <p:ph type="title"/>
          </p:nvPr>
        </p:nvSpPr>
        <p:spPr>
          <a:xfrm>
            <a:off x="1005475" y="2746275"/>
            <a:ext cx="3405300" cy="571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it" sz="1400">
                <a:latin typeface="Lexend"/>
                <a:ea typeface="Lexend"/>
                <a:cs typeface="Lexend"/>
                <a:sym typeface="Lexend"/>
              </a:rPr>
              <a:t>Incentivi fiscali e agevolazioni</a:t>
            </a:r>
            <a:endParaRPr sz="1400">
              <a:latin typeface="Lexend"/>
              <a:ea typeface="Lexend"/>
              <a:cs typeface="Lexend"/>
              <a:sym typeface="Lexend"/>
            </a:endParaRPr>
          </a:p>
        </p:txBody>
      </p:sp>
      <p:sp>
        <p:nvSpPr>
          <p:cNvPr id="285" name="Google Shape;285;p29"/>
          <p:cNvSpPr txBox="1"/>
          <p:nvPr>
            <p:ph type="title"/>
          </p:nvPr>
        </p:nvSpPr>
        <p:spPr>
          <a:xfrm>
            <a:off x="1005475" y="1790400"/>
            <a:ext cx="3405300" cy="59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400">
                <a:latin typeface="Lexend"/>
                <a:ea typeface="Lexend"/>
                <a:cs typeface="Lexend"/>
                <a:sym typeface="Lexend"/>
              </a:rPr>
              <a:t>Riduzione delle bollette energetiche</a:t>
            </a:r>
            <a:endParaRPr sz="1400">
              <a:latin typeface="Lexend"/>
              <a:ea typeface="Lexend"/>
              <a:cs typeface="Lexend"/>
              <a:sym typeface="Lexend"/>
            </a:endParaRPr>
          </a:p>
        </p:txBody>
      </p:sp>
      <p:sp>
        <p:nvSpPr>
          <p:cNvPr id="286" name="Google Shape;286;p29"/>
          <p:cNvSpPr txBox="1"/>
          <p:nvPr>
            <p:ph type="title"/>
          </p:nvPr>
        </p:nvSpPr>
        <p:spPr>
          <a:xfrm>
            <a:off x="5119325" y="2746275"/>
            <a:ext cx="3405300" cy="571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it" sz="1400">
                <a:latin typeface="Lexend"/>
                <a:ea typeface="Lexend"/>
                <a:cs typeface="Lexend"/>
                <a:sym typeface="Lexend"/>
              </a:rPr>
              <a:t>Valorizzazione dell’immobile</a:t>
            </a:r>
            <a:endParaRPr sz="1400">
              <a:latin typeface="Lexend"/>
              <a:ea typeface="Lexend"/>
              <a:cs typeface="Lexend"/>
              <a:sym typeface="Lexend"/>
            </a:endParaRPr>
          </a:p>
        </p:txBody>
      </p:sp>
      <p:sp>
        <p:nvSpPr>
          <p:cNvPr id="287" name="Google Shape;287;p29"/>
          <p:cNvSpPr txBox="1"/>
          <p:nvPr>
            <p:ph type="title"/>
          </p:nvPr>
        </p:nvSpPr>
        <p:spPr>
          <a:xfrm>
            <a:off x="5119325" y="1790350"/>
            <a:ext cx="3405300" cy="59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400">
                <a:latin typeface="Lexend"/>
                <a:ea typeface="Lexend"/>
                <a:cs typeface="Lexend"/>
                <a:sym typeface="Lexend"/>
              </a:rPr>
              <a:t>Ritorno sull'Investimento Migliorato</a:t>
            </a:r>
            <a:endParaRPr sz="1400">
              <a:latin typeface="Lexend"/>
              <a:ea typeface="Lexend"/>
              <a:cs typeface="Lexend"/>
              <a:sym typeface="Lexend"/>
            </a:endParaRPr>
          </a:p>
        </p:txBody>
      </p:sp>
      <p:sp>
        <p:nvSpPr>
          <p:cNvPr id="288" name="Google Shape;288;p29"/>
          <p:cNvSpPr txBox="1"/>
          <p:nvPr>
            <p:ph type="title"/>
          </p:nvPr>
        </p:nvSpPr>
        <p:spPr>
          <a:xfrm>
            <a:off x="1005475" y="3669450"/>
            <a:ext cx="3405300" cy="571500"/>
          </a:xfrm>
          <a:prstGeom prst="rect">
            <a:avLst/>
          </a:prstGeom>
        </p:spPr>
        <p:txBody>
          <a:bodyPr anchorCtr="0" anchor="ctr" bIns="91425" lIns="91425" spcFirstLastPara="1" rIns="91425" wrap="square" tIns="91425">
            <a:normAutofit/>
          </a:bodyPr>
          <a:lstStyle/>
          <a:p>
            <a:pPr indent="0" lvl="0" marL="0" rtl="0" algn="l">
              <a:lnSpc>
                <a:spcPct val="115000"/>
              </a:lnSpc>
              <a:spcBef>
                <a:spcPts val="0"/>
              </a:spcBef>
              <a:spcAft>
                <a:spcPts val="0"/>
              </a:spcAft>
              <a:buNone/>
            </a:pPr>
            <a:r>
              <a:rPr lang="it" sz="1400">
                <a:latin typeface="Lexend"/>
                <a:ea typeface="Lexend"/>
                <a:cs typeface="Lexend"/>
                <a:sym typeface="Lexend"/>
              </a:rPr>
              <a:t>Indipendenza Energetica</a:t>
            </a:r>
            <a:endParaRPr sz="1400">
              <a:latin typeface="Lexend"/>
              <a:ea typeface="Lexend"/>
              <a:cs typeface="Lexend"/>
              <a:sym typeface="Lexend"/>
            </a:endParaRPr>
          </a:p>
        </p:txBody>
      </p:sp>
      <p:sp>
        <p:nvSpPr>
          <p:cNvPr id="289" name="Google Shape;289;p29"/>
          <p:cNvSpPr txBox="1"/>
          <p:nvPr>
            <p:ph type="title"/>
          </p:nvPr>
        </p:nvSpPr>
        <p:spPr>
          <a:xfrm>
            <a:off x="5119325" y="3631825"/>
            <a:ext cx="3469200" cy="598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400">
                <a:latin typeface="Lexend"/>
                <a:ea typeface="Lexend"/>
                <a:cs typeface="Lexend"/>
                <a:sym typeface="Lexend"/>
              </a:rPr>
              <a:t>Tec. più Avanzate ed Economiche</a:t>
            </a:r>
            <a:endParaRPr sz="1400">
              <a:latin typeface="Lexend"/>
              <a:ea typeface="Lexend"/>
              <a:cs typeface="Lexend"/>
              <a:sym typeface="Lexend"/>
            </a:endParaRPr>
          </a:p>
        </p:txBody>
      </p:sp>
      <p:pic>
        <p:nvPicPr>
          <p:cNvPr id="290" name="Google Shape;290;p29"/>
          <p:cNvPicPr preferRelativeResize="0"/>
          <p:nvPr/>
        </p:nvPicPr>
        <p:blipFill>
          <a:blip r:embed="rId3">
            <a:alphaModFix/>
          </a:blip>
          <a:stretch>
            <a:fillRect/>
          </a:stretch>
        </p:blipFill>
        <p:spPr>
          <a:xfrm>
            <a:off x="4768463" y="1938175"/>
            <a:ext cx="308625" cy="308625"/>
          </a:xfrm>
          <a:prstGeom prst="rect">
            <a:avLst/>
          </a:prstGeom>
          <a:noFill/>
          <a:ln>
            <a:noFill/>
          </a:ln>
        </p:spPr>
      </p:pic>
      <p:pic>
        <p:nvPicPr>
          <p:cNvPr id="291" name="Google Shape;291;p29"/>
          <p:cNvPicPr preferRelativeResize="0"/>
          <p:nvPr/>
        </p:nvPicPr>
        <p:blipFill>
          <a:blip r:embed="rId4">
            <a:alphaModFix/>
          </a:blip>
          <a:stretch>
            <a:fillRect/>
          </a:stretch>
        </p:blipFill>
        <p:spPr>
          <a:xfrm>
            <a:off x="666324" y="1938175"/>
            <a:ext cx="308625" cy="308625"/>
          </a:xfrm>
          <a:prstGeom prst="rect">
            <a:avLst/>
          </a:prstGeom>
          <a:noFill/>
          <a:ln>
            <a:noFill/>
          </a:ln>
        </p:spPr>
      </p:pic>
      <p:pic>
        <p:nvPicPr>
          <p:cNvPr id="292" name="Google Shape;292;p29"/>
          <p:cNvPicPr preferRelativeResize="0"/>
          <p:nvPr/>
        </p:nvPicPr>
        <p:blipFill>
          <a:blip r:embed="rId5">
            <a:alphaModFix/>
          </a:blip>
          <a:stretch>
            <a:fillRect/>
          </a:stretch>
        </p:blipFill>
        <p:spPr>
          <a:xfrm>
            <a:off x="666337" y="3794247"/>
            <a:ext cx="308625" cy="308625"/>
          </a:xfrm>
          <a:prstGeom prst="rect">
            <a:avLst/>
          </a:prstGeom>
          <a:noFill/>
          <a:ln>
            <a:noFill/>
          </a:ln>
        </p:spPr>
      </p:pic>
      <p:pic>
        <p:nvPicPr>
          <p:cNvPr id="293" name="Google Shape;293;p29"/>
          <p:cNvPicPr preferRelativeResize="0"/>
          <p:nvPr/>
        </p:nvPicPr>
        <p:blipFill>
          <a:blip r:embed="rId6">
            <a:alphaModFix/>
          </a:blip>
          <a:stretch>
            <a:fillRect/>
          </a:stretch>
        </p:blipFill>
        <p:spPr>
          <a:xfrm>
            <a:off x="4782072" y="2917539"/>
            <a:ext cx="281400" cy="281400"/>
          </a:xfrm>
          <a:prstGeom prst="rect">
            <a:avLst/>
          </a:prstGeom>
          <a:noFill/>
          <a:ln>
            <a:noFill/>
          </a:ln>
        </p:spPr>
      </p:pic>
      <p:pic>
        <p:nvPicPr>
          <p:cNvPr id="294" name="Google Shape;294;p29"/>
          <p:cNvPicPr preferRelativeResize="0"/>
          <p:nvPr/>
        </p:nvPicPr>
        <p:blipFill>
          <a:blip r:embed="rId7">
            <a:alphaModFix/>
          </a:blip>
          <a:stretch>
            <a:fillRect/>
          </a:stretch>
        </p:blipFill>
        <p:spPr>
          <a:xfrm>
            <a:off x="679938" y="2917539"/>
            <a:ext cx="281400" cy="281400"/>
          </a:xfrm>
          <a:prstGeom prst="rect">
            <a:avLst/>
          </a:prstGeom>
          <a:noFill/>
          <a:ln>
            <a:noFill/>
          </a:ln>
        </p:spPr>
      </p:pic>
      <p:pic>
        <p:nvPicPr>
          <p:cNvPr id="295" name="Google Shape;295;p29"/>
          <p:cNvPicPr preferRelativeResize="0"/>
          <p:nvPr/>
        </p:nvPicPr>
        <p:blipFill>
          <a:blip r:embed="rId8">
            <a:alphaModFix/>
          </a:blip>
          <a:stretch>
            <a:fillRect/>
          </a:stretch>
        </p:blipFill>
        <p:spPr>
          <a:xfrm>
            <a:off x="4768453" y="3813050"/>
            <a:ext cx="308625" cy="308625"/>
          </a:xfrm>
          <a:prstGeom prst="rect">
            <a:avLst/>
          </a:prstGeom>
          <a:noFill/>
          <a:ln>
            <a:noFill/>
          </a:ln>
        </p:spPr>
      </p:pic>
      <p:pic>
        <p:nvPicPr>
          <p:cNvPr id="296" name="Google Shape;296;p29"/>
          <p:cNvPicPr preferRelativeResize="0"/>
          <p:nvPr/>
        </p:nvPicPr>
        <p:blipFill rotWithShape="1">
          <a:blip r:embed="rId9">
            <a:alphaModFix/>
          </a:blip>
          <a:srcRect b="0" l="0" r="0" t="0"/>
          <a:stretch/>
        </p:blipFill>
        <p:spPr>
          <a:xfrm>
            <a:off x="0" y="5"/>
            <a:ext cx="9144003" cy="598289"/>
          </a:xfrm>
          <a:prstGeom prst="rect">
            <a:avLst/>
          </a:prstGeom>
          <a:noFill/>
          <a:ln>
            <a:noFill/>
          </a:ln>
        </p:spPr>
      </p:pic>
      <p:sp>
        <p:nvSpPr>
          <p:cNvPr id="297" name="Google Shape;297;p2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298" name="Google Shape;298;p2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 </a:t>
            </a:r>
            <a:r>
              <a:rPr lang="it" sz="700">
                <a:latin typeface="Lexend"/>
                <a:ea typeface="Lexend"/>
                <a:cs typeface="Lexend"/>
                <a:sym typeface="Lexend"/>
              </a:rPr>
              <a:t>i Vantaggi del Fotovoltaico</a:t>
            </a:r>
            <a:r>
              <a:rPr lang="it" sz="700">
                <a:latin typeface="Lexend"/>
                <a:ea typeface="Lexend"/>
                <a:cs typeface="Lexend"/>
                <a:sym typeface="Lexend"/>
              </a:rPr>
              <a:t> | 16</a:t>
            </a:r>
            <a:endParaRPr sz="700">
              <a:latin typeface="Lexend"/>
              <a:ea typeface="Lexend"/>
              <a:cs typeface="Lexend"/>
              <a:sym typeface="Lexend"/>
            </a:endParaRPr>
          </a:p>
        </p:txBody>
      </p:sp>
      <p:sp>
        <p:nvSpPr>
          <p:cNvPr id="299" name="Google Shape;299;p29"/>
          <p:cNvSpPr/>
          <p:nvPr/>
        </p:nvSpPr>
        <p:spPr>
          <a:xfrm>
            <a:off x="555475" y="238482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0" name="Google Shape;300;p29"/>
          <p:cNvSpPr/>
          <p:nvPr/>
        </p:nvSpPr>
        <p:spPr>
          <a:xfrm>
            <a:off x="555475" y="4240875"/>
            <a:ext cx="38652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0"/>
          <p:cNvSpPr txBox="1"/>
          <p:nvPr>
            <p:ph type="title"/>
          </p:nvPr>
        </p:nvSpPr>
        <p:spPr>
          <a:xfrm>
            <a:off x="227175" y="1544175"/>
            <a:ext cx="8520600" cy="4629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800">
                <a:latin typeface="Lexend"/>
                <a:ea typeface="Lexend"/>
                <a:cs typeface="Lexend"/>
                <a:sym typeface="Lexend"/>
              </a:rPr>
              <a:t>Riassumendo…</a:t>
            </a:r>
            <a:endParaRPr b="1" sz="1800">
              <a:latin typeface="Lexend"/>
              <a:ea typeface="Lexend"/>
              <a:cs typeface="Lexend"/>
              <a:sym typeface="Lexend"/>
            </a:endParaRPr>
          </a:p>
        </p:txBody>
      </p:sp>
      <p:sp>
        <p:nvSpPr>
          <p:cNvPr id="306" name="Google Shape;306;p3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07" name="Google Shape;307;p30"/>
          <p:cNvSpPr txBox="1"/>
          <p:nvPr>
            <p:ph idx="1" type="body"/>
          </p:nvPr>
        </p:nvSpPr>
        <p:spPr>
          <a:xfrm>
            <a:off x="700350" y="2212775"/>
            <a:ext cx="7743300" cy="1120500"/>
          </a:xfrm>
          <a:prstGeom prst="rect">
            <a:avLst/>
          </a:prstGeom>
        </p:spPr>
        <p:txBody>
          <a:bodyPr anchorCtr="0" anchor="t" bIns="91425" lIns="91425" spcFirstLastPara="1" rIns="91425" wrap="square" tIns="91425">
            <a:normAutofit/>
          </a:bodyPr>
          <a:lstStyle/>
          <a:p>
            <a:pPr indent="0" lvl="0" marL="0" rtl="0" algn="ctr">
              <a:spcBef>
                <a:spcPts val="1200"/>
              </a:spcBef>
              <a:spcAft>
                <a:spcPts val="1200"/>
              </a:spcAft>
              <a:buNone/>
            </a:pPr>
            <a:r>
              <a:rPr b="1" lang="it" sz="1700">
                <a:solidFill>
                  <a:srgbClr val="38761D"/>
                </a:solidFill>
                <a:latin typeface="Lexend"/>
                <a:ea typeface="Lexend"/>
                <a:cs typeface="Lexend"/>
                <a:sym typeface="Lexend"/>
              </a:rPr>
              <a:t>Nel 2024, investire nel fotovoltaico assicura </a:t>
            </a:r>
            <a:r>
              <a:rPr b="1" lang="it" sz="1700">
                <a:solidFill>
                  <a:srgbClr val="38761D"/>
                </a:solidFill>
                <a:highlight>
                  <a:srgbClr val="B6D7A8"/>
                </a:highlight>
                <a:latin typeface="Lexend"/>
                <a:ea typeface="Lexend"/>
                <a:cs typeface="Lexend"/>
                <a:sym typeface="Lexend"/>
              </a:rPr>
              <a:t>risparmi immediati</a:t>
            </a:r>
            <a:r>
              <a:rPr b="1" lang="it" sz="1700">
                <a:solidFill>
                  <a:srgbClr val="38761D"/>
                </a:solidFill>
                <a:latin typeface="Lexend"/>
                <a:ea typeface="Lexend"/>
                <a:cs typeface="Lexend"/>
                <a:sym typeface="Lexend"/>
              </a:rPr>
              <a:t>, un eccellente ritorno dell’investimento e incentivi fiscali, offrendo </a:t>
            </a:r>
            <a:r>
              <a:rPr b="1" lang="it" sz="1700">
                <a:solidFill>
                  <a:srgbClr val="38761D"/>
                </a:solidFill>
                <a:highlight>
                  <a:srgbClr val="B6D7A8"/>
                </a:highlight>
                <a:latin typeface="Lexend"/>
                <a:ea typeface="Lexend"/>
                <a:cs typeface="Lexend"/>
                <a:sym typeface="Lexend"/>
              </a:rPr>
              <a:t>soluzioni adatte a tutti</a:t>
            </a:r>
            <a:r>
              <a:rPr b="1" lang="it" sz="1700">
                <a:solidFill>
                  <a:srgbClr val="38761D"/>
                </a:solidFill>
                <a:latin typeface="Lexend"/>
                <a:ea typeface="Lexend"/>
                <a:cs typeface="Lexend"/>
                <a:sym typeface="Lexend"/>
              </a:rPr>
              <a:t> per una </a:t>
            </a:r>
            <a:r>
              <a:rPr b="1" lang="it" sz="1700">
                <a:solidFill>
                  <a:srgbClr val="38761D"/>
                </a:solidFill>
                <a:highlight>
                  <a:srgbClr val="B6D7A8"/>
                </a:highlight>
                <a:latin typeface="Lexend"/>
                <a:ea typeface="Lexend"/>
                <a:cs typeface="Lexend"/>
                <a:sym typeface="Lexend"/>
              </a:rPr>
              <a:t>maggiore indipendenza energetica</a:t>
            </a:r>
            <a:r>
              <a:rPr b="1" lang="it" sz="1700">
                <a:solidFill>
                  <a:srgbClr val="38761D"/>
                </a:solidFill>
                <a:latin typeface="Lexend"/>
                <a:ea typeface="Lexend"/>
                <a:cs typeface="Lexend"/>
                <a:sym typeface="Lexend"/>
              </a:rPr>
              <a:t>.</a:t>
            </a:r>
            <a:endParaRPr b="1" sz="1700">
              <a:solidFill>
                <a:srgbClr val="38761D"/>
              </a:solidFill>
              <a:latin typeface="Lexend"/>
              <a:ea typeface="Lexend"/>
              <a:cs typeface="Lexend"/>
              <a:sym typeface="Lexend"/>
            </a:endParaRPr>
          </a:p>
        </p:txBody>
      </p:sp>
      <p:pic>
        <p:nvPicPr>
          <p:cNvPr id="308" name="Google Shape;308;p3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09" name="Google Shape;309;p3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10" name="Google Shape;310;p3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 | 17</a:t>
            </a:r>
            <a:endParaRPr sz="700">
              <a:latin typeface="Lexend"/>
              <a:ea typeface="Lexend"/>
              <a:cs typeface="Lexend"/>
              <a:sym typeface="Lexen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1"/>
          <p:cNvSpPr txBox="1"/>
          <p:nvPr>
            <p:ph type="title"/>
          </p:nvPr>
        </p:nvSpPr>
        <p:spPr>
          <a:xfrm>
            <a:off x="311700" y="1239350"/>
            <a:ext cx="8520600" cy="4629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600">
                <a:latin typeface="Lexend"/>
                <a:ea typeface="Lexend"/>
                <a:cs typeface="Lexend"/>
                <a:sym typeface="Lexend"/>
              </a:rPr>
              <a:t>La nostra Mission:</a:t>
            </a:r>
            <a:endParaRPr b="1" sz="1600">
              <a:latin typeface="Lexend"/>
              <a:ea typeface="Lexend"/>
              <a:cs typeface="Lexend"/>
              <a:sym typeface="Lexend"/>
            </a:endParaRPr>
          </a:p>
        </p:txBody>
      </p:sp>
      <p:sp>
        <p:nvSpPr>
          <p:cNvPr id="316" name="Google Shape;316;p3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17" name="Google Shape;317;p31"/>
          <p:cNvSpPr txBox="1"/>
          <p:nvPr>
            <p:ph idx="1" type="body"/>
          </p:nvPr>
        </p:nvSpPr>
        <p:spPr>
          <a:xfrm>
            <a:off x="1414050" y="1836925"/>
            <a:ext cx="6315900" cy="843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it" sz="2000">
                <a:solidFill>
                  <a:srgbClr val="38761D"/>
                </a:solidFill>
                <a:latin typeface="Lexend"/>
                <a:ea typeface="Lexend"/>
                <a:cs typeface="Lexend"/>
                <a:sym typeface="Lexend"/>
              </a:rPr>
              <a:t>Rendere il fotovoltaico REALMENTE </a:t>
            </a:r>
            <a:endParaRPr b="1" sz="2000">
              <a:solidFill>
                <a:srgbClr val="38761D"/>
              </a:solidFill>
              <a:latin typeface="Lexend"/>
              <a:ea typeface="Lexend"/>
              <a:cs typeface="Lexend"/>
              <a:sym typeface="Lexend"/>
            </a:endParaRPr>
          </a:p>
          <a:p>
            <a:pPr indent="0" lvl="0" marL="0" rtl="0" algn="ctr">
              <a:spcBef>
                <a:spcPts val="0"/>
              </a:spcBef>
              <a:spcAft>
                <a:spcPts val="0"/>
              </a:spcAft>
              <a:buNone/>
            </a:pPr>
            <a:r>
              <a:rPr b="1" lang="it" sz="2000">
                <a:solidFill>
                  <a:srgbClr val="38761D"/>
                </a:solidFill>
                <a:latin typeface="Lexend"/>
                <a:ea typeface="Lexend"/>
                <a:cs typeface="Lexend"/>
                <a:sym typeface="Lexend"/>
              </a:rPr>
              <a:t>accessibile a tutte le famiglie italiane.</a:t>
            </a:r>
            <a:endParaRPr sz="2000">
              <a:solidFill>
                <a:srgbClr val="38761D"/>
              </a:solidFill>
            </a:endParaRPr>
          </a:p>
        </p:txBody>
      </p:sp>
      <p:pic>
        <p:nvPicPr>
          <p:cNvPr id="318" name="Google Shape;318;p3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19" name="Google Shape;319;p3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20" name="Google Shape;320;p3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18</a:t>
            </a:r>
            <a:endParaRPr sz="700">
              <a:latin typeface="Lexend"/>
              <a:ea typeface="Lexend"/>
              <a:cs typeface="Lexend"/>
              <a:sym typeface="Lexen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32"/>
          <p:cNvSpPr txBox="1"/>
          <p:nvPr>
            <p:ph type="title"/>
          </p:nvPr>
        </p:nvSpPr>
        <p:spPr>
          <a:xfrm>
            <a:off x="311700" y="1239350"/>
            <a:ext cx="8520600" cy="4629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600">
                <a:latin typeface="Lexend"/>
                <a:ea typeface="Lexend"/>
                <a:cs typeface="Lexend"/>
                <a:sym typeface="Lexend"/>
              </a:rPr>
              <a:t>La nostra Mission:</a:t>
            </a:r>
            <a:endParaRPr b="1" sz="1600">
              <a:latin typeface="Lexend"/>
              <a:ea typeface="Lexend"/>
              <a:cs typeface="Lexend"/>
              <a:sym typeface="Lexend"/>
            </a:endParaRPr>
          </a:p>
        </p:txBody>
      </p:sp>
      <p:sp>
        <p:nvSpPr>
          <p:cNvPr id="326" name="Google Shape;326;p3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27" name="Google Shape;327;p32"/>
          <p:cNvSpPr txBox="1"/>
          <p:nvPr>
            <p:ph idx="1" type="body"/>
          </p:nvPr>
        </p:nvSpPr>
        <p:spPr>
          <a:xfrm>
            <a:off x="1414050" y="1836925"/>
            <a:ext cx="6315900" cy="8433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it" sz="2000">
                <a:solidFill>
                  <a:srgbClr val="38761D"/>
                </a:solidFill>
                <a:latin typeface="Lexend"/>
                <a:ea typeface="Lexend"/>
                <a:cs typeface="Lexend"/>
                <a:sym typeface="Lexend"/>
              </a:rPr>
              <a:t>Rendere il fotovoltaico REALMENTE </a:t>
            </a:r>
            <a:endParaRPr b="1" sz="2000">
              <a:solidFill>
                <a:srgbClr val="38761D"/>
              </a:solidFill>
              <a:latin typeface="Lexend"/>
              <a:ea typeface="Lexend"/>
              <a:cs typeface="Lexend"/>
              <a:sym typeface="Lexend"/>
            </a:endParaRPr>
          </a:p>
          <a:p>
            <a:pPr indent="0" lvl="0" marL="0" rtl="0" algn="ctr">
              <a:spcBef>
                <a:spcPts val="0"/>
              </a:spcBef>
              <a:spcAft>
                <a:spcPts val="0"/>
              </a:spcAft>
              <a:buNone/>
            </a:pPr>
            <a:r>
              <a:rPr b="1" lang="it" sz="2000">
                <a:solidFill>
                  <a:srgbClr val="38761D"/>
                </a:solidFill>
                <a:latin typeface="Lexend"/>
                <a:ea typeface="Lexend"/>
                <a:cs typeface="Lexend"/>
                <a:sym typeface="Lexend"/>
              </a:rPr>
              <a:t>accessibile a tutte le famiglie italiane.</a:t>
            </a:r>
            <a:endParaRPr sz="2000">
              <a:solidFill>
                <a:srgbClr val="38761D"/>
              </a:solidFill>
            </a:endParaRPr>
          </a:p>
        </p:txBody>
      </p:sp>
      <p:sp>
        <p:nvSpPr>
          <p:cNvPr id="328" name="Google Shape;328;p32"/>
          <p:cNvSpPr txBox="1"/>
          <p:nvPr>
            <p:ph type="title"/>
          </p:nvPr>
        </p:nvSpPr>
        <p:spPr>
          <a:xfrm>
            <a:off x="311700" y="3114525"/>
            <a:ext cx="8520600" cy="4629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600">
                <a:latin typeface="Lexend"/>
                <a:ea typeface="Lexend"/>
                <a:cs typeface="Lexend"/>
                <a:sym typeface="Lexend"/>
              </a:rPr>
              <a:t>e come ci proponiamo al mercato?</a:t>
            </a:r>
            <a:endParaRPr b="1" sz="1600">
              <a:latin typeface="Lexend"/>
              <a:ea typeface="Lexend"/>
              <a:cs typeface="Lexend"/>
              <a:sym typeface="Lexend"/>
            </a:endParaRPr>
          </a:p>
        </p:txBody>
      </p:sp>
      <p:sp>
        <p:nvSpPr>
          <p:cNvPr id="329" name="Google Shape;329;p32"/>
          <p:cNvSpPr txBox="1"/>
          <p:nvPr>
            <p:ph type="title"/>
          </p:nvPr>
        </p:nvSpPr>
        <p:spPr>
          <a:xfrm>
            <a:off x="311700" y="36816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con due soluzioni differenti</a:t>
            </a:r>
            <a:endParaRPr b="1" sz="2000">
              <a:latin typeface="Lexend"/>
              <a:ea typeface="Lexend"/>
              <a:cs typeface="Lexend"/>
              <a:sym typeface="Lexend"/>
            </a:endParaRPr>
          </a:p>
        </p:txBody>
      </p:sp>
      <p:pic>
        <p:nvPicPr>
          <p:cNvPr id="330" name="Google Shape;330;p3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31" name="Google Shape;331;p3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32" name="Google Shape;332;p3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Vantaggi del Fotovoltaico</a:t>
            </a:r>
            <a:r>
              <a:rPr lang="it" sz="700">
                <a:latin typeface="Lexend"/>
                <a:ea typeface="Lexend"/>
                <a:cs typeface="Lexend"/>
                <a:sym typeface="Lexend"/>
              </a:rPr>
              <a:t> | 19</a:t>
            </a:r>
            <a:endParaRPr sz="700">
              <a:latin typeface="Lexend"/>
              <a:ea typeface="Lexend"/>
              <a:cs typeface="Lexend"/>
              <a:sym typeface="Lexen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id="337" name="Google Shape;337;p3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338" name="Google Shape;338;p3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39" name="Google Shape;339;p3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Prodotti</a:t>
            </a:r>
            <a:r>
              <a:rPr lang="it" sz="700">
                <a:latin typeface="Lexend"/>
                <a:ea typeface="Lexend"/>
                <a:cs typeface="Lexend"/>
                <a:sym typeface="Lexend"/>
              </a:rPr>
              <a:t> | 20</a:t>
            </a:r>
            <a:endParaRPr sz="700">
              <a:latin typeface="Lexend"/>
              <a:ea typeface="Lexend"/>
              <a:cs typeface="Lexend"/>
              <a:sym typeface="Lexend"/>
            </a:endParaRPr>
          </a:p>
        </p:txBody>
      </p:sp>
      <p:sp>
        <p:nvSpPr>
          <p:cNvPr id="340" name="Google Shape;340;p3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41" name="Google Shape;341;p33"/>
          <p:cNvPicPr preferRelativeResize="0"/>
          <p:nvPr/>
        </p:nvPicPr>
        <p:blipFill rotWithShape="1">
          <a:blip r:embed="rId4">
            <a:alphaModFix/>
          </a:blip>
          <a:srcRect b="0" l="0" r="0" t="0"/>
          <a:stretch/>
        </p:blipFill>
        <p:spPr>
          <a:xfrm>
            <a:off x="902400" y="1338000"/>
            <a:ext cx="3218702" cy="1306800"/>
          </a:xfrm>
          <a:prstGeom prst="rect">
            <a:avLst/>
          </a:prstGeom>
          <a:noFill/>
          <a:ln>
            <a:noFill/>
          </a:ln>
        </p:spPr>
      </p:pic>
      <p:pic>
        <p:nvPicPr>
          <p:cNvPr id="342" name="Google Shape;342;p33"/>
          <p:cNvPicPr preferRelativeResize="0"/>
          <p:nvPr/>
        </p:nvPicPr>
        <p:blipFill rotWithShape="1">
          <a:blip r:embed="rId5">
            <a:alphaModFix/>
          </a:blip>
          <a:srcRect b="0" l="0" r="0" t="0"/>
          <a:stretch/>
        </p:blipFill>
        <p:spPr>
          <a:xfrm>
            <a:off x="4893587" y="1338000"/>
            <a:ext cx="3218735" cy="1306800"/>
          </a:xfrm>
          <a:prstGeom prst="rect">
            <a:avLst/>
          </a:prstGeom>
          <a:noFill/>
          <a:ln>
            <a:noFill/>
          </a:ln>
        </p:spPr>
      </p:pic>
      <p:sp>
        <p:nvSpPr>
          <p:cNvPr id="343" name="Google Shape;343;p33"/>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 nostri Prodotti</a:t>
            </a:r>
            <a:endParaRPr b="1" sz="2000">
              <a:latin typeface="Lexend"/>
              <a:ea typeface="Lexend"/>
              <a:cs typeface="Lexend"/>
              <a:sym typeface="Lexend"/>
            </a:endParaRPr>
          </a:p>
        </p:txBody>
      </p:sp>
      <p:sp>
        <p:nvSpPr>
          <p:cNvPr id="344" name="Google Shape;344;p33"/>
          <p:cNvSpPr txBox="1"/>
          <p:nvPr>
            <p:ph idx="1" type="body"/>
          </p:nvPr>
        </p:nvSpPr>
        <p:spPr>
          <a:xfrm>
            <a:off x="902400" y="2794188"/>
            <a:ext cx="3348000" cy="187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200">
                <a:solidFill>
                  <a:srgbClr val="0B5394"/>
                </a:solidFill>
                <a:latin typeface="Lexend"/>
                <a:ea typeface="Lexend"/>
                <a:cs typeface="Lexend"/>
                <a:sym typeface="Lexend"/>
              </a:rPr>
              <a:t>Linea Entry-Level</a:t>
            </a:r>
            <a:r>
              <a:rPr lang="it" sz="1200">
                <a:solidFill>
                  <a:schemeClr val="dk1"/>
                </a:solidFill>
                <a:latin typeface="Lexend"/>
                <a:ea typeface="Lexend"/>
                <a:cs typeface="Lexend"/>
                <a:sym typeface="Lexend"/>
              </a:rPr>
              <a:t>, ottima per chi cerca il giusto compromesso tra Costo-Efficienza.</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Disponibili soluzioni dal 3 al +10kwp con accumulo o senza.</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u="sng">
                <a:solidFill>
                  <a:schemeClr val="dk1"/>
                </a:solidFill>
                <a:latin typeface="Lexend"/>
                <a:ea typeface="Lexend"/>
                <a:cs typeface="Lexend"/>
                <a:sym typeface="Lexend"/>
              </a:rPr>
              <a:t>“Chiavi in Mano”</a:t>
            </a:r>
            <a:endParaRPr sz="1200" u="sng">
              <a:solidFill>
                <a:schemeClr val="dk1"/>
              </a:solidFill>
              <a:latin typeface="Lexend"/>
              <a:ea typeface="Lexend"/>
              <a:cs typeface="Lexend"/>
              <a:sym typeface="Lexend"/>
            </a:endParaRPr>
          </a:p>
        </p:txBody>
      </p:sp>
      <p:sp>
        <p:nvSpPr>
          <p:cNvPr id="345" name="Google Shape;345;p33"/>
          <p:cNvSpPr txBox="1"/>
          <p:nvPr>
            <p:ph idx="1" type="body"/>
          </p:nvPr>
        </p:nvSpPr>
        <p:spPr>
          <a:xfrm>
            <a:off x="4893600" y="2794188"/>
            <a:ext cx="3348000" cy="1878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200">
                <a:solidFill>
                  <a:srgbClr val="38761D"/>
                </a:solidFill>
                <a:latin typeface="Lexend"/>
                <a:ea typeface="Lexend"/>
                <a:cs typeface="Lexend"/>
                <a:sym typeface="Lexend"/>
              </a:rPr>
              <a:t>Linea Premium</a:t>
            </a:r>
            <a:r>
              <a:rPr lang="it" sz="1200">
                <a:solidFill>
                  <a:schemeClr val="dk1"/>
                </a:solidFill>
                <a:latin typeface="Lexend"/>
                <a:ea typeface="Lexend"/>
                <a:cs typeface="Lexend"/>
                <a:sym typeface="Lexend"/>
              </a:rPr>
              <a:t>, per chi vuole il massimo delle tecnologie e performance nella propria casa.</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Disponibili soluzioni dal 3 al +10kwp con accumulo o senza.</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u="sng">
                <a:solidFill>
                  <a:schemeClr val="dk1"/>
                </a:solidFill>
                <a:latin typeface="Lexend"/>
                <a:ea typeface="Lexend"/>
                <a:cs typeface="Lexend"/>
                <a:sym typeface="Lexend"/>
              </a:rPr>
              <a:t>“Chiavi in Mano”</a:t>
            </a:r>
            <a:endParaRPr sz="1200">
              <a:solidFill>
                <a:schemeClr val="dk1"/>
              </a:solidFill>
              <a:latin typeface="Lexend"/>
              <a:ea typeface="Lexend"/>
              <a:cs typeface="Lexend"/>
              <a:sym typeface="Lexen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3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51" name="Google Shape;351;p34"/>
          <p:cNvPicPr preferRelativeResize="0"/>
          <p:nvPr/>
        </p:nvPicPr>
        <p:blipFill rotWithShape="1">
          <a:blip r:embed="rId3">
            <a:alphaModFix/>
          </a:blip>
          <a:srcRect b="0" l="0" r="0" t="0"/>
          <a:stretch/>
        </p:blipFill>
        <p:spPr>
          <a:xfrm>
            <a:off x="2166350" y="1307937"/>
            <a:ext cx="4906300" cy="1991900"/>
          </a:xfrm>
          <a:prstGeom prst="rect">
            <a:avLst/>
          </a:prstGeom>
          <a:noFill/>
          <a:ln>
            <a:noFill/>
          </a:ln>
        </p:spPr>
      </p:pic>
      <p:sp>
        <p:nvSpPr>
          <p:cNvPr id="352" name="Google Shape;352;p34"/>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 e se vivo in </a:t>
            </a:r>
            <a:r>
              <a:rPr b="1" lang="it" sz="2000">
                <a:latin typeface="Lexend"/>
                <a:ea typeface="Lexend"/>
                <a:cs typeface="Lexend"/>
                <a:sym typeface="Lexend"/>
              </a:rPr>
              <a:t>appartamento</a:t>
            </a:r>
            <a:r>
              <a:rPr lang="it" sz="2000">
                <a:latin typeface="Lexend"/>
                <a:ea typeface="Lexend"/>
                <a:cs typeface="Lexend"/>
                <a:sym typeface="Lexend"/>
              </a:rPr>
              <a:t>?</a:t>
            </a:r>
            <a:endParaRPr b="1" sz="2000">
              <a:latin typeface="Lexend"/>
              <a:ea typeface="Lexend"/>
              <a:cs typeface="Lexend"/>
              <a:sym typeface="Lexend"/>
            </a:endParaRPr>
          </a:p>
        </p:txBody>
      </p:sp>
      <p:sp>
        <p:nvSpPr>
          <p:cNvPr id="353" name="Google Shape;353;p34"/>
          <p:cNvSpPr txBox="1"/>
          <p:nvPr>
            <p:ph idx="1" type="body"/>
          </p:nvPr>
        </p:nvSpPr>
        <p:spPr>
          <a:xfrm>
            <a:off x="2166450" y="3505175"/>
            <a:ext cx="4906200" cy="1133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400">
                <a:solidFill>
                  <a:schemeClr val="dk1"/>
                </a:solidFill>
                <a:latin typeface="Lexend"/>
                <a:ea typeface="Lexend"/>
                <a:cs typeface="Lexend"/>
                <a:sym typeface="Lexend"/>
              </a:rPr>
              <a:t>La </a:t>
            </a:r>
            <a:r>
              <a:rPr b="1" lang="it" sz="1400">
                <a:solidFill>
                  <a:schemeClr val="dk1"/>
                </a:solidFill>
                <a:latin typeface="Lexend"/>
                <a:ea typeface="Lexend"/>
                <a:cs typeface="Lexend"/>
                <a:sym typeface="Lexend"/>
              </a:rPr>
              <a:t>soluzione</a:t>
            </a:r>
            <a:r>
              <a:rPr lang="it" sz="1400">
                <a:solidFill>
                  <a:schemeClr val="dk1"/>
                </a:solidFill>
                <a:latin typeface="Lexend"/>
                <a:ea typeface="Lexend"/>
                <a:cs typeface="Lexend"/>
                <a:sym typeface="Lexend"/>
              </a:rPr>
              <a:t> </a:t>
            </a:r>
            <a:r>
              <a:rPr lang="it" sz="1400">
                <a:solidFill>
                  <a:schemeClr val="dk1"/>
                </a:solidFill>
                <a:latin typeface="Lexend"/>
                <a:ea typeface="Lexend"/>
                <a:cs typeface="Lexend"/>
                <a:sym typeface="Lexend"/>
              </a:rPr>
              <a:t>dove è difficile o troppo costoso arrivare </a:t>
            </a:r>
            <a:r>
              <a:rPr lang="it" sz="1400">
                <a:solidFill>
                  <a:schemeClr val="dk1"/>
                </a:solidFill>
                <a:latin typeface="Lexend"/>
                <a:ea typeface="Lexend"/>
                <a:cs typeface="Lexend"/>
                <a:sym typeface="Lexend"/>
              </a:rPr>
              <a:t>con il fotovoltaico tradizionale</a:t>
            </a:r>
            <a:r>
              <a:rPr lang="it" sz="1400">
                <a:solidFill>
                  <a:schemeClr val="dk1"/>
                </a:solidFill>
                <a:latin typeface="Lexend"/>
                <a:ea typeface="Lexend"/>
                <a:cs typeface="Lexend"/>
                <a:sym typeface="Lexend"/>
              </a:rPr>
              <a:t>!</a:t>
            </a:r>
            <a:endParaRPr sz="1400">
              <a:solidFill>
                <a:schemeClr val="dk1"/>
              </a:solidFill>
              <a:latin typeface="Lexend"/>
              <a:ea typeface="Lexend"/>
              <a:cs typeface="Lexend"/>
              <a:sym typeface="Lexend"/>
            </a:endParaRPr>
          </a:p>
          <a:p>
            <a:pPr indent="0" lvl="0" marL="0" rtl="0" algn="ctr">
              <a:spcBef>
                <a:spcPts val="0"/>
              </a:spcBef>
              <a:spcAft>
                <a:spcPts val="0"/>
              </a:spcAft>
              <a:buNone/>
            </a:pPr>
            <a:r>
              <a:t/>
            </a:r>
            <a:endParaRPr sz="1074">
              <a:solidFill>
                <a:schemeClr val="dk1"/>
              </a:solidFill>
              <a:latin typeface="Lexend"/>
              <a:ea typeface="Lexend"/>
              <a:cs typeface="Lexend"/>
              <a:sym typeface="Lexend"/>
            </a:endParaRPr>
          </a:p>
          <a:p>
            <a:pPr indent="0" lvl="0" marL="0" rtl="0" algn="ctr">
              <a:spcBef>
                <a:spcPts val="0"/>
              </a:spcBef>
              <a:spcAft>
                <a:spcPts val="0"/>
              </a:spcAft>
              <a:buNone/>
            </a:pPr>
            <a:r>
              <a:rPr lang="it" sz="1100" u="sng">
                <a:solidFill>
                  <a:schemeClr val="dk1"/>
                </a:solidFill>
                <a:latin typeface="Lexend"/>
                <a:ea typeface="Lexend"/>
                <a:cs typeface="Lexend"/>
                <a:sym typeface="Lexend"/>
              </a:rPr>
              <a:t>“Chiavi in Mano”</a:t>
            </a:r>
            <a:r>
              <a:rPr lang="it" sz="1100">
                <a:solidFill>
                  <a:schemeClr val="dk1"/>
                </a:solidFill>
                <a:latin typeface="Lexend"/>
                <a:ea typeface="Lexend"/>
                <a:cs typeface="Lexend"/>
                <a:sym typeface="Lexend"/>
              </a:rPr>
              <a:t> o </a:t>
            </a:r>
            <a:r>
              <a:rPr lang="it" sz="1100" u="sng">
                <a:solidFill>
                  <a:schemeClr val="dk1"/>
                </a:solidFill>
                <a:latin typeface="Lexend"/>
                <a:ea typeface="Lexend"/>
                <a:cs typeface="Lexend"/>
                <a:sym typeface="Lexend"/>
              </a:rPr>
              <a:t>“KIT senza montaggio”</a:t>
            </a:r>
            <a:endParaRPr b="1" sz="1100">
              <a:solidFill>
                <a:schemeClr val="dk1"/>
              </a:solidFill>
              <a:latin typeface="Lexend"/>
              <a:ea typeface="Lexend"/>
              <a:cs typeface="Lexend"/>
              <a:sym typeface="Lexend"/>
            </a:endParaRPr>
          </a:p>
        </p:txBody>
      </p:sp>
      <p:pic>
        <p:nvPicPr>
          <p:cNvPr id="354" name="Google Shape;354;p34"/>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55" name="Google Shape;355;p3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56" name="Google Shape;356;p3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Prodotti</a:t>
            </a:r>
            <a:r>
              <a:rPr lang="it" sz="700">
                <a:latin typeface="Lexend"/>
                <a:ea typeface="Lexend"/>
                <a:cs typeface="Lexend"/>
                <a:sym typeface="Lexend"/>
              </a:rPr>
              <a:t> | 21</a:t>
            </a:r>
            <a:endParaRPr sz="700">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3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62" name="Google Shape;362;p35"/>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 nostri Servizi - </a:t>
            </a:r>
            <a:r>
              <a:rPr b="1" lang="it" sz="2000">
                <a:latin typeface="Lexend"/>
                <a:ea typeface="Lexend"/>
                <a:cs typeface="Lexend"/>
                <a:sym typeface="Lexend"/>
              </a:rPr>
              <a:t>Manutenzione </a:t>
            </a:r>
            <a:r>
              <a:rPr b="1" lang="it" sz="2000">
                <a:solidFill>
                  <a:srgbClr val="999999"/>
                </a:solidFill>
                <a:latin typeface="Lexend"/>
                <a:ea typeface="Lexend"/>
                <a:cs typeface="Lexend"/>
                <a:sym typeface="Lexend"/>
              </a:rPr>
              <a:t>SILVER</a:t>
            </a:r>
            <a:endParaRPr b="1" sz="2000">
              <a:latin typeface="Lexend"/>
              <a:ea typeface="Lexend"/>
              <a:cs typeface="Lexend"/>
              <a:sym typeface="Lexend"/>
            </a:endParaRPr>
          </a:p>
        </p:txBody>
      </p:sp>
      <p:sp>
        <p:nvSpPr>
          <p:cNvPr id="363" name="Google Shape;363;p35"/>
          <p:cNvSpPr txBox="1"/>
          <p:nvPr>
            <p:ph idx="1" type="body"/>
          </p:nvPr>
        </p:nvSpPr>
        <p:spPr>
          <a:xfrm>
            <a:off x="823363" y="1715575"/>
            <a:ext cx="5102100" cy="296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it" sz="1200">
                <a:solidFill>
                  <a:schemeClr val="dk1"/>
                </a:solidFill>
                <a:highlight>
                  <a:srgbClr val="FFFFFF"/>
                </a:highlight>
                <a:latin typeface="Lexend"/>
                <a:ea typeface="Lexend"/>
                <a:cs typeface="Lexend"/>
                <a:sym typeface="Lexend"/>
              </a:rPr>
              <a:t>Manutenzione Programmata Annuale:</a:t>
            </a:r>
            <a:endParaRPr b="1" sz="1200">
              <a:solidFill>
                <a:schemeClr val="dk1"/>
              </a:solidFill>
              <a:highlight>
                <a:srgbClr val="FFFFFF"/>
              </a:highlight>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Checkup Totale sulle componenti elettriche ed elettroniche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Sostituzione Fusibili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Produzione Impianto</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Inverter</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Batterie</a:t>
            </a:r>
            <a:endParaRPr sz="1100">
              <a:solidFill>
                <a:schemeClr val="dk1"/>
              </a:solidFill>
              <a:latin typeface="Lexend"/>
              <a:ea typeface="Lexend"/>
              <a:cs typeface="Lexend"/>
              <a:sym typeface="Lexend"/>
            </a:endParaRPr>
          </a:p>
          <a:p>
            <a:pPr indent="0" lvl="0" marL="0" rtl="0" algn="l">
              <a:spcBef>
                <a:spcPts val="1100"/>
              </a:spcBef>
              <a:spcAft>
                <a:spcPts val="0"/>
              </a:spcAft>
              <a:buNone/>
            </a:pPr>
            <a:r>
              <a:t/>
            </a:r>
            <a:endParaRPr sz="1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b="1" lang="it" sz="1200">
                <a:solidFill>
                  <a:schemeClr val="dk1"/>
                </a:solidFill>
                <a:latin typeface="Lexend"/>
                <a:ea typeface="Lexend"/>
                <a:cs typeface="Lexend"/>
                <a:sym typeface="Lexend"/>
              </a:rPr>
              <a:t>Altri servizi Inclusi:</a:t>
            </a:r>
            <a:endParaRPr b="1" sz="1200">
              <a:solidFill>
                <a:schemeClr val="dk1"/>
              </a:solidFill>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Assicurazione Grandine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Una chiamata gratuita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Tempo di intervento garantito: </a:t>
            </a:r>
            <a:r>
              <a:rPr b="1" lang="it" sz="1100">
                <a:solidFill>
                  <a:schemeClr val="dk1"/>
                </a:solidFill>
                <a:latin typeface="Lexend"/>
                <a:ea typeface="Lexend"/>
                <a:cs typeface="Lexend"/>
                <a:sym typeface="Lexend"/>
              </a:rPr>
              <a:t>72h lavorative</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Sconto costi manutenzione extra: </a:t>
            </a:r>
            <a:r>
              <a:rPr b="1" lang="it" sz="1100">
                <a:solidFill>
                  <a:schemeClr val="dk1"/>
                </a:solidFill>
                <a:latin typeface="Lexend"/>
                <a:ea typeface="Lexend"/>
                <a:cs typeface="Lexend"/>
                <a:sym typeface="Lexend"/>
              </a:rPr>
              <a:t>30%</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 intervento di pulizia Annuale</a:t>
            </a:r>
            <a:endParaRPr sz="1100">
              <a:solidFill>
                <a:schemeClr val="dk1"/>
              </a:solidFill>
              <a:latin typeface="Lexend"/>
              <a:ea typeface="Lexend"/>
              <a:cs typeface="Lexend"/>
              <a:sym typeface="Lexend"/>
            </a:endParaRPr>
          </a:p>
        </p:txBody>
      </p:sp>
      <p:sp>
        <p:nvSpPr>
          <p:cNvPr id="364" name="Google Shape;364;p35"/>
          <p:cNvSpPr txBox="1"/>
          <p:nvPr>
            <p:ph type="title"/>
          </p:nvPr>
        </p:nvSpPr>
        <p:spPr>
          <a:xfrm>
            <a:off x="311700" y="1075500"/>
            <a:ext cx="85206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3 anni!</a:t>
            </a:r>
            <a:endParaRPr b="1" sz="1500">
              <a:latin typeface="Lexend"/>
              <a:ea typeface="Lexend"/>
              <a:cs typeface="Lexend"/>
              <a:sym typeface="Lexend"/>
            </a:endParaRPr>
          </a:p>
        </p:txBody>
      </p:sp>
      <p:pic>
        <p:nvPicPr>
          <p:cNvPr id="365" name="Google Shape;365;p35"/>
          <p:cNvPicPr preferRelativeResize="0"/>
          <p:nvPr/>
        </p:nvPicPr>
        <p:blipFill>
          <a:blip r:embed="rId3">
            <a:alphaModFix/>
          </a:blip>
          <a:stretch>
            <a:fillRect/>
          </a:stretch>
        </p:blipFill>
        <p:spPr>
          <a:xfrm>
            <a:off x="5925463" y="1574375"/>
            <a:ext cx="2395175" cy="3244301"/>
          </a:xfrm>
          <a:prstGeom prst="rect">
            <a:avLst/>
          </a:prstGeom>
          <a:noFill/>
          <a:ln>
            <a:noFill/>
          </a:ln>
        </p:spPr>
      </p:pic>
      <p:pic>
        <p:nvPicPr>
          <p:cNvPr id="366" name="Google Shape;366;p35"/>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67" name="Google Shape;367;p3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68" name="Google Shape;368;p3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a:t>
            </a:r>
            <a:r>
              <a:rPr lang="it" sz="700">
                <a:latin typeface="Lexend"/>
                <a:ea typeface="Lexend"/>
                <a:cs typeface="Lexend"/>
                <a:sym typeface="Lexend"/>
              </a:rPr>
              <a:t> | 22</a:t>
            </a:r>
            <a:endParaRPr sz="700">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74" name="Google Shape;374;p36"/>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 nostri Servizi - </a:t>
            </a:r>
            <a:r>
              <a:rPr b="1" lang="it" sz="2000">
                <a:latin typeface="Lexend"/>
                <a:ea typeface="Lexend"/>
                <a:cs typeface="Lexend"/>
                <a:sym typeface="Lexend"/>
              </a:rPr>
              <a:t>Manutenzione </a:t>
            </a:r>
            <a:r>
              <a:rPr b="1" lang="it" sz="2000">
                <a:solidFill>
                  <a:srgbClr val="C8B82C"/>
                </a:solidFill>
                <a:latin typeface="Lexend"/>
                <a:ea typeface="Lexend"/>
                <a:cs typeface="Lexend"/>
                <a:sym typeface="Lexend"/>
              </a:rPr>
              <a:t>GOLD</a:t>
            </a:r>
            <a:endParaRPr b="1" sz="2000">
              <a:solidFill>
                <a:srgbClr val="C8B82C"/>
              </a:solidFill>
              <a:latin typeface="Lexend"/>
              <a:ea typeface="Lexend"/>
              <a:cs typeface="Lexend"/>
              <a:sym typeface="Lexend"/>
            </a:endParaRPr>
          </a:p>
        </p:txBody>
      </p:sp>
      <p:sp>
        <p:nvSpPr>
          <p:cNvPr id="375" name="Google Shape;375;p36"/>
          <p:cNvSpPr txBox="1"/>
          <p:nvPr>
            <p:ph idx="1" type="body"/>
          </p:nvPr>
        </p:nvSpPr>
        <p:spPr>
          <a:xfrm>
            <a:off x="3344263" y="1715575"/>
            <a:ext cx="5102100" cy="2961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it" sz="1200">
                <a:solidFill>
                  <a:schemeClr val="dk1"/>
                </a:solidFill>
                <a:highlight>
                  <a:srgbClr val="FFFFFF"/>
                </a:highlight>
                <a:latin typeface="Lexend"/>
                <a:ea typeface="Lexend"/>
                <a:cs typeface="Lexend"/>
                <a:sym typeface="Lexend"/>
              </a:rPr>
              <a:t>Manutenzione Programmata Annuale:</a:t>
            </a:r>
            <a:endParaRPr b="1" sz="1200">
              <a:solidFill>
                <a:schemeClr val="dk1"/>
              </a:solidFill>
              <a:highlight>
                <a:srgbClr val="FFFFFF"/>
              </a:highlight>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Checkup Totale sulle componenti elettriche ed elettroniche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Sostituzione Fusibili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Produzione Impianto</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Inverter</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Batterie</a:t>
            </a:r>
            <a:endParaRPr sz="1100">
              <a:solidFill>
                <a:schemeClr val="dk1"/>
              </a:solidFill>
              <a:latin typeface="Lexend"/>
              <a:ea typeface="Lexend"/>
              <a:cs typeface="Lexend"/>
              <a:sym typeface="Lexend"/>
            </a:endParaRPr>
          </a:p>
          <a:p>
            <a:pPr indent="0" lvl="0" marL="0" rtl="0" algn="l">
              <a:spcBef>
                <a:spcPts val="1100"/>
              </a:spcBef>
              <a:spcAft>
                <a:spcPts val="0"/>
              </a:spcAft>
              <a:buNone/>
            </a:pPr>
            <a:r>
              <a:t/>
            </a:r>
            <a:endParaRPr sz="1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b="1" lang="it" sz="1200">
                <a:solidFill>
                  <a:schemeClr val="dk1"/>
                </a:solidFill>
                <a:latin typeface="Lexend"/>
                <a:ea typeface="Lexend"/>
                <a:cs typeface="Lexend"/>
                <a:sym typeface="Lexend"/>
              </a:rPr>
              <a:t>Altri servizi Inclusi:</a:t>
            </a:r>
            <a:endParaRPr b="1" sz="1200">
              <a:solidFill>
                <a:schemeClr val="dk1"/>
              </a:solidFill>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Assicurazione Grandine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Una chiamata gratuita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Tempo di intervento garantito: </a:t>
            </a:r>
            <a:r>
              <a:rPr b="1" lang="it" sz="1100">
                <a:solidFill>
                  <a:schemeClr val="dk1"/>
                </a:solidFill>
                <a:latin typeface="Lexend"/>
                <a:ea typeface="Lexend"/>
                <a:cs typeface="Lexend"/>
                <a:sym typeface="Lexend"/>
              </a:rPr>
              <a:t>48</a:t>
            </a:r>
            <a:r>
              <a:rPr b="1" lang="it" sz="1100">
                <a:solidFill>
                  <a:schemeClr val="dk1"/>
                </a:solidFill>
                <a:latin typeface="Lexend"/>
                <a:ea typeface="Lexend"/>
                <a:cs typeface="Lexend"/>
                <a:sym typeface="Lexend"/>
              </a:rPr>
              <a:t>h lavorative</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Sconto costi manutenzione extra: </a:t>
            </a:r>
            <a:r>
              <a:rPr b="1" lang="it" sz="1100">
                <a:solidFill>
                  <a:schemeClr val="dk1"/>
                </a:solidFill>
                <a:latin typeface="Lexend"/>
                <a:ea typeface="Lexend"/>
                <a:cs typeface="Lexend"/>
                <a:sym typeface="Lexend"/>
              </a:rPr>
              <a:t>40</a:t>
            </a:r>
            <a:r>
              <a:rPr b="1" lang="it" sz="1100">
                <a:solidFill>
                  <a:schemeClr val="dk1"/>
                </a:solidFill>
                <a:latin typeface="Lexend"/>
                <a:ea typeface="Lexend"/>
                <a:cs typeface="Lexend"/>
                <a:sym typeface="Lexend"/>
              </a:rPr>
              <a:t>%</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 intervento di pulizia Annuale</a:t>
            </a:r>
            <a:endParaRPr sz="1100">
              <a:solidFill>
                <a:schemeClr val="dk1"/>
              </a:solidFill>
              <a:latin typeface="Lexend"/>
              <a:ea typeface="Lexend"/>
              <a:cs typeface="Lexend"/>
              <a:sym typeface="Lexend"/>
            </a:endParaRPr>
          </a:p>
        </p:txBody>
      </p:sp>
      <p:sp>
        <p:nvSpPr>
          <p:cNvPr id="376" name="Google Shape;376;p36"/>
          <p:cNvSpPr txBox="1"/>
          <p:nvPr>
            <p:ph type="title"/>
          </p:nvPr>
        </p:nvSpPr>
        <p:spPr>
          <a:xfrm>
            <a:off x="311700" y="1075500"/>
            <a:ext cx="85206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3 anni!</a:t>
            </a:r>
            <a:endParaRPr b="1" sz="1500">
              <a:latin typeface="Lexend"/>
              <a:ea typeface="Lexend"/>
              <a:cs typeface="Lexend"/>
              <a:sym typeface="Lexend"/>
            </a:endParaRPr>
          </a:p>
        </p:txBody>
      </p:sp>
      <p:pic>
        <p:nvPicPr>
          <p:cNvPr id="377" name="Google Shape;377;p36"/>
          <p:cNvPicPr preferRelativeResize="0"/>
          <p:nvPr/>
        </p:nvPicPr>
        <p:blipFill rotWithShape="1">
          <a:blip r:embed="rId3">
            <a:alphaModFix/>
          </a:blip>
          <a:srcRect b="0" l="0" r="0" t="0"/>
          <a:stretch/>
        </p:blipFill>
        <p:spPr>
          <a:xfrm>
            <a:off x="697613" y="1574375"/>
            <a:ext cx="2395175" cy="3244301"/>
          </a:xfrm>
          <a:prstGeom prst="rect">
            <a:avLst/>
          </a:prstGeom>
          <a:noFill/>
          <a:ln>
            <a:noFill/>
          </a:ln>
        </p:spPr>
      </p:pic>
      <p:pic>
        <p:nvPicPr>
          <p:cNvPr id="378" name="Google Shape;378;p36"/>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79" name="Google Shape;379;p3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80" name="Google Shape;380;p3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a:t>
            </a:r>
            <a:r>
              <a:rPr lang="it" sz="700">
                <a:latin typeface="Lexend"/>
                <a:ea typeface="Lexend"/>
                <a:cs typeface="Lexend"/>
                <a:sym typeface="Lexend"/>
              </a:rPr>
              <a:t> | 23</a:t>
            </a:r>
            <a:endParaRPr sz="700">
              <a:latin typeface="Lexend"/>
              <a:ea typeface="Lexend"/>
              <a:cs typeface="Lexend"/>
              <a:sym typeface="Lexen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86" name="Google Shape;386;p37"/>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 nostri Servizi - </a:t>
            </a:r>
            <a:r>
              <a:rPr b="1" lang="it" sz="2000">
                <a:latin typeface="Lexend"/>
                <a:ea typeface="Lexend"/>
                <a:cs typeface="Lexend"/>
                <a:sym typeface="Lexend"/>
              </a:rPr>
              <a:t>Manutenzione </a:t>
            </a:r>
            <a:r>
              <a:rPr b="1" lang="it" sz="2000">
                <a:solidFill>
                  <a:srgbClr val="ADBCD4"/>
                </a:solidFill>
                <a:latin typeface="Lexend"/>
                <a:ea typeface="Lexend"/>
                <a:cs typeface="Lexend"/>
                <a:sym typeface="Lexend"/>
              </a:rPr>
              <a:t>PLATINUM</a:t>
            </a:r>
            <a:endParaRPr b="1" sz="2000">
              <a:solidFill>
                <a:srgbClr val="ADBCD4"/>
              </a:solidFill>
              <a:latin typeface="Lexend"/>
              <a:ea typeface="Lexend"/>
              <a:cs typeface="Lexend"/>
              <a:sym typeface="Lexend"/>
            </a:endParaRPr>
          </a:p>
        </p:txBody>
      </p:sp>
      <p:sp>
        <p:nvSpPr>
          <p:cNvPr id="387" name="Google Shape;387;p37"/>
          <p:cNvSpPr txBox="1"/>
          <p:nvPr>
            <p:ph idx="1" type="body"/>
          </p:nvPr>
        </p:nvSpPr>
        <p:spPr>
          <a:xfrm>
            <a:off x="823375" y="1681675"/>
            <a:ext cx="5102100" cy="3029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it" sz="1200">
                <a:solidFill>
                  <a:schemeClr val="dk1"/>
                </a:solidFill>
                <a:highlight>
                  <a:srgbClr val="FFFFFF"/>
                </a:highlight>
                <a:latin typeface="Lexend"/>
                <a:ea typeface="Lexend"/>
                <a:cs typeface="Lexend"/>
                <a:sym typeface="Lexend"/>
              </a:rPr>
              <a:t>Manutenzione Programmata Annuale:</a:t>
            </a:r>
            <a:endParaRPr b="1" sz="1200">
              <a:solidFill>
                <a:schemeClr val="dk1"/>
              </a:solidFill>
              <a:highlight>
                <a:srgbClr val="FFFFFF"/>
              </a:highlight>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Checkup Totale sulle componenti elettriche ed elettroniche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Sostituzione Fusibili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Produzione Impianto</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Inverter</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Verifica Batterie</a:t>
            </a:r>
            <a:endParaRPr sz="1100">
              <a:solidFill>
                <a:schemeClr val="dk1"/>
              </a:solidFill>
              <a:latin typeface="Lexend"/>
              <a:ea typeface="Lexend"/>
              <a:cs typeface="Lexend"/>
              <a:sym typeface="Lexend"/>
            </a:endParaRPr>
          </a:p>
          <a:p>
            <a:pPr indent="0" lvl="0" marL="0" rtl="0" algn="l">
              <a:spcBef>
                <a:spcPts val="1100"/>
              </a:spcBef>
              <a:spcAft>
                <a:spcPts val="0"/>
              </a:spcAft>
              <a:buNone/>
            </a:pPr>
            <a:r>
              <a:t/>
            </a:r>
            <a:endParaRPr sz="100">
              <a:solidFill>
                <a:schemeClr val="dk1"/>
              </a:solidFill>
              <a:latin typeface="Lexend"/>
              <a:ea typeface="Lexend"/>
              <a:cs typeface="Lexend"/>
              <a:sym typeface="Lexend"/>
            </a:endParaRPr>
          </a:p>
          <a:p>
            <a:pPr indent="0" lvl="0" marL="0" rtl="0" algn="l">
              <a:lnSpc>
                <a:spcPct val="100000"/>
              </a:lnSpc>
              <a:spcBef>
                <a:spcPts val="0"/>
              </a:spcBef>
              <a:spcAft>
                <a:spcPts val="0"/>
              </a:spcAft>
              <a:buNone/>
            </a:pPr>
            <a:r>
              <a:rPr b="1" lang="it" sz="1200">
                <a:solidFill>
                  <a:schemeClr val="dk1"/>
                </a:solidFill>
                <a:latin typeface="Lexend"/>
                <a:ea typeface="Lexend"/>
                <a:cs typeface="Lexend"/>
                <a:sym typeface="Lexend"/>
              </a:rPr>
              <a:t>Altri servizi Inclusi:</a:t>
            </a:r>
            <a:endParaRPr b="1" sz="1200">
              <a:solidFill>
                <a:schemeClr val="dk1"/>
              </a:solidFill>
              <a:latin typeface="Lexend"/>
              <a:ea typeface="Lexend"/>
              <a:cs typeface="Lexend"/>
              <a:sym typeface="Lexend"/>
            </a:endParaRPr>
          </a:p>
          <a:p>
            <a:pPr indent="-298450" lvl="0" marL="457200" rtl="0" algn="l">
              <a:spcBef>
                <a:spcPts val="1100"/>
              </a:spcBef>
              <a:spcAft>
                <a:spcPts val="0"/>
              </a:spcAft>
              <a:buClr>
                <a:schemeClr val="dk1"/>
              </a:buClr>
              <a:buSzPts val="1100"/>
              <a:buFont typeface="Lexend"/>
              <a:buChar char="●"/>
            </a:pPr>
            <a:r>
              <a:rPr lang="it" sz="1100">
                <a:solidFill>
                  <a:schemeClr val="dk1"/>
                </a:solidFill>
                <a:latin typeface="Lexend"/>
                <a:ea typeface="Lexend"/>
                <a:cs typeface="Lexend"/>
                <a:sym typeface="Lexend"/>
              </a:rPr>
              <a:t>Assicurazione Grandine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Una chiamata gratuita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Tempo di intervento garantito: </a:t>
            </a:r>
            <a:r>
              <a:rPr b="1" lang="it" sz="1100">
                <a:solidFill>
                  <a:schemeClr val="dk1"/>
                </a:solidFill>
                <a:latin typeface="Lexend"/>
                <a:ea typeface="Lexend"/>
                <a:cs typeface="Lexend"/>
                <a:sym typeface="Lexend"/>
              </a:rPr>
              <a:t>48</a:t>
            </a:r>
            <a:r>
              <a:rPr b="1" lang="it" sz="1100">
                <a:solidFill>
                  <a:schemeClr val="dk1"/>
                </a:solidFill>
                <a:latin typeface="Lexend"/>
                <a:ea typeface="Lexend"/>
                <a:cs typeface="Lexend"/>
                <a:sym typeface="Lexend"/>
              </a:rPr>
              <a:t>h lavorative</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Sconto costi manutenzione extra: </a:t>
            </a:r>
            <a:r>
              <a:rPr b="1" lang="it" sz="1100">
                <a:solidFill>
                  <a:schemeClr val="dk1"/>
                </a:solidFill>
                <a:latin typeface="Lexend"/>
                <a:ea typeface="Lexend"/>
                <a:cs typeface="Lexend"/>
                <a:sym typeface="Lexend"/>
              </a:rPr>
              <a:t>4</a:t>
            </a:r>
            <a:r>
              <a:rPr b="1" lang="it" sz="1100">
                <a:solidFill>
                  <a:schemeClr val="dk1"/>
                </a:solidFill>
                <a:latin typeface="Lexend"/>
                <a:ea typeface="Lexend"/>
                <a:cs typeface="Lexend"/>
                <a:sym typeface="Lexend"/>
              </a:rPr>
              <a:t>0%</a:t>
            </a:r>
            <a:endParaRPr b="1"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Un intervento di pulizia Annuale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b="1" lang="it" sz="1100">
                <a:solidFill>
                  <a:schemeClr val="dk1"/>
                </a:solidFill>
                <a:latin typeface="Lexend"/>
                <a:ea typeface="Lexend"/>
                <a:cs typeface="Lexend"/>
                <a:sym typeface="Lexend"/>
              </a:rPr>
              <a:t>Sostituzione Immediata dell’hardware in garanzia </a:t>
            </a:r>
            <a:r>
              <a:rPr lang="it" sz="900">
                <a:solidFill>
                  <a:schemeClr val="dk1"/>
                </a:solidFill>
                <a:latin typeface="Lexend"/>
                <a:ea typeface="Lexend"/>
                <a:cs typeface="Lexend"/>
                <a:sym typeface="Lexend"/>
              </a:rPr>
              <a:t>(Inv. e Acc.)</a:t>
            </a:r>
            <a:endParaRPr sz="900">
              <a:solidFill>
                <a:schemeClr val="dk1"/>
              </a:solidFill>
              <a:latin typeface="Lexend"/>
              <a:ea typeface="Lexend"/>
              <a:cs typeface="Lexend"/>
              <a:sym typeface="Lexend"/>
            </a:endParaRPr>
          </a:p>
        </p:txBody>
      </p:sp>
      <p:sp>
        <p:nvSpPr>
          <p:cNvPr id="388" name="Google Shape;388;p37"/>
          <p:cNvSpPr txBox="1"/>
          <p:nvPr>
            <p:ph type="title"/>
          </p:nvPr>
        </p:nvSpPr>
        <p:spPr>
          <a:xfrm>
            <a:off x="311700" y="1075500"/>
            <a:ext cx="8520600" cy="431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lang="it" sz="1500">
                <a:latin typeface="Lexend"/>
                <a:ea typeface="Lexend"/>
                <a:cs typeface="Lexend"/>
                <a:sym typeface="Lexend"/>
              </a:rPr>
              <a:t>Protetto e Assicurato per 3 anni!</a:t>
            </a:r>
            <a:endParaRPr b="1" sz="1500">
              <a:latin typeface="Lexend"/>
              <a:ea typeface="Lexend"/>
              <a:cs typeface="Lexend"/>
              <a:sym typeface="Lexend"/>
            </a:endParaRPr>
          </a:p>
        </p:txBody>
      </p:sp>
      <p:pic>
        <p:nvPicPr>
          <p:cNvPr id="389" name="Google Shape;389;p37"/>
          <p:cNvPicPr preferRelativeResize="0"/>
          <p:nvPr/>
        </p:nvPicPr>
        <p:blipFill rotWithShape="1">
          <a:blip r:embed="rId3">
            <a:alphaModFix/>
          </a:blip>
          <a:srcRect b="0" l="0" r="0" t="0"/>
          <a:stretch/>
        </p:blipFill>
        <p:spPr>
          <a:xfrm>
            <a:off x="5925463" y="1574375"/>
            <a:ext cx="2395175" cy="3244301"/>
          </a:xfrm>
          <a:prstGeom prst="rect">
            <a:avLst/>
          </a:prstGeom>
          <a:noFill/>
          <a:ln>
            <a:noFill/>
          </a:ln>
        </p:spPr>
      </p:pic>
      <p:pic>
        <p:nvPicPr>
          <p:cNvPr id="390" name="Google Shape;390;p3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391" name="Google Shape;391;p3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392" name="Google Shape;392;p3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I Nostri Servizi</a:t>
            </a:r>
            <a:r>
              <a:rPr lang="it" sz="700">
                <a:latin typeface="Lexend"/>
                <a:ea typeface="Lexend"/>
                <a:cs typeface="Lexend"/>
                <a:sym typeface="Lexend"/>
              </a:rPr>
              <a:t> | 24</a:t>
            </a:r>
            <a:endParaRPr sz="700">
              <a:latin typeface="Lexend"/>
              <a:ea typeface="Lexend"/>
              <a:cs typeface="Lexend"/>
              <a:sym typeface="Lexen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8"/>
          <p:cNvSpPr txBox="1"/>
          <p:nvPr>
            <p:ph type="title"/>
          </p:nvPr>
        </p:nvSpPr>
        <p:spPr>
          <a:xfrm>
            <a:off x="311700" y="22854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300">
                <a:latin typeface="Lexend"/>
                <a:ea typeface="Lexend"/>
                <a:cs typeface="Lexend"/>
                <a:sym typeface="Lexend"/>
              </a:rPr>
              <a:t>EKO Srl</a:t>
            </a:r>
            <a:r>
              <a:rPr lang="it" sz="2300">
                <a:latin typeface="Lexend"/>
                <a:ea typeface="Lexend"/>
                <a:cs typeface="Lexend"/>
                <a:sym typeface="Lexend"/>
              </a:rPr>
              <a:t> per </a:t>
            </a:r>
            <a:r>
              <a:rPr b="1" lang="it" sz="2300">
                <a:latin typeface="Lexend"/>
                <a:ea typeface="Lexend"/>
                <a:cs typeface="Lexend"/>
                <a:sym typeface="Lexend"/>
              </a:rPr>
              <a:t>privati</a:t>
            </a:r>
            <a:r>
              <a:rPr lang="it" sz="2300">
                <a:latin typeface="Lexend"/>
                <a:ea typeface="Lexend"/>
                <a:cs typeface="Lexend"/>
                <a:sym typeface="Lexend"/>
              </a:rPr>
              <a:t>, </a:t>
            </a:r>
            <a:r>
              <a:rPr b="1" lang="it" sz="2300">
                <a:latin typeface="Lexend"/>
                <a:ea typeface="Lexend"/>
                <a:cs typeface="Lexend"/>
                <a:sym typeface="Lexend"/>
              </a:rPr>
              <a:t>aziende</a:t>
            </a:r>
            <a:r>
              <a:rPr lang="it" sz="2300">
                <a:latin typeface="Lexend"/>
                <a:ea typeface="Lexend"/>
                <a:cs typeface="Lexend"/>
                <a:sym typeface="Lexend"/>
              </a:rPr>
              <a:t>… e </a:t>
            </a:r>
            <a:r>
              <a:rPr b="1" lang="it" sz="2300">
                <a:latin typeface="Lexend"/>
                <a:ea typeface="Lexend"/>
                <a:cs typeface="Lexend"/>
                <a:sym typeface="Lexend"/>
              </a:rPr>
              <a:t>collaborazioni B2B</a:t>
            </a:r>
            <a:endParaRPr b="1" sz="2300">
              <a:latin typeface="Lexend"/>
              <a:ea typeface="Lexend"/>
              <a:cs typeface="Lexend"/>
              <a:sym typeface="Lexend"/>
            </a:endParaRPr>
          </a:p>
        </p:txBody>
      </p:sp>
      <p:sp>
        <p:nvSpPr>
          <p:cNvPr id="398" name="Google Shape;398;p3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399" name="Google Shape;399;p3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400" name="Google Shape;400;p3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01" name="Google Shape;401;p3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25</a:t>
            </a:r>
            <a:endParaRPr sz="700">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9"/>
          <p:cNvSpPr txBox="1"/>
          <p:nvPr>
            <p:ph type="title"/>
          </p:nvPr>
        </p:nvSpPr>
        <p:spPr>
          <a:xfrm>
            <a:off x="311700" y="1617891"/>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300">
                <a:latin typeface="Lexend"/>
                <a:ea typeface="Lexend"/>
                <a:cs typeface="Lexend"/>
                <a:sym typeface="Lexend"/>
              </a:rPr>
              <a:t>EKO Srl</a:t>
            </a:r>
            <a:r>
              <a:rPr lang="it" sz="2300">
                <a:latin typeface="Lexend"/>
                <a:ea typeface="Lexend"/>
                <a:cs typeface="Lexend"/>
                <a:sym typeface="Lexend"/>
              </a:rPr>
              <a:t> per </a:t>
            </a:r>
            <a:r>
              <a:rPr b="1" lang="it" sz="2300">
                <a:latin typeface="Lexend"/>
                <a:ea typeface="Lexend"/>
                <a:cs typeface="Lexend"/>
                <a:sym typeface="Lexend"/>
              </a:rPr>
              <a:t>privati</a:t>
            </a:r>
            <a:r>
              <a:rPr lang="it" sz="2300">
                <a:latin typeface="Lexend"/>
                <a:ea typeface="Lexend"/>
                <a:cs typeface="Lexend"/>
                <a:sym typeface="Lexend"/>
              </a:rPr>
              <a:t>, </a:t>
            </a:r>
            <a:r>
              <a:rPr b="1" lang="it" sz="2300">
                <a:latin typeface="Lexend"/>
                <a:ea typeface="Lexend"/>
                <a:cs typeface="Lexend"/>
                <a:sym typeface="Lexend"/>
              </a:rPr>
              <a:t>aziende</a:t>
            </a:r>
            <a:r>
              <a:rPr lang="it" sz="2300">
                <a:latin typeface="Lexend"/>
                <a:ea typeface="Lexend"/>
                <a:cs typeface="Lexend"/>
                <a:sym typeface="Lexend"/>
              </a:rPr>
              <a:t>… e </a:t>
            </a:r>
            <a:r>
              <a:rPr b="1" lang="it" sz="2300">
                <a:latin typeface="Lexend"/>
                <a:ea typeface="Lexend"/>
                <a:cs typeface="Lexend"/>
                <a:sym typeface="Lexend"/>
              </a:rPr>
              <a:t>collaborazioni B2B</a:t>
            </a:r>
            <a:endParaRPr b="1" sz="2300">
              <a:latin typeface="Lexend"/>
              <a:ea typeface="Lexend"/>
              <a:cs typeface="Lexend"/>
              <a:sym typeface="Lexend"/>
            </a:endParaRPr>
          </a:p>
        </p:txBody>
      </p:sp>
      <p:sp>
        <p:nvSpPr>
          <p:cNvPr id="407" name="Google Shape;407;p3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08" name="Google Shape;408;p39"/>
          <p:cNvSpPr txBox="1"/>
          <p:nvPr>
            <p:ph type="title"/>
          </p:nvPr>
        </p:nvSpPr>
        <p:spPr>
          <a:xfrm>
            <a:off x="311700" y="2398798"/>
            <a:ext cx="8520600" cy="11268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3000">
                <a:solidFill>
                  <a:srgbClr val="86BD41"/>
                </a:solidFill>
                <a:latin typeface="Lexend"/>
                <a:ea typeface="Lexend"/>
                <a:cs typeface="Lexend"/>
                <a:sym typeface="Lexend"/>
              </a:rPr>
              <a:t>vi introduciamo nel nostro</a:t>
            </a:r>
            <a:endParaRPr sz="3000">
              <a:solidFill>
                <a:srgbClr val="86BD41"/>
              </a:solidFill>
              <a:latin typeface="Lexend"/>
              <a:ea typeface="Lexend"/>
              <a:cs typeface="Lexend"/>
              <a:sym typeface="Lexend"/>
            </a:endParaRPr>
          </a:p>
          <a:p>
            <a:pPr indent="0" lvl="0" marL="0" rtl="0" algn="ctr">
              <a:lnSpc>
                <a:spcPct val="115000"/>
              </a:lnSpc>
              <a:spcBef>
                <a:spcPts val="0"/>
              </a:spcBef>
              <a:spcAft>
                <a:spcPts val="0"/>
              </a:spcAft>
              <a:buNone/>
            </a:pPr>
            <a:r>
              <a:rPr b="1" lang="it" sz="3000">
                <a:solidFill>
                  <a:srgbClr val="86BD41"/>
                </a:solidFill>
                <a:latin typeface="Lexend"/>
                <a:ea typeface="Lexend"/>
                <a:cs typeface="Lexend"/>
                <a:sym typeface="Lexend"/>
              </a:rPr>
              <a:t>BUSINESS MODEL</a:t>
            </a:r>
            <a:endParaRPr b="1" sz="3000">
              <a:solidFill>
                <a:srgbClr val="86BD41"/>
              </a:solidFill>
              <a:latin typeface="Lexend"/>
              <a:ea typeface="Lexend"/>
              <a:cs typeface="Lexend"/>
              <a:sym typeface="Lexend"/>
            </a:endParaRPr>
          </a:p>
        </p:txBody>
      </p:sp>
      <p:pic>
        <p:nvPicPr>
          <p:cNvPr id="409" name="Google Shape;409;p3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410" name="Google Shape;410;p3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11" name="Google Shape;411;p3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26</a:t>
            </a:r>
            <a:endParaRPr sz="700">
              <a:latin typeface="Lexend"/>
              <a:ea typeface="Lexend"/>
              <a:cs typeface="Lexend"/>
              <a:sym typeface="Lexen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40"/>
          <p:cNvSpPr txBox="1"/>
          <p:nvPr>
            <p:ph type="title"/>
          </p:nvPr>
        </p:nvSpPr>
        <p:spPr>
          <a:xfrm>
            <a:off x="311700" y="10025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EKO Srl</a:t>
            </a:r>
            <a:r>
              <a:rPr lang="it" sz="2000">
                <a:latin typeface="Lexend"/>
                <a:ea typeface="Lexend"/>
                <a:cs typeface="Lexend"/>
                <a:sym typeface="Lexend"/>
              </a:rPr>
              <a:t> per </a:t>
            </a:r>
            <a:r>
              <a:rPr b="1" lang="it" sz="2000">
                <a:latin typeface="Lexend"/>
                <a:ea typeface="Lexend"/>
                <a:cs typeface="Lexend"/>
                <a:sym typeface="Lexend"/>
              </a:rPr>
              <a:t>privati</a:t>
            </a:r>
            <a:r>
              <a:rPr lang="it" sz="2000">
                <a:latin typeface="Lexend"/>
                <a:ea typeface="Lexend"/>
                <a:cs typeface="Lexend"/>
                <a:sym typeface="Lexend"/>
              </a:rPr>
              <a:t>, </a:t>
            </a:r>
            <a:r>
              <a:rPr b="1" lang="it" sz="2000">
                <a:latin typeface="Lexend"/>
                <a:ea typeface="Lexend"/>
                <a:cs typeface="Lexend"/>
                <a:sym typeface="Lexend"/>
              </a:rPr>
              <a:t>aziende</a:t>
            </a:r>
            <a:r>
              <a:rPr lang="it" sz="2000">
                <a:latin typeface="Lexend"/>
                <a:ea typeface="Lexend"/>
                <a:cs typeface="Lexend"/>
                <a:sym typeface="Lexend"/>
              </a:rPr>
              <a:t>… e </a:t>
            </a:r>
            <a:r>
              <a:rPr b="1" lang="it" sz="2000">
                <a:latin typeface="Lexend"/>
                <a:ea typeface="Lexend"/>
                <a:cs typeface="Lexend"/>
                <a:sym typeface="Lexend"/>
              </a:rPr>
              <a:t>collaborazioni B2B</a:t>
            </a:r>
            <a:endParaRPr b="1" sz="2000">
              <a:latin typeface="Lexend"/>
              <a:ea typeface="Lexend"/>
              <a:cs typeface="Lexend"/>
              <a:sym typeface="Lexend"/>
            </a:endParaRPr>
          </a:p>
        </p:txBody>
      </p:sp>
      <p:sp>
        <p:nvSpPr>
          <p:cNvPr id="417" name="Google Shape;417;p4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18" name="Google Shape;418;p40"/>
          <p:cNvGrpSpPr/>
          <p:nvPr/>
        </p:nvGrpSpPr>
        <p:grpSpPr>
          <a:xfrm>
            <a:off x="585268" y="1905924"/>
            <a:ext cx="2890645" cy="833046"/>
            <a:chOff x="1191125" y="1595500"/>
            <a:chExt cx="2451361" cy="706450"/>
          </a:xfrm>
        </p:grpSpPr>
        <p:pic>
          <p:nvPicPr>
            <p:cNvPr id="419" name="Google Shape;419;p40"/>
            <p:cNvPicPr preferRelativeResize="0"/>
            <p:nvPr/>
          </p:nvPicPr>
          <p:blipFill rotWithShape="1">
            <a:blip r:embed="rId3">
              <a:alphaModFix/>
            </a:blip>
            <a:srcRect b="0" l="0" r="0" t="0"/>
            <a:stretch/>
          </p:blipFill>
          <p:spPr>
            <a:xfrm>
              <a:off x="3035763" y="1595500"/>
              <a:ext cx="606724" cy="606724"/>
            </a:xfrm>
            <a:prstGeom prst="rect">
              <a:avLst/>
            </a:prstGeom>
            <a:noFill/>
            <a:ln>
              <a:noFill/>
            </a:ln>
          </p:spPr>
        </p:pic>
        <p:pic>
          <p:nvPicPr>
            <p:cNvPr id="420" name="Google Shape;420;p40"/>
            <p:cNvPicPr preferRelativeResize="0"/>
            <p:nvPr/>
          </p:nvPicPr>
          <p:blipFill>
            <a:blip r:embed="rId4">
              <a:alphaModFix/>
            </a:blip>
            <a:stretch>
              <a:fillRect/>
            </a:stretch>
          </p:blipFill>
          <p:spPr>
            <a:xfrm>
              <a:off x="2417770" y="1758152"/>
              <a:ext cx="281380" cy="281400"/>
            </a:xfrm>
            <a:prstGeom prst="rect">
              <a:avLst/>
            </a:prstGeom>
            <a:noFill/>
            <a:ln>
              <a:noFill/>
            </a:ln>
          </p:spPr>
        </p:pic>
        <p:grpSp>
          <p:nvGrpSpPr>
            <p:cNvPr id="421" name="Google Shape;421;p40"/>
            <p:cNvGrpSpPr/>
            <p:nvPr/>
          </p:nvGrpSpPr>
          <p:grpSpPr>
            <a:xfrm>
              <a:off x="1191125" y="1679050"/>
              <a:ext cx="923400" cy="622900"/>
              <a:chOff x="4937663" y="1679050"/>
              <a:chExt cx="923400" cy="622900"/>
            </a:xfrm>
          </p:grpSpPr>
          <p:pic>
            <p:nvPicPr>
              <p:cNvPr id="422" name="Google Shape;422;p40"/>
              <p:cNvPicPr preferRelativeResize="0"/>
              <p:nvPr/>
            </p:nvPicPr>
            <p:blipFill>
              <a:blip r:embed="rId5">
                <a:alphaModFix/>
              </a:blip>
              <a:stretch>
                <a:fillRect/>
              </a:stretch>
            </p:blipFill>
            <p:spPr>
              <a:xfrm>
                <a:off x="4958550" y="1679050"/>
                <a:ext cx="432475" cy="432475"/>
              </a:xfrm>
              <a:prstGeom prst="rect">
                <a:avLst/>
              </a:prstGeom>
              <a:noFill/>
              <a:ln>
                <a:noFill/>
              </a:ln>
            </p:spPr>
          </p:pic>
          <p:pic>
            <p:nvPicPr>
              <p:cNvPr id="423" name="Google Shape;423;p40"/>
              <p:cNvPicPr preferRelativeResize="0"/>
              <p:nvPr/>
            </p:nvPicPr>
            <p:blipFill>
              <a:blip r:embed="rId5">
                <a:alphaModFix/>
              </a:blip>
              <a:stretch>
                <a:fillRect/>
              </a:stretch>
            </p:blipFill>
            <p:spPr>
              <a:xfrm>
                <a:off x="5391025" y="1679050"/>
                <a:ext cx="432475" cy="432475"/>
              </a:xfrm>
              <a:prstGeom prst="rect">
                <a:avLst/>
              </a:prstGeom>
              <a:noFill/>
              <a:ln>
                <a:noFill/>
              </a:ln>
            </p:spPr>
          </p:pic>
          <p:sp>
            <p:nvSpPr>
              <p:cNvPr id="424" name="Google Shape;424;p40"/>
              <p:cNvSpPr txBox="1"/>
              <p:nvPr/>
            </p:nvSpPr>
            <p:spPr>
              <a:xfrm>
                <a:off x="4937663" y="1949450"/>
                <a:ext cx="923400" cy="35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highlight>
                      <a:srgbClr val="86BD41"/>
                    </a:highlight>
                    <a:latin typeface="Lexend"/>
                    <a:ea typeface="Lexend"/>
                    <a:cs typeface="Lexend"/>
                    <a:sym typeface="Lexend"/>
                  </a:rPr>
                  <a:t>OEMs</a:t>
                </a:r>
                <a:endParaRPr sz="1500">
                  <a:solidFill>
                    <a:schemeClr val="lt1"/>
                  </a:solidFill>
                  <a:highlight>
                    <a:srgbClr val="86BD41"/>
                  </a:highlight>
                  <a:latin typeface="Lexend"/>
                  <a:ea typeface="Lexend"/>
                  <a:cs typeface="Lexend"/>
                  <a:sym typeface="Lexend"/>
                </a:endParaRPr>
              </a:p>
            </p:txBody>
          </p:sp>
        </p:grpSp>
      </p:grpSp>
      <p:pic>
        <p:nvPicPr>
          <p:cNvPr id="425" name="Google Shape;425;p40"/>
          <p:cNvPicPr preferRelativeResize="0"/>
          <p:nvPr/>
        </p:nvPicPr>
        <p:blipFill rotWithShape="1">
          <a:blip r:embed="rId6">
            <a:alphaModFix/>
          </a:blip>
          <a:srcRect b="0" l="0" r="0" t="0"/>
          <a:stretch/>
        </p:blipFill>
        <p:spPr>
          <a:xfrm>
            <a:off x="0" y="5"/>
            <a:ext cx="9144003" cy="598289"/>
          </a:xfrm>
          <a:prstGeom prst="rect">
            <a:avLst/>
          </a:prstGeom>
          <a:noFill/>
          <a:ln>
            <a:noFill/>
          </a:ln>
        </p:spPr>
      </p:pic>
      <p:sp>
        <p:nvSpPr>
          <p:cNvPr id="426" name="Google Shape;426;p4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27" name="Google Shape;427;p4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27</a:t>
            </a:r>
            <a:endParaRPr sz="700">
              <a:latin typeface="Lexend"/>
              <a:ea typeface="Lexend"/>
              <a:cs typeface="Lexend"/>
              <a:sym typeface="Lexen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1" name="Shape 431"/>
        <p:cNvGrpSpPr/>
        <p:nvPr/>
      </p:nvGrpSpPr>
      <p:grpSpPr>
        <a:xfrm>
          <a:off x="0" y="0"/>
          <a:ext cx="0" cy="0"/>
          <a:chOff x="0" y="0"/>
          <a:chExt cx="0" cy="0"/>
        </a:xfrm>
      </p:grpSpPr>
      <p:sp>
        <p:nvSpPr>
          <p:cNvPr id="432" name="Google Shape;432;p41"/>
          <p:cNvSpPr txBox="1"/>
          <p:nvPr>
            <p:ph type="title"/>
          </p:nvPr>
        </p:nvSpPr>
        <p:spPr>
          <a:xfrm>
            <a:off x="311700" y="10025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EKO Srl</a:t>
            </a:r>
            <a:r>
              <a:rPr lang="it" sz="2000">
                <a:latin typeface="Lexend"/>
                <a:ea typeface="Lexend"/>
                <a:cs typeface="Lexend"/>
                <a:sym typeface="Lexend"/>
              </a:rPr>
              <a:t> per </a:t>
            </a:r>
            <a:r>
              <a:rPr b="1" lang="it" sz="2000">
                <a:latin typeface="Lexend"/>
                <a:ea typeface="Lexend"/>
                <a:cs typeface="Lexend"/>
                <a:sym typeface="Lexend"/>
              </a:rPr>
              <a:t>privati</a:t>
            </a:r>
            <a:r>
              <a:rPr lang="it" sz="2000">
                <a:latin typeface="Lexend"/>
                <a:ea typeface="Lexend"/>
                <a:cs typeface="Lexend"/>
                <a:sym typeface="Lexend"/>
              </a:rPr>
              <a:t>, </a:t>
            </a:r>
            <a:r>
              <a:rPr b="1" lang="it" sz="2000">
                <a:latin typeface="Lexend"/>
                <a:ea typeface="Lexend"/>
                <a:cs typeface="Lexend"/>
                <a:sym typeface="Lexend"/>
              </a:rPr>
              <a:t>aziende</a:t>
            </a:r>
            <a:r>
              <a:rPr lang="it" sz="2000">
                <a:latin typeface="Lexend"/>
                <a:ea typeface="Lexend"/>
                <a:cs typeface="Lexend"/>
                <a:sym typeface="Lexend"/>
              </a:rPr>
              <a:t>… e </a:t>
            </a:r>
            <a:r>
              <a:rPr b="1" lang="it" sz="2000">
                <a:latin typeface="Lexend"/>
                <a:ea typeface="Lexend"/>
                <a:cs typeface="Lexend"/>
                <a:sym typeface="Lexend"/>
              </a:rPr>
              <a:t>collaborazioni B2B</a:t>
            </a:r>
            <a:endParaRPr b="1" sz="2000">
              <a:latin typeface="Lexend"/>
              <a:ea typeface="Lexend"/>
              <a:cs typeface="Lexend"/>
              <a:sym typeface="Lexend"/>
            </a:endParaRPr>
          </a:p>
        </p:txBody>
      </p:sp>
      <p:sp>
        <p:nvSpPr>
          <p:cNvPr id="433" name="Google Shape;433;p4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34" name="Google Shape;434;p41"/>
          <p:cNvGrpSpPr/>
          <p:nvPr/>
        </p:nvGrpSpPr>
        <p:grpSpPr>
          <a:xfrm>
            <a:off x="585268" y="1905924"/>
            <a:ext cx="7973441" cy="833046"/>
            <a:chOff x="1191125" y="1595500"/>
            <a:chExt cx="6761738" cy="706450"/>
          </a:xfrm>
        </p:grpSpPr>
        <p:pic>
          <p:nvPicPr>
            <p:cNvPr id="435" name="Google Shape;435;p41"/>
            <p:cNvPicPr preferRelativeResize="0"/>
            <p:nvPr/>
          </p:nvPicPr>
          <p:blipFill rotWithShape="1">
            <a:blip r:embed="rId3">
              <a:alphaModFix/>
            </a:blip>
            <a:srcRect b="0" l="0" r="0" t="0"/>
            <a:stretch/>
          </p:blipFill>
          <p:spPr>
            <a:xfrm>
              <a:off x="3035763" y="1595500"/>
              <a:ext cx="606724" cy="606724"/>
            </a:xfrm>
            <a:prstGeom prst="rect">
              <a:avLst/>
            </a:prstGeom>
            <a:noFill/>
            <a:ln>
              <a:noFill/>
            </a:ln>
          </p:spPr>
        </p:pic>
        <p:pic>
          <p:nvPicPr>
            <p:cNvPr id="436" name="Google Shape;436;p41"/>
            <p:cNvPicPr preferRelativeResize="0"/>
            <p:nvPr/>
          </p:nvPicPr>
          <p:blipFill>
            <a:blip r:embed="rId4">
              <a:alphaModFix/>
            </a:blip>
            <a:stretch>
              <a:fillRect/>
            </a:stretch>
          </p:blipFill>
          <p:spPr>
            <a:xfrm>
              <a:off x="2417770" y="1758152"/>
              <a:ext cx="281380" cy="281400"/>
            </a:xfrm>
            <a:prstGeom prst="rect">
              <a:avLst/>
            </a:prstGeom>
            <a:noFill/>
            <a:ln>
              <a:noFill/>
            </a:ln>
          </p:spPr>
        </p:pic>
        <p:grpSp>
          <p:nvGrpSpPr>
            <p:cNvPr id="437" name="Google Shape;437;p41"/>
            <p:cNvGrpSpPr/>
            <p:nvPr/>
          </p:nvGrpSpPr>
          <p:grpSpPr>
            <a:xfrm>
              <a:off x="1191125" y="1679050"/>
              <a:ext cx="923400" cy="622900"/>
              <a:chOff x="4937663" y="1679050"/>
              <a:chExt cx="923400" cy="622900"/>
            </a:xfrm>
          </p:grpSpPr>
          <p:pic>
            <p:nvPicPr>
              <p:cNvPr id="438" name="Google Shape;438;p41"/>
              <p:cNvPicPr preferRelativeResize="0"/>
              <p:nvPr/>
            </p:nvPicPr>
            <p:blipFill>
              <a:blip r:embed="rId5">
                <a:alphaModFix/>
              </a:blip>
              <a:stretch>
                <a:fillRect/>
              </a:stretch>
            </p:blipFill>
            <p:spPr>
              <a:xfrm>
                <a:off x="4958550" y="1679050"/>
                <a:ext cx="432475" cy="432475"/>
              </a:xfrm>
              <a:prstGeom prst="rect">
                <a:avLst/>
              </a:prstGeom>
              <a:noFill/>
              <a:ln>
                <a:noFill/>
              </a:ln>
            </p:spPr>
          </p:pic>
          <p:pic>
            <p:nvPicPr>
              <p:cNvPr id="439" name="Google Shape;439;p41"/>
              <p:cNvPicPr preferRelativeResize="0"/>
              <p:nvPr/>
            </p:nvPicPr>
            <p:blipFill>
              <a:blip r:embed="rId5">
                <a:alphaModFix/>
              </a:blip>
              <a:stretch>
                <a:fillRect/>
              </a:stretch>
            </p:blipFill>
            <p:spPr>
              <a:xfrm>
                <a:off x="5391025" y="1679050"/>
                <a:ext cx="432475" cy="432475"/>
              </a:xfrm>
              <a:prstGeom prst="rect">
                <a:avLst/>
              </a:prstGeom>
              <a:noFill/>
              <a:ln>
                <a:noFill/>
              </a:ln>
            </p:spPr>
          </p:pic>
          <p:sp>
            <p:nvSpPr>
              <p:cNvPr id="440" name="Google Shape;440;p41"/>
              <p:cNvSpPr txBox="1"/>
              <p:nvPr/>
            </p:nvSpPr>
            <p:spPr>
              <a:xfrm>
                <a:off x="4937663" y="1949450"/>
                <a:ext cx="923400" cy="35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highlight>
                      <a:srgbClr val="86BD41"/>
                    </a:highlight>
                    <a:latin typeface="Lexend"/>
                    <a:ea typeface="Lexend"/>
                    <a:cs typeface="Lexend"/>
                    <a:sym typeface="Lexend"/>
                  </a:rPr>
                  <a:t>OEMs</a:t>
                </a:r>
                <a:endParaRPr sz="1500">
                  <a:solidFill>
                    <a:schemeClr val="lt1"/>
                  </a:solidFill>
                  <a:highlight>
                    <a:srgbClr val="86BD41"/>
                  </a:highlight>
                  <a:latin typeface="Lexend"/>
                  <a:ea typeface="Lexend"/>
                  <a:cs typeface="Lexend"/>
                  <a:sym typeface="Lexend"/>
                </a:endParaRPr>
              </a:p>
            </p:txBody>
          </p:sp>
        </p:grpSp>
        <p:sp>
          <p:nvSpPr>
            <p:cNvPr id="441" name="Google Shape;441;p41"/>
            <p:cNvSpPr txBox="1"/>
            <p:nvPr/>
          </p:nvSpPr>
          <p:spPr>
            <a:xfrm>
              <a:off x="3871163" y="1668000"/>
              <a:ext cx="311100" cy="39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chemeClr val="dk1"/>
                  </a:solidFill>
                </a:rPr>
                <a:t>=</a:t>
              </a:r>
              <a:endParaRPr sz="1800">
                <a:solidFill>
                  <a:schemeClr val="dk1"/>
                </a:solidFill>
              </a:endParaRPr>
            </a:p>
          </p:txBody>
        </p:sp>
        <p:grpSp>
          <p:nvGrpSpPr>
            <p:cNvPr id="442" name="Google Shape;442;p41"/>
            <p:cNvGrpSpPr/>
            <p:nvPr/>
          </p:nvGrpSpPr>
          <p:grpSpPr>
            <a:xfrm>
              <a:off x="4283288" y="1668001"/>
              <a:ext cx="923400" cy="594649"/>
              <a:chOff x="4566575" y="1668001"/>
              <a:chExt cx="923400" cy="594649"/>
            </a:xfrm>
          </p:grpSpPr>
          <p:pic>
            <p:nvPicPr>
              <p:cNvPr id="443" name="Google Shape;443;p41"/>
              <p:cNvPicPr preferRelativeResize="0"/>
              <p:nvPr/>
            </p:nvPicPr>
            <p:blipFill>
              <a:blip r:embed="rId6">
                <a:alphaModFix/>
              </a:blip>
              <a:stretch>
                <a:fillRect/>
              </a:stretch>
            </p:blipFill>
            <p:spPr>
              <a:xfrm>
                <a:off x="4797450" y="1668001"/>
                <a:ext cx="461677" cy="461700"/>
              </a:xfrm>
              <a:prstGeom prst="rect">
                <a:avLst/>
              </a:prstGeom>
              <a:noFill/>
              <a:ln>
                <a:noFill/>
              </a:ln>
            </p:spPr>
          </p:pic>
          <p:sp>
            <p:nvSpPr>
              <p:cNvPr id="444" name="Google Shape;444;p41"/>
              <p:cNvSpPr txBox="1"/>
              <p:nvPr/>
            </p:nvSpPr>
            <p:spPr>
              <a:xfrm>
                <a:off x="4566575" y="1949450"/>
                <a:ext cx="923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Cost Saving</a:t>
                </a:r>
                <a:endParaRPr sz="1200">
                  <a:solidFill>
                    <a:schemeClr val="lt1"/>
                  </a:solidFill>
                  <a:highlight>
                    <a:srgbClr val="86BD41"/>
                  </a:highlight>
                  <a:latin typeface="Lexend"/>
                  <a:ea typeface="Lexend"/>
                  <a:cs typeface="Lexend"/>
                  <a:sym typeface="Lexend"/>
                </a:endParaRPr>
              </a:p>
            </p:txBody>
          </p:sp>
        </p:grpSp>
        <p:grpSp>
          <p:nvGrpSpPr>
            <p:cNvPr id="445" name="Google Shape;445;p41"/>
            <p:cNvGrpSpPr/>
            <p:nvPr/>
          </p:nvGrpSpPr>
          <p:grpSpPr>
            <a:xfrm>
              <a:off x="5207200" y="1679050"/>
              <a:ext cx="1031400" cy="583600"/>
              <a:chOff x="5490488" y="1679050"/>
              <a:chExt cx="1031400" cy="583600"/>
            </a:xfrm>
          </p:grpSpPr>
          <p:pic>
            <p:nvPicPr>
              <p:cNvPr id="446" name="Google Shape;446;p41"/>
              <p:cNvPicPr preferRelativeResize="0"/>
              <p:nvPr/>
            </p:nvPicPr>
            <p:blipFill>
              <a:blip r:embed="rId7">
                <a:alphaModFix/>
              </a:blip>
              <a:stretch>
                <a:fillRect/>
              </a:stretch>
            </p:blipFill>
            <p:spPr>
              <a:xfrm>
                <a:off x="5775347" y="1679050"/>
                <a:ext cx="461676" cy="461691"/>
              </a:xfrm>
              <a:prstGeom prst="rect">
                <a:avLst/>
              </a:prstGeom>
              <a:noFill/>
              <a:ln>
                <a:noFill/>
              </a:ln>
            </p:spPr>
          </p:pic>
          <p:sp>
            <p:nvSpPr>
              <p:cNvPr id="447" name="Google Shape;447;p41"/>
              <p:cNvSpPr txBox="1"/>
              <p:nvPr/>
            </p:nvSpPr>
            <p:spPr>
              <a:xfrm>
                <a:off x="5490488" y="1949450"/>
                <a:ext cx="1031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Ass. Ufficiale</a:t>
                </a:r>
                <a:endParaRPr sz="1200">
                  <a:solidFill>
                    <a:schemeClr val="lt1"/>
                  </a:solidFill>
                  <a:highlight>
                    <a:srgbClr val="86BD41"/>
                  </a:highlight>
                  <a:latin typeface="Lexend"/>
                  <a:ea typeface="Lexend"/>
                  <a:cs typeface="Lexend"/>
                  <a:sym typeface="Lexend"/>
                </a:endParaRPr>
              </a:p>
            </p:txBody>
          </p:sp>
        </p:grpSp>
        <p:grpSp>
          <p:nvGrpSpPr>
            <p:cNvPr id="448" name="Google Shape;448;p41"/>
            <p:cNvGrpSpPr/>
            <p:nvPr/>
          </p:nvGrpSpPr>
          <p:grpSpPr>
            <a:xfrm>
              <a:off x="6199363" y="1668000"/>
              <a:ext cx="1753500" cy="594650"/>
              <a:chOff x="6545300" y="1668000"/>
              <a:chExt cx="1753500" cy="594650"/>
            </a:xfrm>
          </p:grpSpPr>
          <p:pic>
            <p:nvPicPr>
              <p:cNvPr id="449" name="Google Shape;449;p41"/>
              <p:cNvPicPr preferRelativeResize="0"/>
              <p:nvPr/>
            </p:nvPicPr>
            <p:blipFill>
              <a:blip r:embed="rId8">
                <a:alphaModFix/>
              </a:blip>
              <a:stretch>
                <a:fillRect/>
              </a:stretch>
            </p:blipFill>
            <p:spPr>
              <a:xfrm>
                <a:off x="7413750" y="1668000"/>
                <a:ext cx="400300" cy="400325"/>
              </a:xfrm>
              <a:prstGeom prst="rect">
                <a:avLst/>
              </a:prstGeom>
              <a:noFill/>
              <a:ln>
                <a:noFill/>
              </a:ln>
            </p:spPr>
          </p:pic>
          <p:pic>
            <p:nvPicPr>
              <p:cNvPr id="450" name="Google Shape;450;p41"/>
              <p:cNvPicPr preferRelativeResize="0"/>
              <p:nvPr/>
            </p:nvPicPr>
            <p:blipFill>
              <a:blip r:embed="rId9">
                <a:alphaModFix/>
              </a:blip>
              <a:stretch>
                <a:fillRect/>
              </a:stretch>
            </p:blipFill>
            <p:spPr>
              <a:xfrm>
                <a:off x="6927375" y="1676355"/>
                <a:ext cx="428826" cy="428826"/>
              </a:xfrm>
              <a:prstGeom prst="rect">
                <a:avLst/>
              </a:prstGeom>
              <a:noFill/>
              <a:ln>
                <a:noFill/>
              </a:ln>
            </p:spPr>
          </p:pic>
          <p:sp>
            <p:nvSpPr>
              <p:cNvPr id="451" name="Google Shape;451;p41"/>
              <p:cNvSpPr txBox="1"/>
              <p:nvPr/>
            </p:nvSpPr>
            <p:spPr>
              <a:xfrm>
                <a:off x="6545300" y="1949450"/>
                <a:ext cx="17535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Merce Pronta Consegna</a:t>
                </a:r>
                <a:endParaRPr sz="1200">
                  <a:solidFill>
                    <a:schemeClr val="lt1"/>
                  </a:solidFill>
                  <a:highlight>
                    <a:srgbClr val="86BD41"/>
                  </a:highlight>
                  <a:latin typeface="Lexend"/>
                  <a:ea typeface="Lexend"/>
                  <a:cs typeface="Lexend"/>
                  <a:sym typeface="Lexend"/>
                </a:endParaRPr>
              </a:p>
            </p:txBody>
          </p:sp>
        </p:grpSp>
      </p:grpSp>
      <p:pic>
        <p:nvPicPr>
          <p:cNvPr id="452" name="Google Shape;452;p41"/>
          <p:cNvPicPr preferRelativeResize="0"/>
          <p:nvPr/>
        </p:nvPicPr>
        <p:blipFill rotWithShape="1">
          <a:blip r:embed="rId10">
            <a:alphaModFix/>
          </a:blip>
          <a:srcRect b="0" l="0" r="0" t="0"/>
          <a:stretch/>
        </p:blipFill>
        <p:spPr>
          <a:xfrm>
            <a:off x="0" y="5"/>
            <a:ext cx="9144003" cy="598289"/>
          </a:xfrm>
          <a:prstGeom prst="rect">
            <a:avLst/>
          </a:prstGeom>
          <a:noFill/>
          <a:ln>
            <a:noFill/>
          </a:ln>
        </p:spPr>
      </p:pic>
      <p:sp>
        <p:nvSpPr>
          <p:cNvPr id="453" name="Google Shape;453;p4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54" name="Google Shape;454;p4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28</a:t>
            </a:r>
            <a:endParaRPr sz="700">
              <a:latin typeface="Lexend"/>
              <a:ea typeface="Lexend"/>
              <a:cs typeface="Lexend"/>
              <a:sym typeface="Lexen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2"/>
          <p:cNvSpPr txBox="1"/>
          <p:nvPr>
            <p:ph type="title"/>
          </p:nvPr>
        </p:nvSpPr>
        <p:spPr>
          <a:xfrm>
            <a:off x="311700" y="1002504"/>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EKO Srl</a:t>
            </a:r>
            <a:r>
              <a:rPr lang="it" sz="2000">
                <a:latin typeface="Lexend"/>
                <a:ea typeface="Lexend"/>
                <a:cs typeface="Lexend"/>
                <a:sym typeface="Lexend"/>
              </a:rPr>
              <a:t> per </a:t>
            </a:r>
            <a:r>
              <a:rPr b="1" lang="it" sz="2000">
                <a:latin typeface="Lexend"/>
                <a:ea typeface="Lexend"/>
                <a:cs typeface="Lexend"/>
                <a:sym typeface="Lexend"/>
              </a:rPr>
              <a:t>privati</a:t>
            </a:r>
            <a:r>
              <a:rPr lang="it" sz="2000">
                <a:latin typeface="Lexend"/>
                <a:ea typeface="Lexend"/>
                <a:cs typeface="Lexend"/>
                <a:sym typeface="Lexend"/>
              </a:rPr>
              <a:t>, </a:t>
            </a:r>
            <a:r>
              <a:rPr b="1" lang="it" sz="2000">
                <a:latin typeface="Lexend"/>
                <a:ea typeface="Lexend"/>
                <a:cs typeface="Lexend"/>
                <a:sym typeface="Lexend"/>
              </a:rPr>
              <a:t>aziende</a:t>
            </a:r>
            <a:r>
              <a:rPr lang="it" sz="2000">
                <a:latin typeface="Lexend"/>
                <a:ea typeface="Lexend"/>
                <a:cs typeface="Lexend"/>
                <a:sym typeface="Lexend"/>
              </a:rPr>
              <a:t>… e </a:t>
            </a:r>
            <a:r>
              <a:rPr b="1" lang="it" sz="2000">
                <a:latin typeface="Lexend"/>
                <a:ea typeface="Lexend"/>
                <a:cs typeface="Lexend"/>
                <a:sym typeface="Lexend"/>
              </a:rPr>
              <a:t>collaborazioni B2B</a:t>
            </a:r>
            <a:endParaRPr b="1" sz="2000">
              <a:latin typeface="Lexend"/>
              <a:ea typeface="Lexend"/>
              <a:cs typeface="Lexend"/>
              <a:sym typeface="Lexend"/>
            </a:endParaRPr>
          </a:p>
        </p:txBody>
      </p:sp>
      <p:sp>
        <p:nvSpPr>
          <p:cNvPr id="460" name="Google Shape;460;p4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461" name="Google Shape;461;p42"/>
          <p:cNvGrpSpPr/>
          <p:nvPr/>
        </p:nvGrpSpPr>
        <p:grpSpPr>
          <a:xfrm>
            <a:off x="364905" y="1905924"/>
            <a:ext cx="8414182" cy="2444353"/>
            <a:chOff x="1004250" y="1595500"/>
            <a:chExt cx="7135500" cy="2072891"/>
          </a:xfrm>
        </p:grpSpPr>
        <p:pic>
          <p:nvPicPr>
            <p:cNvPr id="462" name="Google Shape;462;p42"/>
            <p:cNvPicPr preferRelativeResize="0"/>
            <p:nvPr/>
          </p:nvPicPr>
          <p:blipFill rotWithShape="1">
            <a:blip r:embed="rId3">
              <a:alphaModFix/>
            </a:blip>
            <a:srcRect b="0" l="0" r="0" t="0"/>
            <a:stretch/>
          </p:blipFill>
          <p:spPr>
            <a:xfrm>
              <a:off x="3035763" y="1595500"/>
              <a:ext cx="606724" cy="606724"/>
            </a:xfrm>
            <a:prstGeom prst="rect">
              <a:avLst/>
            </a:prstGeom>
            <a:noFill/>
            <a:ln>
              <a:noFill/>
            </a:ln>
          </p:spPr>
        </p:pic>
        <p:pic>
          <p:nvPicPr>
            <p:cNvPr id="463" name="Google Shape;463;p42"/>
            <p:cNvPicPr preferRelativeResize="0"/>
            <p:nvPr/>
          </p:nvPicPr>
          <p:blipFill>
            <a:blip r:embed="rId4">
              <a:alphaModFix/>
            </a:blip>
            <a:stretch>
              <a:fillRect/>
            </a:stretch>
          </p:blipFill>
          <p:spPr>
            <a:xfrm>
              <a:off x="2417770" y="1758152"/>
              <a:ext cx="281380" cy="281400"/>
            </a:xfrm>
            <a:prstGeom prst="rect">
              <a:avLst/>
            </a:prstGeom>
            <a:noFill/>
            <a:ln>
              <a:noFill/>
            </a:ln>
          </p:spPr>
        </p:pic>
        <p:grpSp>
          <p:nvGrpSpPr>
            <p:cNvPr id="464" name="Google Shape;464;p42"/>
            <p:cNvGrpSpPr/>
            <p:nvPr/>
          </p:nvGrpSpPr>
          <p:grpSpPr>
            <a:xfrm>
              <a:off x="1191125" y="1679050"/>
              <a:ext cx="923400" cy="622900"/>
              <a:chOff x="4937663" y="1679050"/>
              <a:chExt cx="923400" cy="622900"/>
            </a:xfrm>
          </p:grpSpPr>
          <p:pic>
            <p:nvPicPr>
              <p:cNvPr id="465" name="Google Shape;465;p42"/>
              <p:cNvPicPr preferRelativeResize="0"/>
              <p:nvPr/>
            </p:nvPicPr>
            <p:blipFill>
              <a:blip r:embed="rId5">
                <a:alphaModFix/>
              </a:blip>
              <a:stretch>
                <a:fillRect/>
              </a:stretch>
            </p:blipFill>
            <p:spPr>
              <a:xfrm>
                <a:off x="4958550" y="1679050"/>
                <a:ext cx="432475" cy="432475"/>
              </a:xfrm>
              <a:prstGeom prst="rect">
                <a:avLst/>
              </a:prstGeom>
              <a:noFill/>
              <a:ln>
                <a:noFill/>
              </a:ln>
            </p:spPr>
          </p:pic>
          <p:pic>
            <p:nvPicPr>
              <p:cNvPr id="466" name="Google Shape;466;p42"/>
              <p:cNvPicPr preferRelativeResize="0"/>
              <p:nvPr/>
            </p:nvPicPr>
            <p:blipFill>
              <a:blip r:embed="rId5">
                <a:alphaModFix/>
              </a:blip>
              <a:stretch>
                <a:fillRect/>
              </a:stretch>
            </p:blipFill>
            <p:spPr>
              <a:xfrm>
                <a:off x="5391025" y="1679050"/>
                <a:ext cx="432475" cy="432475"/>
              </a:xfrm>
              <a:prstGeom prst="rect">
                <a:avLst/>
              </a:prstGeom>
              <a:noFill/>
              <a:ln>
                <a:noFill/>
              </a:ln>
            </p:spPr>
          </p:pic>
          <p:sp>
            <p:nvSpPr>
              <p:cNvPr id="467" name="Google Shape;467;p42"/>
              <p:cNvSpPr txBox="1"/>
              <p:nvPr/>
            </p:nvSpPr>
            <p:spPr>
              <a:xfrm>
                <a:off x="4937663" y="1949450"/>
                <a:ext cx="923400" cy="352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500">
                    <a:solidFill>
                      <a:schemeClr val="lt1"/>
                    </a:solidFill>
                    <a:highlight>
                      <a:srgbClr val="86BD41"/>
                    </a:highlight>
                    <a:latin typeface="Lexend"/>
                    <a:ea typeface="Lexend"/>
                    <a:cs typeface="Lexend"/>
                    <a:sym typeface="Lexend"/>
                  </a:rPr>
                  <a:t>OEMs</a:t>
                </a:r>
                <a:endParaRPr sz="1500">
                  <a:solidFill>
                    <a:schemeClr val="lt1"/>
                  </a:solidFill>
                  <a:highlight>
                    <a:srgbClr val="86BD41"/>
                  </a:highlight>
                  <a:latin typeface="Lexend"/>
                  <a:ea typeface="Lexend"/>
                  <a:cs typeface="Lexend"/>
                  <a:sym typeface="Lexend"/>
                </a:endParaRPr>
              </a:p>
            </p:txBody>
          </p:sp>
        </p:grpSp>
        <p:sp>
          <p:nvSpPr>
            <p:cNvPr id="468" name="Google Shape;468;p42"/>
            <p:cNvSpPr txBox="1"/>
            <p:nvPr/>
          </p:nvSpPr>
          <p:spPr>
            <a:xfrm>
              <a:off x="3871163" y="1668000"/>
              <a:ext cx="311100" cy="391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800">
                  <a:solidFill>
                    <a:schemeClr val="dk1"/>
                  </a:solidFill>
                </a:rPr>
                <a:t>=</a:t>
              </a:r>
              <a:endParaRPr sz="1800">
                <a:solidFill>
                  <a:schemeClr val="dk1"/>
                </a:solidFill>
              </a:endParaRPr>
            </a:p>
          </p:txBody>
        </p:sp>
        <p:grpSp>
          <p:nvGrpSpPr>
            <p:cNvPr id="469" name="Google Shape;469;p42"/>
            <p:cNvGrpSpPr/>
            <p:nvPr/>
          </p:nvGrpSpPr>
          <p:grpSpPr>
            <a:xfrm>
              <a:off x="4283288" y="1668001"/>
              <a:ext cx="923400" cy="594649"/>
              <a:chOff x="4566575" y="1668001"/>
              <a:chExt cx="923400" cy="594649"/>
            </a:xfrm>
          </p:grpSpPr>
          <p:pic>
            <p:nvPicPr>
              <p:cNvPr id="470" name="Google Shape;470;p42"/>
              <p:cNvPicPr preferRelativeResize="0"/>
              <p:nvPr/>
            </p:nvPicPr>
            <p:blipFill>
              <a:blip r:embed="rId6">
                <a:alphaModFix/>
              </a:blip>
              <a:stretch>
                <a:fillRect/>
              </a:stretch>
            </p:blipFill>
            <p:spPr>
              <a:xfrm>
                <a:off x="4797450" y="1668001"/>
                <a:ext cx="461677" cy="461700"/>
              </a:xfrm>
              <a:prstGeom prst="rect">
                <a:avLst/>
              </a:prstGeom>
              <a:noFill/>
              <a:ln>
                <a:noFill/>
              </a:ln>
            </p:spPr>
          </p:pic>
          <p:sp>
            <p:nvSpPr>
              <p:cNvPr id="471" name="Google Shape;471;p42"/>
              <p:cNvSpPr txBox="1"/>
              <p:nvPr/>
            </p:nvSpPr>
            <p:spPr>
              <a:xfrm>
                <a:off x="4566575" y="1949450"/>
                <a:ext cx="923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Cost Saving</a:t>
                </a:r>
                <a:endParaRPr sz="1200">
                  <a:solidFill>
                    <a:schemeClr val="lt1"/>
                  </a:solidFill>
                  <a:highlight>
                    <a:srgbClr val="86BD41"/>
                  </a:highlight>
                  <a:latin typeface="Lexend"/>
                  <a:ea typeface="Lexend"/>
                  <a:cs typeface="Lexend"/>
                  <a:sym typeface="Lexend"/>
                </a:endParaRPr>
              </a:p>
            </p:txBody>
          </p:sp>
        </p:grpSp>
        <p:grpSp>
          <p:nvGrpSpPr>
            <p:cNvPr id="472" name="Google Shape;472;p42"/>
            <p:cNvGrpSpPr/>
            <p:nvPr/>
          </p:nvGrpSpPr>
          <p:grpSpPr>
            <a:xfrm>
              <a:off x="5207200" y="1679050"/>
              <a:ext cx="1031400" cy="583600"/>
              <a:chOff x="5490488" y="1679050"/>
              <a:chExt cx="1031400" cy="583600"/>
            </a:xfrm>
          </p:grpSpPr>
          <p:pic>
            <p:nvPicPr>
              <p:cNvPr id="473" name="Google Shape;473;p42"/>
              <p:cNvPicPr preferRelativeResize="0"/>
              <p:nvPr/>
            </p:nvPicPr>
            <p:blipFill>
              <a:blip r:embed="rId7">
                <a:alphaModFix/>
              </a:blip>
              <a:stretch>
                <a:fillRect/>
              </a:stretch>
            </p:blipFill>
            <p:spPr>
              <a:xfrm>
                <a:off x="5775347" y="1679050"/>
                <a:ext cx="461676" cy="461691"/>
              </a:xfrm>
              <a:prstGeom prst="rect">
                <a:avLst/>
              </a:prstGeom>
              <a:noFill/>
              <a:ln>
                <a:noFill/>
              </a:ln>
            </p:spPr>
          </p:pic>
          <p:sp>
            <p:nvSpPr>
              <p:cNvPr id="474" name="Google Shape;474;p42"/>
              <p:cNvSpPr txBox="1"/>
              <p:nvPr/>
            </p:nvSpPr>
            <p:spPr>
              <a:xfrm>
                <a:off x="5490488" y="1949450"/>
                <a:ext cx="10314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Ass. Ufficiale</a:t>
                </a:r>
                <a:endParaRPr sz="1200">
                  <a:solidFill>
                    <a:schemeClr val="lt1"/>
                  </a:solidFill>
                  <a:highlight>
                    <a:srgbClr val="86BD41"/>
                  </a:highlight>
                  <a:latin typeface="Lexend"/>
                  <a:ea typeface="Lexend"/>
                  <a:cs typeface="Lexend"/>
                  <a:sym typeface="Lexend"/>
                </a:endParaRPr>
              </a:p>
            </p:txBody>
          </p:sp>
        </p:grpSp>
        <p:grpSp>
          <p:nvGrpSpPr>
            <p:cNvPr id="475" name="Google Shape;475;p42"/>
            <p:cNvGrpSpPr/>
            <p:nvPr/>
          </p:nvGrpSpPr>
          <p:grpSpPr>
            <a:xfrm>
              <a:off x="6199363" y="1668000"/>
              <a:ext cx="1753500" cy="594650"/>
              <a:chOff x="6545300" y="1668000"/>
              <a:chExt cx="1753500" cy="594650"/>
            </a:xfrm>
          </p:grpSpPr>
          <p:pic>
            <p:nvPicPr>
              <p:cNvPr id="476" name="Google Shape;476;p42"/>
              <p:cNvPicPr preferRelativeResize="0"/>
              <p:nvPr/>
            </p:nvPicPr>
            <p:blipFill>
              <a:blip r:embed="rId8">
                <a:alphaModFix/>
              </a:blip>
              <a:stretch>
                <a:fillRect/>
              </a:stretch>
            </p:blipFill>
            <p:spPr>
              <a:xfrm>
                <a:off x="7413750" y="1668000"/>
                <a:ext cx="400300" cy="400325"/>
              </a:xfrm>
              <a:prstGeom prst="rect">
                <a:avLst/>
              </a:prstGeom>
              <a:noFill/>
              <a:ln>
                <a:noFill/>
              </a:ln>
            </p:spPr>
          </p:pic>
          <p:pic>
            <p:nvPicPr>
              <p:cNvPr id="477" name="Google Shape;477;p42"/>
              <p:cNvPicPr preferRelativeResize="0"/>
              <p:nvPr/>
            </p:nvPicPr>
            <p:blipFill>
              <a:blip r:embed="rId9">
                <a:alphaModFix/>
              </a:blip>
              <a:stretch>
                <a:fillRect/>
              </a:stretch>
            </p:blipFill>
            <p:spPr>
              <a:xfrm>
                <a:off x="6927375" y="1676355"/>
                <a:ext cx="428826" cy="428826"/>
              </a:xfrm>
              <a:prstGeom prst="rect">
                <a:avLst/>
              </a:prstGeom>
              <a:noFill/>
              <a:ln>
                <a:noFill/>
              </a:ln>
            </p:spPr>
          </p:pic>
          <p:sp>
            <p:nvSpPr>
              <p:cNvPr id="478" name="Google Shape;478;p42"/>
              <p:cNvSpPr txBox="1"/>
              <p:nvPr/>
            </p:nvSpPr>
            <p:spPr>
              <a:xfrm>
                <a:off x="6545300" y="1949450"/>
                <a:ext cx="1753500" cy="31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86BD41"/>
                    </a:highlight>
                    <a:latin typeface="Lexend"/>
                    <a:ea typeface="Lexend"/>
                    <a:cs typeface="Lexend"/>
                    <a:sym typeface="Lexend"/>
                  </a:rPr>
                  <a:t>Merce Pronta Consegna</a:t>
                </a:r>
                <a:endParaRPr sz="1200">
                  <a:solidFill>
                    <a:schemeClr val="lt1"/>
                  </a:solidFill>
                  <a:highlight>
                    <a:srgbClr val="86BD41"/>
                  </a:highlight>
                  <a:latin typeface="Lexend"/>
                  <a:ea typeface="Lexend"/>
                  <a:cs typeface="Lexend"/>
                  <a:sym typeface="Lexend"/>
                </a:endParaRPr>
              </a:p>
            </p:txBody>
          </p:sp>
        </p:grpSp>
        <p:grpSp>
          <p:nvGrpSpPr>
            <p:cNvPr id="479" name="Google Shape;479;p42"/>
            <p:cNvGrpSpPr/>
            <p:nvPr/>
          </p:nvGrpSpPr>
          <p:grpSpPr>
            <a:xfrm>
              <a:off x="1004250" y="2285413"/>
              <a:ext cx="7135500" cy="388825"/>
              <a:chOff x="1004250" y="2303450"/>
              <a:chExt cx="7135500" cy="388825"/>
            </a:xfrm>
          </p:grpSpPr>
          <p:cxnSp>
            <p:nvCxnSpPr>
              <p:cNvPr id="480" name="Google Shape;480;p42"/>
              <p:cNvCxnSpPr/>
              <p:nvPr/>
            </p:nvCxnSpPr>
            <p:spPr>
              <a:xfrm>
                <a:off x="1004250" y="2497875"/>
                <a:ext cx="7135500" cy="0"/>
              </a:xfrm>
              <a:prstGeom prst="straightConnector1">
                <a:avLst/>
              </a:prstGeom>
              <a:noFill/>
              <a:ln cap="flat" cmpd="sng" w="9525">
                <a:solidFill>
                  <a:schemeClr val="dk2"/>
                </a:solidFill>
                <a:prstDash val="solid"/>
                <a:round/>
                <a:headEnd len="med" w="med" type="none"/>
                <a:tailEnd len="med" w="med" type="none"/>
              </a:ln>
            </p:spPr>
          </p:cxnSp>
          <p:cxnSp>
            <p:nvCxnSpPr>
              <p:cNvPr id="481" name="Google Shape;481;p42"/>
              <p:cNvCxnSpPr/>
              <p:nvPr/>
            </p:nvCxnSpPr>
            <p:spPr>
              <a:xfrm>
                <a:off x="10042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482" name="Google Shape;482;p42"/>
              <p:cNvCxnSpPr/>
              <p:nvPr/>
            </p:nvCxnSpPr>
            <p:spPr>
              <a:xfrm>
                <a:off x="81397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483" name="Google Shape;483;p42"/>
              <p:cNvCxnSpPr/>
              <p:nvPr/>
            </p:nvCxnSpPr>
            <p:spPr>
              <a:xfrm>
                <a:off x="4572000" y="2497875"/>
                <a:ext cx="0" cy="194400"/>
              </a:xfrm>
              <a:prstGeom prst="straightConnector1">
                <a:avLst/>
              </a:prstGeom>
              <a:noFill/>
              <a:ln cap="flat" cmpd="sng" w="9525">
                <a:solidFill>
                  <a:schemeClr val="dk2"/>
                </a:solidFill>
                <a:prstDash val="solid"/>
                <a:round/>
                <a:headEnd len="med" w="med" type="none"/>
                <a:tailEnd len="med" w="med" type="none"/>
              </a:ln>
            </p:spPr>
          </p:cxnSp>
        </p:grpSp>
        <p:pic>
          <p:nvPicPr>
            <p:cNvPr id="484" name="Google Shape;484;p42"/>
            <p:cNvPicPr preferRelativeResize="0"/>
            <p:nvPr/>
          </p:nvPicPr>
          <p:blipFill rotWithShape="1">
            <a:blip r:embed="rId10">
              <a:alphaModFix/>
            </a:blip>
            <a:srcRect b="0" l="0" r="0" t="0"/>
            <a:stretch/>
          </p:blipFill>
          <p:spPr>
            <a:xfrm>
              <a:off x="3587425" y="2829975"/>
              <a:ext cx="441275" cy="441275"/>
            </a:xfrm>
            <a:prstGeom prst="rect">
              <a:avLst/>
            </a:prstGeom>
            <a:noFill/>
            <a:ln>
              <a:noFill/>
            </a:ln>
          </p:spPr>
        </p:pic>
        <p:sp>
          <p:nvSpPr>
            <p:cNvPr id="485" name="Google Shape;485;p42"/>
            <p:cNvSpPr txBox="1"/>
            <p:nvPr/>
          </p:nvSpPr>
          <p:spPr>
            <a:xfrm>
              <a:off x="3074712" y="3198591"/>
              <a:ext cx="14667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Prod. Competitivo</a:t>
              </a:r>
              <a:endParaRPr sz="1200">
                <a:solidFill>
                  <a:schemeClr val="lt1"/>
                </a:solidFill>
                <a:highlight>
                  <a:srgbClr val="047D96"/>
                </a:highlight>
                <a:latin typeface="Lexend"/>
                <a:ea typeface="Lexend"/>
                <a:cs typeface="Lexend"/>
                <a:sym typeface="Lexend"/>
              </a:endParaRPr>
            </a:p>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Economicamente</a:t>
              </a:r>
              <a:endParaRPr sz="1200">
                <a:solidFill>
                  <a:schemeClr val="lt1"/>
                </a:solidFill>
                <a:highlight>
                  <a:srgbClr val="047D96"/>
                </a:highlight>
                <a:latin typeface="Lexend"/>
                <a:ea typeface="Lexend"/>
                <a:cs typeface="Lexend"/>
                <a:sym typeface="Lexend"/>
              </a:endParaRPr>
            </a:p>
          </p:txBody>
        </p:sp>
        <p:pic>
          <p:nvPicPr>
            <p:cNvPr id="486" name="Google Shape;486;p42"/>
            <p:cNvPicPr preferRelativeResize="0"/>
            <p:nvPr/>
          </p:nvPicPr>
          <p:blipFill rotWithShape="1">
            <a:blip r:embed="rId11">
              <a:alphaModFix/>
            </a:blip>
            <a:srcRect b="0" l="0" r="0" t="0"/>
            <a:stretch/>
          </p:blipFill>
          <p:spPr>
            <a:xfrm>
              <a:off x="6388743" y="2859674"/>
              <a:ext cx="461700" cy="461700"/>
            </a:xfrm>
            <a:prstGeom prst="rect">
              <a:avLst/>
            </a:prstGeom>
            <a:noFill/>
            <a:ln>
              <a:noFill/>
            </a:ln>
          </p:spPr>
        </p:pic>
        <p:sp>
          <p:nvSpPr>
            <p:cNvPr id="487" name="Google Shape;487;p42"/>
            <p:cNvSpPr txBox="1"/>
            <p:nvPr/>
          </p:nvSpPr>
          <p:spPr>
            <a:xfrm>
              <a:off x="5751693" y="3198586"/>
              <a:ext cx="17358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Servizio/Assistenza OEM con EKO sul territorio</a:t>
              </a:r>
              <a:endParaRPr sz="1200">
                <a:solidFill>
                  <a:schemeClr val="lt1"/>
                </a:solidFill>
                <a:highlight>
                  <a:srgbClr val="047D96"/>
                </a:highlight>
                <a:latin typeface="Lexend"/>
                <a:ea typeface="Lexend"/>
                <a:cs typeface="Lexend"/>
                <a:sym typeface="Lexend"/>
              </a:endParaRPr>
            </a:p>
          </p:txBody>
        </p:sp>
        <p:pic>
          <p:nvPicPr>
            <p:cNvPr id="488" name="Google Shape;488;p42"/>
            <p:cNvPicPr preferRelativeResize="0"/>
            <p:nvPr/>
          </p:nvPicPr>
          <p:blipFill rotWithShape="1">
            <a:blip r:embed="rId12">
              <a:alphaModFix/>
            </a:blip>
            <a:srcRect b="0" l="0" r="10" t="0"/>
            <a:stretch/>
          </p:blipFill>
          <p:spPr>
            <a:xfrm>
              <a:off x="2169218" y="2937300"/>
              <a:ext cx="441251" cy="441272"/>
            </a:xfrm>
            <a:prstGeom prst="rect">
              <a:avLst/>
            </a:prstGeom>
            <a:noFill/>
            <a:ln>
              <a:noFill/>
            </a:ln>
          </p:spPr>
        </p:pic>
        <p:sp>
          <p:nvSpPr>
            <p:cNvPr id="489" name="Google Shape;489;p42"/>
            <p:cNvSpPr txBox="1"/>
            <p:nvPr/>
          </p:nvSpPr>
          <p:spPr>
            <a:xfrm>
              <a:off x="1656492" y="3198591"/>
              <a:ext cx="14667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Scelti da OEM</a:t>
              </a:r>
              <a:endParaRPr sz="1200">
                <a:solidFill>
                  <a:schemeClr val="lt1"/>
                </a:solidFill>
                <a:highlight>
                  <a:srgbClr val="047D96"/>
                </a:highlight>
                <a:latin typeface="Lexend"/>
                <a:ea typeface="Lexend"/>
                <a:cs typeface="Lexend"/>
                <a:sym typeface="Lexend"/>
              </a:endParaRPr>
            </a:p>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referenti ITALIA</a:t>
              </a:r>
              <a:endParaRPr sz="1200">
                <a:solidFill>
                  <a:schemeClr val="lt1"/>
                </a:solidFill>
                <a:highlight>
                  <a:srgbClr val="047D96"/>
                </a:highlight>
                <a:latin typeface="Lexend"/>
                <a:ea typeface="Lexend"/>
                <a:cs typeface="Lexend"/>
                <a:sym typeface="Lexend"/>
              </a:endParaRPr>
            </a:p>
          </p:txBody>
        </p:sp>
        <p:pic>
          <p:nvPicPr>
            <p:cNvPr id="490" name="Google Shape;490;p42"/>
            <p:cNvPicPr preferRelativeResize="0"/>
            <p:nvPr/>
          </p:nvPicPr>
          <p:blipFill rotWithShape="1">
            <a:blip r:embed="rId13">
              <a:alphaModFix/>
            </a:blip>
            <a:srcRect b="0" l="0" r="0" t="0"/>
            <a:stretch/>
          </p:blipFill>
          <p:spPr>
            <a:xfrm>
              <a:off x="4871570" y="2829975"/>
              <a:ext cx="496026" cy="496026"/>
            </a:xfrm>
            <a:prstGeom prst="rect">
              <a:avLst/>
            </a:prstGeom>
            <a:noFill/>
            <a:ln>
              <a:noFill/>
            </a:ln>
          </p:spPr>
        </p:pic>
        <p:sp>
          <p:nvSpPr>
            <p:cNvPr id="491" name="Google Shape;491;p42"/>
            <p:cNvSpPr txBox="1"/>
            <p:nvPr/>
          </p:nvSpPr>
          <p:spPr>
            <a:xfrm>
              <a:off x="4386225" y="3198591"/>
              <a:ext cx="1466700" cy="469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Installazione in </a:t>
              </a:r>
              <a:endParaRPr sz="1200">
                <a:solidFill>
                  <a:schemeClr val="lt1"/>
                </a:solidFill>
                <a:highlight>
                  <a:srgbClr val="047D96"/>
                </a:highlight>
                <a:latin typeface="Lexend"/>
                <a:ea typeface="Lexend"/>
                <a:cs typeface="Lexend"/>
                <a:sym typeface="Lexend"/>
              </a:endParaRPr>
            </a:p>
            <a:p>
              <a:pPr indent="0" lvl="0" marL="0" rtl="0" algn="ctr">
                <a:spcBef>
                  <a:spcPts val="0"/>
                </a:spcBef>
                <a:spcAft>
                  <a:spcPts val="0"/>
                </a:spcAft>
                <a:buNone/>
              </a:pPr>
              <a:r>
                <a:rPr lang="it" sz="1200">
                  <a:solidFill>
                    <a:schemeClr val="lt1"/>
                  </a:solidFill>
                  <a:highlight>
                    <a:srgbClr val="047D96"/>
                  </a:highlight>
                  <a:latin typeface="Lexend"/>
                  <a:ea typeface="Lexend"/>
                  <a:cs typeface="Lexend"/>
                  <a:sym typeface="Lexend"/>
                </a:rPr>
                <a:t>30 giorni FTV</a:t>
              </a:r>
              <a:endParaRPr sz="1200">
                <a:solidFill>
                  <a:schemeClr val="lt1"/>
                </a:solidFill>
                <a:highlight>
                  <a:srgbClr val="047D96"/>
                </a:highlight>
                <a:latin typeface="Lexend"/>
                <a:ea typeface="Lexend"/>
                <a:cs typeface="Lexend"/>
                <a:sym typeface="Lexend"/>
              </a:endParaRPr>
            </a:p>
          </p:txBody>
        </p:sp>
      </p:grpSp>
      <p:pic>
        <p:nvPicPr>
          <p:cNvPr id="492" name="Google Shape;492;p42"/>
          <p:cNvPicPr preferRelativeResize="0"/>
          <p:nvPr/>
        </p:nvPicPr>
        <p:blipFill rotWithShape="1">
          <a:blip r:embed="rId14">
            <a:alphaModFix/>
          </a:blip>
          <a:srcRect b="0" l="0" r="0" t="0"/>
          <a:stretch/>
        </p:blipFill>
        <p:spPr>
          <a:xfrm>
            <a:off x="0" y="5"/>
            <a:ext cx="9144003" cy="598289"/>
          </a:xfrm>
          <a:prstGeom prst="rect">
            <a:avLst/>
          </a:prstGeom>
          <a:noFill/>
          <a:ln>
            <a:noFill/>
          </a:ln>
        </p:spPr>
      </p:pic>
      <p:sp>
        <p:nvSpPr>
          <p:cNvPr id="493" name="Google Shape;493;p4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494" name="Google Shape;494;p4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29</a:t>
            </a:r>
            <a:endParaRPr sz="700">
              <a:latin typeface="Lexend"/>
              <a:ea typeface="Lexend"/>
              <a:cs typeface="Lexend"/>
              <a:sym typeface="Lexen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3"/>
          <p:cNvSpPr txBox="1"/>
          <p:nvPr/>
        </p:nvSpPr>
        <p:spPr>
          <a:xfrm>
            <a:off x="396300" y="2221775"/>
            <a:ext cx="8351400" cy="1603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None/>
            </a:pPr>
            <a:r>
              <a:rPr b="1" lang="it" sz="1600">
                <a:solidFill>
                  <a:srgbClr val="38761D"/>
                </a:solidFill>
                <a:latin typeface="Lexend"/>
                <a:ea typeface="Lexend"/>
                <a:cs typeface="Lexend"/>
                <a:sym typeface="Lexend"/>
              </a:rPr>
              <a:t>Oggi, avere un impianto fotovoltaico non è più una sfida, ma la vera differenza la fa chi ti offre assistenza </a:t>
            </a:r>
            <a:r>
              <a:rPr lang="it" sz="1600">
                <a:solidFill>
                  <a:srgbClr val="38761D"/>
                </a:solidFill>
                <a:latin typeface="Lexend"/>
                <a:ea typeface="Lexend"/>
                <a:cs typeface="Lexend"/>
                <a:sym typeface="Lexend"/>
              </a:rPr>
              <a:t>(pre e post vendita) </a:t>
            </a:r>
            <a:r>
              <a:rPr b="1" lang="it" sz="1600">
                <a:solidFill>
                  <a:srgbClr val="38761D"/>
                </a:solidFill>
                <a:latin typeface="Lexend"/>
                <a:ea typeface="Lexend"/>
                <a:cs typeface="Lexend"/>
                <a:sym typeface="Lexend"/>
              </a:rPr>
              <a:t>e garanzie durature.</a:t>
            </a:r>
            <a:endParaRPr b="1" sz="1600">
              <a:solidFill>
                <a:srgbClr val="38761D"/>
              </a:solidFill>
              <a:latin typeface="Lexend"/>
              <a:ea typeface="Lexend"/>
              <a:cs typeface="Lexend"/>
              <a:sym typeface="Lexend"/>
            </a:endParaRPr>
          </a:p>
          <a:p>
            <a:pPr indent="0" lvl="0" marL="0" rtl="0" algn="ctr">
              <a:lnSpc>
                <a:spcPct val="115000"/>
              </a:lnSpc>
              <a:spcBef>
                <a:spcPts val="1200"/>
              </a:spcBef>
              <a:spcAft>
                <a:spcPts val="0"/>
              </a:spcAft>
              <a:buNone/>
            </a:pPr>
            <a:r>
              <a:t/>
            </a:r>
            <a:endParaRPr b="1" sz="1600">
              <a:solidFill>
                <a:srgbClr val="38761D"/>
              </a:solidFill>
              <a:latin typeface="Lexend"/>
              <a:ea typeface="Lexend"/>
              <a:cs typeface="Lexend"/>
              <a:sym typeface="Lexend"/>
            </a:endParaRPr>
          </a:p>
          <a:p>
            <a:pPr indent="0" lvl="0" marL="0" rtl="0" algn="ctr">
              <a:lnSpc>
                <a:spcPct val="115000"/>
              </a:lnSpc>
              <a:spcBef>
                <a:spcPts val="1200"/>
              </a:spcBef>
              <a:spcAft>
                <a:spcPts val="1200"/>
              </a:spcAft>
              <a:buNone/>
            </a:pPr>
            <a:r>
              <a:rPr b="1" lang="it" sz="1700">
                <a:solidFill>
                  <a:srgbClr val="38761D"/>
                </a:solidFill>
                <a:highlight>
                  <a:srgbClr val="B6D7A8"/>
                </a:highlight>
                <a:latin typeface="Lexend"/>
                <a:ea typeface="Lexend"/>
                <a:cs typeface="Lexend"/>
                <a:sym typeface="Lexend"/>
              </a:rPr>
              <a:t>EKO progetta, installa e assiste Privati, Aziende e Collaborazioni B2B</a:t>
            </a:r>
            <a:endParaRPr b="1" sz="1700">
              <a:solidFill>
                <a:srgbClr val="38761D"/>
              </a:solidFill>
              <a:highlight>
                <a:srgbClr val="B6D7A8"/>
              </a:highlight>
              <a:latin typeface="Lexend"/>
              <a:ea typeface="Lexend"/>
              <a:cs typeface="Lexend"/>
              <a:sym typeface="Lexend"/>
            </a:endParaRPr>
          </a:p>
        </p:txBody>
      </p:sp>
      <p:sp>
        <p:nvSpPr>
          <p:cNvPr id="500" name="Google Shape;500;p43"/>
          <p:cNvSpPr txBox="1"/>
          <p:nvPr>
            <p:ph type="title"/>
          </p:nvPr>
        </p:nvSpPr>
        <p:spPr>
          <a:xfrm>
            <a:off x="311700" y="1317929"/>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EKO Srl</a:t>
            </a:r>
            <a:r>
              <a:rPr lang="it" sz="2000">
                <a:latin typeface="Lexend"/>
                <a:ea typeface="Lexend"/>
                <a:cs typeface="Lexend"/>
                <a:sym typeface="Lexend"/>
              </a:rPr>
              <a:t> per </a:t>
            </a:r>
            <a:r>
              <a:rPr b="1" lang="it" sz="2000">
                <a:latin typeface="Lexend"/>
                <a:ea typeface="Lexend"/>
                <a:cs typeface="Lexend"/>
                <a:sym typeface="Lexend"/>
              </a:rPr>
              <a:t>privati</a:t>
            </a:r>
            <a:r>
              <a:rPr lang="it" sz="2000">
                <a:latin typeface="Lexend"/>
                <a:ea typeface="Lexend"/>
                <a:cs typeface="Lexend"/>
                <a:sym typeface="Lexend"/>
              </a:rPr>
              <a:t>, </a:t>
            </a:r>
            <a:r>
              <a:rPr b="1" lang="it" sz="2000">
                <a:latin typeface="Lexend"/>
                <a:ea typeface="Lexend"/>
                <a:cs typeface="Lexend"/>
                <a:sym typeface="Lexend"/>
              </a:rPr>
              <a:t>aziende</a:t>
            </a:r>
            <a:r>
              <a:rPr lang="it" sz="2000">
                <a:latin typeface="Lexend"/>
                <a:ea typeface="Lexend"/>
                <a:cs typeface="Lexend"/>
                <a:sym typeface="Lexend"/>
              </a:rPr>
              <a:t>… e </a:t>
            </a:r>
            <a:r>
              <a:rPr b="1" lang="it" sz="2000">
                <a:latin typeface="Lexend"/>
                <a:ea typeface="Lexend"/>
                <a:cs typeface="Lexend"/>
                <a:sym typeface="Lexend"/>
              </a:rPr>
              <a:t>collaborazioni B2B</a:t>
            </a:r>
            <a:endParaRPr b="1" sz="2000">
              <a:latin typeface="Lexend"/>
              <a:ea typeface="Lexend"/>
              <a:cs typeface="Lexend"/>
              <a:sym typeface="Lexend"/>
            </a:endParaRPr>
          </a:p>
        </p:txBody>
      </p:sp>
      <p:sp>
        <p:nvSpPr>
          <p:cNvPr id="501" name="Google Shape;501;p4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02" name="Google Shape;502;p4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03" name="Google Shape;503;p4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04" name="Google Shape;504;p4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30</a:t>
            </a:r>
            <a:endParaRPr sz="700">
              <a:latin typeface="Lexend"/>
              <a:ea typeface="Lexend"/>
              <a:cs typeface="Lexend"/>
              <a:sym typeface="Lexen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4"/>
          <p:cNvSpPr txBox="1"/>
          <p:nvPr>
            <p:ph type="title"/>
          </p:nvPr>
        </p:nvSpPr>
        <p:spPr>
          <a:xfrm>
            <a:off x="311700" y="1101091"/>
            <a:ext cx="8520600" cy="572700"/>
          </a:xfrm>
          <a:prstGeom prst="rect">
            <a:avLst/>
          </a:prstGeom>
        </p:spPr>
        <p:txBody>
          <a:bodyPr anchorCtr="0" anchor="t" bIns="91425" lIns="91425" spcFirstLastPara="1" rIns="91425" wrap="square" tIns="91425">
            <a:normAutofit/>
          </a:bodyPr>
          <a:lstStyle/>
          <a:p>
            <a:pPr indent="0" lvl="0" marL="0" rtl="0" algn="ctr">
              <a:lnSpc>
                <a:spcPct val="115000"/>
              </a:lnSpc>
              <a:spcBef>
                <a:spcPts val="0"/>
              </a:spcBef>
              <a:spcAft>
                <a:spcPts val="0"/>
              </a:spcAft>
              <a:buNone/>
            </a:pPr>
            <a:r>
              <a:rPr b="1" lang="it" sz="2200">
                <a:latin typeface="Lexend"/>
                <a:ea typeface="Lexend"/>
                <a:cs typeface="Lexend"/>
                <a:sym typeface="Lexend"/>
              </a:rPr>
              <a:t>Scegliere EKO significa:</a:t>
            </a:r>
            <a:endParaRPr b="1" sz="2200">
              <a:latin typeface="Lexend"/>
              <a:ea typeface="Lexend"/>
              <a:cs typeface="Lexend"/>
              <a:sym typeface="Lexend"/>
            </a:endParaRPr>
          </a:p>
        </p:txBody>
      </p:sp>
      <p:sp>
        <p:nvSpPr>
          <p:cNvPr id="510" name="Google Shape;510;p44"/>
          <p:cNvSpPr txBox="1"/>
          <p:nvPr>
            <p:ph idx="1" type="body"/>
          </p:nvPr>
        </p:nvSpPr>
        <p:spPr>
          <a:xfrm>
            <a:off x="1078950" y="1898750"/>
            <a:ext cx="6986100" cy="2310900"/>
          </a:xfrm>
          <a:prstGeom prst="rect">
            <a:avLst/>
          </a:prstGeom>
        </p:spPr>
        <p:txBody>
          <a:bodyPr anchorCtr="0" anchor="t" bIns="91425" lIns="91425" spcFirstLastPara="1" rIns="91425" wrap="square" tIns="91425">
            <a:noAutofit/>
          </a:bodyPr>
          <a:lstStyle/>
          <a:p>
            <a:pPr indent="-342900" lvl="0" marL="457200" rtl="0" algn="l">
              <a:lnSpc>
                <a:spcPct val="150000"/>
              </a:lnSpc>
              <a:spcBef>
                <a:spcPts val="1200"/>
              </a:spcBef>
              <a:spcAft>
                <a:spcPts val="0"/>
              </a:spcAft>
              <a:buClr>
                <a:srgbClr val="38761D"/>
              </a:buClr>
              <a:buSzPts val="1800"/>
              <a:buFont typeface="Lexend"/>
              <a:buChar char="●"/>
            </a:pPr>
            <a:r>
              <a:rPr lang="it">
                <a:solidFill>
                  <a:srgbClr val="38761D"/>
                </a:solidFill>
                <a:latin typeface="Lexend"/>
                <a:ea typeface="Lexend"/>
                <a:cs typeface="Lexend"/>
                <a:sym typeface="Lexend"/>
              </a:rPr>
              <a:t>Partner dinamico con focus sulla qualità del servizio</a:t>
            </a:r>
            <a:endParaRPr>
              <a:solidFill>
                <a:srgbClr val="38761D"/>
              </a:solidFill>
              <a:latin typeface="Lexend"/>
              <a:ea typeface="Lexend"/>
              <a:cs typeface="Lexend"/>
              <a:sym typeface="Lexend"/>
            </a:endParaRPr>
          </a:p>
          <a:p>
            <a:pPr indent="-342900" lvl="0" marL="457200" rtl="0" algn="l">
              <a:lnSpc>
                <a:spcPct val="150000"/>
              </a:lnSpc>
              <a:spcBef>
                <a:spcPts val="0"/>
              </a:spcBef>
              <a:spcAft>
                <a:spcPts val="0"/>
              </a:spcAft>
              <a:buClr>
                <a:srgbClr val="38761D"/>
              </a:buClr>
              <a:buSzPts val="1800"/>
              <a:buFont typeface="Lexend"/>
              <a:buChar char="●"/>
            </a:pPr>
            <a:r>
              <a:rPr lang="it">
                <a:solidFill>
                  <a:srgbClr val="38761D"/>
                </a:solidFill>
                <a:latin typeface="Lexend"/>
                <a:ea typeface="Lexend"/>
                <a:cs typeface="Lexend"/>
                <a:sym typeface="Lexend"/>
              </a:rPr>
              <a:t>Attenzione all'ascolto di clienti e partner</a:t>
            </a:r>
            <a:endParaRPr>
              <a:solidFill>
                <a:srgbClr val="38761D"/>
              </a:solidFill>
              <a:latin typeface="Lexend"/>
              <a:ea typeface="Lexend"/>
              <a:cs typeface="Lexend"/>
              <a:sym typeface="Lexend"/>
            </a:endParaRPr>
          </a:p>
          <a:p>
            <a:pPr indent="-342900" lvl="0" marL="457200" rtl="0" algn="l">
              <a:lnSpc>
                <a:spcPct val="150000"/>
              </a:lnSpc>
              <a:spcBef>
                <a:spcPts val="0"/>
              </a:spcBef>
              <a:spcAft>
                <a:spcPts val="0"/>
              </a:spcAft>
              <a:buClr>
                <a:srgbClr val="38761D"/>
              </a:buClr>
              <a:buSzPts val="1800"/>
              <a:buFont typeface="Lexend"/>
              <a:buChar char="●"/>
            </a:pPr>
            <a:r>
              <a:rPr lang="it">
                <a:solidFill>
                  <a:srgbClr val="38761D"/>
                </a:solidFill>
                <a:latin typeface="Lexend"/>
                <a:ea typeface="Lexend"/>
                <a:cs typeface="Lexend"/>
                <a:sym typeface="Lexend"/>
              </a:rPr>
              <a:t>Soluzioni efficienti e mirate alla soddisfazione del cliente</a:t>
            </a:r>
            <a:endParaRPr>
              <a:solidFill>
                <a:srgbClr val="38761D"/>
              </a:solidFill>
              <a:latin typeface="Lexend"/>
              <a:ea typeface="Lexend"/>
              <a:cs typeface="Lexend"/>
              <a:sym typeface="Lexend"/>
            </a:endParaRPr>
          </a:p>
          <a:p>
            <a:pPr indent="-342900" lvl="0" marL="457200" rtl="0" algn="l">
              <a:lnSpc>
                <a:spcPct val="150000"/>
              </a:lnSpc>
              <a:spcBef>
                <a:spcPts val="0"/>
              </a:spcBef>
              <a:spcAft>
                <a:spcPts val="0"/>
              </a:spcAft>
              <a:buClr>
                <a:srgbClr val="38761D"/>
              </a:buClr>
              <a:buSzPts val="1800"/>
              <a:buFont typeface="Lexend"/>
              <a:buChar char="●"/>
            </a:pPr>
            <a:r>
              <a:rPr lang="it">
                <a:solidFill>
                  <a:srgbClr val="38761D"/>
                </a:solidFill>
                <a:latin typeface="Lexend"/>
                <a:ea typeface="Lexend"/>
                <a:cs typeface="Lexend"/>
                <a:sym typeface="Lexend"/>
              </a:rPr>
              <a:t>Tempistiche certe per la realizzazione dei progetti</a:t>
            </a:r>
            <a:endParaRPr>
              <a:solidFill>
                <a:srgbClr val="38761D"/>
              </a:solidFill>
              <a:latin typeface="Lexend"/>
              <a:ea typeface="Lexend"/>
              <a:cs typeface="Lexend"/>
              <a:sym typeface="Lexend"/>
            </a:endParaRPr>
          </a:p>
          <a:p>
            <a:pPr indent="-342900" lvl="0" marL="457200" rtl="0" algn="l">
              <a:lnSpc>
                <a:spcPct val="150000"/>
              </a:lnSpc>
              <a:spcBef>
                <a:spcPts val="0"/>
              </a:spcBef>
              <a:spcAft>
                <a:spcPts val="0"/>
              </a:spcAft>
              <a:buClr>
                <a:srgbClr val="38761D"/>
              </a:buClr>
              <a:buSzPts val="1800"/>
              <a:buFont typeface="Lexend"/>
              <a:buChar char="●"/>
            </a:pPr>
            <a:r>
              <a:rPr lang="it">
                <a:solidFill>
                  <a:srgbClr val="38761D"/>
                </a:solidFill>
                <a:latin typeface="Lexend"/>
                <a:ea typeface="Lexend"/>
                <a:cs typeface="Lexend"/>
                <a:sym typeface="Lexend"/>
              </a:rPr>
              <a:t>Assistenza continua per partner B2B e clienti finali</a:t>
            </a:r>
            <a:endParaRPr>
              <a:solidFill>
                <a:srgbClr val="38761D"/>
              </a:solidFill>
              <a:latin typeface="Lexend"/>
              <a:ea typeface="Lexend"/>
              <a:cs typeface="Lexend"/>
              <a:sym typeface="Lexend"/>
            </a:endParaRPr>
          </a:p>
        </p:txBody>
      </p:sp>
      <p:sp>
        <p:nvSpPr>
          <p:cNvPr id="511" name="Google Shape;511;p4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12" name="Google Shape;512;p4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13" name="Google Shape;513;p4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14" name="Google Shape;514;p4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per il B2C &amp; B2B</a:t>
            </a:r>
            <a:r>
              <a:rPr lang="it" sz="700">
                <a:latin typeface="Lexend"/>
                <a:ea typeface="Lexend"/>
                <a:cs typeface="Lexend"/>
                <a:sym typeface="Lexend"/>
              </a:rPr>
              <a:t> | 31</a:t>
            </a:r>
            <a:endParaRPr sz="700">
              <a:latin typeface="Lexend"/>
              <a:ea typeface="Lexend"/>
              <a:cs typeface="Lexend"/>
              <a:sym typeface="Lexen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pic>
        <p:nvPicPr>
          <p:cNvPr id="519" name="Google Shape;519;p45"/>
          <p:cNvPicPr preferRelativeResize="0"/>
          <p:nvPr/>
        </p:nvPicPr>
        <p:blipFill>
          <a:blip r:embed="rId3">
            <a:alphaModFix/>
          </a:blip>
          <a:stretch>
            <a:fillRect/>
          </a:stretch>
        </p:blipFill>
        <p:spPr>
          <a:xfrm>
            <a:off x="0" y="0"/>
            <a:ext cx="9144003" cy="5143501"/>
          </a:xfrm>
          <a:prstGeom prst="rect">
            <a:avLst/>
          </a:prstGeom>
          <a:noFill/>
          <a:ln>
            <a:noFill/>
          </a:ln>
        </p:spPr>
      </p:pic>
      <p:sp>
        <p:nvSpPr>
          <p:cNvPr id="520" name="Google Shape;520;p45"/>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Area Tecnica</a:t>
            </a:r>
            <a:endParaRPr sz="7000">
              <a:solidFill>
                <a:schemeClr val="lt1"/>
              </a:solidFill>
              <a:latin typeface="Lexend"/>
              <a:ea typeface="Lexend"/>
              <a:cs typeface="Lexend"/>
              <a:sym typeface="Lexend"/>
            </a:endParaRPr>
          </a:p>
        </p:txBody>
      </p:sp>
      <p:sp>
        <p:nvSpPr>
          <p:cNvPr id="521" name="Google Shape;521;p45"/>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il fotovoltaico per la casa</a:t>
            </a:r>
            <a:endParaRPr sz="2000">
              <a:solidFill>
                <a:schemeClr val="lt1"/>
              </a:solidFill>
              <a:latin typeface="Lexend"/>
              <a:ea typeface="Lexend"/>
              <a:cs typeface="Lexend"/>
              <a:sym typeface="Lexend"/>
            </a:endParaRPr>
          </a:p>
        </p:txBody>
      </p:sp>
      <p:sp>
        <p:nvSpPr>
          <p:cNvPr id="522" name="Google Shape;522;p4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23" name="Google Shape;523;p45"/>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24" name="Google Shape;524;p45"/>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6"/>
          <p:cNvSpPr txBox="1"/>
          <p:nvPr>
            <p:ph type="title"/>
          </p:nvPr>
        </p:nvSpPr>
        <p:spPr>
          <a:xfrm>
            <a:off x="311700" y="13187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Cos’è</a:t>
            </a:r>
            <a:r>
              <a:rPr lang="it" sz="2000">
                <a:latin typeface="Lexend"/>
                <a:ea typeface="Lexend"/>
                <a:cs typeface="Lexend"/>
                <a:sym typeface="Lexend"/>
              </a:rPr>
              <a:t> </a:t>
            </a:r>
            <a:r>
              <a:rPr b="1" lang="it" sz="2000">
                <a:latin typeface="Lexend"/>
                <a:ea typeface="Lexend"/>
                <a:cs typeface="Lexend"/>
                <a:sym typeface="Lexend"/>
              </a:rPr>
              <a:t>il</a:t>
            </a:r>
            <a:r>
              <a:rPr b="1" lang="it" sz="2000">
                <a:latin typeface="Lexend"/>
                <a:ea typeface="Lexend"/>
                <a:cs typeface="Lexend"/>
                <a:sym typeface="Lexend"/>
              </a:rPr>
              <a:t> fotovoltaico</a:t>
            </a:r>
            <a:endParaRPr b="1" sz="2000">
              <a:latin typeface="Lexend"/>
              <a:ea typeface="Lexend"/>
              <a:cs typeface="Lexend"/>
              <a:sym typeface="Lexend"/>
            </a:endParaRPr>
          </a:p>
        </p:txBody>
      </p:sp>
      <p:sp>
        <p:nvSpPr>
          <p:cNvPr id="530" name="Google Shape;530;p4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31" name="Google Shape;531;p46"/>
          <p:cNvSpPr txBox="1"/>
          <p:nvPr>
            <p:ph idx="1" type="body"/>
          </p:nvPr>
        </p:nvSpPr>
        <p:spPr>
          <a:xfrm>
            <a:off x="700350" y="2055725"/>
            <a:ext cx="7743300" cy="1715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it">
                <a:solidFill>
                  <a:schemeClr val="dk1"/>
                </a:solidFill>
                <a:latin typeface="Lexend"/>
                <a:ea typeface="Lexend"/>
                <a:cs typeface="Lexend"/>
                <a:sym typeface="Lexend"/>
              </a:rPr>
              <a:t>Il </a:t>
            </a:r>
            <a:r>
              <a:rPr b="1" lang="it">
                <a:solidFill>
                  <a:schemeClr val="dk1"/>
                </a:solidFill>
                <a:latin typeface="Lexend"/>
                <a:ea typeface="Lexend"/>
                <a:cs typeface="Lexend"/>
                <a:sym typeface="Lexend"/>
              </a:rPr>
              <a:t>fotovoltaico</a:t>
            </a:r>
            <a:r>
              <a:rPr lang="it">
                <a:solidFill>
                  <a:schemeClr val="dk1"/>
                </a:solidFill>
                <a:latin typeface="Lexend"/>
                <a:ea typeface="Lexend"/>
                <a:cs typeface="Lexend"/>
                <a:sym typeface="Lexend"/>
              </a:rPr>
              <a:t> è una tecnologia che converte l'energia solare in elettricità tramite l’energia del sole. Questo processo avviene nelle </a:t>
            </a:r>
            <a:r>
              <a:rPr b="1" lang="it">
                <a:solidFill>
                  <a:schemeClr val="dk1"/>
                </a:solidFill>
                <a:latin typeface="Lexend"/>
                <a:ea typeface="Lexend"/>
                <a:cs typeface="Lexend"/>
                <a:sym typeface="Lexend"/>
              </a:rPr>
              <a:t>celle fotovoltaiche</a:t>
            </a:r>
            <a:r>
              <a:rPr lang="it">
                <a:solidFill>
                  <a:schemeClr val="dk1"/>
                </a:solidFill>
                <a:latin typeface="Lexend"/>
                <a:ea typeface="Lexend"/>
                <a:cs typeface="Lexend"/>
                <a:sym typeface="Lexend"/>
              </a:rPr>
              <a:t>,</a:t>
            </a:r>
            <a:r>
              <a:rPr lang="it">
                <a:solidFill>
                  <a:schemeClr val="dk1"/>
                </a:solidFill>
                <a:latin typeface="Lexend"/>
                <a:ea typeface="Lexend"/>
                <a:cs typeface="Lexend"/>
                <a:sym typeface="Lexend"/>
              </a:rPr>
              <a:t> solitamente a base di silicio, </a:t>
            </a:r>
            <a:r>
              <a:rPr lang="it">
                <a:solidFill>
                  <a:schemeClr val="dk1"/>
                </a:solidFill>
                <a:latin typeface="Lexend"/>
                <a:ea typeface="Lexend"/>
                <a:cs typeface="Lexend"/>
                <a:sym typeface="Lexend"/>
              </a:rPr>
              <a:t>che generano corrente elettrica continua (DC) che verrà trasformata in corrente alternata (AC) dall’</a:t>
            </a:r>
            <a:r>
              <a:rPr b="1" lang="it">
                <a:solidFill>
                  <a:schemeClr val="dk1"/>
                </a:solidFill>
                <a:latin typeface="Lexend"/>
                <a:ea typeface="Lexend"/>
                <a:cs typeface="Lexend"/>
                <a:sym typeface="Lexend"/>
              </a:rPr>
              <a:t>inverter</a:t>
            </a:r>
            <a:r>
              <a:rPr lang="it">
                <a:solidFill>
                  <a:schemeClr val="dk1"/>
                </a:solidFill>
                <a:latin typeface="Lexend"/>
                <a:ea typeface="Lexend"/>
                <a:cs typeface="Lexend"/>
                <a:sym typeface="Lexend"/>
              </a:rPr>
              <a:t>.</a:t>
            </a:r>
            <a:endParaRPr>
              <a:solidFill>
                <a:srgbClr val="38761D"/>
              </a:solidFill>
              <a:latin typeface="Lexend"/>
              <a:ea typeface="Lexend"/>
              <a:cs typeface="Lexend"/>
              <a:sym typeface="Lexend"/>
            </a:endParaRPr>
          </a:p>
        </p:txBody>
      </p:sp>
      <p:pic>
        <p:nvPicPr>
          <p:cNvPr id="532" name="Google Shape;532;p4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33" name="Google Shape;533;p4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34" name="Google Shape;534;p4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il Fotovoltaico</a:t>
            </a:r>
            <a:r>
              <a:rPr lang="it" sz="700">
                <a:latin typeface="Lexend"/>
                <a:ea typeface="Lexend"/>
                <a:cs typeface="Lexend"/>
                <a:sym typeface="Lexend"/>
              </a:rPr>
              <a:t> | 33</a:t>
            </a:r>
            <a:endParaRPr sz="700">
              <a:latin typeface="Lexend"/>
              <a:ea typeface="Lexend"/>
              <a:cs typeface="Lexend"/>
              <a:sym typeface="Lexen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7"/>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Com’è fatto </a:t>
            </a:r>
            <a:r>
              <a:rPr b="1" lang="it" sz="2000">
                <a:latin typeface="Lexend"/>
                <a:ea typeface="Lexend"/>
                <a:cs typeface="Lexend"/>
                <a:sym typeface="Lexend"/>
              </a:rPr>
              <a:t>un impianto fotovoltaico</a:t>
            </a:r>
            <a:endParaRPr b="1" sz="2000">
              <a:latin typeface="Lexend"/>
              <a:ea typeface="Lexend"/>
              <a:cs typeface="Lexend"/>
              <a:sym typeface="Lexend"/>
            </a:endParaRPr>
          </a:p>
        </p:txBody>
      </p:sp>
      <p:sp>
        <p:nvSpPr>
          <p:cNvPr id="540" name="Google Shape;540;p4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41" name="Google Shape;541;p47"/>
          <p:cNvPicPr preferRelativeResize="0"/>
          <p:nvPr/>
        </p:nvPicPr>
        <p:blipFill rotWithShape="1">
          <a:blip r:embed="rId3">
            <a:alphaModFix/>
          </a:blip>
          <a:srcRect b="0" l="0" r="0" t="0"/>
          <a:stretch/>
        </p:blipFill>
        <p:spPr>
          <a:xfrm>
            <a:off x="731701" y="1113300"/>
            <a:ext cx="7680599" cy="3836549"/>
          </a:xfrm>
          <a:prstGeom prst="rect">
            <a:avLst/>
          </a:prstGeom>
          <a:noFill/>
          <a:ln>
            <a:noFill/>
          </a:ln>
        </p:spPr>
      </p:pic>
      <p:sp>
        <p:nvSpPr>
          <p:cNvPr id="542" name="Google Shape;542;p47"/>
          <p:cNvSpPr txBox="1"/>
          <p:nvPr/>
        </p:nvSpPr>
        <p:spPr>
          <a:xfrm>
            <a:off x="1376300" y="405195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700">
                <a:solidFill>
                  <a:schemeClr val="lt1"/>
                </a:solidFill>
                <a:latin typeface="Lexend"/>
                <a:ea typeface="Lexend"/>
                <a:cs typeface="Lexend"/>
                <a:sym typeface="Lexend"/>
              </a:rPr>
              <a:t>Accumulo</a:t>
            </a:r>
            <a:endParaRPr b="1" sz="700">
              <a:solidFill>
                <a:schemeClr val="lt1"/>
              </a:solidFill>
              <a:latin typeface="Lexend"/>
              <a:ea typeface="Lexend"/>
              <a:cs typeface="Lexend"/>
              <a:sym typeface="Lexend"/>
            </a:endParaRPr>
          </a:p>
        </p:txBody>
      </p:sp>
      <p:sp>
        <p:nvSpPr>
          <p:cNvPr id="543" name="Google Shape;543;p47"/>
          <p:cNvSpPr txBox="1"/>
          <p:nvPr/>
        </p:nvSpPr>
        <p:spPr>
          <a:xfrm>
            <a:off x="3053550" y="405195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700">
                <a:solidFill>
                  <a:schemeClr val="lt1"/>
                </a:solidFill>
                <a:latin typeface="Lexend"/>
                <a:ea typeface="Lexend"/>
                <a:cs typeface="Lexend"/>
                <a:sym typeface="Lexend"/>
              </a:rPr>
              <a:t>Inverter</a:t>
            </a:r>
            <a:endParaRPr b="1" sz="700">
              <a:solidFill>
                <a:schemeClr val="lt1"/>
              </a:solidFill>
              <a:latin typeface="Lexend"/>
              <a:ea typeface="Lexend"/>
              <a:cs typeface="Lexend"/>
              <a:sym typeface="Lexend"/>
            </a:endParaRPr>
          </a:p>
        </p:txBody>
      </p:sp>
      <p:sp>
        <p:nvSpPr>
          <p:cNvPr id="544" name="Google Shape;544;p47"/>
          <p:cNvSpPr txBox="1"/>
          <p:nvPr/>
        </p:nvSpPr>
        <p:spPr>
          <a:xfrm>
            <a:off x="6869875" y="2610420"/>
            <a:ext cx="10110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700">
                <a:solidFill>
                  <a:schemeClr val="dk1"/>
                </a:solidFill>
                <a:latin typeface="Lexend"/>
                <a:ea typeface="Lexend"/>
                <a:cs typeface="Lexend"/>
                <a:sym typeface="Lexend"/>
              </a:rPr>
              <a:t>Mobile APP</a:t>
            </a:r>
            <a:endParaRPr b="1" sz="700">
              <a:solidFill>
                <a:schemeClr val="dk1"/>
              </a:solidFill>
              <a:latin typeface="Lexend"/>
              <a:ea typeface="Lexend"/>
              <a:cs typeface="Lexend"/>
              <a:sym typeface="Lexend"/>
            </a:endParaRPr>
          </a:p>
        </p:txBody>
      </p:sp>
      <p:sp>
        <p:nvSpPr>
          <p:cNvPr id="545" name="Google Shape;545;p47"/>
          <p:cNvSpPr txBox="1"/>
          <p:nvPr/>
        </p:nvSpPr>
        <p:spPr>
          <a:xfrm>
            <a:off x="5589350" y="201920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700">
                <a:solidFill>
                  <a:schemeClr val="lt1"/>
                </a:solidFill>
                <a:latin typeface="Lexend"/>
                <a:ea typeface="Lexend"/>
                <a:cs typeface="Lexend"/>
                <a:sym typeface="Lexend"/>
              </a:rPr>
              <a:t>Rete</a:t>
            </a:r>
            <a:endParaRPr b="1" sz="700">
              <a:solidFill>
                <a:schemeClr val="lt1"/>
              </a:solidFill>
              <a:latin typeface="Lexend"/>
              <a:ea typeface="Lexend"/>
              <a:cs typeface="Lexend"/>
              <a:sym typeface="Lexend"/>
            </a:endParaRPr>
          </a:p>
        </p:txBody>
      </p:sp>
      <p:sp>
        <p:nvSpPr>
          <p:cNvPr id="546" name="Google Shape;546;p47"/>
          <p:cNvSpPr txBox="1"/>
          <p:nvPr/>
        </p:nvSpPr>
        <p:spPr>
          <a:xfrm>
            <a:off x="4229425" y="3128275"/>
            <a:ext cx="11907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700">
                <a:solidFill>
                  <a:schemeClr val="lt1"/>
                </a:solidFill>
                <a:latin typeface="Lexend"/>
                <a:ea typeface="Lexend"/>
                <a:cs typeface="Lexend"/>
                <a:sym typeface="Lexend"/>
              </a:rPr>
              <a:t>Carichi / Utenze</a:t>
            </a:r>
            <a:endParaRPr b="1" sz="700">
              <a:solidFill>
                <a:schemeClr val="lt1"/>
              </a:solidFill>
              <a:latin typeface="Lexend"/>
              <a:ea typeface="Lexend"/>
              <a:cs typeface="Lexend"/>
              <a:sym typeface="Lexend"/>
            </a:endParaRPr>
          </a:p>
        </p:txBody>
      </p:sp>
      <p:sp>
        <p:nvSpPr>
          <p:cNvPr id="547" name="Google Shape;547;p47"/>
          <p:cNvSpPr txBox="1"/>
          <p:nvPr/>
        </p:nvSpPr>
        <p:spPr>
          <a:xfrm>
            <a:off x="5332400" y="2569560"/>
            <a:ext cx="11907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highlight>
                  <a:schemeClr val="dk2"/>
                </a:highlight>
                <a:latin typeface="Lexend"/>
                <a:ea typeface="Lexend"/>
                <a:cs typeface="Lexend"/>
                <a:sym typeface="Lexend"/>
              </a:rPr>
              <a:t> Contatore Casa</a:t>
            </a:r>
            <a:r>
              <a:rPr b="1" lang="it" sz="600">
                <a:solidFill>
                  <a:schemeClr val="dk2"/>
                </a:solidFill>
                <a:highlight>
                  <a:schemeClr val="dk2"/>
                </a:highlight>
                <a:latin typeface="Lexend"/>
                <a:ea typeface="Lexend"/>
                <a:cs typeface="Lexend"/>
                <a:sym typeface="Lexend"/>
              </a:rPr>
              <a:t>.</a:t>
            </a:r>
            <a:endParaRPr b="1" sz="600">
              <a:solidFill>
                <a:schemeClr val="dk2"/>
              </a:solidFill>
              <a:highlight>
                <a:schemeClr val="dk2"/>
              </a:highlight>
              <a:latin typeface="Lexend"/>
              <a:ea typeface="Lexend"/>
              <a:cs typeface="Lexend"/>
              <a:sym typeface="Lexend"/>
            </a:endParaRPr>
          </a:p>
        </p:txBody>
      </p:sp>
      <p:sp>
        <p:nvSpPr>
          <p:cNvPr id="548" name="Google Shape;548;p47"/>
          <p:cNvSpPr txBox="1"/>
          <p:nvPr>
            <p:ph type="title"/>
          </p:nvPr>
        </p:nvSpPr>
        <p:spPr>
          <a:xfrm>
            <a:off x="6765425" y="1608975"/>
            <a:ext cx="1332600" cy="4629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None/>
            </a:pPr>
            <a:r>
              <a:rPr lang="it" sz="700">
                <a:latin typeface="Lexend"/>
                <a:ea typeface="Lexend"/>
                <a:cs typeface="Lexend"/>
                <a:sym typeface="Lexend"/>
              </a:rPr>
              <a:t>Legenda:</a:t>
            </a:r>
            <a:endParaRPr sz="700">
              <a:latin typeface="Lexend"/>
              <a:ea typeface="Lexend"/>
              <a:cs typeface="Lexend"/>
              <a:sym typeface="Lexend"/>
            </a:endParaRPr>
          </a:p>
          <a:p>
            <a:pPr indent="0" lvl="0" marL="0" rtl="0" algn="l">
              <a:lnSpc>
                <a:spcPct val="115000"/>
              </a:lnSpc>
              <a:spcBef>
                <a:spcPts val="0"/>
              </a:spcBef>
              <a:spcAft>
                <a:spcPts val="0"/>
              </a:spcAft>
              <a:buNone/>
            </a:pPr>
            <a:r>
              <a:rPr b="1" lang="it" sz="700">
                <a:solidFill>
                  <a:srgbClr val="047D96"/>
                </a:solidFill>
                <a:latin typeface="Lexend"/>
                <a:ea typeface="Lexend"/>
                <a:cs typeface="Lexend"/>
                <a:sym typeface="Lexend"/>
              </a:rPr>
              <a:t>CC</a:t>
            </a:r>
            <a:r>
              <a:rPr lang="it" sz="700">
                <a:latin typeface="Lexend"/>
                <a:ea typeface="Lexend"/>
                <a:cs typeface="Lexend"/>
                <a:sym typeface="Lexend"/>
              </a:rPr>
              <a:t>: Corrente Continua</a:t>
            </a:r>
            <a:endParaRPr sz="700">
              <a:latin typeface="Lexend"/>
              <a:ea typeface="Lexend"/>
              <a:cs typeface="Lexend"/>
              <a:sym typeface="Lexend"/>
            </a:endParaRPr>
          </a:p>
          <a:p>
            <a:pPr indent="0" lvl="0" marL="0" rtl="0" algn="l">
              <a:lnSpc>
                <a:spcPct val="115000"/>
              </a:lnSpc>
              <a:spcBef>
                <a:spcPts val="0"/>
              </a:spcBef>
              <a:spcAft>
                <a:spcPts val="0"/>
              </a:spcAft>
              <a:buNone/>
            </a:pPr>
            <a:r>
              <a:rPr b="1" lang="it" sz="700">
                <a:solidFill>
                  <a:srgbClr val="F27417"/>
                </a:solidFill>
                <a:latin typeface="Lexend"/>
                <a:ea typeface="Lexend"/>
                <a:cs typeface="Lexend"/>
                <a:sym typeface="Lexend"/>
              </a:rPr>
              <a:t>CA</a:t>
            </a:r>
            <a:r>
              <a:rPr lang="it" sz="700">
                <a:latin typeface="Lexend"/>
                <a:ea typeface="Lexend"/>
                <a:cs typeface="Lexend"/>
                <a:sym typeface="Lexend"/>
              </a:rPr>
              <a:t>: Corrente Alternata</a:t>
            </a:r>
            <a:endParaRPr sz="700">
              <a:latin typeface="Lexend"/>
              <a:ea typeface="Lexend"/>
              <a:cs typeface="Lexend"/>
              <a:sym typeface="Lexend"/>
            </a:endParaRPr>
          </a:p>
        </p:txBody>
      </p:sp>
      <p:pic>
        <p:nvPicPr>
          <p:cNvPr id="549" name="Google Shape;549;p47"/>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550" name="Google Shape;550;p4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51" name="Google Shape;551;p4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il Fotovoltaico</a:t>
            </a:r>
            <a:r>
              <a:rPr lang="it" sz="700">
                <a:latin typeface="Lexend"/>
                <a:ea typeface="Lexend"/>
                <a:cs typeface="Lexend"/>
                <a:sym typeface="Lexend"/>
              </a:rPr>
              <a:t> | 34</a:t>
            </a:r>
            <a:endParaRPr sz="700">
              <a:latin typeface="Lexend"/>
              <a:ea typeface="Lexend"/>
              <a:cs typeface="Lexend"/>
              <a:sym typeface="Lexen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8"/>
          <p:cNvSpPr txBox="1"/>
          <p:nvPr>
            <p:ph type="title"/>
          </p:nvPr>
        </p:nvSpPr>
        <p:spPr>
          <a:xfrm>
            <a:off x="569725" y="1556850"/>
            <a:ext cx="2481000" cy="46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it" sz="2000">
                <a:latin typeface="Lexend"/>
                <a:ea typeface="Lexend"/>
                <a:cs typeface="Lexend"/>
                <a:sym typeface="Lexend"/>
              </a:rPr>
              <a:t>L’Inverter</a:t>
            </a:r>
            <a:endParaRPr b="1" sz="2000">
              <a:latin typeface="Lexend"/>
              <a:ea typeface="Lexend"/>
              <a:cs typeface="Lexend"/>
              <a:sym typeface="Lexend"/>
            </a:endParaRPr>
          </a:p>
        </p:txBody>
      </p:sp>
      <p:sp>
        <p:nvSpPr>
          <p:cNvPr id="557" name="Google Shape;557;p4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8" name="Google Shape;558;p48"/>
          <p:cNvSpPr txBox="1"/>
          <p:nvPr>
            <p:ph idx="1" type="body"/>
          </p:nvPr>
        </p:nvSpPr>
        <p:spPr>
          <a:xfrm>
            <a:off x="569725" y="2055575"/>
            <a:ext cx="2978400" cy="1971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a:solidFill>
                  <a:schemeClr val="dk1"/>
                </a:solidFill>
                <a:latin typeface="Lexend"/>
                <a:ea typeface="Lexend"/>
                <a:cs typeface="Lexend"/>
                <a:sym typeface="Lexend"/>
              </a:rPr>
              <a:t>Gli </a:t>
            </a:r>
            <a:r>
              <a:rPr b="1" lang="it" sz="1100">
                <a:solidFill>
                  <a:schemeClr val="dk1"/>
                </a:solidFill>
                <a:latin typeface="Lexend"/>
                <a:ea typeface="Lexend"/>
                <a:cs typeface="Lexend"/>
                <a:sym typeface="Lexend"/>
              </a:rPr>
              <a:t>inverter</a:t>
            </a:r>
            <a:r>
              <a:rPr lang="it" sz="1100">
                <a:solidFill>
                  <a:schemeClr val="dk1"/>
                </a:solidFill>
                <a:latin typeface="Lexend"/>
                <a:ea typeface="Lexend"/>
                <a:cs typeface="Lexend"/>
                <a:sym typeface="Lexend"/>
              </a:rPr>
              <a:t> sono componenti fondamentali nei sistemi fotovoltaici e nei sistemi di gestione dell’energia elettrica, poiché </a:t>
            </a:r>
            <a:r>
              <a:rPr b="1" lang="it" sz="1100">
                <a:solidFill>
                  <a:schemeClr val="dk1"/>
                </a:solidFill>
                <a:latin typeface="Lexend"/>
                <a:ea typeface="Lexend"/>
                <a:cs typeface="Lexend"/>
                <a:sym typeface="Lexend"/>
              </a:rPr>
              <a:t>convertono la corrente continua (DC), generata dai pannelli solari o dalle batterie, in corrente alternata (AC), che può essere utilizzata per alimentare dispositivi domestici o immessa in rete.</a:t>
            </a:r>
            <a:endParaRPr b="1" sz="1100">
              <a:latin typeface="Lexend"/>
              <a:ea typeface="Lexend"/>
              <a:cs typeface="Lexend"/>
              <a:sym typeface="Lexend"/>
            </a:endParaRPr>
          </a:p>
        </p:txBody>
      </p:sp>
      <p:pic>
        <p:nvPicPr>
          <p:cNvPr id="559" name="Google Shape;559;p48"/>
          <p:cNvPicPr preferRelativeResize="0"/>
          <p:nvPr/>
        </p:nvPicPr>
        <p:blipFill rotWithShape="1">
          <a:blip r:embed="rId3">
            <a:alphaModFix/>
          </a:blip>
          <a:srcRect b="15251" l="701" r="26274" t="997"/>
          <a:stretch/>
        </p:blipFill>
        <p:spPr>
          <a:xfrm>
            <a:off x="3482875" y="1157012"/>
            <a:ext cx="4938998" cy="2829475"/>
          </a:xfrm>
          <a:prstGeom prst="rect">
            <a:avLst/>
          </a:prstGeom>
          <a:noFill/>
          <a:ln>
            <a:noFill/>
          </a:ln>
        </p:spPr>
      </p:pic>
      <p:grpSp>
        <p:nvGrpSpPr>
          <p:cNvPr id="560" name="Google Shape;560;p48"/>
          <p:cNvGrpSpPr/>
          <p:nvPr/>
        </p:nvGrpSpPr>
        <p:grpSpPr>
          <a:xfrm>
            <a:off x="3997957" y="1919935"/>
            <a:ext cx="4532861" cy="1989686"/>
            <a:chOff x="1343280" y="1964406"/>
            <a:chExt cx="5179820" cy="2304744"/>
          </a:xfrm>
        </p:grpSpPr>
        <p:sp>
          <p:nvSpPr>
            <p:cNvPr id="561" name="Google Shape;561;p48"/>
            <p:cNvSpPr txBox="1"/>
            <p:nvPr/>
          </p:nvSpPr>
          <p:spPr>
            <a:xfrm>
              <a:off x="1343280" y="405195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latin typeface="Lexend"/>
                  <a:ea typeface="Lexend"/>
                  <a:cs typeface="Lexend"/>
                  <a:sym typeface="Lexend"/>
                </a:rPr>
                <a:t>Accumulo</a:t>
              </a:r>
              <a:endParaRPr b="1" sz="600">
                <a:solidFill>
                  <a:schemeClr val="lt1"/>
                </a:solidFill>
                <a:latin typeface="Lexend"/>
                <a:ea typeface="Lexend"/>
                <a:cs typeface="Lexend"/>
                <a:sym typeface="Lexend"/>
              </a:endParaRPr>
            </a:p>
          </p:txBody>
        </p:sp>
        <p:sp>
          <p:nvSpPr>
            <p:cNvPr id="562" name="Google Shape;562;p48"/>
            <p:cNvSpPr txBox="1"/>
            <p:nvPr/>
          </p:nvSpPr>
          <p:spPr>
            <a:xfrm>
              <a:off x="3053550" y="4051950"/>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latin typeface="Lexend"/>
                  <a:ea typeface="Lexend"/>
                  <a:cs typeface="Lexend"/>
                  <a:sym typeface="Lexend"/>
                </a:rPr>
                <a:t>Inverter</a:t>
              </a:r>
              <a:endParaRPr b="1" sz="600">
                <a:solidFill>
                  <a:schemeClr val="lt1"/>
                </a:solidFill>
                <a:latin typeface="Lexend"/>
                <a:ea typeface="Lexend"/>
                <a:cs typeface="Lexend"/>
                <a:sym typeface="Lexend"/>
              </a:endParaRPr>
            </a:p>
          </p:txBody>
        </p:sp>
        <p:sp>
          <p:nvSpPr>
            <p:cNvPr id="563" name="Google Shape;563;p48"/>
            <p:cNvSpPr txBox="1"/>
            <p:nvPr/>
          </p:nvSpPr>
          <p:spPr>
            <a:xfrm>
              <a:off x="5589350" y="1964406"/>
              <a:ext cx="6768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latin typeface="Lexend"/>
                  <a:ea typeface="Lexend"/>
                  <a:cs typeface="Lexend"/>
                  <a:sym typeface="Lexend"/>
                </a:rPr>
                <a:t>Rete</a:t>
              </a:r>
              <a:endParaRPr b="1" sz="600">
                <a:solidFill>
                  <a:schemeClr val="lt1"/>
                </a:solidFill>
                <a:latin typeface="Lexend"/>
                <a:ea typeface="Lexend"/>
                <a:cs typeface="Lexend"/>
                <a:sym typeface="Lexend"/>
              </a:endParaRPr>
            </a:p>
          </p:txBody>
        </p:sp>
        <p:sp>
          <p:nvSpPr>
            <p:cNvPr id="564" name="Google Shape;564;p48"/>
            <p:cNvSpPr txBox="1"/>
            <p:nvPr/>
          </p:nvSpPr>
          <p:spPr>
            <a:xfrm>
              <a:off x="4229425" y="3087826"/>
              <a:ext cx="11907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latin typeface="Lexend"/>
                  <a:ea typeface="Lexend"/>
                  <a:cs typeface="Lexend"/>
                  <a:sym typeface="Lexend"/>
                </a:rPr>
                <a:t>Carichi / Utenze</a:t>
              </a:r>
              <a:endParaRPr b="1" sz="600">
                <a:solidFill>
                  <a:schemeClr val="lt1"/>
                </a:solidFill>
                <a:latin typeface="Lexend"/>
                <a:ea typeface="Lexend"/>
                <a:cs typeface="Lexend"/>
                <a:sym typeface="Lexend"/>
              </a:endParaRPr>
            </a:p>
          </p:txBody>
        </p:sp>
        <p:sp>
          <p:nvSpPr>
            <p:cNvPr id="565" name="Google Shape;565;p48"/>
            <p:cNvSpPr txBox="1"/>
            <p:nvPr/>
          </p:nvSpPr>
          <p:spPr>
            <a:xfrm>
              <a:off x="5332400" y="2569560"/>
              <a:ext cx="1190700" cy="217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it" sz="600">
                  <a:solidFill>
                    <a:schemeClr val="lt1"/>
                  </a:solidFill>
                  <a:highlight>
                    <a:schemeClr val="dk2"/>
                  </a:highlight>
                  <a:latin typeface="Lexend"/>
                  <a:ea typeface="Lexend"/>
                  <a:cs typeface="Lexend"/>
                  <a:sym typeface="Lexend"/>
                </a:rPr>
                <a:t> Contatore Casa</a:t>
              </a:r>
              <a:r>
                <a:rPr b="1" lang="it" sz="600">
                  <a:solidFill>
                    <a:schemeClr val="dk2"/>
                  </a:solidFill>
                  <a:highlight>
                    <a:schemeClr val="dk2"/>
                  </a:highlight>
                  <a:latin typeface="Lexend"/>
                  <a:ea typeface="Lexend"/>
                  <a:cs typeface="Lexend"/>
                  <a:sym typeface="Lexend"/>
                </a:rPr>
                <a:t>.</a:t>
              </a:r>
              <a:endParaRPr b="1" sz="600">
                <a:solidFill>
                  <a:schemeClr val="dk2"/>
                </a:solidFill>
                <a:highlight>
                  <a:schemeClr val="dk2"/>
                </a:highlight>
                <a:latin typeface="Lexend"/>
                <a:ea typeface="Lexend"/>
                <a:cs typeface="Lexend"/>
                <a:sym typeface="Lexend"/>
              </a:endParaRPr>
            </a:p>
          </p:txBody>
        </p:sp>
      </p:grpSp>
      <p:sp>
        <p:nvSpPr>
          <p:cNvPr id="566" name="Google Shape;566;p48"/>
          <p:cNvSpPr/>
          <p:nvPr/>
        </p:nvSpPr>
        <p:spPr>
          <a:xfrm>
            <a:off x="5671925" y="4152350"/>
            <a:ext cx="198000" cy="396300"/>
          </a:xfrm>
          <a:prstGeom prst="upArrow">
            <a:avLst>
              <a:gd fmla="val 50000" name="adj1"/>
              <a:gd fmla="val 50000" name="adj2"/>
            </a:avLst>
          </a:prstGeom>
          <a:solidFill>
            <a:srgbClr val="047D9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7" name="Google Shape;567;p48"/>
          <p:cNvSpPr/>
          <p:nvPr/>
        </p:nvSpPr>
        <p:spPr>
          <a:xfrm>
            <a:off x="5279369" y="3085368"/>
            <a:ext cx="983100" cy="983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568" name="Google Shape;568;p48"/>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569" name="Google Shape;569;p4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70" name="Google Shape;570;p4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l’Inverter </a:t>
            </a:r>
            <a:r>
              <a:rPr lang="it" sz="700">
                <a:latin typeface="Lexend"/>
                <a:ea typeface="Lexend"/>
                <a:cs typeface="Lexend"/>
                <a:sym typeface="Lexend"/>
              </a:rPr>
              <a:t>| 35</a:t>
            </a:r>
            <a:endParaRPr sz="700">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49"/>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Inverter Ibrido</a:t>
            </a:r>
            <a:endParaRPr b="1" sz="2000">
              <a:latin typeface="Lexend"/>
              <a:ea typeface="Lexend"/>
              <a:cs typeface="Lexend"/>
              <a:sym typeface="Lexend"/>
            </a:endParaRPr>
          </a:p>
        </p:txBody>
      </p:sp>
      <p:sp>
        <p:nvSpPr>
          <p:cNvPr id="576" name="Google Shape;576;p4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77" name="Google Shape;577;p49"/>
          <p:cNvSpPr txBox="1"/>
          <p:nvPr>
            <p:ph idx="1" type="body"/>
          </p:nvPr>
        </p:nvSpPr>
        <p:spPr>
          <a:xfrm>
            <a:off x="518100" y="1491200"/>
            <a:ext cx="8107800" cy="29499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935"/>
              <a:buNone/>
            </a:pPr>
            <a:r>
              <a:rPr lang="it" sz="1435">
                <a:solidFill>
                  <a:schemeClr val="dk1"/>
                </a:solidFill>
                <a:latin typeface="Lexend"/>
                <a:ea typeface="Lexend"/>
                <a:cs typeface="Lexend"/>
                <a:sym typeface="Lexend"/>
              </a:rPr>
              <a:t>Gli </a:t>
            </a:r>
            <a:r>
              <a:rPr b="1" lang="it" sz="1435">
                <a:solidFill>
                  <a:srgbClr val="38761D"/>
                </a:solidFill>
                <a:highlight>
                  <a:srgbClr val="B6D7A8"/>
                </a:highlight>
                <a:latin typeface="Lexend"/>
                <a:ea typeface="Lexend"/>
                <a:cs typeface="Lexend"/>
                <a:sym typeface="Lexend"/>
              </a:rPr>
              <a:t>inverter ibridi</a:t>
            </a:r>
            <a:r>
              <a:rPr lang="it" sz="1435">
                <a:solidFill>
                  <a:schemeClr val="dk1"/>
                </a:solidFill>
                <a:latin typeface="Lexend"/>
                <a:ea typeface="Lexend"/>
                <a:cs typeface="Lexend"/>
                <a:sym typeface="Lexend"/>
              </a:rPr>
              <a:t> combinano la funzionalità di un inverter solare con quella di un sistema di accumulo di energia (batteria), </a:t>
            </a:r>
            <a:r>
              <a:rPr b="1" lang="it" sz="1435">
                <a:solidFill>
                  <a:srgbClr val="38761D"/>
                </a:solidFill>
                <a:highlight>
                  <a:srgbClr val="B6D7A8"/>
                </a:highlight>
                <a:latin typeface="Lexend"/>
                <a:ea typeface="Lexend"/>
                <a:cs typeface="Lexend"/>
                <a:sym typeface="Lexend"/>
              </a:rPr>
              <a:t>permettendo di gestire contemporaneamente la produzione di energia solare e lo stoccaggio in una batteria.</a:t>
            </a:r>
            <a:endParaRPr b="1" sz="1435">
              <a:solidFill>
                <a:srgbClr val="38761D"/>
              </a:solidFill>
              <a:highlight>
                <a:srgbClr val="B6D7A8"/>
              </a:highlight>
              <a:latin typeface="Lexend"/>
              <a:ea typeface="Lexend"/>
              <a:cs typeface="Lexend"/>
              <a:sym typeface="Lexend"/>
            </a:endParaRPr>
          </a:p>
          <a:p>
            <a:pPr indent="0" lvl="0" marL="0" rtl="0" algn="l">
              <a:lnSpc>
                <a:spcPct val="95000"/>
              </a:lnSpc>
              <a:spcBef>
                <a:spcPts val="0"/>
              </a:spcBef>
              <a:spcAft>
                <a:spcPts val="0"/>
              </a:spcAft>
              <a:buSzPts val="935"/>
              <a:buNone/>
            </a:pPr>
            <a:r>
              <a:t/>
            </a:r>
            <a:endParaRPr sz="1235">
              <a:solidFill>
                <a:schemeClr val="dk1"/>
              </a:solidFill>
              <a:latin typeface="Lexend"/>
              <a:ea typeface="Lexend"/>
              <a:cs typeface="Lexend"/>
              <a:sym typeface="Lexend"/>
            </a:endParaRPr>
          </a:p>
          <a:p>
            <a:pPr indent="0" lvl="0" marL="0" rtl="0" algn="l">
              <a:lnSpc>
                <a:spcPct val="95000"/>
              </a:lnSpc>
              <a:spcBef>
                <a:spcPts val="0"/>
              </a:spcBef>
              <a:spcAft>
                <a:spcPts val="0"/>
              </a:spcAft>
              <a:buSzPts val="935"/>
              <a:buNone/>
            </a:pPr>
            <a:r>
              <a:t/>
            </a:r>
            <a:endParaRPr sz="1235">
              <a:solidFill>
                <a:schemeClr val="dk1"/>
              </a:solidFill>
              <a:latin typeface="Lexend"/>
              <a:ea typeface="Lexend"/>
              <a:cs typeface="Lexend"/>
              <a:sym typeface="Lexend"/>
            </a:endParaRPr>
          </a:p>
          <a:p>
            <a:pPr indent="0" lvl="0" marL="0" rtl="0" algn="l">
              <a:lnSpc>
                <a:spcPct val="95000"/>
              </a:lnSpc>
              <a:spcBef>
                <a:spcPts val="0"/>
              </a:spcBef>
              <a:spcAft>
                <a:spcPts val="0"/>
              </a:spcAft>
              <a:buSzPts val="935"/>
              <a:buNone/>
            </a:pPr>
            <a:r>
              <a:rPr lang="it" sz="1435">
                <a:solidFill>
                  <a:schemeClr val="dk1"/>
                </a:solidFill>
                <a:latin typeface="Lexend"/>
                <a:ea typeface="Lexend"/>
                <a:cs typeface="Lexend"/>
                <a:sym typeface="Lexend"/>
              </a:rPr>
              <a:t>Gli Inverter Ibridi possono:</a:t>
            </a:r>
            <a:endParaRPr sz="1435">
              <a:solidFill>
                <a:schemeClr val="dk1"/>
              </a:solidFill>
              <a:latin typeface="Lexend"/>
              <a:ea typeface="Lexend"/>
              <a:cs typeface="Lexend"/>
              <a:sym typeface="Lexend"/>
            </a:endParaRPr>
          </a:p>
          <a:p>
            <a:pPr indent="0" lvl="0" marL="0" rtl="0" algn="l">
              <a:lnSpc>
                <a:spcPct val="95000"/>
              </a:lnSpc>
              <a:spcBef>
                <a:spcPts val="0"/>
              </a:spcBef>
              <a:spcAft>
                <a:spcPts val="0"/>
              </a:spcAft>
              <a:buSzPts val="935"/>
              <a:buNone/>
            </a:pPr>
            <a:r>
              <a:t/>
            </a:r>
            <a:endParaRPr sz="1235">
              <a:solidFill>
                <a:schemeClr val="dk1"/>
              </a:solidFill>
              <a:latin typeface="Lexend"/>
              <a:ea typeface="Lexend"/>
              <a:cs typeface="Lexend"/>
              <a:sym typeface="Lexend"/>
            </a:endParaRPr>
          </a:p>
          <a:p>
            <a:pPr indent="-307023" lvl="0" marL="457200" rtl="0" algn="l">
              <a:lnSpc>
                <a:spcPct val="95000"/>
              </a:lnSpc>
              <a:spcBef>
                <a:spcPts val="0"/>
              </a:spcBef>
              <a:spcAft>
                <a:spcPts val="0"/>
              </a:spcAft>
              <a:buClr>
                <a:schemeClr val="dk1"/>
              </a:buClr>
              <a:buSzPts val="1235"/>
              <a:buChar char="●"/>
            </a:pPr>
            <a:r>
              <a:rPr b="1" lang="it" sz="1235">
                <a:solidFill>
                  <a:schemeClr val="dk1"/>
                </a:solidFill>
                <a:latin typeface="Lexend"/>
                <a:ea typeface="Lexend"/>
                <a:cs typeface="Lexend"/>
                <a:sym typeface="Lexend"/>
              </a:rPr>
              <a:t>Convertire l'energia solare in CA </a:t>
            </a:r>
            <a:r>
              <a:rPr lang="it" sz="1235">
                <a:solidFill>
                  <a:schemeClr val="dk1"/>
                </a:solidFill>
                <a:latin typeface="Lexend"/>
                <a:ea typeface="Lexend"/>
                <a:cs typeface="Lexend"/>
                <a:sym typeface="Lexend"/>
              </a:rPr>
              <a:t>(corrente alternata) per alimentare la casa o l’edificio.</a:t>
            </a:r>
            <a:endParaRPr sz="1235">
              <a:solidFill>
                <a:schemeClr val="dk1"/>
              </a:solidFill>
              <a:latin typeface="Lexend"/>
              <a:ea typeface="Lexend"/>
              <a:cs typeface="Lexend"/>
              <a:sym typeface="Lexend"/>
            </a:endParaRPr>
          </a:p>
          <a:p>
            <a:pPr indent="0" lvl="0" marL="457200" rtl="0" algn="l">
              <a:lnSpc>
                <a:spcPct val="95000"/>
              </a:lnSpc>
              <a:spcBef>
                <a:spcPts val="0"/>
              </a:spcBef>
              <a:spcAft>
                <a:spcPts val="0"/>
              </a:spcAft>
              <a:buNone/>
            </a:pPr>
            <a:r>
              <a:t/>
            </a:r>
            <a:endParaRPr sz="1235">
              <a:solidFill>
                <a:schemeClr val="dk1"/>
              </a:solidFill>
              <a:latin typeface="Lexend"/>
              <a:ea typeface="Lexend"/>
              <a:cs typeface="Lexend"/>
              <a:sym typeface="Lexend"/>
            </a:endParaRPr>
          </a:p>
          <a:p>
            <a:pPr indent="-307023" lvl="0" marL="457200" rtl="0" algn="l">
              <a:lnSpc>
                <a:spcPct val="95000"/>
              </a:lnSpc>
              <a:spcBef>
                <a:spcPts val="0"/>
              </a:spcBef>
              <a:spcAft>
                <a:spcPts val="0"/>
              </a:spcAft>
              <a:buClr>
                <a:schemeClr val="dk1"/>
              </a:buClr>
              <a:buSzPts val="1235"/>
              <a:buChar char="●"/>
            </a:pPr>
            <a:r>
              <a:rPr b="1" lang="it" sz="1235">
                <a:solidFill>
                  <a:schemeClr val="dk1"/>
                </a:solidFill>
                <a:latin typeface="Lexend"/>
                <a:ea typeface="Lexend"/>
                <a:cs typeface="Lexend"/>
                <a:sym typeface="Lexend"/>
              </a:rPr>
              <a:t>Gestire l’accumulo di energia</a:t>
            </a:r>
            <a:r>
              <a:rPr lang="it" sz="1235">
                <a:solidFill>
                  <a:schemeClr val="dk1"/>
                </a:solidFill>
                <a:latin typeface="Lexend"/>
                <a:ea typeface="Lexend"/>
                <a:cs typeface="Lexend"/>
                <a:sym typeface="Lexend"/>
              </a:rPr>
              <a:t> in una batteria, stoccando l’eccesso di energia generata durante il giorno per utilizzarla durante la notte o in momenti di bassa produzione.</a:t>
            </a:r>
            <a:endParaRPr sz="1235">
              <a:solidFill>
                <a:schemeClr val="dk1"/>
              </a:solidFill>
              <a:latin typeface="Lexend"/>
              <a:ea typeface="Lexend"/>
              <a:cs typeface="Lexend"/>
              <a:sym typeface="Lexend"/>
            </a:endParaRPr>
          </a:p>
          <a:p>
            <a:pPr indent="0" lvl="0" marL="457200" rtl="0" algn="l">
              <a:lnSpc>
                <a:spcPct val="95000"/>
              </a:lnSpc>
              <a:spcBef>
                <a:spcPts val="0"/>
              </a:spcBef>
              <a:spcAft>
                <a:spcPts val="0"/>
              </a:spcAft>
              <a:buNone/>
            </a:pPr>
            <a:r>
              <a:t/>
            </a:r>
            <a:endParaRPr sz="1235">
              <a:solidFill>
                <a:schemeClr val="dk1"/>
              </a:solidFill>
              <a:latin typeface="Lexend"/>
              <a:ea typeface="Lexend"/>
              <a:cs typeface="Lexend"/>
              <a:sym typeface="Lexend"/>
            </a:endParaRPr>
          </a:p>
          <a:p>
            <a:pPr indent="-307023" lvl="0" marL="457200" rtl="0" algn="l">
              <a:lnSpc>
                <a:spcPct val="95000"/>
              </a:lnSpc>
              <a:spcBef>
                <a:spcPts val="0"/>
              </a:spcBef>
              <a:spcAft>
                <a:spcPts val="0"/>
              </a:spcAft>
              <a:buClr>
                <a:schemeClr val="dk1"/>
              </a:buClr>
              <a:buSzPts val="1235"/>
              <a:buChar char="●"/>
            </a:pPr>
            <a:r>
              <a:rPr b="1" lang="it" sz="1235">
                <a:solidFill>
                  <a:schemeClr val="dk1"/>
                </a:solidFill>
                <a:latin typeface="Lexend"/>
                <a:ea typeface="Lexend"/>
                <a:cs typeface="Lexend"/>
                <a:sym typeface="Lexend"/>
              </a:rPr>
              <a:t>Gestire la connessione alla rete elettrica</a:t>
            </a:r>
            <a:r>
              <a:rPr lang="it" sz="1235">
                <a:solidFill>
                  <a:schemeClr val="dk1"/>
                </a:solidFill>
                <a:latin typeface="Lexend"/>
                <a:ea typeface="Lexend"/>
                <a:cs typeface="Lexend"/>
                <a:sym typeface="Lexend"/>
              </a:rPr>
              <a:t>, permettendo di prelevare energia dalla rete quando necessario o di immettere l’energia in eccesso.</a:t>
            </a:r>
            <a:endParaRPr sz="1235">
              <a:solidFill>
                <a:schemeClr val="dk1"/>
              </a:solidFill>
              <a:latin typeface="Lexend"/>
              <a:ea typeface="Lexend"/>
              <a:cs typeface="Lexend"/>
              <a:sym typeface="Lexend"/>
            </a:endParaRPr>
          </a:p>
        </p:txBody>
      </p:sp>
      <p:pic>
        <p:nvPicPr>
          <p:cNvPr id="578" name="Google Shape;578;p4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79" name="Google Shape;579;p4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80" name="Google Shape;580;p4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Cos’è l’Inverter Ibrido</a:t>
            </a:r>
            <a:r>
              <a:rPr lang="it" sz="700">
                <a:latin typeface="Lexend"/>
                <a:ea typeface="Lexend"/>
                <a:cs typeface="Lexend"/>
                <a:sym typeface="Lexend"/>
              </a:rPr>
              <a:t> | 36</a:t>
            </a:r>
            <a:endParaRPr sz="700">
              <a:latin typeface="Lexend"/>
              <a:ea typeface="Lexend"/>
              <a:cs typeface="Lexend"/>
              <a:sym typeface="Lexen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50"/>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Clr>
                <a:schemeClr val="dk1"/>
              </a:buClr>
              <a:buSzPts val="1100"/>
              <a:buFont typeface="Arial"/>
              <a:buNone/>
            </a:pPr>
            <a:r>
              <a:rPr b="1" lang="it" sz="2000">
                <a:latin typeface="Lexend"/>
                <a:ea typeface="Lexend"/>
                <a:cs typeface="Lexend"/>
                <a:sym typeface="Lexend"/>
              </a:rPr>
              <a:t>Inverter Ibrido</a:t>
            </a:r>
            <a:endParaRPr b="1" sz="2000">
              <a:latin typeface="Lexend"/>
              <a:ea typeface="Lexend"/>
              <a:cs typeface="Lexend"/>
              <a:sym typeface="Lexend"/>
            </a:endParaRPr>
          </a:p>
          <a:p>
            <a:pPr indent="0" lvl="0" marL="0" rtl="0" algn="l">
              <a:lnSpc>
                <a:spcPct val="115000"/>
              </a:lnSpc>
              <a:spcBef>
                <a:spcPts val="0"/>
              </a:spcBef>
              <a:spcAft>
                <a:spcPts val="0"/>
              </a:spcAft>
              <a:buNone/>
            </a:pPr>
            <a:r>
              <a:t/>
            </a:r>
            <a:endParaRPr sz="2000">
              <a:latin typeface="Lexend"/>
              <a:ea typeface="Lexend"/>
              <a:cs typeface="Lexend"/>
              <a:sym typeface="Lexend"/>
            </a:endParaRPr>
          </a:p>
        </p:txBody>
      </p:sp>
      <p:sp>
        <p:nvSpPr>
          <p:cNvPr id="586" name="Google Shape;586;p5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587" name="Google Shape;587;p50"/>
          <p:cNvGraphicFramePr/>
          <p:nvPr/>
        </p:nvGraphicFramePr>
        <p:xfrm>
          <a:off x="629213" y="1468250"/>
          <a:ext cx="3000000" cy="3000000"/>
        </p:xfrm>
        <a:graphic>
          <a:graphicData uri="http://schemas.openxmlformats.org/drawingml/2006/table">
            <a:tbl>
              <a:tblPr>
                <a:noFill/>
                <a:tableStyleId>{9273CD7E-ADB5-4E27-A5E8-29BB0BF39C83}</a:tableStyleId>
              </a:tblPr>
              <a:tblGrid>
                <a:gridCol w="648825"/>
                <a:gridCol w="7236750"/>
              </a:tblGrid>
              <a:tr h="640775">
                <a:tc>
                  <a:txBody>
                    <a:bodyPr/>
                    <a:lstStyle/>
                    <a:p>
                      <a:pPr indent="0" lvl="0" marL="0" rtl="0" algn="l">
                        <a:spcBef>
                          <a:spcPts val="0"/>
                        </a:spcBef>
                        <a:spcAft>
                          <a:spcPts val="0"/>
                        </a:spcAft>
                        <a:buNone/>
                      </a:pPr>
                      <a:r>
                        <a:t/>
                      </a:r>
                      <a:endParaRPr sz="1100">
                        <a:latin typeface="Lexend"/>
                        <a:ea typeface="Lexend"/>
                        <a:cs typeface="Lexend"/>
                        <a:sym typeface="Lexend"/>
                      </a:endParaRPr>
                    </a:p>
                  </a:txBody>
                  <a:tcPr marT="91425" marB="91425" marR="91425" marL="91425">
                    <a:solidFill>
                      <a:srgbClr val="D9D9D9"/>
                    </a:solidFill>
                  </a:tcPr>
                </a:tc>
                <a:tc>
                  <a:txBody>
                    <a:bodyPr/>
                    <a:lstStyle/>
                    <a:p>
                      <a:pPr indent="0" lvl="0" marL="0" rtl="0" algn="l">
                        <a:lnSpc>
                          <a:spcPct val="115000"/>
                        </a:lnSpc>
                        <a:spcBef>
                          <a:spcPts val="1200"/>
                        </a:spcBef>
                        <a:spcAft>
                          <a:spcPts val="200"/>
                        </a:spcAft>
                        <a:buNone/>
                      </a:pPr>
                      <a:r>
                        <a:rPr b="1" lang="it">
                          <a:solidFill>
                            <a:schemeClr val="dk1"/>
                          </a:solidFill>
                          <a:latin typeface="Lexend"/>
                          <a:ea typeface="Lexend"/>
                          <a:cs typeface="Lexend"/>
                          <a:sym typeface="Lexend"/>
                        </a:rPr>
                        <a:t>Vantaggi degli Inverter Ibridi:</a:t>
                      </a:r>
                      <a:endParaRPr b="1" sz="1600">
                        <a:latin typeface="Lexend"/>
                        <a:ea typeface="Lexend"/>
                        <a:cs typeface="Lexend"/>
                        <a:sym typeface="Lexend"/>
                      </a:endParaRPr>
                    </a:p>
                  </a:txBody>
                  <a:tcPr marT="91425" marB="91425" marR="91425" marL="91425" anchor="ctr">
                    <a:solidFill>
                      <a:schemeClr val="lt2"/>
                    </a:solidFill>
                  </a:tcPr>
                </a:tc>
              </a:tr>
              <a:tr h="792900">
                <a:tc>
                  <a:txBody>
                    <a:bodyPr/>
                    <a:lstStyle/>
                    <a:p>
                      <a:pPr indent="0" lvl="0" marL="0" rtl="0" algn="ctr">
                        <a:spcBef>
                          <a:spcPts val="0"/>
                        </a:spcBef>
                        <a:spcAft>
                          <a:spcPts val="0"/>
                        </a:spcAft>
                        <a:buNone/>
                      </a:pPr>
                      <a:r>
                        <a:rPr b="1" lang="it">
                          <a:latin typeface="Lexend"/>
                          <a:ea typeface="Lexend"/>
                          <a:cs typeface="Lexend"/>
                          <a:sym typeface="Lexend"/>
                        </a:rPr>
                        <a:t>1</a:t>
                      </a:r>
                      <a:endParaRPr b="1">
                        <a:latin typeface="Lexend"/>
                        <a:ea typeface="Lexend"/>
                        <a:cs typeface="Lexend"/>
                        <a:sym typeface="Lexend"/>
                      </a:endParaRPr>
                    </a:p>
                  </a:txBody>
                  <a:tcPr marT="91425" marB="91425" marR="91425" marL="91425">
                    <a:solidFill>
                      <a:schemeClr val="lt2"/>
                    </a:solidFill>
                  </a:tcPr>
                </a:tc>
                <a:tc>
                  <a:txBody>
                    <a:bodyPr/>
                    <a:lstStyle/>
                    <a:p>
                      <a:pPr indent="0" lvl="0" marL="0" rtl="0" algn="l">
                        <a:lnSpc>
                          <a:spcPct val="115000"/>
                        </a:lnSpc>
                        <a:spcBef>
                          <a:spcPts val="1200"/>
                        </a:spcBef>
                        <a:spcAft>
                          <a:spcPts val="1200"/>
                        </a:spcAft>
                        <a:buNone/>
                      </a:pPr>
                      <a:r>
                        <a:rPr b="1" lang="it">
                          <a:solidFill>
                            <a:srgbClr val="38761D"/>
                          </a:solidFill>
                          <a:highlight>
                            <a:srgbClr val="B6D7A8"/>
                          </a:highlight>
                          <a:latin typeface="Lexend"/>
                          <a:ea typeface="Lexend"/>
                          <a:cs typeface="Lexend"/>
                          <a:sym typeface="Lexend"/>
                        </a:rPr>
                        <a:t>Ottimizzazione dell’energia</a:t>
                      </a:r>
                      <a:r>
                        <a:rPr lang="it">
                          <a:solidFill>
                            <a:srgbClr val="38761D"/>
                          </a:solidFill>
                          <a:highlight>
                            <a:srgbClr val="B6D7A8"/>
                          </a:highlight>
                          <a:latin typeface="Lexend"/>
                          <a:ea typeface="Lexend"/>
                          <a:cs typeface="Lexend"/>
                          <a:sym typeface="Lexend"/>
                        </a:rPr>
                        <a:t>:</a:t>
                      </a:r>
                      <a:r>
                        <a:rPr lang="it">
                          <a:solidFill>
                            <a:schemeClr val="dk1"/>
                          </a:solidFill>
                          <a:latin typeface="Lexend"/>
                          <a:ea typeface="Lexend"/>
                          <a:cs typeface="Lexend"/>
                          <a:sym typeface="Lexend"/>
                        </a:rPr>
                        <a:t> Permettono di ridurre la dipendenza dalla rete elettrica e migliorare l’autoconsumo dell’energia prodotta.</a:t>
                      </a:r>
                      <a:endParaRPr sz="1500">
                        <a:latin typeface="Lexend"/>
                        <a:ea typeface="Lexend"/>
                        <a:cs typeface="Lexend"/>
                        <a:sym typeface="Lexend"/>
                      </a:endParaRPr>
                    </a:p>
                  </a:txBody>
                  <a:tcPr marT="91425" marB="91425" marR="91425" marL="91425"/>
                </a:tc>
              </a:tr>
              <a:tr h="792900">
                <a:tc>
                  <a:txBody>
                    <a:bodyPr/>
                    <a:lstStyle/>
                    <a:p>
                      <a:pPr indent="0" lvl="0" marL="0" rtl="0" algn="ctr">
                        <a:spcBef>
                          <a:spcPts val="0"/>
                        </a:spcBef>
                        <a:spcAft>
                          <a:spcPts val="0"/>
                        </a:spcAft>
                        <a:buNone/>
                      </a:pPr>
                      <a:r>
                        <a:rPr b="1" lang="it">
                          <a:latin typeface="Lexend"/>
                          <a:ea typeface="Lexend"/>
                          <a:cs typeface="Lexend"/>
                          <a:sym typeface="Lexend"/>
                        </a:rPr>
                        <a:t>2</a:t>
                      </a:r>
                      <a:endParaRPr b="1">
                        <a:latin typeface="Lexend"/>
                        <a:ea typeface="Lexend"/>
                        <a:cs typeface="Lexend"/>
                        <a:sym typeface="Lexend"/>
                      </a:endParaRPr>
                    </a:p>
                  </a:txBody>
                  <a:tcPr marT="91425" marB="91425" marR="91425" marL="91425">
                    <a:solidFill>
                      <a:schemeClr val="lt2"/>
                    </a:solidFill>
                  </a:tcPr>
                </a:tc>
                <a:tc>
                  <a:txBody>
                    <a:bodyPr/>
                    <a:lstStyle/>
                    <a:p>
                      <a:pPr indent="0" lvl="0" marL="0" rtl="0" algn="l">
                        <a:lnSpc>
                          <a:spcPct val="115000"/>
                        </a:lnSpc>
                        <a:spcBef>
                          <a:spcPts val="1200"/>
                        </a:spcBef>
                        <a:spcAft>
                          <a:spcPts val="1200"/>
                        </a:spcAft>
                        <a:buNone/>
                      </a:pPr>
                      <a:r>
                        <a:rPr b="1" lang="it">
                          <a:solidFill>
                            <a:srgbClr val="38761D"/>
                          </a:solidFill>
                          <a:highlight>
                            <a:srgbClr val="B6D7A8"/>
                          </a:highlight>
                          <a:latin typeface="Lexend"/>
                          <a:ea typeface="Lexend"/>
                          <a:cs typeface="Lexend"/>
                          <a:sym typeface="Lexend"/>
                        </a:rPr>
                        <a:t>Backup energetico</a:t>
                      </a:r>
                      <a:r>
                        <a:rPr lang="it">
                          <a:solidFill>
                            <a:srgbClr val="38761D"/>
                          </a:solidFill>
                          <a:highlight>
                            <a:srgbClr val="B6D7A8"/>
                          </a:highlight>
                          <a:latin typeface="Lexend"/>
                          <a:ea typeface="Lexend"/>
                          <a:cs typeface="Lexend"/>
                          <a:sym typeface="Lexend"/>
                        </a:rPr>
                        <a:t>:</a:t>
                      </a:r>
                      <a:r>
                        <a:rPr lang="it">
                          <a:solidFill>
                            <a:srgbClr val="38761D"/>
                          </a:solidFill>
                          <a:latin typeface="Lexend"/>
                          <a:ea typeface="Lexend"/>
                          <a:cs typeface="Lexend"/>
                          <a:sym typeface="Lexend"/>
                        </a:rPr>
                        <a:t> </a:t>
                      </a:r>
                      <a:r>
                        <a:rPr lang="it">
                          <a:solidFill>
                            <a:schemeClr val="dk1"/>
                          </a:solidFill>
                          <a:latin typeface="Lexend"/>
                          <a:ea typeface="Lexend"/>
                          <a:cs typeface="Lexend"/>
                          <a:sym typeface="Lexend"/>
                        </a:rPr>
                        <a:t>I sistemi di accumulo forniscono energia anche durante le ore notturne.</a:t>
                      </a:r>
                      <a:endParaRPr>
                        <a:latin typeface="Lexend"/>
                        <a:ea typeface="Lexend"/>
                        <a:cs typeface="Lexend"/>
                        <a:sym typeface="Lexend"/>
                      </a:endParaRPr>
                    </a:p>
                  </a:txBody>
                  <a:tcPr marT="91425" marB="91425" marR="91425" marL="91425"/>
                </a:tc>
              </a:tr>
              <a:tr h="701600">
                <a:tc>
                  <a:txBody>
                    <a:bodyPr/>
                    <a:lstStyle/>
                    <a:p>
                      <a:pPr indent="0" lvl="0" marL="0" rtl="0" algn="ctr">
                        <a:spcBef>
                          <a:spcPts val="0"/>
                        </a:spcBef>
                        <a:spcAft>
                          <a:spcPts val="0"/>
                        </a:spcAft>
                        <a:buNone/>
                      </a:pPr>
                      <a:r>
                        <a:rPr b="1" lang="it">
                          <a:latin typeface="Lexend"/>
                          <a:ea typeface="Lexend"/>
                          <a:cs typeface="Lexend"/>
                          <a:sym typeface="Lexend"/>
                        </a:rPr>
                        <a:t>3</a:t>
                      </a:r>
                      <a:endParaRPr b="1">
                        <a:latin typeface="Lexend"/>
                        <a:ea typeface="Lexend"/>
                        <a:cs typeface="Lexend"/>
                        <a:sym typeface="Lexend"/>
                      </a:endParaRPr>
                    </a:p>
                  </a:txBody>
                  <a:tcPr marT="91425" marB="91425" marR="91425" marL="91425">
                    <a:solidFill>
                      <a:schemeClr val="lt2"/>
                    </a:solidFill>
                  </a:tcPr>
                </a:tc>
                <a:tc>
                  <a:txBody>
                    <a:bodyPr/>
                    <a:lstStyle/>
                    <a:p>
                      <a:pPr indent="0" lvl="0" marL="0" rtl="0" algn="l">
                        <a:lnSpc>
                          <a:spcPct val="115000"/>
                        </a:lnSpc>
                        <a:spcBef>
                          <a:spcPts val="1200"/>
                        </a:spcBef>
                        <a:spcAft>
                          <a:spcPts val="1200"/>
                        </a:spcAft>
                        <a:buNone/>
                      </a:pPr>
                      <a:r>
                        <a:rPr b="1" lang="it">
                          <a:solidFill>
                            <a:srgbClr val="38761D"/>
                          </a:solidFill>
                          <a:highlight>
                            <a:srgbClr val="B6D7A8"/>
                          </a:highlight>
                          <a:latin typeface="Lexend"/>
                          <a:ea typeface="Lexend"/>
                          <a:cs typeface="Lexend"/>
                          <a:sym typeface="Lexend"/>
                        </a:rPr>
                        <a:t>Versatilità</a:t>
                      </a:r>
                      <a:r>
                        <a:rPr lang="it">
                          <a:solidFill>
                            <a:srgbClr val="38761D"/>
                          </a:solidFill>
                          <a:highlight>
                            <a:srgbClr val="B6D7A8"/>
                          </a:highlight>
                          <a:latin typeface="Lexend"/>
                          <a:ea typeface="Lexend"/>
                          <a:cs typeface="Lexend"/>
                          <a:sym typeface="Lexend"/>
                        </a:rPr>
                        <a:t>:</a:t>
                      </a:r>
                      <a:r>
                        <a:rPr lang="it">
                          <a:solidFill>
                            <a:schemeClr val="dk1"/>
                          </a:solidFill>
                          <a:latin typeface="Lexend"/>
                          <a:ea typeface="Lexend"/>
                          <a:cs typeface="Lexend"/>
                          <a:sym typeface="Lexend"/>
                        </a:rPr>
                        <a:t> Sono ideali sia per nuovi impianti fotovoltaici che per aggiornare impianti esistenti con sistemi di accumulo.</a:t>
                      </a:r>
                      <a:endParaRPr sz="1500">
                        <a:latin typeface="Lexend"/>
                        <a:ea typeface="Lexend"/>
                        <a:cs typeface="Lexend"/>
                        <a:sym typeface="Lexend"/>
                      </a:endParaRPr>
                    </a:p>
                  </a:txBody>
                  <a:tcPr marT="91425" marB="91425" marR="91425" marL="91425"/>
                </a:tc>
              </a:tr>
            </a:tbl>
          </a:graphicData>
        </a:graphic>
      </p:graphicFrame>
      <p:pic>
        <p:nvPicPr>
          <p:cNvPr id="588" name="Google Shape;588;p5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589" name="Google Shape;589;p5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590" name="Google Shape;590;p5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Vantaggi dell</a:t>
            </a:r>
            <a:r>
              <a:rPr lang="it" sz="700">
                <a:latin typeface="Lexend"/>
                <a:ea typeface="Lexend"/>
                <a:cs typeface="Lexend"/>
                <a:sym typeface="Lexend"/>
              </a:rPr>
              <a:t>’Inverter Ibrido</a:t>
            </a:r>
            <a:r>
              <a:rPr lang="it" sz="700">
                <a:latin typeface="Lexend"/>
                <a:ea typeface="Lexend"/>
                <a:cs typeface="Lexend"/>
                <a:sym typeface="Lexend"/>
              </a:rPr>
              <a:t> | 37</a:t>
            </a:r>
            <a:endParaRPr sz="700">
              <a:latin typeface="Lexend"/>
              <a:ea typeface="Lexend"/>
              <a:cs typeface="Lexend"/>
              <a:sym typeface="Lexen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p51"/>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Inverter </a:t>
            </a:r>
            <a:r>
              <a:rPr b="1" lang="it" sz="2000">
                <a:latin typeface="Lexend"/>
                <a:ea typeface="Lexend"/>
                <a:cs typeface="Lexend"/>
                <a:sym typeface="Lexend"/>
              </a:rPr>
              <a:t>Monofase</a:t>
            </a:r>
            <a:r>
              <a:rPr lang="it" sz="2000">
                <a:latin typeface="Lexend"/>
                <a:ea typeface="Lexend"/>
                <a:cs typeface="Lexend"/>
                <a:sym typeface="Lexend"/>
              </a:rPr>
              <a:t> e </a:t>
            </a:r>
            <a:r>
              <a:rPr b="1" lang="it" sz="2000">
                <a:latin typeface="Lexend"/>
                <a:ea typeface="Lexend"/>
                <a:cs typeface="Lexend"/>
                <a:sym typeface="Lexend"/>
              </a:rPr>
              <a:t>Trifase</a:t>
            </a:r>
            <a:endParaRPr b="1" sz="2000">
              <a:latin typeface="Lexend"/>
              <a:ea typeface="Lexend"/>
              <a:cs typeface="Lexend"/>
              <a:sym typeface="Lexend"/>
            </a:endParaRPr>
          </a:p>
        </p:txBody>
      </p:sp>
      <p:sp>
        <p:nvSpPr>
          <p:cNvPr id="596" name="Google Shape;596;p5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7" name="Google Shape;597;p51"/>
          <p:cNvSpPr txBox="1"/>
          <p:nvPr>
            <p:ph idx="1" type="body"/>
          </p:nvPr>
        </p:nvSpPr>
        <p:spPr>
          <a:xfrm>
            <a:off x="535500" y="1848388"/>
            <a:ext cx="5689800" cy="2637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100">
                <a:solidFill>
                  <a:schemeClr val="dk1"/>
                </a:solidFill>
                <a:latin typeface="Lexend"/>
                <a:ea typeface="Lexend"/>
                <a:cs typeface="Lexend"/>
                <a:sym typeface="Lexend"/>
              </a:rPr>
              <a:t>Un inverter </a:t>
            </a:r>
            <a:r>
              <a:rPr b="1" lang="it" sz="1100">
                <a:solidFill>
                  <a:schemeClr val="dk1"/>
                </a:solidFill>
                <a:latin typeface="Lexend"/>
                <a:ea typeface="Lexend"/>
                <a:cs typeface="Lexend"/>
                <a:sym typeface="Lexend"/>
              </a:rPr>
              <a:t>monofase</a:t>
            </a:r>
            <a:r>
              <a:rPr lang="it" sz="1100">
                <a:solidFill>
                  <a:schemeClr val="dk1"/>
                </a:solidFill>
                <a:latin typeface="Lexend"/>
                <a:ea typeface="Lexend"/>
                <a:cs typeface="Lexend"/>
                <a:sym typeface="Lexend"/>
              </a:rPr>
              <a:t> converte la corrente continua (DC) in corrente alternata monofase (AC), caratterizzata da un solo flusso di corrente alternata. La corrente alternata monofase è comunemente utilizzata nelle abitazioni e in piccole aziende, poiché è adatta per carichi elettrici più leggeri.</a:t>
            </a:r>
            <a:endParaRPr sz="1100">
              <a:solidFill>
                <a:schemeClr val="dk1"/>
              </a:solidFill>
              <a:latin typeface="Lexend"/>
              <a:ea typeface="Lexend"/>
              <a:cs typeface="Lexend"/>
              <a:sym typeface="Lexend"/>
            </a:endParaRPr>
          </a:p>
          <a:p>
            <a:pPr indent="0" lvl="0" marL="0" rtl="0" algn="l">
              <a:spcBef>
                <a:spcPts val="0"/>
              </a:spcBef>
              <a:spcAft>
                <a:spcPts val="0"/>
              </a:spcAft>
              <a:buNone/>
            </a:pPr>
            <a:r>
              <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Funziona con una singola fase elettrica (230V in Europa).</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Adatto per impianti residenziali o piccoli carichi.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Più semplice e meno costoso rispetto al trifase.</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Limite di potenza più basso rispetto ai sistemi trifase.</a:t>
            </a:r>
            <a:endParaRPr sz="1100">
              <a:solidFill>
                <a:schemeClr val="dk1"/>
              </a:solidFill>
              <a:latin typeface="Lexend"/>
              <a:ea typeface="Lexend"/>
              <a:cs typeface="Lexend"/>
              <a:sym typeface="Lexend"/>
            </a:endParaRPr>
          </a:p>
          <a:p>
            <a:pPr indent="0" lvl="0" marL="0" rtl="0" algn="l">
              <a:spcBef>
                <a:spcPts val="0"/>
              </a:spcBef>
              <a:spcAft>
                <a:spcPts val="0"/>
              </a:spcAft>
              <a:buNone/>
            </a:pPr>
            <a:r>
              <a:t/>
            </a:r>
            <a:endParaRPr sz="1100">
              <a:solidFill>
                <a:schemeClr val="dk1"/>
              </a:solidFill>
              <a:latin typeface="Lexend"/>
              <a:ea typeface="Lexend"/>
              <a:cs typeface="Lexend"/>
              <a:sym typeface="Lexend"/>
            </a:endParaRPr>
          </a:p>
          <a:p>
            <a:pPr indent="0" lvl="0" marL="0" rtl="0" algn="l">
              <a:spcBef>
                <a:spcPts val="0"/>
              </a:spcBef>
              <a:spcAft>
                <a:spcPts val="0"/>
              </a:spcAft>
              <a:buNone/>
            </a:pPr>
            <a:r>
              <a:t/>
            </a:r>
            <a:endParaRPr sz="1100">
              <a:solidFill>
                <a:schemeClr val="dk1"/>
              </a:solidFill>
              <a:latin typeface="Lexend"/>
              <a:ea typeface="Lexend"/>
              <a:cs typeface="Lexend"/>
              <a:sym typeface="Lexend"/>
            </a:endParaRPr>
          </a:p>
          <a:p>
            <a:pPr indent="0" lvl="0" marL="0" rtl="0" algn="l">
              <a:spcBef>
                <a:spcPts val="0"/>
              </a:spcBef>
              <a:spcAft>
                <a:spcPts val="0"/>
              </a:spcAft>
              <a:buNone/>
            </a:pPr>
            <a:r>
              <a:rPr b="1" lang="it" sz="1100">
                <a:solidFill>
                  <a:schemeClr val="dk1"/>
                </a:solidFill>
                <a:latin typeface="Lexend"/>
                <a:ea typeface="Lexend"/>
                <a:cs typeface="Lexend"/>
                <a:sym typeface="Lexend"/>
              </a:rPr>
              <a:t>Applicazioni</a:t>
            </a:r>
            <a:r>
              <a:rPr lang="it" sz="1100">
                <a:solidFill>
                  <a:schemeClr val="dk1"/>
                </a:solidFill>
                <a:latin typeface="Lexend"/>
                <a:ea typeface="Lexend"/>
                <a:cs typeface="Lexend"/>
                <a:sym typeface="Lexend"/>
              </a:rPr>
              <a:t>: Installazioni domestiche con basse esigenze di potenza elettrica, come le abitazioni o piccoli uffici.</a:t>
            </a:r>
            <a:endParaRPr sz="1100">
              <a:solidFill>
                <a:schemeClr val="dk1"/>
              </a:solidFill>
              <a:latin typeface="Lexend"/>
              <a:ea typeface="Lexend"/>
              <a:cs typeface="Lexend"/>
              <a:sym typeface="Lexend"/>
            </a:endParaRPr>
          </a:p>
        </p:txBody>
      </p:sp>
      <p:pic>
        <p:nvPicPr>
          <p:cNvPr id="598" name="Google Shape;598;p51"/>
          <p:cNvPicPr preferRelativeResize="0"/>
          <p:nvPr/>
        </p:nvPicPr>
        <p:blipFill>
          <a:blip r:embed="rId3">
            <a:alphaModFix/>
          </a:blip>
          <a:stretch>
            <a:fillRect/>
          </a:stretch>
        </p:blipFill>
        <p:spPr>
          <a:xfrm>
            <a:off x="6398638" y="1455650"/>
            <a:ext cx="2209876" cy="2993302"/>
          </a:xfrm>
          <a:prstGeom prst="rect">
            <a:avLst/>
          </a:prstGeom>
          <a:noFill/>
          <a:ln>
            <a:noFill/>
          </a:ln>
        </p:spPr>
      </p:pic>
      <p:sp>
        <p:nvSpPr>
          <p:cNvPr id="599" name="Google Shape;599;p51"/>
          <p:cNvSpPr txBox="1"/>
          <p:nvPr>
            <p:ph type="title"/>
          </p:nvPr>
        </p:nvSpPr>
        <p:spPr>
          <a:xfrm>
            <a:off x="535500" y="1418906"/>
            <a:ext cx="5689800" cy="4629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it" sz="1800">
                <a:latin typeface="Lexend"/>
                <a:ea typeface="Lexend"/>
                <a:cs typeface="Lexend"/>
                <a:sym typeface="Lexend"/>
              </a:rPr>
              <a:t>Inverter </a:t>
            </a:r>
            <a:r>
              <a:rPr b="1" lang="it" sz="1800">
                <a:latin typeface="Lexend"/>
                <a:ea typeface="Lexend"/>
                <a:cs typeface="Lexend"/>
                <a:sym typeface="Lexend"/>
              </a:rPr>
              <a:t>Monofase</a:t>
            </a:r>
            <a:endParaRPr b="1" sz="1800">
              <a:latin typeface="Lexend"/>
              <a:ea typeface="Lexend"/>
              <a:cs typeface="Lexend"/>
              <a:sym typeface="Lexend"/>
            </a:endParaRPr>
          </a:p>
        </p:txBody>
      </p:sp>
      <p:pic>
        <p:nvPicPr>
          <p:cNvPr id="600" name="Google Shape;600;p51"/>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601" name="Google Shape;601;p5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02" name="Google Shape;602;p5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 </a:t>
            </a:r>
            <a:r>
              <a:rPr lang="it" sz="700">
                <a:latin typeface="Lexend"/>
                <a:ea typeface="Lexend"/>
                <a:cs typeface="Lexend"/>
                <a:sym typeface="Lexend"/>
              </a:rPr>
              <a:t>| 38</a:t>
            </a:r>
            <a:endParaRPr sz="700">
              <a:latin typeface="Lexend"/>
              <a:ea typeface="Lexend"/>
              <a:cs typeface="Lexend"/>
              <a:sym typeface="Lexend"/>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52"/>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Inverter </a:t>
            </a:r>
            <a:r>
              <a:rPr b="1" lang="it" sz="2000">
                <a:latin typeface="Lexend"/>
                <a:ea typeface="Lexend"/>
                <a:cs typeface="Lexend"/>
                <a:sym typeface="Lexend"/>
              </a:rPr>
              <a:t>Monofase</a:t>
            </a:r>
            <a:r>
              <a:rPr lang="it" sz="2000">
                <a:latin typeface="Lexend"/>
                <a:ea typeface="Lexend"/>
                <a:cs typeface="Lexend"/>
                <a:sym typeface="Lexend"/>
              </a:rPr>
              <a:t> e </a:t>
            </a:r>
            <a:r>
              <a:rPr b="1" lang="it" sz="2000">
                <a:latin typeface="Lexend"/>
                <a:ea typeface="Lexend"/>
                <a:cs typeface="Lexend"/>
                <a:sym typeface="Lexend"/>
              </a:rPr>
              <a:t>Trifase</a:t>
            </a:r>
            <a:endParaRPr b="1" sz="2000">
              <a:latin typeface="Lexend"/>
              <a:ea typeface="Lexend"/>
              <a:cs typeface="Lexend"/>
              <a:sym typeface="Lexend"/>
            </a:endParaRPr>
          </a:p>
        </p:txBody>
      </p:sp>
      <p:sp>
        <p:nvSpPr>
          <p:cNvPr id="608" name="Google Shape;608;p5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9" name="Google Shape;609;p52"/>
          <p:cNvSpPr txBox="1"/>
          <p:nvPr>
            <p:ph idx="1" type="body"/>
          </p:nvPr>
        </p:nvSpPr>
        <p:spPr>
          <a:xfrm>
            <a:off x="2980875" y="1920775"/>
            <a:ext cx="5603700" cy="241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050">
                <a:solidFill>
                  <a:schemeClr val="dk1"/>
                </a:solidFill>
                <a:latin typeface="Lexend"/>
                <a:ea typeface="Lexend"/>
                <a:cs typeface="Lexend"/>
                <a:sym typeface="Lexend"/>
              </a:rPr>
              <a:t>Un inverter </a:t>
            </a:r>
            <a:r>
              <a:rPr b="1" lang="it" sz="1050">
                <a:solidFill>
                  <a:schemeClr val="dk1"/>
                </a:solidFill>
                <a:latin typeface="Lexend"/>
                <a:ea typeface="Lexend"/>
                <a:cs typeface="Lexend"/>
                <a:sym typeface="Lexend"/>
              </a:rPr>
              <a:t>trifase</a:t>
            </a:r>
            <a:r>
              <a:rPr lang="it" sz="1050">
                <a:solidFill>
                  <a:schemeClr val="dk1"/>
                </a:solidFill>
                <a:latin typeface="Lexend"/>
                <a:ea typeface="Lexend"/>
                <a:cs typeface="Lexend"/>
                <a:sym typeface="Lexend"/>
              </a:rPr>
              <a:t> converte la corrente continua (DC) in corrente alternata trifase(AC), che utilizza tre flussi di corrente alternata. Questo tipo di corrente è standard per l’industria e applicazioni che richiedono maggiore potenza e stabilità.</a:t>
            </a:r>
            <a:endParaRPr sz="1050">
              <a:solidFill>
                <a:schemeClr val="dk1"/>
              </a:solidFill>
              <a:latin typeface="Lexend"/>
              <a:ea typeface="Lexend"/>
              <a:cs typeface="Lexend"/>
              <a:sym typeface="Lexend"/>
            </a:endParaRPr>
          </a:p>
          <a:p>
            <a:pPr indent="0" lvl="0" marL="0" rtl="0" algn="l">
              <a:spcBef>
                <a:spcPts val="0"/>
              </a:spcBef>
              <a:spcAft>
                <a:spcPts val="0"/>
              </a:spcAft>
              <a:buNone/>
            </a:pPr>
            <a:r>
              <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Funziona su un sistema trifase (400V in Europa).</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Maggiore efficienza nel trasporto dell’energia e gestione di carichi elevati.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Adatto a impianti commerciali, industriali e sistemi residenziali di grandi dimensioni.</a:t>
            </a:r>
            <a:endParaRPr sz="1100">
              <a:solidFill>
                <a:schemeClr val="dk1"/>
              </a:solidFill>
              <a:latin typeface="Lexend"/>
              <a:ea typeface="Lexend"/>
              <a:cs typeface="Lexend"/>
              <a:sym typeface="Lexend"/>
            </a:endParaRPr>
          </a:p>
          <a:p>
            <a:pPr indent="-298450" lvl="0" marL="457200" rtl="0" algn="l">
              <a:spcBef>
                <a:spcPts val="0"/>
              </a:spcBef>
              <a:spcAft>
                <a:spcPts val="0"/>
              </a:spcAft>
              <a:buClr>
                <a:schemeClr val="dk1"/>
              </a:buClr>
              <a:buSzPts val="1100"/>
              <a:buFont typeface="Lexend"/>
              <a:buChar char="●"/>
            </a:pPr>
            <a:r>
              <a:rPr lang="it" sz="1100">
                <a:solidFill>
                  <a:schemeClr val="dk1"/>
                </a:solidFill>
                <a:latin typeface="Lexend"/>
                <a:ea typeface="Lexend"/>
                <a:cs typeface="Lexend"/>
                <a:sym typeface="Lexend"/>
              </a:rPr>
              <a:t>Maggiore stabilità di alimentazione rispetto ai sistemi monofase.</a:t>
            </a:r>
            <a:endParaRPr sz="11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50">
                <a:solidFill>
                  <a:schemeClr val="dk1"/>
                </a:solidFill>
                <a:latin typeface="Lexend"/>
                <a:ea typeface="Lexend"/>
                <a:cs typeface="Lexend"/>
                <a:sym typeface="Lexend"/>
              </a:rPr>
              <a:t>Applicazioni</a:t>
            </a:r>
            <a:r>
              <a:rPr lang="it" sz="1050">
                <a:solidFill>
                  <a:schemeClr val="dk1"/>
                </a:solidFill>
                <a:latin typeface="Lexend"/>
                <a:ea typeface="Lexend"/>
                <a:cs typeface="Lexend"/>
                <a:sym typeface="Lexend"/>
              </a:rPr>
              <a:t>: </a:t>
            </a:r>
            <a:r>
              <a:rPr lang="it" sz="1050">
                <a:solidFill>
                  <a:schemeClr val="dk1"/>
                </a:solidFill>
                <a:latin typeface="Lexend"/>
                <a:ea typeface="Lexend"/>
                <a:cs typeface="Lexend"/>
                <a:sym typeface="Lexend"/>
              </a:rPr>
              <a:t>Grandi impianti fotovoltaici, aziende, edifici commerciali e industriali.</a:t>
            </a:r>
            <a:endParaRPr sz="1050">
              <a:solidFill>
                <a:schemeClr val="dk1"/>
              </a:solidFill>
              <a:latin typeface="Lexend"/>
              <a:ea typeface="Lexend"/>
              <a:cs typeface="Lexend"/>
              <a:sym typeface="Lexend"/>
            </a:endParaRPr>
          </a:p>
        </p:txBody>
      </p:sp>
      <p:pic>
        <p:nvPicPr>
          <p:cNvPr id="610" name="Google Shape;610;p52"/>
          <p:cNvPicPr preferRelativeResize="0"/>
          <p:nvPr/>
        </p:nvPicPr>
        <p:blipFill>
          <a:blip r:embed="rId3">
            <a:alphaModFix/>
          </a:blip>
          <a:stretch>
            <a:fillRect/>
          </a:stretch>
        </p:blipFill>
        <p:spPr>
          <a:xfrm>
            <a:off x="595275" y="1399850"/>
            <a:ext cx="2209876" cy="2993310"/>
          </a:xfrm>
          <a:prstGeom prst="rect">
            <a:avLst/>
          </a:prstGeom>
          <a:noFill/>
          <a:ln>
            <a:noFill/>
          </a:ln>
        </p:spPr>
      </p:pic>
      <p:sp>
        <p:nvSpPr>
          <p:cNvPr id="611" name="Google Shape;611;p52"/>
          <p:cNvSpPr txBox="1"/>
          <p:nvPr>
            <p:ph type="title"/>
          </p:nvPr>
        </p:nvSpPr>
        <p:spPr>
          <a:xfrm>
            <a:off x="2980875" y="1457230"/>
            <a:ext cx="5689800" cy="4629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None/>
            </a:pPr>
            <a:r>
              <a:rPr lang="it" sz="1800">
                <a:latin typeface="Lexend"/>
                <a:ea typeface="Lexend"/>
                <a:cs typeface="Lexend"/>
                <a:sym typeface="Lexend"/>
              </a:rPr>
              <a:t>Inverter </a:t>
            </a:r>
            <a:r>
              <a:rPr b="1" lang="it" sz="1800">
                <a:latin typeface="Lexend"/>
                <a:ea typeface="Lexend"/>
                <a:cs typeface="Lexend"/>
                <a:sym typeface="Lexend"/>
              </a:rPr>
              <a:t>Trifase</a:t>
            </a:r>
            <a:endParaRPr b="1" sz="1800">
              <a:latin typeface="Lexend"/>
              <a:ea typeface="Lexend"/>
              <a:cs typeface="Lexend"/>
              <a:sym typeface="Lexend"/>
            </a:endParaRPr>
          </a:p>
        </p:txBody>
      </p:sp>
      <p:pic>
        <p:nvPicPr>
          <p:cNvPr id="612" name="Google Shape;612;p52"/>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613" name="Google Shape;613;p5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14" name="Google Shape;614;p5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a:t>
            </a:r>
            <a:r>
              <a:rPr lang="it" sz="700">
                <a:latin typeface="Lexend"/>
                <a:ea typeface="Lexend"/>
                <a:cs typeface="Lexend"/>
                <a:sym typeface="Lexend"/>
              </a:rPr>
              <a:t> | 39</a:t>
            </a:r>
            <a:endParaRPr sz="700">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3"/>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Inverter Monofase e Trifase:</a:t>
            </a:r>
            <a:r>
              <a:rPr b="1" lang="it" sz="2000">
                <a:latin typeface="Lexend"/>
                <a:ea typeface="Lexend"/>
                <a:cs typeface="Lexend"/>
                <a:sym typeface="Lexend"/>
              </a:rPr>
              <a:t> Vantaggi e Svantaggi</a:t>
            </a:r>
            <a:endParaRPr b="1" sz="2000">
              <a:latin typeface="Lexend"/>
              <a:ea typeface="Lexend"/>
              <a:cs typeface="Lexend"/>
              <a:sym typeface="Lexend"/>
            </a:endParaRPr>
          </a:p>
        </p:txBody>
      </p:sp>
      <p:sp>
        <p:nvSpPr>
          <p:cNvPr id="620" name="Google Shape;620;p5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621" name="Google Shape;621;p53"/>
          <p:cNvGraphicFramePr/>
          <p:nvPr/>
        </p:nvGraphicFramePr>
        <p:xfrm>
          <a:off x="570225" y="1468250"/>
          <a:ext cx="3000000" cy="3000000"/>
        </p:xfrm>
        <a:graphic>
          <a:graphicData uri="http://schemas.openxmlformats.org/drawingml/2006/table">
            <a:tbl>
              <a:tblPr>
                <a:noFill/>
                <a:tableStyleId>{9273CD7E-ADB5-4E27-A5E8-29BB0BF39C83}</a:tableStyleId>
              </a:tblPr>
              <a:tblGrid>
                <a:gridCol w="1026225"/>
                <a:gridCol w="3411025"/>
                <a:gridCol w="3566275"/>
              </a:tblGrid>
              <a:tr h="452075">
                <a:tc>
                  <a:txBody>
                    <a:bodyPr/>
                    <a:lstStyle/>
                    <a:p>
                      <a:pPr indent="0" lvl="0" marL="0" rtl="0" algn="l">
                        <a:spcBef>
                          <a:spcPts val="0"/>
                        </a:spcBef>
                        <a:spcAft>
                          <a:spcPts val="0"/>
                        </a:spcAft>
                        <a:buNone/>
                      </a:pPr>
                      <a:r>
                        <a:t/>
                      </a:r>
                      <a:endParaRPr sz="1100">
                        <a:latin typeface="Lexend"/>
                        <a:ea typeface="Lexend"/>
                        <a:cs typeface="Lexend"/>
                        <a:sym typeface="Lexend"/>
                      </a:endParaRPr>
                    </a:p>
                  </a:txBody>
                  <a:tcPr marT="91425" marB="91425" marR="91425" marL="91425">
                    <a:solidFill>
                      <a:srgbClr val="D9D9D9"/>
                    </a:solidFill>
                  </a:tcPr>
                </a:tc>
                <a:tc>
                  <a:txBody>
                    <a:bodyPr/>
                    <a:lstStyle/>
                    <a:p>
                      <a:pPr indent="0" lvl="0" marL="0" rtl="0" algn="l">
                        <a:spcBef>
                          <a:spcPts val="0"/>
                        </a:spcBef>
                        <a:spcAft>
                          <a:spcPts val="0"/>
                        </a:spcAft>
                        <a:buNone/>
                      </a:pPr>
                      <a:r>
                        <a:rPr b="1" lang="it" sz="1200">
                          <a:latin typeface="Lexend"/>
                          <a:ea typeface="Lexend"/>
                          <a:cs typeface="Lexend"/>
                          <a:sym typeface="Lexend"/>
                        </a:rPr>
                        <a:t>Monofase</a:t>
                      </a:r>
                      <a:endParaRPr b="1" sz="1200">
                        <a:latin typeface="Lexend"/>
                        <a:ea typeface="Lexend"/>
                        <a:cs typeface="Lexend"/>
                        <a:sym typeface="Lexend"/>
                      </a:endParaRPr>
                    </a:p>
                  </a:txBody>
                  <a:tcPr marT="91425" marB="91425" marR="91425" marL="91425">
                    <a:solidFill>
                      <a:schemeClr val="lt2"/>
                    </a:solidFill>
                  </a:tcPr>
                </a:tc>
                <a:tc>
                  <a:txBody>
                    <a:bodyPr/>
                    <a:lstStyle/>
                    <a:p>
                      <a:pPr indent="0" lvl="0" marL="0" rtl="0" algn="l">
                        <a:spcBef>
                          <a:spcPts val="0"/>
                        </a:spcBef>
                        <a:spcAft>
                          <a:spcPts val="0"/>
                        </a:spcAft>
                        <a:buNone/>
                      </a:pPr>
                      <a:r>
                        <a:rPr b="1" lang="it" sz="1200">
                          <a:latin typeface="Lexend"/>
                          <a:ea typeface="Lexend"/>
                          <a:cs typeface="Lexend"/>
                          <a:sym typeface="Lexend"/>
                        </a:rPr>
                        <a:t>Trifase</a:t>
                      </a:r>
                      <a:endParaRPr b="1" sz="1200">
                        <a:latin typeface="Lexend"/>
                        <a:ea typeface="Lexend"/>
                        <a:cs typeface="Lexend"/>
                        <a:sym typeface="Lexend"/>
                      </a:endParaRPr>
                    </a:p>
                  </a:txBody>
                  <a:tcPr marT="91425" marB="91425" marR="91425" marL="91425">
                    <a:solidFill>
                      <a:schemeClr val="lt2"/>
                    </a:solidFill>
                  </a:tcPr>
                </a:tc>
              </a:tr>
              <a:tr h="1407675">
                <a:tc>
                  <a:txBody>
                    <a:bodyPr/>
                    <a:lstStyle/>
                    <a:p>
                      <a:pPr indent="0" lvl="0" marL="0" rtl="0" algn="l">
                        <a:spcBef>
                          <a:spcPts val="0"/>
                        </a:spcBef>
                        <a:spcAft>
                          <a:spcPts val="0"/>
                        </a:spcAft>
                        <a:buNone/>
                      </a:pPr>
                      <a:r>
                        <a:rPr b="1" lang="it" sz="1100">
                          <a:latin typeface="Lexend"/>
                          <a:ea typeface="Lexend"/>
                          <a:cs typeface="Lexend"/>
                          <a:sym typeface="Lexend"/>
                        </a:rPr>
                        <a:t>Vantaggi</a:t>
                      </a:r>
                      <a:endParaRPr b="1" sz="1100">
                        <a:latin typeface="Lexend"/>
                        <a:ea typeface="Lexend"/>
                        <a:cs typeface="Lexend"/>
                        <a:sym typeface="Lexend"/>
                      </a:endParaRPr>
                    </a:p>
                  </a:txBody>
                  <a:tcPr marT="91425" marB="91425" marR="91425" marL="91425">
                    <a:solidFill>
                      <a:schemeClr val="lt2"/>
                    </a:solidFill>
                  </a:tcPr>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Installazione semplice;</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Costi di manutenzione e d'acquisto inferiori;</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Perfetto per carichi domestici.</a:t>
                      </a:r>
                      <a:endParaRPr sz="1100">
                        <a:latin typeface="Lexend"/>
                        <a:ea typeface="Lexend"/>
                        <a:cs typeface="Lexend"/>
                        <a:sym typeface="Lexend"/>
                      </a:endParaRPr>
                    </a:p>
                  </a:txBody>
                  <a:tcPr marT="91425" marB="91425" marR="91425" marL="91425"/>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Maggiore potenza disponibile e più efficienza nel trasporto;</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Gestione migliore di carichi pesanti e fluttuazioni di domanda.</a:t>
                      </a:r>
                      <a:endParaRPr sz="1100">
                        <a:latin typeface="Lexend"/>
                        <a:ea typeface="Lexend"/>
                        <a:cs typeface="Lexend"/>
                        <a:sym typeface="Lexend"/>
                      </a:endParaRPr>
                    </a:p>
                  </a:txBody>
                  <a:tcPr marT="91425" marB="91425" marR="91425" marL="91425"/>
                </a:tc>
              </a:tr>
              <a:tr h="1190400">
                <a:tc>
                  <a:txBody>
                    <a:bodyPr/>
                    <a:lstStyle/>
                    <a:p>
                      <a:pPr indent="0" lvl="0" marL="0" rtl="0" algn="l">
                        <a:spcBef>
                          <a:spcPts val="0"/>
                        </a:spcBef>
                        <a:spcAft>
                          <a:spcPts val="0"/>
                        </a:spcAft>
                        <a:buNone/>
                      </a:pPr>
                      <a:r>
                        <a:rPr b="1" lang="it" sz="1100">
                          <a:latin typeface="Lexend"/>
                          <a:ea typeface="Lexend"/>
                          <a:cs typeface="Lexend"/>
                          <a:sym typeface="Lexend"/>
                        </a:rPr>
                        <a:t>Svantaggi</a:t>
                      </a:r>
                      <a:endParaRPr b="1" sz="1100">
                        <a:latin typeface="Lexend"/>
                        <a:ea typeface="Lexend"/>
                        <a:cs typeface="Lexend"/>
                        <a:sym typeface="Lexend"/>
                      </a:endParaRPr>
                    </a:p>
                  </a:txBody>
                  <a:tcPr marT="91425" marB="91425" marR="91425" marL="91425">
                    <a:solidFill>
                      <a:schemeClr val="lt2"/>
                    </a:solidFill>
                  </a:tcPr>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Non adatto per gestire grandi potenze;</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Meno efficiente nei trasporti di energia su lunghe distanze.</a:t>
                      </a:r>
                      <a:endParaRPr sz="1100">
                        <a:latin typeface="Lexend"/>
                        <a:ea typeface="Lexend"/>
                        <a:cs typeface="Lexend"/>
                        <a:sym typeface="Lexend"/>
                      </a:endParaRPr>
                    </a:p>
                  </a:txBody>
                  <a:tcPr marT="91425" marB="91425" marR="91425" marL="91425"/>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Maggiore complessità di installazione;</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Costo più elevato.</a:t>
                      </a:r>
                      <a:endParaRPr sz="1100">
                        <a:latin typeface="Lexend"/>
                        <a:ea typeface="Lexend"/>
                        <a:cs typeface="Lexend"/>
                        <a:sym typeface="Lexend"/>
                      </a:endParaRPr>
                    </a:p>
                  </a:txBody>
                  <a:tcPr marT="91425" marB="91425" marR="91425" marL="91425"/>
                </a:tc>
              </a:tr>
            </a:tbl>
          </a:graphicData>
        </a:graphic>
      </p:graphicFrame>
      <p:pic>
        <p:nvPicPr>
          <p:cNvPr id="622" name="Google Shape;622;p5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23" name="Google Shape;623;p5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24" name="Google Shape;624;p5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a:t>
            </a:r>
            <a:r>
              <a:rPr lang="it" sz="700">
                <a:latin typeface="Lexend"/>
                <a:ea typeface="Lexend"/>
                <a:cs typeface="Lexend"/>
                <a:sym typeface="Lexend"/>
              </a:rPr>
              <a:t> | 40</a:t>
            </a:r>
            <a:endParaRPr sz="700">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pic>
        <p:nvPicPr>
          <p:cNvPr id="629" name="Google Shape;629;p54"/>
          <p:cNvPicPr preferRelativeResize="0"/>
          <p:nvPr/>
        </p:nvPicPr>
        <p:blipFill rotWithShape="1">
          <a:blip r:embed="rId3">
            <a:alphaModFix/>
          </a:blip>
          <a:srcRect b="0" l="0" r="0" t="0"/>
          <a:stretch/>
        </p:blipFill>
        <p:spPr>
          <a:xfrm>
            <a:off x="902400" y="1490400"/>
            <a:ext cx="3218702" cy="1306800"/>
          </a:xfrm>
          <a:prstGeom prst="rect">
            <a:avLst/>
          </a:prstGeom>
          <a:noFill/>
          <a:ln>
            <a:noFill/>
          </a:ln>
        </p:spPr>
      </p:pic>
      <p:pic>
        <p:nvPicPr>
          <p:cNvPr id="630" name="Google Shape;630;p54"/>
          <p:cNvPicPr preferRelativeResize="0"/>
          <p:nvPr/>
        </p:nvPicPr>
        <p:blipFill rotWithShape="1">
          <a:blip r:embed="rId4">
            <a:alphaModFix/>
          </a:blip>
          <a:srcRect b="0" l="0" r="0" t="0"/>
          <a:stretch/>
        </p:blipFill>
        <p:spPr>
          <a:xfrm>
            <a:off x="4893587" y="1490400"/>
            <a:ext cx="3218735" cy="1306800"/>
          </a:xfrm>
          <a:prstGeom prst="rect">
            <a:avLst/>
          </a:prstGeom>
          <a:noFill/>
          <a:ln>
            <a:noFill/>
          </a:ln>
        </p:spPr>
      </p:pic>
      <p:sp>
        <p:nvSpPr>
          <p:cNvPr id="631" name="Google Shape;631;p54"/>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Monofase e Trifase: </a:t>
            </a:r>
            <a:r>
              <a:rPr b="1" lang="it" sz="2000">
                <a:latin typeface="Lexend"/>
                <a:ea typeface="Lexend"/>
                <a:cs typeface="Lexend"/>
                <a:sym typeface="Lexend"/>
              </a:rPr>
              <a:t>come capiamo quale serve?</a:t>
            </a:r>
            <a:endParaRPr b="1" sz="2000">
              <a:latin typeface="Lexend"/>
              <a:ea typeface="Lexend"/>
              <a:cs typeface="Lexend"/>
              <a:sym typeface="Lexend"/>
            </a:endParaRPr>
          </a:p>
        </p:txBody>
      </p:sp>
      <p:sp>
        <p:nvSpPr>
          <p:cNvPr id="632" name="Google Shape;632;p54"/>
          <p:cNvSpPr txBox="1"/>
          <p:nvPr>
            <p:ph idx="1" type="body"/>
          </p:nvPr>
        </p:nvSpPr>
        <p:spPr>
          <a:xfrm>
            <a:off x="902400" y="2946563"/>
            <a:ext cx="3348000" cy="9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it" sz="1200">
                <a:solidFill>
                  <a:schemeClr val="dk1"/>
                </a:solidFill>
                <a:latin typeface="Lexend"/>
                <a:ea typeface="Lexend"/>
                <a:cs typeface="Lexend"/>
                <a:sym typeface="Lexend"/>
              </a:rPr>
              <a:t>Monofase:</a:t>
            </a:r>
            <a:r>
              <a:rPr lang="it" sz="1200">
                <a:solidFill>
                  <a:schemeClr val="dk1"/>
                </a:solidFill>
                <a:latin typeface="Lexend"/>
                <a:ea typeface="Lexend"/>
                <a:cs typeface="Lexend"/>
                <a:sym typeface="Lexend"/>
              </a:rPr>
              <a:t> DA </a:t>
            </a:r>
            <a:r>
              <a:rPr b="1" lang="it" sz="1200">
                <a:solidFill>
                  <a:schemeClr val="dk1"/>
                </a:solidFill>
                <a:latin typeface="Lexend"/>
                <a:ea typeface="Lexend"/>
                <a:cs typeface="Lexend"/>
                <a:sym typeface="Lexend"/>
              </a:rPr>
              <a:t>1KWp</a:t>
            </a:r>
            <a:r>
              <a:rPr lang="it" sz="1200">
                <a:solidFill>
                  <a:schemeClr val="dk1"/>
                </a:solidFill>
                <a:latin typeface="Lexend"/>
                <a:ea typeface="Lexend"/>
                <a:cs typeface="Lexend"/>
                <a:sym typeface="Lexend"/>
              </a:rPr>
              <a:t> A </a:t>
            </a:r>
            <a:r>
              <a:rPr b="1" lang="it" sz="1200">
                <a:solidFill>
                  <a:schemeClr val="dk1"/>
                </a:solidFill>
                <a:latin typeface="Lexend"/>
                <a:ea typeface="Lexend"/>
                <a:cs typeface="Lexend"/>
                <a:sym typeface="Lexend"/>
              </a:rPr>
              <a:t>9Kwp </a:t>
            </a:r>
            <a:r>
              <a:rPr lang="it" sz="1200">
                <a:solidFill>
                  <a:schemeClr val="dk1"/>
                </a:solidFill>
                <a:latin typeface="Lexend"/>
                <a:ea typeface="Lexend"/>
                <a:cs typeface="Lexend"/>
                <a:sym typeface="Lexend"/>
              </a:rPr>
              <a:t>di FTV</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Trifase: DA </a:t>
            </a:r>
            <a:r>
              <a:rPr b="1" lang="it" sz="1200">
                <a:solidFill>
                  <a:schemeClr val="dk1"/>
                </a:solidFill>
                <a:latin typeface="Lexend"/>
                <a:ea typeface="Lexend"/>
                <a:cs typeface="Lexend"/>
                <a:sym typeface="Lexend"/>
              </a:rPr>
              <a:t>9.1KWp</a:t>
            </a:r>
            <a:r>
              <a:rPr lang="it" sz="1200">
                <a:solidFill>
                  <a:schemeClr val="dk1"/>
                </a:solidFill>
                <a:latin typeface="Lexend"/>
                <a:ea typeface="Lexend"/>
                <a:cs typeface="Lexend"/>
                <a:sym typeface="Lexend"/>
              </a:rPr>
              <a:t> A </a:t>
            </a:r>
            <a:r>
              <a:rPr b="1" lang="it" sz="1200">
                <a:solidFill>
                  <a:schemeClr val="dk1"/>
                </a:solidFill>
                <a:latin typeface="Lexend"/>
                <a:ea typeface="Lexend"/>
                <a:cs typeface="Lexend"/>
                <a:sym typeface="Lexend"/>
              </a:rPr>
              <a:t>+20KWp </a:t>
            </a:r>
            <a:r>
              <a:rPr lang="it" sz="1200">
                <a:solidFill>
                  <a:schemeClr val="dk1"/>
                </a:solidFill>
                <a:latin typeface="Lexend"/>
                <a:ea typeface="Lexend"/>
                <a:cs typeface="Lexend"/>
                <a:sym typeface="Lexend"/>
              </a:rPr>
              <a:t>di FTV</a:t>
            </a:r>
            <a:endParaRPr b="1" sz="1200"/>
          </a:p>
        </p:txBody>
      </p:sp>
      <p:sp>
        <p:nvSpPr>
          <p:cNvPr id="633" name="Google Shape;633;p54"/>
          <p:cNvSpPr txBox="1"/>
          <p:nvPr>
            <p:ph idx="1" type="body"/>
          </p:nvPr>
        </p:nvSpPr>
        <p:spPr>
          <a:xfrm>
            <a:off x="4893588" y="2946563"/>
            <a:ext cx="3348000" cy="906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Monofase: DA </a:t>
            </a:r>
            <a:r>
              <a:rPr b="1" lang="it" sz="1200">
                <a:solidFill>
                  <a:schemeClr val="dk1"/>
                </a:solidFill>
                <a:latin typeface="Lexend"/>
                <a:ea typeface="Lexend"/>
                <a:cs typeface="Lexend"/>
                <a:sym typeface="Lexend"/>
              </a:rPr>
              <a:t>1KWp</a:t>
            </a:r>
            <a:r>
              <a:rPr lang="it" sz="1200">
                <a:solidFill>
                  <a:schemeClr val="dk1"/>
                </a:solidFill>
                <a:latin typeface="Lexend"/>
                <a:ea typeface="Lexend"/>
                <a:cs typeface="Lexend"/>
                <a:sym typeface="Lexend"/>
              </a:rPr>
              <a:t> A </a:t>
            </a:r>
            <a:r>
              <a:rPr b="1" lang="it" sz="1200">
                <a:solidFill>
                  <a:schemeClr val="dk1"/>
                </a:solidFill>
                <a:latin typeface="Lexend"/>
                <a:ea typeface="Lexend"/>
                <a:cs typeface="Lexend"/>
                <a:sym typeface="Lexend"/>
              </a:rPr>
              <a:t>10Kwp </a:t>
            </a:r>
            <a:r>
              <a:rPr lang="it" sz="1200">
                <a:solidFill>
                  <a:schemeClr val="dk1"/>
                </a:solidFill>
                <a:latin typeface="Lexend"/>
                <a:ea typeface="Lexend"/>
                <a:cs typeface="Lexend"/>
                <a:sym typeface="Lexend"/>
              </a:rPr>
              <a:t>di FTV</a:t>
            </a:r>
            <a:endParaRPr b="1"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t/>
            </a:r>
            <a:endParaRPr sz="1200">
              <a:solidFill>
                <a:schemeClr val="dk1"/>
              </a:solidFill>
              <a:latin typeface="Lexend"/>
              <a:ea typeface="Lexend"/>
              <a:cs typeface="Lexend"/>
              <a:sym typeface="Lexend"/>
            </a:endParaRPr>
          </a:p>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Trifase: DA </a:t>
            </a:r>
            <a:r>
              <a:rPr b="1" lang="it" sz="1200">
                <a:solidFill>
                  <a:schemeClr val="dk1"/>
                </a:solidFill>
                <a:latin typeface="Lexend"/>
                <a:ea typeface="Lexend"/>
                <a:cs typeface="Lexend"/>
                <a:sym typeface="Lexend"/>
              </a:rPr>
              <a:t>10.1KWp</a:t>
            </a:r>
            <a:r>
              <a:rPr lang="it" sz="1200">
                <a:solidFill>
                  <a:schemeClr val="dk1"/>
                </a:solidFill>
                <a:latin typeface="Lexend"/>
                <a:ea typeface="Lexend"/>
                <a:cs typeface="Lexend"/>
                <a:sym typeface="Lexend"/>
              </a:rPr>
              <a:t> A </a:t>
            </a:r>
            <a:r>
              <a:rPr b="1" lang="it" sz="1200">
                <a:solidFill>
                  <a:schemeClr val="dk1"/>
                </a:solidFill>
                <a:latin typeface="Lexend"/>
                <a:ea typeface="Lexend"/>
                <a:cs typeface="Lexend"/>
                <a:sym typeface="Lexend"/>
              </a:rPr>
              <a:t>+20KWp </a:t>
            </a:r>
            <a:r>
              <a:rPr lang="it" sz="1200">
                <a:solidFill>
                  <a:schemeClr val="dk1"/>
                </a:solidFill>
                <a:latin typeface="Lexend"/>
                <a:ea typeface="Lexend"/>
                <a:cs typeface="Lexend"/>
                <a:sym typeface="Lexend"/>
              </a:rPr>
              <a:t>di FTV</a:t>
            </a:r>
            <a:endParaRPr sz="1200">
              <a:solidFill>
                <a:schemeClr val="dk1"/>
              </a:solidFill>
              <a:latin typeface="Lexend"/>
              <a:ea typeface="Lexend"/>
              <a:cs typeface="Lexend"/>
              <a:sym typeface="Lexend"/>
            </a:endParaRPr>
          </a:p>
        </p:txBody>
      </p:sp>
      <p:sp>
        <p:nvSpPr>
          <p:cNvPr id="634" name="Google Shape;634;p54"/>
          <p:cNvSpPr txBox="1"/>
          <p:nvPr>
            <p:ph idx="1" type="body"/>
          </p:nvPr>
        </p:nvSpPr>
        <p:spPr>
          <a:xfrm>
            <a:off x="4893575" y="3860613"/>
            <a:ext cx="3348000" cy="101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200">
                <a:solidFill>
                  <a:schemeClr val="dk1"/>
                </a:solidFill>
                <a:latin typeface="Lexend"/>
                <a:ea typeface="Lexend"/>
                <a:cs typeface="Lexend"/>
                <a:sym typeface="Lexend"/>
              </a:rPr>
              <a:t>EKO</a:t>
            </a:r>
            <a:r>
              <a:rPr b="1" lang="it" sz="1200">
                <a:solidFill>
                  <a:schemeClr val="dk1"/>
                </a:solidFill>
                <a:latin typeface="Lexend"/>
                <a:ea typeface="Lexend"/>
                <a:cs typeface="Lexend"/>
                <a:sym typeface="Lexend"/>
              </a:rPr>
              <a:t> </a:t>
            </a:r>
            <a:r>
              <a:rPr lang="it" sz="1200">
                <a:solidFill>
                  <a:schemeClr val="dk1"/>
                </a:solidFill>
                <a:latin typeface="Lexend"/>
                <a:ea typeface="Lexend"/>
                <a:cs typeface="Lexend"/>
                <a:sym typeface="Lexend"/>
              </a:rPr>
              <a:t>|</a:t>
            </a:r>
            <a:r>
              <a:rPr b="1" lang="it" sz="1200">
                <a:solidFill>
                  <a:schemeClr val="dk1"/>
                </a:solidFill>
                <a:latin typeface="Lexend"/>
                <a:ea typeface="Lexend"/>
                <a:cs typeface="Lexend"/>
                <a:sym typeface="Lexend"/>
              </a:rPr>
              <a:t> Business</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1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Trifase: DA </a:t>
            </a:r>
            <a:r>
              <a:rPr b="1" lang="it" sz="1200">
                <a:solidFill>
                  <a:schemeClr val="dk1"/>
                </a:solidFill>
                <a:latin typeface="Lexend"/>
                <a:ea typeface="Lexend"/>
                <a:cs typeface="Lexend"/>
                <a:sym typeface="Lexend"/>
              </a:rPr>
              <a:t>20KWp</a:t>
            </a:r>
            <a:r>
              <a:rPr lang="it" sz="1200">
                <a:solidFill>
                  <a:schemeClr val="dk1"/>
                </a:solidFill>
                <a:latin typeface="Lexend"/>
                <a:ea typeface="Lexend"/>
                <a:cs typeface="Lexend"/>
                <a:sym typeface="Lexend"/>
              </a:rPr>
              <a:t> A </a:t>
            </a:r>
            <a:r>
              <a:rPr b="1" lang="it" sz="1200">
                <a:solidFill>
                  <a:schemeClr val="dk1"/>
                </a:solidFill>
                <a:latin typeface="Lexend"/>
                <a:ea typeface="Lexend"/>
                <a:cs typeface="Lexend"/>
                <a:sym typeface="Lexend"/>
              </a:rPr>
              <a:t>+100KWp</a:t>
            </a:r>
            <a:r>
              <a:rPr lang="it" sz="1200">
                <a:solidFill>
                  <a:schemeClr val="dk1"/>
                </a:solidFill>
                <a:latin typeface="Lexend"/>
                <a:ea typeface="Lexend"/>
                <a:cs typeface="Lexend"/>
                <a:sym typeface="Lexend"/>
              </a:rPr>
              <a:t> </a:t>
            </a:r>
            <a:r>
              <a:rPr lang="it" sz="1200">
                <a:solidFill>
                  <a:schemeClr val="dk1"/>
                </a:solidFill>
                <a:latin typeface="Lexend"/>
                <a:ea typeface="Lexend"/>
                <a:cs typeface="Lexend"/>
                <a:sym typeface="Lexend"/>
              </a:rPr>
              <a:t>di FTV</a:t>
            </a:r>
            <a:endParaRPr sz="1200"/>
          </a:p>
        </p:txBody>
      </p:sp>
      <p:sp>
        <p:nvSpPr>
          <p:cNvPr id="635" name="Google Shape;635;p5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36" name="Google Shape;636;p54"/>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637" name="Google Shape;637;p5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38" name="Google Shape;638;p5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Sistema Ibrido - Monofase e Trifase</a:t>
            </a:r>
            <a:r>
              <a:rPr lang="it" sz="700">
                <a:latin typeface="Lexend"/>
                <a:ea typeface="Lexend"/>
                <a:cs typeface="Lexend"/>
                <a:sym typeface="Lexend"/>
              </a:rPr>
              <a:t> | 41</a:t>
            </a:r>
            <a:endParaRPr sz="700">
              <a:latin typeface="Lexend"/>
              <a:ea typeface="Lexend"/>
              <a:cs typeface="Lexend"/>
              <a:sym typeface="Lexen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5"/>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EFFYtech o EKO?</a:t>
            </a:r>
            <a:r>
              <a:rPr b="1" lang="it" sz="2000">
                <a:latin typeface="Lexend"/>
                <a:ea typeface="Lexend"/>
                <a:cs typeface="Lexend"/>
                <a:sym typeface="Lexend"/>
              </a:rPr>
              <a:t> Scopriamo le differenze!</a:t>
            </a:r>
            <a:endParaRPr b="1" sz="2000">
              <a:latin typeface="Lexend"/>
              <a:ea typeface="Lexend"/>
              <a:cs typeface="Lexend"/>
              <a:sym typeface="Lexend"/>
            </a:endParaRPr>
          </a:p>
        </p:txBody>
      </p:sp>
      <p:sp>
        <p:nvSpPr>
          <p:cNvPr id="644" name="Google Shape;644;p5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aphicFrame>
        <p:nvGraphicFramePr>
          <p:cNvPr id="645" name="Google Shape;645;p55"/>
          <p:cNvGraphicFramePr/>
          <p:nvPr/>
        </p:nvGraphicFramePr>
        <p:xfrm>
          <a:off x="570225" y="1468250"/>
          <a:ext cx="3000000" cy="3000000"/>
        </p:xfrm>
        <a:graphic>
          <a:graphicData uri="http://schemas.openxmlformats.org/drawingml/2006/table">
            <a:tbl>
              <a:tblPr>
                <a:noFill/>
                <a:tableStyleId>{9273CD7E-ADB5-4E27-A5E8-29BB0BF39C83}</a:tableStyleId>
              </a:tblPr>
              <a:tblGrid>
                <a:gridCol w="1026225"/>
                <a:gridCol w="3411025"/>
                <a:gridCol w="3566275"/>
              </a:tblGrid>
              <a:tr h="452075">
                <a:tc>
                  <a:txBody>
                    <a:bodyPr/>
                    <a:lstStyle/>
                    <a:p>
                      <a:pPr indent="0" lvl="0" marL="0" rtl="0" algn="l">
                        <a:spcBef>
                          <a:spcPts val="0"/>
                        </a:spcBef>
                        <a:spcAft>
                          <a:spcPts val="0"/>
                        </a:spcAft>
                        <a:buNone/>
                      </a:pPr>
                      <a:r>
                        <a:t/>
                      </a:r>
                      <a:endParaRPr sz="1100">
                        <a:latin typeface="Lexend"/>
                        <a:ea typeface="Lexend"/>
                        <a:cs typeface="Lexend"/>
                        <a:sym typeface="Lexend"/>
                      </a:endParaRPr>
                    </a:p>
                  </a:txBody>
                  <a:tcPr marT="91425" marB="91425" marR="91425" marL="91425">
                    <a:solidFill>
                      <a:schemeClr val="lt1"/>
                    </a:solidFill>
                  </a:tcPr>
                </a:tc>
                <a:tc>
                  <a:txBody>
                    <a:bodyPr/>
                    <a:lstStyle/>
                    <a:p>
                      <a:pPr indent="0" lvl="0" marL="0" rtl="0" algn="l">
                        <a:spcBef>
                          <a:spcPts val="0"/>
                        </a:spcBef>
                        <a:spcAft>
                          <a:spcPts val="0"/>
                        </a:spcAft>
                        <a:buNone/>
                      </a:pPr>
                      <a:r>
                        <a:t/>
                      </a:r>
                      <a:endParaRPr b="1" sz="1200">
                        <a:latin typeface="Lexend"/>
                        <a:ea typeface="Lexend"/>
                        <a:cs typeface="Lexend"/>
                        <a:sym typeface="Lexend"/>
                      </a:endParaRPr>
                    </a:p>
                  </a:txBody>
                  <a:tcPr marT="91425" marB="91425" marR="91425" marL="91425">
                    <a:solidFill>
                      <a:srgbClr val="9FC5E8"/>
                    </a:solidFill>
                  </a:tcPr>
                </a:tc>
                <a:tc>
                  <a:txBody>
                    <a:bodyPr/>
                    <a:lstStyle/>
                    <a:p>
                      <a:pPr indent="0" lvl="0" marL="0" rtl="0" algn="l">
                        <a:spcBef>
                          <a:spcPts val="0"/>
                        </a:spcBef>
                        <a:spcAft>
                          <a:spcPts val="0"/>
                        </a:spcAft>
                        <a:buNone/>
                      </a:pPr>
                      <a:r>
                        <a:t/>
                      </a:r>
                      <a:endParaRPr b="1" sz="1200">
                        <a:latin typeface="Lexend"/>
                        <a:ea typeface="Lexend"/>
                        <a:cs typeface="Lexend"/>
                        <a:sym typeface="Lexend"/>
                      </a:endParaRPr>
                    </a:p>
                  </a:txBody>
                  <a:tcPr marT="91425" marB="91425" marR="91425" marL="91425">
                    <a:solidFill>
                      <a:srgbClr val="B6D7A8"/>
                    </a:solidFill>
                  </a:tcPr>
                </a:tc>
              </a:tr>
              <a:tr h="1663625">
                <a:tc>
                  <a:txBody>
                    <a:bodyPr/>
                    <a:lstStyle/>
                    <a:p>
                      <a:pPr indent="0" lvl="0" marL="0" rtl="0" algn="l">
                        <a:spcBef>
                          <a:spcPts val="0"/>
                        </a:spcBef>
                        <a:spcAft>
                          <a:spcPts val="0"/>
                        </a:spcAft>
                        <a:buNone/>
                      </a:pPr>
                      <a:r>
                        <a:rPr b="1" lang="it" sz="1100">
                          <a:latin typeface="Lexend"/>
                          <a:ea typeface="Lexend"/>
                          <a:cs typeface="Lexend"/>
                          <a:sym typeface="Lexend"/>
                        </a:rPr>
                        <a:t>Vantaggi</a:t>
                      </a:r>
                      <a:endParaRPr b="1" sz="1100">
                        <a:latin typeface="Lexend"/>
                        <a:ea typeface="Lexend"/>
                        <a:cs typeface="Lexend"/>
                        <a:sym typeface="Lexend"/>
                      </a:endParaRPr>
                    </a:p>
                  </a:txBody>
                  <a:tcPr marT="91425" marB="91425" marR="91425" marL="91425">
                    <a:solidFill>
                      <a:schemeClr val="lt2"/>
                    </a:solidFill>
                  </a:tcPr>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Più economico.</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Centro assistenza Italia Inverter e Batterie.</a:t>
                      </a:r>
                      <a:endParaRPr sz="1100">
                        <a:latin typeface="Lexend"/>
                        <a:ea typeface="Lexend"/>
                        <a:cs typeface="Lexend"/>
                        <a:sym typeface="Lexend"/>
                      </a:endParaRPr>
                    </a:p>
                  </a:txBody>
                  <a:tcPr marT="91425" marB="91425" marR="91425" marL="91425">
                    <a:solidFill>
                      <a:srgbClr val="CFE2F3"/>
                    </a:solidFill>
                  </a:tcPr>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Pannelli più performanti.</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Tecnologia di Accumulo con tempi di ricarica dimezzati rispetto ai competitor </a:t>
                      </a:r>
                      <a:endParaRPr sz="1100">
                        <a:latin typeface="Lexend"/>
                        <a:ea typeface="Lexend"/>
                        <a:cs typeface="Lexend"/>
                        <a:sym typeface="Lexend"/>
                      </a:endParaRPr>
                    </a:p>
                    <a:p>
                      <a:pPr indent="0" lvl="0" marL="457200" rtl="0" algn="l">
                        <a:spcBef>
                          <a:spcPts val="0"/>
                        </a:spcBef>
                        <a:spcAft>
                          <a:spcPts val="0"/>
                        </a:spcAft>
                        <a:buNone/>
                      </a:pPr>
                      <a:r>
                        <a:rPr lang="it" sz="1100">
                          <a:latin typeface="Lexend"/>
                          <a:ea typeface="Lexend"/>
                          <a:cs typeface="Lexend"/>
                          <a:sym typeface="Lexend"/>
                        </a:rPr>
                        <a:t>di alta fascia.</a:t>
                      </a:r>
                      <a:endParaRPr sz="1100">
                        <a:latin typeface="Lexend"/>
                        <a:ea typeface="Lexend"/>
                        <a:cs typeface="Lexend"/>
                        <a:sym typeface="Lexend"/>
                      </a:endParaRPr>
                    </a:p>
                    <a:p>
                      <a:pPr indent="0" lvl="0" marL="457200" rtl="0" algn="l">
                        <a:spcBef>
                          <a:spcPts val="0"/>
                        </a:spcBef>
                        <a:spcAft>
                          <a:spcPts val="0"/>
                        </a:spcAft>
                        <a:buNone/>
                      </a:pPr>
                      <a:r>
                        <a:t/>
                      </a:r>
                      <a:endParaRPr sz="1100">
                        <a:latin typeface="Lexend"/>
                        <a:ea typeface="Lexend"/>
                        <a:cs typeface="Lexend"/>
                        <a:sym typeface="Lexend"/>
                      </a:endParaRPr>
                    </a:p>
                    <a:p>
                      <a:pPr indent="-298450" lvl="0" marL="457200" rtl="0" algn="l">
                        <a:spcBef>
                          <a:spcPts val="0"/>
                        </a:spcBef>
                        <a:spcAft>
                          <a:spcPts val="0"/>
                        </a:spcAft>
                        <a:buSzPts val="1100"/>
                        <a:buFont typeface="Lexend"/>
                        <a:buChar char="●"/>
                      </a:pPr>
                      <a:r>
                        <a:rPr lang="it" sz="1100">
                          <a:latin typeface="Lexend"/>
                          <a:ea typeface="Lexend"/>
                          <a:cs typeface="Lexend"/>
                          <a:sym typeface="Lexend"/>
                        </a:rPr>
                        <a:t>App proprietaria che permette interventi da remoto </a:t>
                      </a:r>
                      <a:r>
                        <a:rPr lang="it" sz="800">
                          <a:latin typeface="Lexend"/>
                          <a:ea typeface="Lexend"/>
                          <a:cs typeface="Lexend"/>
                          <a:sym typeface="Lexend"/>
                        </a:rPr>
                        <a:t>(</a:t>
                      </a:r>
                      <a:r>
                        <a:rPr b="1" lang="it" sz="800">
                          <a:latin typeface="Lexend"/>
                          <a:ea typeface="Lexend"/>
                          <a:cs typeface="Lexend"/>
                          <a:sym typeface="Lexend"/>
                        </a:rPr>
                        <a:t>ALPHACLOUD</a:t>
                      </a:r>
                      <a:r>
                        <a:rPr lang="it" sz="800">
                          <a:latin typeface="Lexend"/>
                          <a:ea typeface="Lexend"/>
                          <a:cs typeface="Lexend"/>
                          <a:sym typeface="Lexend"/>
                        </a:rPr>
                        <a:t> Monitoring Platform).</a:t>
                      </a:r>
                      <a:endParaRPr sz="800">
                        <a:latin typeface="Lexend"/>
                        <a:ea typeface="Lexend"/>
                        <a:cs typeface="Lexend"/>
                        <a:sym typeface="Lexend"/>
                      </a:endParaRPr>
                    </a:p>
                  </a:txBody>
                  <a:tcPr marT="91425" marB="91425" marR="91425" marL="91425">
                    <a:solidFill>
                      <a:srgbClr val="D9EAD3"/>
                    </a:solidFill>
                  </a:tcPr>
                </a:tc>
              </a:tr>
              <a:tr h="897300">
                <a:tc>
                  <a:txBody>
                    <a:bodyPr/>
                    <a:lstStyle/>
                    <a:p>
                      <a:pPr indent="0" lvl="0" marL="0" rtl="0" algn="l">
                        <a:spcBef>
                          <a:spcPts val="0"/>
                        </a:spcBef>
                        <a:spcAft>
                          <a:spcPts val="0"/>
                        </a:spcAft>
                        <a:buNone/>
                      </a:pPr>
                      <a:r>
                        <a:rPr b="1" lang="it" sz="1100">
                          <a:latin typeface="Lexend"/>
                          <a:ea typeface="Lexend"/>
                          <a:cs typeface="Lexend"/>
                          <a:sym typeface="Lexend"/>
                        </a:rPr>
                        <a:t>Svantaggi</a:t>
                      </a:r>
                      <a:endParaRPr b="1" sz="1100">
                        <a:latin typeface="Lexend"/>
                        <a:ea typeface="Lexend"/>
                        <a:cs typeface="Lexend"/>
                        <a:sym typeface="Lexend"/>
                      </a:endParaRPr>
                    </a:p>
                  </a:txBody>
                  <a:tcPr marT="91425" marB="91425" marR="91425" marL="91425">
                    <a:solidFill>
                      <a:schemeClr val="lt2"/>
                    </a:solidFill>
                  </a:tcPr>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App generale di terze parti</a:t>
                      </a:r>
                      <a:endParaRPr sz="1100">
                        <a:latin typeface="Lexend"/>
                        <a:ea typeface="Lexend"/>
                        <a:cs typeface="Lexend"/>
                        <a:sym typeface="Lexend"/>
                      </a:endParaRPr>
                    </a:p>
                  </a:txBody>
                  <a:tcPr marT="91425" marB="91425" marR="91425" marL="91425">
                    <a:solidFill>
                      <a:srgbClr val="CFE2F3"/>
                    </a:solidFill>
                  </a:tcPr>
                </a:tc>
                <a:tc>
                  <a:txBody>
                    <a:bodyPr/>
                    <a:lstStyle/>
                    <a:p>
                      <a:pPr indent="-298450" lvl="0" marL="457200" rtl="0" algn="l">
                        <a:spcBef>
                          <a:spcPts val="0"/>
                        </a:spcBef>
                        <a:spcAft>
                          <a:spcPts val="0"/>
                        </a:spcAft>
                        <a:buSzPts val="1100"/>
                        <a:buFont typeface="Lexend"/>
                        <a:buChar char="●"/>
                      </a:pPr>
                      <a:r>
                        <a:rPr lang="it" sz="1100">
                          <a:latin typeface="Lexend"/>
                          <a:ea typeface="Lexend"/>
                          <a:cs typeface="Lexend"/>
                          <a:sym typeface="Lexend"/>
                        </a:rPr>
                        <a:t>Più costoso</a:t>
                      </a:r>
                      <a:endParaRPr sz="1100">
                        <a:latin typeface="Lexend"/>
                        <a:ea typeface="Lexend"/>
                        <a:cs typeface="Lexend"/>
                        <a:sym typeface="Lexend"/>
                      </a:endParaRPr>
                    </a:p>
                  </a:txBody>
                  <a:tcPr marT="91425" marB="91425" marR="91425" marL="91425">
                    <a:solidFill>
                      <a:srgbClr val="D9EAD3"/>
                    </a:solidFill>
                  </a:tcPr>
                </a:tc>
              </a:tr>
            </a:tbl>
          </a:graphicData>
        </a:graphic>
      </p:graphicFrame>
      <p:pic>
        <p:nvPicPr>
          <p:cNvPr id="646" name="Google Shape;646;p55"/>
          <p:cNvPicPr preferRelativeResize="0"/>
          <p:nvPr/>
        </p:nvPicPr>
        <p:blipFill>
          <a:blip r:embed="rId3">
            <a:alphaModFix/>
          </a:blip>
          <a:stretch>
            <a:fillRect/>
          </a:stretch>
        </p:blipFill>
        <p:spPr>
          <a:xfrm>
            <a:off x="1732513" y="1567050"/>
            <a:ext cx="1462717" cy="281400"/>
          </a:xfrm>
          <a:prstGeom prst="rect">
            <a:avLst/>
          </a:prstGeom>
          <a:noFill/>
          <a:ln>
            <a:noFill/>
          </a:ln>
        </p:spPr>
      </p:pic>
      <p:pic>
        <p:nvPicPr>
          <p:cNvPr id="647" name="Google Shape;647;p55"/>
          <p:cNvPicPr preferRelativeResize="0"/>
          <p:nvPr/>
        </p:nvPicPr>
        <p:blipFill rotWithShape="1">
          <a:blip r:embed="rId4">
            <a:alphaModFix/>
          </a:blip>
          <a:srcRect b="22143" l="15236" r="5203" t="38798"/>
          <a:stretch/>
        </p:blipFill>
        <p:spPr>
          <a:xfrm>
            <a:off x="5186338" y="1547908"/>
            <a:ext cx="689301" cy="338401"/>
          </a:xfrm>
          <a:prstGeom prst="rect">
            <a:avLst/>
          </a:prstGeom>
          <a:noFill/>
          <a:ln>
            <a:noFill/>
          </a:ln>
        </p:spPr>
      </p:pic>
      <p:pic>
        <p:nvPicPr>
          <p:cNvPr id="648" name="Google Shape;648;p55"/>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649" name="Google Shape;649;p5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50" name="Google Shape;650;p5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Prodotti - Differenze</a:t>
            </a:r>
            <a:r>
              <a:rPr lang="it" sz="700">
                <a:latin typeface="Lexend"/>
                <a:ea typeface="Lexend"/>
                <a:cs typeface="Lexend"/>
                <a:sym typeface="Lexend"/>
              </a:rPr>
              <a:t> | 42</a:t>
            </a:r>
            <a:endParaRPr sz="700">
              <a:latin typeface="Lexend"/>
              <a:ea typeface="Lexend"/>
              <a:cs typeface="Lexend"/>
              <a:sym typeface="Lexen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p56"/>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Breve introduzione ad </a:t>
            </a:r>
            <a:r>
              <a:rPr b="1" lang="it" sz="2000">
                <a:latin typeface="Lexend"/>
                <a:ea typeface="Lexend"/>
                <a:cs typeface="Lexend"/>
                <a:sym typeface="Lexend"/>
              </a:rPr>
              <a:t>ALPHACLOUD</a:t>
            </a:r>
            <a:endParaRPr b="1" sz="2000">
              <a:latin typeface="Lexend"/>
              <a:ea typeface="Lexend"/>
              <a:cs typeface="Lexend"/>
              <a:sym typeface="Lexend"/>
            </a:endParaRPr>
          </a:p>
        </p:txBody>
      </p:sp>
      <p:sp>
        <p:nvSpPr>
          <p:cNvPr id="656" name="Google Shape;656;p5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57" name="Google Shape;657;p56" title="3yue21rixiugai(1).mp4">
            <a:hlinkClick r:id="rId3"/>
          </p:cNvPr>
          <p:cNvPicPr preferRelativeResize="0"/>
          <p:nvPr/>
        </p:nvPicPr>
        <p:blipFill>
          <a:blip r:embed="rId4">
            <a:alphaModFix/>
          </a:blip>
          <a:stretch>
            <a:fillRect/>
          </a:stretch>
        </p:blipFill>
        <p:spPr>
          <a:xfrm>
            <a:off x="3506236" y="1577100"/>
            <a:ext cx="4963349" cy="2791876"/>
          </a:xfrm>
          <a:prstGeom prst="rect">
            <a:avLst/>
          </a:prstGeom>
          <a:noFill/>
          <a:ln>
            <a:noFill/>
          </a:ln>
        </p:spPr>
      </p:pic>
      <p:sp>
        <p:nvSpPr>
          <p:cNvPr id="658" name="Google Shape;658;p56"/>
          <p:cNvSpPr/>
          <p:nvPr/>
        </p:nvSpPr>
        <p:spPr>
          <a:xfrm>
            <a:off x="674413" y="1577138"/>
            <a:ext cx="2831700" cy="27918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9" name="Google Shape;659;p56"/>
          <p:cNvSpPr txBox="1"/>
          <p:nvPr>
            <p:ph type="title"/>
          </p:nvPr>
        </p:nvSpPr>
        <p:spPr>
          <a:xfrm>
            <a:off x="311700" y="1080050"/>
            <a:ext cx="8520600" cy="343800"/>
          </a:xfrm>
          <a:prstGeom prst="rect">
            <a:avLst/>
          </a:prstGeom>
        </p:spPr>
        <p:txBody>
          <a:bodyPr anchorCtr="0" anchor="t" bIns="91425" lIns="91425" spcFirstLastPara="1" rIns="91425" wrap="square" tIns="91425">
            <a:normAutofit fontScale="90000"/>
          </a:bodyPr>
          <a:lstStyle/>
          <a:p>
            <a:pPr indent="0" lvl="0" marL="0" rtl="0" algn="ctr">
              <a:lnSpc>
                <a:spcPct val="115000"/>
              </a:lnSpc>
              <a:spcBef>
                <a:spcPts val="0"/>
              </a:spcBef>
              <a:spcAft>
                <a:spcPts val="0"/>
              </a:spcAft>
              <a:buNone/>
            </a:pPr>
            <a:r>
              <a:rPr lang="it" sz="1100">
                <a:latin typeface="Lexend"/>
                <a:ea typeface="Lexend"/>
                <a:cs typeface="Lexend"/>
                <a:sym typeface="Lexend"/>
              </a:rPr>
              <a:t>l’applicazione proprietaria di Alphaess per la tua CASA</a:t>
            </a:r>
            <a:endParaRPr b="1" sz="1100">
              <a:latin typeface="Lexend"/>
              <a:ea typeface="Lexend"/>
              <a:cs typeface="Lexend"/>
              <a:sym typeface="Lexend"/>
            </a:endParaRPr>
          </a:p>
        </p:txBody>
      </p:sp>
      <p:sp>
        <p:nvSpPr>
          <p:cNvPr id="660" name="Google Shape;660;p56"/>
          <p:cNvSpPr/>
          <p:nvPr/>
        </p:nvSpPr>
        <p:spPr>
          <a:xfrm>
            <a:off x="798550" y="3202025"/>
            <a:ext cx="2563500" cy="249900"/>
          </a:xfrm>
          <a:prstGeom prst="rect">
            <a:avLst/>
          </a:prstGeom>
          <a:solidFill>
            <a:srgbClr val="DEB70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1" name="Google Shape;661;p56"/>
          <p:cNvSpPr txBox="1"/>
          <p:nvPr>
            <p:ph type="title"/>
          </p:nvPr>
        </p:nvSpPr>
        <p:spPr>
          <a:xfrm>
            <a:off x="773800" y="2321100"/>
            <a:ext cx="2538600" cy="1176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78571"/>
              <a:buFont typeface="Arial"/>
              <a:buNone/>
            </a:pPr>
            <a:r>
              <a:rPr lang="it" sz="1400">
                <a:latin typeface="Lexend"/>
                <a:ea typeface="Lexend"/>
                <a:cs typeface="Lexend"/>
                <a:sym typeface="Lexend"/>
              </a:rPr>
              <a:t>Per provare la </a:t>
            </a:r>
            <a:r>
              <a:rPr b="1" lang="it" sz="1400">
                <a:latin typeface="Lexend"/>
                <a:ea typeface="Lexend"/>
                <a:cs typeface="Lexend"/>
                <a:sym typeface="Lexend"/>
              </a:rPr>
              <a:t>DEMO Live</a:t>
            </a:r>
            <a:endParaRPr b="1" sz="1400">
              <a:latin typeface="Lexend"/>
              <a:ea typeface="Lexend"/>
              <a:cs typeface="Lexend"/>
              <a:sym typeface="Lexend"/>
            </a:endParaRPr>
          </a:p>
          <a:p>
            <a:pPr indent="0" lvl="0" marL="0" rtl="0" algn="l">
              <a:lnSpc>
                <a:spcPct val="115000"/>
              </a:lnSpc>
              <a:spcBef>
                <a:spcPts val="0"/>
              </a:spcBef>
              <a:spcAft>
                <a:spcPts val="0"/>
              </a:spcAft>
              <a:buNone/>
            </a:pPr>
            <a:r>
              <a:t/>
            </a:r>
            <a:endParaRPr sz="800">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Cercare AlphaESS su Apple Store o Google Play</a:t>
            </a:r>
            <a:endParaRPr sz="1122">
              <a:latin typeface="Lexend"/>
              <a:ea typeface="Lexend"/>
              <a:cs typeface="Lexend"/>
              <a:sym typeface="Lexend"/>
            </a:endParaRPr>
          </a:p>
          <a:p>
            <a:pPr indent="0" lvl="0" marL="0" rtl="0" algn="l">
              <a:lnSpc>
                <a:spcPct val="115000"/>
              </a:lnSpc>
              <a:spcBef>
                <a:spcPts val="0"/>
              </a:spcBef>
              <a:spcAft>
                <a:spcPts val="0"/>
              </a:spcAft>
              <a:buNone/>
            </a:pPr>
            <a:r>
              <a:t/>
            </a:r>
            <a:endParaRPr sz="900">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Username: </a:t>
            </a:r>
            <a:r>
              <a:rPr b="1" lang="it" sz="1122">
                <a:latin typeface="Lexend"/>
                <a:ea typeface="Lexend"/>
                <a:cs typeface="Lexend"/>
                <a:sym typeface="Lexend"/>
              </a:rPr>
              <a:t>demo</a:t>
            </a:r>
            <a:r>
              <a:rPr lang="it" sz="1122">
                <a:latin typeface="Lexend"/>
                <a:ea typeface="Lexend"/>
                <a:cs typeface="Lexend"/>
                <a:sym typeface="Lexend"/>
              </a:rPr>
              <a:t>     </a:t>
            </a:r>
            <a:r>
              <a:rPr lang="it" sz="1122">
                <a:latin typeface="Lexend"/>
                <a:ea typeface="Lexend"/>
                <a:cs typeface="Lexend"/>
                <a:sym typeface="Lexend"/>
              </a:rPr>
              <a:t>Password: </a:t>
            </a:r>
            <a:r>
              <a:rPr b="1" lang="it" sz="1122">
                <a:latin typeface="Lexend"/>
                <a:ea typeface="Lexend"/>
                <a:cs typeface="Lexend"/>
                <a:sym typeface="Lexend"/>
              </a:rPr>
              <a:t>demo</a:t>
            </a:r>
            <a:endParaRPr b="1" sz="1122">
              <a:latin typeface="Lexend"/>
              <a:ea typeface="Lexend"/>
              <a:cs typeface="Lexend"/>
              <a:sym typeface="Lexend"/>
            </a:endParaRPr>
          </a:p>
        </p:txBody>
      </p:sp>
      <p:pic>
        <p:nvPicPr>
          <p:cNvPr id="662" name="Google Shape;662;p56"/>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663" name="Google Shape;663;p5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64" name="Google Shape;664;p5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APP di monitoraggio - Alphacloud</a:t>
            </a:r>
            <a:r>
              <a:rPr lang="it" sz="700">
                <a:latin typeface="Lexend"/>
                <a:ea typeface="Lexend"/>
                <a:cs typeface="Lexend"/>
                <a:sym typeface="Lexend"/>
              </a:rPr>
              <a:t> | 43</a:t>
            </a:r>
            <a:endParaRPr sz="700">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57"/>
                                        </p:tgtEl>
                                        <p:attrNameLst>
                                          <p:attrName>style.visibility</p:attrName>
                                        </p:attrNameLst>
                                      </p:cBhvr>
                                      <p:to>
                                        <p:strVal val="visible"/>
                                      </p:to>
                                    </p:set>
                                    <p:animEffect filter="fade" transition="in">
                                      <p:cBhvr>
                                        <p:cTn dur="1000"/>
                                        <p:tgtEl>
                                          <p:spTgt spid="6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57"/>
          <p:cNvSpPr txBox="1"/>
          <p:nvPr>
            <p:ph type="title"/>
          </p:nvPr>
        </p:nvSpPr>
        <p:spPr>
          <a:xfrm>
            <a:off x="311700" y="234030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300">
                <a:latin typeface="Lexend"/>
                <a:ea typeface="Lexend"/>
                <a:cs typeface="Lexend"/>
                <a:sym typeface="Lexend"/>
              </a:rPr>
              <a:t>Capite le </a:t>
            </a:r>
            <a:r>
              <a:rPr b="1" lang="it" sz="2300">
                <a:latin typeface="Lexend"/>
                <a:ea typeface="Lexend"/>
                <a:cs typeface="Lexend"/>
                <a:sym typeface="Lexend"/>
              </a:rPr>
              <a:t>tecnologie,</a:t>
            </a:r>
            <a:r>
              <a:rPr lang="it" sz="2300">
                <a:latin typeface="Lexend"/>
                <a:ea typeface="Lexend"/>
                <a:cs typeface="Lexend"/>
                <a:sym typeface="Lexend"/>
              </a:rPr>
              <a:t> passiamo all’</a:t>
            </a:r>
            <a:r>
              <a:rPr b="1" lang="it" sz="2300">
                <a:latin typeface="Lexend"/>
                <a:ea typeface="Lexend"/>
                <a:cs typeface="Lexend"/>
                <a:sym typeface="Lexend"/>
              </a:rPr>
              <a:t>installazione</a:t>
            </a:r>
            <a:endParaRPr b="1" sz="2300">
              <a:latin typeface="Lexend"/>
              <a:ea typeface="Lexend"/>
              <a:cs typeface="Lexend"/>
              <a:sym typeface="Lexend"/>
            </a:endParaRPr>
          </a:p>
        </p:txBody>
      </p:sp>
      <p:sp>
        <p:nvSpPr>
          <p:cNvPr id="670" name="Google Shape;670;p5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71" name="Google Shape;671;p5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672" name="Google Shape;672;p5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73" name="Google Shape;673;p5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44</a:t>
            </a:r>
            <a:endParaRPr sz="700">
              <a:latin typeface="Lexend"/>
              <a:ea typeface="Lexend"/>
              <a:cs typeface="Lexend"/>
              <a:sym typeface="Lexen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p58"/>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nell’</a:t>
            </a:r>
            <a:r>
              <a:rPr b="1" lang="it" sz="2000">
                <a:latin typeface="Lexend"/>
                <a:ea typeface="Lexend"/>
                <a:cs typeface="Lexend"/>
                <a:sym typeface="Lexend"/>
              </a:rPr>
              <a:t>installazione</a:t>
            </a:r>
            <a:endParaRPr b="1" sz="2000">
              <a:latin typeface="Lexend"/>
              <a:ea typeface="Lexend"/>
              <a:cs typeface="Lexend"/>
              <a:sym typeface="Lexend"/>
            </a:endParaRPr>
          </a:p>
        </p:txBody>
      </p:sp>
      <p:sp>
        <p:nvSpPr>
          <p:cNvPr id="679" name="Google Shape;679;p58"/>
          <p:cNvSpPr txBox="1"/>
          <p:nvPr>
            <p:ph idx="1" type="body"/>
          </p:nvPr>
        </p:nvSpPr>
        <p:spPr>
          <a:xfrm>
            <a:off x="370250" y="3523050"/>
            <a:ext cx="4106100" cy="1401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300">
                <a:solidFill>
                  <a:schemeClr val="dk1"/>
                </a:solidFill>
                <a:latin typeface="Lexend"/>
                <a:ea typeface="Lexend"/>
                <a:cs typeface="Lexend"/>
                <a:sym typeface="Lexend"/>
              </a:rPr>
              <a:t>Metodo Classico</a:t>
            </a:r>
            <a:r>
              <a:rPr lang="it" sz="1300">
                <a:solidFill>
                  <a:schemeClr val="dk1"/>
                </a:solidFill>
                <a:latin typeface="Lexend"/>
                <a:ea typeface="Lexend"/>
                <a:cs typeface="Lexend"/>
                <a:sym typeface="Lexend"/>
              </a:rPr>
              <a:t>: installazione con “vitone”</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38761D"/>
                </a:solidFill>
                <a:latin typeface="Lexend"/>
                <a:ea typeface="Lexend"/>
                <a:cs typeface="Lexend"/>
                <a:sym typeface="Lexend"/>
              </a:rPr>
              <a:t>Vantaggi</a:t>
            </a:r>
            <a:r>
              <a:rPr lang="it" sz="1000">
                <a:solidFill>
                  <a:schemeClr val="dk1"/>
                </a:solidFill>
                <a:latin typeface="Lexend"/>
                <a:ea typeface="Lexend"/>
                <a:cs typeface="Lexend"/>
                <a:sym typeface="Lexend"/>
              </a:rPr>
              <a:t>: Veloce da installare e costo basso per l’installatore</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CC0000"/>
                </a:solidFill>
                <a:latin typeface="Lexend"/>
                <a:ea typeface="Lexend"/>
                <a:cs typeface="Lexend"/>
                <a:sym typeface="Lexend"/>
              </a:rPr>
              <a:t>Svantaggi</a:t>
            </a:r>
            <a:r>
              <a:rPr lang="it" sz="1000">
                <a:solidFill>
                  <a:schemeClr val="dk1"/>
                </a:solidFill>
                <a:latin typeface="Lexend"/>
                <a:ea typeface="Lexend"/>
                <a:cs typeface="Lexend"/>
                <a:sym typeface="Lexend"/>
              </a:rPr>
              <a:t>: spacca la tegola/legno e crea problemi nel tempo con infiltrazioni di acqua e usura materiale.</a:t>
            </a:r>
            <a:endParaRPr sz="1000">
              <a:latin typeface="Lexend"/>
              <a:ea typeface="Lexend"/>
              <a:cs typeface="Lexend"/>
              <a:sym typeface="Lexend"/>
            </a:endParaRPr>
          </a:p>
        </p:txBody>
      </p:sp>
      <p:sp>
        <p:nvSpPr>
          <p:cNvPr id="680" name="Google Shape;680;p58"/>
          <p:cNvSpPr txBox="1"/>
          <p:nvPr/>
        </p:nvSpPr>
        <p:spPr>
          <a:xfrm>
            <a:off x="3072000" y="108505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sp>
        <p:nvSpPr>
          <p:cNvPr id="681" name="Google Shape;681;p58"/>
          <p:cNvSpPr txBox="1"/>
          <p:nvPr>
            <p:ph idx="1" type="body"/>
          </p:nvPr>
        </p:nvSpPr>
        <p:spPr>
          <a:xfrm>
            <a:off x="4667600" y="3512700"/>
            <a:ext cx="4106100" cy="1467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300">
                <a:solidFill>
                  <a:schemeClr val="dk1"/>
                </a:solidFill>
                <a:latin typeface="Lexend"/>
                <a:ea typeface="Lexend"/>
                <a:cs typeface="Lexend"/>
                <a:sym typeface="Lexend"/>
              </a:rPr>
              <a:t>Metodo EKO:</a:t>
            </a:r>
            <a:r>
              <a:rPr lang="it" sz="1300">
                <a:solidFill>
                  <a:schemeClr val="dk1"/>
                </a:solidFill>
                <a:latin typeface="Lexend"/>
                <a:ea typeface="Lexend"/>
                <a:cs typeface="Lexend"/>
                <a:sym typeface="Lexend"/>
              </a:rPr>
              <a:t> sottotegola con staffa in INOX</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38761D"/>
                </a:solidFill>
                <a:latin typeface="Lexend"/>
                <a:ea typeface="Lexend"/>
                <a:cs typeface="Lexend"/>
                <a:sym typeface="Lexend"/>
              </a:rPr>
              <a:t>Vantaggi</a:t>
            </a:r>
            <a:r>
              <a:rPr lang="it" sz="1000">
                <a:solidFill>
                  <a:schemeClr val="dk1"/>
                </a:solidFill>
                <a:latin typeface="Lexend"/>
                <a:ea typeface="Lexend"/>
                <a:cs typeface="Lexend"/>
                <a:sym typeface="Lexend"/>
              </a:rPr>
              <a:t>: lavoro pulito e di qualità che non intacca l’idoneità del tetto sia a livello strutturale che di isolamento.</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CC0000"/>
                </a:solidFill>
                <a:latin typeface="Lexend"/>
                <a:ea typeface="Lexend"/>
                <a:cs typeface="Lexend"/>
                <a:sym typeface="Lexend"/>
              </a:rPr>
              <a:t>Svantaggi</a:t>
            </a:r>
            <a:r>
              <a:rPr lang="it" sz="1000">
                <a:solidFill>
                  <a:schemeClr val="dk1"/>
                </a:solidFill>
                <a:latin typeface="Lexend"/>
                <a:ea typeface="Lexend"/>
                <a:cs typeface="Lexend"/>
                <a:sym typeface="Lexend"/>
              </a:rPr>
              <a:t>: costo più alto per l’installatore</a:t>
            </a:r>
            <a:endParaRPr sz="1000">
              <a:latin typeface="Lexend"/>
              <a:ea typeface="Lexend"/>
              <a:cs typeface="Lexend"/>
              <a:sym typeface="Lexend"/>
            </a:endParaRPr>
          </a:p>
        </p:txBody>
      </p:sp>
      <p:pic>
        <p:nvPicPr>
          <p:cNvPr id="682" name="Google Shape;682;p58"/>
          <p:cNvPicPr preferRelativeResize="0"/>
          <p:nvPr/>
        </p:nvPicPr>
        <p:blipFill>
          <a:blip r:embed="rId3">
            <a:alphaModFix/>
          </a:blip>
          <a:stretch>
            <a:fillRect/>
          </a:stretch>
        </p:blipFill>
        <p:spPr>
          <a:xfrm>
            <a:off x="4667588" y="1587025"/>
            <a:ext cx="4106173" cy="1812486"/>
          </a:xfrm>
          <a:prstGeom prst="rect">
            <a:avLst/>
          </a:prstGeom>
          <a:noFill/>
          <a:ln>
            <a:noFill/>
          </a:ln>
        </p:spPr>
      </p:pic>
      <p:pic>
        <p:nvPicPr>
          <p:cNvPr id="683" name="Google Shape;683;p58"/>
          <p:cNvPicPr preferRelativeResize="0"/>
          <p:nvPr/>
        </p:nvPicPr>
        <p:blipFill>
          <a:blip r:embed="rId4">
            <a:alphaModFix/>
          </a:blip>
          <a:stretch>
            <a:fillRect/>
          </a:stretch>
        </p:blipFill>
        <p:spPr>
          <a:xfrm>
            <a:off x="370238" y="1595300"/>
            <a:ext cx="4106173" cy="1812500"/>
          </a:xfrm>
          <a:prstGeom prst="rect">
            <a:avLst/>
          </a:prstGeom>
          <a:noFill/>
          <a:ln>
            <a:noFill/>
          </a:ln>
        </p:spPr>
      </p:pic>
      <p:sp>
        <p:nvSpPr>
          <p:cNvPr id="684" name="Google Shape;684;p5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85" name="Google Shape;685;p58"/>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686" name="Google Shape;686;p5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87" name="Google Shape;687;p5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45</a:t>
            </a:r>
            <a:endParaRPr sz="700">
              <a:latin typeface="Lexend"/>
              <a:ea typeface="Lexend"/>
              <a:cs typeface="Lexend"/>
              <a:sym typeface="Lexen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1" name="Shape 691"/>
        <p:cNvGrpSpPr/>
        <p:nvPr/>
      </p:nvGrpSpPr>
      <p:grpSpPr>
        <a:xfrm>
          <a:off x="0" y="0"/>
          <a:ext cx="0" cy="0"/>
          <a:chOff x="0" y="0"/>
          <a:chExt cx="0" cy="0"/>
        </a:xfrm>
      </p:grpSpPr>
      <p:sp>
        <p:nvSpPr>
          <p:cNvPr id="692" name="Google Shape;692;p59"/>
          <p:cNvSpPr txBox="1"/>
          <p:nvPr>
            <p:ph idx="1" type="body"/>
          </p:nvPr>
        </p:nvSpPr>
        <p:spPr>
          <a:xfrm>
            <a:off x="568050" y="1681700"/>
            <a:ext cx="2733600" cy="27471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1" lang="it" sz="1308">
                <a:solidFill>
                  <a:schemeClr val="dk1"/>
                </a:solidFill>
                <a:latin typeface="Lexend"/>
                <a:ea typeface="Lexend"/>
                <a:cs typeface="Lexend"/>
                <a:sym typeface="Lexend"/>
              </a:rPr>
              <a:t>Installazione su Lamiera Grecata con Guaina</a:t>
            </a:r>
            <a:endParaRPr b="1" sz="1308">
              <a:solidFill>
                <a:schemeClr val="dk1"/>
              </a:solidFill>
              <a:latin typeface="Lexend"/>
              <a:ea typeface="Lexend"/>
              <a:cs typeface="Lexend"/>
              <a:sym typeface="Lexend"/>
            </a:endParaRPr>
          </a:p>
          <a:p>
            <a:pPr indent="0" lvl="0" marL="0" rtl="0" algn="l">
              <a:spcBef>
                <a:spcPts val="0"/>
              </a:spcBef>
              <a:spcAft>
                <a:spcPts val="0"/>
              </a:spcAft>
              <a:buNone/>
            </a:pPr>
            <a:r>
              <a:t/>
            </a:r>
            <a:endParaRPr b="1"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38761D"/>
                </a:solidFill>
                <a:latin typeface="Lexend"/>
                <a:ea typeface="Lexend"/>
                <a:cs typeface="Lexend"/>
                <a:sym typeface="Lexend"/>
              </a:rPr>
              <a:t>Vantaggi</a:t>
            </a:r>
            <a:r>
              <a:rPr lang="it" sz="1000">
                <a:solidFill>
                  <a:schemeClr val="dk1"/>
                </a:solidFill>
                <a:latin typeface="Lexend"/>
                <a:ea typeface="Lexend"/>
                <a:cs typeface="Lexend"/>
                <a:sym typeface="Lexend"/>
              </a:rPr>
              <a:t>: </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it" sz="1000">
                <a:solidFill>
                  <a:schemeClr val="dk1"/>
                </a:solidFill>
                <a:latin typeface="Lexend"/>
                <a:ea typeface="Lexend"/>
                <a:cs typeface="Lexend"/>
                <a:sym typeface="Lexend"/>
              </a:rPr>
              <a:t>Sigillatura totale dei fori di fissaggio</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CC0000"/>
                </a:solidFill>
                <a:latin typeface="Lexend"/>
                <a:ea typeface="Lexend"/>
                <a:cs typeface="Lexend"/>
                <a:sym typeface="Lexend"/>
              </a:rPr>
              <a:t>Svantaggi</a:t>
            </a:r>
            <a:r>
              <a:rPr lang="it" sz="1000">
                <a:solidFill>
                  <a:schemeClr val="dk1"/>
                </a:solidFill>
                <a:latin typeface="Lexend"/>
                <a:ea typeface="Lexend"/>
                <a:cs typeface="Lexend"/>
                <a:sym typeface="Lexend"/>
              </a:rPr>
              <a:t>: </a:t>
            </a:r>
            <a:endParaRPr sz="1000">
              <a:solidFill>
                <a:schemeClr val="dk1"/>
              </a:solidFill>
              <a:latin typeface="Lexend"/>
              <a:ea typeface="Lexend"/>
              <a:cs typeface="Lexend"/>
              <a:sym typeface="Lexend"/>
            </a:endParaRPr>
          </a:p>
          <a:p>
            <a:pPr indent="0" lvl="0" marL="0" rtl="0" algn="l">
              <a:spcBef>
                <a:spcPts val="0"/>
              </a:spcBef>
              <a:spcAft>
                <a:spcPts val="0"/>
              </a:spcAft>
              <a:buNone/>
            </a:pPr>
            <a:r>
              <a:rPr lang="it" sz="1000">
                <a:solidFill>
                  <a:schemeClr val="dk1"/>
                </a:solidFill>
                <a:latin typeface="Lexend"/>
                <a:ea typeface="Lexend"/>
                <a:cs typeface="Lexend"/>
                <a:sym typeface="Lexend"/>
              </a:rPr>
              <a:t>Costo più elevato per l’installatore</a:t>
            </a:r>
            <a:endParaRPr sz="1000">
              <a:latin typeface="Lexend"/>
              <a:ea typeface="Lexend"/>
              <a:cs typeface="Lexend"/>
              <a:sym typeface="Lexend"/>
            </a:endParaRPr>
          </a:p>
        </p:txBody>
      </p:sp>
      <p:pic>
        <p:nvPicPr>
          <p:cNvPr id="693" name="Google Shape;693;p59"/>
          <p:cNvPicPr preferRelativeResize="0"/>
          <p:nvPr/>
        </p:nvPicPr>
        <p:blipFill rotWithShape="1">
          <a:blip r:embed="rId3">
            <a:alphaModFix/>
          </a:blip>
          <a:srcRect b="0" l="17205" r="0" t="0"/>
          <a:stretch/>
        </p:blipFill>
        <p:spPr>
          <a:xfrm>
            <a:off x="3423274" y="1681725"/>
            <a:ext cx="5152676" cy="2747175"/>
          </a:xfrm>
          <a:prstGeom prst="rect">
            <a:avLst/>
          </a:prstGeom>
          <a:noFill/>
          <a:ln>
            <a:noFill/>
          </a:ln>
        </p:spPr>
      </p:pic>
      <p:sp>
        <p:nvSpPr>
          <p:cNvPr id="694" name="Google Shape;694;p5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5" name="Google Shape;695;p59"/>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nell’</a:t>
            </a:r>
            <a:r>
              <a:rPr b="1" lang="it" sz="2000">
                <a:latin typeface="Lexend"/>
                <a:ea typeface="Lexend"/>
                <a:cs typeface="Lexend"/>
                <a:sym typeface="Lexend"/>
              </a:rPr>
              <a:t>installazione</a:t>
            </a:r>
            <a:endParaRPr b="1" sz="2000">
              <a:latin typeface="Lexend"/>
              <a:ea typeface="Lexend"/>
              <a:cs typeface="Lexend"/>
              <a:sym typeface="Lexend"/>
            </a:endParaRPr>
          </a:p>
        </p:txBody>
      </p:sp>
      <p:sp>
        <p:nvSpPr>
          <p:cNvPr id="696" name="Google Shape;696;p59"/>
          <p:cNvSpPr txBox="1"/>
          <p:nvPr/>
        </p:nvSpPr>
        <p:spPr>
          <a:xfrm>
            <a:off x="3072000" y="108505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pic>
        <p:nvPicPr>
          <p:cNvPr id="697" name="Google Shape;697;p59"/>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698" name="Google Shape;698;p5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699" name="Google Shape;699;p5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46</a:t>
            </a:r>
            <a:endParaRPr sz="700">
              <a:latin typeface="Lexend"/>
              <a:ea typeface="Lexend"/>
              <a:cs typeface="Lexend"/>
              <a:sym typeface="Lexen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60"/>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nell’</a:t>
            </a:r>
            <a:r>
              <a:rPr b="1" lang="it" sz="2000">
                <a:latin typeface="Lexend"/>
                <a:ea typeface="Lexend"/>
                <a:cs typeface="Lexend"/>
                <a:sym typeface="Lexend"/>
              </a:rPr>
              <a:t>installazione</a:t>
            </a:r>
            <a:endParaRPr b="1" sz="2000">
              <a:latin typeface="Lexend"/>
              <a:ea typeface="Lexend"/>
              <a:cs typeface="Lexend"/>
              <a:sym typeface="Lexend"/>
            </a:endParaRPr>
          </a:p>
        </p:txBody>
      </p:sp>
      <p:sp>
        <p:nvSpPr>
          <p:cNvPr id="705" name="Google Shape;705;p60"/>
          <p:cNvSpPr txBox="1"/>
          <p:nvPr>
            <p:ph idx="1" type="body"/>
          </p:nvPr>
        </p:nvSpPr>
        <p:spPr>
          <a:xfrm>
            <a:off x="370250" y="3523050"/>
            <a:ext cx="4106100" cy="134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300">
                <a:solidFill>
                  <a:schemeClr val="dk1"/>
                </a:solidFill>
                <a:latin typeface="Lexend"/>
                <a:ea typeface="Lexend"/>
                <a:cs typeface="Lexend"/>
                <a:sym typeface="Lexend"/>
              </a:rPr>
              <a:t>Metodo Classico</a:t>
            </a:r>
            <a:r>
              <a:rPr lang="it" sz="1300">
                <a:solidFill>
                  <a:schemeClr val="dk1"/>
                </a:solidFill>
                <a:latin typeface="Lexend"/>
                <a:ea typeface="Lexend"/>
                <a:cs typeface="Lexend"/>
                <a:sym typeface="Lexend"/>
              </a:rPr>
              <a:t>: profili di posa in Alluminio</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38761D"/>
                </a:solidFill>
                <a:latin typeface="Lexend"/>
                <a:ea typeface="Lexend"/>
                <a:cs typeface="Lexend"/>
                <a:sym typeface="Lexend"/>
              </a:rPr>
              <a:t>Vantaggi</a:t>
            </a:r>
            <a:r>
              <a:rPr lang="it" sz="1000">
                <a:solidFill>
                  <a:schemeClr val="dk1"/>
                </a:solidFill>
                <a:latin typeface="Lexend"/>
                <a:ea typeface="Lexend"/>
                <a:cs typeface="Lexend"/>
                <a:sym typeface="Lexend"/>
              </a:rPr>
              <a:t>: </a:t>
            </a:r>
            <a:r>
              <a:rPr lang="it" sz="1000">
                <a:solidFill>
                  <a:schemeClr val="dk1"/>
                </a:solidFill>
                <a:latin typeface="Lexend"/>
                <a:ea typeface="Lexend"/>
                <a:cs typeface="Lexend"/>
                <a:sym typeface="Lexend"/>
              </a:rPr>
              <a:t>costo più basso per l’installatore.</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CC0000"/>
                </a:solidFill>
                <a:latin typeface="Lexend"/>
                <a:ea typeface="Lexend"/>
                <a:cs typeface="Lexend"/>
                <a:sym typeface="Lexend"/>
              </a:rPr>
              <a:t>Svantaggi</a:t>
            </a:r>
            <a:r>
              <a:rPr lang="it" sz="1000">
                <a:solidFill>
                  <a:schemeClr val="dk1"/>
                </a:solidFill>
                <a:latin typeface="Lexend"/>
                <a:ea typeface="Lexend"/>
                <a:cs typeface="Lexend"/>
                <a:sym typeface="Lexend"/>
              </a:rPr>
              <a:t>: flette, si usura con esposizione costante ad intemperie.</a:t>
            </a:r>
            <a:endParaRPr sz="1000">
              <a:latin typeface="Lexend"/>
              <a:ea typeface="Lexend"/>
              <a:cs typeface="Lexend"/>
              <a:sym typeface="Lexend"/>
            </a:endParaRPr>
          </a:p>
        </p:txBody>
      </p:sp>
      <p:sp>
        <p:nvSpPr>
          <p:cNvPr id="706" name="Google Shape;706;p60"/>
          <p:cNvSpPr txBox="1"/>
          <p:nvPr/>
        </p:nvSpPr>
        <p:spPr>
          <a:xfrm>
            <a:off x="3072000" y="108505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Partiamo dal Tetto…</a:t>
            </a:r>
            <a:endParaRPr/>
          </a:p>
        </p:txBody>
      </p:sp>
      <p:sp>
        <p:nvSpPr>
          <p:cNvPr id="707" name="Google Shape;707;p60"/>
          <p:cNvSpPr txBox="1"/>
          <p:nvPr>
            <p:ph idx="1" type="body"/>
          </p:nvPr>
        </p:nvSpPr>
        <p:spPr>
          <a:xfrm>
            <a:off x="4667600" y="3512700"/>
            <a:ext cx="4106100" cy="134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it" sz="1300">
                <a:solidFill>
                  <a:schemeClr val="dk1"/>
                </a:solidFill>
                <a:latin typeface="Lexend"/>
                <a:ea typeface="Lexend"/>
                <a:cs typeface="Lexend"/>
                <a:sym typeface="Lexend"/>
              </a:rPr>
              <a:t>Metodo EKO:</a:t>
            </a:r>
            <a:r>
              <a:rPr lang="it" sz="1300">
                <a:solidFill>
                  <a:schemeClr val="dk1"/>
                </a:solidFill>
                <a:latin typeface="Lexend"/>
                <a:ea typeface="Lexend"/>
                <a:cs typeface="Lexend"/>
                <a:sym typeface="Lexend"/>
              </a:rPr>
              <a:t> profili di posa in Manganesio</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38761D"/>
                </a:solidFill>
                <a:latin typeface="Lexend"/>
                <a:ea typeface="Lexend"/>
                <a:cs typeface="Lexend"/>
                <a:sym typeface="Lexend"/>
              </a:rPr>
              <a:t>Vantaggi</a:t>
            </a:r>
            <a:r>
              <a:rPr lang="it" sz="1000">
                <a:solidFill>
                  <a:schemeClr val="dk1"/>
                </a:solidFill>
                <a:latin typeface="Lexend"/>
                <a:ea typeface="Lexend"/>
                <a:cs typeface="Lexend"/>
                <a:sym typeface="Lexend"/>
              </a:rPr>
              <a:t>: NON Flette, NON si usura, Garanzia a VITA del materiale e sue performance.</a:t>
            </a:r>
            <a:endParaRPr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CC0000"/>
                </a:solidFill>
                <a:latin typeface="Lexend"/>
                <a:ea typeface="Lexend"/>
                <a:cs typeface="Lexend"/>
                <a:sym typeface="Lexend"/>
              </a:rPr>
              <a:t>Svantaggi</a:t>
            </a:r>
            <a:r>
              <a:rPr lang="it" sz="1000">
                <a:solidFill>
                  <a:schemeClr val="dk1"/>
                </a:solidFill>
                <a:latin typeface="Lexend"/>
                <a:ea typeface="Lexend"/>
                <a:cs typeface="Lexend"/>
                <a:sym typeface="Lexend"/>
              </a:rPr>
              <a:t>: costo più alto per l’installatore.</a:t>
            </a:r>
            <a:endParaRPr sz="1000">
              <a:latin typeface="Lexend"/>
              <a:ea typeface="Lexend"/>
              <a:cs typeface="Lexend"/>
              <a:sym typeface="Lexend"/>
            </a:endParaRPr>
          </a:p>
        </p:txBody>
      </p:sp>
      <p:pic>
        <p:nvPicPr>
          <p:cNvPr id="708" name="Google Shape;708;p60"/>
          <p:cNvPicPr preferRelativeResize="0"/>
          <p:nvPr/>
        </p:nvPicPr>
        <p:blipFill rotWithShape="1">
          <a:blip r:embed="rId3">
            <a:alphaModFix/>
          </a:blip>
          <a:srcRect b="0" l="0" r="0" t="0"/>
          <a:stretch/>
        </p:blipFill>
        <p:spPr>
          <a:xfrm>
            <a:off x="4667588" y="1587025"/>
            <a:ext cx="4106173" cy="1812486"/>
          </a:xfrm>
          <a:prstGeom prst="rect">
            <a:avLst/>
          </a:prstGeom>
          <a:noFill/>
          <a:ln>
            <a:noFill/>
          </a:ln>
        </p:spPr>
      </p:pic>
      <p:pic>
        <p:nvPicPr>
          <p:cNvPr id="709" name="Google Shape;709;p60"/>
          <p:cNvPicPr preferRelativeResize="0"/>
          <p:nvPr/>
        </p:nvPicPr>
        <p:blipFill rotWithShape="1">
          <a:blip r:embed="rId4">
            <a:alphaModFix/>
          </a:blip>
          <a:srcRect b="0" l="0" r="0" t="0"/>
          <a:stretch/>
        </p:blipFill>
        <p:spPr>
          <a:xfrm>
            <a:off x="370238" y="1595300"/>
            <a:ext cx="4106173" cy="1812500"/>
          </a:xfrm>
          <a:prstGeom prst="rect">
            <a:avLst/>
          </a:prstGeom>
          <a:noFill/>
          <a:ln>
            <a:noFill/>
          </a:ln>
        </p:spPr>
      </p:pic>
      <p:sp>
        <p:nvSpPr>
          <p:cNvPr id="710" name="Google Shape;710;p6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11" name="Google Shape;711;p60"/>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712" name="Google Shape;712;p6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713" name="Google Shape;713;p6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47</a:t>
            </a:r>
            <a:endParaRPr sz="700">
              <a:latin typeface="Lexend"/>
              <a:ea typeface="Lexend"/>
              <a:cs typeface="Lexend"/>
              <a:sym typeface="Lexen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p61"/>
          <p:cNvSpPr txBox="1"/>
          <p:nvPr>
            <p:ph idx="1" type="body"/>
          </p:nvPr>
        </p:nvSpPr>
        <p:spPr>
          <a:xfrm>
            <a:off x="1183625" y="3527175"/>
            <a:ext cx="6806400" cy="120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it" sz="1300">
                <a:solidFill>
                  <a:schemeClr val="dk1"/>
                </a:solidFill>
                <a:latin typeface="Lexend"/>
                <a:ea typeface="Lexend"/>
                <a:cs typeface="Lexend"/>
                <a:sym typeface="Lexend"/>
              </a:rPr>
              <a:t>Metodo EKO: </a:t>
            </a:r>
            <a:r>
              <a:rPr lang="it" sz="1300">
                <a:solidFill>
                  <a:schemeClr val="dk1"/>
                </a:solidFill>
                <a:latin typeface="Lexend"/>
                <a:ea typeface="Lexend"/>
                <a:cs typeface="Lexend"/>
                <a:sym typeface="Lexend"/>
              </a:rPr>
              <a:t>Quadro di protezione Stringa</a:t>
            </a:r>
            <a:endParaRPr sz="13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38761D"/>
                </a:solidFill>
                <a:latin typeface="Lexend"/>
                <a:ea typeface="Lexend"/>
                <a:cs typeface="Lexend"/>
                <a:sym typeface="Lexend"/>
              </a:rPr>
              <a:t>Vantaggi</a:t>
            </a:r>
            <a:r>
              <a:rPr lang="it" sz="1000">
                <a:solidFill>
                  <a:schemeClr val="dk1"/>
                </a:solidFill>
                <a:latin typeface="Lexend"/>
                <a:ea typeface="Lexend"/>
                <a:cs typeface="Lexend"/>
                <a:sym typeface="Lexend"/>
              </a:rPr>
              <a:t>: Protegge l’inverter e in caso di necessità si cambia solo il fusibile. </a:t>
            </a:r>
            <a:r>
              <a:rPr b="1" lang="it" sz="1000">
                <a:solidFill>
                  <a:schemeClr val="dk1"/>
                </a:solidFill>
                <a:latin typeface="Lexend"/>
                <a:ea typeface="Lexend"/>
                <a:cs typeface="Lexend"/>
                <a:sym typeface="Lexend"/>
              </a:rPr>
              <a:t>Tempo di intervento e costo di manutenzione minimo.</a:t>
            </a:r>
            <a:endParaRPr b="1" sz="1000">
              <a:solidFill>
                <a:schemeClr val="dk1"/>
              </a:solidFill>
              <a:latin typeface="Lexend"/>
              <a:ea typeface="Lexend"/>
              <a:cs typeface="Lexend"/>
              <a:sym typeface="Lexend"/>
            </a:endParaRPr>
          </a:p>
          <a:p>
            <a:pPr indent="0" lvl="0" marL="0" rtl="0" algn="l">
              <a:spcBef>
                <a:spcPts val="0"/>
              </a:spcBef>
              <a:spcAft>
                <a:spcPts val="0"/>
              </a:spcAft>
              <a:buNone/>
            </a:pPr>
            <a:r>
              <a:t/>
            </a:r>
            <a:endParaRPr sz="1000">
              <a:solidFill>
                <a:schemeClr val="dk1"/>
              </a:solidFill>
              <a:latin typeface="Lexend"/>
              <a:ea typeface="Lexend"/>
              <a:cs typeface="Lexend"/>
              <a:sym typeface="Lexend"/>
            </a:endParaRPr>
          </a:p>
          <a:p>
            <a:pPr indent="0" lvl="0" marL="0" rtl="0" algn="l">
              <a:spcBef>
                <a:spcPts val="0"/>
              </a:spcBef>
              <a:spcAft>
                <a:spcPts val="0"/>
              </a:spcAft>
              <a:buNone/>
            </a:pPr>
            <a:r>
              <a:rPr b="1" lang="it" sz="1000">
                <a:solidFill>
                  <a:srgbClr val="CC0000"/>
                </a:solidFill>
                <a:latin typeface="Lexend"/>
                <a:ea typeface="Lexend"/>
                <a:cs typeface="Lexend"/>
                <a:sym typeface="Lexend"/>
              </a:rPr>
              <a:t>Svantaggi</a:t>
            </a:r>
            <a:r>
              <a:rPr lang="it" sz="1000">
                <a:solidFill>
                  <a:schemeClr val="dk1"/>
                </a:solidFill>
                <a:latin typeface="Lexend"/>
                <a:ea typeface="Lexend"/>
                <a:cs typeface="Lexend"/>
                <a:sym typeface="Lexend"/>
              </a:rPr>
              <a:t>: Richiede tempo di configurazione e installazione quadro dedicato</a:t>
            </a:r>
            <a:endParaRPr sz="1000">
              <a:latin typeface="Lexend"/>
              <a:ea typeface="Lexend"/>
              <a:cs typeface="Lexend"/>
              <a:sym typeface="Lexend"/>
            </a:endParaRPr>
          </a:p>
        </p:txBody>
      </p:sp>
      <p:pic>
        <p:nvPicPr>
          <p:cNvPr id="719" name="Google Shape;719;p61"/>
          <p:cNvPicPr preferRelativeResize="0"/>
          <p:nvPr/>
        </p:nvPicPr>
        <p:blipFill rotWithShape="1">
          <a:blip r:embed="rId3">
            <a:alphaModFix/>
          </a:blip>
          <a:srcRect b="0" l="0" r="0" t="0"/>
          <a:stretch/>
        </p:blipFill>
        <p:spPr>
          <a:xfrm>
            <a:off x="1153900" y="1599425"/>
            <a:ext cx="6836076" cy="1812500"/>
          </a:xfrm>
          <a:prstGeom prst="rect">
            <a:avLst/>
          </a:prstGeom>
          <a:noFill/>
          <a:ln>
            <a:noFill/>
          </a:ln>
        </p:spPr>
      </p:pic>
      <p:sp>
        <p:nvSpPr>
          <p:cNvPr id="720" name="Google Shape;720;p6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21" name="Google Shape;721;p61"/>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nell’</a:t>
            </a:r>
            <a:r>
              <a:rPr b="1" lang="it" sz="2000">
                <a:latin typeface="Lexend"/>
                <a:ea typeface="Lexend"/>
                <a:cs typeface="Lexend"/>
                <a:sym typeface="Lexend"/>
              </a:rPr>
              <a:t>installazione</a:t>
            </a:r>
            <a:endParaRPr b="1" sz="2000">
              <a:latin typeface="Lexend"/>
              <a:ea typeface="Lexend"/>
              <a:cs typeface="Lexend"/>
              <a:sym typeface="Lexend"/>
            </a:endParaRPr>
          </a:p>
        </p:txBody>
      </p:sp>
      <p:sp>
        <p:nvSpPr>
          <p:cNvPr id="722" name="Google Shape;722;p61"/>
          <p:cNvSpPr txBox="1"/>
          <p:nvPr/>
        </p:nvSpPr>
        <p:spPr>
          <a:xfrm>
            <a:off x="3072000" y="1085050"/>
            <a:ext cx="30000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1300">
                <a:solidFill>
                  <a:schemeClr val="dk1"/>
                </a:solidFill>
                <a:latin typeface="Lexend"/>
                <a:ea typeface="Lexend"/>
                <a:cs typeface="Lexend"/>
                <a:sym typeface="Lexend"/>
              </a:rPr>
              <a:t>… e arriviamo in casa.</a:t>
            </a:r>
            <a:endParaRPr/>
          </a:p>
        </p:txBody>
      </p:sp>
      <p:pic>
        <p:nvPicPr>
          <p:cNvPr id="723" name="Google Shape;723;p61"/>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724" name="Google Shape;724;p6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725" name="Google Shape;725;p6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L’Installazione</a:t>
            </a:r>
            <a:r>
              <a:rPr lang="it" sz="700">
                <a:latin typeface="Lexend"/>
                <a:ea typeface="Lexend"/>
                <a:cs typeface="Lexend"/>
                <a:sym typeface="Lexend"/>
              </a:rPr>
              <a:t> | 48</a:t>
            </a:r>
            <a:endParaRPr sz="700">
              <a:latin typeface="Lexend"/>
              <a:ea typeface="Lexend"/>
              <a:cs typeface="Lexend"/>
              <a:sym typeface="Lexen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9" name="Shape 729"/>
        <p:cNvGrpSpPr/>
        <p:nvPr/>
      </p:nvGrpSpPr>
      <p:grpSpPr>
        <a:xfrm>
          <a:off x="0" y="0"/>
          <a:ext cx="0" cy="0"/>
          <a:chOff x="0" y="0"/>
          <a:chExt cx="0" cy="0"/>
        </a:xfrm>
      </p:grpSpPr>
      <p:grpSp>
        <p:nvGrpSpPr>
          <p:cNvPr id="730" name="Google Shape;730;p62"/>
          <p:cNvGrpSpPr/>
          <p:nvPr/>
        </p:nvGrpSpPr>
        <p:grpSpPr>
          <a:xfrm>
            <a:off x="5532553" y="1739727"/>
            <a:ext cx="2509627" cy="2859054"/>
            <a:chOff x="4942025" y="1812775"/>
            <a:chExt cx="3513900" cy="2859054"/>
          </a:xfrm>
        </p:grpSpPr>
        <p:sp>
          <p:nvSpPr>
            <p:cNvPr id="731" name="Google Shape;731;p62"/>
            <p:cNvSpPr/>
            <p:nvPr/>
          </p:nvSpPr>
          <p:spPr>
            <a:xfrm>
              <a:off x="4942025" y="1812775"/>
              <a:ext cx="3513900" cy="878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2" name="Google Shape;732;p62"/>
            <p:cNvSpPr/>
            <p:nvPr/>
          </p:nvSpPr>
          <p:spPr>
            <a:xfrm>
              <a:off x="4942025" y="2803105"/>
              <a:ext cx="3513900" cy="878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3" name="Google Shape;733;p62"/>
            <p:cNvSpPr/>
            <p:nvPr/>
          </p:nvSpPr>
          <p:spPr>
            <a:xfrm>
              <a:off x="4942025" y="3793429"/>
              <a:ext cx="3513900" cy="8784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4" name="Google Shape;734;p62"/>
            <p:cNvSpPr/>
            <p:nvPr/>
          </p:nvSpPr>
          <p:spPr>
            <a:xfrm>
              <a:off x="4942025" y="3644824"/>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5" name="Google Shape;735;p62"/>
            <p:cNvSpPr/>
            <p:nvPr/>
          </p:nvSpPr>
          <p:spPr>
            <a:xfrm>
              <a:off x="4942025" y="2643811"/>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736" name="Google Shape;736;p6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37" name="Google Shape;737;p62"/>
          <p:cNvSpPr txBox="1"/>
          <p:nvPr>
            <p:ph type="title"/>
          </p:nvPr>
        </p:nvSpPr>
        <p:spPr>
          <a:xfrm>
            <a:off x="311700" y="71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Dove EKO si differenzia: anche nei </a:t>
            </a:r>
            <a:r>
              <a:rPr b="1" lang="it" sz="2000">
                <a:latin typeface="Lexend"/>
                <a:ea typeface="Lexend"/>
                <a:cs typeface="Lexend"/>
                <a:sym typeface="Lexend"/>
              </a:rPr>
              <a:t>servizi</a:t>
            </a:r>
            <a:endParaRPr b="1" sz="2000">
              <a:latin typeface="Lexend"/>
              <a:ea typeface="Lexend"/>
              <a:cs typeface="Lexend"/>
              <a:sym typeface="Lexend"/>
            </a:endParaRPr>
          </a:p>
        </p:txBody>
      </p:sp>
      <p:sp>
        <p:nvSpPr>
          <p:cNvPr id="738" name="Google Shape;738;p62"/>
          <p:cNvSpPr txBox="1"/>
          <p:nvPr>
            <p:ph type="title"/>
          </p:nvPr>
        </p:nvSpPr>
        <p:spPr>
          <a:xfrm>
            <a:off x="4646688" y="1320700"/>
            <a:ext cx="4266300" cy="4629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900">
                <a:latin typeface="Lexend"/>
                <a:ea typeface="Lexend"/>
                <a:cs typeface="Lexend"/>
                <a:sym typeface="Lexend"/>
              </a:rPr>
              <a:t>Pacchetti Assistenza Aggiuntivi</a:t>
            </a:r>
            <a:endParaRPr b="1" sz="900">
              <a:latin typeface="Lexend"/>
              <a:ea typeface="Lexend"/>
              <a:cs typeface="Lexend"/>
              <a:sym typeface="Lexend"/>
            </a:endParaRPr>
          </a:p>
        </p:txBody>
      </p:sp>
      <p:sp>
        <p:nvSpPr>
          <p:cNvPr id="739" name="Google Shape;739;p62"/>
          <p:cNvSpPr txBox="1"/>
          <p:nvPr>
            <p:ph type="title"/>
          </p:nvPr>
        </p:nvSpPr>
        <p:spPr>
          <a:xfrm>
            <a:off x="688213" y="1320700"/>
            <a:ext cx="4266300" cy="462900"/>
          </a:xfrm>
          <a:prstGeom prst="rect">
            <a:avLst/>
          </a:prstGeom>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lang="it" sz="900">
                <a:latin typeface="Lexend"/>
                <a:ea typeface="Lexend"/>
                <a:cs typeface="Lexend"/>
                <a:sym typeface="Lexend"/>
              </a:rPr>
              <a:t>Assistenza all’acquisto</a:t>
            </a:r>
            <a:endParaRPr b="1" sz="900">
              <a:latin typeface="Lexend"/>
              <a:ea typeface="Lexend"/>
              <a:cs typeface="Lexend"/>
              <a:sym typeface="Lexend"/>
            </a:endParaRPr>
          </a:p>
        </p:txBody>
      </p:sp>
      <p:sp>
        <p:nvSpPr>
          <p:cNvPr id="740" name="Google Shape;740;p62"/>
          <p:cNvSpPr txBox="1"/>
          <p:nvPr>
            <p:ph type="title"/>
          </p:nvPr>
        </p:nvSpPr>
        <p:spPr>
          <a:xfrm>
            <a:off x="6313363" y="1739725"/>
            <a:ext cx="1728600" cy="8337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0"/>
              </a:spcBef>
              <a:spcAft>
                <a:spcPts val="0"/>
              </a:spcAft>
              <a:buNone/>
            </a:pPr>
            <a:r>
              <a:rPr lang="it" sz="789">
                <a:latin typeface="Lexend"/>
                <a:ea typeface="Lexend"/>
                <a:cs typeface="Lexend"/>
                <a:sym typeface="Lexend"/>
              </a:rPr>
              <a:t>Manutenzione</a:t>
            </a:r>
            <a:endParaRPr sz="789">
              <a:latin typeface="Lexend"/>
              <a:ea typeface="Lexend"/>
              <a:cs typeface="Lexend"/>
              <a:sym typeface="Lexend"/>
            </a:endParaRPr>
          </a:p>
          <a:p>
            <a:pPr indent="0" lvl="0" marL="0" rtl="0" algn="l">
              <a:lnSpc>
                <a:spcPct val="115000"/>
              </a:lnSpc>
              <a:spcBef>
                <a:spcPts val="0"/>
              </a:spcBef>
              <a:spcAft>
                <a:spcPts val="0"/>
              </a:spcAft>
              <a:buNone/>
            </a:pPr>
            <a:r>
              <a:rPr b="1" lang="it" sz="1456">
                <a:latin typeface="Lexend"/>
                <a:ea typeface="Lexend"/>
                <a:cs typeface="Lexend"/>
                <a:sym typeface="Lexend"/>
              </a:rPr>
              <a:t>SILVER</a:t>
            </a:r>
            <a:endParaRPr b="1" sz="1456">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1350,00€ + iva</a:t>
            </a:r>
            <a:endParaRPr sz="1122">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450,00€/Anno x 3 anni</a:t>
            </a:r>
            <a:endParaRPr sz="1122">
              <a:latin typeface="Lexend"/>
              <a:ea typeface="Lexend"/>
              <a:cs typeface="Lexend"/>
              <a:sym typeface="Lexend"/>
            </a:endParaRPr>
          </a:p>
        </p:txBody>
      </p:sp>
      <p:sp>
        <p:nvSpPr>
          <p:cNvPr id="741" name="Google Shape;741;p62"/>
          <p:cNvSpPr txBox="1"/>
          <p:nvPr>
            <p:ph type="title"/>
          </p:nvPr>
        </p:nvSpPr>
        <p:spPr>
          <a:xfrm>
            <a:off x="6313363" y="2717350"/>
            <a:ext cx="1728600" cy="8604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0"/>
              </a:spcBef>
              <a:spcAft>
                <a:spcPts val="0"/>
              </a:spcAft>
              <a:buNone/>
            </a:pPr>
            <a:r>
              <a:rPr lang="it" sz="789">
                <a:latin typeface="Lexend"/>
                <a:ea typeface="Lexend"/>
                <a:cs typeface="Lexend"/>
                <a:sym typeface="Lexend"/>
              </a:rPr>
              <a:t>Manutenzione</a:t>
            </a:r>
            <a:endParaRPr sz="789">
              <a:latin typeface="Lexend"/>
              <a:ea typeface="Lexend"/>
              <a:cs typeface="Lexend"/>
              <a:sym typeface="Lexend"/>
            </a:endParaRPr>
          </a:p>
          <a:p>
            <a:pPr indent="0" lvl="0" marL="0" rtl="0" algn="l">
              <a:lnSpc>
                <a:spcPct val="115000"/>
              </a:lnSpc>
              <a:spcBef>
                <a:spcPts val="0"/>
              </a:spcBef>
              <a:spcAft>
                <a:spcPts val="0"/>
              </a:spcAft>
              <a:buNone/>
            </a:pPr>
            <a:r>
              <a:rPr b="1" lang="it" sz="1456">
                <a:latin typeface="Lexend"/>
                <a:ea typeface="Lexend"/>
                <a:cs typeface="Lexend"/>
                <a:sym typeface="Lexend"/>
              </a:rPr>
              <a:t>GOLD</a:t>
            </a:r>
            <a:endParaRPr b="1" sz="1456">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1650</a:t>
            </a:r>
            <a:r>
              <a:rPr lang="it" sz="1122">
                <a:latin typeface="Lexend"/>
                <a:ea typeface="Lexend"/>
                <a:cs typeface="Lexend"/>
                <a:sym typeface="Lexend"/>
              </a:rPr>
              <a:t>,00€ + iva</a:t>
            </a:r>
            <a:endParaRPr sz="1122">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550,00€/Anno x 3 anni</a:t>
            </a:r>
            <a:endParaRPr sz="1122">
              <a:latin typeface="Lexend"/>
              <a:ea typeface="Lexend"/>
              <a:cs typeface="Lexend"/>
              <a:sym typeface="Lexend"/>
            </a:endParaRPr>
          </a:p>
        </p:txBody>
      </p:sp>
      <p:sp>
        <p:nvSpPr>
          <p:cNvPr id="742" name="Google Shape;742;p62"/>
          <p:cNvSpPr txBox="1"/>
          <p:nvPr>
            <p:ph type="title"/>
          </p:nvPr>
        </p:nvSpPr>
        <p:spPr>
          <a:xfrm>
            <a:off x="6313363" y="3716700"/>
            <a:ext cx="1728600" cy="833700"/>
          </a:xfrm>
          <a:prstGeom prst="rect">
            <a:avLst/>
          </a:prstGeom>
        </p:spPr>
        <p:txBody>
          <a:bodyPr anchorCtr="0" anchor="ctr" bIns="91425" lIns="91425" spcFirstLastPara="1" rIns="91425" wrap="square" tIns="91425">
            <a:normAutofit fontScale="90000"/>
          </a:bodyPr>
          <a:lstStyle/>
          <a:p>
            <a:pPr indent="0" lvl="0" marL="0" rtl="0" algn="l">
              <a:lnSpc>
                <a:spcPct val="115000"/>
              </a:lnSpc>
              <a:spcBef>
                <a:spcPts val="0"/>
              </a:spcBef>
              <a:spcAft>
                <a:spcPts val="0"/>
              </a:spcAft>
              <a:buNone/>
            </a:pPr>
            <a:r>
              <a:rPr lang="it" sz="789">
                <a:latin typeface="Lexend"/>
                <a:ea typeface="Lexend"/>
                <a:cs typeface="Lexend"/>
                <a:sym typeface="Lexend"/>
              </a:rPr>
              <a:t>Manutenzione</a:t>
            </a:r>
            <a:endParaRPr sz="789">
              <a:latin typeface="Lexend"/>
              <a:ea typeface="Lexend"/>
              <a:cs typeface="Lexend"/>
              <a:sym typeface="Lexend"/>
            </a:endParaRPr>
          </a:p>
          <a:p>
            <a:pPr indent="0" lvl="0" marL="0" rtl="0" algn="l">
              <a:lnSpc>
                <a:spcPct val="115000"/>
              </a:lnSpc>
              <a:spcBef>
                <a:spcPts val="0"/>
              </a:spcBef>
              <a:spcAft>
                <a:spcPts val="0"/>
              </a:spcAft>
              <a:buNone/>
            </a:pPr>
            <a:r>
              <a:rPr b="1" lang="it" sz="1456">
                <a:latin typeface="Lexend"/>
                <a:ea typeface="Lexend"/>
                <a:cs typeface="Lexend"/>
                <a:sym typeface="Lexend"/>
              </a:rPr>
              <a:t>PLATINUM</a:t>
            </a:r>
            <a:endParaRPr b="1" sz="1456">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2400</a:t>
            </a:r>
            <a:r>
              <a:rPr lang="it" sz="1122">
                <a:latin typeface="Lexend"/>
                <a:ea typeface="Lexend"/>
                <a:cs typeface="Lexend"/>
                <a:sym typeface="Lexend"/>
              </a:rPr>
              <a:t>,00€ + iva</a:t>
            </a:r>
            <a:endParaRPr sz="1122">
              <a:latin typeface="Lexend"/>
              <a:ea typeface="Lexend"/>
              <a:cs typeface="Lexend"/>
              <a:sym typeface="Lexend"/>
            </a:endParaRPr>
          </a:p>
          <a:p>
            <a:pPr indent="0" lvl="0" marL="0" rtl="0" algn="l">
              <a:lnSpc>
                <a:spcPct val="115000"/>
              </a:lnSpc>
              <a:spcBef>
                <a:spcPts val="0"/>
              </a:spcBef>
              <a:spcAft>
                <a:spcPts val="0"/>
              </a:spcAft>
              <a:buNone/>
            </a:pPr>
            <a:r>
              <a:rPr lang="it" sz="1122">
                <a:latin typeface="Lexend"/>
                <a:ea typeface="Lexend"/>
                <a:cs typeface="Lexend"/>
                <a:sym typeface="Lexend"/>
              </a:rPr>
              <a:t>800,00€/Anno x 3 anni</a:t>
            </a:r>
            <a:endParaRPr sz="1122">
              <a:latin typeface="Lexend"/>
              <a:ea typeface="Lexend"/>
              <a:cs typeface="Lexend"/>
              <a:sym typeface="Lexend"/>
            </a:endParaRPr>
          </a:p>
        </p:txBody>
      </p:sp>
      <p:pic>
        <p:nvPicPr>
          <p:cNvPr id="743" name="Google Shape;743;p6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744" name="Google Shape;744;p6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745" name="Google Shape;745;p6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Servizi</a:t>
            </a:r>
            <a:r>
              <a:rPr lang="it" sz="700">
                <a:latin typeface="Lexend"/>
                <a:ea typeface="Lexend"/>
                <a:cs typeface="Lexend"/>
                <a:sym typeface="Lexend"/>
              </a:rPr>
              <a:t> | 49</a:t>
            </a:r>
            <a:endParaRPr sz="700">
              <a:latin typeface="Lexend"/>
              <a:ea typeface="Lexend"/>
              <a:cs typeface="Lexend"/>
              <a:sym typeface="Lexend"/>
            </a:endParaRPr>
          </a:p>
        </p:txBody>
      </p:sp>
      <p:sp>
        <p:nvSpPr>
          <p:cNvPr id="746" name="Google Shape;746;p62"/>
          <p:cNvSpPr/>
          <p:nvPr/>
        </p:nvSpPr>
        <p:spPr>
          <a:xfrm>
            <a:off x="1064413" y="1756313"/>
            <a:ext cx="3513900" cy="46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47" name="Google Shape;747;p62"/>
          <p:cNvSpPr txBox="1"/>
          <p:nvPr>
            <p:ph type="title"/>
          </p:nvPr>
        </p:nvSpPr>
        <p:spPr>
          <a:xfrm>
            <a:off x="1658713" y="1756313"/>
            <a:ext cx="2919600" cy="4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300">
                <a:latin typeface="Lexend"/>
                <a:ea typeface="Lexend"/>
                <a:cs typeface="Lexend"/>
                <a:sym typeface="Lexend"/>
              </a:rPr>
              <a:t>Assistenza Inclusa</a:t>
            </a:r>
            <a:endParaRPr b="1" sz="1300">
              <a:latin typeface="Lexend"/>
              <a:ea typeface="Lexend"/>
              <a:cs typeface="Lexend"/>
              <a:sym typeface="Lexend"/>
            </a:endParaRPr>
          </a:p>
        </p:txBody>
      </p:sp>
      <p:sp>
        <p:nvSpPr>
          <p:cNvPr id="748" name="Google Shape;748;p62"/>
          <p:cNvSpPr/>
          <p:nvPr/>
        </p:nvSpPr>
        <p:spPr>
          <a:xfrm>
            <a:off x="1064413" y="2219213"/>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49" name="Google Shape;749;p62"/>
          <p:cNvPicPr preferRelativeResize="0"/>
          <p:nvPr/>
        </p:nvPicPr>
        <p:blipFill>
          <a:blip r:embed="rId4">
            <a:alphaModFix/>
          </a:blip>
          <a:stretch>
            <a:fillRect/>
          </a:stretch>
        </p:blipFill>
        <p:spPr>
          <a:xfrm>
            <a:off x="1237535" y="1854175"/>
            <a:ext cx="281431" cy="281400"/>
          </a:xfrm>
          <a:prstGeom prst="rect">
            <a:avLst/>
          </a:prstGeom>
          <a:noFill/>
          <a:ln>
            <a:noFill/>
          </a:ln>
        </p:spPr>
      </p:pic>
      <p:sp>
        <p:nvSpPr>
          <p:cNvPr id="750" name="Google Shape;750;p62"/>
          <p:cNvSpPr/>
          <p:nvPr/>
        </p:nvSpPr>
        <p:spPr>
          <a:xfrm>
            <a:off x="1064413" y="2370888"/>
            <a:ext cx="3513900" cy="46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62"/>
          <p:cNvSpPr txBox="1"/>
          <p:nvPr>
            <p:ph type="title"/>
          </p:nvPr>
        </p:nvSpPr>
        <p:spPr>
          <a:xfrm>
            <a:off x="1658713" y="2370888"/>
            <a:ext cx="2919600" cy="4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300">
                <a:latin typeface="Lexend"/>
                <a:ea typeface="Lexend"/>
                <a:cs typeface="Lexend"/>
                <a:sym typeface="Lexend"/>
              </a:rPr>
              <a:t>Numero Verde Dedicato</a:t>
            </a:r>
            <a:endParaRPr b="1" sz="1300">
              <a:latin typeface="Lexend"/>
              <a:ea typeface="Lexend"/>
              <a:cs typeface="Lexend"/>
              <a:sym typeface="Lexend"/>
            </a:endParaRPr>
          </a:p>
        </p:txBody>
      </p:sp>
      <p:sp>
        <p:nvSpPr>
          <p:cNvPr id="752" name="Google Shape;752;p62"/>
          <p:cNvSpPr/>
          <p:nvPr/>
        </p:nvSpPr>
        <p:spPr>
          <a:xfrm>
            <a:off x="1064413" y="2833788"/>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3" name="Google Shape;753;p62"/>
          <p:cNvSpPr/>
          <p:nvPr/>
        </p:nvSpPr>
        <p:spPr>
          <a:xfrm>
            <a:off x="1064413" y="2980661"/>
            <a:ext cx="3513900" cy="462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4" name="Google Shape;754;p62"/>
          <p:cNvSpPr txBox="1"/>
          <p:nvPr>
            <p:ph type="title"/>
          </p:nvPr>
        </p:nvSpPr>
        <p:spPr>
          <a:xfrm>
            <a:off x="1658713" y="2980661"/>
            <a:ext cx="2919600" cy="462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300">
                <a:latin typeface="Lexend"/>
                <a:ea typeface="Lexend"/>
                <a:cs typeface="Lexend"/>
                <a:sym typeface="Lexend"/>
              </a:rPr>
              <a:t>Pronto Intervento in 72h</a:t>
            </a:r>
            <a:endParaRPr b="1" sz="1300">
              <a:latin typeface="Lexend"/>
              <a:ea typeface="Lexend"/>
              <a:cs typeface="Lexend"/>
              <a:sym typeface="Lexend"/>
            </a:endParaRPr>
          </a:p>
        </p:txBody>
      </p:sp>
      <p:sp>
        <p:nvSpPr>
          <p:cNvPr id="755" name="Google Shape;755;p62"/>
          <p:cNvSpPr/>
          <p:nvPr/>
        </p:nvSpPr>
        <p:spPr>
          <a:xfrm>
            <a:off x="1064413" y="3443561"/>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56" name="Google Shape;756;p62"/>
          <p:cNvPicPr preferRelativeResize="0"/>
          <p:nvPr/>
        </p:nvPicPr>
        <p:blipFill>
          <a:blip r:embed="rId5">
            <a:alphaModFix/>
          </a:blip>
          <a:stretch>
            <a:fillRect/>
          </a:stretch>
        </p:blipFill>
        <p:spPr>
          <a:xfrm>
            <a:off x="1237538" y="3075198"/>
            <a:ext cx="281425" cy="281425"/>
          </a:xfrm>
          <a:prstGeom prst="rect">
            <a:avLst/>
          </a:prstGeom>
          <a:noFill/>
          <a:ln>
            <a:noFill/>
          </a:ln>
        </p:spPr>
      </p:pic>
      <p:pic>
        <p:nvPicPr>
          <p:cNvPr id="757" name="Google Shape;757;p62"/>
          <p:cNvPicPr preferRelativeResize="0"/>
          <p:nvPr/>
        </p:nvPicPr>
        <p:blipFill>
          <a:blip r:embed="rId6">
            <a:alphaModFix/>
          </a:blip>
          <a:stretch>
            <a:fillRect/>
          </a:stretch>
        </p:blipFill>
        <p:spPr>
          <a:xfrm>
            <a:off x="1260836" y="2482527"/>
            <a:ext cx="234834" cy="234812"/>
          </a:xfrm>
          <a:prstGeom prst="rect">
            <a:avLst/>
          </a:prstGeom>
          <a:noFill/>
          <a:ln>
            <a:noFill/>
          </a:ln>
        </p:spPr>
      </p:pic>
      <p:sp>
        <p:nvSpPr>
          <p:cNvPr id="758" name="Google Shape;758;p62"/>
          <p:cNvSpPr/>
          <p:nvPr/>
        </p:nvSpPr>
        <p:spPr>
          <a:xfrm>
            <a:off x="1064413" y="3577914"/>
            <a:ext cx="3513900" cy="9858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9" name="Google Shape;759;p62"/>
          <p:cNvSpPr txBox="1"/>
          <p:nvPr>
            <p:ph type="title"/>
          </p:nvPr>
        </p:nvSpPr>
        <p:spPr>
          <a:xfrm>
            <a:off x="1658713" y="3577839"/>
            <a:ext cx="2919600" cy="985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300">
                <a:latin typeface="Lexend"/>
                <a:ea typeface="Lexend"/>
                <a:cs typeface="Lexend"/>
                <a:sym typeface="Lexend"/>
              </a:rPr>
              <a:t>Garanzie Prodotto</a:t>
            </a:r>
            <a:endParaRPr sz="1300">
              <a:latin typeface="Lexend"/>
              <a:ea typeface="Lexend"/>
              <a:cs typeface="Lexend"/>
              <a:sym typeface="Lexend"/>
            </a:endParaRPr>
          </a:p>
          <a:p>
            <a:pPr indent="0" lvl="0" marL="0" rtl="0" algn="l">
              <a:lnSpc>
                <a:spcPct val="115000"/>
              </a:lnSpc>
              <a:spcBef>
                <a:spcPts val="0"/>
              </a:spcBef>
              <a:spcAft>
                <a:spcPts val="0"/>
              </a:spcAft>
              <a:buNone/>
            </a:pPr>
            <a:r>
              <a:rPr lang="it" sz="1100">
                <a:latin typeface="Lexend"/>
                <a:ea typeface="Lexend"/>
                <a:cs typeface="Lexend"/>
                <a:sym typeface="Lexend"/>
              </a:rPr>
              <a:t>25 anni sul Fotovoltaico</a:t>
            </a:r>
            <a:endParaRPr sz="1100">
              <a:latin typeface="Lexend"/>
              <a:ea typeface="Lexend"/>
              <a:cs typeface="Lexend"/>
              <a:sym typeface="Lexend"/>
            </a:endParaRPr>
          </a:p>
          <a:p>
            <a:pPr indent="0" lvl="0" marL="0" rtl="0" algn="l">
              <a:lnSpc>
                <a:spcPct val="115000"/>
              </a:lnSpc>
              <a:spcBef>
                <a:spcPts val="0"/>
              </a:spcBef>
              <a:spcAft>
                <a:spcPts val="0"/>
              </a:spcAft>
              <a:buNone/>
            </a:pPr>
            <a:r>
              <a:rPr lang="it" sz="1100">
                <a:latin typeface="Lexend"/>
                <a:ea typeface="Lexend"/>
                <a:cs typeface="Lexend"/>
                <a:sym typeface="Lexend"/>
              </a:rPr>
              <a:t>10 anni su Inverter e Accumulo</a:t>
            </a:r>
            <a:endParaRPr sz="1100">
              <a:latin typeface="Lexend"/>
              <a:ea typeface="Lexend"/>
              <a:cs typeface="Lexend"/>
              <a:sym typeface="Lexend"/>
            </a:endParaRPr>
          </a:p>
        </p:txBody>
      </p:sp>
      <p:sp>
        <p:nvSpPr>
          <p:cNvPr id="760" name="Google Shape;760;p62"/>
          <p:cNvSpPr/>
          <p:nvPr/>
        </p:nvSpPr>
        <p:spPr>
          <a:xfrm>
            <a:off x="1064413" y="4563636"/>
            <a:ext cx="35139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61" name="Google Shape;761;p62"/>
          <p:cNvPicPr preferRelativeResize="0"/>
          <p:nvPr/>
        </p:nvPicPr>
        <p:blipFill>
          <a:blip r:embed="rId7">
            <a:alphaModFix/>
          </a:blip>
          <a:stretch>
            <a:fillRect/>
          </a:stretch>
        </p:blipFill>
        <p:spPr>
          <a:xfrm>
            <a:off x="1237538" y="3904836"/>
            <a:ext cx="281425" cy="281425"/>
          </a:xfrm>
          <a:prstGeom prst="rect">
            <a:avLst/>
          </a:prstGeom>
          <a:noFill/>
          <a:ln>
            <a:noFill/>
          </a:ln>
        </p:spPr>
      </p:pic>
      <p:sp>
        <p:nvSpPr>
          <p:cNvPr id="762" name="Google Shape;762;p62"/>
          <p:cNvSpPr/>
          <p:nvPr/>
        </p:nvSpPr>
        <p:spPr>
          <a:xfrm>
            <a:off x="5532263" y="4550394"/>
            <a:ext cx="25095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63" name="Google Shape;763;p62"/>
          <p:cNvPicPr preferRelativeResize="0"/>
          <p:nvPr/>
        </p:nvPicPr>
        <p:blipFill>
          <a:blip r:embed="rId8">
            <a:alphaModFix/>
          </a:blip>
          <a:stretch>
            <a:fillRect/>
          </a:stretch>
        </p:blipFill>
        <p:spPr>
          <a:xfrm>
            <a:off x="5009852" y="2494500"/>
            <a:ext cx="1498011" cy="1369349"/>
          </a:xfrm>
          <a:prstGeom prst="rect">
            <a:avLst/>
          </a:prstGeom>
          <a:noFill/>
          <a:ln>
            <a:noFill/>
          </a:ln>
        </p:spPr>
      </p:pic>
      <p:pic>
        <p:nvPicPr>
          <p:cNvPr id="764" name="Google Shape;764;p62"/>
          <p:cNvPicPr preferRelativeResize="0"/>
          <p:nvPr/>
        </p:nvPicPr>
        <p:blipFill>
          <a:blip r:embed="rId9">
            <a:alphaModFix/>
          </a:blip>
          <a:stretch>
            <a:fillRect/>
          </a:stretch>
        </p:blipFill>
        <p:spPr>
          <a:xfrm>
            <a:off x="5014623" y="1509555"/>
            <a:ext cx="1498001" cy="1369349"/>
          </a:xfrm>
          <a:prstGeom prst="rect">
            <a:avLst/>
          </a:prstGeom>
          <a:noFill/>
          <a:ln>
            <a:noFill/>
          </a:ln>
        </p:spPr>
      </p:pic>
      <p:pic>
        <p:nvPicPr>
          <p:cNvPr id="765" name="Google Shape;765;p62"/>
          <p:cNvPicPr preferRelativeResize="0"/>
          <p:nvPr/>
        </p:nvPicPr>
        <p:blipFill rotWithShape="1">
          <a:blip r:embed="rId10">
            <a:alphaModFix/>
          </a:blip>
          <a:srcRect b="0" l="0" r="0" t="0"/>
          <a:stretch/>
        </p:blipFill>
        <p:spPr>
          <a:xfrm>
            <a:off x="5009852" y="3485397"/>
            <a:ext cx="1498011" cy="1369349"/>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p6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1" name="Google Shape;771;p63"/>
          <p:cNvSpPr txBox="1"/>
          <p:nvPr>
            <p:ph type="title"/>
          </p:nvPr>
        </p:nvSpPr>
        <p:spPr>
          <a:xfrm>
            <a:off x="311700" y="10891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000">
                <a:latin typeface="Lexend"/>
                <a:ea typeface="Lexend"/>
                <a:cs typeface="Lexend"/>
                <a:sym typeface="Lexend"/>
              </a:rPr>
              <a:t>Tempistiche</a:t>
            </a:r>
            <a:r>
              <a:rPr lang="it" sz="2000">
                <a:latin typeface="Lexend"/>
                <a:ea typeface="Lexend"/>
                <a:cs typeface="Lexend"/>
                <a:sym typeface="Lexend"/>
              </a:rPr>
              <a:t> di Installazione fotovoltaico</a:t>
            </a:r>
            <a:endParaRPr b="1" sz="2000">
              <a:latin typeface="Lexend"/>
              <a:ea typeface="Lexend"/>
              <a:cs typeface="Lexend"/>
              <a:sym typeface="Lexend"/>
            </a:endParaRPr>
          </a:p>
        </p:txBody>
      </p:sp>
      <p:pic>
        <p:nvPicPr>
          <p:cNvPr id="772" name="Google Shape;772;p6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773" name="Google Shape;773;p6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774" name="Google Shape;774;p6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Tempistiche di Installazione</a:t>
            </a:r>
            <a:r>
              <a:rPr lang="it" sz="700">
                <a:latin typeface="Lexend"/>
                <a:ea typeface="Lexend"/>
                <a:cs typeface="Lexend"/>
                <a:sym typeface="Lexend"/>
              </a:rPr>
              <a:t> | 50</a:t>
            </a:r>
            <a:endParaRPr sz="700">
              <a:latin typeface="Lexend"/>
              <a:ea typeface="Lexend"/>
              <a:cs typeface="Lexend"/>
              <a:sym typeface="Lexend"/>
            </a:endParaRPr>
          </a:p>
        </p:txBody>
      </p:sp>
      <p:sp>
        <p:nvSpPr>
          <p:cNvPr id="775" name="Google Shape;775;p63"/>
          <p:cNvSpPr/>
          <p:nvPr/>
        </p:nvSpPr>
        <p:spPr>
          <a:xfrm>
            <a:off x="1751850" y="1860175"/>
            <a:ext cx="5640300" cy="990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76" name="Google Shape;776;p63"/>
          <p:cNvSpPr txBox="1"/>
          <p:nvPr>
            <p:ph type="title"/>
          </p:nvPr>
        </p:nvSpPr>
        <p:spPr>
          <a:xfrm>
            <a:off x="2346150" y="1860175"/>
            <a:ext cx="5046000" cy="990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2000">
                <a:latin typeface="Lexend"/>
                <a:ea typeface="Lexend"/>
                <a:cs typeface="Lexend"/>
                <a:sym typeface="Lexend"/>
              </a:rPr>
              <a:t>2 Giorni</a:t>
            </a:r>
            <a:endParaRPr sz="2000">
              <a:latin typeface="Lexend"/>
              <a:ea typeface="Lexend"/>
              <a:cs typeface="Lexend"/>
              <a:sym typeface="Lexend"/>
            </a:endParaRPr>
          </a:p>
          <a:p>
            <a:pPr indent="0" lvl="0" marL="0" rtl="0" algn="l">
              <a:lnSpc>
                <a:spcPct val="115000"/>
              </a:lnSpc>
              <a:spcBef>
                <a:spcPts val="0"/>
              </a:spcBef>
              <a:spcAft>
                <a:spcPts val="0"/>
              </a:spcAft>
              <a:buNone/>
            </a:pPr>
            <a:r>
              <a:rPr b="1" lang="it" sz="1400">
                <a:latin typeface="Lexend"/>
                <a:ea typeface="Lexend"/>
                <a:cs typeface="Lexend"/>
                <a:sym typeface="Lexend"/>
              </a:rPr>
              <a:t>Installazione del fotovoltaico.</a:t>
            </a:r>
            <a:endParaRPr b="1" sz="1400">
              <a:latin typeface="Lexend"/>
              <a:ea typeface="Lexend"/>
              <a:cs typeface="Lexend"/>
              <a:sym typeface="Lexend"/>
            </a:endParaRPr>
          </a:p>
        </p:txBody>
      </p:sp>
      <p:sp>
        <p:nvSpPr>
          <p:cNvPr id="777" name="Google Shape;777;p63"/>
          <p:cNvSpPr/>
          <p:nvPr/>
        </p:nvSpPr>
        <p:spPr>
          <a:xfrm>
            <a:off x="1751850" y="2841325"/>
            <a:ext cx="56403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78" name="Google Shape;778;p63"/>
          <p:cNvPicPr preferRelativeResize="0"/>
          <p:nvPr/>
        </p:nvPicPr>
        <p:blipFill>
          <a:blip r:embed="rId4">
            <a:alphaModFix/>
          </a:blip>
          <a:stretch>
            <a:fillRect/>
          </a:stretch>
        </p:blipFill>
        <p:spPr>
          <a:xfrm>
            <a:off x="1917473" y="2201313"/>
            <a:ext cx="308625" cy="308625"/>
          </a:xfrm>
          <a:prstGeom prst="rect">
            <a:avLst/>
          </a:prstGeom>
          <a:noFill/>
          <a:ln>
            <a:noFill/>
          </a:ln>
        </p:spPr>
      </p:pic>
      <p:sp>
        <p:nvSpPr>
          <p:cNvPr id="779" name="Google Shape;779;p63"/>
          <p:cNvSpPr/>
          <p:nvPr/>
        </p:nvSpPr>
        <p:spPr>
          <a:xfrm>
            <a:off x="1751850" y="3053450"/>
            <a:ext cx="5640300" cy="9909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80" name="Google Shape;780;p63"/>
          <p:cNvSpPr txBox="1"/>
          <p:nvPr>
            <p:ph type="title"/>
          </p:nvPr>
        </p:nvSpPr>
        <p:spPr>
          <a:xfrm>
            <a:off x="2346150" y="3053450"/>
            <a:ext cx="5046000" cy="990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2000">
                <a:latin typeface="Lexend"/>
                <a:ea typeface="Lexend"/>
                <a:cs typeface="Lexend"/>
                <a:sym typeface="Lexend"/>
              </a:rPr>
              <a:t>in 30</a:t>
            </a:r>
            <a:r>
              <a:rPr lang="it" sz="2000">
                <a:latin typeface="Lexend"/>
                <a:ea typeface="Lexend"/>
                <a:cs typeface="Lexend"/>
                <a:sym typeface="Lexend"/>
              </a:rPr>
              <a:t> Giorni</a:t>
            </a:r>
            <a:endParaRPr sz="2000">
              <a:latin typeface="Lexend"/>
              <a:ea typeface="Lexend"/>
              <a:cs typeface="Lexend"/>
              <a:sym typeface="Lexend"/>
            </a:endParaRPr>
          </a:p>
          <a:p>
            <a:pPr indent="0" lvl="0" marL="0" rtl="0" algn="l">
              <a:lnSpc>
                <a:spcPct val="115000"/>
              </a:lnSpc>
              <a:spcBef>
                <a:spcPts val="0"/>
              </a:spcBef>
              <a:spcAft>
                <a:spcPts val="0"/>
              </a:spcAft>
              <a:buNone/>
            </a:pPr>
            <a:r>
              <a:rPr b="1" lang="it" sz="1400">
                <a:latin typeface="Lexend"/>
                <a:ea typeface="Lexend"/>
                <a:cs typeface="Lexend"/>
                <a:sym typeface="Lexend"/>
              </a:rPr>
              <a:t>dalla firma del contratto è sul tuo tetto funzionante.</a:t>
            </a:r>
            <a:endParaRPr b="1" sz="1400">
              <a:latin typeface="Lexend"/>
              <a:ea typeface="Lexend"/>
              <a:cs typeface="Lexend"/>
              <a:sym typeface="Lexend"/>
            </a:endParaRPr>
          </a:p>
        </p:txBody>
      </p:sp>
      <p:sp>
        <p:nvSpPr>
          <p:cNvPr id="781" name="Google Shape;781;p63"/>
          <p:cNvSpPr/>
          <p:nvPr/>
        </p:nvSpPr>
        <p:spPr>
          <a:xfrm>
            <a:off x="1751850" y="4034600"/>
            <a:ext cx="5640300" cy="474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82" name="Google Shape;782;p63"/>
          <p:cNvPicPr preferRelativeResize="0"/>
          <p:nvPr/>
        </p:nvPicPr>
        <p:blipFill>
          <a:blip r:embed="rId5">
            <a:alphaModFix/>
          </a:blip>
          <a:stretch>
            <a:fillRect/>
          </a:stretch>
        </p:blipFill>
        <p:spPr>
          <a:xfrm>
            <a:off x="1905400" y="3382499"/>
            <a:ext cx="332800" cy="3328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pic>
        <p:nvPicPr>
          <p:cNvPr id="787" name="Google Shape;787;p64"/>
          <p:cNvPicPr preferRelativeResize="0"/>
          <p:nvPr/>
        </p:nvPicPr>
        <p:blipFill>
          <a:blip r:embed="rId3">
            <a:alphaModFix/>
          </a:blip>
          <a:stretch>
            <a:fillRect/>
          </a:stretch>
        </p:blipFill>
        <p:spPr>
          <a:xfrm>
            <a:off x="0" y="0"/>
            <a:ext cx="9144003" cy="5143501"/>
          </a:xfrm>
          <a:prstGeom prst="rect">
            <a:avLst/>
          </a:prstGeom>
          <a:noFill/>
          <a:ln>
            <a:noFill/>
          </a:ln>
        </p:spPr>
      </p:pic>
      <p:sp>
        <p:nvSpPr>
          <p:cNvPr id="788" name="Google Shape;788;p64"/>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Area Commerciale</a:t>
            </a:r>
            <a:endParaRPr sz="7000">
              <a:solidFill>
                <a:schemeClr val="lt1"/>
              </a:solidFill>
              <a:latin typeface="Lexend"/>
              <a:ea typeface="Lexend"/>
              <a:cs typeface="Lexend"/>
              <a:sym typeface="Lexend"/>
            </a:endParaRPr>
          </a:p>
        </p:txBody>
      </p:sp>
      <p:sp>
        <p:nvSpPr>
          <p:cNvPr id="789" name="Google Shape;789;p64"/>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il fotovoltaico per la casa</a:t>
            </a:r>
            <a:endParaRPr sz="2000">
              <a:solidFill>
                <a:schemeClr val="lt1"/>
              </a:solidFill>
              <a:latin typeface="Lexend"/>
              <a:ea typeface="Lexend"/>
              <a:cs typeface="Lexend"/>
              <a:sym typeface="Lexend"/>
            </a:endParaRPr>
          </a:p>
        </p:txBody>
      </p:sp>
      <p:sp>
        <p:nvSpPr>
          <p:cNvPr id="790" name="Google Shape;790;p6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1" name="Google Shape;791;p64"/>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792" name="Google Shape;792;p64"/>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6" name="Shape 796"/>
        <p:cNvGrpSpPr/>
        <p:nvPr/>
      </p:nvGrpSpPr>
      <p:grpSpPr>
        <a:xfrm>
          <a:off x="0" y="0"/>
          <a:ext cx="0" cy="0"/>
          <a:chOff x="0" y="0"/>
          <a:chExt cx="0" cy="0"/>
        </a:xfrm>
      </p:grpSpPr>
      <p:sp>
        <p:nvSpPr>
          <p:cNvPr id="797" name="Google Shape;797;p6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8" name="Google Shape;798;p65"/>
          <p:cNvSpPr txBox="1"/>
          <p:nvPr>
            <p:ph type="title"/>
          </p:nvPr>
        </p:nvSpPr>
        <p:spPr>
          <a:xfrm>
            <a:off x="311700" y="10112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Come </a:t>
            </a:r>
            <a:r>
              <a:rPr b="1" lang="it" sz="2000">
                <a:latin typeface="Lexend"/>
                <a:ea typeface="Lexend"/>
                <a:cs typeface="Lexend"/>
                <a:sym typeface="Lexend"/>
              </a:rPr>
              <a:t>dimensionare correttamente un’impianto</a:t>
            </a:r>
            <a:endParaRPr b="1" sz="2000">
              <a:latin typeface="Lexend"/>
              <a:ea typeface="Lexend"/>
              <a:cs typeface="Lexend"/>
              <a:sym typeface="Lexend"/>
            </a:endParaRPr>
          </a:p>
        </p:txBody>
      </p:sp>
      <p:sp>
        <p:nvSpPr>
          <p:cNvPr id="799" name="Google Shape;799;p65"/>
          <p:cNvSpPr txBox="1"/>
          <p:nvPr/>
        </p:nvSpPr>
        <p:spPr>
          <a:xfrm>
            <a:off x="714300" y="1715750"/>
            <a:ext cx="7715400" cy="27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it">
                <a:solidFill>
                  <a:schemeClr val="dk1"/>
                </a:solidFill>
                <a:latin typeface="Lexend"/>
                <a:ea typeface="Lexend"/>
                <a:cs typeface="Lexend"/>
                <a:sym typeface="Lexend"/>
              </a:rPr>
              <a:t>Analisi bolletta per il dimensionamento dell'impianto fotovoltaico:</a:t>
            </a:r>
            <a:endParaRPr b="1">
              <a:solidFill>
                <a:schemeClr val="dk1"/>
              </a:solidFill>
              <a:latin typeface="Lexend"/>
              <a:ea typeface="Lexend"/>
              <a:cs typeface="Lexend"/>
              <a:sym typeface="Lexend"/>
            </a:endParaRPr>
          </a:p>
          <a:p>
            <a:pPr indent="-317500" lvl="0" marL="457200" rtl="0" algn="l">
              <a:lnSpc>
                <a:spcPct val="115000"/>
              </a:lnSpc>
              <a:spcBef>
                <a:spcPts val="1200"/>
              </a:spcBef>
              <a:spcAft>
                <a:spcPts val="0"/>
              </a:spcAft>
              <a:buClr>
                <a:schemeClr val="dk1"/>
              </a:buClr>
              <a:buSzPts val="1400"/>
              <a:buAutoNum type="arabicPeriod"/>
            </a:pPr>
            <a:r>
              <a:rPr b="1" lang="it">
                <a:solidFill>
                  <a:srgbClr val="38761D"/>
                </a:solidFill>
                <a:highlight>
                  <a:srgbClr val="B6D7A8"/>
                </a:highlight>
                <a:latin typeface="Lexend"/>
                <a:ea typeface="Lexend"/>
                <a:cs typeface="Lexend"/>
                <a:sym typeface="Lexend"/>
              </a:rPr>
              <a:t>Prima pagina</a:t>
            </a:r>
            <a:r>
              <a:rPr lang="it">
                <a:solidFill>
                  <a:srgbClr val="38761D"/>
                </a:solidFill>
                <a:highlight>
                  <a:srgbClr val="B6D7A8"/>
                </a:highlight>
                <a:latin typeface="Lexend"/>
                <a:ea typeface="Lexend"/>
                <a:cs typeface="Lexend"/>
                <a:sym typeface="Lexend"/>
              </a:rPr>
              <a:t>: Totale € della bolletta</a:t>
            </a:r>
            <a:r>
              <a:rPr lang="it">
                <a:solidFill>
                  <a:schemeClr val="dk1"/>
                </a:solidFill>
                <a:latin typeface="Lexend"/>
                <a:ea typeface="Lexend"/>
                <a:cs typeface="Lexend"/>
                <a:sym typeface="Lexend"/>
              </a:rPr>
              <a:t>.</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dk1"/>
              </a:solidFill>
              <a:latin typeface="Lexend"/>
              <a:ea typeface="Lexend"/>
              <a:cs typeface="Lexend"/>
              <a:sym typeface="Lexend"/>
            </a:endParaRPr>
          </a:p>
          <a:p>
            <a:pPr indent="-317500" lvl="0" marL="457200" rtl="0" algn="l">
              <a:lnSpc>
                <a:spcPct val="115000"/>
              </a:lnSpc>
              <a:spcBef>
                <a:spcPts val="0"/>
              </a:spcBef>
              <a:spcAft>
                <a:spcPts val="0"/>
              </a:spcAft>
              <a:buClr>
                <a:schemeClr val="dk1"/>
              </a:buClr>
              <a:buSzPts val="1400"/>
              <a:buAutoNum type="arabicPeriod"/>
            </a:pPr>
            <a:r>
              <a:rPr b="1" lang="it">
                <a:solidFill>
                  <a:srgbClr val="38761D"/>
                </a:solidFill>
                <a:highlight>
                  <a:srgbClr val="B6D7A8"/>
                </a:highlight>
                <a:latin typeface="Lexend"/>
                <a:ea typeface="Lexend"/>
                <a:cs typeface="Lexend"/>
                <a:sym typeface="Lexend"/>
              </a:rPr>
              <a:t>Seconda/Terza pagina</a:t>
            </a:r>
            <a:r>
              <a:rPr lang="it">
                <a:solidFill>
                  <a:srgbClr val="38761D"/>
                </a:solidFill>
                <a:highlight>
                  <a:srgbClr val="B6D7A8"/>
                </a:highlight>
                <a:latin typeface="Lexend"/>
                <a:ea typeface="Lexend"/>
                <a:cs typeface="Lexend"/>
                <a:sym typeface="Lexend"/>
              </a:rPr>
              <a:t>: Totale dei kWh consumati durante l'anno</a:t>
            </a:r>
            <a:r>
              <a:rPr lang="it">
                <a:solidFill>
                  <a:schemeClr val="dk1"/>
                </a:solidFill>
                <a:latin typeface="Lexend"/>
                <a:ea typeface="Lexend"/>
                <a:cs typeface="Lexend"/>
                <a:sym typeface="Lexend"/>
              </a:rPr>
              <a:t>, per effettuare il dimensionamento dell'impianto fotovoltaico.</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dk1"/>
              </a:solidFill>
              <a:latin typeface="Lexend"/>
              <a:ea typeface="Lexend"/>
              <a:cs typeface="Lexend"/>
              <a:sym typeface="Lexend"/>
            </a:endParaRPr>
          </a:p>
          <a:p>
            <a:pPr indent="0" lvl="0" marL="457200" rtl="0" algn="l">
              <a:lnSpc>
                <a:spcPct val="115000"/>
              </a:lnSpc>
              <a:spcBef>
                <a:spcPts val="0"/>
              </a:spcBef>
              <a:spcAft>
                <a:spcPts val="0"/>
              </a:spcAft>
              <a:buNone/>
            </a:pPr>
            <a:r>
              <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a:solidFill>
                  <a:schemeClr val="dk1"/>
                </a:solidFill>
                <a:latin typeface="Lexend"/>
                <a:ea typeface="Lexend"/>
                <a:cs typeface="Lexend"/>
                <a:sym typeface="Lexend"/>
              </a:rPr>
              <a:t>Perché la bolletta è il punto di partenza?</a:t>
            </a:r>
            <a:r>
              <a:rPr lang="it">
                <a:solidFill>
                  <a:schemeClr val="dk1"/>
                </a:solidFill>
                <a:latin typeface="Lexend"/>
                <a:ea typeface="Lexend"/>
                <a:cs typeface="Lexend"/>
                <a:sym typeface="Lexend"/>
              </a:rPr>
              <a:t> </a:t>
            </a:r>
            <a:endParaRPr>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it">
                <a:solidFill>
                  <a:schemeClr val="dk1"/>
                </a:solidFill>
                <a:latin typeface="Lexend"/>
                <a:ea typeface="Lexend"/>
                <a:cs typeface="Lexend"/>
                <a:sym typeface="Lexend"/>
              </a:rPr>
              <a:t>La bolletta ci fornisce tutti i dati necessari sui consumi energetici attuali della famiglia, che sono fondamentali per il calcolo del dimensionamento del sistema fotovoltaico.</a:t>
            </a:r>
            <a:endParaRPr>
              <a:solidFill>
                <a:schemeClr val="dk1"/>
              </a:solidFill>
              <a:latin typeface="Lexend"/>
              <a:ea typeface="Lexend"/>
              <a:cs typeface="Lexend"/>
              <a:sym typeface="Lexend"/>
            </a:endParaRPr>
          </a:p>
        </p:txBody>
      </p:sp>
      <p:pic>
        <p:nvPicPr>
          <p:cNvPr id="800" name="Google Shape;800;p6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01" name="Google Shape;801;p6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802" name="Google Shape;802;p6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a:t>
            </a:r>
            <a:r>
              <a:rPr lang="it" sz="700">
                <a:latin typeface="Lexend"/>
                <a:ea typeface="Lexend"/>
                <a:cs typeface="Lexend"/>
                <a:sym typeface="Lexend"/>
              </a:rPr>
              <a:t>| 52</a:t>
            </a:r>
            <a:endParaRPr sz="700">
              <a:latin typeface="Lexend"/>
              <a:ea typeface="Lexend"/>
              <a:cs typeface="Lexend"/>
              <a:sym typeface="Lexen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6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08" name="Google Shape;808;p66"/>
          <p:cNvSpPr txBox="1"/>
          <p:nvPr>
            <p:ph type="title"/>
          </p:nvPr>
        </p:nvSpPr>
        <p:spPr>
          <a:xfrm>
            <a:off x="311700" y="10112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200">
                <a:latin typeface="Lexend"/>
                <a:ea typeface="Lexend"/>
                <a:cs typeface="Lexend"/>
                <a:sym typeface="Lexend"/>
              </a:rPr>
              <a:t>Capiamo le Fasce </a:t>
            </a:r>
            <a:r>
              <a:rPr b="1" lang="it" sz="2200">
                <a:latin typeface="Lexend"/>
                <a:ea typeface="Lexend"/>
                <a:cs typeface="Lexend"/>
                <a:sym typeface="Lexend"/>
              </a:rPr>
              <a:t>F1</a:t>
            </a:r>
            <a:r>
              <a:rPr lang="it" sz="2200">
                <a:latin typeface="Lexend"/>
                <a:ea typeface="Lexend"/>
                <a:cs typeface="Lexend"/>
                <a:sym typeface="Lexend"/>
              </a:rPr>
              <a:t>, </a:t>
            </a:r>
            <a:r>
              <a:rPr b="1" lang="it" sz="2200">
                <a:latin typeface="Lexend"/>
                <a:ea typeface="Lexend"/>
                <a:cs typeface="Lexend"/>
                <a:sym typeface="Lexend"/>
              </a:rPr>
              <a:t>F2</a:t>
            </a:r>
            <a:r>
              <a:rPr lang="it" sz="2200">
                <a:latin typeface="Lexend"/>
                <a:ea typeface="Lexend"/>
                <a:cs typeface="Lexend"/>
                <a:sym typeface="Lexend"/>
              </a:rPr>
              <a:t> e </a:t>
            </a:r>
            <a:r>
              <a:rPr b="1" lang="it" sz="2200">
                <a:latin typeface="Lexend"/>
                <a:ea typeface="Lexend"/>
                <a:cs typeface="Lexend"/>
                <a:sym typeface="Lexend"/>
              </a:rPr>
              <a:t>F3</a:t>
            </a:r>
            <a:endParaRPr b="1" sz="2200">
              <a:latin typeface="Lexend"/>
              <a:ea typeface="Lexend"/>
              <a:cs typeface="Lexend"/>
              <a:sym typeface="Lexend"/>
            </a:endParaRPr>
          </a:p>
        </p:txBody>
      </p:sp>
      <p:sp>
        <p:nvSpPr>
          <p:cNvPr id="809" name="Google Shape;809;p66"/>
          <p:cNvSpPr txBox="1"/>
          <p:nvPr/>
        </p:nvSpPr>
        <p:spPr>
          <a:xfrm>
            <a:off x="1277775" y="1685300"/>
            <a:ext cx="7070100" cy="284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it" sz="1600">
                <a:solidFill>
                  <a:srgbClr val="274E13"/>
                </a:solidFill>
                <a:highlight>
                  <a:srgbClr val="D9EAD3"/>
                </a:highlight>
                <a:latin typeface="Lexend"/>
                <a:ea typeface="Lexend"/>
                <a:cs typeface="Lexend"/>
                <a:sym typeface="Lexend"/>
              </a:rPr>
              <a:t>F1 (ore di punta)</a:t>
            </a:r>
            <a:r>
              <a:rPr b="1" lang="it">
                <a:solidFill>
                  <a:srgbClr val="274E13"/>
                </a:solidFill>
                <a:highlight>
                  <a:srgbClr val="D9EAD3"/>
                </a:highlight>
                <a:latin typeface="Lexend"/>
                <a:ea typeface="Lexend"/>
                <a:cs typeface="Lexend"/>
                <a:sym typeface="Lexend"/>
              </a:rPr>
              <a:t>:</a:t>
            </a:r>
            <a:r>
              <a:rPr lang="it">
                <a:solidFill>
                  <a:schemeClr val="dk1"/>
                </a:solidFill>
                <a:latin typeface="Lexend"/>
                <a:ea typeface="Lexend"/>
                <a:cs typeface="Lexend"/>
                <a:sym typeface="Lexend"/>
              </a:rPr>
              <a:t> </a:t>
            </a:r>
            <a:r>
              <a:rPr lang="it" sz="1300">
                <a:solidFill>
                  <a:schemeClr val="dk1"/>
                </a:solidFill>
                <a:latin typeface="Lexend"/>
                <a:ea typeface="Lexend"/>
                <a:cs typeface="Lexend"/>
                <a:sym typeface="Lexend"/>
              </a:rPr>
              <a:t>Dal lunedì al venerdì, dalle 8:00 alle 19:00. È il periodo di massimo consumo e ha costi energetici più elevati.</a:t>
            </a:r>
            <a:endParaRPr sz="1300">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sz="1600">
                <a:solidFill>
                  <a:srgbClr val="274E13"/>
                </a:solidFill>
                <a:highlight>
                  <a:srgbClr val="D9EAD3"/>
                </a:highlight>
                <a:latin typeface="Lexend"/>
                <a:ea typeface="Lexend"/>
                <a:cs typeface="Lexend"/>
                <a:sym typeface="Lexend"/>
              </a:rPr>
              <a:t>F2 (ore intermedie)</a:t>
            </a:r>
            <a:r>
              <a:rPr b="1" lang="it" sz="1600">
                <a:solidFill>
                  <a:schemeClr val="dk1"/>
                </a:solidFill>
                <a:latin typeface="Lexend"/>
                <a:ea typeface="Lexend"/>
                <a:cs typeface="Lexend"/>
                <a:sym typeface="Lexend"/>
              </a:rPr>
              <a:t>:</a:t>
            </a:r>
            <a:r>
              <a:rPr lang="it">
                <a:solidFill>
                  <a:schemeClr val="dk1"/>
                </a:solidFill>
                <a:latin typeface="Lexend"/>
                <a:ea typeface="Lexend"/>
                <a:cs typeface="Lexend"/>
                <a:sym typeface="Lexend"/>
              </a:rPr>
              <a:t> </a:t>
            </a:r>
            <a:r>
              <a:rPr lang="it" sz="1300">
                <a:solidFill>
                  <a:schemeClr val="dk1"/>
                </a:solidFill>
                <a:latin typeface="Lexend"/>
                <a:ea typeface="Lexend"/>
                <a:cs typeface="Lexend"/>
                <a:sym typeface="Lexend"/>
              </a:rPr>
              <a:t>Dal lunedì al venerdì, dalle 7:00 alle 8:00 e dalle 19:00 </a:t>
            </a:r>
            <a:endParaRPr sz="1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lang="it" sz="1300">
                <a:solidFill>
                  <a:schemeClr val="dk1"/>
                </a:solidFill>
                <a:latin typeface="Lexend"/>
                <a:ea typeface="Lexend"/>
                <a:cs typeface="Lexend"/>
                <a:sym typeface="Lexend"/>
              </a:rPr>
              <a:t>alle 23:00. Sabato dalle 7:00 alle 23:00. Costi medi.</a:t>
            </a:r>
            <a:endParaRPr sz="1300">
              <a:solidFill>
                <a:schemeClr val="dk1"/>
              </a:solidFill>
              <a:latin typeface="Lexend"/>
              <a:ea typeface="Lexend"/>
              <a:cs typeface="Lexend"/>
              <a:sym typeface="Lexend"/>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sz="1600">
                <a:solidFill>
                  <a:srgbClr val="274E13"/>
                </a:solidFill>
                <a:highlight>
                  <a:srgbClr val="D9EAD3"/>
                </a:highlight>
                <a:latin typeface="Lexend"/>
                <a:ea typeface="Lexend"/>
                <a:cs typeface="Lexend"/>
                <a:sym typeface="Lexend"/>
              </a:rPr>
              <a:t>F3 (ore fuori punta)</a:t>
            </a:r>
            <a:r>
              <a:rPr b="1" lang="it">
                <a:solidFill>
                  <a:schemeClr val="dk1"/>
                </a:solidFill>
                <a:latin typeface="Lexend"/>
                <a:ea typeface="Lexend"/>
                <a:cs typeface="Lexend"/>
                <a:sym typeface="Lexend"/>
              </a:rPr>
              <a:t>:</a:t>
            </a:r>
            <a:r>
              <a:rPr lang="it">
                <a:solidFill>
                  <a:schemeClr val="dk1"/>
                </a:solidFill>
                <a:latin typeface="Lexend"/>
                <a:ea typeface="Lexend"/>
                <a:cs typeface="Lexend"/>
                <a:sym typeface="Lexend"/>
              </a:rPr>
              <a:t> </a:t>
            </a:r>
            <a:r>
              <a:rPr lang="it" sz="1300">
                <a:solidFill>
                  <a:schemeClr val="dk1"/>
                </a:solidFill>
                <a:latin typeface="Lexend"/>
                <a:ea typeface="Lexend"/>
                <a:cs typeface="Lexend"/>
                <a:sym typeface="Lexend"/>
              </a:rPr>
              <a:t>Tutti i giorni dalle 23:00 alle 7:00, inclusi i festivi e le domeniche. Periodo con costi energetici più bassi.</a:t>
            </a:r>
            <a:endParaRPr sz="13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t/>
            </a:r>
            <a:endParaRPr sz="900">
              <a:solidFill>
                <a:schemeClr val="dk1"/>
              </a:solidFill>
              <a:latin typeface="Lexend"/>
              <a:ea typeface="Lexend"/>
              <a:cs typeface="Lexend"/>
              <a:sym typeface="Lexend"/>
            </a:endParaRPr>
          </a:p>
          <a:p>
            <a:pPr indent="0" lvl="0" marL="0" rtl="0" algn="l">
              <a:lnSpc>
                <a:spcPct val="115000"/>
              </a:lnSpc>
              <a:spcBef>
                <a:spcPts val="0"/>
              </a:spcBef>
              <a:spcAft>
                <a:spcPts val="0"/>
              </a:spcAft>
              <a:buNone/>
            </a:pPr>
            <a:r>
              <a:rPr b="1" lang="it">
                <a:solidFill>
                  <a:srgbClr val="274E13"/>
                </a:solidFill>
                <a:highlight>
                  <a:srgbClr val="D9EAD3"/>
                </a:highlight>
                <a:latin typeface="Lexend"/>
                <a:ea typeface="Lexend"/>
                <a:cs typeface="Lexend"/>
                <a:sym typeface="Lexend"/>
              </a:rPr>
              <a:t>Quando valutare l'accumulo:</a:t>
            </a:r>
            <a:r>
              <a:rPr b="1" lang="it">
                <a:solidFill>
                  <a:schemeClr val="dk1"/>
                </a:solidFill>
                <a:latin typeface="Lexend"/>
                <a:ea typeface="Lexend"/>
                <a:cs typeface="Lexend"/>
                <a:sym typeface="Lexend"/>
              </a:rPr>
              <a:t> </a:t>
            </a:r>
            <a:r>
              <a:rPr lang="it" sz="1200">
                <a:solidFill>
                  <a:schemeClr val="dk1"/>
                </a:solidFill>
                <a:latin typeface="Lexend"/>
                <a:ea typeface="Lexend"/>
                <a:cs typeface="Lexend"/>
                <a:sym typeface="Lexend"/>
              </a:rPr>
              <a:t>Se i consumi maggiori si verificano durante le </a:t>
            </a:r>
            <a:r>
              <a:rPr b="1" lang="it" sz="1200">
                <a:solidFill>
                  <a:schemeClr val="dk1"/>
                </a:solidFill>
                <a:latin typeface="Lexend"/>
                <a:ea typeface="Lexend"/>
                <a:cs typeface="Lexend"/>
                <a:sym typeface="Lexend"/>
              </a:rPr>
              <a:t>ore serali o notturne (F3)</a:t>
            </a:r>
            <a:r>
              <a:rPr lang="it" sz="1200">
                <a:solidFill>
                  <a:schemeClr val="dk1"/>
                </a:solidFill>
                <a:latin typeface="Lexend"/>
                <a:ea typeface="Lexend"/>
                <a:cs typeface="Lexend"/>
                <a:sym typeface="Lexend"/>
              </a:rPr>
              <a:t>, quando il sole non è disponibile, un accumulo potrebbe essere utile per sfruttare l'energia solare accumulata durante il giorno.</a:t>
            </a:r>
            <a:endParaRPr sz="1600">
              <a:solidFill>
                <a:schemeClr val="dk1"/>
              </a:solidFill>
              <a:latin typeface="Lexend"/>
              <a:ea typeface="Lexend"/>
              <a:cs typeface="Lexend"/>
              <a:sym typeface="Lexend"/>
            </a:endParaRPr>
          </a:p>
        </p:txBody>
      </p:sp>
      <p:pic>
        <p:nvPicPr>
          <p:cNvPr id="810" name="Google Shape;810;p6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11" name="Google Shape;811;p66"/>
          <p:cNvSpPr txBox="1"/>
          <p:nvPr>
            <p:ph idx="1" type="body"/>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53</a:t>
            </a:r>
            <a:endParaRPr sz="700">
              <a:latin typeface="Lexend"/>
              <a:ea typeface="Lexend"/>
              <a:cs typeface="Lexend"/>
              <a:sym typeface="Lexend"/>
            </a:endParaRPr>
          </a:p>
        </p:txBody>
      </p:sp>
      <p:sp>
        <p:nvSpPr>
          <p:cNvPr id="812" name="Google Shape;812;p6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pic>
        <p:nvPicPr>
          <p:cNvPr id="813" name="Google Shape;813;p66"/>
          <p:cNvPicPr preferRelativeResize="0"/>
          <p:nvPr/>
        </p:nvPicPr>
        <p:blipFill>
          <a:blip r:embed="rId4">
            <a:alphaModFix/>
          </a:blip>
          <a:stretch>
            <a:fillRect/>
          </a:stretch>
        </p:blipFill>
        <p:spPr>
          <a:xfrm>
            <a:off x="796125" y="1721850"/>
            <a:ext cx="399875" cy="399875"/>
          </a:xfrm>
          <a:prstGeom prst="rect">
            <a:avLst/>
          </a:prstGeom>
          <a:noFill/>
          <a:ln>
            <a:noFill/>
          </a:ln>
        </p:spPr>
      </p:pic>
      <p:pic>
        <p:nvPicPr>
          <p:cNvPr id="814" name="Google Shape;814;p66"/>
          <p:cNvPicPr preferRelativeResize="0"/>
          <p:nvPr/>
        </p:nvPicPr>
        <p:blipFill>
          <a:blip r:embed="rId4">
            <a:alphaModFix/>
          </a:blip>
          <a:stretch>
            <a:fillRect/>
          </a:stretch>
        </p:blipFill>
        <p:spPr>
          <a:xfrm>
            <a:off x="796125" y="2458375"/>
            <a:ext cx="399875" cy="399875"/>
          </a:xfrm>
          <a:prstGeom prst="rect">
            <a:avLst/>
          </a:prstGeom>
          <a:noFill/>
          <a:ln>
            <a:noFill/>
          </a:ln>
        </p:spPr>
      </p:pic>
      <p:pic>
        <p:nvPicPr>
          <p:cNvPr id="815" name="Google Shape;815;p66"/>
          <p:cNvPicPr preferRelativeResize="0"/>
          <p:nvPr/>
        </p:nvPicPr>
        <p:blipFill>
          <a:blip r:embed="rId4">
            <a:alphaModFix/>
          </a:blip>
          <a:stretch>
            <a:fillRect/>
          </a:stretch>
        </p:blipFill>
        <p:spPr>
          <a:xfrm>
            <a:off x="796125" y="3170550"/>
            <a:ext cx="399875" cy="399875"/>
          </a:xfrm>
          <a:prstGeom prst="rect">
            <a:avLst/>
          </a:prstGeom>
          <a:noFill/>
          <a:ln>
            <a:noFill/>
          </a:ln>
        </p:spPr>
      </p:pic>
      <p:pic>
        <p:nvPicPr>
          <p:cNvPr id="816" name="Google Shape;816;p66"/>
          <p:cNvPicPr preferRelativeResize="0"/>
          <p:nvPr/>
        </p:nvPicPr>
        <p:blipFill>
          <a:blip r:embed="rId5">
            <a:alphaModFix/>
          </a:blip>
          <a:stretch>
            <a:fillRect/>
          </a:stretch>
        </p:blipFill>
        <p:spPr>
          <a:xfrm>
            <a:off x="841775" y="3931425"/>
            <a:ext cx="308575" cy="3085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0" name="Shape 820"/>
        <p:cNvGrpSpPr/>
        <p:nvPr/>
      </p:nvGrpSpPr>
      <p:grpSpPr>
        <a:xfrm>
          <a:off x="0" y="0"/>
          <a:ext cx="0" cy="0"/>
          <a:chOff x="0" y="0"/>
          <a:chExt cx="0" cy="0"/>
        </a:xfrm>
      </p:grpSpPr>
      <p:sp>
        <p:nvSpPr>
          <p:cNvPr id="821" name="Google Shape;821;p6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22" name="Google Shape;822;p67"/>
          <p:cNvSpPr txBox="1"/>
          <p:nvPr>
            <p:ph type="title"/>
          </p:nvPr>
        </p:nvSpPr>
        <p:spPr>
          <a:xfrm>
            <a:off x="4990425" y="4399100"/>
            <a:ext cx="9417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000">
                <a:latin typeface="Lexend"/>
                <a:ea typeface="Lexend"/>
                <a:cs typeface="Lexend"/>
                <a:sym typeface="Lexend"/>
              </a:rPr>
              <a:t>pag.1</a:t>
            </a:r>
            <a:endParaRPr b="1" sz="1000">
              <a:latin typeface="Lexend"/>
              <a:ea typeface="Lexend"/>
              <a:cs typeface="Lexend"/>
              <a:sym typeface="Lexend"/>
            </a:endParaRPr>
          </a:p>
        </p:txBody>
      </p:sp>
      <p:pic>
        <p:nvPicPr>
          <p:cNvPr id="823" name="Google Shape;823;p6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24" name="Google Shape;824;p6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825" name="Google Shape;825;p6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a:t>
            </a:r>
            <a:r>
              <a:rPr lang="it" sz="700">
                <a:latin typeface="Lexend"/>
                <a:ea typeface="Lexend"/>
                <a:cs typeface="Lexend"/>
                <a:sym typeface="Lexend"/>
              </a:rPr>
              <a:t> | 54</a:t>
            </a:r>
            <a:endParaRPr sz="700">
              <a:latin typeface="Lexend"/>
              <a:ea typeface="Lexend"/>
              <a:cs typeface="Lexend"/>
              <a:sym typeface="Lexend"/>
            </a:endParaRPr>
          </a:p>
        </p:txBody>
      </p:sp>
      <p:grpSp>
        <p:nvGrpSpPr>
          <p:cNvPr id="826" name="Google Shape;826;p67"/>
          <p:cNvGrpSpPr/>
          <p:nvPr/>
        </p:nvGrpSpPr>
        <p:grpSpPr>
          <a:xfrm>
            <a:off x="4359876" y="1178127"/>
            <a:ext cx="4490221" cy="3220983"/>
            <a:chOff x="1532388" y="826250"/>
            <a:chExt cx="5184414" cy="3718950"/>
          </a:xfrm>
        </p:grpSpPr>
        <p:pic>
          <p:nvPicPr>
            <p:cNvPr id="827" name="Google Shape;827;p67"/>
            <p:cNvPicPr preferRelativeResize="0"/>
            <p:nvPr/>
          </p:nvPicPr>
          <p:blipFill>
            <a:blip r:embed="rId4">
              <a:alphaModFix/>
            </a:blip>
            <a:stretch>
              <a:fillRect/>
            </a:stretch>
          </p:blipFill>
          <p:spPr>
            <a:xfrm>
              <a:off x="1532388" y="826250"/>
              <a:ext cx="2629420" cy="3718948"/>
            </a:xfrm>
            <a:prstGeom prst="rect">
              <a:avLst/>
            </a:prstGeom>
            <a:noFill/>
            <a:ln>
              <a:noFill/>
            </a:ln>
          </p:spPr>
        </p:pic>
        <p:pic>
          <p:nvPicPr>
            <p:cNvPr id="828" name="Google Shape;828;p67"/>
            <p:cNvPicPr preferRelativeResize="0"/>
            <p:nvPr/>
          </p:nvPicPr>
          <p:blipFill>
            <a:blip r:embed="rId5">
              <a:alphaModFix/>
            </a:blip>
            <a:stretch>
              <a:fillRect/>
            </a:stretch>
          </p:blipFill>
          <p:spPr>
            <a:xfrm>
              <a:off x="4087400" y="826263"/>
              <a:ext cx="2629401" cy="3718938"/>
            </a:xfrm>
            <a:prstGeom prst="rect">
              <a:avLst/>
            </a:prstGeom>
            <a:noFill/>
            <a:ln>
              <a:noFill/>
            </a:ln>
          </p:spPr>
        </p:pic>
      </p:grpSp>
      <p:sp>
        <p:nvSpPr>
          <p:cNvPr id="829" name="Google Shape;829;p67"/>
          <p:cNvSpPr txBox="1"/>
          <p:nvPr>
            <p:ph type="title"/>
          </p:nvPr>
        </p:nvSpPr>
        <p:spPr>
          <a:xfrm>
            <a:off x="7302150" y="4399100"/>
            <a:ext cx="9417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000">
                <a:latin typeface="Lexend"/>
                <a:ea typeface="Lexend"/>
                <a:cs typeface="Lexend"/>
                <a:sym typeface="Lexend"/>
              </a:rPr>
              <a:t>pag.2</a:t>
            </a:r>
            <a:endParaRPr b="1" sz="1000">
              <a:latin typeface="Lexend"/>
              <a:ea typeface="Lexend"/>
              <a:cs typeface="Lexend"/>
              <a:sym typeface="Lexend"/>
            </a:endParaRPr>
          </a:p>
        </p:txBody>
      </p:sp>
      <p:pic>
        <p:nvPicPr>
          <p:cNvPr id="830" name="Google Shape;830;p67"/>
          <p:cNvPicPr preferRelativeResize="0"/>
          <p:nvPr/>
        </p:nvPicPr>
        <p:blipFill>
          <a:blip r:embed="rId6">
            <a:alphaModFix/>
          </a:blip>
          <a:stretch>
            <a:fillRect/>
          </a:stretch>
        </p:blipFill>
        <p:spPr>
          <a:xfrm>
            <a:off x="531650" y="2650354"/>
            <a:ext cx="3503800" cy="831091"/>
          </a:xfrm>
          <a:prstGeom prst="rect">
            <a:avLst/>
          </a:prstGeom>
          <a:noFill/>
          <a:ln>
            <a:noFill/>
          </a:ln>
        </p:spPr>
      </p:pic>
      <p:pic>
        <p:nvPicPr>
          <p:cNvPr id="831" name="Google Shape;831;p67"/>
          <p:cNvPicPr preferRelativeResize="0"/>
          <p:nvPr/>
        </p:nvPicPr>
        <p:blipFill rotWithShape="1">
          <a:blip r:embed="rId7">
            <a:alphaModFix/>
          </a:blip>
          <a:srcRect b="43567" l="0" r="0" t="0"/>
          <a:stretch/>
        </p:blipFill>
        <p:spPr>
          <a:xfrm>
            <a:off x="531650" y="1176162"/>
            <a:ext cx="3503800" cy="1197046"/>
          </a:xfrm>
          <a:prstGeom prst="rect">
            <a:avLst/>
          </a:prstGeom>
          <a:noFill/>
          <a:ln>
            <a:noFill/>
          </a:ln>
        </p:spPr>
      </p:pic>
      <p:sp>
        <p:nvSpPr>
          <p:cNvPr id="832" name="Google Shape;832;p67"/>
          <p:cNvSpPr/>
          <p:nvPr/>
        </p:nvSpPr>
        <p:spPr>
          <a:xfrm>
            <a:off x="4384225" y="3138675"/>
            <a:ext cx="511200" cy="308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3" name="Google Shape;833;p67"/>
          <p:cNvSpPr/>
          <p:nvPr/>
        </p:nvSpPr>
        <p:spPr>
          <a:xfrm>
            <a:off x="6573300" y="1894900"/>
            <a:ext cx="1156500" cy="4218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cxnSp>
        <p:nvCxnSpPr>
          <p:cNvPr id="834" name="Google Shape;834;p67"/>
          <p:cNvCxnSpPr>
            <a:stCxn id="835" idx="1"/>
            <a:endCxn id="831" idx="3"/>
          </p:cNvCxnSpPr>
          <p:nvPr/>
        </p:nvCxnSpPr>
        <p:spPr>
          <a:xfrm rot="10800000">
            <a:off x="4035575" y="1774770"/>
            <a:ext cx="429600" cy="612600"/>
          </a:xfrm>
          <a:prstGeom prst="straightConnector1">
            <a:avLst/>
          </a:prstGeom>
          <a:noFill/>
          <a:ln cap="flat" cmpd="sng" w="9525">
            <a:solidFill>
              <a:srgbClr val="FF0000"/>
            </a:solidFill>
            <a:prstDash val="solid"/>
            <a:round/>
            <a:headEnd len="med" w="med" type="none"/>
            <a:tailEnd len="med" w="med" type="none"/>
          </a:ln>
        </p:spPr>
      </p:cxnSp>
      <p:cxnSp>
        <p:nvCxnSpPr>
          <p:cNvPr id="836" name="Google Shape;836;p67"/>
          <p:cNvCxnSpPr>
            <a:stCxn id="830" idx="3"/>
            <a:endCxn id="832" idx="1"/>
          </p:cNvCxnSpPr>
          <p:nvPr/>
        </p:nvCxnSpPr>
        <p:spPr>
          <a:xfrm>
            <a:off x="4035450" y="3065900"/>
            <a:ext cx="423600" cy="117900"/>
          </a:xfrm>
          <a:prstGeom prst="straightConnector1">
            <a:avLst/>
          </a:prstGeom>
          <a:noFill/>
          <a:ln cap="flat" cmpd="sng" w="9525">
            <a:solidFill>
              <a:srgbClr val="FF0000"/>
            </a:solidFill>
            <a:prstDash val="solid"/>
            <a:round/>
            <a:headEnd len="med" w="med" type="none"/>
            <a:tailEnd len="med" w="med" type="none"/>
          </a:ln>
        </p:spPr>
      </p:cxnSp>
      <p:cxnSp>
        <p:nvCxnSpPr>
          <p:cNvPr id="837" name="Google Shape;837;p67"/>
          <p:cNvCxnSpPr>
            <a:stCxn id="838" idx="3"/>
            <a:endCxn id="833" idx="4"/>
          </p:cNvCxnSpPr>
          <p:nvPr/>
        </p:nvCxnSpPr>
        <p:spPr>
          <a:xfrm flipH="1" rot="10800000">
            <a:off x="4035450" y="2316639"/>
            <a:ext cx="3116100" cy="1688700"/>
          </a:xfrm>
          <a:prstGeom prst="straightConnector1">
            <a:avLst/>
          </a:prstGeom>
          <a:noFill/>
          <a:ln cap="flat" cmpd="sng" w="9525">
            <a:solidFill>
              <a:srgbClr val="FF0000"/>
            </a:solidFill>
            <a:prstDash val="solid"/>
            <a:round/>
            <a:headEnd len="med" w="med" type="none"/>
            <a:tailEnd len="med" w="med" type="none"/>
          </a:ln>
        </p:spPr>
      </p:cxnSp>
      <p:pic>
        <p:nvPicPr>
          <p:cNvPr id="838" name="Google Shape;838;p67"/>
          <p:cNvPicPr preferRelativeResize="0"/>
          <p:nvPr/>
        </p:nvPicPr>
        <p:blipFill>
          <a:blip r:embed="rId8">
            <a:alphaModFix/>
          </a:blip>
          <a:stretch>
            <a:fillRect/>
          </a:stretch>
        </p:blipFill>
        <p:spPr>
          <a:xfrm>
            <a:off x="531650" y="3680275"/>
            <a:ext cx="3503800" cy="650129"/>
          </a:xfrm>
          <a:prstGeom prst="rect">
            <a:avLst/>
          </a:prstGeom>
          <a:noFill/>
          <a:ln>
            <a:noFill/>
          </a:ln>
        </p:spPr>
      </p:pic>
      <p:sp>
        <p:nvSpPr>
          <p:cNvPr id="835" name="Google Shape;835;p67"/>
          <p:cNvSpPr/>
          <p:nvPr/>
        </p:nvSpPr>
        <p:spPr>
          <a:xfrm>
            <a:off x="4390312" y="2342250"/>
            <a:ext cx="511200" cy="3081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39" name="Google Shape;839;p67"/>
          <p:cNvSpPr txBox="1"/>
          <p:nvPr>
            <p:ph type="title"/>
          </p:nvPr>
        </p:nvSpPr>
        <p:spPr>
          <a:xfrm>
            <a:off x="57060" y="2809258"/>
            <a:ext cx="244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500">
                <a:highlight>
                  <a:srgbClr val="FFFFFF"/>
                </a:highlight>
                <a:latin typeface="Lexend"/>
                <a:ea typeface="Lexend"/>
                <a:cs typeface="Lexend"/>
                <a:sym typeface="Lexend"/>
              </a:rPr>
              <a:t>388 </a:t>
            </a:r>
            <a:r>
              <a:rPr lang="it" sz="1700">
                <a:highlight>
                  <a:srgbClr val="FFFFFF"/>
                </a:highlight>
                <a:latin typeface="Lexend"/>
                <a:ea typeface="Lexend"/>
                <a:cs typeface="Lexend"/>
                <a:sym typeface="Lexend"/>
              </a:rPr>
              <a:t>kWh</a:t>
            </a:r>
            <a:endParaRPr b="1" sz="1700">
              <a:highlight>
                <a:srgbClr val="FFFFFF"/>
              </a:highlight>
              <a:latin typeface="Lexend"/>
              <a:ea typeface="Lexend"/>
              <a:cs typeface="Lexend"/>
              <a:sym typeface="Lexend"/>
            </a:endParaRPr>
          </a:p>
        </p:txBody>
      </p:sp>
      <p:sp>
        <p:nvSpPr>
          <p:cNvPr id="840" name="Google Shape;840;p67"/>
          <p:cNvSpPr txBox="1"/>
          <p:nvPr>
            <p:ph type="title"/>
          </p:nvPr>
        </p:nvSpPr>
        <p:spPr>
          <a:xfrm>
            <a:off x="199975" y="3130028"/>
            <a:ext cx="244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1000">
                <a:highlight>
                  <a:srgbClr val="FFFFFF"/>
                </a:highlight>
                <a:latin typeface="Lexend"/>
                <a:ea typeface="Lexend"/>
                <a:cs typeface="Lexend"/>
                <a:sym typeface="Lexend"/>
              </a:rPr>
              <a:t>consumi rilevati mensili</a:t>
            </a:r>
            <a:endParaRPr b="1" sz="1000">
              <a:highlight>
                <a:srgbClr val="FFFFFF"/>
              </a:highlight>
              <a:latin typeface="Lexend"/>
              <a:ea typeface="Lexend"/>
              <a:cs typeface="Lexend"/>
              <a:sym typeface="Lexend"/>
            </a:endParaRPr>
          </a:p>
        </p:txBody>
      </p:sp>
      <p:sp>
        <p:nvSpPr>
          <p:cNvPr id="841" name="Google Shape;841;p67"/>
          <p:cNvSpPr txBox="1"/>
          <p:nvPr>
            <p:ph type="title"/>
          </p:nvPr>
        </p:nvSpPr>
        <p:spPr>
          <a:xfrm>
            <a:off x="4301439" y="3142199"/>
            <a:ext cx="70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rgbClr val="FFFFFF"/>
                </a:highlight>
                <a:latin typeface="Lexend"/>
                <a:ea typeface="Lexend"/>
                <a:cs typeface="Lexend"/>
                <a:sym typeface="Lexend"/>
              </a:rPr>
              <a:t>388</a:t>
            </a:r>
            <a:r>
              <a:rPr lang="it" sz="500">
                <a:highlight>
                  <a:srgbClr val="FFFFFF"/>
                </a:highlight>
                <a:latin typeface="Lexend"/>
                <a:ea typeface="Lexend"/>
                <a:cs typeface="Lexend"/>
                <a:sym typeface="Lexend"/>
              </a:rPr>
              <a:t>kWh</a:t>
            </a:r>
            <a:endParaRPr b="1" sz="500">
              <a:highlight>
                <a:srgbClr val="FFFFFF"/>
              </a:highlight>
              <a:latin typeface="Lexend"/>
              <a:ea typeface="Lexend"/>
              <a:cs typeface="Lexend"/>
              <a:sym typeface="Lexend"/>
            </a:endParaRPr>
          </a:p>
        </p:txBody>
      </p:sp>
      <p:sp>
        <p:nvSpPr>
          <p:cNvPr id="842" name="Google Shape;842;p67"/>
          <p:cNvSpPr txBox="1"/>
          <p:nvPr>
            <p:ph type="title"/>
          </p:nvPr>
        </p:nvSpPr>
        <p:spPr>
          <a:xfrm>
            <a:off x="3255103"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rgbClr val="A1D5C2"/>
                </a:highlight>
                <a:latin typeface="Lexend"/>
                <a:ea typeface="Lexend"/>
                <a:cs typeface="Lexend"/>
                <a:sym typeface="Lexend"/>
              </a:rPr>
              <a:t>4.674</a:t>
            </a:r>
            <a:r>
              <a:rPr lang="it" sz="800">
                <a:highlight>
                  <a:srgbClr val="A1D5C2"/>
                </a:highlight>
                <a:latin typeface="Lexend"/>
                <a:ea typeface="Lexend"/>
                <a:cs typeface="Lexend"/>
                <a:sym typeface="Lexend"/>
              </a:rPr>
              <a:t>kWh</a:t>
            </a:r>
            <a:r>
              <a:rPr lang="it" sz="700">
                <a:solidFill>
                  <a:srgbClr val="A1D5C2"/>
                </a:solidFill>
                <a:highlight>
                  <a:srgbClr val="A1D5C2"/>
                </a:highlight>
                <a:latin typeface="Lexend"/>
                <a:ea typeface="Lexend"/>
                <a:cs typeface="Lexend"/>
                <a:sym typeface="Lexend"/>
              </a:rPr>
              <a:t>..</a:t>
            </a:r>
            <a:endParaRPr b="1" sz="700">
              <a:solidFill>
                <a:srgbClr val="A1D5C2"/>
              </a:solidFill>
              <a:highlight>
                <a:srgbClr val="A1D5C2"/>
              </a:highlight>
              <a:latin typeface="Lexend"/>
              <a:ea typeface="Lexend"/>
              <a:cs typeface="Lexend"/>
              <a:sym typeface="Lexend"/>
            </a:endParaRPr>
          </a:p>
        </p:txBody>
      </p:sp>
      <p:sp>
        <p:nvSpPr>
          <p:cNvPr id="843" name="Google Shape;843;p67"/>
          <p:cNvSpPr txBox="1"/>
          <p:nvPr>
            <p:ph type="title"/>
          </p:nvPr>
        </p:nvSpPr>
        <p:spPr>
          <a:xfrm>
            <a:off x="1228128"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chemeClr val="lt1"/>
                </a:highlight>
                <a:latin typeface="Lexend"/>
                <a:ea typeface="Lexend"/>
                <a:cs typeface="Lexend"/>
                <a:sym typeface="Lexend"/>
              </a:rPr>
              <a:t>2.430 </a:t>
            </a:r>
            <a:r>
              <a:rPr lang="it" sz="800">
                <a:highlight>
                  <a:schemeClr val="lt1"/>
                </a:highlight>
                <a:latin typeface="Lexend"/>
                <a:ea typeface="Lexend"/>
                <a:cs typeface="Lexend"/>
                <a:sym typeface="Lexend"/>
              </a:rPr>
              <a:t>kWh</a:t>
            </a:r>
            <a:r>
              <a:rPr lang="it" sz="700">
                <a:solidFill>
                  <a:srgbClr val="A1D5C2"/>
                </a:solidFill>
                <a:highlight>
                  <a:schemeClr val="lt1"/>
                </a:highlight>
                <a:latin typeface="Lexend"/>
                <a:ea typeface="Lexend"/>
                <a:cs typeface="Lexend"/>
                <a:sym typeface="Lexend"/>
              </a:rPr>
              <a:t>..</a:t>
            </a:r>
            <a:endParaRPr b="1" sz="700">
              <a:solidFill>
                <a:srgbClr val="A1D5C2"/>
              </a:solidFill>
              <a:highlight>
                <a:schemeClr val="lt1"/>
              </a:highlight>
              <a:latin typeface="Lexend"/>
              <a:ea typeface="Lexend"/>
              <a:cs typeface="Lexend"/>
              <a:sym typeface="Lexend"/>
            </a:endParaRPr>
          </a:p>
        </p:txBody>
      </p:sp>
      <p:sp>
        <p:nvSpPr>
          <p:cNvPr id="844" name="Google Shape;844;p67"/>
          <p:cNvSpPr txBox="1"/>
          <p:nvPr>
            <p:ph type="title"/>
          </p:nvPr>
        </p:nvSpPr>
        <p:spPr>
          <a:xfrm>
            <a:off x="1905553"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chemeClr val="lt1"/>
                </a:highlight>
                <a:latin typeface="Lexend"/>
                <a:ea typeface="Lexend"/>
                <a:cs typeface="Lexend"/>
                <a:sym typeface="Lexend"/>
              </a:rPr>
              <a:t>1.435 </a:t>
            </a:r>
            <a:r>
              <a:rPr lang="it" sz="800">
                <a:highlight>
                  <a:schemeClr val="lt1"/>
                </a:highlight>
                <a:latin typeface="Lexend"/>
                <a:ea typeface="Lexend"/>
                <a:cs typeface="Lexend"/>
                <a:sym typeface="Lexend"/>
              </a:rPr>
              <a:t>kWh</a:t>
            </a:r>
            <a:r>
              <a:rPr lang="it" sz="700">
                <a:solidFill>
                  <a:srgbClr val="A1D5C2"/>
                </a:solidFill>
                <a:highlight>
                  <a:schemeClr val="lt1"/>
                </a:highlight>
                <a:latin typeface="Lexend"/>
                <a:ea typeface="Lexend"/>
                <a:cs typeface="Lexend"/>
                <a:sym typeface="Lexend"/>
              </a:rPr>
              <a:t>..</a:t>
            </a:r>
            <a:endParaRPr b="1" sz="700">
              <a:solidFill>
                <a:srgbClr val="A1D5C2"/>
              </a:solidFill>
              <a:highlight>
                <a:schemeClr val="lt1"/>
              </a:highlight>
              <a:latin typeface="Lexend"/>
              <a:ea typeface="Lexend"/>
              <a:cs typeface="Lexend"/>
              <a:sym typeface="Lexend"/>
            </a:endParaRPr>
          </a:p>
        </p:txBody>
      </p:sp>
      <p:sp>
        <p:nvSpPr>
          <p:cNvPr id="845" name="Google Shape;845;p67"/>
          <p:cNvSpPr txBox="1"/>
          <p:nvPr>
            <p:ph type="title"/>
          </p:nvPr>
        </p:nvSpPr>
        <p:spPr>
          <a:xfrm>
            <a:off x="562090" y="3942561"/>
            <a:ext cx="7560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800">
                <a:highlight>
                  <a:schemeClr val="lt1"/>
                </a:highlight>
                <a:latin typeface="Lexend"/>
                <a:ea typeface="Lexend"/>
                <a:cs typeface="Lexend"/>
                <a:sym typeface="Lexend"/>
              </a:rPr>
              <a:t>809</a:t>
            </a:r>
            <a:r>
              <a:rPr b="1" lang="it" sz="800">
                <a:highlight>
                  <a:schemeClr val="lt1"/>
                </a:highlight>
                <a:latin typeface="Lexend"/>
                <a:ea typeface="Lexend"/>
                <a:cs typeface="Lexend"/>
                <a:sym typeface="Lexend"/>
              </a:rPr>
              <a:t> </a:t>
            </a:r>
            <a:r>
              <a:rPr lang="it" sz="800">
                <a:highlight>
                  <a:schemeClr val="lt1"/>
                </a:highlight>
                <a:latin typeface="Lexend"/>
                <a:ea typeface="Lexend"/>
                <a:cs typeface="Lexend"/>
                <a:sym typeface="Lexend"/>
              </a:rPr>
              <a:t>kWh</a:t>
            </a:r>
            <a:r>
              <a:rPr lang="it" sz="700">
                <a:solidFill>
                  <a:srgbClr val="A1D5C2"/>
                </a:solidFill>
                <a:highlight>
                  <a:schemeClr val="lt1"/>
                </a:highlight>
                <a:latin typeface="Lexend"/>
                <a:ea typeface="Lexend"/>
                <a:cs typeface="Lexend"/>
                <a:sym typeface="Lexend"/>
              </a:rPr>
              <a:t>..</a:t>
            </a:r>
            <a:endParaRPr b="1" sz="700">
              <a:solidFill>
                <a:srgbClr val="A1D5C2"/>
              </a:solidFill>
              <a:highlight>
                <a:schemeClr val="lt1"/>
              </a:highlight>
              <a:latin typeface="Lexend"/>
              <a:ea typeface="Lexend"/>
              <a:cs typeface="Lexend"/>
              <a:sym typeface="Lexend"/>
            </a:endParaRPr>
          </a:p>
        </p:txBody>
      </p:sp>
      <p:sp>
        <p:nvSpPr>
          <p:cNvPr id="846" name="Google Shape;846;p67"/>
          <p:cNvSpPr txBox="1"/>
          <p:nvPr>
            <p:ph type="title"/>
          </p:nvPr>
        </p:nvSpPr>
        <p:spPr>
          <a:xfrm>
            <a:off x="81408" y="1495787"/>
            <a:ext cx="2441100" cy="380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2500">
                <a:highlight>
                  <a:srgbClr val="FCF4F8"/>
                </a:highlight>
                <a:latin typeface="Lexend"/>
                <a:ea typeface="Lexend"/>
                <a:cs typeface="Lexend"/>
                <a:sym typeface="Lexend"/>
              </a:rPr>
              <a:t>261,12</a:t>
            </a:r>
            <a:r>
              <a:rPr b="1" lang="it" sz="1700">
                <a:solidFill>
                  <a:srgbClr val="FCF4F8"/>
                </a:solidFill>
                <a:highlight>
                  <a:srgbClr val="FCF4F8"/>
                </a:highlight>
                <a:latin typeface="Lexend"/>
                <a:ea typeface="Lexend"/>
                <a:cs typeface="Lexend"/>
                <a:sym typeface="Lexend"/>
              </a:rPr>
              <a:t>.</a:t>
            </a:r>
            <a:r>
              <a:rPr lang="it" sz="2100">
                <a:highlight>
                  <a:srgbClr val="FCF4F8"/>
                </a:highlight>
                <a:latin typeface="Lexend"/>
                <a:ea typeface="Lexend"/>
                <a:cs typeface="Lexend"/>
                <a:sym typeface="Lexend"/>
              </a:rPr>
              <a:t>€</a:t>
            </a:r>
            <a:endParaRPr b="1" sz="2100">
              <a:highlight>
                <a:srgbClr val="FCF4F8"/>
              </a:highlight>
              <a:latin typeface="Lexend"/>
              <a:ea typeface="Lexend"/>
              <a:cs typeface="Lexend"/>
              <a:sym typeface="Lexend"/>
            </a:endParaRPr>
          </a:p>
        </p:txBody>
      </p:sp>
      <p:sp>
        <p:nvSpPr>
          <p:cNvPr id="847" name="Google Shape;847;p67"/>
          <p:cNvSpPr txBox="1"/>
          <p:nvPr>
            <p:ph type="title"/>
          </p:nvPr>
        </p:nvSpPr>
        <p:spPr>
          <a:xfrm>
            <a:off x="4217620" y="2355600"/>
            <a:ext cx="892200" cy="281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it" sz="700">
                <a:highlight>
                  <a:srgbClr val="FCF4F8"/>
                </a:highlight>
                <a:latin typeface="Lexend"/>
                <a:ea typeface="Lexend"/>
                <a:cs typeface="Lexend"/>
                <a:sym typeface="Lexend"/>
              </a:rPr>
              <a:t>261,12</a:t>
            </a:r>
            <a:r>
              <a:rPr lang="it" sz="600">
                <a:highlight>
                  <a:srgbClr val="FCF4F8"/>
                </a:highlight>
                <a:latin typeface="Lexend"/>
                <a:ea typeface="Lexend"/>
                <a:cs typeface="Lexend"/>
                <a:sym typeface="Lexend"/>
              </a:rPr>
              <a:t>€</a:t>
            </a:r>
            <a:endParaRPr b="1" sz="600">
              <a:highlight>
                <a:srgbClr val="FCF4F8"/>
              </a:highlight>
              <a:latin typeface="Lexend"/>
              <a:ea typeface="Lexend"/>
              <a:cs typeface="Lexend"/>
              <a:sym typeface="Lexen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sp>
        <p:nvSpPr>
          <p:cNvPr id="852" name="Google Shape;852;p6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53" name="Google Shape;853;p68"/>
          <p:cNvSpPr txBox="1"/>
          <p:nvPr/>
        </p:nvSpPr>
        <p:spPr>
          <a:xfrm>
            <a:off x="1254525" y="2449000"/>
            <a:ext cx="3914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 Totale Bolletta Mese</a:t>
            </a:r>
            <a:endParaRPr b="1" sz="2300">
              <a:solidFill>
                <a:srgbClr val="38761D"/>
              </a:solidFill>
              <a:highlight>
                <a:srgbClr val="B6D7A8"/>
              </a:highlight>
              <a:latin typeface="Lexend"/>
              <a:ea typeface="Lexend"/>
              <a:cs typeface="Lexend"/>
              <a:sym typeface="Lexend"/>
            </a:endParaRPr>
          </a:p>
        </p:txBody>
      </p:sp>
      <p:pic>
        <p:nvPicPr>
          <p:cNvPr id="854" name="Google Shape;854;p6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55" name="Google Shape;855;p6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856" name="Google Shape;856;p6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55</a:t>
            </a:r>
            <a:endParaRPr sz="700">
              <a:latin typeface="Lexend"/>
              <a:ea typeface="Lexend"/>
              <a:cs typeface="Lexend"/>
              <a:sym typeface="Lexend"/>
            </a:endParaRPr>
          </a:p>
        </p:txBody>
      </p:sp>
      <p:cxnSp>
        <p:nvCxnSpPr>
          <p:cNvPr id="857" name="Google Shape;857;p68"/>
          <p:cNvCxnSpPr/>
          <p:nvPr/>
        </p:nvCxnSpPr>
        <p:spPr>
          <a:xfrm>
            <a:off x="1254600" y="3031025"/>
            <a:ext cx="3932100" cy="0"/>
          </a:xfrm>
          <a:prstGeom prst="straightConnector1">
            <a:avLst/>
          </a:prstGeom>
          <a:noFill/>
          <a:ln cap="flat" cmpd="sng" w="9525">
            <a:solidFill>
              <a:srgbClr val="38761D"/>
            </a:solidFill>
            <a:prstDash val="solid"/>
            <a:round/>
            <a:headEnd len="med" w="med" type="none"/>
            <a:tailEnd len="med" w="med" type="none"/>
          </a:ln>
        </p:spPr>
      </p:cxnSp>
      <p:sp>
        <p:nvSpPr>
          <p:cNvPr id="858" name="Google Shape;858;p68"/>
          <p:cNvSpPr txBox="1"/>
          <p:nvPr/>
        </p:nvSpPr>
        <p:spPr>
          <a:xfrm>
            <a:off x="1254525" y="3074250"/>
            <a:ext cx="3932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kWh Consumati Mese</a:t>
            </a:r>
            <a:endParaRPr b="1" sz="2300">
              <a:solidFill>
                <a:srgbClr val="38761D"/>
              </a:solidFill>
              <a:highlight>
                <a:srgbClr val="B6D7A8"/>
              </a:highlight>
              <a:latin typeface="Lexend"/>
              <a:ea typeface="Lexend"/>
              <a:cs typeface="Lexend"/>
              <a:sym typeface="Lexend"/>
            </a:endParaRPr>
          </a:p>
        </p:txBody>
      </p:sp>
      <p:sp>
        <p:nvSpPr>
          <p:cNvPr id="859" name="Google Shape;859;p68"/>
          <p:cNvSpPr txBox="1"/>
          <p:nvPr/>
        </p:nvSpPr>
        <p:spPr>
          <a:xfrm>
            <a:off x="5247600"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860" name="Google Shape;860;p68"/>
          <p:cNvSpPr txBox="1"/>
          <p:nvPr/>
        </p:nvSpPr>
        <p:spPr>
          <a:xfrm>
            <a:off x="5673675" y="2654088"/>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 al kWp</a:t>
            </a:r>
            <a:endParaRPr b="1" sz="2300">
              <a:solidFill>
                <a:srgbClr val="38761D"/>
              </a:solidFill>
              <a:highlight>
                <a:srgbClr val="B6D7A8"/>
              </a:highlight>
              <a:latin typeface="Lexend"/>
              <a:ea typeface="Lexend"/>
              <a:cs typeface="Lexend"/>
              <a:sym typeface="Lexend"/>
            </a:endParaRPr>
          </a:p>
        </p:txBody>
      </p:sp>
      <p:sp>
        <p:nvSpPr>
          <p:cNvPr id="861" name="Google Shape;861;p68"/>
          <p:cNvSpPr txBox="1"/>
          <p:nvPr/>
        </p:nvSpPr>
        <p:spPr>
          <a:xfrm>
            <a:off x="5673675" y="3007763"/>
            <a:ext cx="2215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a:solidFill>
                  <a:schemeClr val="dk1"/>
                </a:solidFill>
                <a:latin typeface="Lexend"/>
                <a:ea typeface="Lexend"/>
                <a:cs typeface="Lexend"/>
                <a:sym typeface="Lexend"/>
              </a:rPr>
              <a:t>che paga il cliente</a:t>
            </a:r>
            <a:endParaRPr b="1">
              <a:solidFill>
                <a:srgbClr val="38761D"/>
              </a:solidFill>
              <a:highlight>
                <a:srgbClr val="B6D7A8"/>
              </a:highlight>
              <a:latin typeface="Lexend"/>
              <a:ea typeface="Lexend"/>
              <a:cs typeface="Lexend"/>
              <a:sym typeface="Lexend"/>
            </a:endParaRPr>
          </a:p>
        </p:txBody>
      </p:sp>
      <p:sp>
        <p:nvSpPr>
          <p:cNvPr id="862" name="Google Shape;862;p68"/>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a:t>
            </a:r>
            <a:r>
              <a:rPr b="1" lang="it" sz="2000">
                <a:latin typeface="Lexend"/>
                <a:ea typeface="Lexend"/>
                <a:cs typeface="Lexend"/>
                <a:sym typeface="Lexend"/>
              </a:rPr>
              <a:t> quanto spende </a:t>
            </a:r>
            <a:r>
              <a:rPr lang="it" sz="2000">
                <a:latin typeface="Lexend"/>
                <a:ea typeface="Lexend"/>
                <a:cs typeface="Lexend"/>
                <a:sym typeface="Lexend"/>
              </a:rPr>
              <a:t>il CLIENTE in</a:t>
            </a:r>
            <a:r>
              <a:rPr b="1" lang="it" sz="2000">
                <a:latin typeface="Lexend"/>
                <a:ea typeface="Lexend"/>
                <a:cs typeface="Lexend"/>
                <a:sym typeface="Lexend"/>
              </a:rPr>
              <a:t> totale all’anno</a:t>
            </a:r>
            <a:endParaRPr b="1" sz="2000">
              <a:latin typeface="Lexend"/>
              <a:ea typeface="Lexend"/>
              <a:cs typeface="Lexend"/>
              <a:sym typeface="Lexen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6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8" name="Google Shape;868;p69"/>
          <p:cNvSpPr txBox="1"/>
          <p:nvPr/>
        </p:nvSpPr>
        <p:spPr>
          <a:xfrm>
            <a:off x="1254525" y="2449000"/>
            <a:ext cx="3914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261,12 €</a:t>
            </a:r>
            <a:endParaRPr b="1" sz="2300">
              <a:solidFill>
                <a:srgbClr val="38761D"/>
              </a:solidFill>
              <a:highlight>
                <a:srgbClr val="B6D7A8"/>
              </a:highlight>
              <a:latin typeface="Lexend"/>
              <a:ea typeface="Lexend"/>
              <a:cs typeface="Lexend"/>
              <a:sym typeface="Lexend"/>
            </a:endParaRPr>
          </a:p>
        </p:txBody>
      </p:sp>
      <p:pic>
        <p:nvPicPr>
          <p:cNvPr id="869" name="Google Shape;869;p69"/>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70" name="Google Shape;870;p6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871" name="Google Shape;871;p6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56</a:t>
            </a:r>
            <a:endParaRPr sz="700">
              <a:latin typeface="Lexend"/>
              <a:ea typeface="Lexend"/>
              <a:cs typeface="Lexend"/>
              <a:sym typeface="Lexend"/>
            </a:endParaRPr>
          </a:p>
        </p:txBody>
      </p:sp>
      <p:cxnSp>
        <p:nvCxnSpPr>
          <p:cNvPr id="872" name="Google Shape;872;p69"/>
          <p:cNvCxnSpPr/>
          <p:nvPr/>
        </p:nvCxnSpPr>
        <p:spPr>
          <a:xfrm>
            <a:off x="1254600" y="3031025"/>
            <a:ext cx="3932100" cy="0"/>
          </a:xfrm>
          <a:prstGeom prst="straightConnector1">
            <a:avLst/>
          </a:prstGeom>
          <a:noFill/>
          <a:ln cap="flat" cmpd="sng" w="9525">
            <a:solidFill>
              <a:srgbClr val="38761D"/>
            </a:solidFill>
            <a:prstDash val="solid"/>
            <a:round/>
            <a:headEnd len="med" w="med" type="none"/>
            <a:tailEnd len="med" w="med" type="none"/>
          </a:ln>
        </p:spPr>
      </p:cxnSp>
      <p:sp>
        <p:nvSpPr>
          <p:cNvPr id="873" name="Google Shape;873;p69"/>
          <p:cNvSpPr txBox="1"/>
          <p:nvPr/>
        </p:nvSpPr>
        <p:spPr>
          <a:xfrm>
            <a:off x="1254525" y="3074250"/>
            <a:ext cx="39321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388 kWp</a:t>
            </a:r>
            <a:endParaRPr b="1" sz="2300">
              <a:solidFill>
                <a:srgbClr val="38761D"/>
              </a:solidFill>
              <a:highlight>
                <a:srgbClr val="B6D7A8"/>
              </a:highlight>
              <a:latin typeface="Lexend"/>
              <a:ea typeface="Lexend"/>
              <a:cs typeface="Lexend"/>
              <a:sym typeface="Lexend"/>
            </a:endParaRPr>
          </a:p>
        </p:txBody>
      </p:sp>
      <p:sp>
        <p:nvSpPr>
          <p:cNvPr id="874" name="Google Shape;874;p69"/>
          <p:cNvSpPr txBox="1"/>
          <p:nvPr/>
        </p:nvSpPr>
        <p:spPr>
          <a:xfrm>
            <a:off x="5247600"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875" name="Google Shape;875;p69"/>
          <p:cNvSpPr txBox="1"/>
          <p:nvPr/>
        </p:nvSpPr>
        <p:spPr>
          <a:xfrm>
            <a:off x="5673675" y="2761613"/>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it" sz="2300">
                <a:solidFill>
                  <a:schemeClr val="dk1"/>
                </a:solidFill>
                <a:latin typeface="Lexend"/>
                <a:ea typeface="Lexend"/>
                <a:cs typeface="Lexend"/>
                <a:sym typeface="Lexend"/>
              </a:rPr>
              <a:t>0,673 €/kWp</a:t>
            </a:r>
            <a:endParaRPr b="1" sz="2300">
              <a:solidFill>
                <a:srgbClr val="38761D"/>
              </a:solidFill>
              <a:highlight>
                <a:srgbClr val="B6D7A8"/>
              </a:highlight>
              <a:latin typeface="Lexend"/>
              <a:ea typeface="Lexend"/>
              <a:cs typeface="Lexend"/>
              <a:sym typeface="Lexend"/>
            </a:endParaRPr>
          </a:p>
        </p:txBody>
      </p:sp>
      <p:sp>
        <p:nvSpPr>
          <p:cNvPr id="876" name="Google Shape;876;p69"/>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a:t>
            </a:r>
            <a:r>
              <a:rPr b="1" lang="it" sz="2000">
                <a:latin typeface="Lexend"/>
                <a:ea typeface="Lexend"/>
                <a:cs typeface="Lexend"/>
                <a:sym typeface="Lexend"/>
              </a:rPr>
              <a:t> quanto spende </a:t>
            </a:r>
            <a:r>
              <a:rPr lang="it" sz="2000">
                <a:latin typeface="Lexend"/>
                <a:ea typeface="Lexend"/>
                <a:cs typeface="Lexend"/>
                <a:sym typeface="Lexend"/>
              </a:rPr>
              <a:t>il CLIENTE in</a:t>
            </a:r>
            <a:r>
              <a:rPr b="1" lang="it" sz="2000">
                <a:latin typeface="Lexend"/>
                <a:ea typeface="Lexend"/>
                <a:cs typeface="Lexend"/>
                <a:sym typeface="Lexend"/>
              </a:rPr>
              <a:t> totale all’anno</a:t>
            </a:r>
            <a:endParaRPr b="1" sz="2000">
              <a:latin typeface="Lexend"/>
              <a:ea typeface="Lexend"/>
              <a:cs typeface="Lexend"/>
              <a:sym typeface="Lexen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p7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82" name="Google Shape;882;p7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83" name="Google Shape;883;p7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884" name="Google Shape;884;p7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57</a:t>
            </a:r>
            <a:endParaRPr sz="700">
              <a:latin typeface="Lexend"/>
              <a:ea typeface="Lexend"/>
              <a:cs typeface="Lexend"/>
              <a:sym typeface="Lexend"/>
            </a:endParaRPr>
          </a:p>
        </p:txBody>
      </p:sp>
      <p:sp>
        <p:nvSpPr>
          <p:cNvPr id="885" name="Google Shape;885;p70"/>
          <p:cNvSpPr txBox="1"/>
          <p:nvPr/>
        </p:nvSpPr>
        <p:spPr>
          <a:xfrm>
            <a:off x="2582138"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x</a:t>
            </a:r>
            <a:endParaRPr b="1" sz="2300">
              <a:solidFill>
                <a:srgbClr val="38761D"/>
              </a:solidFill>
              <a:highlight>
                <a:srgbClr val="B6D7A8"/>
              </a:highlight>
              <a:latin typeface="Lexend"/>
              <a:ea typeface="Lexend"/>
              <a:cs typeface="Lexend"/>
              <a:sym typeface="Lexend"/>
            </a:endParaRPr>
          </a:p>
        </p:txBody>
      </p:sp>
      <p:sp>
        <p:nvSpPr>
          <p:cNvPr id="886" name="Google Shape;886;p70"/>
          <p:cNvSpPr txBox="1"/>
          <p:nvPr/>
        </p:nvSpPr>
        <p:spPr>
          <a:xfrm>
            <a:off x="543013" y="2654088"/>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 al kWp</a:t>
            </a:r>
            <a:endParaRPr b="1" sz="2300">
              <a:solidFill>
                <a:srgbClr val="38761D"/>
              </a:solidFill>
              <a:highlight>
                <a:srgbClr val="B6D7A8"/>
              </a:highlight>
              <a:latin typeface="Lexend"/>
              <a:ea typeface="Lexend"/>
              <a:cs typeface="Lexend"/>
              <a:sym typeface="Lexend"/>
            </a:endParaRPr>
          </a:p>
        </p:txBody>
      </p:sp>
      <p:sp>
        <p:nvSpPr>
          <p:cNvPr id="887" name="Google Shape;887;p70"/>
          <p:cNvSpPr txBox="1"/>
          <p:nvPr/>
        </p:nvSpPr>
        <p:spPr>
          <a:xfrm>
            <a:off x="543013" y="3007763"/>
            <a:ext cx="22158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a:solidFill>
                  <a:schemeClr val="dk1"/>
                </a:solidFill>
                <a:latin typeface="Lexend"/>
                <a:ea typeface="Lexend"/>
                <a:cs typeface="Lexend"/>
                <a:sym typeface="Lexend"/>
              </a:rPr>
              <a:t>che paga il cliente</a:t>
            </a:r>
            <a:endParaRPr b="1">
              <a:solidFill>
                <a:srgbClr val="38761D"/>
              </a:solidFill>
              <a:highlight>
                <a:srgbClr val="B6D7A8"/>
              </a:highlight>
              <a:latin typeface="Lexend"/>
              <a:ea typeface="Lexend"/>
              <a:cs typeface="Lexend"/>
              <a:sym typeface="Lexend"/>
            </a:endParaRPr>
          </a:p>
        </p:txBody>
      </p:sp>
      <p:sp>
        <p:nvSpPr>
          <p:cNvPr id="888" name="Google Shape;888;p70"/>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a:t>
            </a:r>
            <a:r>
              <a:rPr b="1" lang="it" sz="2000">
                <a:latin typeface="Lexend"/>
                <a:ea typeface="Lexend"/>
                <a:cs typeface="Lexend"/>
                <a:sym typeface="Lexend"/>
              </a:rPr>
              <a:t> quanto spende </a:t>
            </a:r>
            <a:r>
              <a:rPr lang="it" sz="2000">
                <a:latin typeface="Lexend"/>
                <a:ea typeface="Lexend"/>
                <a:cs typeface="Lexend"/>
                <a:sym typeface="Lexend"/>
              </a:rPr>
              <a:t>il CLIENTE in</a:t>
            </a:r>
            <a:r>
              <a:rPr b="1" lang="it" sz="2000">
                <a:latin typeface="Lexend"/>
                <a:ea typeface="Lexend"/>
                <a:cs typeface="Lexend"/>
                <a:sym typeface="Lexend"/>
              </a:rPr>
              <a:t> totale all’anno</a:t>
            </a:r>
            <a:endParaRPr b="1" sz="2000">
              <a:latin typeface="Lexend"/>
              <a:ea typeface="Lexend"/>
              <a:cs typeface="Lexend"/>
              <a:sym typeface="Lexend"/>
            </a:endParaRPr>
          </a:p>
        </p:txBody>
      </p:sp>
      <p:sp>
        <p:nvSpPr>
          <p:cNvPr id="889" name="Google Shape;889;p70"/>
          <p:cNvSpPr txBox="1"/>
          <p:nvPr/>
        </p:nvSpPr>
        <p:spPr>
          <a:xfrm>
            <a:off x="3026513" y="2552000"/>
            <a:ext cx="2622300" cy="94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Tot. Consumo </a:t>
            </a:r>
            <a:endParaRPr sz="2300">
              <a:solidFill>
                <a:schemeClr val="dk1"/>
              </a:solidFill>
              <a:latin typeface="Lexend"/>
              <a:ea typeface="Lexend"/>
              <a:cs typeface="Lexend"/>
              <a:sym typeface="Lexend"/>
            </a:endParaRPr>
          </a:p>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Annuo in kWp</a:t>
            </a:r>
            <a:endParaRPr b="1" sz="2300">
              <a:solidFill>
                <a:srgbClr val="38761D"/>
              </a:solidFill>
              <a:highlight>
                <a:srgbClr val="B6D7A8"/>
              </a:highlight>
              <a:latin typeface="Lexend"/>
              <a:ea typeface="Lexend"/>
              <a:cs typeface="Lexend"/>
              <a:sym typeface="Lexend"/>
            </a:endParaRPr>
          </a:p>
        </p:txBody>
      </p:sp>
      <p:sp>
        <p:nvSpPr>
          <p:cNvPr id="890" name="Google Shape;890;p70"/>
          <p:cNvSpPr txBox="1"/>
          <p:nvPr/>
        </p:nvSpPr>
        <p:spPr>
          <a:xfrm>
            <a:off x="5563288"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891" name="Google Shape;891;p70"/>
          <p:cNvSpPr txBox="1"/>
          <p:nvPr/>
        </p:nvSpPr>
        <p:spPr>
          <a:xfrm>
            <a:off x="5978688" y="2552000"/>
            <a:ext cx="2622300" cy="94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Costo Bolletta all’anno</a:t>
            </a:r>
            <a:endParaRPr b="1" sz="2300">
              <a:solidFill>
                <a:srgbClr val="38761D"/>
              </a:solidFill>
              <a:highlight>
                <a:srgbClr val="B6D7A8"/>
              </a:highlight>
              <a:latin typeface="Lexend"/>
              <a:ea typeface="Lexend"/>
              <a:cs typeface="Lexend"/>
              <a:sym typeface="Lexend"/>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7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897" name="Google Shape;897;p7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898" name="Google Shape;898;p7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899" name="Google Shape;899;p7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58</a:t>
            </a:r>
            <a:endParaRPr sz="700">
              <a:latin typeface="Lexend"/>
              <a:ea typeface="Lexend"/>
              <a:cs typeface="Lexend"/>
              <a:sym typeface="Lexend"/>
            </a:endParaRPr>
          </a:p>
        </p:txBody>
      </p:sp>
      <p:sp>
        <p:nvSpPr>
          <p:cNvPr id="900" name="Google Shape;900;p71"/>
          <p:cNvSpPr txBox="1"/>
          <p:nvPr/>
        </p:nvSpPr>
        <p:spPr>
          <a:xfrm>
            <a:off x="2960888"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x</a:t>
            </a:r>
            <a:endParaRPr b="1" sz="2300">
              <a:solidFill>
                <a:srgbClr val="38761D"/>
              </a:solidFill>
              <a:highlight>
                <a:srgbClr val="B6D7A8"/>
              </a:highlight>
              <a:latin typeface="Lexend"/>
              <a:ea typeface="Lexend"/>
              <a:cs typeface="Lexend"/>
              <a:sym typeface="Lexend"/>
            </a:endParaRPr>
          </a:p>
        </p:txBody>
      </p:sp>
      <p:sp>
        <p:nvSpPr>
          <p:cNvPr id="901" name="Google Shape;901;p71"/>
          <p:cNvSpPr txBox="1"/>
          <p:nvPr/>
        </p:nvSpPr>
        <p:spPr>
          <a:xfrm>
            <a:off x="713513" y="2755538"/>
            <a:ext cx="22158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Clr>
                <a:schemeClr val="dk1"/>
              </a:buClr>
              <a:buSzPts val="1100"/>
              <a:buFont typeface="Arial"/>
              <a:buNone/>
            </a:pPr>
            <a:r>
              <a:rPr lang="it" sz="2300">
                <a:solidFill>
                  <a:schemeClr val="dk1"/>
                </a:solidFill>
                <a:latin typeface="Lexend"/>
                <a:ea typeface="Lexend"/>
                <a:cs typeface="Lexend"/>
                <a:sym typeface="Lexend"/>
              </a:rPr>
              <a:t>0,673 €/kWp</a:t>
            </a:r>
            <a:endParaRPr b="1" sz="2300">
              <a:solidFill>
                <a:srgbClr val="38761D"/>
              </a:solidFill>
              <a:highlight>
                <a:srgbClr val="B6D7A8"/>
              </a:highlight>
              <a:latin typeface="Lexend"/>
              <a:ea typeface="Lexend"/>
              <a:cs typeface="Lexend"/>
              <a:sym typeface="Lexend"/>
            </a:endParaRPr>
          </a:p>
        </p:txBody>
      </p:sp>
      <p:sp>
        <p:nvSpPr>
          <p:cNvPr id="902" name="Google Shape;902;p71"/>
          <p:cNvSpPr txBox="1"/>
          <p:nvPr>
            <p:ph type="title"/>
          </p:nvPr>
        </p:nvSpPr>
        <p:spPr>
          <a:xfrm>
            <a:off x="311700" y="1530438"/>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it" sz="2000">
                <a:latin typeface="Lexend"/>
                <a:ea typeface="Lexend"/>
                <a:cs typeface="Lexend"/>
                <a:sym typeface="Lexend"/>
              </a:rPr>
              <a:t>Capiamo</a:t>
            </a:r>
            <a:r>
              <a:rPr b="1" lang="it" sz="2000">
                <a:latin typeface="Lexend"/>
                <a:ea typeface="Lexend"/>
                <a:cs typeface="Lexend"/>
                <a:sym typeface="Lexend"/>
              </a:rPr>
              <a:t> quanto spende </a:t>
            </a:r>
            <a:r>
              <a:rPr lang="it" sz="2000">
                <a:latin typeface="Lexend"/>
                <a:ea typeface="Lexend"/>
                <a:cs typeface="Lexend"/>
                <a:sym typeface="Lexend"/>
              </a:rPr>
              <a:t>il CLIENTE in</a:t>
            </a:r>
            <a:r>
              <a:rPr b="1" lang="it" sz="2000">
                <a:latin typeface="Lexend"/>
                <a:ea typeface="Lexend"/>
                <a:cs typeface="Lexend"/>
                <a:sym typeface="Lexend"/>
              </a:rPr>
              <a:t> totale all’anno</a:t>
            </a:r>
            <a:endParaRPr b="1" sz="2000">
              <a:latin typeface="Lexend"/>
              <a:ea typeface="Lexend"/>
              <a:cs typeface="Lexend"/>
              <a:sym typeface="Lexend"/>
            </a:endParaRPr>
          </a:p>
        </p:txBody>
      </p:sp>
      <p:sp>
        <p:nvSpPr>
          <p:cNvPr id="903" name="Google Shape;903;p71"/>
          <p:cNvSpPr txBox="1"/>
          <p:nvPr/>
        </p:nvSpPr>
        <p:spPr>
          <a:xfrm>
            <a:off x="3094842" y="2755550"/>
            <a:ext cx="26223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300">
                <a:solidFill>
                  <a:schemeClr val="dk1"/>
                </a:solidFill>
                <a:latin typeface="Lexend"/>
                <a:ea typeface="Lexend"/>
                <a:cs typeface="Lexend"/>
                <a:sym typeface="Lexend"/>
              </a:rPr>
              <a:t>4.674 kWp</a:t>
            </a:r>
            <a:endParaRPr b="1" sz="2300">
              <a:solidFill>
                <a:srgbClr val="38761D"/>
              </a:solidFill>
              <a:highlight>
                <a:srgbClr val="B6D7A8"/>
              </a:highlight>
              <a:latin typeface="Lexend"/>
              <a:ea typeface="Lexend"/>
              <a:cs typeface="Lexend"/>
              <a:sym typeface="Lexend"/>
            </a:endParaRPr>
          </a:p>
        </p:txBody>
      </p:sp>
      <p:sp>
        <p:nvSpPr>
          <p:cNvPr id="904" name="Google Shape;904;p71"/>
          <p:cNvSpPr txBox="1"/>
          <p:nvPr/>
        </p:nvSpPr>
        <p:spPr>
          <a:xfrm>
            <a:off x="5284667" y="2755538"/>
            <a:ext cx="5235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sp>
        <p:nvSpPr>
          <p:cNvPr id="905" name="Google Shape;905;p71"/>
          <p:cNvSpPr txBox="1"/>
          <p:nvPr/>
        </p:nvSpPr>
        <p:spPr>
          <a:xfrm>
            <a:off x="5808167" y="2755550"/>
            <a:ext cx="2622300" cy="538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it" sz="2300">
                <a:solidFill>
                  <a:schemeClr val="dk1"/>
                </a:solidFill>
                <a:latin typeface="Lexend"/>
                <a:ea typeface="Lexend"/>
                <a:cs typeface="Lexend"/>
                <a:sym typeface="Lexend"/>
              </a:rPr>
              <a:t>3.145,60 €/anno</a:t>
            </a:r>
            <a:endParaRPr b="1" sz="2300">
              <a:solidFill>
                <a:srgbClr val="38761D"/>
              </a:solidFill>
              <a:highlight>
                <a:srgbClr val="B6D7A8"/>
              </a:highlight>
              <a:latin typeface="Lexend"/>
              <a:ea typeface="Lexend"/>
              <a:cs typeface="Lexend"/>
              <a:sym typeface="Lexend"/>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7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11" name="Google Shape;911;p72"/>
          <p:cNvSpPr txBox="1"/>
          <p:nvPr/>
        </p:nvSpPr>
        <p:spPr>
          <a:xfrm>
            <a:off x="511950" y="2082300"/>
            <a:ext cx="8120100" cy="945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it" sz="2300">
                <a:solidFill>
                  <a:schemeClr val="dk1"/>
                </a:solidFill>
                <a:latin typeface="Lexend"/>
                <a:ea typeface="Lexend"/>
                <a:cs typeface="Lexend"/>
                <a:sym typeface="Lexend"/>
              </a:rPr>
              <a:t>Bene, passiamo alle </a:t>
            </a:r>
            <a:r>
              <a:rPr b="1" lang="it" sz="2300">
                <a:solidFill>
                  <a:srgbClr val="38761D"/>
                </a:solidFill>
                <a:highlight>
                  <a:srgbClr val="B6D7A8"/>
                </a:highlight>
                <a:latin typeface="Lexend"/>
                <a:ea typeface="Lexend"/>
                <a:cs typeface="Lexend"/>
                <a:sym typeface="Lexend"/>
              </a:rPr>
              <a:t>domande strategiche</a:t>
            </a:r>
            <a:r>
              <a:rPr lang="it" sz="2300">
                <a:solidFill>
                  <a:schemeClr val="dk1"/>
                </a:solidFill>
                <a:latin typeface="Lexend"/>
                <a:ea typeface="Lexend"/>
                <a:cs typeface="Lexend"/>
                <a:sym typeface="Lexend"/>
              </a:rPr>
              <a:t> per       capire da qui a 5/10 anni </a:t>
            </a:r>
            <a:r>
              <a:rPr b="1" lang="it" sz="2300">
                <a:solidFill>
                  <a:srgbClr val="38761D"/>
                </a:solidFill>
                <a:highlight>
                  <a:srgbClr val="B6D7A8"/>
                </a:highlight>
                <a:latin typeface="Lexend"/>
                <a:ea typeface="Lexend"/>
                <a:cs typeface="Lexend"/>
                <a:sym typeface="Lexend"/>
              </a:rPr>
              <a:t>gli obiettivi del cliente</a:t>
            </a:r>
            <a:r>
              <a:rPr lang="it" sz="2300">
                <a:solidFill>
                  <a:srgbClr val="38761D"/>
                </a:solidFill>
                <a:highlight>
                  <a:srgbClr val="B6D7A8"/>
                </a:highlight>
                <a:latin typeface="Lexend"/>
                <a:ea typeface="Lexend"/>
                <a:cs typeface="Lexend"/>
                <a:sym typeface="Lexend"/>
              </a:rPr>
              <a:t>.</a:t>
            </a:r>
            <a:endParaRPr b="1" sz="2300">
              <a:solidFill>
                <a:srgbClr val="38761D"/>
              </a:solidFill>
              <a:highlight>
                <a:srgbClr val="B6D7A8"/>
              </a:highlight>
              <a:latin typeface="Lexend"/>
              <a:ea typeface="Lexend"/>
              <a:cs typeface="Lexend"/>
              <a:sym typeface="Lexend"/>
            </a:endParaRPr>
          </a:p>
        </p:txBody>
      </p:sp>
      <p:pic>
        <p:nvPicPr>
          <p:cNvPr id="912" name="Google Shape;912;p72"/>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13" name="Google Shape;913;p7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914" name="Google Shape;914;p7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a:t>
            </a:r>
            <a:r>
              <a:rPr lang="it" sz="700">
                <a:latin typeface="Lexend"/>
                <a:ea typeface="Lexend"/>
                <a:cs typeface="Lexend"/>
                <a:sym typeface="Lexend"/>
              </a:rPr>
              <a:t>| 59</a:t>
            </a:r>
            <a:endParaRPr sz="700">
              <a:latin typeface="Lexend"/>
              <a:ea typeface="Lexend"/>
              <a:cs typeface="Lexend"/>
              <a:sym typeface="Lexend"/>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7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0" name="Google Shape;920;p73"/>
          <p:cNvSpPr txBox="1"/>
          <p:nvPr>
            <p:ph type="title"/>
          </p:nvPr>
        </p:nvSpPr>
        <p:spPr>
          <a:xfrm>
            <a:off x="311700" y="8435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Come </a:t>
            </a:r>
            <a:r>
              <a:rPr b="1" lang="it" sz="2020">
                <a:latin typeface="Lexend"/>
                <a:ea typeface="Lexend"/>
                <a:cs typeface="Lexend"/>
                <a:sym typeface="Lexend"/>
              </a:rPr>
              <a:t>dimensionare correttamente un’impianto</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921" name="Google Shape;921;p73"/>
          <p:cNvSpPr txBox="1"/>
          <p:nvPr/>
        </p:nvSpPr>
        <p:spPr>
          <a:xfrm>
            <a:off x="756863" y="1306453"/>
            <a:ext cx="7630200" cy="384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it" sz="1300">
                <a:solidFill>
                  <a:schemeClr val="dk1"/>
                </a:solidFill>
                <a:latin typeface="Lexend"/>
                <a:ea typeface="Lexend"/>
                <a:cs typeface="Lexend"/>
                <a:sym typeface="Lexend"/>
              </a:rPr>
              <a:t>Elementi da considerare per l’analisi dei consumi annui:</a:t>
            </a:r>
            <a:endParaRPr sz="1300">
              <a:solidFill>
                <a:schemeClr val="dk1"/>
              </a:solidFill>
              <a:latin typeface="Lexend"/>
              <a:ea typeface="Lexend"/>
              <a:cs typeface="Lexend"/>
              <a:sym typeface="Lexend"/>
            </a:endParaRPr>
          </a:p>
        </p:txBody>
      </p:sp>
      <p:pic>
        <p:nvPicPr>
          <p:cNvPr id="922" name="Google Shape;922;p73"/>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23" name="Google Shape;923;p7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924" name="Google Shape;924;p7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a:t>
            </a:r>
            <a:r>
              <a:rPr lang="it" sz="700">
                <a:latin typeface="Lexend"/>
                <a:ea typeface="Lexend"/>
                <a:cs typeface="Lexend"/>
                <a:sym typeface="Lexend"/>
              </a:rPr>
              <a:t> | 60</a:t>
            </a:r>
            <a:endParaRPr sz="700">
              <a:latin typeface="Lexend"/>
              <a:ea typeface="Lexend"/>
              <a:cs typeface="Lexend"/>
              <a:sym typeface="Lexend"/>
            </a:endParaRPr>
          </a:p>
        </p:txBody>
      </p:sp>
      <p:sp>
        <p:nvSpPr>
          <p:cNvPr id="925" name="Google Shape;925;p73"/>
          <p:cNvSpPr txBox="1"/>
          <p:nvPr/>
        </p:nvSpPr>
        <p:spPr>
          <a:xfrm>
            <a:off x="1039975" y="1931050"/>
            <a:ext cx="7560300" cy="257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it" sz="1500">
                <a:solidFill>
                  <a:srgbClr val="38761D"/>
                </a:solidFill>
                <a:highlight>
                  <a:srgbClr val="B6D7A8"/>
                </a:highlight>
                <a:latin typeface="Lexend"/>
                <a:ea typeface="Lexend"/>
                <a:cs typeface="Lexend"/>
                <a:sym typeface="Lexend"/>
              </a:rPr>
              <a:t>Tipo di piano cottura</a:t>
            </a:r>
            <a:r>
              <a:rPr lang="it" sz="1500">
                <a:solidFill>
                  <a:srgbClr val="38761D"/>
                </a:solidFill>
                <a:highlight>
                  <a:srgbClr val="B6D7A8"/>
                </a:highlight>
                <a:latin typeface="Lexend"/>
                <a:ea typeface="Lexend"/>
                <a:cs typeface="Lexend"/>
                <a:sym typeface="Lexend"/>
              </a:rPr>
              <a:t>:</a:t>
            </a:r>
            <a:r>
              <a:rPr lang="it" sz="1100">
                <a:solidFill>
                  <a:srgbClr val="000000"/>
                </a:solidFill>
                <a:latin typeface="Lexend"/>
                <a:ea typeface="Lexend"/>
                <a:cs typeface="Lexend"/>
                <a:sym typeface="Lexend"/>
              </a:rPr>
              <a:t> </a:t>
            </a:r>
            <a:r>
              <a:rPr lang="it" sz="1000">
                <a:solidFill>
                  <a:srgbClr val="000000"/>
                </a:solidFill>
                <a:latin typeface="Lexend"/>
                <a:ea typeface="Lexend"/>
                <a:cs typeface="Lexend"/>
                <a:sym typeface="Lexend"/>
              </a:rPr>
              <a:t>Utilizzano gas o induzione? Se è a induzione, da quanti anni? (Se da un anno o più, bisogna includere il consumo, mediamente 550 kWh/anno).</a:t>
            </a:r>
            <a:endParaRPr sz="1000">
              <a:solidFill>
                <a:srgbClr val="000000"/>
              </a:solidFill>
              <a:latin typeface="Lexend"/>
              <a:ea typeface="Lexend"/>
              <a:cs typeface="Lexend"/>
              <a:sym typeface="Lexend"/>
            </a:endParaRPr>
          </a:p>
          <a:p>
            <a:pPr indent="0" lvl="0" marL="0" rtl="0" algn="l">
              <a:lnSpc>
                <a:spcPct val="115000"/>
              </a:lnSpc>
              <a:spcBef>
                <a:spcPts val="1200"/>
              </a:spcBef>
              <a:spcAft>
                <a:spcPts val="0"/>
              </a:spcAft>
              <a:buNone/>
            </a:pPr>
            <a:r>
              <a:rPr b="1" lang="it" sz="1500">
                <a:solidFill>
                  <a:srgbClr val="38761D"/>
                </a:solidFill>
                <a:highlight>
                  <a:srgbClr val="B6D7A8"/>
                </a:highlight>
                <a:latin typeface="Lexend"/>
                <a:ea typeface="Lexend"/>
                <a:cs typeface="Lexend"/>
                <a:sym typeface="Lexend"/>
              </a:rPr>
              <a:t>N. di persone in famiglia</a:t>
            </a:r>
            <a:r>
              <a:rPr lang="it" sz="1500">
                <a:solidFill>
                  <a:srgbClr val="38761D"/>
                </a:solidFill>
                <a:highlight>
                  <a:srgbClr val="B6D7A8"/>
                </a:highlight>
                <a:latin typeface="Lexend"/>
                <a:ea typeface="Lexend"/>
                <a:cs typeface="Lexend"/>
                <a:sym typeface="Lexend"/>
              </a:rPr>
              <a:t>:</a:t>
            </a:r>
            <a:r>
              <a:rPr lang="it" sz="1100">
                <a:solidFill>
                  <a:srgbClr val="000000"/>
                </a:solidFill>
                <a:latin typeface="Lexend"/>
                <a:ea typeface="Lexend"/>
                <a:cs typeface="Lexend"/>
                <a:sym typeface="Lexend"/>
              </a:rPr>
              <a:t> </a:t>
            </a:r>
            <a:r>
              <a:rPr lang="it" sz="1000">
                <a:solidFill>
                  <a:srgbClr val="000000"/>
                </a:solidFill>
                <a:latin typeface="Lexend"/>
                <a:ea typeface="Lexend"/>
                <a:cs typeface="Lexend"/>
                <a:sym typeface="Lexend"/>
              </a:rPr>
              <a:t>Quante persone abitano in casa? È importante sapere anche l'età dei componenti per valutare se la famiglia potrebbe crescere. Ogni PP in più rappresenta circa 500 kWh di consumo annuo.</a:t>
            </a:r>
            <a:endParaRPr sz="1000">
              <a:solidFill>
                <a:srgbClr val="000000"/>
              </a:solidFill>
              <a:latin typeface="Lexend"/>
              <a:ea typeface="Lexend"/>
              <a:cs typeface="Lexend"/>
              <a:sym typeface="Lexend"/>
            </a:endParaRPr>
          </a:p>
          <a:p>
            <a:pPr indent="0" lvl="0" marL="0" rtl="0" algn="l">
              <a:lnSpc>
                <a:spcPct val="115000"/>
              </a:lnSpc>
              <a:spcBef>
                <a:spcPts val="1200"/>
              </a:spcBef>
              <a:spcAft>
                <a:spcPts val="0"/>
              </a:spcAft>
              <a:buNone/>
            </a:pPr>
            <a:r>
              <a:rPr b="1" lang="it" sz="1500">
                <a:solidFill>
                  <a:srgbClr val="38761D"/>
                </a:solidFill>
                <a:highlight>
                  <a:srgbClr val="B6D7A8"/>
                </a:highlight>
                <a:latin typeface="Lexend"/>
                <a:ea typeface="Lexend"/>
                <a:cs typeface="Lexend"/>
                <a:sym typeface="Lexend"/>
              </a:rPr>
              <a:t>Climatizzazione</a:t>
            </a:r>
            <a:r>
              <a:rPr lang="it" sz="1500">
                <a:solidFill>
                  <a:srgbClr val="38761D"/>
                </a:solidFill>
                <a:highlight>
                  <a:srgbClr val="B6D7A8"/>
                </a:highlight>
                <a:latin typeface="Lexend"/>
                <a:ea typeface="Lexend"/>
                <a:cs typeface="Lexend"/>
                <a:sym typeface="Lexend"/>
              </a:rPr>
              <a:t>:</a:t>
            </a:r>
            <a:r>
              <a:rPr lang="it" sz="1500">
                <a:solidFill>
                  <a:srgbClr val="000000"/>
                </a:solidFill>
                <a:latin typeface="Lexend"/>
                <a:ea typeface="Lexend"/>
                <a:cs typeface="Lexend"/>
                <a:sym typeface="Lexend"/>
              </a:rPr>
              <a:t> </a:t>
            </a:r>
            <a:r>
              <a:rPr lang="it" sz="1000">
                <a:solidFill>
                  <a:srgbClr val="000000"/>
                </a:solidFill>
                <a:latin typeface="Lexend"/>
                <a:ea typeface="Lexend"/>
                <a:cs typeface="Lexend"/>
                <a:sym typeface="Lexend"/>
              </a:rPr>
              <a:t>Utilizzano split per il raffreddamento e/o riscaldamento? Se sì, li usano solo per il freddo o anche per il caldo? Per il riscaldamento, si utilizza una pompa di calore? In questo caso, potrebbe essere interessante proporre un impianto fotovoltaico integrato. Ogni split consuma mediamente 500 kWh all’anno.</a:t>
            </a:r>
            <a:endParaRPr sz="1000">
              <a:solidFill>
                <a:srgbClr val="000000"/>
              </a:solidFill>
              <a:latin typeface="Lexend"/>
              <a:ea typeface="Lexend"/>
              <a:cs typeface="Lexend"/>
              <a:sym typeface="Lexend"/>
            </a:endParaRPr>
          </a:p>
          <a:p>
            <a:pPr indent="0" lvl="0" marL="0" rtl="0" algn="l">
              <a:lnSpc>
                <a:spcPct val="115000"/>
              </a:lnSpc>
              <a:spcBef>
                <a:spcPts val="1200"/>
              </a:spcBef>
              <a:spcAft>
                <a:spcPts val="1200"/>
              </a:spcAft>
              <a:buNone/>
            </a:pPr>
            <a:r>
              <a:rPr b="1" lang="it" sz="1500">
                <a:solidFill>
                  <a:srgbClr val="38761D"/>
                </a:solidFill>
                <a:highlight>
                  <a:srgbClr val="B6D7A8"/>
                </a:highlight>
                <a:latin typeface="Lexend"/>
                <a:ea typeface="Lexend"/>
                <a:cs typeface="Lexend"/>
                <a:sym typeface="Lexend"/>
              </a:rPr>
              <a:t>Auto elettrica</a:t>
            </a:r>
            <a:r>
              <a:rPr lang="it" sz="1500">
                <a:solidFill>
                  <a:srgbClr val="38761D"/>
                </a:solidFill>
                <a:highlight>
                  <a:srgbClr val="B6D7A8"/>
                </a:highlight>
                <a:latin typeface="Lexend"/>
                <a:ea typeface="Lexend"/>
                <a:cs typeface="Lexend"/>
                <a:sym typeface="Lexend"/>
              </a:rPr>
              <a:t>:</a:t>
            </a:r>
            <a:r>
              <a:rPr lang="it" sz="1300">
                <a:solidFill>
                  <a:srgbClr val="000000"/>
                </a:solidFill>
                <a:latin typeface="Lexend"/>
                <a:ea typeface="Lexend"/>
                <a:cs typeface="Lexend"/>
                <a:sym typeface="Lexend"/>
              </a:rPr>
              <a:t> </a:t>
            </a:r>
            <a:r>
              <a:rPr lang="it" sz="1000">
                <a:solidFill>
                  <a:srgbClr val="000000"/>
                </a:solidFill>
                <a:latin typeface="Lexend"/>
                <a:ea typeface="Lexend"/>
                <a:cs typeface="Lexend"/>
                <a:sym typeface="Lexend"/>
              </a:rPr>
              <a:t>Hanno o prevedono di acquistare un’auto elettrica? Se la risposta è sì (anche in un futuro prossimo), è consigliabile considerare un incremento di ALMENO 6 kWh di potenza per coprire i futuri consumi dell'auto.</a:t>
            </a:r>
            <a:endParaRPr sz="1000">
              <a:latin typeface="Lexend"/>
              <a:ea typeface="Lexend"/>
              <a:cs typeface="Lexend"/>
              <a:sym typeface="Lexend"/>
            </a:endParaRPr>
          </a:p>
        </p:txBody>
      </p:sp>
      <p:pic>
        <p:nvPicPr>
          <p:cNvPr id="926" name="Google Shape;926;p73"/>
          <p:cNvPicPr preferRelativeResize="0"/>
          <p:nvPr/>
        </p:nvPicPr>
        <p:blipFill>
          <a:blip r:embed="rId4">
            <a:alphaModFix/>
          </a:blip>
          <a:stretch>
            <a:fillRect/>
          </a:stretch>
        </p:blipFill>
        <p:spPr>
          <a:xfrm>
            <a:off x="501080" y="3210054"/>
            <a:ext cx="384900" cy="384900"/>
          </a:xfrm>
          <a:prstGeom prst="rect">
            <a:avLst/>
          </a:prstGeom>
          <a:noFill/>
          <a:ln>
            <a:noFill/>
          </a:ln>
        </p:spPr>
      </p:pic>
      <p:pic>
        <p:nvPicPr>
          <p:cNvPr id="927" name="Google Shape;927;p73"/>
          <p:cNvPicPr preferRelativeResize="0"/>
          <p:nvPr/>
        </p:nvPicPr>
        <p:blipFill>
          <a:blip r:embed="rId5">
            <a:alphaModFix/>
          </a:blip>
          <a:stretch>
            <a:fillRect/>
          </a:stretch>
        </p:blipFill>
        <p:spPr>
          <a:xfrm>
            <a:off x="501079" y="3963247"/>
            <a:ext cx="384900" cy="384900"/>
          </a:xfrm>
          <a:prstGeom prst="rect">
            <a:avLst/>
          </a:prstGeom>
          <a:noFill/>
          <a:ln>
            <a:noFill/>
          </a:ln>
        </p:spPr>
      </p:pic>
      <p:pic>
        <p:nvPicPr>
          <p:cNvPr id="928" name="Google Shape;928;p73"/>
          <p:cNvPicPr preferRelativeResize="0"/>
          <p:nvPr/>
        </p:nvPicPr>
        <p:blipFill>
          <a:blip r:embed="rId6">
            <a:alphaModFix/>
          </a:blip>
          <a:stretch>
            <a:fillRect/>
          </a:stretch>
        </p:blipFill>
        <p:spPr>
          <a:xfrm>
            <a:off x="501075" y="2634851"/>
            <a:ext cx="384900" cy="384900"/>
          </a:xfrm>
          <a:prstGeom prst="rect">
            <a:avLst/>
          </a:prstGeom>
          <a:noFill/>
          <a:ln>
            <a:noFill/>
          </a:ln>
        </p:spPr>
      </p:pic>
      <p:pic>
        <p:nvPicPr>
          <p:cNvPr id="929" name="Google Shape;929;p73"/>
          <p:cNvPicPr preferRelativeResize="0"/>
          <p:nvPr/>
        </p:nvPicPr>
        <p:blipFill>
          <a:blip r:embed="rId7">
            <a:alphaModFix/>
          </a:blip>
          <a:stretch>
            <a:fillRect/>
          </a:stretch>
        </p:blipFill>
        <p:spPr>
          <a:xfrm>
            <a:off x="501080" y="2022000"/>
            <a:ext cx="384900" cy="3849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3" name="Shape 933"/>
        <p:cNvGrpSpPr/>
        <p:nvPr/>
      </p:nvGrpSpPr>
      <p:grpSpPr>
        <a:xfrm>
          <a:off x="0" y="0"/>
          <a:ext cx="0" cy="0"/>
          <a:chOff x="0" y="0"/>
          <a:chExt cx="0" cy="0"/>
        </a:xfrm>
      </p:grpSpPr>
      <p:sp>
        <p:nvSpPr>
          <p:cNvPr id="934" name="Google Shape;934;p7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35" name="Google Shape;935;p74"/>
          <p:cNvSpPr txBox="1"/>
          <p:nvPr/>
        </p:nvSpPr>
        <p:spPr>
          <a:xfrm>
            <a:off x="677775" y="2147775"/>
            <a:ext cx="7788300" cy="12006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b="1" lang="it" sz="2000">
                <a:solidFill>
                  <a:schemeClr val="dk1"/>
                </a:solidFill>
                <a:latin typeface="Lexend"/>
                <a:ea typeface="Lexend"/>
                <a:cs typeface="Lexend"/>
                <a:sym typeface="Lexend"/>
              </a:rPr>
              <a:t>Sommando tutti questi fattori</a:t>
            </a:r>
            <a:r>
              <a:rPr lang="it" sz="2000">
                <a:solidFill>
                  <a:schemeClr val="dk1"/>
                </a:solidFill>
                <a:latin typeface="Lexend"/>
                <a:ea typeface="Lexend"/>
                <a:cs typeface="Lexend"/>
                <a:sym typeface="Lexend"/>
              </a:rPr>
              <a:t>, è possibile </a:t>
            </a:r>
            <a:r>
              <a:rPr b="1" lang="it" sz="2000">
                <a:solidFill>
                  <a:srgbClr val="38761D"/>
                </a:solidFill>
                <a:highlight>
                  <a:srgbClr val="B6D7A8"/>
                </a:highlight>
                <a:latin typeface="Lexend"/>
                <a:ea typeface="Lexend"/>
                <a:cs typeface="Lexend"/>
                <a:sym typeface="Lexend"/>
              </a:rPr>
              <a:t>calcolare con precisione il taglio dell'impianto fotovoltaico necessario</a:t>
            </a:r>
            <a:r>
              <a:rPr lang="it" sz="2000">
                <a:solidFill>
                  <a:schemeClr val="dk1"/>
                </a:solidFill>
                <a:latin typeface="Lexend"/>
                <a:ea typeface="Lexend"/>
                <a:cs typeface="Lexend"/>
                <a:sym typeface="Lexend"/>
              </a:rPr>
              <a:t> per soddisfare le esigenze energetiche della famiglia.</a:t>
            </a:r>
            <a:endParaRPr sz="2000">
              <a:latin typeface="Lexend"/>
              <a:ea typeface="Lexend"/>
              <a:cs typeface="Lexend"/>
              <a:sym typeface="Lexend"/>
            </a:endParaRPr>
          </a:p>
        </p:txBody>
      </p:sp>
      <p:pic>
        <p:nvPicPr>
          <p:cNvPr id="936" name="Google Shape;936;p74"/>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37" name="Google Shape;937;p7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938" name="Google Shape;938;p7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a:t>
            </a:r>
            <a:r>
              <a:rPr lang="it" sz="700">
                <a:latin typeface="Lexend"/>
                <a:ea typeface="Lexend"/>
                <a:cs typeface="Lexend"/>
                <a:sym typeface="Lexend"/>
              </a:rPr>
              <a:t>| 61</a:t>
            </a:r>
            <a:endParaRPr sz="700">
              <a:latin typeface="Lexend"/>
              <a:ea typeface="Lexend"/>
              <a:cs typeface="Lexend"/>
              <a:sym typeface="Lexend"/>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2" name="Shape 942"/>
        <p:cNvGrpSpPr/>
        <p:nvPr/>
      </p:nvGrpSpPr>
      <p:grpSpPr>
        <a:xfrm>
          <a:off x="0" y="0"/>
          <a:ext cx="0" cy="0"/>
          <a:chOff x="0" y="0"/>
          <a:chExt cx="0" cy="0"/>
        </a:xfrm>
      </p:grpSpPr>
      <p:sp>
        <p:nvSpPr>
          <p:cNvPr id="943" name="Google Shape;943;p7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44" name="Google Shape;944;p75"/>
          <p:cNvSpPr txBox="1"/>
          <p:nvPr>
            <p:ph type="title"/>
          </p:nvPr>
        </p:nvSpPr>
        <p:spPr>
          <a:xfrm>
            <a:off x="311700" y="9990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Esempio</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pic>
        <p:nvPicPr>
          <p:cNvPr id="945" name="Google Shape;945;p75"/>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46" name="Google Shape;946;p7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947" name="Google Shape;947;p7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a:t>
            </a:r>
            <a:r>
              <a:rPr lang="it" sz="700">
                <a:latin typeface="Lexend"/>
                <a:ea typeface="Lexend"/>
                <a:cs typeface="Lexend"/>
                <a:sym typeface="Lexend"/>
              </a:rPr>
              <a:t> | 62</a:t>
            </a:r>
            <a:endParaRPr sz="700">
              <a:latin typeface="Lexend"/>
              <a:ea typeface="Lexend"/>
              <a:cs typeface="Lexend"/>
              <a:sym typeface="Lexend"/>
            </a:endParaRPr>
          </a:p>
        </p:txBody>
      </p:sp>
      <p:graphicFrame>
        <p:nvGraphicFramePr>
          <p:cNvPr id="948" name="Google Shape;948;p75"/>
          <p:cNvGraphicFramePr/>
          <p:nvPr/>
        </p:nvGraphicFramePr>
        <p:xfrm>
          <a:off x="967688" y="1629600"/>
          <a:ext cx="3000000" cy="3000000"/>
        </p:xfrm>
        <a:graphic>
          <a:graphicData uri="http://schemas.openxmlformats.org/drawingml/2006/table">
            <a:tbl>
              <a:tblPr>
                <a:noFill/>
                <a:tableStyleId>{9273CD7E-ADB5-4E27-A5E8-29BB0BF39C83}</a:tableStyleId>
              </a:tblPr>
              <a:tblGrid>
                <a:gridCol w="2402875"/>
                <a:gridCol w="3130800"/>
                <a:gridCol w="1674950"/>
              </a:tblGrid>
              <a:tr h="423625">
                <a:tc gridSpan="2">
                  <a:txBody>
                    <a:bodyPr/>
                    <a:lstStyle/>
                    <a:p>
                      <a:pPr indent="0" lvl="0" marL="0" rtl="0" algn="l">
                        <a:spcBef>
                          <a:spcPts val="0"/>
                        </a:spcBef>
                        <a:spcAft>
                          <a:spcPts val="0"/>
                        </a:spcAft>
                        <a:buNone/>
                      </a:pPr>
                      <a:r>
                        <a:rPr lang="it">
                          <a:latin typeface="Lexend"/>
                          <a:ea typeface="Lexend"/>
                          <a:cs typeface="Lexend"/>
                          <a:sym typeface="Lexend"/>
                        </a:rPr>
                        <a:t>Totale KWh (Anno)</a:t>
                      </a:r>
                      <a:endParaRPr>
                        <a:latin typeface="Lexend"/>
                        <a:ea typeface="Lexend"/>
                        <a:cs typeface="Lexend"/>
                        <a:sym typeface="Lexend"/>
                      </a:endParaRPr>
                    </a:p>
                  </a:txBody>
                  <a:tcPr marT="91425" marB="91425" marR="91425" marL="91425"/>
                </a:tc>
                <a:tc hMerge="1"/>
                <a:tc>
                  <a:txBody>
                    <a:bodyPr/>
                    <a:lstStyle/>
                    <a:p>
                      <a:pPr indent="0" lvl="0" marL="0" rtl="0" algn="ctr">
                        <a:spcBef>
                          <a:spcPts val="0"/>
                        </a:spcBef>
                        <a:spcAft>
                          <a:spcPts val="0"/>
                        </a:spcAft>
                        <a:buClr>
                          <a:schemeClr val="dk1"/>
                        </a:buClr>
                        <a:buSzPts val="1100"/>
                        <a:buFont typeface="Arial"/>
                        <a:buNone/>
                      </a:pPr>
                      <a:r>
                        <a:rPr lang="it">
                          <a:solidFill>
                            <a:schemeClr val="dk1"/>
                          </a:solidFill>
                          <a:latin typeface="Lexend"/>
                          <a:ea typeface="Lexend"/>
                          <a:cs typeface="Lexend"/>
                          <a:sym typeface="Lexend"/>
                        </a:rPr>
                        <a:t>4.674</a:t>
                      </a:r>
                      <a:r>
                        <a:rPr lang="it">
                          <a:solidFill>
                            <a:schemeClr val="dk1"/>
                          </a:solidFill>
                          <a:latin typeface="Lexend"/>
                          <a:ea typeface="Lexend"/>
                          <a:cs typeface="Lexend"/>
                          <a:sym typeface="Lexend"/>
                        </a:rPr>
                        <a:t> kWh</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Piano Induzione?</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latin typeface="Lexend"/>
                          <a:ea typeface="Lexend"/>
                          <a:cs typeface="Lexend"/>
                          <a:sym typeface="Lexend"/>
                        </a:rPr>
                        <a:t>SI | NO | </a:t>
                      </a:r>
                      <a:r>
                        <a:rPr b="1" lang="it" u="sng">
                          <a:latin typeface="Lexend"/>
                          <a:ea typeface="Lexend"/>
                          <a:cs typeface="Lexend"/>
                          <a:sym typeface="Lexend"/>
                        </a:rPr>
                        <a:t>Entro 1-2 Anni</a:t>
                      </a:r>
                      <a:endParaRPr b="1" u="sng">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latin typeface="Lexend"/>
                          <a:ea typeface="Lexend"/>
                          <a:cs typeface="Lexend"/>
                          <a:sym typeface="Lexend"/>
                        </a:rPr>
                        <a:t>550 kWh</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Componenti in Famiglia?</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latin typeface="Lexend"/>
                          <a:ea typeface="Lexend"/>
                          <a:cs typeface="Lexend"/>
                          <a:sym typeface="Lexend"/>
                        </a:rPr>
                        <a:t>2 Adulti </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latin typeface="Lexend"/>
                          <a:ea typeface="Lexend"/>
                          <a:cs typeface="Lexend"/>
                          <a:sym typeface="Lexend"/>
                        </a:rPr>
                        <a:t>0</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Climatizzazione/Split?</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solidFill>
                            <a:schemeClr val="dk1"/>
                          </a:solidFill>
                          <a:latin typeface="Lexend"/>
                          <a:ea typeface="Lexend"/>
                          <a:cs typeface="Lexend"/>
                          <a:sym typeface="Lexend"/>
                        </a:rPr>
                        <a:t>SI | NO | </a:t>
                      </a:r>
                      <a:r>
                        <a:rPr b="1" lang="it" u="sng">
                          <a:solidFill>
                            <a:schemeClr val="dk1"/>
                          </a:solidFill>
                          <a:latin typeface="Lexend"/>
                          <a:ea typeface="Lexend"/>
                          <a:cs typeface="Lexend"/>
                          <a:sym typeface="Lexend"/>
                        </a:rPr>
                        <a:t>Entro 2-3 Anni</a:t>
                      </a:r>
                      <a:r>
                        <a:rPr b="1" lang="it">
                          <a:solidFill>
                            <a:schemeClr val="dk1"/>
                          </a:solidFill>
                          <a:latin typeface="Lexend"/>
                          <a:ea typeface="Lexend"/>
                          <a:cs typeface="Lexend"/>
                          <a:sym typeface="Lexend"/>
                        </a:rPr>
                        <a:t> </a:t>
                      </a:r>
                      <a:r>
                        <a:rPr lang="it">
                          <a:solidFill>
                            <a:schemeClr val="dk1"/>
                          </a:solidFill>
                          <a:latin typeface="Lexend"/>
                          <a:ea typeface="Lexend"/>
                          <a:cs typeface="Lexend"/>
                          <a:sym typeface="Lexend"/>
                        </a:rPr>
                        <a:t>(qta? 2)</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solidFill>
                            <a:schemeClr val="dk1"/>
                          </a:solidFill>
                          <a:latin typeface="Lexend"/>
                          <a:ea typeface="Lexend"/>
                          <a:cs typeface="Lexend"/>
                          <a:sym typeface="Lexend"/>
                        </a:rPr>
                        <a:t>1.100 k</a:t>
                      </a:r>
                      <a:r>
                        <a:rPr lang="it">
                          <a:solidFill>
                            <a:schemeClr val="dk1"/>
                          </a:solidFill>
                          <a:latin typeface="Lexend"/>
                          <a:ea typeface="Lexend"/>
                          <a:cs typeface="Lexend"/>
                          <a:sym typeface="Lexend"/>
                        </a:rPr>
                        <a:t>Wh</a:t>
                      </a:r>
                      <a:endParaRPr>
                        <a:latin typeface="Lexend"/>
                        <a:ea typeface="Lexend"/>
                        <a:cs typeface="Lexend"/>
                        <a:sym typeface="Lexend"/>
                      </a:endParaRPr>
                    </a:p>
                  </a:txBody>
                  <a:tcPr marT="91425" marB="91425" marR="91425" marL="91425">
                    <a:solidFill>
                      <a:srgbClr val="EFEFEF"/>
                    </a:solidFill>
                  </a:tcPr>
                </a:tc>
              </a:tr>
              <a:tr h="429700">
                <a:tc>
                  <a:txBody>
                    <a:bodyPr/>
                    <a:lstStyle/>
                    <a:p>
                      <a:pPr indent="0" lvl="0" marL="0" rtl="0" algn="l">
                        <a:spcBef>
                          <a:spcPts val="0"/>
                        </a:spcBef>
                        <a:spcAft>
                          <a:spcPts val="0"/>
                        </a:spcAft>
                        <a:buNone/>
                      </a:pPr>
                      <a:r>
                        <a:rPr lang="it">
                          <a:latin typeface="Lexend"/>
                          <a:ea typeface="Lexend"/>
                          <a:cs typeface="Lexend"/>
                          <a:sym typeface="Lexend"/>
                        </a:rPr>
                        <a:t>Auto Elettrica?</a:t>
                      </a:r>
                      <a:endParaRPr>
                        <a:latin typeface="Lexend"/>
                        <a:ea typeface="Lexend"/>
                        <a:cs typeface="Lexend"/>
                        <a:sym typeface="Lexend"/>
                      </a:endParaRPr>
                    </a:p>
                  </a:txBody>
                  <a:tcPr marT="91425" marB="91425" marR="91425" marL="91425"/>
                </a:tc>
                <a:tc>
                  <a:txBody>
                    <a:bodyPr/>
                    <a:lstStyle/>
                    <a:p>
                      <a:pPr indent="0" lvl="0" marL="0" rtl="0" algn="l">
                        <a:spcBef>
                          <a:spcPts val="0"/>
                        </a:spcBef>
                        <a:spcAft>
                          <a:spcPts val="0"/>
                        </a:spcAft>
                        <a:buNone/>
                      </a:pPr>
                      <a:r>
                        <a:rPr lang="it">
                          <a:solidFill>
                            <a:schemeClr val="dk1"/>
                          </a:solidFill>
                          <a:latin typeface="Lexend"/>
                          <a:ea typeface="Lexend"/>
                          <a:cs typeface="Lexend"/>
                          <a:sym typeface="Lexend"/>
                        </a:rPr>
                        <a:t>SI | </a:t>
                      </a:r>
                      <a:r>
                        <a:rPr b="1" lang="it" u="sng">
                          <a:solidFill>
                            <a:schemeClr val="dk1"/>
                          </a:solidFill>
                          <a:latin typeface="Lexend"/>
                          <a:ea typeface="Lexend"/>
                          <a:cs typeface="Lexend"/>
                          <a:sym typeface="Lexend"/>
                        </a:rPr>
                        <a:t>NO</a:t>
                      </a:r>
                      <a:r>
                        <a:rPr lang="it">
                          <a:solidFill>
                            <a:schemeClr val="dk1"/>
                          </a:solidFill>
                          <a:latin typeface="Lexend"/>
                          <a:ea typeface="Lexend"/>
                          <a:cs typeface="Lexend"/>
                          <a:sym typeface="Lexend"/>
                        </a:rPr>
                        <a:t> | Entro 2-3 Anni</a:t>
                      </a:r>
                      <a:endParaRPr>
                        <a:latin typeface="Lexend"/>
                        <a:ea typeface="Lexend"/>
                        <a:cs typeface="Lexend"/>
                        <a:sym typeface="Lexend"/>
                      </a:endParaRPr>
                    </a:p>
                  </a:txBody>
                  <a:tcPr marT="91425" marB="91425" marR="91425" marL="91425"/>
                </a:tc>
                <a:tc>
                  <a:txBody>
                    <a:bodyPr/>
                    <a:lstStyle/>
                    <a:p>
                      <a:pPr indent="0" lvl="0" marL="0" rtl="0" algn="ctr">
                        <a:spcBef>
                          <a:spcPts val="0"/>
                        </a:spcBef>
                        <a:spcAft>
                          <a:spcPts val="0"/>
                        </a:spcAft>
                        <a:buNone/>
                      </a:pPr>
                      <a:r>
                        <a:rPr lang="it">
                          <a:latin typeface="Lexend"/>
                          <a:ea typeface="Lexend"/>
                          <a:cs typeface="Lexend"/>
                          <a:sym typeface="Lexend"/>
                        </a:rPr>
                        <a:t>0</a:t>
                      </a:r>
                      <a:endParaRPr>
                        <a:latin typeface="Lexend"/>
                        <a:ea typeface="Lexend"/>
                        <a:cs typeface="Lexend"/>
                        <a:sym typeface="Lexend"/>
                      </a:endParaRPr>
                    </a:p>
                  </a:txBody>
                  <a:tcPr marT="91425" marB="91425" marR="91425" marL="91425">
                    <a:solidFill>
                      <a:srgbClr val="EFEFEF"/>
                    </a:solidFill>
                  </a:tcPr>
                </a:tc>
              </a:tr>
              <a:tr h="429700">
                <a:tc gridSpan="2">
                  <a:txBody>
                    <a:bodyPr/>
                    <a:lstStyle/>
                    <a:p>
                      <a:pPr indent="0" lvl="0" marL="0" rtl="0" algn="l">
                        <a:spcBef>
                          <a:spcPts val="0"/>
                        </a:spcBef>
                        <a:spcAft>
                          <a:spcPts val="0"/>
                        </a:spcAft>
                        <a:buNone/>
                      </a:pPr>
                      <a:r>
                        <a:rPr b="1" lang="it">
                          <a:latin typeface="Lexend"/>
                          <a:ea typeface="Lexend"/>
                          <a:cs typeface="Lexend"/>
                          <a:sym typeface="Lexend"/>
                        </a:rPr>
                        <a:t>TOTALE KWh/anno </a:t>
                      </a:r>
                      <a:r>
                        <a:rPr lang="it" sz="1100">
                          <a:latin typeface="Lexend"/>
                          <a:ea typeface="Lexend"/>
                          <a:cs typeface="Lexend"/>
                          <a:sym typeface="Lexend"/>
                        </a:rPr>
                        <a:t>(Attuale </a:t>
                      </a:r>
                      <a:r>
                        <a:rPr lang="it">
                          <a:latin typeface="Lexend"/>
                          <a:ea typeface="Lexend"/>
                          <a:cs typeface="Lexend"/>
                          <a:sym typeface="Lexend"/>
                        </a:rPr>
                        <a:t>+</a:t>
                      </a:r>
                      <a:r>
                        <a:rPr lang="it" sz="1100">
                          <a:latin typeface="Lexend"/>
                          <a:ea typeface="Lexend"/>
                          <a:cs typeface="Lexend"/>
                          <a:sym typeface="Lexend"/>
                        </a:rPr>
                        <a:t> Previsione Breve Termine)</a:t>
                      </a:r>
                      <a:endParaRPr sz="1100">
                        <a:latin typeface="Lexend"/>
                        <a:ea typeface="Lexend"/>
                        <a:cs typeface="Lexend"/>
                        <a:sym typeface="Lexend"/>
                      </a:endParaRPr>
                    </a:p>
                  </a:txBody>
                  <a:tcPr marT="91425" marB="91425" marR="91425" marL="91425">
                    <a:solidFill>
                      <a:srgbClr val="B6D7A8"/>
                    </a:solidFill>
                  </a:tcPr>
                </a:tc>
                <a:tc hMerge="1"/>
                <a:tc>
                  <a:txBody>
                    <a:bodyPr/>
                    <a:lstStyle/>
                    <a:p>
                      <a:pPr indent="0" lvl="0" marL="0" rtl="0" algn="ctr">
                        <a:spcBef>
                          <a:spcPts val="0"/>
                        </a:spcBef>
                        <a:spcAft>
                          <a:spcPts val="0"/>
                        </a:spcAft>
                        <a:buNone/>
                      </a:pPr>
                      <a:r>
                        <a:rPr b="1" lang="it">
                          <a:latin typeface="Lexend"/>
                          <a:ea typeface="Lexend"/>
                          <a:cs typeface="Lexend"/>
                          <a:sym typeface="Lexend"/>
                        </a:rPr>
                        <a:t>6.324</a:t>
                      </a:r>
                      <a:r>
                        <a:rPr b="1" lang="it">
                          <a:latin typeface="Lexend"/>
                          <a:ea typeface="Lexend"/>
                          <a:cs typeface="Lexend"/>
                          <a:sym typeface="Lexend"/>
                        </a:rPr>
                        <a:t> KWh</a:t>
                      </a:r>
                      <a:endParaRPr b="1">
                        <a:latin typeface="Lexend"/>
                        <a:ea typeface="Lexend"/>
                        <a:cs typeface="Lexend"/>
                        <a:sym typeface="Lexend"/>
                      </a:endParaRPr>
                    </a:p>
                  </a:txBody>
                  <a:tcPr marT="91425" marB="91425" marR="91425" marL="91425">
                    <a:solidFill>
                      <a:srgbClr val="B6D7A8"/>
                    </a:solidFill>
                  </a:tcPr>
                </a:tc>
              </a:tr>
            </a:tbl>
          </a:graphicData>
        </a:graphic>
      </p:graphicFrame>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2" name="Shape 952"/>
        <p:cNvGrpSpPr/>
        <p:nvPr/>
      </p:nvGrpSpPr>
      <p:grpSpPr>
        <a:xfrm>
          <a:off x="0" y="0"/>
          <a:ext cx="0" cy="0"/>
          <a:chOff x="0" y="0"/>
          <a:chExt cx="0" cy="0"/>
        </a:xfrm>
      </p:grpSpPr>
      <p:sp>
        <p:nvSpPr>
          <p:cNvPr id="953" name="Google Shape;953;p7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4" name="Google Shape;954;p76"/>
          <p:cNvSpPr txBox="1"/>
          <p:nvPr>
            <p:ph type="title"/>
          </p:nvPr>
        </p:nvSpPr>
        <p:spPr>
          <a:xfrm>
            <a:off x="311700" y="1647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Quindi cosa capiamo?</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
        <p:nvSpPr>
          <p:cNvPr id="955" name="Google Shape;955;p76"/>
          <p:cNvSpPr txBox="1"/>
          <p:nvPr/>
        </p:nvSpPr>
        <p:spPr>
          <a:xfrm>
            <a:off x="677775" y="2396625"/>
            <a:ext cx="7788300" cy="943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2200">
                <a:solidFill>
                  <a:schemeClr val="dk1"/>
                </a:solidFill>
                <a:latin typeface="Lexend"/>
                <a:ea typeface="Lexend"/>
                <a:cs typeface="Lexend"/>
                <a:sym typeface="Lexend"/>
              </a:rPr>
              <a:t>che questa coppia </a:t>
            </a:r>
            <a:r>
              <a:rPr b="1" lang="it" sz="2200">
                <a:solidFill>
                  <a:schemeClr val="dk1"/>
                </a:solidFill>
                <a:latin typeface="Lexend"/>
                <a:ea typeface="Lexend"/>
                <a:cs typeface="Lexend"/>
                <a:sym typeface="Lexend"/>
              </a:rPr>
              <a:t>consuma</a:t>
            </a:r>
            <a:r>
              <a:rPr lang="it" sz="2200">
                <a:solidFill>
                  <a:schemeClr val="dk1"/>
                </a:solidFill>
                <a:latin typeface="Lexend"/>
                <a:ea typeface="Lexend"/>
                <a:cs typeface="Lexend"/>
                <a:sym typeface="Lexend"/>
              </a:rPr>
              <a:t> e ha bisogno </a:t>
            </a:r>
            <a:endParaRPr sz="2200">
              <a:solidFill>
                <a:schemeClr val="dk1"/>
              </a:solidFill>
              <a:latin typeface="Lexend"/>
              <a:ea typeface="Lexend"/>
              <a:cs typeface="Lexend"/>
              <a:sym typeface="Lexend"/>
            </a:endParaRPr>
          </a:p>
          <a:p>
            <a:pPr indent="0" lvl="0" marL="0" rtl="0" algn="ctr">
              <a:lnSpc>
                <a:spcPct val="115000"/>
              </a:lnSpc>
              <a:spcBef>
                <a:spcPts val="0"/>
              </a:spcBef>
              <a:spcAft>
                <a:spcPts val="0"/>
              </a:spcAft>
              <a:buNone/>
            </a:pPr>
            <a:r>
              <a:rPr lang="it" sz="2400">
                <a:solidFill>
                  <a:schemeClr val="dk1"/>
                </a:solidFill>
                <a:latin typeface="Lexend"/>
                <a:ea typeface="Lexend"/>
                <a:cs typeface="Lexend"/>
                <a:sym typeface="Lexend"/>
              </a:rPr>
              <a:t>minimo di un 6 + 10 kWp.</a:t>
            </a:r>
            <a:endParaRPr sz="2400">
              <a:latin typeface="Lexend"/>
              <a:ea typeface="Lexend"/>
              <a:cs typeface="Lexend"/>
              <a:sym typeface="Lexend"/>
            </a:endParaRPr>
          </a:p>
        </p:txBody>
      </p:sp>
      <p:pic>
        <p:nvPicPr>
          <p:cNvPr id="956" name="Google Shape;956;p76"/>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57" name="Google Shape;957;p7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958" name="Google Shape;958;p7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63</a:t>
            </a:r>
            <a:endParaRPr sz="700">
              <a:latin typeface="Lexend"/>
              <a:ea typeface="Lexend"/>
              <a:cs typeface="Lexend"/>
              <a:sym typeface="Lexend"/>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2" name="Shape 962"/>
        <p:cNvGrpSpPr/>
        <p:nvPr/>
      </p:nvGrpSpPr>
      <p:grpSpPr>
        <a:xfrm>
          <a:off x="0" y="0"/>
          <a:ext cx="0" cy="0"/>
          <a:chOff x="0" y="0"/>
          <a:chExt cx="0" cy="0"/>
        </a:xfrm>
      </p:grpSpPr>
      <p:sp>
        <p:nvSpPr>
          <p:cNvPr id="963" name="Google Shape;963;p7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4" name="Google Shape;964;p77"/>
          <p:cNvSpPr txBox="1"/>
          <p:nvPr/>
        </p:nvSpPr>
        <p:spPr>
          <a:xfrm>
            <a:off x="677850" y="1847550"/>
            <a:ext cx="7788300" cy="1448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lang="it" sz="4000">
                <a:latin typeface="Lexend"/>
                <a:ea typeface="Lexend"/>
                <a:cs typeface="Lexend"/>
                <a:sym typeface="Lexend"/>
              </a:rPr>
              <a:t>OTTIMO! </a:t>
            </a:r>
            <a:endParaRPr sz="4000">
              <a:latin typeface="Lexend"/>
              <a:ea typeface="Lexend"/>
              <a:cs typeface="Lexend"/>
              <a:sym typeface="Lexend"/>
            </a:endParaRPr>
          </a:p>
          <a:p>
            <a:pPr indent="0" lvl="0" marL="0" rtl="0" algn="ctr">
              <a:lnSpc>
                <a:spcPct val="115000"/>
              </a:lnSpc>
              <a:spcBef>
                <a:spcPts val="0"/>
              </a:spcBef>
              <a:spcAft>
                <a:spcPts val="0"/>
              </a:spcAft>
              <a:buNone/>
            </a:pPr>
            <a:r>
              <a:t/>
            </a:r>
            <a:endParaRPr>
              <a:latin typeface="Lexend"/>
              <a:ea typeface="Lexend"/>
              <a:cs typeface="Lexend"/>
              <a:sym typeface="Lexend"/>
            </a:endParaRPr>
          </a:p>
          <a:p>
            <a:pPr indent="0" lvl="0" marL="0" rtl="0" algn="ctr">
              <a:lnSpc>
                <a:spcPct val="115000"/>
              </a:lnSpc>
              <a:spcBef>
                <a:spcPts val="0"/>
              </a:spcBef>
              <a:spcAft>
                <a:spcPts val="0"/>
              </a:spcAft>
              <a:buNone/>
            </a:pPr>
            <a:r>
              <a:rPr lang="it" sz="2000">
                <a:latin typeface="Lexend"/>
                <a:ea typeface="Lexend"/>
                <a:cs typeface="Lexend"/>
                <a:sym typeface="Lexend"/>
              </a:rPr>
              <a:t>Abbiamo </a:t>
            </a:r>
            <a:r>
              <a:rPr b="1" lang="it" sz="2000">
                <a:solidFill>
                  <a:srgbClr val="38761D"/>
                </a:solidFill>
                <a:highlight>
                  <a:srgbClr val="B6D7A8"/>
                </a:highlight>
                <a:latin typeface="Lexend"/>
                <a:ea typeface="Lexend"/>
                <a:cs typeface="Lexend"/>
                <a:sym typeface="Lexend"/>
              </a:rPr>
              <a:t>dimensionato correttamente un’impianto.</a:t>
            </a:r>
            <a:endParaRPr sz="2000">
              <a:solidFill>
                <a:srgbClr val="38761D"/>
              </a:solidFill>
              <a:highlight>
                <a:srgbClr val="B6D7A8"/>
              </a:highlight>
              <a:latin typeface="Lexend"/>
              <a:ea typeface="Lexend"/>
              <a:cs typeface="Lexend"/>
              <a:sym typeface="Lexend"/>
            </a:endParaRPr>
          </a:p>
        </p:txBody>
      </p:sp>
      <p:pic>
        <p:nvPicPr>
          <p:cNvPr id="965" name="Google Shape;965;p77"/>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66" name="Google Shape;966;p7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967" name="Google Shape;967;p7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Dimensionamento Impianto | 64</a:t>
            </a:r>
            <a:endParaRPr sz="700">
              <a:latin typeface="Lexend"/>
              <a:ea typeface="Lexend"/>
              <a:cs typeface="Lexend"/>
              <a:sym typeface="Lexend"/>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7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973" name="Google Shape;973;p78"/>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974" name="Google Shape;974;p78"/>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975" name="Google Shape;975;p78"/>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Dimensioni Fotovoltaico e Proiezioni</a:t>
            </a:r>
            <a:r>
              <a:rPr lang="it" sz="700">
                <a:latin typeface="Lexend"/>
                <a:ea typeface="Lexend"/>
                <a:cs typeface="Lexend"/>
                <a:sym typeface="Lexend"/>
              </a:rPr>
              <a:t> | 65</a:t>
            </a:r>
            <a:endParaRPr sz="700">
              <a:latin typeface="Lexend"/>
              <a:ea typeface="Lexend"/>
              <a:cs typeface="Lexend"/>
              <a:sym typeface="Lexend"/>
            </a:endParaRPr>
          </a:p>
        </p:txBody>
      </p:sp>
      <p:sp>
        <p:nvSpPr>
          <p:cNvPr id="976" name="Google Shape;976;p78"/>
          <p:cNvSpPr txBox="1"/>
          <p:nvPr>
            <p:ph type="title"/>
          </p:nvPr>
        </p:nvSpPr>
        <p:spPr>
          <a:xfrm>
            <a:off x="311700" y="843550"/>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Capiamo il </a:t>
            </a:r>
            <a:r>
              <a:rPr b="1" lang="it" sz="2020">
                <a:latin typeface="Lexend"/>
                <a:ea typeface="Lexend"/>
                <a:cs typeface="Lexend"/>
                <a:sym typeface="Lexend"/>
              </a:rPr>
              <a:t>Mercato Privati</a:t>
            </a:r>
            <a:r>
              <a:rPr lang="it" sz="2020">
                <a:latin typeface="Lexend"/>
                <a:ea typeface="Lexend"/>
                <a:cs typeface="Lexend"/>
                <a:sym typeface="Lexend"/>
              </a:rPr>
              <a:t> e i tagli più comuni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graphicFrame>
        <p:nvGraphicFramePr>
          <p:cNvPr id="977" name="Google Shape;977;p78"/>
          <p:cNvGraphicFramePr/>
          <p:nvPr/>
        </p:nvGraphicFramePr>
        <p:xfrm>
          <a:off x="2994663" y="1551700"/>
          <a:ext cx="3000000" cy="3000000"/>
        </p:xfrm>
        <a:graphic>
          <a:graphicData uri="http://schemas.openxmlformats.org/drawingml/2006/table">
            <a:tbl>
              <a:tblPr>
                <a:noFill/>
                <a:tableStyleId>{9273CD7E-ADB5-4E27-A5E8-29BB0BF39C83}</a:tableStyleId>
              </a:tblPr>
              <a:tblGrid>
                <a:gridCol w="1188125"/>
                <a:gridCol w="1966550"/>
              </a:tblGrid>
              <a:tr h="381000">
                <a:tc>
                  <a:txBody>
                    <a:bodyPr/>
                    <a:lstStyle/>
                    <a:p>
                      <a:pPr indent="0" lvl="0" marL="0" rtl="0" algn="l">
                        <a:spcBef>
                          <a:spcPts val="0"/>
                        </a:spcBef>
                        <a:spcAft>
                          <a:spcPts val="0"/>
                        </a:spcAft>
                        <a:buNone/>
                      </a:pPr>
                      <a:r>
                        <a:rPr lang="it" sz="1200">
                          <a:latin typeface="Lexend"/>
                          <a:ea typeface="Lexend"/>
                          <a:cs typeface="Lexend"/>
                          <a:sym typeface="Lexend"/>
                        </a:rPr>
                        <a:t>3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latin typeface="Lexend"/>
                          <a:ea typeface="Lexend"/>
                          <a:cs typeface="Lexend"/>
                          <a:sym typeface="Lexend"/>
                        </a:rPr>
                        <a:t>3 kWp + 5Kwp</a:t>
                      </a:r>
                      <a:endParaRPr sz="1200">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4</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4 kWp </a:t>
                      </a:r>
                      <a:r>
                        <a:rPr lang="it" sz="1200">
                          <a:solidFill>
                            <a:schemeClr val="dk1"/>
                          </a:solidFill>
                          <a:latin typeface="Lexend"/>
                          <a:ea typeface="Lexend"/>
                          <a:cs typeface="Lexend"/>
                          <a:sym typeface="Lexend"/>
                        </a:rPr>
                        <a:t>+ 5/10Kwp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5</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5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b="1" lang="it">
                          <a:solidFill>
                            <a:srgbClr val="38761D"/>
                          </a:solidFill>
                          <a:latin typeface="Lexend"/>
                          <a:ea typeface="Lexend"/>
                          <a:cs typeface="Lexend"/>
                          <a:sym typeface="Lexend"/>
                        </a:rPr>
                        <a:t>6</a:t>
                      </a:r>
                      <a:r>
                        <a:rPr b="1" lang="it">
                          <a:solidFill>
                            <a:srgbClr val="38761D"/>
                          </a:solidFill>
                          <a:latin typeface="Lexend"/>
                          <a:ea typeface="Lexend"/>
                          <a:cs typeface="Lexend"/>
                          <a:sym typeface="Lexend"/>
                        </a:rPr>
                        <a:t> kWp</a:t>
                      </a:r>
                      <a:endParaRPr b="1">
                        <a:solidFill>
                          <a:srgbClr val="38761D"/>
                        </a:solidFill>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solidFill>
                      <a:srgbClr val="B6D7A8"/>
                    </a:solidFill>
                  </a:tcPr>
                </a:tc>
                <a:tc>
                  <a:txBody>
                    <a:bodyPr/>
                    <a:lstStyle/>
                    <a:p>
                      <a:pPr indent="0" lvl="0" marL="0" rtl="0" algn="l">
                        <a:spcBef>
                          <a:spcPts val="0"/>
                        </a:spcBef>
                        <a:spcAft>
                          <a:spcPts val="0"/>
                        </a:spcAft>
                        <a:buNone/>
                      </a:pPr>
                      <a:r>
                        <a:rPr b="1" lang="it">
                          <a:solidFill>
                            <a:srgbClr val="38761D"/>
                          </a:solidFill>
                          <a:latin typeface="Lexend"/>
                          <a:ea typeface="Lexend"/>
                          <a:cs typeface="Lexend"/>
                          <a:sym typeface="Lexend"/>
                        </a:rPr>
                        <a:t>6 kWp</a:t>
                      </a:r>
                      <a:r>
                        <a:rPr b="1" lang="it">
                          <a:solidFill>
                            <a:srgbClr val="38761D"/>
                          </a:solidFill>
                          <a:latin typeface="Lexend"/>
                          <a:ea typeface="Lexend"/>
                          <a:cs typeface="Lexend"/>
                          <a:sym typeface="Lexend"/>
                        </a:rPr>
                        <a:t> + 10Kwp</a:t>
                      </a:r>
                      <a:endParaRPr b="1">
                        <a:solidFill>
                          <a:srgbClr val="38761D"/>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B6D7A8"/>
                    </a:solidFill>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7</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7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8</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8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9</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9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81000">
                <a:tc>
                  <a:txBody>
                    <a:bodyPr/>
                    <a:lstStyle/>
                    <a:p>
                      <a:pPr indent="0" lvl="0" marL="0" rtl="0" algn="l">
                        <a:spcBef>
                          <a:spcPts val="0"/>
                        </a:spcBef>
                        <a:spcAft>
                          <a:spcPts val="0"/>
                        </a:spcAft>
                        <a:buClr>
                          <a:schemeClr val="dk1"/>
                        </a:buClr>
                        <a:buSzPts val="1100"/>
                        <a:buFont typeface="Arial"/>
                        <a:buNone/>
                      </a:pPr>
                      <a:r>
                        <a:rPr lang="it" sz="1200">
                          <a:solidFill>
                            <a:schemeClr val="dk1"/>
                          </a:solidFill>
                          <a:latin typeface="Lexend"/>
                          <a:ea typeface="Lexend"/>
                          <a:cs typeface="Lexend"/>
                          <a:sym typeface="Lexend"/>
                        </a:rPr>
                        <a:t>10</a:t>
                      </a:r>
                      <a:r>
                        <a:rPr lang="it" sz="1200">
                          <a:solidFill>
                            <a:schemeClr val="dk1"/>
                          </a:solidFill>
                          <a:latin typeface="Lexend"/>
                          <a:ea typeface="Lexend"/>
                          <a:cs typeface="Lexend"/>
                          <a:sym typeface="Lexend"/>
                        </a:rPr>
                        <a:t> kWp</a:t>
                      </a:r>
                      <a:endParaRPr sz="1200">
                        <a:latin typeface="Lexend"/>
                        <a:ea typeface="Lexend"/>
                        <a:cs typeface="Lexend"/>
                        <a:sym typeface="Lexend"/>
                      </a:endParaRPr>
                    </a:p>
                  </a:txBody>
                  <a:tcPr marT="91425" marB="91425" marR="91425" marL="91425">
                    <a:lnR cap="flat" cmpd="sng" w="9525">
                      <a:solidFill>
                        <a:srgbClr val="9E9E9E"/>
                      </a:solidFill>
                      <a:prstDash val="solid"/>
                      <a:round/>
                      <a:headEnd len="sm" w="sm" type="none"/>
                      <a:tailEnd len="sm" w="sm" type="none"/>
                    </a:lnR>
                  </a:tcPr>
                </a:tc>
                <a:tc>
                  <a:txBody>
                    <a:bodyPr/>
                    <a:lstStyle/>
                    <a:p>
                      <a:pPr indent="0" lvl="0" marL="0" rtl="0" algn="l">
                        <a:spcBef>
                          <a:spcPts val="0"/>
                        </a:spcBef>
                        <a:spcAft>
                          <a:spcPts val="0"/>
                        </a:spcAft>
                        <a:buNone/>
                      </a:pPr>
                      <a:r>
                        <a:rPr lang="it" sz="1200">
                          <a:solidFill>
                            <a:schemeClr val="dk1"/>
                          </a:solidFill>
                          <a:latin typeface="Lexend"/>
                          <a:ea typeface="Lexend"/>
                          <a:cs typeface="Lexend"/>
                          <a:sym typeface="Lexend"/>
                        </a:rPr>
                        <a:t>10 kWp</a:t>
                      </a:r>
                      <a:r>
                        <a:rPr lang="it" sz="1200">
                          <a:solidFill>
                            <a:schemeClr val="dk1"/>
                          </a:solidFill>
                          <a:latin typeface="Lexend"/>
                          <a:ea typeface="Lexend"/>
                          <a:cs typeface="Lexend"/>
                          <a:sym typeface="Lexend"/>
                        </a:rPr>
                        <a:t> + 10Kwp</a:t>
                      </a:r>
                      <a:endParaRPr sz="1200">
                        <a:solidFill>
                          <a:schemeClr val="dk1"/>
                        </a:solidFill>
                        <a:latin typeface="Lexend"/>
                        <a:ea typeface="Lexend"/>
                        <a:cs typeface="Lexend"/>
                        <a:sym typeface="Lexend"/>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978" name="Google Shape;978;p78"/>
          <p:cNvSpPr/>
          <p:nvPr/>
        </p:nvSpPr>
        <p:spPr>
          <a:xfrm rot="-5400000">
            <a:off x="6422316" y="2660580"/>
            <a:ext cx="237000" cy="474300"/>
          </a:xfrm>
          <a:prstGeom prst="upArrow">
            <a:avLst>
              <a:gd fmla="val 50000" name="adj1"/>
              <a:gd fmla="val 50000" name="adj2"/>
            </a:avLst>
          </a:prstGeom>
          <a:solidFill>
            <a:srgbClr val="38761D"/>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79" name="Google Shape;979;p78"/>
          <p:cNvSpPr txBox="1"/>
          <p:nvPr>
            <p:ph type="title"/>
          </p:nvPr>
        </p:nvSpPr>
        <p:spPr>
          <a:xfrm>
            <a:off x="6820575" y="2630125"/>
            <a:ext cx="1550700" cy="5352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1220">
                <a:latin typeface="Lexend"/>
                <a:ea typeface="Lexend"/>
                <a:cs typeface="Lexend"/>
                <a:sym typeface="Lexend"/>
              </a:rPr>
              <a:t>E’ e sarà per tutti il nuovo standard!</a:t>
            </a:r>
            <a:endParaRPr b="1" sz="12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3" name="Shape 983"/>
        <p:cNvGrpSpPr/>
        <p:nvPr/>
      </p:nvGrpSpPr>
      <p:grpSpPr>
        <a:xfrm>
          <a:off x="0" y="0"/>
          <a:ext cx="0" cy="0"/>
          <a:chOff x="0" y="0"/>
          <a:chExt cx="0" cy="0"/>
        </a:xfrm>
      </p:grpSpPr>
      <p:pic>
        <p:nvPicPr>
          <p:cNvPr id="984" name="Google Shape;984;p79"/>
          <p:cNvPicPr preferRelativeResize="0"/>
          <p:nvPr/>
        </p:nvPicPr>
        <p:blipFill rotWithShape="1">
          <a:blip r:embed="rId3">
            <a:alphaModFix/>
          </a:blip>
          <a:srcRect b="-949" l="-6383" r="-707" t="0"/>
          <a:stretch/>
        </p:blipFill>
        <p:spPr>
          <a:xfrm>
            <a:off x="5498700" y="824825"/>
            <a:ext cx="2741701" cy="3877775"/>
          </a:xfrm>
          <a:prstGeom prst="rect">
            <a:avLst/>
          </a:prstGeom>
          <a:noFill/>
          <a:ln cap="flat" cmpd="sng" w="9525">
            <a:solidFill>
              <a:srgbClr val="B7B7B7"/>
            </a:solidFill>
            <a:prstDash val="solid"/>
            <a:round/>
            <a:headEnd len="sm" w="sm" type="none"/>
            <a:tailEnd len="sm" w="sm" type="none"/>
          </a:ln>
        </p:spPr>
      </p:pic>
      <p:sp>
        <p:nvSpPr>
          <p:cNvPr id="985" name="Google Shape;985;p7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86" name="Google Shape;986;p79"/>
          <p:cNvSpPr txBox="1"/>
          <p:nvPr>
            <p:ph type="title"/>
          </p:nvPr>
        </p:nvSpPr>
        <p:spPr>
          <a:xfrm>
            <a:off x="569725" y="824825"/>
            <a:ext cx="3319200" cy="462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990"/>
              <a:buNone/>
            </a:pPr>
            <a:r>
              <a:rPr b="1" lang="it" sz="2020">
                <a:latin typeface="Lexend"/>
                <a:ea typeface="Lexend"/>
                <a:cs typeface="Lexend"/>
                <a:sym typeface="Lexend"/>
              </a:rPr>
              <a:t>Modulo Raccolta Dati</a:t>
            </a:r>
            <a:endParaRPr b="1" sz="2020">
              <a:latin typeface="Lexend"/>
              <a:ea typeface="Lexend"/>
              <a:cs typeface="Lexend"/>
              <a:sym typeface="Lexend"/>
            </a:endParaRPr>
          </a:p>
        </p:txBody>
      </p:sp>
      <p:sp>
        <p:nvSpPr>
          <p:cNvPr id="987" name="Google Shape;987;p79"/>
          <p:cNvSpPr txBox="1"/>
          <p:nvPr>
            <p:ph idx="1" type="body"/>
          </p:nvPr>
        </p:nvSpPr>
        <p:spPr>
          <a:xfrm>
            <a:off x="569725" y="1323550"/>
            <a:ext cx="3996000" cy="139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200">
                <a:solidFill>
                  <a:schemeClr val="dk1"/>
                </a:solidFill>
                <a:latin typeface="Lexend"/>
                <a:ea typeface="Lexend"/>
                <a:cs typeface="Lexend"/>
                <a:sym typeface="Lexend"/>
              </a:rPr>
              <a:t>Inserire dati cliente e compilare modulo raccolta dati per la corretta ubicazione specifiche impianto.</a:t>
            </a:r>
            <a:endParaRPr sz="1200">
              <a:solidFill>
                <a:schemeClr val="dk1"/>
              </a:solidFill>
              <a:latin typeface="Lexend"/>
              <a:ea typeface="Lexend"/>
              <a:cs typeface="Lexend"/>
              <a:sym typeface="Lexend"/>
            </a:endParaRPr>
          </a:p>
          <a:p>
            <a:pPr indent="0" lvl="0" marL="0" rtl="0" algn="l">
              <a:spcBef>
                <a:spcPts val="0"/>
              </a:spcBef>
              <a:spcAft>
                <a:spcPts val="0"/>
              </a:spcAft>
              <a:buNone/>
            </a:pPr>
            <a:r>
              <a:t/>
            </a:r>
            <a:endParaRPr sz="1200">
              <a:solidFill>
                <a:schemeClr val="dk1"/>
              </a:solidFill>
              <a:latin typeface="Lexend"/>
              <a:ea typeface="Lexend"/>
              <a:cs typeface="Lexend"/>
              <a:sym typeface="Lexend"/>
            </a:endParaRPr>
          </a:p>
          <a:p>
            <a:pPr indent="0" lvl="0" marL="0" rtl="0" algn="l">
              <a:spcBef>
                <a:spcPts val="0"/>
              </a:spcBef>
              <a:spcAft>
                <a:spcPts val="0"/>
              </a:spcAft>
              <a:buNone/>
            </a:pPr>
            <a:r>
              <a:rPr lang="it" sz="1200">
                <a:solidFill>
                  <a:schemeClr val="dk1"/>
                </a:solidFill>
                <a:latin typeface="Lexend"/>
                <a:ea typeface="Lexend"/>
                <a:cs typeface="Lexend"/>
                <a:sym typeface="Lexend"/>
              </a:rPr>
              <a:t>Per una documentazione completa, allegare: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AutoNum type="arabicPeriod"/>
            </a:pPr>
            <a:r>
              <a:rPr lang="it" sz="1200">
                <a:solidFill>
                  <a:schemeClr val="dk1"/>
                </a:solidFill>
                <a:latin typeface="Lexend"/>
                <a:ea typeface="Lexend"/>
                <a:cs typeface="Lexend"/>
                <a:sym typeface="Lexend"/>
              </a:rPr>
              <a:t>Foto esterno e insieme dell’immobile;</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AutoNum type="arabicPeriod"/>
            </a:pPr>
            <a:r>
              <a:rPr lang="it" sz="1200">
                <a:solidFill>
                  <a:schemeClr val="dk1"/>
                </a:solidFill>
                <a:latin typeface="Lexend"/>
                <a:ea typeface="Lexend"/>
                <a:cs typeface="Lexend"/>
                <a:sym typeface="Lexend"/>
              </a:rPr>
              <a:t>C.I. e C.F. Intestatario Bolletta;</a:t>
            </a:r>
            <a:endParaRPr sz="1200">
              <a:solidFill>
                <a:schemeClr val="dk1"/>
              </a:solidFill>
              <a:latin typeface="Lexend"/>
              <a:ea typeface="Lexend"/>
              <a:cs typeface="Lexend"/>
              <a:sym typeface="Lexend"/>
            </a:endParaRPr>
          </a:p>
          <a:p>
            <a:pPr indent="-304800" lvl="0" marL="457200" rtl="0" algn="l">
              <a:spcBef>
                <a:spcPts val="0"/>
              </a:spcBef>
              <a:spcAft>
                <a:spcPts val="0"/>
              </a:spcAft>
              <a:buClr>
                <a:schemeClr val="dk1"/>
              </a:buClr>
              <a:buSzPts val="1200"/>
              <a:buFont typeface="Lexend"/>
              <a:buAutoNum type="arabicPeriod"/>
            </a:pPr>
            <a:r>
              <a:rPr lang="it" sz="1200">
                <a:solidFill>
                  <a:schemeClr val="dk1"/>
                </a:solidFill>
                <a:latin typeface="Lexend"/>
                <a:ea typeface="Lexend"/>
                <a:cs typeface="Lexend"/>
                <a:sym typeface="Lexend"/>
              </a:rPr>
              <a:t>Scheda o Visura Catastale* e Bolletta. </a:t>
            </a:r>
            <a:endParaRPr sz="1200">
              <a:solidFill>
                <a:schemeClr val="dk1"/>
              </a:solidFill>
              <a:latin typeface="Lexend"/>
              <a:ea typeface="Lexend"/>
              <a:cs typeface="Lexend"/>
              <a:sym typeface="Lexend"/>
            </a:endParaRPr>
          </a:p>
        </p:txBody>
      </p:sp>
      <p:grpSp>
        <p:nvGrpSpPr>
          <p:cNvPr id="988" name="Google Shape;988;p79"/>
          <p:cNvGrpSpPr/>
          <p:nvPr/>
        </p:nvGrpSpPr>
        <p:grpSpPr>
          <a:xfrm rot="5400000">
            <a:off x="4703467" y="1796576"/>
            <a:ext cx="1132479" cy="110776"/>
            <a:chOff x="1004250" y="2303450"/>
            <a:chExt cx="3975005" cy="388825"/>
          </a:xfrm>
        </p:grpSpPr>
        <p:cxnSp>
          <p:nvCxnSpPr>
            <p:cNvPr id="989" name="Google Shape;989;p79"/>
            <p:cNvCxnSpPr/>
            <p:nvPr/>
          </p:nvCxnSpPr>
          <p:spPr>
            <a:xfrm rot="10800000">
              <a:off x="2991750" y="510375"/>
              <a:ext cx="0" cy="3975000"/>
            </a:xfrm>
            <a:prstGeom prst="straightConnector1">
              <a:avLst/>
            </a:prstGeom>
            <a:noFill/>
            <a:ln cap="flat" cmpd="sng" w="9525">
              <a:solidFill>
                <a:schemeClr val="dk2"/>
              </a:solidFill>
              <a:prstDash val="solid"/>
              <a:round/>
              <a:headEnd len="med" w="med" type="none"/>
              <a:tailEnd len="med" w="med" type="none"/>
            </a:ln>
          </p:spPr>
        </p:cxnSp>
        <p:cxnSp>
          <p:nvCxnSpPr>
            <p:cNvPr id="990" name="Google Shape;990;p79"/>
            <p:cNvCxnSpPr/>
            <p:nvPr/>
          </p:nvCxnSpPr>
          <p:spPr>
            <a:xfrm>
              <a:off x="10042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991" name="Google Shape;991;p79"/>
            <p:cNvCxnSpPr/>
            <p:nvPr/>
          </p:nvCxnSpPr>
          <p:spPr>
            <a:xfrm>
              <a:off x="4979255"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992" name="Google Shape;992;p79"/>
            <p:cNvCxnSpPr/>
            <p:nvPr/>
          </p:nvCxnSpPr>
          <p:spPr>
            <a:xfrm>
              <a:off x="2991753" y="2497875"/>
              <a:ext cx="0" cy="194400"/>
            </a:xfrm>
            <a:prstGeom prst="straightConnector1">
              <a:avLst/>
            </a:prstGeom>
            <a:noFill/>
            <a:ln cap="flat" cmpd="sng" w="9525">
              <a:solidFill>
                <a:schemeClr val="dk2"/>
              </a:solidFill>
              <a:prstDash val="solid"/>
              <a:round/>
              <a:headEnd len="med" w="med" type="none"/>
              <a:tailEnd len="med" w="med" type="none"/>
            </a:ln>
          </p:spPr>
        </p:cxnSp>
      </p:grpSp>
      <p:grpSp>
        <p:nvGrpSpPr>
          <p:cNvPr id="993" name="Google Shape;993;p79"/>
          <p:cNvGrpSpPr/>
          <p:nvPr/>
        </p:nvGrpSpPr>
        <p:grpSpPr>
          <a:xfrm rot="5400000">
            <a:off x="4572955" y="3164388"/>
            <a:ext cx="1393503" cy="110776"/>
            <a:chOff x="1004250" y="2303450"/>
            <a:chExt cx="4891200" cy="388825"/>
          </a:xfrm>
        </p:grpSpPr>
        <p:cxnSp>
          <p:nvCxnSpPr>
            <p:cNvPr id="994" name="Google Shape;994;p79"/>
            <p:cNvCxnSpPr/>
            <p:nvPr/>
          </p:nvCxnSpPr>
          <p:spPr>
            <a:xfrm rot="10800000">
              <a:off x="3449850" y="52275"/>
              <a:ext cx="0" cy="4891200"/>
            </a:xfrm>
            <a:prstGeom prst="straightConnector1">
              <a:avLst/>
            </a:prstGeom>
            <a:noFill/>
            <a:ln cap="flat" cmpd="sng" w="9525">
              <a:solidFill>
                <a:schemeClr val="dk2"/>
              </a:solidFill>
              <a:prstDash val="solid"/>
              <a:round/>
              <a:headEnd len="med" w="med" type="none"/>
              <a:tailEnd len="med" w="med" type="none"/>
            </a:ln>
          </p:spPr>
        </p:cxnSp>
        <p:cxnSp>
          <p:nvCxnSpPr>
            <p:cNvPr id="995" name="Google Shape;995;p79"/>
            <p:cNvCxnSpPr/>
            <p:nvPr/>
          </p:nvCxnSpPr>
          <p:spPr>
            <a:xfrm>
              <a:off x="1004250"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996" name="Google Shape;996;p79"/>
            <p:cNvCxnSpPr/>
            <p:nvPr/>
          </p:nvCxnSpPr>
          <p:spPr>
            <a:xfrm>
              <a:off x="5893787" y="2303450"/>
              <a:ext cx="0" cy="194400"/>
            </a:xfrm>
            <a:prstGeom prst="straightConnector1">
              <a:avLst/>
            </a:prstGeom>
            <a:noFill/>
            <a:ln cap="flat" cmpd="sng" w="9525">
              <a:solidFill>
                <a:schemeClr val="dk2"/>
              </a:solidFill>
              <a:prstDash val="solid"/>
              <a:round/>
              <a:headEnd len="med" w="med" type="none"/>
              <a:tailEnd len="med" w="med" type="none"/>
            </a:ln>
          </p:spPr>
        </p:cxnSp>
        <p:cxnSp>
          <p:nvCxnSpPr>
            <p:cNvPr id="997" name="Google Shape;997;p79"/>
            <p:cNvCxnSpPr/>
            <p:nvPr/>
          </p:nvCxnSpPr>
          <p:spPr>
            <a:xfrm>
              <a:off x="3449808" y="2497875"/>
              <a:ext cx="0" cy="194400"/>
            </a:xfrm>
            <a:prstGeom prst="straightConnector1">
              <a:avLst/>
            </a:prstGeom>
            <a:noFill/>
            <a:ln cap="flat" cmpd="sng" w="9525">
              <a:solidFill>
                <a:schemeClr val="dk2"/>
              </a:solidFill>
              <a:prstDash val="solid"/>
              <a:round/>
              <a:headEnd len="med" w="med" type="none"/>
              <a:tailEnd len="med" w="med" type="none"/>
            </a:ln>
          </p:spPr>
        </p:cxnSp>
      </p:grpSp>
      <p:sp>
        <p:nvSpPr>
          <p:cNvPr id="998" name="Google Shape;998;p79"/>
          <p:cNvSpPr txBox="1"/>
          <p:nvPr>
            <p:ph idx="1" type="body"/>
          </p:nvPr>
        </p:nvSpPr>
        <p:spPr>
          <a:xfrm rot="-5400000">
            <a:off x="4466275" y="1675275"/>
            <a:ext cx="1137600" cy="358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000">
                <a:solidFill>
                  <a:schemeClr val="dk1"/>
                </a:solidFill>
                <a:latin typeface="Lexend"/>
                <a:ea typeface="Lexend"/>
                <a:cs typeface="Lexend"/>
                <a:sym typeface="Lexend"/>
              </a:rPr>
              <a:t>Anagrafica CL</a:t>
            </a:r>
            <a:endParaRPr b="1" sz="1000">
              <a:latin typeface="Lexend"/>
              <a:ea typeface="Lexend"/>
              <a:cs typeface="Lexend"/>
              <a:sym typeface="Lexend"/>
            </a:endParaRPr>
          </a:p>
        </p:txBody>
      </p:sp>
      <p:sp>
        <p:nvSpPr>
          <p:cNvPr id="999" name="Google Shape;999;p79"/>
          <p:cNvSpPr txBox="1"/>
          <p:nvPr>
            <p:ph idx="1" type="body"/>
          </p:nvPr>
        </p:nvSpPr>
        <p:spPr>
          <a:xfrm rot="-5400000">
            <a:off x="4466275" y="3040525"/>
            <a:ext cx="1137600" cy="358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t" sz="1000">
                <a:solidFill>
                  <a:schemeClr val="dk1"/>
                </a:solidFill>
                <a:latin typeface="Lexend"/>
                <a:ea typeface="Lexend"/>
                <a:cs typeface="Lexend"/>
                <a:sym typeface="Lexend"/>
              </a:rPr>
              <a:t>Dati Tecnici</a:t>
            </a:r>
            <a:endParaRPr b="1" sz="1000">
              <a:latin typeface="Lexend"/>
              <a:ea typeface="Lexend"/>
              <a:cs typeface="Lexend"/>
              <a:sym typeface="Lexend"/>
            </a:endParaRPr>
          </a:p>
        </p:txBody>
      </p:sp>
      <p:sp>
        <p:nvSpPr>
          <p:cNvPr id="1000" name="Google Shape;1000;p79"/>
          <p:cNvSpPr txBox="1"/>
          <p:nvPr/>
        </p:nvSpPr>
        <p:spPr>
          <a:xfrm>
            <a:off x="569725" y="3221475"/>
            <a:ext cx="1401900" cy="1299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lang="it" sz="800">
                <a:solidFill>
                  <a:schemeClr val="dk1"/>
                </a:solidFill>
                <a:latin typeface="Lexend"/>
                <a:ea typeface="Lexend"/>
                <a:cs typeface="Lexend"/>
                <a:sym typeface="Lexend"/>
              </a:rPr>
              <a:t>* </a:t>
            </a:r>
            <a:r>
              <a:rPr lang="it" sz="800">
                <a:solidFill>
                  <a:schemeClr val="dk1"/>
                </a:solidFill>
                <a:latin typeface="Lexend"/>
                <a:ea typeface="Lexend"/>
                <a:cs typeface="Lexend"/>
                <a:sym typeface="Lexend"/>
              </a:rPr>
              <a:t>La scheda catastale contiene le stesse informazioni della visura. L'unica differenza è costituita dall'organizzazione dei dati e dall'aspetto grafico del documento.</a:t>
            </a:r>
            <a:endParaRPr/>
          </a:p>
        </p:txBody>
      </p:sp>
      <p:pic>
        <p:nvPicPr>
          <p:cNvPr id="1001" name="Google Shape;1001;p79"/>
          <p:cNvPicPr preferRelativeResize="0"/>
          <p:nvPr/>
        </p:nvPicPr>
        <p:blipFill>
          <a:blip r:embed="rId4">
            <a:alphaModFix/>
          </a:blip>
          <a:stretch>
            <a:fillRect/>
          </a:stretch>
        </p:blipFill>
        <p:spPr>
          <a:xfrm>
            <a:off x="2036750" y="3176463"/>
            <a:ext cx="2034851" cy="1526125"/>
          </a:xfrm>
          <a:prstGeom prst="rect">
            <a:avLst/>
          </a:prstGeom>
          <a:noFill/>
          <a:ln>
            <a:noFill/>
          </a:ln>
        </p:spPr>
      </p:pic>
      <p:sp>
        <p:nvSpPr>
          <p:cNvPr id="1002" name="Google Shape;1002;p79"/>
          <p:cNvSpPr txBox="1"/>
          <p:nvPr>
            <p:ph type="title"/>
          </p:nvPr>
        </p:nvSpPr>
        <p:spPr>
          <a:xfrm rot="-2700000">
            <a:off x="1848126" y="3679645"/>
            <a:ext cx="2481096" cy="462872"/>
          </a:xfrm>
          <a:prstGeom prst="rect">
            <a:avLst/>
          </a:prstGeom>
          <a:ln>
            <a:noFill/>
          </a:ln>
        </p:spPr>
        <p:txBody>
          <a:bodyPr anchorCtr="0" anchor="ctr" bIns="91425" lIns="91425" spcFirstLastPara="1" rIns="91425" wrap="square" tIns="91425">
            <a:normAutofit/>
          </a:bodyPr>
          <a:lstStyle/>
          <a:p>
            <a:pPr indent="0" lvl="0" marL="0" rtl="0" algn="ctr">
              <a:lnSpc>
                <a:spcPct val="115000"/>
              </a:lnSpc>
              <a:spcBef>
                <a:spcPts val="0"/>
              </a:spcBef>
              <a:spcAft>
                <a:spcPts val="0"/>
              </a:spcAft>
              <a:buNone/>
            </a:pPr>
            <a:r>
              <a:rPr b="1" lang="it" sz="1800">
                <a:solidFill>
                  <a:srgbClr val="B7B7B7"/>
                </a:solidFill>
                <a:latin typeface="Lexend"/>
                <a:ea typeface="Lexend"/>
                <a:cs typeface="Lexend"/>
                <a:sym typeface="Lexend"/>
              </a:rPr>
              <a:t>FAC-SIMILE</a:t>
            </a:r>
            <a:endParaRPr b="1" sz="1800">
              <a:solidFill>
                <a:srgbClr val="B7B7B7"/>
              </a:solidFill>
              <a:latin typeface="Lexend"/>
              <a:ea typeface="Lexend"/>
              <a:cs typeface="Lexend"/>
              <a:sym typeface="Lexend"/>
            </a:endParaRPr>
          </a:p>
        </p:txBody>
      </p:sp>
      <p:pic>
        <p:nvPicPr>
          <p:cNvPr id="1003" name="Google Shape;1003;p79"/>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004" name="Google Shape;1004;p79"/>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endParaRPr sz="700">
              <a:latin typeface="Lexend"/>
              <a:ea typeface="Lexend"/>
              <a:cs typeface="Lexend"/>
              <a:sym typeface="Lexend"/>
            </a:endParaRPr>
          </a:p>
        </p:txBody>
      </p:sp>
      <p:sp>
        <p:nvSpPr>
          <p:cNvPr id="1005" name="Google Shape;1005;p79"/>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Modulo Raccolta Dati</a:t>
            </a:r>
            <a:r>
              <a:rPr lang="it" sz="700">
                <a:latin typeface="Lexend"/>
                <a:ea typeface="Lexend"/>
                <a:cs typeface="Lexend"/>
                <a:sym typeface="Lexend"/>
              </a:rPr>
              <a:t> | 66</a:t>
            </a:r>
            <a:endParaRPr sz="700">
              <a:latin typeface="Lexend"/>
              <a:ea typeface="Lexend"/>
              <a:cs typeface="Lexend"/>
              <a:sym typeface="Lexend"/>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9" name="Shape 1009"/>
        <p:cNvGrpSpPr/>
        <p:nvPr/>
      </p:nvGrpSpPr>
      <p:grpSpPr>
        <a:xfrm>
          <a:off x="0" y="0"/>
          <a:ext cx="0" cy="0"/>
          <a:chOff x="0" y="0"/>
          <a:chExt cx="0" cy="0"/>
        </a:xfrm>
      </p:grpSpPr>
      <p:sp>
        <p:nvSpPr>
          <p:cNvPr id="1010" name="Google Shape;1010;p80"/>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1" name="Google Shape;1011;p80"/>
          <p:cNvSpPr txBox="1"/>
          <p:nvPr>
            <p:ph type="title"/>
          </p:nvPr>
        </p:nvSpPr>
        <p:spPr>
          <a:xfrm>
            <a:off x="311700" y="9990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Ricapitoliamo</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pic>
        <p:nvPicPr>
          <p:cNvPr id="1012" name="Google Shape;1012;p80"/>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13" name="Google Shape;1013;p80"/>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014" name="Google Shape;1014;p80"/>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EKO nel Mercato di oggi</a:t>
            </a:r>
            <a:r>
              <a:rPr lang="it" sz="700">
                <a:latin typeface="Lexend"/>
                <a:ea typeface="Lexend"/>
                <a:cs typeface="Lexend"/>
                <a:sym typeface="Lexend"/>
              </a:rPr>
              <a:t> | 67</a:t>
            </a:r>
            <a:endParaRPr sz="700">
              <a:latin typeface="Lexend"/>
              <a:ea typeface="Lexend"/>
              <a:cs typeface="Lexend"/>
              <a:sym typeface="Lexend"/>
            </a:endParaRPr>
          </a:p>
        </p:txBody>
      </p:sp>
      <p:graphicFrame>
        <p:nvGraphicFramePr>
          <p:cNvPr id="1015" name="Google Shape;1015;p80"/>
          <p:cNvGraphicFramePr/>
          <p:nvPr/>
        </p:nvGraphicFramePr>
        <p:xfrm>
          <a:off x="562913" y="1862750"/>
          <a:ext cx="3000000" cy="3000000"/>
        </p:xfrm>
        <a:graphic>
          <a:graphicData uri="http://schemas.openxmlformats.org/drawingml/2006/table">
            <a:tbl>
              <a:tblPr>
                <a:noFill/>
                <a:tableStyleId>{9273CD7E-ADB5-4E27-A5E8-29BB0BF39C83}</a:tableStyleId>
              </a:tblPr>
              <a:tblGrid>
                <a:gridCol w="2303100"/>
                <a:gridCol w="1965575"/>
                <a:gridCol w="1671200"/>
                <a:gridCol w="2078275"/>
              </a:tblGrid>
              <a:tr h="423625">
                <a:tc>
                  <a:txBody>
                    <a:bodyPr/>
                    <a:lstStyle/>
                    <a:p>
                      <a:pPr indent="0" lvl="0" marL="0" rtl="0" algn="ctr">
                        <a:spcBef>
                          <a:spcPts val="0"/>
                        </a:spcBef>
                        <a:spcAft>
                          <a:spcPts val="0"/>
                        </a:spcAft>
                        <a:buNone/>
                      </a:pPr>
                      <a:r>
                        <a:rPr b="1" lang="it">
                          <a:latin typeface="Lexend"/>
                          <a:ea typeface="Lexend"/>
                          <a:cs typeface="Lexend"/>
                          <a:sym typeface="Lexend"/>
                        </a:rPr>
                        <a:t>Normative</a:t>
                      </a:r>
                      <a:endParaRPr b="1">
                        <a:latin typeface="Lexend"/>
                        <a:ea typeface="Lexend"/>
                        <a:cs typeface="Lexend"/>
                        <a:sym typeface="Lexend"/>
                      </a:endParaRPr>
                    </a:p>
                  </a:txBody>
                  <a:tcPr marT="91425" marB="91425" marR="91425" marL="91425">
                    <a:solidFill>
                      <a:srgbClr val="B6D7A8"/>
                    </a:solidFill>
                  </a:tcPr>
                </a:tc>
                <a:tc>
                  <a:txBody>
                    <a:bodyPr/>
                    <a:lstStyle/>
                    <a:p>
                      <a:pPr indent="0" lvl="0" marL="0" rtl="0" algn="ctr">
                        <a:spcBef>
                          <a:spcPts val="0"/>
                        </a:spcBef>
                        <a:spcAft>
                          <a:spcPts val="0"/>
                        </a:spcAft>
                        <a:buNone/>
                      </a:pPr>
                      <a:r>
                        <a:rPr b="1" lang="it">
                          <a:latin typeface="Lexend"/>
                          <a:ea typeface="Lexend"/>
                          <a:cs typeface="Lexend"/>
                          <a:sym typeface="Lexend"/>
                        </a:rPr>
                        <a:t>Mercato</a:t>
                      </a:r>
                      <a:endParaRPr b="1">
                        <a:latin typeface="Lexend"/>
                        <a:ea typeface="Lexend"/>
                        <a:cs typeface="Lexend"/>
                        <a:sym typeface="Lexend"/>
                      </a:endParaRPr>
                    </a:p>
                  </a:txBody>
                  <a:tcPr marT="91425" marB="91425" marR="91425" marL="91425">
                    <a:solidFill>
                      <a:srgbClr val="B6D7A8"/>
                    </a:solidFill>
                  </a:tcPr>
                </a:tc>
                <a:tc>
                  <a:txBody>
                    <a:bodyPr/>
                    <a:lstStyle/>
                    <a:p>
                      <a:pPr indent="0" lvl="0" marL="0" rtl="0" algn="ctr">
                        <a:spcBef>
                          <a:spcPts val="0"/>
                        </a:spcBef>
                        <a:spcAft>
                          <a:spcPts val="0"/>
                        </a:spcAft>
                        <a:buNone/>
                      </a:pPr>
                      <a:r>
                        <a:rPr b="1" lang="it">
                          <a:latin typeface="Lexend"/>
                          <a:ea typeface="Lexend"/>
                          <a:cs typeface="Lexend"/>
                          <a:sym typeface="Lexend"/>
                        </a:rPr>
                        <a:t>Prodotti</a:t>
                      </a:r>
                      <a:endParaRPr b="1">
                        <a:latin typeface="Lexend"/>
                        <a:ea typeface="Lexend"/>
                        <a:cs typeface="Lexend"/>
                        <a:sym typeface="Lexend"/>
                      </a:endParaRPr>
                    </a:p>
                  </a:txBody>
                  <a:tcPr marT="91425" marB="91425" marR="91425" marL="91425">
                    <a:solidFill>
                      <a:srgbClr val="B6D7A8"/>
                    </a:solidFill>
                  </a:tcPr>
                </a:tc>
                <a:tc>
                  <a:txBody>
                    <a:bodyPr/>
                    <a:lstStyle/>
                    <a:p>
                      <a:pPr indent="0" lvl="0" marL="0" rtl="0" algn="ctr">
                        <a:spcBef>
                          <a:spcPts val="0"/>
                        </a:spcBef>
                        <a:spcAft>
                          <a:spcPts val="0"/>
                        </a:spcAft>
                        <a:buNone/>
                      </a:pPr>
                      <a:r>
                        <a:rPr b="1" lang="it">
                          <a:latin typeface="Lexend"/>
                          <a:ea typeface="Lexend"/>
                          <a:cs typeface="Lexend"/>
                          <a:sym typeface="Lexend"/>
                        </a:rPr>
                        <a:t>Servizi</a:t>
                      </a:r>
                      <a:endParaRPr b="1">
                        <a:latin typeface="Lexend"/>
                        <a:ea typeface="Lexend"/>
                        <a:cs typeface="Lexend"/>
                        <a:sym typeface="Lexend"/>
                      </a:endParaRPr>
                    </a:p>
                  </a:txBody>
                  <a:tcPr marT="91425" marB="91425" marR="91425" marL="91425">
                    <a:solidFill>
                      <a:srgbClr val="B6D7A8"/>
                    </a:solidFill>
                  </a:tcPr>
                </a:tc>
              </a:tr>
              <a:tr h="429700">
                <a:tc>
                  <a:txBody>
                    <a:bodyPr/>
                    <a:lstStyle/>
                    <a:p>
                      <a:pPr indent="0" lvl="0" marL="0" rtl="0" algn="ctr">
                        <a:spcBef>
                          <a:spcPts val="0"/>
                        </a:spcBef>
                        <a:spcAft>
                          <a:spcPts val="0"/>
                        </a:spcAft>
                        <a:buNone/>
                      </a:pPr>
                      <a:r>
                        <a:rPr lang="it" sz="1300">
                          <a:latin typeface="Lexend"/>
                          <a:ea typeface="Lexend"/>
                          <a:cs typeface="Lexend"/>
                          <a:sym typeface="Lexend"/>
                        </a:rPr>
                        <a:t>Obblighi UE Nuove Costruzioni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I</a:t>
                      </a:r>
                      <a:r>
                        <a:rPr lang="it" sz="1300">
                          <a:latin typeface="Lexend"/>
                          <a:ea typeface="Lexend"/>
                          <a:cs typeface="Lexend"/>
                          <a:sym typeface="Lexend"/>
                        </a:rPr>
                        <a:t>n continua crescita</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Linea Base</a:t>
                      </a:r>
                      <a:endParaRPr sz="1300">
                        <a:latin typeface="Lexend"/>
                        <a:ea typeface="Lexend"/>
                        <a:cs typeface="Lexend"/>
                        <a:sym typeface="Lexend"/>
                      </a:endParaRPr>
                    </a:p>
                    <a:p>
                      <a:pPr indent="0" lvl="0" marL="0" rtl="0" algn="ctr">
                        <a:spcBef>
                          <a:spcPts val="0"/>
                        </a:spcBef>
                        <a:spcAft>
                          <a:spcPts val="0"/>
                        </a:spcAft>
                        <a:buNone/>
                      </a:pPr>
                      <a:r>
                        <a:rPr lang="it" sz="1300">
                          <a:latin typeface="Lexend"/>
                          <a:ea typeface="Lexend"/>
                          <a:cs typeface="Lexend"/>
                          <a:sym typeface="Lexend"/>
                        </a:rPr>
                        <a:t>“chiavi in mano”</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Servizi integrati nel pacchetto chiavi in mano</a:t>
                      </a:r>
                      <a:endParaRPr sz="1300">
                        <a:latin typeface="Lexend"/>
                        <a:ea typeface="Lexend"/>
                        <a:cs typeface="Lexend"/>
                        <a:sym typeface="Lexend"/>
                      </a:endParaRPr>
                    </a:p>
                  </a:txBody>
                  <a:tcPr marT="91425" marB="91425" marR="91425" marL="91425" anchor="ctr"/>
                </a:tc>
              </a:tr>
              <a:tr h="429700">
                <a:tc>
                  <a:txBody>
                    <a:bodyPr/>
                    <a:lstStyle/>
                    <a:p>
                      <a:pPr indent="0" lvl="0" marL="0" rtl="0" algn="ctr">
                        <a:spcBef>
                          <a:spcPts val="0"/>
                        </a:spcBef>
                        <a:spcAft>
                          <a:spcPts val="0"/>
                        </a:spcAft>
                        <a:buNone/>
                      </a:pPr>
                      <a:r>
                        <a:rPr lang="it" sz="1300">
                          <a:latin typeface="Lexend"/>
                          <a:ea typeface="Lexend"/>
                          <a:cs typeface="Lexend"/>
                          <a:sym typeface="Lexend"/>
                        </a:rPr>
                        <a:t>Obblighi UE Ristrutt. e Riqualificazioni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Persone sempre più consapevoli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Linea Premium</a:t>
                      </a:r>
                      <a:endParaRPr sz="1300">
                        <a:latin typeface="Lexend"/>
                        <a:ea typeface="Lexend"/>
                        <a:cs typeface="Lexend"/>
                        <a:sym typeface="Lexend"/>
                      </a:endParaRPr>
                    </a:p>
                    <a:p>
                      <a:pPr indent="0" lvl="0" marL="0" rtl="0" algn="ctr">
                        <a:spcBef>
                          <a:spcPts val="0"/>
                        </a:spcBef>
                        <a:spcAft>
                          <a:spcPts val="0"/>
                        </a:spcAft>
                        <a:buClr>
                          <a:schemeClr val="dk1"/>
                        </a:buClr>
                        <a:buSzPts val="1100"/>
                        <a:buFont typeface="Arial"/>
                        <a:buNone/>
                      </a:pPr>
                      <a:r>
                        <a:rPr lang="it" sz="1300">
                          <a:solidFill>
                            <a:schemeClr val="dk1"/>
                          </a:solidFill>
                          <a:latin typeface="Lexend"/>
                          <a:ea typeface="Lexend"/>
                          <a:cs typeface="Lexend"/>
                          <a:sym typeface="Lexend"/>
                        </a:rPr>
                        <a:t>“chiavi in mano”</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Servizi Extra manutenzione</a:t>
                      </a:r>
                      <a:endParaRPr sz="1300">
                        <a:latin typeface="Lexend"/>
                        <a:ea typeface="Lexend"/>
                        <a:cs typeface="Lexend"/>
                        <a:sym typeface="Lexend"/>
                      </a:endParaRPr>
                    </a:p>
                  </a:txBody>
                  <a:tcPr marT="91425" marB="91425" marR="91425" marL="91425" anchor="ctr"/>
                </a:tc>
              </a:tr>
              <a:tr h="429700">
                <a:tc>
                  <a:txBody>
                    <a:bodyPr/>
                    <a:lstStyle/>
                    <a:p>
                      <a:pPr indent="0" lvl="0" marL="0" rtl="0" algn="ctr">
                        <a:spcBef>
                          <a:spcPts val="0"/>
                        </a:spcBef>
                        <a:spcAft>
                          <a:spcPts val="0"/>
                        </a:spcAft>
                        <a:buNone/>
                      </a:pPr>
                      <a:r>
                        <a:rPr lang="it" sz="1300">
                          <a:latin typeface="Lexend"/>
                          <a:ea typeface="Lexend"/>
                          <a:cs typeface="Lexend"/>
                          <a:sym typeface="Lexend"/>
                        </a:rPr>
                        <a:t>Obblighi IT adeguamento energetico</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rPr lang="it" sz="1300">
                          <a:latin typeface="Lexend"/>
                          <a:ea typeface="Lexend"/>
                          <a:cs typeface="Lexend"/>
                          <a:sym typeface="Lexend"/>
                        </a:rPr>
                        <a:t>Agevolazioni Fiscali</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91425" marL="91425" anchor="ctr"/>
                </a:tc>
                <a:tc>
                  <a:txBody>
                    <a:bodyPr/>
                    <a:lstStyle/>
                    <a:p>
                      <a:pPr indent="0" lvl="0" marL="0" rtl="0" algn="ctr">
                        <a:spcBef>
                          <a:spcPts val="0"/>
                        </a:spcBef>
                        <a:spcAft>
                          <a:spcPts val="0"/>
                        </a:spcAft>
                        <a:buNone/>
                      </a:pPr>
                      <a:r>
                        <a:t/>
                      </a:r>
                      <a:endParaRPr sz="1300">
                        <a:latin typeface="Lexend"/>
                        <a:ea typeface="Lexend"/>
                        <a:cs typeface="Lexend"/>
                        <a:sym typeface="Lexend"/>
                      </a:endParaRPr>
                    </a:p>
                  </a:txBody>
                  <a:tcPr marT="91425" marB="91425" marR="91425" marL="91425" anchor="ct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9" name="Shape 1019"/>
        <p:cNvGrpSpPr/>
        <p:nvPr/>
      </p:nvGrpSpPr>
      <p:grpSpPr>
        <a:xfrm>
          <a:off x="0" y="0"/>
          <a:ext cx="0" cy="0"/>
          <a:chOff x="0" y="0"/>
          <a:chExt cx="0" cy="0"/>
        </a:xfrm>
      </p:grpSpPr>
      <p:sp>
        <p:nvSpPr>
          <p:cNvPr id="1020" name="Google Shape;1020;p81"/>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1" name="Google Shape;1021;p81"/>
          <p:cNvSpPr txBox="1"/>
          <p:nvPr>
            <p:ph type="title"/>
          </p:nvPr>
        </p:nvSpPr>
        <p:spPr>
          <a:xfrm>
            <a:off x="311700" y="2090550"/>
            <a:ext cx="8520600" cy="9624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820">
                <a:latin typeface="Lexend"/>
                <a:ea typeface="Lexend"/>
                <a:cs typeface="Lexend"/>
                <a:sym typeface="Lexend"/>
              </a:rPr>
              <a:t>Abbattiamo le possibili </a:t>
            </a:r>
            <a:r>
              <a:rPr b="1" lang="it" sz="2820">
                <a:solidFill>
                  <a:srgbClr val="38761D"/>
                </a:solidFill>
                <a:highlight>
                  <a:srgbClr val="B6D7A8"/>
                </a:highlight>
                <a:latin typeface="Lexend"/>
                <a:ea typeface="Lexend"/>
                <a:cs typeface="Lexend"/>
                <a:sym typeface="Lexend"/>
              </a:rPr>
              <a:t>obiezioni del cliente</a:t>
            </a:r>
            <a:r>
              <a:rPr lang="it" sz="2820">
                <a:latin typeface="Lexend"/>
                <a:ea typeface="Lexend"/>
                <a:cs typeface="Lexend"/>
                <a:sym typeface="Lexend"/>
              </a:rPr>
              <a:t>.</a:t>
            </a:r>
            <a:endParaRPr sz="2820">
              <a:latin typeface="Lexend"/>
              <a:ea typeface="Lexend"/>
              <a:cs typeface="Lexend"/>
              <a:sym typeface="Lexend"/>
            </a:endParaRPr>
          </a:p>
          <a:p>
            <a:pPr indent="0" lvl="0" marL="0" rtl="0" algn="ctr">
              <a:lnSpc>
                <a:spcPct val="115000"/>
              </a:lnSpc>
              <a:spcBef>
                <a:spcPts val="0"/>
              </a:spcBef>
              <a:spcAft>
                <a:spcPts val="0"/>
              </a:spcAft>
              <a:buSzPts val="990"/>
              <a:buNone/>
            </a:pPr>
            <a:r>
              <a:rPr lang="it" sz="2020">
                <a:latin typeface="Lexend"/>
                <a:ea typeface="Lexend"/>
                <a:cs typeface="Lexend"/>
                <a:sym typeface="Lexend"/>
              </a:rPr>
              <a:t>…per esempio…</a:t>
            </a:r>
            <a:endParaRPr sz="2020">
              <a:latin typeface="Lexend"/>
              <a:ea typeface="Lexend"/>
              <a:cs typeface="Lexend"/>
              <a:sym typeface="Lexend"/>
            </a:endParaRPr>
          </a:p>
        </p:txBody>
      </p:sp>
      <p:pic>
        <p:nvPicPr>
          <p:cNvPr id="1022" name="Google Shape;1022;p81"/>
          <p:cNvPicPr preferRelativeResize="0"/>
          <p:nvPr/>
        </p:nvPicPr>
        <p:blipFill rotWithShape="1">
          <a:blip r:embed="rId3">
            <a:alphaModFix/>
          </a:blip>
          <a:srcRect b="0" l="0" r="0" t="0"/>
          <a:stretch/>
        </p:blipFill>
        <p:spPr>
          <a:xfrm>
            <a:off x="0" y="5"/>
            <a:ext cx="9144003" cy="598289"/>
          </a:xfrm>
          <a:prstGeom prst="rect">
            <a:avLst/>
          </a:prstGeom>
          <a:noFill/>
          <a:ln>
            <a:noFill/>
          </a:ln>
        </p:spPr>
      </p:pic>
      <p:sp>
        <p:nvSpPr>
          <p:cNvPr id="1023" name="Google Shape;1023;p81"/>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024" name="Google Shape;1024;p81"/>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a:t>
            </a:r>
            <a:r>
              <a:rPr lang="it" sz="700">
                <a:latin typeface="Lexend"/>
                <a:ea typeface="Lexend"/>
                <a:cs typeface="Lexend"/>
                <a:sym typeface="Lexend"/>
              </a:rPr>
              <a:t> | 68</a:t>
            </a:r>
            <a:endParaRPr sz="700">
              <a:latin typeface="Lexend"/>
              <a:ea typeface="Lexend"/>
              <a:cs typeface="Lexend"/>
              <a:sym typeface="Lexend"/>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8" name="Shape 1028"/>
        <p:cNvGrpSpPr/>
        <p:nvPr/>
      </p:nvGrpSpPr>
      <p:grpSpPr>
        <a:xfrm>
          <a:off x="0" y="0"/>
          <a:ext cx="0" cy="0"/>
          <a:chOff x="0" y="0"/>
          <a:chExt cx="0" cy="0"/>
        </a:xfrm>
      </p:grpSpPr>
      <p:grpSp>
        <p:nvGrpSpPr>
          <p:cNvPr id="1029" name="Google Shape;1029;p82"/>
          <p:cNvGrpSpPr/>
          <p:nvPr/>
        </p:nvGrpSpPr>
        <p:grpSpPr>
          <a:xfrm>
            <a:off x="430661" y="1626500"/>
            <a:ext cx="7345701" cy="1217537"/>
            <a:chOff x="842874" y="1708025"/>
            <a:chExt cx="7345701" cy="1217537"/>
          </a:xfrm>
        </p:grpSpPr>
        <p:pic>
          <p:nvPicPr>
            <p:cNvPr id="1030" name="Google Shape;1030;p82"/>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031" name="Google Shape;1031;p82"/>
            <p:cNvGrpSpPr/>
            <p:nvPr/>
          </p:nvGrpSpPr>
          <p:grpSpPr>
            <a:xfrm>
              <a:off x="1217082" y="1708025"/>
              <a:ext cx="6971493" cy="1147178"/>
              <a:chOff x="910432" y="2809750"/>
              <a:chExt cx="6971493" cy="1147178"/>
            </a:xfrm>
          </p:grpSpPr>
          <p:sp>
            <p:nvSpPr>
              <p:cNvPr id="1032" name="Google Shape;1032;p82"/>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3" name="Google Shape;1033;p82"/>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034" name="Google Shape;1034;p82"/>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35" name="Google Shape;1035;p82"/>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I pannelli fotovoltaici funzionano con la pioggia?</a:t>
            </a:r>
            <a:endParaRPr sz="1920">
              <a:latin typeface="Lexend"/>
              <a:ea typeface="Lexend"/>
              <a:cs typeface="Lexend"/>
              <a:sym typeface="Lexend"/>
            </a:endParaRPr>
          </a:p>
        </p:txBody>
      </p:sp>
      <p:sp>
        <p:nvSpPr>
          <p:cNvPr id="1036" name="Google Shape;1036;p82"/>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Abbattiamo le obiezioni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grpSp>
        <p:nvGrpSpPr>
          <p:cNvPr id="1037" name="Google Shape;1037;p82"/>
          <p:cNvGrpSpPr/>
          <p:nvPr/>
        </p:nvGrpSpPr>
        <p:grpSpPr>
          <a:xfrm>
            <a:off x="1278950" y="2897678"/>
            <a:ext cx="7434401" cy="1461835"/>
            <a:chOff x="899150" y="2945091"/>
            <a:chExt cx="7434401" cy="1461835"/>
          </a:xfrm>
        </p:grpSpPr>
        <p:grpSp>
          <p:nvGrpSpPr>
            <p:cNvPr id="1038" name="Google Shape;1038;p82"/>
            <p:cNvGrpSpPr/>
            <p:nvPr/>
          </p:nvGrpSpPr>
          <p:grpSpPr>
            <a:xfrm flipH="1">
              <a:off x="899150" y="2945091"/>
              <a:ext cx="6971493" cy="1377312"/>
              <a:chOff x="910432" y="2579616"/>
              <a:chExt cx="6971493" cy="1377312"/>
            </a:xfrm>
          </p:grpSpPr>
          <p:sp>
            <p:nvSpPr>
              <p:cNvPr id="1039" name="Google Shape;1039;p82"/>
              <p:cNvSpPr/>
              <p:nvPr/>
            </p:nvSpPr>
            <p:spPr>
              <a:xfrm>
                <a:off x="1368924" y="2579616"/>
                <a:ext cx="6513000" cy="111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40" name="Google Shape;1040;p82"/>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041" name="Google Shape;1041;p82"/>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042" name="Google Shape;1042;p82"/>
          <p:cNvSpPr txBox="1"/>
          <p:nvPr>
            <p:ph type="title"/>
          </p:nvPr>
        </p:nvSpPr>
        <p:spPr>
          <a:xfrm>
            <a:off x="1359350" y="2897675"/>
            <a:ext cx="6326700" cy="10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620">
                <a:latin typeface="Lexend"/>
                <a:ea typeface="Lexend"/>
                <a:cs typeface="Lexend"/>
                <a:sym typeface="Lexend"/>
              </a:rPr>
              <a:t>Sì, i pannelli funzionano anche con la pioggia, poiché producono energia dalla luce, non dal calore. Inoltre, la pioggia aiuta a pulirli, migliorando l’efficienza.</a:t>
            </a:r>
            <a:endParaRPr sz="1620">
              <a:latin typeface="Lexend"/>
              <a:ea typeface="Lexend"/>
              <a:cs typeface="Lexend"/>
              <a:sym typeface="Lexend"/>
            </a:endParaRPr>
          </a:p>
        </p:txBody>
      </p:sp>
      <p:pic>
        <p:nvPicPr>
          <p:cNvPr id="1043" name="Google Shape;1043;p82"/>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044" name="Google Shape;1044;p82"/>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045" name="Google Shape;1045;p82"/>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69</a:t>
            </a:r>
            <a:endParaRPr sz="700">
              <a:latin typeface="Lexend"/>
              <a:ea typeface="Lexend"/>
              <a:cs typeface="Lexend"/>
              <a:sym typeface="Lexend"/>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9" name="Shape 1049"/>
        <p:cNvGrpSpPr/>
        <p:nvPr/>
      </p:nvGrpSpPr>
      <p:grpSpPr>
        <a:xfrm>
          <a:off x="0" y="0"/>
          <a:ext cx="0" cy="0"/>
          <a:chOff x="0" y="0"/>
          <a:chExt cx="0" cy="0"/>
        </a:xfrm>
      </p:grpSpPr>
      <p:grpSp>
        <p:nvGrpSpPr>
          <p:cNvPr id="1050" name="Google Shape;1050;p83"/>
          <p:cNvGrpSpPr/>
          <p:nvPr/>
        </p:nvGrpSpPr>
        <p:grpSpPr>
          <a:xfrm>
            <a:off x="430661" y="1626500"/>
            <a:ext cx="7345701" cy="1217537"/>
            <a:chOff x="842874" y="1708025"/>
            <a:chExt cx="7345701" cy="1217537"/>
          </a:xfrm>
        </p:grpSpPr>
        <p:pic>
          <p:nvPicPr>
            <p:cNvPr id="1051" name="Google Shape;1051;p83"/>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052" name="Google Shape;1052;p83"/>
            <p:cNvGrpSpPr/>
            <p:nvPr/>
          </p:nvGrpSpPr>
          <p:grpSpPr>
            <a:xfrm>
              <a:off x="1217082" y="1708025"/>
              <a:ext cx="6971493" cy="1147178"/>
              <a:chOff x="910432" y="2809750"/>
              <a:chExt cx="6971493" cy="1147178"/>
            </a:xfrm>
          </p:grpSpPr>
          <p:sp>
            <p:nvSpPr>
              <p:cNvPr id="1053" name="Google Shape;1053;p83"/>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4" name="Google Shape;1054;p83"/>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055" name="Google Shape;1055;p83"/>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6" name="Google Shape;1056;p83"/>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I pannelli fotovoltaici funzionano con il freddo?</a:t>
            </a:r>
            <a:endParaRPr sz="1920">
              <a:latin typeface="Lexend"/>
              <a:ea typeface="Lexend"/>
              <a:cs typeface="Lexend"/>
              <a:sym typeface="Lexend"/>
            </a:endParaRPr>
          </a:p>
        </p:txBody>
      </p:sp>
      <p:grpSp>
        <p:nvGrpSpPr>
          <p:cNvPr id="1057" name="Google Shape;1057;p83"/>
          <p:cNvGrpSpPr/>
          <p:nvPr/>
        </p:nvGrpSpPr>
        <p:grpSpPr>
          <a:xfrm>
            <a:off x="1278950" y="2897678"/>
            <a:ext cx="7434401" cy="1461835"/>
            <a:chOff x="899150" y="2945091"/>
            <a:chExt cx="7434401" cy="1461835"/>
          </a:xfrm>
        </p:grpSpPr>
        <p:grpSp>
          <p:nvGrpSpPr>
            <p:cNvPr id="1058" name="Google Shape;1058;p83"/>
            <p:cNvGrpSpPr/>
            <p:nvPr/>
          </p:nvGrpSpPr>
          <p:grpSpPr>
            <a:xfrm flipH="1">
              <a:off x="899150" y="2945091"/>
              <a:ext cx="6971493" cy="1377312"/>
              <a:chOff x="910432" y="2579616"/>
              <a:chExt cx="6971493" cy="1377312"/>
            </a:xfrm>
          </p:grpSpPr>
          <p:sp>
            <p:nvSpPr>
              <p:cNvPr id="1059" name="Google Shape;1059;p83"/>
              <p:cNvSpPr/>
              <p:nvPr/>
            </p:nvSpPr>
            <p:spPr>
              <a:xfrm>
                <a:off x="1368924" y="2579616"/>
                <a:ext cx="6513000" cy="111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60" name="Google Shape;1060;p83"/>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061" name="Google Shape;1061;p83"/>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062" name="Google Shape;1062;p83"/>
          <p:cNvSpPr txBox="1"/>
          <p:nvPr>
            <p:ph type="title"/>
          </p:nvPr>
        </p:nvSpPr>
        <p:spPr>
          <a:xfrm>
            <a:off x="1359350" y="2897675"/>
            <a:ext cx="6326700" cy="10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620">
                <a:latin typeface="Lexend"/>
                <a:ea typeface="Lexend"/>
                <a:cs typeface="Lexend"/>
                <a:sym typeface="Lexend"/>
              </a:rPr>
              <a:t>Sì, i pannelli funzionano meglio a basse temperature. </a:t>
            </a:r>
            <a:endParaRPr sz="1620">
              <a:latin typeface="Lexend"/>
              <a:ea typeface="Lexend"/>
              <a:cs typeface="Lexend"/>
              <a:sym typeface="Lexend"/>
            </a:endParaRPr>
          </a:p>
          <a:p>
            <a:pPr indent="0" lvl="0" marL="0" rtl="0" algn="l">
              <a:lnSpc>
                <a:spcPct val="115000"/>
              </a:lnSpc>
              <a:spcBef>
                <a:spcPts val="0"/>
              </a:spcBef>
              <a:spcAft>
                <a:spcPts val="0"/>
              </a:spcAft>
              <a:buSzPts val="990"/>
              <a:buNone/>
            </a:pPr>
            <a:r>
              <a:rPr lang="it" sz="1620">
                <a:latin typeface="Lexend"/>
                <a:ea typeface="Lexend"/>
                <a:cs typeface="Lexend"/>
                <a:sym typeface="Lexend"/>
              </a:rPr>
              <a:t>Il freddo aumenta l'efficienza, poiché il surriscaldamento riduce le prestazioni.</a:t>
            </a:r>
            <a:endParaRPr sz="1620">
              <a:latin typeface="Lexend"/>
              <a:ea typeface="Lexend"/>
              <a:cs typeface="Lexend"/>
              <a:sym typeface="Lexend"/>
            </a:endParaRPr>
          </a:p>
        </p:txBody>
      </p:sp>
      <p:pic>
        <p:nvPicPr>
          <p:cNvPr id="1063" name="Google Shape;1063;p83"/>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064" name="Google Shape;1064;p83"/>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065" name="Google Shape;1065;p83"/>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70</a:t>
            </a:r>
            <a:endParaRPr sz="700">
              <a:latin typeface="Lexend"/>
              <a:ea typeface="Lexend"/>
              <a:cs typeface="Lexend"/>
              <a:sym typeface="Lexend"/>
            </a:endParaRPr>
          </a:p>
        </p:txBody>
      </p:sp>
      <p:sp>
        <p:nvSpPr>
          <p:cNvPr id="1066" name="Google Shape;1066;p83"/>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Abbattiamo le obiezioni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0" name="Shape 1070"/>
        <p:cNvGrpSpPr/>
        <p:nvPr/>
      </p:nvGrpSpPr>
      <p:grpSpPr>
        <a:xfrm>
          <a:off x="0" y="0"/>
          <a:ext cx="0" cy="0"/>
          <a:chOff x="0" y="0"/>
          <a:chExt cx="0" cy="0"/>
        </a:xfrm>
      </p:grpSpPr>
      <p:grpSp>
        <p:nvGrpSpPr>
          <p:cNvPr id="1071" name="Google Shape;1071;p84"/>
          <p:cNvGrpSpPr/>
          <p:nvPr/>
        </p:nvGrpSpPr>
        <p:grpSpPr>
          <a:xfrm>
            <a:off x="430661" y="1626500"/>
            <a:ext cx="7345701" cy="1217537"/>
            <a:chOff x="842874" y="1708025"/>
            <a:chExt cx="7345701" cy="1217537"/>
          </a:xfrm>
        </p:grpSpPr>
        <p:pic>
          <p:nvPicPr>
            <p:cNvPr id="1072" name="Google Shape;1072;p84"/>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073" name="Google Shape;1073;p84"/>
            <p:cNvGrpSpPr/>
            <p:nvPr/>
          </p:nvGrpSpPr>
          <p:grpSpPr>
            <a:xfrm>
              <a:off x="1217082" y="1708025"/>
              <a:ext cx="6971493" cy="1147178"/>
              <a:chOff x="910432" y="2809750"/>
              <a:chExt cx="6971493" cy="1147178"/>
            </a:xfrm>
          </p:grpSpPr>
          <p:sp>
            <p:nvSpPr>
              <p:cNvPr id="1074" name="Google Shape;1074;p84"/>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5" name="Google Shape;1075;p84"/>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076" name="Google Shape;1076;p84"/>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77" name="Google Shape;1077;p84"/>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Adesso non conviene… aspetto l’estate per metterli.</a:t>
            </a:r>
            <a:endParaRPr sz="1920">
              <a:latin typeface="Lexend"/>
              <a:ea typeface="Lexend"/>
              <a:cs typeface="Lexend"/>
              <a:sym typeface="Lexend"/>
            </a:endParaRPr>
          </a:p>
        </p:txBody>
      </p:sp>
      <p:grpSp>
        <p:nvGrpSpPr>
          <p:cNvPr id="1078" name="Google Shape;1078;p84"/>
          <p:cNvGrpSpPr/>
          <p:nvPr/>
        </p:nvGrpSpPr>
        <p:grpSpPr>
          <a:xfrm>
            <a:off x="1278950" y="2897678"/>
            <a:ext cx="7434401" cy="1461835"/>
            <a:chOff x="899150" y="2945091"/>
            <a:chExt cx="7434401" cy="1461835"/>
          </a:xfrm>
        </p:grpSpPr>
        <p:grpSp>
          <p:nvGrpSpPr>
            <p:cNvPr id="1079" name="Google Shape;1079;p84"/>
            <p:cNvGrpSpPr/>
            <p:nvPr/>
          </p:nvGrpSpPr>
          <p:grpSpPr>
            <a:xfrm flipH="1">
              <a:off x="899150" y="2945091"/>
              <a:ext cx="6971493" cy="1377312"/>
              <a:chOff x="910432" y="2579616"/>
              <a:chExt cx="6971493" cy="1377312"/>
            </a:xfrm>
          </p:grpSpPr>
          <p:sp>
            <p:nvSpPr>
              <p:cNvPr id="1080" name="Google Shape;1080;p84"/>
              <p:cNvSpPr/>
              <p:nvPr/>
            </p:nvSpPr>
            <p:spPr>
              <a:xfrm>
                <a:off x="1368924" y="2579616"/>
                <a:ext cx="6513000" cy="11127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1" name="Google Shape;1081;p84"/>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082" name="Google Shape;1082;p84"/>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083" name="Google Shape;1083;p84"/>
          <p:cNvSpPr txBox="1"/>
          <p:nvPr>
            <p:ph type="title"/>
          </p:nvPr>
        </p:nvSpPr>
        <p:spPr>
          <a:xfrm>
            <a:off x="1359350" y="2897675"/>
            <a:ext cx="6326700" cy="109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620">
                <a:latin typeface="Lexend"/>
                <a:ea typeface="Lexend"/>
                <a:cs typeface="Lexend"/>
                <a:sym typeface="Lexend"/>
              </a:rPr>
              <a:t>Installarli ora ti permette di essere pronto per sfruttare tutta l'energia della stagione primaverile-estiva e iniziare a risparmiare da subito.</a:t>
            </a:r>
            <a:endParaRPr sz="1620">
              <a:latin typeface="Lexend"/>
              <a:ea typeface="Lexend"/>
              <a:cs typeface="Lexend"/>
              <a:sym typeface="Lexend"/>
            </a:endParaRPr>
          </a:p>
        </p:txBody>
      </p:sp>
      <p:pic>
        <p:nvPicPr>
          <p:cNvPr id="1084" name="Google Shape;1084;p84"/>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085" name="Google Shape;1085;p84"/>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086" name="Google Shape;1086;p84"/>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71</a:t>
            </a:r>
            <a:endParaRPr sz="700">
              <a:latin typeface="Lexend"/>
              <a:ea typeface="Lexend"/>
              <a:cs typeface="Lexend"/>
              <a:sym typeface="Lexend"/>
            </a:endParaRPr>
          </a:p>
        </p:txBody>
      </p:sp>
      <p:sp>
        <p:nvSpPr>
          <p:cNvPr id="1087" name="Google Shape;1087;p84"/>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Abbattiamo le obiezioni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grpSp>
        <p:nvGrpSpPr>
          <p:cNvPr id="1092" name="Google Shape;1092;p85"/>
          <p:cNvGrpSpPr/>
          <p:nvPr/>
        </p:nvGrpSpPr>
        <p:grpSpPr>
          <a:xfrm>
            <a:off x="430661" y="1626500"/>
            <a:ext cx="7345701" cy="1217537"/>
            <a:chOff x="842874" y="1708025"/>
            <a:chExt cx="7345701" cy="1217537"/>
          </a:xfrm>
        </p:grpSpPr>
        <p:pic>
          <p:nvPicPr>
            <p:cNvPr id="1093" name="Google Shape;1093;p85"/>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094" name="Google Shape;1094;p85"/>
            <p:cNvGrpSpPr/>
            <p:nvPr/>
          </p:nvGrpSpPr>
          <p:grpSpPr>
            <a:xfrm>
              <a:off x="1217082" y="1708025"/>
              <a:ext cx="6971493" cy="1147178"/>
              <a:chOff x="910432" y="2809750"/>
              <a:chExt cx="6971493" cy="1147178"/>
            </a:xfrm>
          </p:grpSpPr>
          <p:sp>
            <p:nvSpPr>
              <p:cNvPr id="1095" name="Google Shape;1095;p85"/>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6" name="Google Shape;1096;p85"/>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097" name="Google Shape;1097;p85"/>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98" name="Google Shape;1098;p85"/>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Senza incentivi non conviene fare il fotovoltaico!</a:t>
            </a:r>
            <a:endParaRPr sz="1920">
              <a:latin typeface="Lexend"/>
              <a:ea typeface="Lexend"/>
              <a:cs typeface="Lexend"/>
              <a:sym typeface="Lexend"/>
            </a:endParaRPr>
          </a:p>
        </p:txBody>
      </p:sp>
      <p:grpSp>
        <p:nvGrpSpPr>
          <p:cNvPr id="1099" name="Google Shape;1099;p85"/>
          <p:cNvGrpSpPr/>
          <p:nvPr/>
        </p:nvGrpSpPr>
        <p:grpSpPr>
          <a:xfrm>
            <a:off x="1278950" y="2776399"/>
            <a:ext cx="7434401" cy="1659314"/>
            <a:chOff x="899150" y="2747612"/>
            <a:chExt cx="7434401" cy="1659314"/>
          </a:xfrm>
        </p:grpSpPr>
        <p:grpSp>
          <p:nvGrpSpPr>
            <p:cNvPr id="1100" name="Google Shape;1100;p85"/>
            <p:cNvGrpSpPr/>
            <p:nvPr/>
          </p:nvGrpSpPr>
          <p:grpSpPr>
            <a:xfrm flipH="1">
              <a:off x="899150" y="2747612"/>
              <a:ext cx="6971493" cy="1574791"/>
              <a:chOff x="910432" y="2382137"/>
              <a:chExt cx="6971493" cy="1574791"/>
            </a:xfrm>
          </p:grpSpPr>
          <p:sp>
            <p:nvSpPr>
              <p:cNvPr id="1101" name="Google Shape;1101;p85"/>
              <p:cNvSpPr/>
              <p:nvPr/>
            </p:nvSpPr>
            <p:spPr>
              <a:xfrm>
                <a:off x="1368924" y="2382137"/>
                <a:ext cx="6513000" cy="13101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02" name="Google Shape;1102;p85"/>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03" name="Google Shape;1103;p85"/>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04" name="Google Shape;1104;p85"/>
          <p:cNvSpPr txBox="1"/>
          <p:nvPr>
            <p:ph type="title"/>
          </p:nvPr>
        </p:nvSpPr>
        <p:spPr>
          <a:xfrm>
            <a:off x="1359350" y="2776400"/>
            <a:ext cx="6326700" cy="12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620">
                <a:latin typeface="Lexend"/>
                <a:ea typeface="Lexend"/>
                <a:cs typeface="Lexend"/>
                <a:sym typeface="Lexend"/>
              </a:rPr>
              <a:t>Anche senza incentivi, il fotovoltaico si ripaga in massimo </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4 anni, e poi la tua bolletta rimane praticamente a 0. </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In più, l’autoconsumo ti protegge dai futuri aumenti dei prezzi dell’energia!</a:t>
            </a:r>
            <a:endParaRPr sz="1620">
              <a:latin typeface="Lexend"/>
              <a:ea typeface="Lexend"/>
              <a:cs typeface="Lexend"/>
              <a:sym typeface="Lexend"/>
            </a:endParaRPr>
          </a:p>
        </p:txBody>
      </p:sp>
      <p:pic>
        <p:nvPicPr>
          <p:cNvPr id="1105" name="Google Shape;1105;p85"/>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06" name="Google Shape;1106;p85"/>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107" name="Google Shape;1107;p85"/>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72</a:t>
            </a:r>
            <a:endParaRPr sz="700">
              <a:latin typeface="Lexend"/>
              <a:ea typeface="Lexend"/>
              <a:cs typeface="Lexend"/>
              <a:sym typeface="Lexend"/>
            </a:endParaRPr>
          </a:p>
        </p:txBody>
      </p:sp>
      <p:sp>
        <p:nvSpPr>
          <p:cNvPr id="1108" name="Google Shape;1108;p85"/>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Abbattiamo le obiezioni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2" name="Shape 1112"/>
        <p:cNvGrpSpPr/>
        <p:nvPr/>
      </p:nvGrpSpPr>
      <p:grpSpPr>
        <a:xfrm>
          <a:off x="0" y="0"/>
          <a:ext cx="0" cy="0"/>
          <a:chOff x="0" y="0"/>
          <a:chExt cx="0" cy="0"/>
        </a:xfrm>
      </p:grpSpPr>
      <p:grpSp>
        <p:nvGrpSpPr>
          <p:cNvPr id="1113" name="Google Shape;1113;p86"/>
          <p:cNvGrpSpPr/>
          <p:nvPr/>
        </p:nvGrpSpPr>
        <p:grpSpPr>
          <a:xfrm>
            <a:off x="430661" y="1626500"/>
            <a:ext cx="7345701" cy="1217537"/>
            <a:chOff x="842874" y="1708025"/>
            <a:chExt cx="7345701" cy="1217537"/>
          </a:xfrm>
        </p:grpSpPr>
        <p:pic>
          <p:nvPicPr>
            <p:cNvPr id="1114" name="Google Shape;1114;p86"/>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15" name="Google Shape;1115;p86"/>
            <p:cNvGrpSpPr/>
            <p:nvPr/>
          </p:nvGrpSpPr>
          <p:grpSpPr>
            <a:xfrm>
              <a:off x="1217082" y="1708025"/>
              <a:ext cx="6971493" cy="1147178"/>
              <a:chOff x="910432" y="2809750"/>
              <a:chExt cx="6971493" cy="1147178"/>
            </a:xfrm>
          </p:grpSpPr>
          <p:sp>
            <p:nvSpPr>
              <p:cNvPr id="1116" name="Google Shape;1116;p86"/>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7" name="Google Shape;1117;p86"/>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118" name="Google Shape;1118;p86"/>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9" name="Google Shape;1119;p86"/>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Non c'è abbastanza sole nella mia zona</a:t>
            </a:r>
            <a:endParaRPr sz="1920">
              <a:latin typeface="Lexend"/>
              <a:ea typeface="Lexend"/>
              <a:cs typeface="Lexend"/>
              <a:sym typeface="Lexend"/>
            </a:endParaRPr>
          </a:p>
        </p:txBody>
      </p:sp>
      <p:grpSp>
        <p:nvGrpSpPr>
          <p:cNvPr id="1120" name="Google Shape;1120;p86"/>
          <p:cNvGrpSpPr/>
          <p:nvPr/>
        </p:nvGrpSpPr>
        <p:grpSpPr>
          <a:xfrm>
            <a:off x="1278950" y="2776399"/>
            <a:ext cx="7434401" cy="1659314"/>
            <a:chOff x="899150" y="2747612"/>
            <a:chExt cx="7434401" cy="1659314"/>
          </a:xfrm>
        </p:grpSpPr>
        <p:grpSp>
          <p:nvGrpSpPr>
            <p:cNvPr id="1121" name="Google Shape;1121;p86"/>
            <p:cNvGrpSpPr/>
            <p:nvPr/>
          </p:nvGrpSpPr>
          <p:grpSpPr>
            <a:xfrm flipH="1">
              <a:off x="899150" y="2747612"/>
              <a:ext cx="6971493" cy="1574791"/>
              <a:chOff x="910432" y="2382137"/>
              <a:chExt cx="6971493" cy="1574791"/>
            </a:xfrm>
          </p:grpSpPr>
          <p:sp>
            <p:nvSpPr>
              <p:cNvPr id="1122" name="Google Shape;1122;p86"/>
              <p:cNvSpPr/>
              <p:nvPr/>
            </p:nvSpPr>
            <p:spPr>
              <a:xfrm>
                <a:off x="1368924" y="2382137"/>
                <a:ext cx="6513000" cy="13101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23" name="Google Shape;1123;p86"/>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24" name="Google Shape;1124;p86"/>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25" name="Google Shape;1125;p86"/>
          <p:cNvSpPr txBox="1"/>
          <p:nvPr>
            <p:ph type="title"/>
          </p:nvPr>
        </p:nvSpPr>
        <p:spPr>
          <a:xfrm>
            <a:off x="1359350" y="2776400"/>
            <a:ext cx="6326700" cy="12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620">
                <a:latin typeface="Lexend"/>
                <a:ea typeface="Lexend"/>
                <a:cs typeface="Lexend"/>
                <a:sym typeface="Lexend"/>
              </a:rPr>
              <a:t>I sistemi moderni funzionano anche con luce indiretta e in condizioni meteorologiche meno ottimali!</a:t>
            </a:r>
            <a:endParaRPr sz="1620">
              <a:latin typeface="Lexend"/>
              <a:ea typeface="Lexend"/>
              <a:cs typeface="Lexend"/>
              <a:sym typeface="Lexend"/>
            </a:endParaRPr>
          </a:p>
        </p:txBody>
      </p:sp>
      <p:pic>
        <p:nvPicPr>
          <p:cNvPr id="1126" name="Google Shape;1126;p86"/>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27" name="Google Shape;1127;p86"/>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128" name="Google Shape;1128;p86"/>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73</a:t>
            </a:r>
            <a:endParaRPr sz="700">
              <a:latin typeface="Lexend"/>
              <a:ea typeface="Lexend"/>
              <a:cs typeface="Lexend"/>
              <a:sym typeface="Lexend"/>
            </a:endParaRPr>
          </a:p>
        </p:txBody>
      </p:sp>
      <p:sp>
        <p:nvSpPr>
          <p:cNvPr id="1129" name="Google Shape;1129;p86"/>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Abbattiamo le obiezioni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3" name="Shape 1133"/>
        <p:cNvGrpSpPr/>
        <p:nvPr/>
      </p:nvGrpSpPr>
      <p:grpSpPr>
        <a:xfrm>
          <a:off x="0" y="0"/>
          <a:ext cx="0" cy="0"/>
          <a:chOff x="0" y="0"/>
          <a:chExt cx="0" cy="0"/>
        </a:xfrm>
      </p:grpSpPr>
      <p:grpSp>
        <p:nvGrpSpPr>
          <p:cNvPr id="1134" name="Google Shape;1134;p87"/>
          <p:cNvGrpSpPr/>
          <p:nvPr/>
        </p:nvGrpSpPr>
        <p:grpSpPr>
          <a:xfrm>
            <a:off x="430661" y="1626500"/>
            <a:ext cx="7345701" cy="1217537"/>
            <a:chOff x="842874" y="1708025"/>
            <a:chExt cx="7345701" cy="1217537"/>
          </a:xfrm>
        </p:grpSpPr>
        <p:pic>
          <p:nvPicPr>
            <p:cNvPr id="1135" name="Google Shape;1135;p87"/>
            <p:cNvPicPr preferRelativeResize="0"/>
            <p:nvPr/>
          </p:nvPicPr>
          <p:blipFill>
            <a:blip r:embed="rId3">
              <a:alphaModFix/>
            </a:blip>
            <a:stretch>
              <a:fillRect/>
            </a:stretch>
          </p:blipFill>
          <p:spPr>
            <a:xfrm>
              <a:off x="842874" y="2551339"/>
              <a:ext cx="374200" cy="374223"/>
            </a:xfrm>
            <a:prstGeom prst="rect">
              <a:avLst/>
            </a:prstGeom>
            <a:noFill/>
            <a:ln>
              <a:noFill/>
            </a:ln>
          </p:spPr>
        </p:pic>
        <p:grpSp>
          <p:nvGrpSpPr>
            <p:cNvPr id="1136" name="Google Shape;1136;p87"/>
            <p:cNvGrpSpPr/>
            <p:nvPr/>
          </p:nvGrpSpPr>
          <p:grpSpPr>
            <a:xfrm>
              <a:off x="1217082" y="1708025"/>
              <a:ext cx="6971493" cy="1147178"/>
              <a:chOff x="910432" y="2809750"/>
              <a:chExt cx="6971493" cy="1147178"/>
            </a:xfrm>
          </p:grpSpPr>
          <p:sp>
            <p:nvSpPr>
              <p:cNvPr id="1137" name="Google Shape;1137;p87"/>
              <p:cNvSpPr/>
              <p:nvPr/>
            </p:nvSpPr>
            <p:spPr>
              <a:xfrm>
                <a:off x="1368925" y="2809750"/>
                <a:ext cx="6513000" cy="882600"/>
              </a:xfrm>
              <a:prstGeom prst="rect">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38" name="Google Shape;1138;p87"/>
              <p:cNvSpPr/>
              <p:nvPr/>
            </p:nvSpPr>
            <p:spPr>
              <a:xfrm rot="-7202570">
                <a:off x="1135739" y="3356177"/>
                <a:ext cx="243285" cy="660603"/>
              </a:xfrm>
              <a:prstGeom prst="triangle">
                <a:avLst>
                  <a:gd fmla="val 50000" name="adj"/>
                </a:avLst>
              </a:prstGeom>
              <a:solidFill>
                <a:srgbClr val="CFE2F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sp>
        <p:nvSpPr>
          <p:cNvPr id="1139" name="Google Shape;1139;p87"/>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0" name="Google Shape;1140;p87"/>
          <p:cNvSpPr txBox="1"/>
          <p:nvPr>
            <p:ph type="title"/>
          </p:nvPr>
        </p:nvSpPr>
        <p:spPr>
          <a:xfrm>
            <a:off x="1370612" y="1626500"/>
            <a:ext cx="6326700" cy="8637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it" sz="1920">
                <a:latin typeface="Lexend"/>
                <a:ea typeface="Lexend"/>
                <a:cs typeface="Lexend"/>
                <a:sym typeface="Lexend"/>
              </a:rPr>
              <a:t>Non so se starò abbastanza a lungo nella casa</a:t>
            </a:r>
            <a:endParaRPr sz="1920">
              <a:latin typeface="Lexend"/>
              <a:ea typeface="Lexend"/>
              <a:cs typeface="Lexend"/>
              <a:sym typeface="Lexend"/>
            </a:endParaRPr>
          </a:p>
        </p:txBody>
      </p:sp>
      <p:grpSp>
        <p:nvGrpSpPr>
          <p:cNvPr id="1141" name="Google Shape;1141;p87"/>
          <p:cNvGrpSpPr/>
          <p:nvPr/>
        </p:nvGrpSpPr>
        <p:grpSpPr>
          <a:xfrm>
            <a:off x="1278950" y="2776399"/>
            <a:ext cx="7434401" cy="1659314"/>
            <a:chOff x="899150" y="2747612"/>
            <a:chExt cx="7434401" cy="1659314"/>
          </a:xfrm>
        </p:grpSpPr>
        <p:grpSp>
          <p:nvGrpSpPr>
            <p:cNvPr id="1142" name="Google Shape;1142;p87"/>
            <p:cNvGrpSpPr/>
            <p:nvPr/>
          </p:nvGrpSpPr>
          <p:grpSpPr>
            <a:xfrm flipH="1">
              <a:off x="899150" y="2747612"/>
              <a:ext cx="6971493" cy="1574791"/>
              <a:chOff x="910432" y="2382137"/>
              <a:chExt cx="6971493" cy="1574791"/>
            </a:xfrm>
          </p:grpSpPr>
          <p:sp>
            <p:nvSpPr>
              <p:cNvPr id="1143" name="Google Shape;1143;p87"/>
              <p:cNvSpPr/>
              <p:nvPr/>
            </p:nvSpPr>
            <p:spPr>
              <a:xfrm>
                <a:off x="1368924" y="2382137"/>
                <a:ext cx="6513000" cy="1310100"/>
              </a:xfrm>
              <a:prstGeom prst="rect">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44" name="Google Shape;1144;p87"/>
              <p:cNvSpPr/>
              <p:nvPr/>
            </p:nvSpPr>
            <p:spPr>
              <a:xfrm rot="-7202570">
                <a:off x="1135739" y="3356177"/>
                <a:ext cx="243285" cy="660603"/>
              </a:xfrm>
              <a:prstGeom prst="triangle">
                <a:avLst>
                  <a:gd fmla="val 50000" name="adj"/>
                </a:avLst>
              </a:prstGeom>
              <a:solidFill>
                <a:srgbClr val="D9EAD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pic>
          <p:nvPicPr>
            <p:cNvPr id="1145" name="Google Shape;1145;p87"/>
            <p:cNvPicPr preferRelativeResize="0"/>
            <p:nvPr/>
          </p:nvPicPr>
          <p:blipFill>
            <a:blip r:embed="rId4">
              <a:alphaModFix/>
            </a:blip>
            <a:stretch>
              <a:fillRect/>
            </a:stretch>
          </p:blipFill>
          <p:spPr>
            <a:xfrm>
              <a:off x="7870650" y="3944025"/>
              <a:ext cx="462901" cy="462901"/>
            </a:xfrm>
            <a:prstGeom prst="rect">
              <a:avLst/>
            </a:prstGeom>
            <a:noFill/>
            <a:ln>
              <a:noFill/>
            </a:ln>
          </p:spPr>
        </p:pic>
      </p:grpSp>
      <p:sp>
        <p:nvSpPr>
          <p:cNvPr id="1146" name="Google Shape;1146;p87"/>
          <p:cNvSpPr txBox="1"/>
          <p:nvPr>
            <p:ph type="title"/>
          </p:nvPr>
        </p:nvSpPr>
        <p:spPr>
          <a:xfrm>
            <a:off x="1359350" y="2776400"/>
            <a:ext cx="6326700" cy="12912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it" sz="1620">
                <a:latin typeface="Lexend"/>
                <a:ea typeface="Lexend"/>
                <a:cs typeface="Lexend"/>
                <a:sym typeface="Lexend"/>
              </a:rPr>
              <a:t>Un sistema fotovoltaico può aumentare il valore della proprietà e renderla più attraente per i futuri acquirenti.</a:t>
            </a:r>
            <a:endParaRPr sz="1620">
              <a:latin typeface="Lexend"/>
              <a:ea typeface="Lexend"/>
              <a:cs typeface="Lexend"/>
              <a:sym typeface="Lexend"/>
            </a:endParaRPr>
          </a:p>
          <a:p>
            <a:pPr indent="0" lvl="0" marL="0" rtl="0" algn="l">
              <a:lnSpc>
                <a:spcPct val="115000"/>
              </a:lnSpc>
              <a:spcBef>
                <a:spcPts val="0"/>
              </a:spcBef>
              <a:spcAft>
                <a:spcPts val="0"/>
              </a:spcAft>
              <a:buNone/>
            </a:pPr>
            <a:r>
              <a:rPr lang="it" sz="1620">
                <a:latin typeface="Lexend"/>
                <a:ea typeface="Lexend"/>
                <a:cs typeface="Lexend"/>
                <a:sym typeface="Lexend"/>
              </a:rPr>
              <a:t>E in 3-4 anni te lo sei già ripagato beneficiando dei vantaggi del fotovoltaico!</a:t>
            </a:r>
            <a:endParaRPr sz="1620">
              <a:latin typeface="Lexend"/>
              <a:ea typeface="Lexend"/>
              <a:cs typeface="Lexend"/>
              <a:sym typeface="Lexend"/>
            </a:endParaRPr>
          </a:p>
        </p:txBody>
      </p:sp>
      <p:pic>
        <p:nvPicPr>
          <p:cNvPr id="1147" name="Google Shape;1147;p87"/>
          <p:cNvPicPr preferRelativeResize="0"/>
          <p:nvPr/>
        </p:nvPicPr>
        <p:blipFill rotWithShape="1">
          <a:blip r:embed="rId5">
            <a:alphaModFix/>
          </a:blip>
          <a:srcRect b="0" l="0" r="0" t="0"/>
          <a:stretch/>
        </p:blipFill>
        <p:spPr>
          <a:xfrm>
            <a:off x="0" y="5"/>
            <a:ext cx="9144003" cy="598289"/>
          </a:xfrm>
          <a:prstGeom prst="rect">
            <a:avLst/>
          </a:prstGeom>
          <a:noFill/>
          <a:ln>
            <a:noFill/>
          </a:ln>
        </p:spPr>
      </p:pic>
      <p:sp>
        <p:nvSpPr>
          <p:cNvPr id="1148" name="Google Shape;1148;p87"/>
          <p:cNvSpPr txBox="1"/>
          <p:nvPr>
            <p:ph idx="4294967295"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120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
        <p:nvSpPr>
          <p:cNvPr id="1149" name="Google Shape;1149;p87"/>
          <p:cNvSpPr txBox="1"/>
          <p:nvPr>
            <p:ph idx="4294967295" type="subTitle"/>
          </p:nvPr>
        </p:nvSpPr>
        <p:spPr>
          <a:xfrm>
            <a:off x="4736575" y="158450"/>
            <a:ext cx="4203900" cy="281400"/>
          </a:xfrm>
          <a:prstGeom prst="rect">
            <a:avLst/>
          </a:prstGeom>
        </p:spPr>
        <p:txBody>
          <a:bodyPr anchorCtr="0" anchor="t" bIns="91425" lIns="91425" spcFirstLastPara="1" rIns="91425" wrap="square" tIns="91425">
            <a:normAutofit/>
          </a:bodyPr>
          <a:lstStyle/>
          <a:p>
            <a:pPr indent="0" lvl="0" marL="0" rtl="0" algn="r">
              <a:lnSpc>
                <a:spcPct val="90000"/>
              </a:lnSpc>
              <a:spcBef>
                <a:spcPts val="0"/>
              </a:spcBef>
              <a:spcAft>
                <a:spcPts val="1200"/>
              </a:spcAft>
              <a:buSzPts val="275"/>
              <a:buNone/>
            </a:pPr>
            <a:r>
              <a:rPr lang="it" sz="700">
                <a:latin typeface="Lexend"/>
                <a:ea typeface="Lexend"/>
                <a:cs typeface="Lexend"/>
                <a:sym typeface="Lexend"/>
              </a:rPr>
              <a:t>Le Obiezioni del Cliente | 74</a:t>
            </a:r>
            <a:endParaRPr sz="700">
              <a:latin typeface="Lexend"/>
              <a:ea typeface="Lexend"/>
              <a:cs typeface="Lexend"/>
              <a:sym typeface="Lexend"/>
            </a:endParaRPr>
          </a:p>
        </p:txBody>
      </p:sp>
      <p:sp>
        <p:nvSpPr>
          <p:cNvPr id="1150" name="Google Shape;1150;p87"/>
          <p:cNvSpPr txBox="1"/>
          <p:nvPr>
            <p:ph type="title"/>
          </p:nvPr>
        </p:nvSpPr>
        <p:spPr>
          <a:xfrm>
            <a:off x="311700" y="852975"/>
            <a:ext cx="8520600" cy="462900"/>
          </a:xfrm>
          <a:prstGeom prst="rect">
            <a:avLst/>
          </a:prstGeom>
        </p:spPr>
        <p:txBody>
          <a:bodyPr anchorCtr="0" anchor="t" bIns="91425" lIns="91425" spcFirstLastPara="1" rIns="91425" wrap="square" tIns="91425">
            <a:noAutofit/>
          </a:bodyPr>
          <a:lstStyle/>
          <a:p>
            <a:pPr indent="0" lvl="0" marL="0" rtl="0" algn="ctr">
              <a:lnSpc>
                <a:spcPct val="115000"/>
              </a:lnSpc>
              <a:spcBef>
                <a:spcPts val="0"/>
              </a:spcBef>
              <a:spcAft>
                <a:spcPts val="0"/>
              </a:spcAft>
              <a:buSzPts val="990"/>
              <a:buNone/>
            </a:pPr>
            <a:r>
              <a:rPr lang="it" sz="2020">
                <a:latin typeface="Lexend"/>
                <a:ea typeface="Lexend"/>
                <a:cs typeface="Lexend"/>
                <a:sym typeface="Lexend"/>
              </a:rPr>
              <a:t>Abbattiamo le obiezioni</a:t>
            </a:r>
            <a:endParaRPr b="1" sz="2020">
              <a:latin typeface="Lexend"/>
              <a:ea typeface="Lexend"/>
              <a:cs typeface="Lexend"/>
              <a:sym typeface="Lexend"/>
            </a:endParaRPr>
          </a:p>
          <a:p>
            <a:pPr indent="0" lvl="0" marL="0" rtl="0" algn="ctr">
              <a:lnSpc>
                <a:spcPct val="115000"/>
              </a:lnSpc>
              <a:spcBef>
                <a:spcPts val="0"/>
              </a:spcBef>
              <a:spcAft>
                <a:spcPts val="0"/>
              </a:spcAft>
              <a:buSzPts val="990"/>
              <a:buNone/>
            </a:pPr>
            <a:r>
              <a:t/>
            </a:r>
            <a:endParaRPr sz="1620">
              <a:latin typeface="Lexend"/>
              <a:ea typeface="Lexend"/>
              <a:cs typeface="Lexend"/>
              <a:sym typeface="Lexend"/>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pic>
        <p:nvPicPr>
          <p:cNvPr id="1155" name="Google Shape;1155;p88"/>
          <p:cNvPicPr preferRelativeResize="0"/>
          <p:nvPr/>
        </p:nvPicPr>
        <p:blipFill>
          <a:blip r:embed="rId3">
            <a:alphaModFix/>
          </a:blip>
          <a:stretch>
            <a:fillRect/>
          </a:stretch>
        </p:blipFill>
        <p:spPr>
          <a:xfrm>
            <a:off x="0" y="0"/>
            <a:ext cx="9144003" cy="5143501"/>
          </a:xfrm>
          <a:prstGeom prst="rect">
            <a:avLst/>
          </a:prstGeom>
          <a:noFill/>
          <a:ln>
            <a:noFill/>
          </a:ln>
        </p:spPr>
      </p:pic>
      <p:sp>
        <p:nvSpPr>
          <p:cNvPr id="1156" name="Google Shape;1156;p88"/>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solidFill>
                  <a:schemeClr val="lt1"/>
                </a:solidFill>
                <a:latin typeface="Lexend"/>
                <a:ea typeface="Lexend"/>
                <a:cs typeface="Lexend"/>
                <a:sym typeface="Lexend"/>
              </a:rPr>
              <a:t>Domande?</a:t>
            </a:r>
            <a:endParaRPr sz="7000">
              <a:solidFill>
                <a:schemeClr val="lt1"/>
              </a:solidFill>
              <a:latin typeface="Lexend"/>
              <a:ea typeface="Lexend"/>
              <a:cs typeface="Lexend"/>
              <a:sym typeface="Lexend"/>
            </a:endParaRPr>
          </a:p>
        </p:txBody>
      </p:sp>
      <p:sp>
        <p:nvSpPr>
          <p:cNvPr id="1157" name="Google Shape;1157;p88"/>
          <p:cNvSpPr txBox="1"/>
          <p:nvPr>
            <p:ph idx="1" type="subTitle"/>
          </p:nvPr>
        </p:nvSpPr>
        <p:spPr>
          <a:xfrm>
            <a:off x="311700" y="2829350"/>
            <a:ext cx="8520600" cy="4563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2000">
                <a:solidFill>
                  <a:schemeClr val="lt1"/>
                </a:solidFill>
                <a:latin typeface="Lexend"/>
                <a:ea typeface="Lexend"/>
                <a:cs typeface="Lexend"/>
                <a:sym typeface="Lexend"/>
              </a:rPr>
              <a:t>Q&amp;A</a:t>
            </a:r>
            <a:endParaRPr sz="2000">
              <a:solidFill>
                <a:schemeClr val="lt1"/>
              </a:solidFill>
              <a:latin typeface="Lexend"/>
              <a:ea typeface="Lexend"/>
              <a:cs typeface="Lexend"/>
              <a:sym typeface="Lexend"/>
            </a:endParaRPr>
          </a:p>
        </p:txBody>
      </p:sp>
      <p:sp>
        <p:nvSpPr>
          <p:cNvPr id="1158" name="Google Shape;1158;p88"/>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88"/>
          <p:cNvSpPr/>
          <p:nvPr/>
        </p:nvSpPr>
        <p:spPr>
          <a:xfrm>
            <a:off x="4032900" y="4346425"/>
            <a:ext cx="1078200" cy="7971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160" name="Google Shape;1160;p88"/>
          <p:cNvPicPr preferRelativeResize="0"/>
          <p:nvPr/>
        </p:nvPicPr>
        <p:blipFill rotWithShape="1">
          <a:blip r:embed="rId4">
            <a:alphaModFix/>
          </a:blip>
          <a:srcRect b="0" l="0" r="0" t="0"/>
          <a:stretch/>
        </p:blipFill>
        <p:spPr>
          <a:xfrm>
            <a:off x="4290378" y="4463349"/>
            <a:ext cx="563250" cy="563250"/>
          </a:xfrm>
          <a:prstGeom prst="rect">
            <a:avLst/>
          </a:prstGeom>
          <a:noFill/>
          <a:ln>
            <a:noFill/>
          </a:ln>
        </p:spPr>
      </p:pic>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4" name="Shape 1164"/>
        <p:cNvGrpSpPr/>
        <p:nvPr/>
      </p:nvGrpSpPr>
      <p:grpSpPr>
        <a:xfrm>
          <a:off x="0" y="0"/>
          <a:ext cx="0" cy="0"/>
          <a:chOff x="0" y="0"/>
          <a:chExt cx="0" cy="0"/>
        </a:xfrm>
      </p:grpSpPr>
      <p:pic>
        <p:nvPicPr>
          <p:cNvPr id="1165" name="Google Shape;1165;p89"/>
          <p:cNvPicPr preferRelativeResize="0"/>
          <p:nvPr/>
        </p:nvPicPr>
        <p:blipFill>
          <a:blip r:embed="rId3">
            <a:alphaModFix/>
          </a:blip>
          <a:stretch>
            <a:fillRect/>
          </a:stretch>
        </p:blipFill>
        <p:spPr>
          <a:xfrm>
            <a:off x="4262062" y="3803585"/>
            <a:ext cx="619876" cy="635148"/>
          </a:xfrm>
          <a:prstGeom prst="rect">
            <a:avLst/>
          </a:prstGeom>
          <a:noFill/>
          <a:ln>
            <a:noFill/>
          </a:ln>
        </p:spPr>
      </p:pic>
      <p:sp>
        <p:nvSpPr>
          <p:cNvPr id="1166" name="Google Shape;1166;p89"/>
          <p:cNvSpPr txBox="1"/>
          <p:nvPr>
            <p:ph idx="1" type="subTitle"/>
          </p:nvPr>
        </p:nvSpPr>
        <p:spPr>
          <a:xfrm>
            <a:off x="311700" y="2728850"/>
            <a:ext cx="8520600" cy="550500"/>
          </a:xfrm>
          <a:prstGeom prst="rect">
            <a:avLst/>
          </a:prstGeom>
        </p:spPr>
        <p:txBody>
          <a:bodyPr anchorCtr="0" anchor="t" bIns="91425" lIns="91425" spcFirstLastPara="1" rIns="91425" wrap="square" tIns="91425">
            <a:normAutofit/>
          </a:bodyPr>
          <a:lstStyle/>
          <a:p>
            <a:pPr indent="0" lvl="0" marL="0" rtl="0" algn="ctr">
              <a:lnSpc>
                <a:spcPct val="80000"/>
              </a:lnSpc>
              <a:spcBef>
                <a:spcPts val="0"/>
              </a:spcBef>
              <a:spcAft>
                <a:spcPts val="0"/>
              </a:spcAft>
              <a:buNone/>
            </a:pPr>
            <a:r>
              <a:rPr lang="it" sz="1500">
                <a:latin typeface="Lexend"/>
                <a:ea typeface="Lexend"/>
                <a:cs typeface="Lexend"/>
                <a:sym typeface="Lexend"/>
              </a:rPr>
              <a:t>EKO Srl</a:t>
            </a:r>
            <a:endParaRPr sz="1500">
              <a:latin typeface="Lexend"/>
              <a:ea typeface="Lexend"/>
              <a:cs typeface="Lexend"/>
              <a:sym typeface="Lexend"/>
            </a:endParaRPr>
          </a:p>
        </p:txBody>
      </p:sp>
      <p:sp>
        <p:nvSpPr>
          <p:cNvPr id="1167" name="Google Shape;1167;p89"/>
          <p:cNvSpPr/>
          <p:nvPr/>
        </p:nvSpPr>
        <p:spPr>
          <a:xfrm>
            <a:off x="0" y="5056300"/>
            <a:ext cx="9144000" cy="87300"/>
          </a:xfrm>
          <a:prstGeom prst="rect">
            <a:avLst/>
          </a:prstGeom>
          <a:solidFill>
            <a:srgbClr val="6AA8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68" name="Google Shape;1168;p89"/>
          <p:cNvSpPr txBox="1"/>
          <p:nvPr>
            <p:ph idx="1" type="subTitle"/>
          </p:nvPr>
        </p:nvSpPr>
        <p:spPr>
          <a:xfrm>
            <a:off x="311700" y="1756375"/>
            <a:ext cx="8520600" cy="900000"/>
          </a:xfrm>
          <a:prstGeom prst="rect">
            <a:avLst/>
          </a:prstGeom>
        </p:spPr>
        <p:txBody>
          <a:bodyPr anchorCtr="0" anchor="t" bIns="91425" lIns="91425" spcFirstLastPara="1" rIns="91425" wrap="square" tIns="91425">
            <a:noAutofit/>
          </a:bodyPr>
          <a:lstStyle/>
          <a:p>
            <a:pPr indent="0" lvl="0" marL="0" rtl="0" algn="ctr">
              <a:lnSpc>
                <a:spcPct val="80000"/>
              </a:lnSpc>
              <a:spcBef>
                <a:spcPts val="0"/>
              </a:spcBef>
              <a:spcAft>
                <a:spcPts val="0"/>
              </a:spcAft>
              <a:buNone/>
            </a:pPr>
            <a:r>
              <a:rPr lang="it" sz="7000">
                <a:latin typeface="Lexend"/>
                <a:ea typeface="Lexend"/>
                <a:cs typeface="Lexend"/>
                <a:sym typeface="Lexend"/>
              </a:rPr>
              <a:t>Grazie</a:t>
            </a:r>
            <a:endParaRPr sz="7000">
              <a:latin typeface="Lexend"/>
              <a:ea typeface="Lexend"/>
              <a:cs typeface="Lexend"/>
              <a:sym typeface="Lexend"/>
            </a:endParaRPr>
          </a:p>
        </p:txBody>
      </p:sp>
      <p:pic>
        <p:nvPicPr>
          <p:cNvPr id="1169" name="Google Shape;1169;p89"/>
          <p:cNvPicPr preferRelativeResize="0"/>
          <p:nvPr/>
        </p:nvPicPr>
        <p:blipFill rotWithShape="1">
          <a:blip r:embed="rId4">
            <a:alphaModFix/>
          </a:blip>
          <a:srcRect b="0" l="0" r="0" t="0"/>
          <a:stretch/>
        </p:blipFill>
        <p:spPr>
          <a:xfrm>
            <a:off x="0" y="5"/>
            <a:ext cx="9144003" cy="598289"/>
          </a:xfrm>
          <a:prstGeom prst="rect">
            <a:avLst/>
          </a:prstGeom>
          <a:noFill/>
          <a:ln>
            <a:noFill/>
          </a:ln>
        </p:spPr>
      </p:pic>
      <p:sp>
        <p:nvSpPr>
          <p:cNvPr id="1170" name="Google Shape;1170;p89"/>
          <p:cNvSpPr txBox="1"/>
          <p:nvPr>
            <p:ph idx="1" type="subTitle"/>
          </p:nvPr>
        </p:nvSpPr>
        <p:spPr>
          <a:xfrm>
            <a:off x="1123913" y="158438"/>
            <a:ext cx="4203900" cy="281400"/>
          </a:xfrm>
          <a:prstGeom prst="rect">
            <a:avLst/>
          </a:prstGeom>
        </p:spPr>
        <p:txBody>
          <a:bodyPr anchorCtr="0" anchor="t" bIns="91425" lIns="91425" spcFirstLastPara="1" rIns="91425" wrap="square" tIns="91425">
            <a:normAutofit/>
          </a:bodyPr>
          <a:lstStyle/>
          <a:p>
            <a:pPr indent="0" lvl="0" marL="0" rtl="0" algn="l">
              <a:lnSpc>
                <a:spcPct val="90000"/>
              </a:lnSpc>
              <a:spcBef>
                <a:spcPts val="0"/>
              </a:spcBef>
              <a:spcAft>
                <a:spcPts val="0"/>
              </a:spcAft>
              <a:buSzPts val="275"/>
              <a:buNone/>
            </a:pPr>
            <a:r>
              <a:rPr b="1" lang="it" sz="700">
                <a:latin typeface="Lexend"/>
                <a:ea typeface="Lexend"/>
                <a:cs typeface="Lexend"/>
                <a:sym typeface="Lexend"/>
              </a:rPr>
              <a:t>EKO Srl</a:t>
            </a:r>
            <a:r>
              <a:rPr lang="it" sz="700">
                <a:latin typeface="Lexend"/>
                <a:ea typeface="Lexend"/>
                <a:cs typeface="Lexend"/>
                <a:sym typeface="Lexend"/>
              </a:rPr>
              <a:t> </a:t>
            </a:r>
            <a:endParaRPr sz="700">
              <a:latin typeface="Lexend"/>
              <a:ea typeface="Lexend"/>
              <a:cs typeface="Lexend"/>
              <a:sym typeface="Lexen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