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5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8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0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1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2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3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4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5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6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7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8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9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20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21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22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23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24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25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26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27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28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86" r:id="rId5"/>
  </p:sldMasterIdLst>
  <p:notesMasterIdLst>
    <p:notesMasterId r:id="rId36"/>
  </p:notesMasterIdLst>
  <p:handoutMasterIdLst>
    <p:handoutMasterId r:id="rId37"/>
  </p:handoutMasterIdLst>
  <p:sldIdLst>
    <p:sldId id="802" r:id="rId6"/>
    <p:sldId id="1138" r:id="rId7"/>
    <p:sldId id="1217" r:id="rId8"/>
    <p:sldId id="1139" r:id="rId9"/>
    <p:sldId id="1197" r:id="rId10"/>
    <p:sldId id="1140" r:id="rId11"/>
    <p:sldId id="1186" r:id="rId12"/>
    <p:sldId id="1213" r:id="rId13"/>
    <p:sldId id="1187" r:id="rId14"/>
    <p:sldId id="1214" r:id="rId15"/>
    <p:sldId id="1188" r:id="rId16"/>
    <p:sldId id="1142" r:id="rId17"/>
    <p:sldId id="1144" r:id="rId18"/>
    <p:sldId id="1147" r:id="rId19"/>
    <p:sldId id="1189" r:id="rId20"/>
    <p:sldId id="1150" r:id="rId21"/>
    <p:sldId id="1218" r:id="rId22"/>
    <p:sldId id="1190" r:id="rId23"/>
    <p:sldId id="1181" r:id="rId24"/>
    <p:sldId id="1191" r:id="rId25"/>
    <p:sldId id="1192" r:id="rId26"/>
    <p:sldId id="1194" r:id="rId27"/>
    <p:sldId id="1209" r:id="rId28"/>
    <p:sldId id="1196" r:id="rId29"/>
    <p:sldId id="1161" r:id="rId30"/>
    <p:sldId id="1211" r:id="rId31"/>
    <p:sldId id="1212" r:id="rId32"/>
    <p:sldId id="1215" r:id="rId33"/>
    <p:sldId id="1216" r:id="rId34"/>
    <p:sldId id="1185" r:id="rId35"/>
  </p:sldIdLst>
  <p:sldSz cx="9144000" cy="6858000" type="screen4x3"/>
  <p:notesSz cx="6797675" cy="9928225"/>
  <p:custDataLst>
    <p:tags r:id="rId38"/>
  </p:custDataLst>
  <p:defaultTextStyle>
    <a:defPPr>
      <a:defRPr lang="it-IT"/>
    </a:defPPr>
    <a:lvl1pPr algn="l" defTabSz="9128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5613" indent="1588" algn="l" defTabSz="9128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2813" indent="1588" algn="l" defTabSz="9128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0013" indent="1588" algn="l" defTabSz="9128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7213" indent="1588" algn="l" defTabSz="9128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2" pos="2925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  <p15:guide id="3" orient="horz" pos="3128" userDrawn="1">
          <p15:clr>
            <a:srgbClr val="A4A3A4"/>
          </p15:clr>
        </p15:guide>
        <p15:guide id="4" pos="2142" userDrawn="1">
          <p15:clr>
            <a:srgbClr val="A4A3A4"/>
          </p15:clr>
        </p15:guide>
        <p15:guide id="5" orient="horz" pos="3223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ssandra Scotellaro" initials="AS" lastIdx="1" clrIdx="0">
    <p:extLst>
      <p:ext uri="{19B8F6BF-5375-455C-9EA6-DF929625EA0E}">
        <p15:presenceInfo xmlns:p15="http://schemas.microsoft.com/office/powerpoint/2012/main" userId="S::scotellaroalessandra@sorgenia.it::0597070a-29cf-4b14-bb91-63ecff82fb6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7FF"/>
    <a:srgbClr val="7DB014"/>
    <a:srgbClr val="F5C20F"/>
    <a:srgbClr val="D9C73E"/>
    <a:srgbClr val="B9CE72"/>
    <a:srgbClr val="6F9257"/>
    <a:srgbClr val="6F8DB9"/>
    <a:srgbClr val="669900"/>
    <a:srgbClr val="33CC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044F26-2ED7-4A2A-9C73-4D7BDE69E482}" v="3" dt="2026-04-13T07:42:02.8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48" autoAdjust="0"/>
    <p:restoredTop sz="95199" autoAdjust="0"/>
  </p:normalViewPr>
  <p:slideViewPr>
    <p:cSldViewPr snapToGrid="0">
      <p:cViewPr>
        <p:scale>
          <a:sx n="192" d="100"/>
          <a:sy n="192" d="100"/>
        </p:scale>
        <p:origin x="-330" y="-2154"/>
      </p:cViewPr>
      <p:guideLst>
        <p:guide pos="2925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2693" y="-86"/>
      </p:cViewPr>
      <p:guideLst>
        <p:guide orient="horz" pos="3224"/>
        <p:guide pos="2237"/>
        <p:guide orient="horz" pos="3128"/>
        <p:guide pos="2142"/>
        <p:guide orient="horz" pos="3223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commentAuthors" Target="commentAuthor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ags" Target="tags/tag1.xml"/><Relationship Id="rId20" Type="http://schemas.openxmlformats.org/officeDocument/2006/relationships/slide" Target="slides/slide15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MONTE MELISSA" userId="972967c4-786f-47b4-95b2-cf436463b084" providerId="ADAL" clId="{BFF9DD5C-3228-4E82-BF29-78B399696D15}"/>
    <pc:docChg chg="undo custSel modSld">
      <pc:chgData name="BELMONTE MELISSA" userId="972967c4-786f-47b4-95b2-cf436463b084" providerId="ADAL" clId="{BFF9DD5C-3228-4E82-BF29-78B399696D15}" dt="2026-04-13T08:20:02.957" v="574" actId="208"/>
      <pc:docMkLst>
        <pc:docMk/>
      </pc:docMkLst>
      <pc:sldChg chg="modSp mod">
        <pc:chgData name="BELMONTE MELISSA" userId="972967c4-786f-47b4-95b2-cf436463b084" providerId="ADAL" clId="{BFF9DD5C-3228-4E82-BF29-78B399696D15}" dt="2026-04-13T07:43:17.477" v="133" actId="13926"/>
        <pc:sldMkLst>
          <pc:docMk/>
          <pc:sldMk cId="2550203148" sldId="1142"/>
        </pc:sldMkLst>
        <pc:spChg chg="mod">
          <ac:chgData name="BELMONTE MELISSA" userId="972967c4-786f-47b4-95b2-cf436463b084" providerId="ADAL" clId="{BFF9DD5C-3228-4E82-BF29-78B399696D15}" dt="2026-04-13T07:43:17.477" v="133" actId="13926"/>
          <ac:spMkLst>
            <pc:docMk/>
            <pc:sldMk cId="2550203148" sldId="1142"/>
            <ac:spMk id="25" creationId="{3D1560B1-7336-41BD-986F-3DBCAB4D1882}"/>
          </ac:spMkLst>
        </pc:spChg>
      </pc:sldChg>
      <pc:sldChg chg="addSp delSp modSp mod">
        <pc:chgData name="BELMONTE MELISSA" userId="972967c4-786f-47b4-95b2-cf436463b084" providerId="ADAL" clId="{BFF9DD5C-3228-4E82-BF29-78B399696D15}" dt="2026-04-13T08:04:37.608" v="374" actId="20577"/>
        <pc:sldMkLst>
          <pc:docMk/>
          <pc:sldMk cId="4241802570" sldId="1181"/>
        </pc:sldMkLst>
        <pc:spChg chg="mod">
          <ac:chgData name="BELMONTE MELISSA" userId="972967c4-786f-47b4-95b2-cf436463b084" providerId="ADAL" clId="{BFF9DD5C-3228-4E82-BF29-78B399696D15}" dt="2026-04-13T07:59:07.309" v="231" actId="20577"/>
          <ac:spMkLst>
            <pc:docMk/>
            <pc:sldMk cId="4241802570" sldId="1181"/>
            <ac:spMk id="4" creationId="{00000000-0000-0000-0000-000000000000}"/>
          </ac:spMkLst>
        </pc:spChg>
        <pc:spChg chg="mod">
          <ac:chgData name="BELMONTE MELISSA" userId="972967c4-786f-47b4-95b2-cf436463b084" providerId="ADAL" clId="{BFF9DD5C-3228-4E82-BF29-78B399696D15}" dt="2026-04-13T07:59:12.084" v="232" actId="20577"/>
          <ac:spMkLst>
            <pc:docMk/>
            <pc:sldMk cId="4241802570" sldId="1181"/>
            <ac:spMk id="9" creationId="{13CA5A17-066E-4834-B2D0-4DA29ED04CEC}"/>
          </ac:spMkLst>
        </pc:spChg>
        <pc:spChg chg="mod">
          <ac:chgData name="BELMONTE MELISSA" userId="972967c4-786f-47b4-95b2-cf436463b084" providerId="ADAL" clId="{BFF9DD5C-3228-4E82-BF29-78B399696D15}" dt="2026-04-13T08:04:37.608" v="374" actId="20577"/>
          <ac:spMkLst>
            <pc:docMk/>
            <pc:sldMk cId="4241802570" sldId="1181"/>
            <ac:spMk id="13" creationId="{DCF399FF-3245-4A38-8ADD-694DA8A71CEE}"/>
          </ac:spMkLst>
        </pc:spChg>
        <pc:picChg chg="add mod">
          <ac:chgData name="BELMONTE MELISSA" userId="972967c4-786f-47b4-95b2-cf436463b084" providerId="ADAL" clId="{BFF9DD5C-3228-4E82-BF29-78B399696D15}" dt="2026-04-13T08:03:16.200" v="241" actId="1076"/>
          <ac:picMkLst>
            <pc:docMk/>
            <pc:sldMk cId="4241802570" sldId="1181"/>
            <ac:picMk id="7" creationId="{D5065C0D-2AAA-88E8-26D0-E316D629E370}"/>
          </ac:picMkLst>
        </pc:picChg>
        <pc:picChg chg="del">
          <ac:chgData name="BELMONTE MELISSA" userId="972967c4-786f-47b4-95b2-cf436463b084" providerId="ADAL" clId="{BFF9DD5C-3228-4E82-BF29-78B399696D15}" dt="2026-04-13T08:03:11.246" v="238" actId="478"/>
          <ac:picMkLst>
            <pc:docMk/>
            <pc:sldMk cId="4241802570" sldId="1181"/>
            <ac:picMk id="11" creationId="{A2966459-E622-4E6B-8E1F-B8FFC04C5A03}"/>
          </ac:picMkLst>
        </pc:picChg>
      </pc:sldChg>
      <pc:sldChg chg="addSp delSp modSp mod">
        <pc:chgData name="BELMONTE MELISSA" userId="972967c4-786f-47b4-95b2-cf436463b084" providerId="ADAL" clId="{BFF9DD5C-3228-4E82-BF29-78B399696D15}" dt="2026-04-13T07:41:56.004" v="123" actId="1076"/>
        <pc:sldMkLst>
          <pc:docMk/>
          <pc:sldMk cId="1852317588" sldId="1187"/>
        </pc:sldMkLst>
        <pc:spChg chg="mod">
          <ac:chgData name="BELMONTE MELISSA" userId="972967c4-786f-47b4-95b2-cf436463b084" providerId="ADAL" clId="{BFF9DD5C-3228-4E82-BF29-78B399696D15}" dt="2026-04-13T07:41:41.179" v="120" actId="20577"/>
          <ac:spMkLst>
            <pc:docMk/>
            <pc:sldMk cId="1852317588" sldId="1187"/>
            <ac:spMk id="11" creationId="{C3EFBE8E-2CC3-4203-9375-F585E93CFB28}"/>
          </ac:spMkLst>
        </pc:spChg>
        <pc:picChg chg="del">
          <ac:chgData name="BELMONTE MELISSA" userId="972967c4-786f-47b4-95b2-cf436463b084" providerId="ADAL" clId="{BFF9DD5C-3228-4E82-BF29-78B399696D15}" dt="2026-04-13T07:40:42.424" v="21" actId="478"/>
          <ac:picMkLst>
            <pc:docMk/>
            <pc:sldMk cId="1852317588" sldId="1187"/>
            <ac:picMk id="5" creationId="{A0AAD7D4-265B-4E77-B8C5-6C5C78CEF607}"/>
          </ac:picMkLst>
        </pc:picChg>
        <pc:picChg chg="add mod">
          <ac:chgData name="BELMONTE MELISSA" userId="972967c4-786f-47b4-95b2-cf436463b084" providerId="ADAL" clId="{BFF9DD5C-3228-4E82-BF29-78B399696D15}" dt="2026-04-13T07:40:46.313" v="22" actId="1076"/>
          <ac:picMkLst>
            <pc:docMk/>
            <pc:sldMk cId="1852317588" sldId="1187"/>
            <ac:picMk id="6" creationId="{6639E3EE-53D1-99E3-7DE4-CC4947270166}"/>
          </ac:picMkLst>
        </pc:picChg>
        <pc:picChg chg="add mod">
          <ac:chgData name="BELMONTE MELISSA" userId="972967c4-786f-47b4-95b2-cf436463b084" providerId="ADAL" clId="{BFF9DD5C-3228-4E82-BF29-78B399696D15}" dt="2026-04-13T07:41:56.004" v="123" actId="1076"/>
          <ac:picMkLst>
            <pc:docMk/>
            <pc:sldMk cId="1852317588" sldId="1187"/>
            <ac:picMk id="7" creationId="{F5765602-F01E-8AF1-20B0-D2AC63CF5DF2}"/>
          </ac:picMkLst>
        </pc:picChg>
        <pc:picChg chg="del">
          <ac:chgData name="BELMONTE MELISSA" userId="972967c4-786f-47b4-95b2-cf436463b084" providerId="ADAL" clId="{BFF9DD5C-3228-4E82-BF29-78B399696D15}" dt="2026-04-13T07:41:50.277" v="121" actId="478"/>
          <ac:picMkLst>
            <pc:docMk/>
            <pc:sldMk cId="1852317588" sldId="1187"/>
            <ac:picMk id="12" creationId="{7164A5BC-FFBC-480F-82B4-F06475A5CC85}"/>
          </ac:picMkLst>
        </pc:picChg>
      </pc:sldChg>
      <pc:sldChg chg="modSp mod">
        <pc:chgData name="BELMONTE MELISSA" userId="972967c4-786f-47b4-95b2-cf436463b084" providerId="ADAL" clId="{BFF9DD5C-3228-4E82-BF29-78B399696D15}" dt="2026-04-13T07:50:01.401" v="174" actId="20577"/>
        <pc:sldMkLst>
          <pc:docMk/>
          <pc:sldMk cId="908755149" sldId="1190"/>
        </pc:sldMkLst>
        <pc:spChg chg="mod">
          <ac:chgData name="BELMONTE MELISSA" userId="972967c4-786f-47b4-95b2-cf436463b084" providerId="ADAL" clId="{BFF9DD5C-3228-4E82-BF29-78B399696D15}" dt="2026-04-13T07:50:01.401" v="174" actId="20577"/>
          <ac:spMkLst>
            <pc:docMk/>
            <pc:sldMk cId="908755149" sldId="1190"/>
            <ac:spMk id="15" creationId="{803FAD18-D4B8-47D9-8736-B3615E221482}"/>
          </ac:spMkLst>
        </pc:spChg>
      </pc:sldChg>
      <pc:sldChg chg="modSp mod">
        <pc:chgData name="BELMONTE MELISSA" userId="972967c4-786f-47b4-95b2-cf436463b084" providerId="ADAL" clId="{BFF9DD5C-3228-4E82-BF29-78B399696D15}" dt="2026-04-13T08:18:24.759" v="570" actId="20577"/>
        <pc:sldMkLst>
          <pc:docMk/>
          <pc:sldMk cId="1256677726" sldId="1192"/>
        </pc:sldMkLst>
        <pc:spChg chg="mod">
          <ac:chgData name="BELMONTE MELISSA" userId="972967c4-786f-47b4-95b2-cf436463b084" providerId="ADAL" clId="{BFF9DD5C-3228-4E82-BF29-78B399696D15}" dt="2026-04-13T08:18:24.759" v="570" actId="20577"/>
          <ac:spMkLst>
            <pc:docMk/>
            <pc:sldMk cId="1256677726" sldId="1192"/>
            <ac:spMk id="14" creationId="{2976F770-6FC4-4118-ABA7-24C0F593511E}"/>
          </ac:spMkLst>
        </pc:spChg>
      </pc:sldChg>
      <pc:sldChg chg="modSp mod">
        <pc:chgData name="BELMONTE MELISSA" userId="972967c4-786f-47b4-95b2-cf436463b084" providerId="ADAL" clId="{BFF9DD5C-3228-4E82-BF29-78B399696D15}" dt="2026-04-13T08:19:19.994" v="572" actId="20577"/>
        <pc:sldMkLst>
          <pc:docMk/>
          <pc:sldMk cId="3885083334" sldId="1194"/>
        </pc:sldMkLst>
        <pc:spChg chg="mod">
          <ac:chgData name="BELMONTE MELISSA" userId="972967c4-786f-47b4-95b2-cf436463b084" providerId="ADAL" clId="{BFF9DD5C-3228-4E82-BF29-78B399696D15}" dt="2026-04-13T08:19:19.994" v="572" actId="20577"/>
          <ac:spMkLst>
            <pc:docMk/>
            <pc:sldMk cId="3885083334" sldId="1194"/>
            <ac:spMk id="12" creationId="{588F87C4-E091-4A01-9C85-7917108CC171}"/>
          </ac:spMkLst>
        </pc:spChg>
      </pc:sldChg>
      <pc:sldChg chg="addSp modSp mod">
        <pc:chgData name="BELMONTE MELISSA" userId="972967c4-786f-47b4-95b2-cf436463b084" providerId="ADAL" clId="{BFF9DD5C-3228-4E82-BF29-78B399696D15}" dt="2026-04-13T08:20:02.957" v="574" actId="208"/>
        <pc:sldMkLst>
          <pc:docMk/>
          <pc:sldMk cId="1458621833" sldId="1209"/>
        </pc:sldMkLst>
        <pc:spChg chg="add mod">
          <ac:chgData name="BELMONTE MELISSA" userId="972967c4-786f-47b4-95b2-cf436463b084" providerId="ADAL" clId="{BFF9DD5C-3228-4E82-BF29-78B399696D15}" dt="2026-04-13T08:20:02.957" v="574" actId="208"/>
          <ac:spMkLst>
            <pc:docMk/>
            <pc:sldMk cId="1458621833" sldId="1209"/>
            <ac:spMk id="6" creationId="{0F0D76D1-3632-A6DA-3DA7-FBBC6254FDFA}"/>
          </ac:spMkLst>
        </pc:spChg>
      </pc:sldChg>
      <pc:sldChg chg="addSp delSp modSp mod">
        <pc:chgData name="BELMONTE MELISSA" userId="972967c4-786f-47b4-95b2-cf436463b084" providerId="ADAL" clId="{BFF9DD5C-3228-4E82-BF29-78B399696D15}" dt="2026-04-13T07:42:20.884" v="131" actId="1076"/>
        <pc:sldMkLst>
          <pc:docMk/>
          <pc:sldMk cId="3934173207" sldId="1214"/>
        </pc:sldMkLst>
        <pc:picChg chg="add del mod">
          <ac:chgData name="BELMONTE MELISSA" userId="972967c4-786f-47b4-95b2-cf436463b084" providerId="ADAL" clId="{BFF9DD5C-3228-4E82-BF29-78B399696D15}" dt="2026-04-13T07:39:39.311" v="7" actId="478"/>
          <ac:picMkLst>
            <pc:docMk/>
            <pc:sldMk cId="3934173207" sldId="1214"/>
            <ac:picMk id="7" creationId="{1AC43D7E-955A-40DB-B93F-720D26D2BDED}"/>
          </ac:picMkLst>
        </pc:picChg>
        <pc:picChg chg="add del mod">
          <ac:chgData name="BELMONTE MELISSA" userId="972967c4-786f-47b4-95b2-cf436463b084" providerId="ADAL" clId="{BFF9DD5C-3228-4E82-BF29-78B399696D15}" dt="2026-04-13T07:41:59.907" v="124" actId="478"/>
          <ac:picMkLst>
            <pc:docMk/>
            <pc:sldMk cId="3934173207" sldId="1214"/>
            <ac:picMk id="9" creationId="{C0275F56-4280-467F-E76B-D5FA743A1B11}"/>
          </ac:picMkLst>
        </pc:picChg>
        <pc:picChg chg="add mod ord">
          <ac:chgData name="BELMONTE MELISSA" userId="972967c4-786f-47b4-95b2-cf436463b084" providerId="ADAL" clId="{BFF9DD5C-3228-4E82-BF29-78B399696D15}" dt="2026-04-13T07:42:20.884" v="131" actId="1076"/>
          <ac:picMkLst>
            <pc:docMk/>
            <pc:sldMk cId="3934173207" sldId="1214"/>
            <ac:picMk id="10" creationId="{41BE6332-7E9A-C691-2999-FCCF3D898D6F}"/>
          </ac:picMkLst>
        </pc:picChg>
        <pc:picChg chg="del mod">
          <ac:chgData name="BELMONTE MELISSA" userId="972967c4-786f-47b4-95b2-cf436463b084" providerId="ADAL" clId="{BFF9DD5C-3228-4E82-BF29-78B399696D15}" dt="2026-04-13T07:42:02.398" v="125" actId="478"/>
          <ac:picMkLst>
            <pc:docMk/>
            <pc:sldMk cId="3934173207" sldId="1214"/>
            <ac:picMk id="12" creationId="{7164A5BC-FFBC-480F-82B4-F06475A5CC8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49688" y="2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48D2C-EBD6-4B40-B8B3-9295A1848585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64D91-AD00-4E7D-895F-6A32584A26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7755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46400" cy="496889"/>
          </a:xfrm>
          <a:prstGeom prst="rect">
            <a:avLst/>
          </a:prstGeom>
        </p:spPr>
        <p:txBody>
          <a:bodyPr vert="horz" lIns="91364" tIns="45684" rIns="91364" bIns="45684" rtlCol="0"/>
          <a:lstStyle>
            <a:lvl1pPr algn="l" defTabSz="91395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49692" y="1"/>
            <a:ext cx="2946400" cy="496889"/>
          </a:xfrm>
          <a:prstGeom prst="rect">
            <a:avLst/>
          </a:prstGeom>
        </p:spPr>
        <p:txBody>
          <a:bodyPr vert="horz" lIns="91364" tIns="45684" rIns="91364" bIns="45684" rtlCol="0"/>
          <a:lstStyle>
            <a:lvl1pPr algn="r" defTabSz="91395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84738B8-962D-42B6-9FE2-54F596CB6203}" type="datetimeFigureOut">
              <a:rPr lang="it-IT"/>
              <a:pPr>
                <a:defRPr/>
              </a:pPr>
              <a:t>13/04/2026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6125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64" tIns="45684" rIns="91364" bIns="45684" rtlCol="0" anchor="ctr"/>
          <a:lstStyle/>
          <a:p>
            <a:pPr lvl="0"/>
            <a:endParaRPr lang="it-IT" noProof="0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457" y="4716472"/>
            <a:ext cx="5438775" cy="4467225"/>
          </a:xfrm>
          <a:prstGeom prst="rect">
            <a:avLst/>
          </a:prstGeom>
        </p:spPr>
        <p:txBody>
          <a:bodyPr vert="horz" lIns="91364" tIns="45684" rIns="91364" bIns="45684" rtlCol="0"/>
          <a:lstStyle/>
          <a:p>
            <a:pPr lvl="0"/>
            <a:r>
              <a:rPr lang="it-IT" noProof="0"/>
              <a:t>Fare clic per modificare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3" y="9429754"/>
            <a:ext cx="2946400" cy="496889"/>
          </a:xfrm>
          <a:prstGeom prst="rect">
            <a:avLst/>
          </a:prstGeom>
        </p:spPr>
        <p:txBody>
          <a:bodyPr vert="horz" lIns="91364" tIns="45684" rIns="91364" bIns="45684" rtlCol="0" anchor="b"/>
          <a:lstStyle>
            <a:lvl1pPr algn="l" defTabSz="91395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49692" y="9429754"/>
            <a:ext cx="2946400" cy="496889"/>
          </a:xfrm>
          <a:prstGeom prst="rect">
            <a:avLst/>
          </a:prstGeom>
        </p:spPr>
        <p:txBody>
          <a:bodyPr vert="horz" lIns="91364" tIns="45684" rIns="91364" bIns="45684" rtlCol="0" anchor="b"/>
          <a:lstStyle>
            <a:lvl1pPr algn="r" defTabSz="91395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CCEBC9D-E92B-4B6D-A412-7667C18496D5}" type="slidenum">
              <a:rPr lang="it-IT"/>
              <a:pPr>
                <a:defRPr/>
              </a:pPr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407236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6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8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0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2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29" algn="l" defTabSz="9142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4" algn="l" defTabSz="9142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20" algn="l" defTabSz="9142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6" algn="l" defTabSz="9142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41439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11670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32756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17793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98541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75763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766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69857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10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39609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11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56437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20219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13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36039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14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12266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15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025049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16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732826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17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689181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18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945649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19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375546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20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857783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21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425292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22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126024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23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029232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24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356822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25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707228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26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687583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27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908786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28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991151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29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111659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CEBC9D-E92B-4B6D-A412-7667C18496D5}" type="slidenum">
              <a:rPr lang="it-IT" smtClean="0"/>
              <a:pPr>
                <a:defRPr/>
              </a:pPr>
              <a:t>30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70668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5.jpeg"/><Relationship Id="rId4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4963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LO TITOLO 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552868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216" imgH="216" progId="TCLayout.ActiveDocument.1">
                  <p:embed/>
                </p:oleObj>
              </mc:Choice>
              <mc:Fallback>
                <p:oleObj name="Diapositiva think-cell" r:id="rId3" imgW="216" imgH="216" progId="TCLayout.ActiveDocument.1">
                  <p:embed/>
                  <p:pic>
                    <p:nvPicPr>
                      <p:cNvPr id="3" name="Oggetto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Connettore 1 4"/>
          <p:cNvCxnSpPr/>
          <p:nvPr userDrawn="1"/>
        </p:nvCxnSpPr>
        <p:spPr>
          <a:xfrm>
            <a:off x="8682038" y="6442075"/>
            <a:ext cx="0" cy="230188"/>
          </a:xfrm>
          <a:prstGeom prst="line">
            <a:avLst/>
          </a:prstGeom>
          <a:ln>
            <a:solidFill>
              <a:srgbClr val="006D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 userDrawn="1"/>
        </p:nvSpPr>
        <p:spPr bwMode="auto">
          <a:xfrm>
            <a:off x="8389938" y="6445250"/>
            <a:ext cx="636587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defTabSz="912813" fontAlgn="base">
              <a:spcBef>
                <a:spcPct val="0"/>
              </a:spcBef>
              <a:spcAft>
                <a:spcPct val="0"/>
              </a:spcAft>
              <a:defRPr/>
            </a:pPr>
            <a:fld id="{D8C3FB10-F761-46EE-8065-CE7E89B58550}" type="slidenum">
              <a:rPr lang="en-US" altLang="it-IT" sz="1400" baseline="30000">
                <a:solidFill>
                  <a:srgbClr val="002339"/>
                </a:solidFill>
                <a:cs typeface="Arial" pitchFamily="34" charset="0"/>
              </a:rPr>
              <a:pPr algn="r" defTabSz="912813" fontAlgn="base">
                <a:spcBef>
                  <a:spcPct val="0"/>
                </a:spcBef>
                <a:spcAft>
                  <a:spcPct val="0"/>
                </a:spcAft>
                <a:defRPr/>
              </a:pPr>
              <a:t>‹N›</a:t>
            </a:fld>
            <a:endParaRPr lang="en-US" altLang="it-IT" sz="1400" dirty="0">
              <a:solidFill>
                <a:srgbClr val="002339"/>
              </a:solidFill>
              <a:cs typeface="Arial" pitchFamily="34" charset="0"/>
            </a:endParaRPr>
          </a:p>
        </p:txBody>
      </p:sp>
      <p:cxnSp>
        <p:nvCxnSpPr>
          <p:cNvPr id="8" name="Connettore 1 7"/>
          <p:cNvCxnSpPr/>
          <p:nvPr userDrawn="1"/>
        </p:nvCxnSpPr>
        <p:spPr>
          <a:xfrm>
            <a:off x="142875" y="763588"/>
            <a:ext cx="8780463" cy="0"/>
          </a:xfrm>
          <a:prstGeom prst="line">
            <a:avLst/>
          </a:prstGeom>
          <a:ln>
            <a:solidFill>
              <a:srgbClr val="0023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/>
          <p:cNvCxnSpPr/>
          <p:nvPr userDrawn="1"/>
        </p:nvCxnSpPr>
        <p:spPr>
          <a:xfrm>
            <a:off x="142875" y="6308725"/>
            <a:ext cx="8780463" cy="0"/>
          </a:xfrm>
          <a:prstGeom prst="line">
            <a:avLst/>
          </a:prstGeom>
          <a:ln>
            <a:solidFill>
              <a:srgbClr val="0023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2936" y="122272"/>
            <a:ext cx="7632848" cy="369322"/>
          </a:xfrm>
          <a:prstGeom prst="rect">
            <a:avLst/>
          </a:prstGeom>
        </p:spPr>
        <p:txBody>
          <a:bodyPr wrap="square" lIns="91429" tIns="45715" rIns="91429" bIns="45715" anchor="t" anchorCtr="0">
            <a:spAutoFit/>
          </a:bodyPr>
          <a:lstStyle>
            <a:lvl1pPr algn="l">
              <a:defRPr sz="1800" b="1">
                <a:solidFill>
                  <a:srgbClr val="002339"/>
                </a:solidFill>
              </a:defRPr>
            </a:lvl1pPr>
          </a:lstStyle>
          <a:p>
            <a:r>
              <a:rPr lang="it-IT" dirty="0"/>
              <a:t>Fare clic per modificare lo stile del titolo</a:t>
            </a:r>
          </a:p>
        </p:txBody>
      </p:sp>
      <p:pic>
        <p:nvPicPr>
          <p:cNvPr id="10" name="Immagin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7" y="6371585"/>
            <a:ext cx="1277443" cy="38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455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CT_Marker_ID_4" hidden="1"/>
          <p:cNvSpPr/>
          <p:nvPr>
            <p:custDataLst>
              <p:tags r:id="rId1"/>
            </p:custDataLst>
          </p:nvPr>
        </p:nvSpPr>
        <p:spPr bwMode="gray">
          <a:xfrm>
            <a:off x="1270000" y="127000"/>
            <a:ext cx="127000" cy="127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buFont typeface="Arial" charset="0"/>
              <a:buNone/>
              <a:defRPr/>
            </a:pPr>
            <a:endParaRPr lang="en-US" sz="160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6" name="Gruppieren 11"/>
          <p:cNvGrpSpPr>
            <a:grpSpLocks/>
          </p:cNvGrpSpPr>
          <p:nvPr/>
        </p:nvGrpSpPr>
        <p:grpSpPr bwMode="auto">
          <a:xfrm>
            <a:off x="323850" y="-315913"/>
            <a:ext cx="8496300" cy="215900"/>
            <a:chOff x="323850" y="-531550"/>
            <a:chExt cx="8496740" cy="432060"/>
          </a:xfrm>
        </p:grpSpPr>
        <p:cxnSp>
          <p:nvCxnSpPr>
            <p:cNvPr id="7" name="Gerade Verbindung 22"/>
            <p:cNvCxnSpPr/>
            <p:nvPr userDrawn="1"/>
          </p:nvCxnSpPr>
          <p:spPr bwMode="gray">
            <a:xfrm rot="5400000">
              <a:off x="107820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 Verbindung 23"/>
            <p:cNvCxnSpPr/>
            <p:nvPr userDrawn="1"/>
          </p:nvCxnSpPr>
          <p:spPr bwMode="gray">
            <a:xfrm rot="5400000">
              <a:off x="1403287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 Verbindung 24"/>
            <p:cNvCxnSpPr/>
            <p:nvPr userDrawn="1"/>
          </p:nvCxnSpPr>
          <p:spPr bwMode="gray">
            <a:xfrm rot="5400000">
              <a:off x="1547758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 Verbindung 26"/>
            <p:cNvCxnSpPr/>
            <p:nvPr userDrawn="1"/>
          </p:nvCxnSpPr>
          <p:spPr bwMode="gray">
            <a:xfrm rot="5400000">
              <a:off x="2843225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27"/>
            <p:cNvCxnSpPr/>
            <p:nvPr userDrawn="1"/>
          </p:nvCxnSpPr>
          <p:spPr bwMode="gray">
            <a:xfrm rot="5400000">
              <a:off x="2987694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28"/>
            <p:cNvCxnSpPr/>
            <p:nvPr userDrawn="1"/>
          </p:nvCxnSpPr>
          <p:spPr bwMode="gray">
            <a:xfrm rot="5400000">
              <a:off x="4284749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29"/>
            <p:cNvCxnSpPr/>
            <p:nvPr userDrawn="1"/>
          </p:nvCxnSpPr>
          <p:spPr bwMode="gray">
            <a:xfrm rot="5400000">
              <a:off x="4427632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30"/>
            <p:cNvCxnSpPr/>
            <p:nvPr userDrawn="1"/>
          </p:nvCxnSpPr>
          <p:spPr bwMode="gray">
            <a:xfrm rot="5400000">
              <a:off x="5724686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31"/>
            <p:cNvCxnSpPr/>
            <p:nvPr userDrawn="1"/>
          </p:nvCxnSpPr>
          <p:spPr bwMode="gray">
            <a:xfrm rot="5400000">
              <a:off x="5867568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32"/>
            <p:cNvCxnSpPr/>
            <p:nvPr userDrawn="1"/>
          </p:nvCxnSpPr>
          <p:spPr bwMode="gray">
            <a:xfrm rot="5400000">
              <a:off x="7164623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33"/>
            <p:cNvCxnSpPr/>
            <p:nvPr userDrawn="1"/>
          </p:nvCxnSpPr>
          <p:spPr bwMode="gray">
            <a:xfrm rot="5400000">
              <a:off x="7309093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34"/>
            <p:cNvCxnSpPr/>
            <p:nvPr userDrawn="1"/>
          </p:nvCxnSpPr>
          <p:spPr bwMode="gray">
            <a:xfrm rot="5400000">
              <a:off x="8604560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uppieren 37"/>
          <p:cNvGrpSpPr>
            <a:grpSpLocks/>
          </p:cNvGrpSpPr>
          <p:nvPr/>
        </p:nvGrpSpPr>
        <p:grpSpPr bwMode="auto">
          <a:xfrm>
            <a:off x="302422" y="6838871"/>
            <a:ext cx="8496300" cy="215900"/>
            <a:chOff x="323850" y="-531550"/>
            <a:chExt cx="8496740" cy="432060"/>
          </a:xfrm>
        </p:grpSpPr>
        <p:cxnSp>
          <p:nvCxnSpPr>
            <p:cNvPr id="20" name="Gerade Verbindung 38"/>
            <p:cNvCxnSpPr/>
            <p:nvPr userDrawn="1"/>
          </p:nvCxnSpPr>
          <p:spPr bwMode="gray">
            <a:xfrm rot="5400000">
              <a:off x="107820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39"/>
            <p:cNvCxnSpPr/>
            <p:nvPr userDrawn="1"/>
          </p:nvCxnSpPr>
          <p:spPr bwMode="gray">
            <a:xfrm rot="5400000">
              <a:off x="1403287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40"/>
            <p:cNvCxnSpPr/>
            <p:nvPr userDrawn="1"/>
          </p:nvCxnSpPr>
          <p:spPr bwMode="gray">
            <a:xfrm rot="5400000">
              <a:off x="1547758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41"/>
            <p:cNvCxnSpPr/>
            <p:nvPr userDrawn="1"/>
          </p:nvCxnSpPr>
          <p:spPr bwMode="gray">
            <a:xfrm rot="5400000">
              <a:off x="2843225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42"/>
            <p:cNvCxnSpPr/>
            <p:nvPr userDrawn="1"/>
          </p:nvCxnSpPr>
          <p:spPr bwMode="gray">
            <a:xfrm rot="5400000">
              <a:off x="2987694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43"/>
            <p:cNvCxnSpPr/>
            <p:nvPr userDrawn="1"/>
          </p:nvCxnSpPr>
          <p:spPr bwMode="gray">
            <a:xfrm rot="5400000">
              <a:off x="4284749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44"/>
            <p:cNvCxnSpPr/>
            <p:nvPr userDrawn="1"/>
          </p:nvCxnSpPr>
          <p:spPr bwMode="gray">
            <a:xfrm rot="5400000">
              <a:off x="4427632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45"/>
            <p:cNvCxnSpPr/>
            <p:nvPr userDrawn="1"/>
          </p:nvCxnSpPr>
          <p:spPr bwMode="gray">
            <a:xfrm rot="5400000">
              <a:off x="5724686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46"/>
            <p:cNvCxnSpPr/>
            <p:nvPr userDrawn="1"/>
          </p:nvCxnSpPr>
          <p:spPr bwMode="gray">
            <a:xfrm rot="5400000">
              <a:off x="5867568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47"/>
            <p:cNvCxnSpPr/>
            <p:nvPr userDrawn="1"/>
          </p:nvCxnSpPr>
          <p:spPr bwMode="gray">
            <a:xfrm rot="5400000">
              <a:off x="7164623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48"/>
            <p:cNvCxnSpPr/>
            <p:nvPr userDrawn="1"/>
          </p:nvCxnSpPr>
          <p:spPr bwMode="gray">
            <a:xfrm rot="5400000">
              <a:off x="7309093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49"/>
            <p:cNvCxnSpPr/>
            <p:nvPr userDrawn="1"/>
          </p:nvCxnSpPr>
          <p:spPr bwMode="gray">
            <a:xfrm rot="5400000">
              <a:off x="8604560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VCT_Backup_ID_27806" hidden="1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gray">
          <a:xfrm>
            <a:off x="323850" y="2205038"/>
            <a:ext cx="84963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 algn="l">
              <a:spcBef>
                <a:spcPct val="0"/>
              </a:spcBef>
              <a:defRPr>
                <a:solidFill>
                  <a:schemeClr val="tx1"/>
                </a:solidFill>
                <a:latin typeface="Arial Unicode MS" pitchFamily="34" charset="-128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 Unicode MS" pitchFamily="34" charset="-128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 Unicode MS" pitchFamily="34" charset="-128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 Unicode MS" pitchFamily="34" charset="-128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 Unicode MS" pitchFamily="34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</a:defRPr>
            </a:lvl9pPr>
          </a:lstStyle>
          <a:p>
            <a:pPr defTabSz="914400">
              <a:buFont typeface="Arial" charset="0"/>
              <a:buNone/>
              <a:defRPr/>
            </a:pPr>
            <a:r>
              <a:rPr lang="en-US" sz="3800" dirty="0">
                <a:solidFill>
                  <a:srgbClr val="000000"/>
                </a:solidFill>
                <a:latin typeface="Arial" charset="0"/>
              </a:rPr>
              <a:t>Click to edit Master title style</a:t>
            </a:r>
          </a:p>
        </p:txBody>
      </p:sp>
      <p:sp>
        <p:nvSpPr>
          <p:cNvPr id="61" name="VCT_Backup_ID_27807" hidden="1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gray">
          <a:xfrm>
            <a:off x="323850" y="3860800"/>
            <a:ext cx="8496300" cy="1439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000" rIns="0" bIns="0"/>
          <a:lstStyle>
            <a:lvl1pPr algn="l">
              <a:spcBef>
                <a:spcPct val="0"/>
              </a:spcBef>
              <a:defRPr>
                <a:solidFill>
                  <a:schemeClr val="tx1"/>
                </a:solidFill>
                <a:latin typeface="Arial Unicode MS" pitchFamily="34" charset="-128"/>
              </a:defRPr>
            </a:lvl1pPr>
            <a:lvl2pPr marL="1588" algn="l">
              <a:spcBef>
                <a:spcPct val="0"/>
              </a:spcBef>
              <a:defRPr>
                <a:solidFill>
                  <a:schemeClr val="tx1"/>
                </a:solidFill>
                <a:latin typeface="Arial Unicode MS" pitchFamily="34" charset="-128"/>
              </a:defRPr>
            </a:lvl2pPr>
            <a:lvl3pPr marL="3175" algn="l">
              <a:spcBef>
                <a:spcPct val="0"/>
              </a:spcBef>
              <a:defRPr>
                <a:solidFill>
                  <a:schemeClr val="tx1"/>
                </a:solidFill>
                <a:latin typeface="Arial Unicode MS" pitchFamily="34" charset="-128"/>
              </a:defRPr>
            </a:lvl3pPr>
            <a:lvl4pPr marL="4763" algn="l">
              <a:spcBef>
                <a:spcPct val="0"/>
              </a:spcBef>
              <a:defRPr>
                <a:solidFill>
                  <a:schemeClr val="tx1"/>
                </a:solidFill>
                <a:latin typeface="Arial Unicode MS" pitchFamily="34" charset="-128"/>
              </a:defRPr>
            </a:lvl4pPr>
            <a:lvl5pPr marL="6350" algn="l">
              <a:spcBef>
                <a:spcPct val="0"/>
              </a:spcBef>
              <a:defRPr>
                <a:solidFill>
                  <a:schemeClr val="tx1"/>
                </a:solidFill>
                <a:latin typeface="Arial Unicode MS" pitchFamily="34" charset="-128"/>
              </a:defRPr>
            </a:lvl5pPr>
            <a:lvl6pPr marL="463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</a:defRPr>
            </a:lvl6pPr>
            <a:lvl7pPr marL="9207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</a:defRPr>
            </a:lvl7pPr>
            <a:lvl8pPr marL="1377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</a:defRPr>
            </a:lvl8pPr>
            <a:lvl9pPr marL="18351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</a:defRPr>
            </a:lvl9pPr>
          </a:lstStyle>
          <a:p>
            <a:pPr defTabSz="914400">
              <a:spcBef>
                <a:spcPct val="20000"/>
              </a:spcBef>
              <a:buFont typeface="Arial" charset="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Arial" charset="0"/>
              </a:rPr>
              <a:t>Click to edit Master subtitle style</a:t>
            </a:r>
          </a:p>
        </p:txBody>
      </p:sp>
      <p:pic>
        <p:nvPicPr>
          <p:cNvPr id="69" name="Picture 2"/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8170863" y="260350"/>
            <a:ext cx="649287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Rechteck 13"/>
          <p:cNvSpPr/>
          <p:nvPr userDrawn="1"/>
        </p:nvSpPr>
        <p:spPr bwMode="gray">
          <a:xfrm>
            <a:off x="324390" y="6678901"/>
            <a:ext cx="7056000" cy="144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0" tIns="0" rIns="0" bIns="0" anchor="ctr"/>
          <a:lstStyle/>
          <a:p>
            <a:pPr marL="0" lvl="8">
              <a:defRPr/>
            </a:pPr>
            <a:r>
              <a:rPr lang="it-IT" sz="800" b="1" dirty="0">
                <a:solidFill>
                  <a:srgbClr val="928580"/>
                </a:solidFill>
                <a:latin typeface="Arial" pitchFamily="34" charset="0"/>
              </a:rPr>
              <a:t>© GfK  | Energy Business  2016| Dicembre 2016</a:t>
            </a:r>
          </a:p>
        </p:txBody>
      </p:sp>
    </p:spTree>
    <p:extLst>
      <p:ext uri="{BB962C8B-B14F-4D97-AF65-F5344CB8AC3E}">
        <p14:creationId xmlns:p14="http://schemas.microsoft.com/office/powerpoint/2010/main" val="7909599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405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323528" y="1052736"/>
            <a:ext cx="8496944" cy="5328592"/>
          </a:xfrm>
        </p:spPr>
        <p:txBody>
          <a:bodyPr/>
          <a:lstStyle>
            <a:lvl2pPr>
              <a:spcAft>
                <a:spcPts val="0"/>
              </a:spcAft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it-IT" noProof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332825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acts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 bwMode="gray">
          <a:xfrm>
            <a:off x="323528" y="3068960"/>
            <a:ext cx="1296144" cy="1944216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6"/>
          </p:nvPr>
        </p:nvSpPr>
        <p:spPr bwMode="gray">
          <a:xfrm>
            <a:off x="4644009" y="3068960"/>
            <a:ext cx="1296144" cy="1944216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/>
          </p:nvPr>
        </p:nvSpPr>
        <p:spPr bwMode="gray">
          <a:xfrm>
            <a:off x="1763689" y="4365105"/>
            <a:ext cx="2736303" cy="216024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/>
          </p:nvPr>
        </p:nvSpPr>
        <p:spPr bwMode="gray">
          <a:xfrm>
            <a:off x="1763688" y="3933057"/>
            <a:ext cx="2736304" cy="216024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/>
          </p:nvPr>
        </p:nvSpPr>
        <p:spPr bwMode="gray">
          <a:xfrm>
            <a:off x="1763688" y="3068951"/>
            <a:ext cx="2736304" cy="864105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4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 b="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26"/>
          </p:nvPr>
        </p:nvSpPr>
        <p:spPr bwMode="gray">
          <a:xfrm>
            <a:off x="1763688" y="4581128"/>
            <a:ext cx="2736304" cy="216024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7"/>
          </p:nvPr>
        </p:nvSpPr>
        <p:spPr bwMode="gray">
          <a:xfrm>
            <a:off x="1763767" y="4797152"/>
            <a:ext cx="2736226" cy="215014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28"/>
          </p:nvPr>
        </p:nvSpPr>
        <p:spPr bwMode="gray">
          <a:xfrm>
            <a:off x="6084168" y="4365105"/>
            <a:ext cx="2736304" cy="216023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29"/>
          </p:nvPr>
        </p:nvSpPr>
        <p:spPr bwMode="gray">
          <a:xfrm>
            <a:off x="6084168" y="3933057"/>
            <a:ext cx="2736304" cy="216024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30"/>
          </p:nvPr>
        </p:nvSpPr>
        <p:spPr bwMode="gray">
          <a:xfrm>
            <a:off x="6084168" y="3068961"/>
            <a:ext cx="2736304" cy="864096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4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 b="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31"/>
          </p:nvPr>
        </p:nvSpPr>
        <p:spPr bwMode="gray">
          <a:xfrm>
            <a:off x="6084168" y="4581128"/>
            <a:ext cx="2736304" cy="216024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32"/>
          </p:nvPr>
        </p:nvSpPr>
        <p:spPr bwMode="gray">
          <a:xfrm>
            <a:off x="6084168" y="4797152"/>
            <a:ext cx="2736304" cy="216024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678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acts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icture Placeholder 4"/>
          <p:cNvSpPr>
            <a:spLocks noGrp="1"/>
          </p:cNvSpPr>
          <p:nvPr>
            <p:ph type="pic" sz="quarter" idx="26"/>
          </p:nvPr>
        </p:nvSpPr>
        <p:spPr bwMode="gray">
          <a:xfrm>
            <a:off x="323850" y="2276818"/>
            <a:ext cx="1295400" cy="194427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5" name="Picture Placeholder 4"/>
          <p:cNvSpPr>
            <a:spLocks noGrp="1"/>
          </p:cNvSpPr>
          <p:nvPr>
            <p:ph type="pic" sz="quarter" idx="27"/>
          </p:nvPr>
        </p:nvSpPr>
        <p:spPr bwMode="gray">
          <a:xfrm>
            <a:off x="4645025" y="2276818"/>
            <a:ext cx="1295400" cy="194427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6" name="Text Placeholder 3"/>
          <p:cNvSpPr>
            <a:spLocks noGrp="1"/>
          </p:cNvSpPr>
          <p:nvPr>
            <p:ph type="body" sz="quarter" idx="28"/>
          </p:nvPr>
        </p:nvSpPr>
        <p:spPr bwMode="gray">
          <a:xfrm>
            <a:off x="1763609" y="3573016"/>
            <a:ext cx="2736953" cy="216023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"/>
          <p:cNvSpPr>
            <a:spLocks noGrp="1"/>
          </p:cNvSpPr>
          <p:nvPr>
            <p:ph type="body" sz="quarter" idx="29"/>
          </p:nvPr>
        </p:nvSpPr>
        <p:spPr bwMode="gray">
          <a:xfrm>
            <a:off x="1763688" y="3140968"/>
            <a:ext cx="2736874" cy="216024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"/>
          <p:cNvSpPr>
            <a:spLocks noGrp="1"/>
          </p:cNvSpPr>
          <p:nvPr>
            <p:ph type="body" sz="quarter" idx="30"/>
          </p:nvPr>
        </p:nvSpPr>
        <p:spPr bwMode="gray">
          <a:xfrm>
            <a:off x="1763688" y="2276873"/>
            <a:ext cx="2736304" cy="864096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4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 b="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3"/>
          <p:cNvSpPr>
            <a:spLocks noGrp="1"/>
          </p:cNvSpPr>
          <p:nvPr>
            <p:ph type="body" sz="quarter" idx="31"/>
          </p:nvPr>
        </p:nvSpPr>
        <p:spPr bwMode="gray">
          <a:xfrm>
            <a:off x="1763687" y="3789040"/>
            <a:ext cx="2736875" cy="216024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/>
          <p:cNvSpPr>
            <a:spLocks noGrp="1"/>
          </p:cNvSpPr>
          <p:nvPr>
            <p:ph type="body" sz="quarter" idx="32"/>
          </p:nvPr>
        </p:nvSpPr>
        <p:spPr bwMode="gray">
          <a:xfrm>
            <a:off x="1763767" y="4005064"/>
            <a:ext cx="2736226" cy="216024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/>
          <p:cNvSpPr>
            <a:spLocks noGrp="1"/>
          </p:cNvSpPr>
          <p:nvPr>
            <p:ph type="body" sz="quarter" idx="33"/>
          </p:nvPr>
        </p:nvSpPr>
        <p:spPr bwMode="gray">
          <a:xfrm>
            <a:off x="6084168" y="3573017"/>
            <a:ext cx="2736304" cy="216024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/>
          <p:cNvSpPr>
            <a:spLocks noGrp="1"/>
          </p:cNvSpPr>
          <p:nvPr>
            <p:ph type="body" sz="quarter" idx="34"/>
          </p:nvPr>
        </p:nvSpPr>
        <p:spPr bwMode="gray">
          <a:xfrm>
            <a:off x="6084168" y="3140968"/>
            <a:ext cx="2736304" cy="216765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/>
          <p:cNvSpPr>
            <a:spLocks noGrp="1"/>
          </p:cNvSpPr>
          <p:nvPr>
            <p:ph type="body" sz="quarter" idx="35"/>
          </p:nvPr>
        </p:nvSpPr>
        <p:spPr bwMode="gray">
          <a:xfrm>
            <a:off x="6084168" y="2276829"/>
            <a:ext cx="2736304" cy="864140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4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 b="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"/>
          <p:cNvSpPr>
            <a:spLocks noGrp="1"/>
          </p:cNvSpPr>
          <p:nvPr>
            <p:ph type="body" sz="quarter" idx="36"/>
          </p:nvPr>
        </p:nvSpPr>
        <p:spPr bwMode="gray">
          <a:xfrm>
            <a:off x="6084168" y="3789040"/>
            <a:ext cx="2736304" cy="216024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3"/>
          <p:cNvSpPr>
            <a:spLocks noGrp="1"/>
          </p:cNvSpPr>
          <p:nvPr>
            <p:ph type="body" sz="quarter" idx="37"/>
          </p:nvPr>
        </p:nvSpPr>
        <p:spPr bwMode="gray">
          <a:xfrm>
            <a:off x="6084168" y="4005064"/>
            <a:ext cx="2736304" cy="216024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Picture Placeholder 4"/>
          <p:cNvSpPr>
            <a:spLocks noGrp="1"/>
          </p:cNvSpPr>
          <p:nvPr>
            <p:ph type="pic" sz="quarter" idx="38"/>
          </p:nvPr>
        </p:nvSpPr>
        <p:spPr bwMode="gray">
          <a:xfrm>
            <a:off x="323528" y="4437058"/>
            <a:ext cx="1295400" cy="194427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57" name="Picture Placeholder 4"/>
          <p:cNvSpPr>
            <a:spLocks noGrp="1"/>
          </p:cNvSpPr>
          <p:nvPr>
            <p:ph type="pic" sz="quarter" idx="39"/>
          </p:nvPr>
        </p:nvSpPr>
        <p:spPr bwMode="gray">
          <a:xfrm>
            <a:off x="4644703" y="4437058"/>
            <a:ext cx="1295400" cy="194427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58" name="Text Placeholder 3"/>
          <p:cNvSpPr>
            <a:spLocks noGrp="1"/>
          </p:cNvSpPr>
          <p:nvPr>
            <p:ph type="body" sz="quarter" idx="40"/>
          </p:nvPr>
        </p:nvSpPr>
        <p:spPr bwMode="gray">
          <a:xfrm>
            <a:off x="1763688" y="5733733"/>
            <a:ext cx="2736874" cy="215535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quarter" idx="41"/>
          </p:nvPr>
        </p:nvSpPr>
        <p:spPr bwMode="gray">
          <a:xfrm>
            <a:off x="1763688" y="5301209"/>
            <a:ext cx="2736304" cy="216024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42"/>
          </p:nvPr>
        </p:nvSpPr>
        <p:spPr bwMode="gray">
          <a:xfrm>
            <a:off x="1763688" y="4437059"/>
            <a:ext cx="2736304" cy="864150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4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 b="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3"/>
          <p:cNvSpPr>
            <a:spLocks noGrp="1"/>
          </p:cNvSpPr>
          <p:nvPr>
            <p:ph type="body" sz="quarter" idx="43"/>
          </p:nvPr>
        </p:nvSpPr>
        <p:spPr bwMode="gray">
          <a:xfrm>
            <a:off x="1763688" y="5949236"/>
            <a:ext cx="2736874" cy="215535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3"/>
          <p:cNvSpPr>
            <a:spLocks noGrp="1"/>
          </p:cNvSpPr>
          <p:nvPr>
            <p:ph type="body" sz="quarter" idx="44"/>
          </p:nvPr>
        </p:nvSpPr>
        <p:spPr bwMode="gray">
          <a:xfrm>
            <a:off x="1763688" y="6164739"/>
            <a:ext cx="2736874" cy="215535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3"/>
          <p:cNvSpPr>
            <a:spLocks noGrp="1"/>
          </p:cNvSpPr>
          <p:nvPr>
            <p:ph type="body" sz="quarter" idx="45"/>
          </p:nvPr>
        </p:nvSpPr>
        <p:spPr bwMode="gray">
          <a:xfrm>
            <a:off x="6084168" y="5733743"/>
            <a:ext cx="2736304" cy="215535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3"/>
          <p:cNvSpPr>
            <a:spLocks noGrp="1"/>
          </p:cNvSpPr>
          <p:nvPr>
            <p:ph type="body" sz="quarter" idx="46"/>
          </p:nvPr>
        </p:nvSpPr>
        <p:spPr bwMode="gray">
          <a:xfrm>
            <a:off x="6084168" y="5301209"/>
            <a:ext cx="2736304" cy="216024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3"/>
          <p:cNvSpPr>
            <a:spLocks noGrp="1"/>
          </p:cNvSpPr>
          <p:nvPr>
            <p:ph type="body" sz="quarter" idx="47"/>
          </p:nvPr>
        </p:nvSpPr>
        <p:spPr bwMode="gray">
          <a:xfrm>
            <a:off x="6084168" y="4437069"/>
            <a:ext cx="2736304" cy="864140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4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 b="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3"/>
          <p:cNvSpPr>
            <a:spLocks noGrp="1"/>
          </p:cNvSpPr>
          <p:nvPr>
            <p:ph type="body" sz="quarter" idx="48"/>
          </p:nvPr>
        </p:nvSpPr>
        <p:spPr bwMode="gray">
          <a:xfrm>
            <a:off x="6084168" y="5949246"/>
            <a:ext cx="2736304" cy="215535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3"/>
          <p:cNvSpPr>
            <a:spLocks noGrp="1"/>
          </p:cNvSpPr>
          <p:nvPr>
            <p:ph type="body" sz="quarter" idx="49"/>
          </p:nvPr>
        </p:nvSpPr>
        <p:spPr bwMode="gray">
          <a:xfrm>
            <a:off x="6084168" y="6164749"/>
            <a:ext cx="2736304" cy="215535"/>
          </a:xfrm>
        </p:spPr>
        <p:txBody>
          <a:bodyPr t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630238" algn="l"/>
              </a:tabLst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582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9118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50" y="260350"/>
            <a:ext cx="6335713" cy="647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850" y="1052513"/>
            <a:ext cx="8496300" cy="5329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5135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50" y="260350"/>
            <a:ext cx="6335713" cy="647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4156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to add text</a:t>
            </a:r>
            <a:endParaRPr lang="en-GB" dirty="0"/>
          </a:p>
        </p:txBody>
      </p:sp>
      <p:sp>
        <p:nvSpPr>
          <p:cNvPr id="8" name="Textplatzhalter 6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23850" y="6453189"/>
            <a:ext cx="8496300" cy="144463"/>
          </a:xfrm>
        </p:spPr>
        <p:txBody>
          <a:bodyPr tIns="0" bIns="360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800" baseline="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800"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800"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bg2"/>
                </a:solidFill>
              </a:defRPr>
            </a:lvl4pPr>
            <a:lvl5pPr marL="0" indent="0">
              <a:spcBef>
                <a:spcPts val="300"/>
              </a:spcBef>
              <a:spcAft>
                <a:spcPts val="0"/>
              </a:spcAft>
              <a:buNone/>
              <a:defRPr sz="900" b="0"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buFont typeface="Arial" pitchFamily="34" charset="0"/>
              <a:buNone/>
              <a:defRPr sz="800"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buFont typeface="Arial" pitchFamily="34" charset="0"/>
              <a:buNone/>
              <a:defRPr sz="800"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buFont typeface="Arial" pitchFamily="34" charset="0"/>
              <a:buNone/>
              <a:defRPr sz="800"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buFont typeface="Arial" pitchFamily="34" charset="0"/>
              <a:buNone/>
              <a:defRPr sz="8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[Source information]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323528" y="1052736"/>
            <a:ext cx="4177035" cy="5328592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4" hasCustomPrompt="1"/>
          </p:nvPr>
        </p:nvSpPr>
        <p:spPr>
          <a:xfrm>
            <a:off x="4644012" y="1052736"/>
            <a:ext cx="4177035" cy="5328592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2346102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6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23850" y="6453199"/>
            <a:ext cx="8496300" cy="144463"/>
          </a:xfrm>
        </p:spPr>
        <p:txBody>
          <a:bodyPr tIns="0" bIns="36000" anchor="b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800">
                <a:solidFill>
                  <a:schemeClr val="bg2"/>
                </a:solidFill>
              </a:defRPr>
            </a:lvl1pPr>
            <a:lvl2pPr marL="0" indent="0">
              <a:spcBef>
                <a:spcPts val="300"/>
              </a:spcBef>
              <a:spcAft>
                <a:spcPts val="0"/>
              </a:spcAft>
              <a:buFont typeface="Arial" pitchFamily="34" charset="0"/>
              <a:buNone/>
              <a:defRPr sz="900">
                <a:solidFill>
                  <a:schemeClr val="bg2"/>
                </a:solidFill>
              </a:defRPr>
            </a:lvl2pPr>
            <a:lvl3pPr marL="0" indent="0">
              <a:spcBef>
                <a:spcPts val="300"/>
              </a:spcBef>
              <a:spcAft>
                <a:spcPts val="0"/>
              </a:spcAft>
              <a:buFont typeface="Arial" pitchFamily="34" charset="0"/>
              <a:buNone/>
              <a:defRPr sz="900">
                <a:solidFill>
                  <a:schemeClr val="bg2"/>
                </a:solidFill>
              </a:defRPr>
            </a:lvl3pPr>
            <a:lvl4pPr marL="0" indent="0">
              <a:spcBef>
                <a:spcPts val="300"/>
              </a:spcBef>
              <a:spcAft>
                <a:spcPts val="0"/>
              </a:spcAft>
              <a:buNone/>
              <a:defRPr sz="900">
                <a:solidFill>
                  <a:schemeClr val="bg2"/>
                </a:solidFill>
              </a:defRPr>
            </a:lvl4pPr>
            <a:lvl5pPr marL="0" indent="0">
              <a:spcBef>
                <a:spcPts val="300"/>
              </a:spcBef>
              <a:spcAft>
                <a:spcPts val="0"/>
              </a:spcAft>
              <a:buNone/>
              <a:defRPr sz="900" b="0">
                <a:solidFill>
                  <a:schemeClr val="bg2"/>
                </a:solidFill>
              </a:defRPr>
            </a:lvl5pPr>
            <a:lvl6pPr marL="0" indent="0">
              <a:spcBef>
                <a:spcPts val="300"/>
              </a:spcBef>
              <a:buFont typeface="Arial" pitchFamily="34" charset="0"/>
              <a:buNone/>
              <a:defRPr sz="900">
                <a:solidFill>
                  <a:schemeClr val="bg2"/>
                </a:solidFill>
              </a:defRPr>
            </a:lvl6pPr>
            <a:lvl7pPr marL="0" indent="0">
              <a:spcBef>
                <a:spcPts val="300"/>
              </a:spcBef>
              <a:buFont typeface="Arial" pitchFamily="34" charset="0"/>
              <a:buNone/>
              <a:defRPr sz="900">
                <a:solidFill>
                  <a:schemeClr val="bg2"/>
                </a:solidFill>
              </a:defRPr>
            </a:lvl7pPr>
            <a:lvl8pPr marL="0" indent="0">
              <a:spcBef>
                <a:spcPts val="300"/>
              </a:spcBef>
              <a:buFont typeface="Arial" pitchFamily="34" charset="0"/>
              <a:buNone/>
              <a:defRPr sz="900">
                <a:solidFill>
                  <a:schemeClr val="bg2"/>
                </a:solidFill>
              </a:defRPr>
            </a:lvl8pPr>
            <a:lvl9pPr marL="0" indent="0">
              <a:spcBef>
                <a:spcPts val="300"/>
              </a:spcBef>
              <a:buFont typeface="Arial" pitchFamily="34" charset="0"/>
              <a:buNone/>
              <a:defRPr sz="9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[Source information]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r>
              <a:rPr lang="en-US" dirty="0"/>
              <a:t>[Action title</a:t>
            </a:r>
            <a:br>
              <a:rPr lang="en-US" dirty="0"/>
            </a:br>
            <a:r>
              <a:rPr lang="en-US" dirty="0"/>
              <a:t>Maximum two lines]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288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ags" Target="../tags/tag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ags" Target="../tags/tag4.xml"/><Relationship Id="rId17" Type="http://schemas.openxmlformats.org/officeDocument/2006/relationships/image" Target="../media/image5.jpe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4.emf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15" Type="http://schemas.openxmlformats.org/officeDocument/2006/relationships/oleObject" Target="../embeddings/oleObject3.bin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ags" Target="../tags/tag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ggetto 1" hidden="1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55629471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2" name="Oggetto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98" r:id="rId2"/>
  </p:sldLayoutIdLst>
  <p:hf hdr="0" ftr="0" dt="0"/>
  <p:txStyles>
    <p:titleStyle>
      <a:lvl1pPr algn="l" defTabSz="912813" rtl="0" eaLnBrk="0" fontAlgn="base" hangingPunct="0">
        <a:spcBef>
          <a:spcPct val="0"/>
        </a:spcBef>
        <a:spcAft>
          <a:spcPct val="0"/>
        </a:spcAft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2813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Calibri" pitchFamily="34" charset="0"/>
        </a:defRPr>
      </a:lvl2pPr>
      <a:lvl3pPr algn="l" defTabSz="912813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Calibri" pitchFamily="34" charset="0"/>
        </a:defRPr>
      </a:lvl3pPr>
      <a:lvl4pPr algn="l" defTabSz="912813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Calibri" pitchFamily="34" charset="0"/>
        </a:defRPr>
      </a:lvl4pPr>
      <a:lvl5pPr algn="l" defTabSz="912813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Calibri" pitchFamily="34" charset="0"/>
        </a:defRPr>
      </a:lvl5pPr>
      <a:lvl6pPr marL="457200" algn="l" defTabSz="912813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Calibri" pitchFamily="34" charset="0"/>
        </a:defRPr>
      </a:lvl6pPr>
      <a:lvl7pPr marL="914400" algn="l" defTabSz="912813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Calibri" pitchFamily="34" charset="0"/>
        </a:defRPr>
      </a:lvl7pPr>
      <a:lvl8pPr marL="1371600" algn="l" defTabSz="912813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Calibri" pitchFamily="34" charset="0"/>
        </a:defRPr>
      </a:lvl8pPr>
      <a:lvl9pPr marL="1828800" algn="l" defTabSz="912813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Calibri" pitchFamily="34" charset="0"/>
        </a:defRPr>
      </a:lvl9pPr>
    </p:titleStyle>
    <p:bodyStyle>
      <a:lvl1pPr marL="180975" indent="-180975" algn="l" defTabSz="912813" rtl="0" eaLnBrk="0" fontAlgn="base" hangingPunct="0">
        <a:spcBef>
          <a:spcPct val="20000"/>
        </a:spcBef>
        <a:spcAft>
          <a:spcPct val="0"/>
        </a:spcAft>
        <a:buClr>
          <a:srgbClr val="006DAD"/>
        </a:buClr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4013" indent="-171450" algn="l" defTabSz="912813" rtl="0" eaLnBrk="0" fontAlgn="base" hangingPunct="0">
        <a:spcBef>
          <a:spcPct val="20000"/>
        </a:spcBef>
        <a:spcAft>
          <a:spcPct val="0"/>
        </a:spcAft>
        <a:buClr>
          <a:srgbClr val="006DAD"/>
        </a:buClr>
        <a:buFont typeface="Arial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190500" algn="l" defTabSz="912813" rtl="0" eaLnBrk="0" fontAlgn="base" hangingPunct="0">
        <a:spcBef>
          <a:spcPct val="20000"/>
        </a:spcBef>
        <a:spcAft>
          <a:spcPct val="0"/>
        </a:spcAft>
        <a:buClr>
          <a:srgbClr val="006DAD"/>
        </a:buClr>
        <a:buFont typeface="Calibri" pitchFamily="34" charset="0"/>
        <a:buChar char="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912813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912813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02" indent="-228573" algn="l" defTabSz="91429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47" indent="-228573" algn="l" defTabSz="91429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94" indent="-228573" algn="l" defTabSz="91429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39" indent="-228573" algn="l" defTabSz="91429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2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6" algn="l" defTabSz="9142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1" algn="l" defTabSz="9142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8" algn="l" defTabSz="9142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83" algn="l" defTabSz="9142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9" algn="l" defTabSz="9142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74" algn="l" defTabSz="9142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20" algn="l" defTabSz="9142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66" algn="l" defTabSz="9142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ggetto 8" hidden="1">
            <a:extLst>
              <a:ext uri="{FF2B5EF4-FFF2-40B4-BE49-F238E27FC236}">
                <a16:creationId xmlns:a16="http://schemas.microsoft.com/office/drawing/2014/main" id="{75D9ECB6-328F-4A31-84C9-9D055729DC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8804905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15" imgW="493" imgH="496" progId="TCLayout.ActiveDocument.1">
                  <p:embed/>
                </p:oleObj>
              </mc:Choice>
              <mc:Fallback>
                <p:oleObj name="Diapositiva think-cell" r:id="rId15" imgW="493" imgH="496" progId="TCLayout.ActiveDocument.1">
                  <p:embed/>
                  <p:pic>
                    <p:nvPicPr>
                      <p:cNvPr id="9" name="Oggetto 8" hidden="1">
                        <a:extLst>
                          <a:ext uri="{FF2B5EF4-FFF2-40B4-BE49-F238E27FC236}">
                            <a16:creationId xmlns:a16="http://schemas.microsoft.com/office/drawing/2014/main" id="{75D9ECB6-328F-4A31-84C9-9D055729DC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gray">
          <a:xfrm>
            <a:off x="323850" y="260350"/>
            <a:ext cx="63357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Titolo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 bwMode="gray">
          <a:xfrm>
            <a:off x="323850" y="1052513"/>
            <a:ext cx="8496300" cy="532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Testo</a:t>
            </a:r>
          </a:p>
          <a:p>
            <a:pPr lvl="1"/>
            <a:r>
              <a:rPr lang="it-IT"/>
              <a:t>Testo</a:t>
            </a:r>
          </a:p>
          <a:p>
            <a:pPr lvl="2"/>
            <a:r>
              <a:rPr lang="it-IT"/>
              <a:t>Testo</a:t>
            </a:r>
          </a:p>
          <a:p>
            <a:pPr lvl="3"/>
            <a:r>
              <a:rPr lang="it-IT"/>
              <a:t>Testo</a:t>
            </a:r>
          </a:p>
          <a:p>
            <a:pPr lvl="4"/>
            <a:r>
              <a:rPr lang="it-IT"/>
              <a:t>Testo</a:t>
            </a:r>
          </a:p>
        </p:txBody>
      </p:sp>
      <p:sp>
        <p:nvSpPr>
          <p:cNvPr id="4" name="VCT_Marker_ID_4" hidden="1"/>
          <p:cNvSpPr/>
          <p:nvPr>
            <p:custDataLst>
              <p:tags r:id="rId14"/>
            </p:custDataLst>
          </p:nvPr>
        </p:nvSpPr>
        <p:spPr bwMode="gray">
          <a:xfrm>
            <a:off x="1270000" y="127000"/>
            <a:ext cx="127000" cy="127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buFont typeface="Arial" charset="0"/>
              <a:buNone/>
              <a:defRPr/>
            </a:pPr>
            <a:endParaRPr lang="en-US" sz="160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1030" name="Gruppieren 11"/>
          <p:cNvGrpSpPr>
            <a:grpSpLocks/>
          </p:cNvGrpSpPr>
          <p:nvPr/>
        </p:nvGrpSpPr>
        <p:grpSpPr bwMode="auto">
          <a:xfrm>
            <a:off x="323850" y="-315913"/>
            <a:ext cx="8496300" cy="215900"/>
            <a:chOff x="323850" y="-531550"/>
            <a:chExt cx="8496740" cy="432060"/>
          </a:xfrm>
        </p:grpSpPr>
        <p:cxnSp>
          <p:nvCxnSpPr>
            <p:cNvPr id="23" name="Gerade Verbindung 22"/>
            <p:cNvCxnSpPr/>
            <p:nvPr userDrawn="1"/>
          </p:nvCxnSpPr>
          <p:spPr bwMode="gray">
            <a:xfrm rot="5400000">
              <a:off x="107820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23"/>
            <p:cNvCxnSpPr/>
            <p:nvPr userDrawn="1"/>
          </p:nvCxnSpPr>
          <p:spPr bwMode="gray">
            <a:xfrm rot="5400000">
              <a:off x="1403287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24"/>
            <p:cNvCxnSpPr/>
            <p:nvPr userDrawn="1"/>
          </p:nvCxnSpPr>
          <p:spPr bwMode="gray">
            <a:xfrm rot="5400000">
              <a:off x="1547758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26"/>
            <p:cNvCxnSpPr/>
            <p:nvPr userDrawn="1"/>
          </p:nvCxnSpPr>
          <p:spPr bwMode="gray">
            <a:xfrm rot="5400000">
              <a:off x="2843225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27"/>
            <p:cNvCxnSpPr/>
            <p:nvPr userDrawn="1"/>
          </p:nvCxnSpPr>
          <p:spPr bwMode="gray">
            <a:xfrm rot="5400000">
              <a:off x="2987694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28"/>
            <p:cNvCxnSpPr/>
            <p:nvPr userDrawn="1"/>
          </p:nvCxnSpPr>
          <p:spPr bwMode="gray">
            <a:xfrm rot="5400000">
              <a:off x="4284749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29"/>
            <p:cNvCxnSpPr/>
            <p:nvPr userDrawn="1"/>
          </p:nvCxnSpPr>
          <p:spPr bwMode="gray">
            <a:xfrm rot="5400000">
              <a:off x="4427632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30"/>
            <p:cNvCxnSpPr/>
            <p:nvPr userDrawn="1"/>
          </p:nvCxnSpPr>
          <p:spPr bwMode="gray">
            <a:xfrm rot="5400000">
              <a:off x="5724686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31"/>
            <p:cNvCxnSpPr/>
            <p:nvPr userDrawn="1"/>
          </p:nvCxnSpPr>
          <p:spPr bwMode="gray">
            <a:xfrm rot="5400000">
              <a:off x="5867568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32"/>
            <p:cNvCxnSpPr/>
            <p:nvPr userDrawn="1"/>
          </p:nvCxnSpPr>
          <p:spPr bwMode="gray">
            <a:xfrm rot="5400000">
              <a:off x="7164623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33"/>
            <p:cNvCxnSpPr/>
            <p:nvPr userDrawn="1"/>
          </p:nvCxnSpPr>
          <p:spPr bwMode="gray">
            <a:xfrm rot="5400000">
              <a:off x="7309093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34"/>
            <p:cNvCxnSpPr/>
            <p:nvPr userDrawn="1"/>
          </p:nvCxnSpPr>
          <p:spPr bwMode="gray">
            <a:xfrm rot="5400000">
              <a:off x="8604560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1" name="Gruppieren 37"/>
          <p:cNvGrpSpPr>
            <a:grpSpLocks/>
          </p:cNvGrpSpPr>
          <p:nvPr/>
        </p:nvGrpSpPr>
        <p:grpSpPr bwMode="auto">
          <a:xfrm>
            <a:off x="323850" y="6958013"/>
            <a:ext cx="8496300" cy="215900"/>
            <a:chOff x="323850" y="-531550"/>
            <a:chExt cx="8496740" cy="432060"/>
          </a:xfrm>
        </p:grpSpPr>
        <p:cxnSp>
          <p:nvCxnSpPr>
            <p:cNvPr id="39" name="Gerade Verbindung 38"/>
            <p:cNvCxnSpPr/>
            <p:nvPr userDrawn="1"/>
          </p:nvCxnSpPr>
          <p:spPr bwMode="gray">
            <a:xfrm rot="5400000">
              <a:off x="107820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39"/>
            <p:cNvCxnSpPr/>
            <p:nvPr userDrawn="1"/>
          </p:nvCxnSpPr>
          <p:spPr bwMode="gray">
            <a:xfrm rot="5400000">
              <a:off x="1403287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40"/>
            <p:cNvCxnSpPr/>
            <p:nvPr userDrawn="1"/>
          </p:nvCxnSpPr>
          <p:spPr bwMode="gray">
            <a:xfrm rot="5400000">
              <a:off x="1547758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41"/>
            <p:cNvCxnSpPr/>
            <p:nvPr userDrawn="1"/>
          </p:nvCxnSpPr>
          <p:spPr bwMode="gray">
            <a:xfrm rot="5400000">
              <a:off x="2843225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42"/>
            <p:cNvCxnSpPr/>
            <p:nvPr userDrawn="1"/>
          </p:nvCxnSpPr>
          <p:spPr bwMode="gray">
            <a:xfrm rot="5400000">
              <a:off x="2987694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43"/>
            <p:cNvCxnSpPr/>
            <p:nvPr userDrawn="1"/>
          </p:nvCxnSpPr>
          <p:spPr bwMode="gray">
            <a:xfrm rot="5400000">
              <a:off x="4284749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44"/>
            <p:cNvCxnSpPr/>
            <p:nvPr userDrawn="1"/>
          </p:nvCxnSpPr>
          <p:spPr bwMode="gray">
            <a:xfrm rot="5400000">
              <a:off x="4427632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45"/>
            <p:cNvCxnSpPr/>
            <p:nvPr userDrawn="1"/>
          </p:nvCxnSpPr>
          <p:spPr bwMode="gray">
            <a:xfrm rot="5400000">
              <a:off x="5724686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46"/>
            <p:cNvCxnSpPr/>
            <p:nvPr userDrawn="1"/>
          </p:nvCxnSpPr>
          <p:spPr bwMode="gray">
            <a:xfrm rot="5400000">
              <a:off x="5867568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47"/>
            <p:cNvCxnSpPr/>
            <p:nvPr userDrawn="1"/>
          </p:nvCxnSpPr>
          <p:spPr bwMode="gray">
            <a:xfrm rot="5400000">
              <a:off x="7164623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48"/>
            <p:cNvCxnSpPr/>
            <p:nvPr userDrawn="1"/>
          </p:nvCxnSpPr>
          <p:spPr bwMode="gray">
            <a:xfrm rot="5400000">
              <a:off x="7309093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49"/>
            <p:cNvCxnSpPr/>
            <p:nvPr userDrawn="1"/>
          </p:nvCxnSpPr>
          <p:spPr bwMode="gray">
            <a:xfrm rot="5400000">
              <a:off x="8604560" y="-31552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2" name="Gruppieren 57"/>
          <p:cNvGrpSpPr>
            <a:grpSpLocks/>
          </p:cNvGrpSpPr>
          <p:nvPr/>
        </p:nvGrpSpPr>
        <p:grpSpPr bwMode="auto">
          <a:xfrm>
            <a:off x="9251950" y="908050"/>
            <a:ext cx="217488" cy="5689600"/>
            <a:chOff x="-540710" y="908650"/>
            <a:chExt cx="432060" cy="5688790"/>
          </a:xfrm>
        </p:grpSpPr>
        <p:cxnSp>
          <p:nvCxnSpPr>
            <p:cNvPr id="2" name="Gerade Verbindung 58"/>
            <p:cNvCxnSpPr/>
            <p:nvPr userDrawn="1"/>
          </p:nvCxnSpPr>
          <p:spPr bwMode="gray">
            <a:xfrm>
              <a:off x="-540710" y="1124519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Gerade Verbindung 59"/>
            <p:cNvCxnSpPr/>
            <p:nvPr userDrawn="1"/>
          </p:nvCxnSpPr>
          <p:spPr bwMode="gray">
            <a:xfrm>
              <a:off x="-540710" y="90865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Gerade Verbindung 61"/>
            <p:cNvCxnSpPr/>
            <p:nvPr userDrawn="1"/>
          </p:nvCxnSpPr>
          <p:spPr bwMode="gray">
            <a:xfrm>
              <a:off x="-540710" y="659744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 Verbindung 62"/>
            <p:cNvCxnSpPr/>
            <p:nvPr userDrawn="1"/>
          </p:nvCxnSpPr>
          <p:spPr bwMode="gray">
            <a:xfrm>
              <a:off x="-540710" y="6452999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 Verbindung 79"/>
            <p:cNvCxnSpPr/>
            <p:nvPr userDrawn="1"/>
          </p:nvCxnSpPr>
          <p:spPr bwMode="gray">
            <a:xfrm>
              <a:off x="-540710" y="5445079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 Verbindung 80"/>
            <p:cNvCxnSpPr/>
            <p:nvPr userDrawn="1"/>
          </p:nvCxnSpPr>
          <p:spPr bwMode="gray">
            <a:xfrm>
              <a:off x="-540710" y="5300638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81"/>
            <p:cNvCxnSpPr/>
            <p:nvPr userDrawn="1"/>
          </p:nvCxnSpPr>
          <p:spPr bwMode="gray">
            <a:xfrm>
              <a:off x="-540710" y="4365733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82"/>
            <p:cNvCxnSpPr/>
            <p:nvPr userDrawn="1"/>
          </p:nvCxnSpPr>
          <p:spPr bwMode="gray">
            <a:xfrm>
              <a:off x="-540710" y="4221291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83"/>
            <p:cNvCxnSpPr/>
            <p:nvPr userDrawn="1"/>
          </p:nvCxnSpPr>
          <p:spPr bwMode="gray">
            <a:xfrm>
              <a:off x="-540710" y="328480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84"/>
            <p:cNvCxnSpPr/>
            <p:nvPr userDrawn="1"/>
          </p:nvCxnSpPr>
          <p:spPr bwMode="gray">
            <a:xfrm>
              <a:off x="-540710" y="3140357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85"/>
            <p:cNvCxnSpPr/>
            <p:nvPr userDrawn="1"/>
          </p:nvCxnSpPr>
          <p:spPr bwMode="gray">
            <a:xfrm>
              <a:off x="-540710" y="2205453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86"/>
            <p:cNvCxnSpPr/>
            <p:nvPr userDrawn="1"/>
          </p:nvCxnSpPr>
          <p:spPr bwMode="gray">
            <a:xfrm>
              <a:off x="-540710" y="2061011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88"/>
            <p:cNvCxnSpPr/>
            <p:nvPr userDrawn="1"/>
          </p:nvCxnSpPr>
          <p:spPr bwMode="gray">
            <a:xfrm>
              <a:off x="-540710" y="6381571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3" name="Gruppieren 57"/>
          <p:cNvGrpSpPr>
            <a:grpSpLocks/>
          </p:cNvGrpSpPr>
          <p:nvPr/>
        </p:nvGrpSpPr>
        <p:grpSpPr bwMode="auto">
          <a:xfrm>
            <a:off x="-325438" y="908050"/>
            <a:ext cx="217488" cy="5689600"/>
            <a:chOff x="-540710" y="908650"/>
            <a:chExt cx="432060" cy="5688790"/>
          </a:xfrm>
        </p:grpSpPr>
        <p:cxnSp>
          <p:nvCxnSpPr>
            <p:cNvPr id="59" name="Gerade Verbindung 58"/>
            <p:cNvCxnSpPr/>
            <p:nvPr userDrawn="1"/>
          </p:nvCxnSpPr>
          <p:spPr bwMode="gray">
            <a:xfrm>
              <a:off x="-540710" y="1124519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59"/>
            <p:cNvCxnSpPr/>
            <p:nvPr userDrawn="1"/>
          </p:nvCxnSpPr>
          <p:spPr bwMode="gray">
            <a:xfrm>
              <a:off x="-540710" y="90865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 Verbindung 61"/>
            <p:cNvCxnSpPr/>
            <p:nvPr userDrawn="1"/>
          </p:nvCxnSpPr>
          <p:spPr bwMode="gray">
            <a:xfrm>
              <a:off x="-540710" y="659744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 Verbindung 62"/>
            <p:cNvCxnSpPr/>
            <p:nvPr userDrawn="1"/>
          </p:nvCxnSpPr>
          <p:spPr bwMode="gray">
            <a:xfrm>
              <a:off x="-540710" y="6452999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 Verbindung 79"/>
            <p:cNvCxnSpPr/>
            <p:nvPr userDrawn="1"/>
          </p:nvCxnSpPr>
          <p:spPr bwMode="gray">
            <a:xfrm>
              <a:off x="-540710" y="5445079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 Verbindung 80"/>
            <p:cNvCxnSpPr/>
            <p:nvPr userDrawn="1"/>
          </p:nvCxnSpPr>
          <p:spPr bwMode="gray">
            <a:xfrm>
              <a:off x="-540710" y="5300638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 Verbindung 81"/>
            <p:cNvCxnSpPr/>
            <p:nvPr userDrawn="1"/>
          </p:nvCxnSpPr>
          <p:spPr bwMode="gray">
            <a:xfrm>
              <a:off x="-540710" y="4365733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Gerade Verbindung 82"/>
            <p:cNvCxnSpPr/>
            <p:nvPr userDrawn="1"/>
          </p:nvCxnSpPr>
          <p:spPr bwMode="gray">
            <a:xfrm>
              <a:off x="-540710" y="4221291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Gerade Verbindung 83"/>
            <p:cNvCxnSpPr/>
            <p:nvPr userDrawn="1"/>
          </p:nvCxnSpPr>
          <p:spPr bwMode="gray">
            <a:xfrm>
              <a:off x="-540710" y="3284800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 Verbindung 84"/>
            <p:cNvCxnSpPr/>
            <p:nvPr userDrawn="1"/>
          </p:nvCxnSpPr>
          <p:spPr bwMode="gray">
            <a:xfrm>
              <a:off x="-540710" y="3140357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85"/>
            <p:cNvCxnSpPr/>
            <p:nvPr userDrawn="1"/>
          </p:nvCxnSpPr>
          <p:spPr bwMode="gray">
            <a:xfrm>
              <a:off x="-540710" y="2205453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 Verbindung 86"/>
            <p:cNvCxnSpPr/>
            <p:nvPr userDrawn="1"/>
          </p:nvCxnSpPr>
          <p:spPr bwMode="gray">
            <a:xfrm>
              <a:off x="-540710" y="2061011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 Verbindung 88"/>
            <p:cNvCxnSpPr/>
            <p:nvPr userDrawn="1"/>
          </p:nvCxnSpPr>
          <p:spPr bwMode="gray">
            <a:xfrm>
              <a:off x="-540710" y="6381571"/>
              <a:ext cx="4320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4" name="Rectangle 86"/>
          <p:cNvSpPr>
            <a:spLocks noChangeArrowheads="1"/>
          </p:cNvSpPr>
          <p:nvPr/>
        </p:nvSpPr>
        <p:spPr bwMode="gray">
          <a:xfrm>
            <a:off x="7596188" y="6597650"/>
            <a:ext cx="1223962" cy="107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 defTabSz="914400"/>
            <a:fld id="{542AE253-4C41-4B17-B073-FCBB1A1A8005}" type="slidenum">
              <a:rPr lang="en-US" sz="800">
                <a:solidFill>
                  <a:srgbClr val="928580"/>
                </a:solidFill>
                <a:latin typeface="Arial" pitchFamily="34" charset="0"/>
                <a:cs typeface="Arial" pitchFamily="34" charset="0"/>
              </a:rPr>
              <a:pPr algn="r" defTabSz="914400"/>
              <a:t>‹N›</a:t>
            </a:fld>
            <a:endParaRPr lang="en-US" sz="800" dirty="0">
              <a:solidFill>
                <a:srgbClr val="9285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5" name="Rechteck 13"/>
          <p:cNvSpPr/>
          <p:nvPr/>
        </p:nvSpPr>
        <p:spPr bwMode="gray">
          <a:xfrm>
            <a:off x="324390" y="6688426"/>
            <a:ext cx="7056000" cy="144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0" tIns="0" rIns="0" bIns="0" anchor="ctr"/>
          <a:lstStyle/>
          <a:p>
            <a:pPr marL="0" lvl="8">
              <a:defRPr/>
            </a:pPr>
            <a:r>
              <a:rPr lang="it-IT" sz="800" b="1" dirty="0">
                <a:solidFill>
                  <a:srgbClr val="928580"/>
                </a:solidFill>
                <a:latin typeface="Arial" pitchFamily="34" charset="0"/>
              </a:rPr>
              <a:t>© GfK  | Energy Business 2016 | Dicembre 2016</a:t>
            </a:r>
          </a:p>
        </p:txBody>
      </p:sp>
      <p:pic>
        <p:nvPicPr>
          <p:cNvPr id="1037" name="Picture 2"/>
          <p:cNvPicPr>
            <a:picLocks noChangeAspect="1" noChangeArrowheads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8170863" y="260350"/>
            <a:ext cx="649287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795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6" r:id="rId9"/>
    <p:sldLayoutId id="2147483697" r:id="rId10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000" kern="1200">
          <a:solidFill>
            <a:schemeClr val="tx1"/>
          </a:solidFill>
          <a:latin typeface="Arial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ts val="600"/>
        </a:spcBef>
        <a:spcAft>
          <a:spcPct val="0"/>
        </a:spcAft>
        <a:buFont typeface="Arial" pitchFamily="34" charset="0"/>
        <a:defRPr kern="1200">
          <a:solidFill>
            <a:schemeClr val="tx2"/>
          </a:solidFill>
          <a:latin typeface="Arial" charset="0"/>
          <a:ea typeface="+mn-ea"/>
          <a:cs typeface="+mn-cs"/>
        </a:defRPr>
      </a:lvl1pPr>
      <a:lvl2pPr marL="1588" indent="-1588" algn="l" rtl="0" eaLnBrk="1" fontAlgn="base" hangingPunct="1">
        <a:spcBef>
          <a:spcPts val="600"/>
        </a:spcBef>
        <a:spcAft>
          <a:spcPct val="0"/>
        </a:spcAft>
        <a:buFont typeface="Arial" pitchFamily="34" charset="0"/>
        <a:defRPr sz="1600" kern="1200">
          <a:solidFill>
            <a:schemeClr val="tx1"/>
          </a:solidFill>
          <a:latin typeface="Arial" charset="0"/>
          <a:ea typeface="+mn-ea"/>
          <a:cs typeface="+mn-cs"/>
        </a:defRPr>
      </a:lvl2pPr>
      <a:lvl3pPr marL="180975" indent="-177800" algn="l" rtl="0" eaLnBrk="1" fontAlgn="base" hangingPunct="1">
        <a:spcBef>
          <a:spcPts val="3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Arial" charset="0"/>
          <a:ea typeface="+mn-ea"/>
          <a:cs typeface="+mn-cs"/>
        </a:defRPr>
      </a:lvl3pPr>
      <a:lvl4pPr marL="360363" indent="-177800" algn="l" rtl="0" eaLnBrk="1" fontAlgn="base" hangingPunct="1">
        <a:spcBef>
          <a:spcPts val="3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Arial" charset="0"/>
          <a:ea typeface="+mn-ea"/>
          <a:cs typeface="+mn-cs"/>
        </a:defRPr>
      </a:lvl4pPr>
      <a:lvl5pPr marL="539750" indent="-177800" algn="l" rtl="0" eaLnBrk="1" fontAlgn="base" hangingPunct="1">
        <a:spcBef>
          <a:spcPts val="3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0"/>
        </a:spcAft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spcBef>
          <a:spcPts val="600"/>
        </a:spcBef>
        <a:spcAft>
          <a:spcPts val="0"/>
        </a:spcAft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spcBef>
          <a:spcPts val="600"/>
        </a:spcBef>
        <a:spcAft>
          <a:spcPts val="0"/>
        </a:spcAft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600"/>
        </a:spcBef>
        <a:spcAft>
          <a:spcPts val="0"/>
        </a:spcAft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2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emf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8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9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1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2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6.png"/><Relationship Id="rId4" Type="http://schemas.openxmlformats.org/officeDocument/2006/relationships/notesSlide" Target="../notesSlides/notesSlide13.xml"/><Relationship Id="rId9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4.xml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8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9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0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2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4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6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8.emf"/><Relationship Id="rId11" Type="http://schemas.openxmlformats.org/officeDocument/2006/relationships/image" Target="../media/image16.png"/><Relationship Id="rId5" Type="http://schemas.openxmlformats.org/officeDocument/2006/relationships/oleObject" Target="../embeddings/oleObject4.bin"/><Relationship Id="rId10" Type="http://schemas.openxmlformats.org/officeDocument/2006/relationships/image" Target="../media/image39.png"/><Relationship Id="rId4" Type="http://schemas.openxmlformats.org/officeDocument/2006/relationships/notesSlide" Target="../notesSlides/notesSlide20.xml"/><Relationship Id="rId9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0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9.bin"/><Relationship Id="rId4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1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3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4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47.png"/><Relationship Id="rId4" Type="http://schemas.openxmlformats.org/officeDocument/2006/relationships/notesSlide" Target="../notesSlides/notesSlide25.xml"/><Relationship Id="rId9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8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0.png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1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10.bin"/><Relationship Id="rId4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2 a.jp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9167055" cy="6858000"/>
          </a:xfrm>
          <a:prstGeom prst="rect">
            <a:avLst/>
          </a:prstGeom>
        </p:spPr>
      </p:pic>
      <p:sp>
        <p:nvSpPr>
          <p:cNvPr id="5" name="Rettangolo arrotondato 4"/>
          <p:cNvSpPr/>
          <p:nvPr/>
        </p:nvSpPr>
        <p:spPr>
          <a:xfrm>
            <a:off x="6088513" y="39224"/>
            <a:ext cx="1368152" cy="1368152"/>
          </a:xfrm>
          <a:prstGeom prst="roundRect">
            <a:avLst>
              <a:gd name="adj" fmla="val 8207"/>
            </a:avLst>
          </a:prstGeom>
          <a:solidFill>
            <a:schemeClr val="bg1">
              <a:alpha val="30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it-IT" b="1" dirty="0">
              <a:solidFill>
                <a:prstClr val="black"/>
              </a:solidFill>
            </a:endParaRPr>
          </a:p>
        </p:txBody>
      </p:sp>
      <p:sp>
        <p:nvSpPr>
          <p:cNvPr id="6" name="Rettangolo arrotondato 5"/>
          <p:cNvSpPr/>
          <p:nvPr/>
        </p:nvSpPr>
        <p:spPr>
          <a:xfrm>
            <a:off x="7452438" y="1407376"/>
            <a:ext cx="1368152" cy="1368152"/>
          </a:xfrm>
          <a:prstGeom prst="roundRect">
            <a:avLst>
              <a:gd name="adj" fmla="val 8207"/>
            </a:avLst>
          </a:prstGeom>
          <a:solidFill>
            <a:schemeClr val="bg1">
              <a:alpha val="30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it-IT" b="1" dirty="0">
              <a:solidFill>
                <a:prstClr val="black"/>
              </a:solidFill>
            </a:endParaRPr>
          </a:p>
        </p:txBody>
      </p:sp>
      <p:sp>
        <p:nvSpPr>
          <p:cNvPr id="9" name="Rettangolo arrotondato 8"/>
          <p:cNvSpPr/>
          <p:nvPr/>
        </p:nvSpPr>
        <p:spPr>
          <a:xfrm>
            <a:off x="6088513" y="1407376"/>
            <a:ext cx="1368152" cy="1368152"/>
          </a:xfrm>
          <a:prstGeom prst="roundRect">
            <a:avLst>
              <a:gd name="adj" fmla="val 8207"/>
            </a:avLst>
          </a:prstGeom>
          <a:solidFill>
            <a:schemeClr val="bg1">
              <a:alpha val="30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it-IT" b="1" dirty="0">
              <a:solidFill>
                <a:prstClr val="black"/>
              </a:solidFill>
            </a:endParaRPr>
          </a:p>
        </p:txBody>
      </p:sp>
      <p:sp>
        <p:nvSpPr>
          <p:cNvPr id="10" name="Rettangolo arrotondato 9"/>
          <p:cNvSpPr/>
          <p:nvPr/>
        </p:nvSpPr>
        <p:spPr>
          <a:xfrm>
            <a:off x="4720361" y="1407376"/>
            <a:ext cx="1368152" cy="1368152"/>
          </a:xfrm>
          <a:prstGeom prst="roundRect">
            <a:avLst>
              <a:gd name="adj" fmla="val 8207"/>
            </a:avLst>
          </a:prstGeom>
          <a:solidFill>
            <a:schemeClr val="bg1">
              <a:alpha val="30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it-IT" b="1" dirty="0">
              <a:solidFill>
                <a:prstClr val="black"/>
              </a:solidFill>
            </a:endParaRPr>
          </a:p>
        </p:txBody>
      </p:sp>
      <p:sp>
        <p:nvSpPr>
          <p:cNvPr id="11" name="Rettangolo arrotondato 10"/>
          <p:cNvSpPr/>
          <p:nvPr/>
        </p:nvSpPr>
        <p:spPr>
          <a:xfrm>
            <a:off x="4720361" y="2772065"/>
            <a:ext cx="1368152" cy="1368152"/>
          </a:xfrm>
          <a:prstGeom prst="roundRect">
            <a:avLst>
              <a:gd name="adj" fmla="val 8207"/>
            </a:avLst>
          </a:prstGeom>
          <a:solidFill>
            <a:schemeClr val="bg1"/>
          </a:solidFill>
          <a:ln w="952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it-IT" b="1" dirty="0">
              <a:solidFill>
                <a:prstClr val="black"/>
              </a:solidFill>
            </a:endParaRPr>
          </a:p>
        </p:txBody>
      </p:sp>
      <p:sp>
        <p:nvSpPr>
          <p:cNvPr id="12" name="Rettangolo arrotondato 11"/>
          <p:cNvSpPr/>
          <p:nvPr/>
        </p:nvSpPr>
        <p:spPr>
          <a:xfrm>
            <a:off x="3352209" y="2772065"/>
            <a:ext cx="1368152" cy="1368152"/>
          </a:xfrm>
          <a:prstGeom prst="roundRect">
            <a:avLst>
              <a:gd name="adj" fmla="val 8207"/>
            </a:avLst>
          </a:prstGeom>
          <a:solidFill>
            <a:schemeClr val="bg1"/>
          </a:solidFill>
          <a:ln w="952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it-IT" b="1" dirty="0">
              <a:solidFill>
                <a:prstClr val="black"/>
              </a:solidFill>
            </a:endParaRPr>
          </a:p>
        </p:txBody>
      </p:sp>
      <p:sp>
        <p:nvSpPr>
          <p:cNvPr id="14" name="Rechtwinkliges Dreieck 16"/>
          <p:cNvSpPr/>
          <p:nvPr/>
        </p:nvSpPr>
        <p:spPr bwMode="auto">
          <a:xfrm rot="5400000">
            <a:off x="323855" y="5803200"/>
            <a:ext cx="361943" cy="361943"/>
          </a:xfrm>
          <a:prstGeom prst="rtTriangle">
            <a:avLst/>
          </a:prstGeom>
          <a:solidFill>
            <a:schemeClr val="bg1">
              <a:lumMod val="75000"/>
              <a:alpha val="67000"/>
            </a:schemeClr>
          </a:solidFill>
          <a:ln w="12700">
            <a:noFill/>
            <a:round/>
            <a:headEnd/>
            <a:tailEnd/>
          </a:ln>
        </p:spPr>
        <p:txBody>
          <a:bodyPr lIns="360000" rtlCol="0" anchor="ctr"/>
          <a:lstStyle/>
          <a:p>
            <a:pPr defTabSz="914400"/>
            <a:endParaRPr lang="en-US" sz="4800" dirty="0">
              <a:solidFill>
                <a:prstClr val="white"/>
              </a:solidFill>
              <a:effectLst>
                <a:outerShdw blurRad="101600" dist="76200" dir="2400000" algn="tl" rotWithShape="0">
                  <a:prstClr val="black">
                    <a:alpha val="38000"/>
                  </a:prstClr>
                </a:outerShdw>
              </a:effectLst>
            </a:endParaRPr>
          </a:p>
        </p:txBody>
      </p:sp>
      <p:sp>
        <p:nvSpPr>
          <p:cNvPr id="18" name="Rechteck 17"/>
          <p:cNvSpPr/>
          <p:nvPr/>
        </p:nvSpPr>
        <p:spPr bwMode="gray">
          <a:xfrm>
            <a:off x="-5532" y="4877784"/>
            <a:ext cx="9172586" cy="925416"/>
          </a:xfrm>
          <a:prstGeom prst="rect">
            <a:avLst/>
          </a:prstGeom>
          <a:solidFill>
            <a:schemeClr val="bg1">
              <a:lumMod val="85000"/>
              <a:alpha val="67000"/>
            </a:schemeClr>
          </a:solidFill>
          <a:ln w="12700">
            <a:noFill/>
            <a:round/>
            <a:headEnd/>
            <a:tailEnd/>
          </a:ln>
        </p:spPr>
        <p:txBody>
          <a:bodyPr lIns="288000" rtlCol="0" anchor="ctr"/>
          <a:lstStyle/>
          <a:p>
            <a:pPr defTabSz="914400"/>
            <a:r>
              <a:rPr lang="en-US" sz="3600" dirty="0">
                <a:solidFill>
                  <a:prstClr val="black"/>
                </a:solidFill>
              </a:rPr>
              <a:t>GENIALE </a:t>
            </a:r>
            <a:r>
              <a:rPr lang="en-US" sz="3600" dirty="0" err="1">
                <a:solidFill>
                  <a:prstClr val="black"/>
                </a:solidFill>
              </a:rPr>
              <a:t>Residenziale</a:t>
            </a:r>
            <a:endParaRPr lang="en-US" sz="3600" dirty="0">
              <a:solidFill>
                <a:prstClr val="black"/>
              </a:solidFill>
            </a:endParaRP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33" t="33098" r="12743" b="36795"/>
          <a:stretch/>
        </p:blipFill>
        <p:spPr>
          <a:xfrm>
            <a:off x="3419872" y="3084525"/>
            <a:ext cx="2536262" cy="70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279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6862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51728" y="241985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dirty="0"/>
              <a:t>Indice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84916E3-5712-4646-8F83-F8872B0C08A6}"/>
              </a:ext>
            </a:extLst>
          </p:cNvPr>
          <p:cNvSpPr txBox="1"/>
          <p:nvPr/>
        </p:nvSpPr>
        <p:spPr>
          <a:xfrm>
            <a:off x="256975" y="1325394"/>
            <a:ext cx="856343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Novità dal 19 marzo 2022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Agente: Creare offerte per clienti residenziali</a:t>
            </a:r>
          </a:p>
          <a:p>
            <a:pPr marL="285750" indent="-15875">
              <a:buFont typeface="Wingdings" panose="05000000000000000000" pitchFamily="2" charset="2"/>
              <a:buChar char="q"/>
            </a:pPr>
            <a:r>
              <a:rPr lang="it-IT" dirty="0"/>
              <a:t>Step 1: Creazione Offerta </a:t>
            </a:r>
          </a:p>
          <a:p>
            <a:pPr marL="285750" indent="-15875">
              <a:buFont typeface="Wingdings" panose="05000000000000000000" pitchFamily="2" charset="2"/>
              <a:buChar char="q"/>
            </a:pPr>
            <a:r>
              <a:rPr lang="it-IT" dirty="0"/>
              <a:t>Step 2: Configuratore offerta residenziale</a:t>
            </a:r>
          </a:p>
          <a:p>
            <a:pPr marL="285750" indent="-15875">
              <a:buFont typeface="Wingdings" panose="05000000000000000000" pitchFamily="2" charset="2"/>
              <a:buChar char="q"/>
            </a:pPr>
            <a:r>
              <a:rPr lang="it-IT" dirty="0"/>
              <a:t>Step 3: Riepilogo offerta e inserimento dati di fornitura POD/PDR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Cliente: Interactive Tools </a:t>
            </a:r>
          </a:p>
          <a:p>
            <a:pPr marL="285750" indent="-15875">
              <a:buFont typeface="Wingdings" panose="05000000000000000000" pitchFamily="2" charset="2"/>
              <a:buChar char="q"/>
            </a:pPr>
            <a:r>
              <a:rPr lang="it-IT" dirty="0"/>
              <a:t>Step 4 Ricezione e-mail e autenticazione su Interactive Tools</a:t>
            </a:r>
          </a:p>
          <a:p>
            <a:pPr marL="285750" indent="-15875">
              <a:buFont typeface="Wingdings" panose="05000000000000000000" pitchFamily="2" charset="2"/>
              <a:buChar char="q"/>
            </a:pPr>
            <a:r>
              <a:rPr lang="it-IT" dirty="0"/>
              <a:t>Step 4 Prepara - Genera Contratto -  invio link per firma remota</a:t>
            </a:r>
          </a:p>
          <a:p>
            <a:pPr marL="285750" indent="-15875">
              <a:buFont typeface="Wingdings" panose="05000000000000000000" pitchFamily="2" charset="2"/>
              <a:buChar char="q"/>
            </a:pPr>
            <a:r>
              <a:rPr lang="it-IT" dirty="0"/>
              <a:t>Step 5 – Firma contratto</a:t>
            </a:r>
          </a:p>
          <a:p>
            <a:pPr marL="285750" indent="-15875">
              <a:buFont typeface="Wingdings" panose="05000000000000000000" pitchFamily="2" charset="2"/>
              <a:buChar char="q"/>
            </a:pPr>
            <a:r>
              <a:rPr lang="it-IT" dirty="0"/>
              <a:t>Step 6 – Contratto Firmato</a:t>
            </a:r>
            <a:endParaRPr lang="it-I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Il tuo portafoglio</a:t>
            </a:r>
          </a:p>
          <a:p>
            <a:pPr marL="285750" indent="-15875">
              <a:buFont typeface="Wingdings" panose="05000000000000000000" pitchFamily="2" charset="2"/>
              <a:buChar char="q"/>
            </a:pPr>
            <a:r>
              <a:rPr lang="it-IT" dirty="0"/>
              <a:t>OFFERTE – Forzatura scadenza offerte</a:t>
            </a:r>
          </a:p>
          <a:p>
            <a:pPr marL="285750" indent="-15875">
              <a:buFont typeface="Wingdings" panose="05000000000000000000" pitchFamily="2" charset="2"/>
              <a:buChar char="q"/>
            </a:pPr>
            <a:r>
              <a:rPr lang="it-IT" dirty="0" err="1"/>
              <a:t>InterazionI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Dashboard Codici Contratto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Caricamento contratto sul sistema di in-</a:t>
            </a:r>
            <a:r>
              <a:rPr lang="it-IT" b="1" dirty="0" err="1"/>
              <a:t>order</a:t>
            </a:r>
            <a:r>
              <a:rPr lang="it-IT" b="1" dirty="0"/>
              <a:t> (SPACE) - Monitoraggio Stato Contratto</a:t>
            </a:r>
          </a:p>
        </p:txBody>
      </p:sp>
    </p:spTree>
    <p:extLst>
      <p:ext uri="{BB962C8B-B14F-4D97-AF65-F5344CB8AC3E}">
        <p14:creationId xmlns:p14="http://schemas.microsoft.com/office/powerpoint/2010/main" val="592511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5158494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51728" y="241985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dirty="0"/>
              <a:t>Novità dal 19 marzo 2022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AC4500B-C21D-4CB7-BBED-8CC2BC9A8D41}"/>
              </a:ext>
            </a:extLst>
          </p:cNvPr>
          <p:cNvSpPr txBox="1"/>
          <p:nvPr/>
        </p:nvSpPr>
        <p:spPr>
          <a:xfrm>
            <a:off x="571500" y="1674674"/>
            <a:ext cx="79057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55625" indent="-285750">
              <a:buFont typeface="Wingdings" panose="05000000000000000000" pitchFamily="2" charset="2"/>
              <a:buChar char="ü"/>
            </a:pPr>
            <a:r>
              <a:rPr lang="it-IT" i="1" dirty="0"/>
              <a:t>Controllo numero di telefono intestatario contratto (step 1)</a:t>
            </a:r>
          </a:p>
          <a:p>
            <a:pPr marL="555625" indent="-285750">
              <a:buFont typeface="Wingdings" panose="05000000000000000000" pitchFamily="2" charset="2"/>
              <a:buChar char="ü"/>
            </a:pPr>
            <a:endParaRPr lang="it-IT" i="1" dirty="0"/>
          </a:p>
          <a:p>
            <a:pPr marL="555625" indent="-285750">
              <a:buFont typeface="Wingdings" panose="05000000000000000000" pitchFamily="2" charset="2"/>
              <a:buChar char="ü"/>
            </a:pPr>
            <a:r>
              <a:rPr lang="it-IT" i="1" dirty="0"/>
              <a:t>Switching con voltura</a:t>
            </a:r>
          </a:p>
          <a:p>
            <a:pPr marL="555625" indent="-285750">
              <a:buFont typeface="Wingdings" panose="05000000000000000000" pitchFamily="2" charset="2"/>
              <a:buChar char="ü"/>
            </a:pPr>
            <a:endParaRPr lang="it-IT" i="1" dirty="0"/>
          </a:p>
          <a:p>
            <a:pPr marL="1076325" indent="-285750">
              <a:buFont typeface="Arial" panose="020B0604020202020204" pitchFamily="34" charset="0"/>
              <a:buChar char="•"/>
            </a:pPr>
            <a:r>
              <a:rPr lang="it-IT" i="1" dirty="0"/>
              <a:t>Possibilità di scegliere «Switching con voltura» (allo step 3)</a:t>
            </a:r>
          </a:p>
          <a:p>
            <a:pPr marL="1076325" indent="-285750">
              <a:buFont typeface="Arial" panose="020B0604020202020204" pitchFamily="34" charset="0"/>
              <a:buChar char="•"/>
            </a:pPr>
            <a:r>
              <a:rPr lang="it-IT" i="1" dirty="0"/>
              <a:t>Possibilità, per il cliente, di scegliere la data a partire dalla quale effettuare lo Switching con voltura (in </a:t>
            </a:r>
            <a:r>
              <a:rPr lang="it-IT" i="1" dirty="0" err="1"/>
              <a:t>apparoud</a:t>
            </a:r>
            <a:r>
              <a:rPr lang="it-IT" i="1" dirty="0"/>
              <a:t> interactive)</a:t>
            </a:r>
          </a:p>
          <a:p>
            <a:pPr marL="555625" indent="-285750">
              <a:buFont typeface="Wingdings" panose="05000000000000000000" pitchFamily="2" charset="2"/>
              <a:buChar char="ü"/>
            </a:pPr>
            <a:endParaRPr lang="it-IT" dirty="0"/>
          </a:p>
          <a:p>
            <a:pPr marL="269875"/>
            <a:endParaRPr lang="it-IT" dirty="0"/>
          </a:p>
          <a:p>
            <a:pPr marL="269875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97362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439060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Schermata di HOME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21F7F61-7F8D-4B1E-A74E-A6A353E32B1A}"/>
              </a:ext>
            </a:extLst>
          </p:cNvPr>
          <p:cNvSpPr/>
          <p:nvPr/>
        </p:nvSpPr>
        <p:spPr>
          <a:xfrm>
            <a:off x="7292114" y="4403712"/>
            <a:ext cx="1195754" cy="1321776"/>
          </a:xfrm>
          <a:prstGeom prst="rect">
            <a:avLst/>
          </a:prstGeom>
          <a:solidFill>
            <a:srgbClr val="F5C20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CREARE NUOVE OFFERTE</a:t>
            </a:r>
          </a:p>
        </p:txBody>
      </p: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992E7615-301C-4A65-9718-CA64F942CD4F}"/>
              </a:ext>
            </a:extLst>
          </p:cNvPr>
          <p:cNvSpPr/>
          <p:nvPr/>
        </p:nvSpPr>
        <p:spPr>
          <a:xfrm rot="16200000">
            <a:off x="6918940" y="4558383"/>
            <a:ext cx="259326" cy="487021"/>
          </a:xfrm>
          <a:prstGeom prst="triangle">
            <a:avLst/>
          </a:prstGeom>
          <a:solidFill>
            <a:srgbClr val="F5C20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4AA8C69-BC69-48DF-91AD-ABCB1B65B46F}"/>
              </a:ext>
            </a:extLst>
          </p:cNvPr>
          <p:cNvSpPr/>
          <p:nvPr/>
        </p:nvSpPr>
        <p:spPr>
          <a:xfrm>
            <a:off x="91014" y="1618146"/>
            <a:ext cx="1439264" cy="993533"/>
          </a:xfrm>
          <a:prstGeom prst="rect">
            <a:avLst/>
          </a:prstGeom>
          <a:solidFill>
            <a:srgbClr val="F5C20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>
                <a:solidFill>
                  <a:schemeClr val="tx1"/>
                </a:solidFill>
              </a:rPr>
              <a:t>Customer Base contrattualizzata tramite </a:t>
            </a:r>
            <a:r>
              <a:rPr lang="it-IT" sz="1400" b="1" dirty="0" err="1">
                <a:solidFill>
                  <a:schemeClr val="tx1"/>
                </a:solidFill>
              </a:rPr>
              <a:t>Apparroud</a:t>
            </a:r>
            <a:endParaRPr lang="it-IT" sz="1400" b="1" dirty="0">
              <a:solidFill>
                <a:schemeClr val="tx1"/>
              </a:solidFill>
            </a:endParaRPr>
          </a:p>
        </p:txBody>
      </p:sp>
      <p:sp>
        <p:nvSpPr>
          <p:cNvPr id="9" name="Triangolo isoscele 8">
            <a:extLst>
              <a:ext uri="{FF2B5EF4-FFF2-40B4-BE49-F238E27FC236}">
                <a16:creationId xmlns:a16="http://schemas.microsoft.com/office/drawing/2014/main" id="{CCA0D553-B21D-4654-8B71-B87A5D7C01AA}"/>
              </a:ext>
            </a:extLst>
          </p:cNvPr>
          <p:cNvSpPr/>
          <p:nvPr/>
        </p:nvSpPr>
        <p:spPr>
          <a:xfrm rot="5400000">
            <a:off x="1563391" y="1574638"/>
            <a:ext cx="259326" cy="487021"/>
          </a:xfrm>
          <a:prstGeom prst="triangle">
            <a:avLst/>
          </a:prstGeom>
          <a:solidFill>
            <a:srgbClr val="F5C20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E56627AE-588D-49C4-894B-63CDE55FC0D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4144"/>
          <a:stretch/>
        </p:blipFill>
        <p:spPr>
          <a:xfrm>
            <a:off x="2634372" y="4074160"/>
            <a:ext cx="3996546" cy="198088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F46E903-F0E0-4193-94B2-8A45798BA73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-999" t="5195" r="66357" b="50000"/>
          <a:stretch/>
        </p:blipFill>
        <p:spPr>
          <a:xfrm>
            <a:off x="2135845" y="962631"/>
            <a:ext cx="3167675" cy="230456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79857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110117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236974" y="16148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OFFERTE PER LA CASA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21F7F61-7F8D-4B1E-A74E-A6A353E32B1A}"/>
              </a:ext>
            </a:extLst>
          </p:cNvPr>
          <p:cNvSpPr/>
          <p:nvPr/>
        </p:nvSpPr>
        <p:spPr>
          <a:xfrm>
            <a:off x="7287375" y="2415663"/>
            <a:ext cx="1195754" cy="1321776"/>
          </a:xfrm>
          <a:prstGeom prst="rect">
            <a:avLst/>
          </a:prstGeom>
          <a:solidFill>
            <a:srgbClr val="F5C20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CREARE NUOVE OFFERTE</a:t>
            </a:r>
          </a:p>
        </p:txBody>
      </p: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992E7615-301C-4A65-9718-CA64F942CD4F}"/>
              </a:ext>
            </a:extLst>
          </p:cNvPr>
          <p:cNvSpPr/>
          <p:nvPr/>
        </p:nvSpPr>
        <p:spPr>
          <a:xfrm rot="16200000">
            <a:off x="6918530" y="2703377"/>
            <a:ext cx="259326" cy="487021"/>
          </a:xfrm>
          <a:prstGeom prst="triangle">
            <a:avLst/>
          </a:prstGeom>
          <a:solidFill>
            <a:srgbClr val="F5C20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E56627AE-588D-49C4-894B-63CDE55FC0D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4144"/>
          <a:stretch/>
        </p:blipFill>
        <p:spPr>
          <a:xfrm>
            <a:off x="2645165" y="2286000"/>
            <a:ext cx="3996546" cy="198088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55806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441408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AGENTE – Step 1: Creazione Offerta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D7D6DF4-0404-44A0-A0D9-313642FEF8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6040" y="2541320"/>
            <a:ext cx="6471920" cy="33546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Fumetto: rettangolo 8">
            <a:extLst>
              <a:ext uri="{FF2B5EF4-FFF2-40B4-BE49-F238E27FC236}">
                <a16:creationId xmlns:a16="http://schemas.microsoft.com/office/drawing/2014/main" id="{3AABF9F8-5AE5-4540-8644-462AA0D85A1B}"/>
              </a:ext>
            </a:extLst>
          </p:cNvPr>
          <p:cNvSpPr/>
          <p:nvPr/>
        </p:nvSpPr>
        <p:spPr>
          <a:xfrm>
            <a:off x="2344360" y="971295"/>
            <a:ext cx="4267200" cy="1139699"/>
          </a:xfrm>
          <a:prstGeom prst="wedgeRectCallout">
            <a:avLst>
              <a:gd name="adj1" fmla="val 42931"/>
              <a:gd name="adj2" fmla="val -22110"/>
            </a:avLst>
          </a:prstGeom>
          <a:solidFill>
            <a:srgbClr val="F5C20F"/>
          </a:solidFill>
          <a:ln w="952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Cliccando sul Configuratore «Offerte per la casa»</a:t>
            </a:r>
          </a:p>
          <a:p>
            <a:pPr algn="ctr"/>
            <a:r>
              <a:rPr lang="it-IT" sz="1200" b="1" dirty="0">
                <a:solidFill>
                  <a:schemeClr val="tx1"/>
                </a:solidFill>
              </a:rPr>
              <a:t>L’ App atterrerà allo STEP 1 </a:t>
            </a:r>
          </a:p>
        </p:txBody>
      </p:sp>
    </p:spTree>
    <p:extLst>
      <p:ext uri="{BB962C8B-B14F-4D97-AF65-F5344CB8AC3E}">
        <p14:creationId xmlns:p14="http://schemas.microsoft.com/office/powerpoint/2010/main" val="1990975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7502974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AGENTE – Step 1: Creazione Offerta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4576DA9-AC1E-40FE-93DA-D163CB20A7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375" y="1103039"/>
            <a:ext cx="4688477" cy="21358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Fumetto: rettangolo 7">
            <a:extLst>
              <a:ext uri="{FF2B5EF4-FFF2-40B4-BE49-F238E27FC236}">
                <a16:creationId xmlns:a16="http://schemas.microsoft.com/office/drawing/2014/main" id="{E26CCEEF-A01F-4C09-94BA-3157C250BE2C}"/>
              </a:ext>
            </a:extLst>
          </p:cNvPr>
          <p:cNvSpPr/>
          <p:nvPr/>
        </p:nvSpPr>
        <p:spPr>
          <a:xfrm>
            <a:off x="6171386" y="1760092"/>
            <a:ext cx="2307566" cy="1139699"/>
          </a:xfrm>
          <a:prstGeom prst="wedgeRectCallout">
            <a:avLst>
              <a:gd name="adj1" fmla="val -196146"/>
              <a:gd name="adj2" fmla="val -2498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Se vogliamo richiamare un cliente per cui è stata già fatta un’offerta  lo si può fare inserendo nome, cognome e codice fiscale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038220B-01AC-47E6-BE3F-CEE1DA418D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375" y="3608970"/>
            <a:ext cx="4688477" cy="23915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Fumetto: rettangolo 11">
            <a:extLst>
              <a:ext uri="{FF2B5EF4-FFF2-40B4-BE49-F238E27FC236}">
                <a16:creationId xmlns:a16="http://schemas.microsoft.com/office/drawing/2014/main" id="{81257468-C662-4C4B-A854-65685268AD63}"/>
              </a:ext>
            </a:extLst>
          </p:cNvPr>
          <p:cNvSpPr/>
          <p:nvPr/>
        </p:nvSpPr>
        <p:spPr>
          <a:xfrm>
            <a:off x="6171385" y="4118915"/>
            <a:ext cx="2467789" cy="1265826"/>
          </a:xfrm>
          <a:prstGeom prst="wedgeRectCallout">
            <a:avLst>
              <a:gd name="adj1" fmla="val -209795"/>
              <a:gd name="adj2" fmla="val -6064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Inserendo il Codice Contratto  Business (*), l’App farà un controllo e restituirà un ok o ko sulla base del raggiungimento o meno dei 5 contratti residenziali previsti per ogni contratto business firmato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9B32898-4D86-4545-8B5F-F80E0B5CA788}"/>
              </a:ext>
            </a:extLst>
          </p:cNvPr>
          <p:cNvSpPr/>
          <p:nvPr/>
        </p:nvSpPr>
        <p:spPr>
          <a:xfrm>
            <a:off x="5797345" y="5633330"/>
            <a:ext cx="25541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000" b="1" dirty="0"/>
              <a:t>(*) Per i codici contratto business sottoscritti con Apparound (es 000001/A6) non dovrà essere inserito lo «/». Il formato corretto del codice da inserire è 000001A6</a:t>
            </a:r>
          </a:p>
        </p:txBody>
      </p:sp>
    </p:spTree>
    <p:extLst>
      <p:ext uri="{BB962C8B-B14F-4D97-AF65-F5344CB8AC3E}">
        <p14:creationId xmlns:p14="http://schemas.microsoft.com/office/powerpoint/2010/main" val="2505911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AGENTE – Step 1: Creazione Offerta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48B3AEE-CA99-4E99-BBC5-98F10991DA3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-319" b="14596"/>
          <a:stretch/>
        </p:blipFill>
        <p:spPr>
          <a:xfrm>
            <a:off x="234375" y="1027403"/>
            <a:ext cx="4889771" cy="21323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Fumetto: rettangolo 9">
            <a:extLst>
              <a:ext uri="{FF2B5EF4-FFF2-40B4-BE49-F238E27FC236}">
                <a16:creationId xmlns:a16="http://schemas.microsoft.com/office/drawing/2014/main" id="{B2EEF9BB-2E3E-4A11-BB21-D436287F8427}"/>
              </a:ext>
            </a:extLst>
          </p:cNvPr>
          <p:cNvSpPr/>
          <p:nvPr/>
        </p:nvSpPr>
        <p:spPr>
          <a:xfrm>
            <a:off x="6171384" y="1265159"/>
            <a:ext cx="2454454" cy="1139699"/>
          </a:xfrm>
          <a:prstGeom prst="wedgeRectCallout">
            <a:avLst>
              <a:gd name="adj1" fmla="val -114738"/>
              <a:gd name="adj2" fmla="val 58478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Inserendo e-mail, numero di telefono, nome, cognome e codice fiscale l’app eseguirà una verifica sulla presenza o meno del codice fiscale il black list Sorgenia (*)</a:t>
            </a:r>
          </a:p>
          <a:p>
            <a:pPr algn="ctr"/>
            <a:endParaRPr lang="it-IT" sz="1200" b="1" dirty="0">
              <a:solidFill>
                <a:schemeClr val="tx1"/>
              </a:solidFill>
            </a:endParaRPr>
          </a:p>
        </p:txBody>
      </p:sp>
      <p:sp>
        <p:nvSpPr>
          <p:cNvPr id="13" name="Titolo 3">
            <a:extLst>
              <a:ext uri="{FF2B5EF4-FFF2-40B4-BE49-F238E27FC236}">
                <a16:creationId xmlns:a16="http://schemas.microsoft.com/office/drawing/2014/main" id="{33A6C1C1-DC6A-4D75-AEF7-63AAF0C37DC0}"/>
              </a:ext>
            </a:extLst>
          </p:cNvPr>
          <p:cNvSpPr txBox="1">
            <a:spLocks/>
          </p:cNvSpPr>
          <p:nvPr/>
        </p:nvSpPr>
        <p:spPr>
          <a:xfrm>
            <a:off x="6057839" y="2618980"/>
            <a:ext cx="2681545" cy="707876"/>
          </a:xfrm>
          <a:prstGeom prst="rect">
            <a:avLst/>
          </a:prstGeom>
        </p:spPr>
        <p:txBody>
          <a:bodyPr vert="horz" wrap="square" lIns="91429" tIns="45715" rIns="91429" bIns="45715" rtlCol="0" anchor="t" anchorCtr="0">
            <a:spAutoFit/>
          </a:bodyPr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rgbClr val="002339"/>
                </a:solidFill>
                <a:latin typeface="+mj-lt"/>
                <a:ea typeface="+mj-ea"/>
                <a:cs typeface="+mj-cs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alibri" pitchFamily="34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alibri" pitchFamily="34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alibri" pitchFamily="34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alibri" pitchFamily="34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alibri" pitchFamily="34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alibri" pitchFamily="34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alibri" pitchFamily="34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it-IT" sz="1000" dirty="0">
                <a:solidFill>
                  <a:schemeClr val="tx1"/>
                </a:solidFill>
              </a:rPr>
              <a:t>(*) i dati e-mail, numero di telefono, nome, cognome devono essere quelli del cliente che sottoscriverà il contratto. </a:t>
            </a:r>
          </a:p>
          <a:p>
            <a:endParaRPr lang="it-IT" sz="1000" dirty="0">
              <a:solidFill>
                <a:schemeClr val="tx1"/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E535D6A-98B9-4BBF-9743-6805303851D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0313" t="26296" r="2562" b="4631"/>
          <a:stretch/>
        </p:blipFill>
        <p:spPr>
          <a:xfrm>
            <a:off x="234375" y="3646194"/>
            <a:ext cx="4898179" cy="21844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Fumetto: rettangolo 11">
            <a:extLst>
              <a:ext uri="{FF2B5EF4-FFF2-40B4-BE49-F238E27FC236}">
                <a16:creationId xmlns:a16="http://schemas.microsoft.com/office/drawing/2014/main" id="{6E4C6814-A0D8-464E-8D17-69AE2C698730}"/>
              </a:ext>
            </a:extLst>
          </p:cNvPr>
          <p:cNvSpPr/>
          <p:nvPr/>
        </p:nvSpPr>
        <p:spPr>
          <a:xfrm>
            <a:off x="6512631" y="3913019"/>
            <a:ext cx="2307566" cy="1491848"/>
          </a:xfrm>
          <a:prstGeom prst="wedgeRectCallout">
            <a:avLst>
              <a:gd name="adj1" fmla="val -189266"/>
              <a:gd name="adj2" fmla="val 21885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All’inserimento del numero di telefono verrà effettuato un controllo, qualora il numero di telefono dovesse corrispondere a un numero presente nelle nostre anagrafiche agenti il numero non potrà essere utilizzato per la firma del contratto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3957E5F2-CA4D-4D9B-B1A7-0387AC58C8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928996">
            <a:off x="8278214" y="3389661"/>
            <a:ext cx="811919" cy="5139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9A02742F-17F2-4CB7-9D2E-BAB6A38F12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928996">
            <a:off x="3763215" y="116255"/>
            <a:ext cx="758464" cy="4801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69170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344061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AGENTE – Step 1: Creazione dell’offerta - Verifica Creditizia</a:t>
            </a:r>
          </a:p>
        </p:txBody>
      </p:sp>
      <p:sp>
        <p:nvSpPr>
          <p:cNvPr id="11" name="Fumetto: rettangolo 10">
            <a:extLst>
              <a:ext uri="{FF2B5EF4-FFF2-40B4-BE49-F238E27FC236}">
                <a16:creationId xmlns:a16="http://schemas.microsoft.com/office/drawing/2014/main" id="{C3EFBE8E-2CC3-4203-9375-F585E93CFB28}"/>
              </a:ext>
            </a:extLst>
          </p:cNvPr>
          <p:cNvSpPr/>
          <p:nvPr/>
        </p:nvSpPr>
        <p:spPr>
          <a:xfrm>
            <a:off x="474381" y="1381104"/>
            <a:ext cx="2454454" cy="1139699"/>
          </a:xfrm>
          <a:prstGeom prst="wedgeRectCallout">
            <a:avLst>
              <a:gd name="adj1" fmla="val 116987"/>
              <a:gd name="adj2" fmla="val 39223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Per effettuare la verifica creditizia sul codice fiscale inserito è necessario preliminarmente acconsentire all’informativa privacy e informativa SIC.</a:t>
            </a:r>
          </a:p>
          <a:p>
            <a:pPr algn="ctr"/>
            <a:r>
              <a:rPr lang="it-IT" sz="1200" b="1" dirty="0">
                <a:solidFill>
                  <a:schemeClr val="tx1"/>
                </a:solidFill>
              </a:rPr>
              <a:t>Le informative sono scaricabili</a:t>
            </a:r>
          </a:p>
        </p:txBody>
      </p:sp>
      <p:sp>
        <p:nvSpPr>
          <p:cNvPr id="17" name="Fumetto: rettangolo 16">
            <a:extLst>
              <a:ext uri="{FF2B5EF4-FFF2-40B4-BE49-F238E27FC236}">
                <a16:creationId xmlns:a16="http://schemas.microsoft.com/office/drawing/2014/main" id="{FE3C49A5-0D18-4F37-A1EA-1CA31DC7C425}"/>
              </a:ext>
            </a:extLst>
          </p:cNvPr>
          <p:cNvSpPr/>
          <p:nvPr/>
        </p:nvSpPr>
        <p:spPr>
          <a:xfrm>
            <a:off x="6505420" y="3876260"/>
            <a:ext cx="2307566" cy="1152940"/>
          </a:xfrm>
          <a:prstGeom prst="wedgeRectCallout">
            <a:avLst>
              <a:gd name="adj1" fmla="val -124643"/>
              <a:gd name="adj2" fmla="val 44252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Solo a seguito dell’inserimento del Flag sull’Informativa sarà possibile procedere alla Verifica creditizia. 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639E3EE-53D1-99E3-7DE4-CC49472701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3215" y="846589"/>
            <a:ext cx="4889771" cy="27240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5765602-F01E-8AF1-20B0-D2AC63CF5D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4" y="3429000"/>
            <a:ext cx="4889771" cy="27240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5231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41BE6332-7E9A-C691-2999-FCCF3D898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20" y="1385710"/>
            <a:ext cx="5911307" cy="32931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52704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6" imgW="270" imgH="270" progId="TCLayout.ActiveDocument.1">
                  <p:embed/>
                </p:oleObj>
              </mc:Choice>
              <mc:Fallback>
                <p:oleObj name="Diapositiva think-cell" r:id="rId6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208456" y="109272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AGENTE – Step 1: Creazione dell’offe </a:t>
            </a:r>
            <a:r>
              <a:rPr lang="it-IT" b="0" dirty="0" err="1"/>
              <a:t>rta</a:t>
            </a:r>
            <a:r>
              <a:rPr lang="it-IT" b="0" dirty="0"/>
              <a:t> - Verifica Creditizia </a:t>
            </a:r>
          </a:p>
        </p:txBody>
      </p:sp>
      <p:sp>
        <p:nvSpPr>
          <p:cNvPr id="17" name="Fumetto: rettangolo 16">
            <a:extLst>
              <a:ext uri="{FF2B5EF4-FFF2-40B4-BE49-F238E27FC236}">
                <a16:creationId xmlns:a16="http://schemas.microsoft.com/office/drawing/2014/main" id="{FE3C49A5-0D18-4F37-A1EA-1CA31DC7C425}"/>
              </a:ext>
            </a:extLst>
          </p:cNvPr>
          <p:cNvSpPr/>
          <p:nvPr/>
        </p:nvSpPr>
        <p:spPr>
          <a:xfrm>
            <a:off x="6718352" y="3515301"/>
            <a:ext cx="2160155" cy="2333193"/>
          </a:xfrm>
          <a:prstGeom prst="wedgeRectCallout">
            <a:avLst>
              <a:gd name="adj1" fmla="val -100526"/>
              <a:gd name="adj2" fmla="val -78639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Quando il         è blu valgono le regole previste dalla procedura CRIBIS        </a:t>
            </a:r>
          </a:p>
          <a:p>
            <a:pPr algn="ctr"/>
            <a:endParaRPr lang="it-IT" sz="1200" b="1" dirty="0">
              <a:solidFill>
                <a:schemeClr val="tx1"/>
              </a:solidFill>
            </a:endParaRPr>
          </a:p>
          <a:p>
            <a:pPr algn="ctr"/>
            <a:r>
              <a:rPr lang="it-IT" sz="1200" b="1" dirty="0">
                <a:solidFill>
                  <a:schemeClr val="tx1"/>
                </a:solidFill>
              </a:rPr>
              <a:t>Quando il «    » è verde il cliente è </a:t>
            </a:r>
            <a:r>
              <a:rPr lang="it-IT" sz="1200" b="1" dirty="0" err="1">
                <a:solidFill>
                  <a:schemeClr val="tx1"/>
                </a:solidFill>
              </a:rPr>
              <a:t>contrattualizzabile</a:t>
            </a:r>
            <a:endParaRPr lang="it-IT" sz="1200" b="1" dirty="0">
              <a:solidFill>
                <a:schemeClr val="tx1"/>
              </a:solidFill>
            </a:endParaRPr>
          </a:p>
          <a:p>
            <a:pPr algn="ctr"/>
            <a:r>
              <a:rPr lang="it-IT" sz="1200" b="1" dirty="0">
                <a:solidFill>
                  <a:schemeClr val="tx1"/>
                </a:solidFill>
              </a:rPr>
              <a:t>Quando il «    » è arancione valgono le regole previste dalla procedura </a:t>
            </a:r>
            <a:r>
              <a:rPr lang="it-IT" sz="1200" b="1" dirty="0" err="1">
                <a:solidFill>
                  <a:schemeClr val="tx1"/>
                </a:solidFill>
              </a:rPr>
              <a:t>Cribis</a:t>
            </a:r>
            <a:r>
              <a:rPr lang="it-IT" sz="12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it-IT" sz="1200" b="1" dirty="0">
                <a:solidFill>
                  <a:schemeClr val="tx1"/>
                </a:solidFill>
              </a:rPr>
              <a:t>Quando il «     » è rosso l’app bloccherà il caricamento del contratto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5FE3DE49-C570-4DD0-9E2B-8098EA4B9843}"/>
              </a:ext>
            </a:extLst>
          </p:cNvPr>
          <p:cNvSpPr/>
          <p:nvPr/>
        </p:nvSpPr>
        <p:spPr>
          <a:xfrm>
            <a:off x="7735611" y="4304792"/>
            <a:ext cx="173736" cy="155448"/>
          </a:xfrm>
          <a:prstGeom prst="ellipse">
            <a:avLst/>
          </a:prstGeom>
          <a:solidFill>
            <a:srgbClr val="7DB01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4620BB4A-645F-45A4-9CC8-2FAE8F86B686}"/>
              </a:ext>
            </a:extLst>
          </p:cNvPr>
          <p:cNvSpPr/>
          <p:nvPr/>
        </p:nvSpPr>
        <p:spPr>
          <a:xfrm>
            <a:off x="7669429" y="4678850"/>
            <a:ext cx="173736" cy="155448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4D4ABC50-1389-4069-872C-05128863F27A}"/>
              </a:ext>
            </a:extLst>
          </p:cNvPr>
          <p:cNvSpPr/>
          <p:nvPr/>
        </p:nvSpPr>
        <p:spPr>
          <a:xfrm>
            <a:off x="7640911" y="5224899"/>
            <a:ext cx="173736" cy="15544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BC2CEC15-FFA5-4ED7-91E9-68665DAA49CE}"/>
              </a:ext>
            </a:extLst>
          </p:cNvPr>
          <p:cNvSpPr/>
          <p:nvPr/>
        </p:nvSpPr>
        <p:spPr>
          <a:xfrm>
            <a:off x="5915297" y="216209"/>
            <a:ext cx="173736" cy="155448"/>
          </a:xfrm>
          <a:prstGeom prst="ellipse">
            <a:avLst/>
          </a:prstGeom>
          <a:solidFill>
            <a:srgbClr val="7DB01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62055394-6016-4544-AE95-2573A8D283B9}"/>
              </a:ext>
            </a:extLst>
          </p:cNvPr>
          <p:cNvSpPr/>
          <p:nvPr/>
        </p:nvSpPr>
        <p:spPr>
          <a:xfrm>
            <a:off x="6239259" y="216209"/>
            <a:ext cx="173736" cy="155448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F76DD515-2574-497C-925B-9B5E5ACFCD1B}"/>
              </a:ext>
            </a:extLst>
          </p:cNvPr>
          <p:cNvSpPr/>
          <p:nvPr/>
        </p:nvSpPr>
        <p:spPr>
          <a:xfrm>
            <a:off x="6563221" y="216209"/>
            <a:ext cx="173736" cy="15544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F7797873-16D2-4EDF-BDC7-D82C13E3E038}"/>
              </a:ext>
            </a:extLst>
          </p:cNvPr>
          <p:cNvSpPr/>
          <p:nvPr/>
        </p:nvSpPr>
        <p:spPr>
          <a:xfrm>
            <a:off x="7506444" y="3588847"/>
            <a:ext cx="173736" cy="155448"/>
          </a:xfrm>
          <a:prstGeom prst="ellipse">
            <a:avLst/>
          </a:prstGeom>
          <a:solidFill>
            <a:srgbClr val="0D97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  <a:highlight>
                <a:srgbClr val="000080"/>
              </a:highlight>
            </a:endParaRP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186B37D9-B96C-4C9E-8FC7-77F32062C57E}"/>
              </a:ext>
            </a:extLst>
          </p:cNvPr>
          <p:cNvSpPr/>
          <p:nvPr/>
        </p:nvSpPr>
        <p:spPr>
          <a:xfrm>
            <a:off x="6887183" y="216209"/>
            <a:ext cx="173736" cy="155448"/>
          </a:xfrm>
          <a:prstGeom prst="ellipse">
            <a:avLst/>
          </a:prstGeom>
          <a:solidFill>
            <a:srgbClr val="0D97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34173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5248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AGENTE – Step 1: Creazione Offerta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716BE55-0418-4DB5-BC4A-5DBEF66891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532" y="2077476"/>
            <a:ext cx="4799894" cy="24445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Fumetto: rettangolo 10">
            <a:extLst>
              <a:ext uri="{FF2B5EF4-FFF2-40B4-BE49-F238E27FC236}">
                <a16:creationId xmlns:a16="http://schemas.microsoft.com/office/drawing/2014/main" id="{906B0C96-2E9E-4D53-96DE-F6484FCEDC1C}"/>
              </a:ext>
            </a:extLst>
          </p:cNvPr>
          <p:cNvSpPr/>
          <p:nvPr/>
        </p:nvSpPr>
        <p:spPr>
          <a:xfrm>
            <a:off x="6252664" y="2077476"/>
            <a:ext cx="2454454" cy="1092984"/>
          </a:xfrm>
          <a:prstGeom prst="wedgeRectCallout">
            <a:avLst>
              <a:gd name="adj1" fmla="val -116303"/>
              <a:gd name="adj2" fmla="val 46884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L’indirizzo è normalizzato e si può andare avanti con la compilazione del contratto solo se il «puntatore» è verde</a:t>
            </a:r>
          </a:p>
        </p:txBody>
      </p:sp>
      <p:sp>
        <p:nvSpPr>
          <p:cNvPr id="16" name="Fumetto: rettangolo 15">
            <a:extLst>
              <a:ext uri="{FF2B5EF4-FFF2-40B4-BE49-F238E27FC236}">
                <a16:creationId xmlns:a16="http://schemas.microsoft.com/office/drawing/2014/main" id="{C4BA897F-FD8F-4CAF-A57E-54539B276011}"/>
              </a:ext>
            </a:extLst>
          </p:cNvPr>
          <p:cNvSpPr/>
          <p:nvPr/>
        </p:nvSpPr>
        <p:spPr>
          <a:xfrm>
            <a:off x="5328104" y="4706967"/>
            <a:ext cx="2454454" cy="1092984"/>
          </a:xfrm>
          <a:prstGeom prst="wedgeRectCallout">
            <a:avLst>
              <a:gd name="adj1" fmla="val -149418"/>
              <a:gd name="adj2" fmla="val -69311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Clicca «Componi offerta» per passare allo step 2</a:t>
            </a:r>
          </a:p>
        </p:txBody>
      </p:sp>
    </p:spTree>
    <p:extLst>
      <p:ext uri="{BB962C8B-B14F-4D97-AF65-F5344CB8AC3E}">
        <p14:creationId xmlns:p14="http://schemas.microsoft.com/office/powerpoint/2010/main" val="188356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327809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AGENTE – Step 2: Configuratore offerta residenziale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FFD9743-B6A8-45C1-BEBD-0EECF72B6ED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9771" t="5113" r="-10750" b="3770"/>
          <a:stretch/>
        </p:blipFill>
        <p:spPr>
          <a:xfrm>
            <a:off x="3645875" y="1018457"/>
            <a:ext cx="4888525" cy="25644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2F590AE6-A53C-447B-8864-194616394F6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-1" t="4572" r="1549" b="5359"/>
          <a:stretch/>
        </p:blipFill>
        <p:spPr>
          <a:xfrm>
            <a:off x="202401" y="4057934"/>
            <a:ext cx="4146079" cy="2133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5" name="Fumetto: rettangolo 24">
            <a:extLst>
              <a:ext uri="{FF2B5EF4-FFF2-40B4-BE49-F238E27FC236}">
                <a16:creationId xmlns:a16="http://schemas.microsoft.com/office/drawing/2014/main" id="{3D1560B1-7336-41BD-986F-3DBCAB4D1882}"/>
              </a:ext>
            </a:extLst>
          </p:cNvPr>
          <p:cNvSpPr/>
          <p:nvPr/>
        </p:nvSpPr>
        <p:spPr>
          <a:xfrm>
            <a:off x="279956" y="1216248"/>
            <a:ext cx="2718616" cy="1923926"/>
          </a:xfrm>
          <a:prstGeom prst="wedgeRectCallout">
            <a:avLst>
              <a:gd name="adj1" fmla="val 82321"/>
              <a:gd name="adj2" fmla="val -38150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 Seleziona: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it-IT" sz="1200" b="1" dirty="0">
                <a:solidFill>
                  <a:schemeClr val="tx1"/>
                </a:solidFill>
              </a:rPr>
              <a:t> «Dual –ENERGIA + GAS»  nel caso in cui si vuole contrattualizzare un punto ENERGIA e un punto GAS</a:t>
            </a:r>
          </a:p>
          <a:p>
            <a:pPr algn="ctr"/>
            <a:endParaRPr lang="it-IT" sz="1200" b="1" dirty="0">
              <a:solidFill>
                <a:schemeClr val="tx1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it-IT" sz="1200" b="1" dirty="0">
                <a:solidFill>
                  <a:schemeClr val="tx1"/>
                </a:solidFill>
              </a:rPr>
              <a:t>«Solo ENERGIA» o «Solo GAS» nel caso in cui si vuole contrattualizzare o uno o più punti ENERGIA o uno o più punti GAS</a:t>
            </a:r>
          </a:p>
        </p:txBody>
      </p:sp>
      <p:sp>
        <p:nvSpPr>
          <p:cNvPr id="27" name="Fumetto: rettangolo 26">
            <a:extLst>
              <a:ext uri="{FF2B5EF4-FFF2-40B4-BE49-F238E27FC236}">
                <a16:creationId xmlns:a16="http://schemas.microsoft.com/office/drawing/2014/main" id="{502021D8-64F6-4EC2-A5A8-A1F0E5C858D6}"/>
              </a:ext>
            </a:extLst>
          </p:cNvPr>
          <p:cNvSpPr/>
          <p:nvPr/>
        </p:nvSpPr>
        <p:spPr>
          <a:xfrm>
            <a:off x="5632905" y="4579806"/>
            <a:ext cx="2515415" cy="1170753"/>
          </a:xfrm>
          <a:prstGeom prst="wedgeRectCallout">
            <a:avLst>
              <a:gd name="adj1" fmla="val -99472"/>
              <a:gd name="adj2" fmla="val 72627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Completa il Carrello e clicca «AVANTI» per passare allo Step 3</a:t>
            </a:r>
          </a:p>
        </p:txBody>
      </p:sp>
    </p:spTree>
    <p:extLst>
      <p:ext uri="{BB962C8B-B14F-4D97-AF65-F5344CB8AC3E}">
        <p14:creationId xmlns:p14="http://schemas.microsoft.com/office/powerpoint/2010/main" val="255020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324184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AGENTE – Step 3: Riepilogo offerta e inserimento dati di fornitura POD/PDR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2114F87-028F-4F11-87E6-7519A43345B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061" b="5853"/>
          <a:stretch/>
        </p:blipFill>
        <p:spPr>
          <a:xfrm>
            <a:off x="2471514" y="2381695"/>
            <a:ext cx="6341472" cy="31777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5" name="Fumetto: rettangolo 44">
            <a:extLst>
              <a:ext uri="{FF2B5EF4-FFF2-40B4-BE49-F238E27FC236}">
                <a16:creationId xmlns:a16="http://schemas.microsoft.com/office/drawing/2014/main" id="{C5927842-54DE-42BF-8653-C3C495DCF767}"/>
              </a:ext>
            </a:extLst>
          </p:cNvPr>
          <p:cNvSpPr/>
          <p:nvPr/>
        </p:nvSpPr>
        <p:spPr>
          <a:xfrm>
            <a:off x="331014" y="3858447"/>
            <a:ext cx="1680666" cy="886274"/>
          </a:xfrm>
          <a:prstGeom prst="wedgeRectCallout">
            <a:avLst>
              <a:gd name="adj1" fmla="val 79673"/>
              <a:gd name="adj2" fmla="val 37089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Dati di fornitura mancanti. Cliccare e inserire i dati relativi a POD/PDR</a:t>
            </a:r>
          </a:p>
        </p:txBody>
      </p:sp>
      <p:sp>
        <p:nvSpPr>
          <p:cNvPr id="46" name="Fumetto: rettangolo 45">
            <a:extLst>
              <a:ext uri="{FF2B5EF4-FFF2-40B4-BE49-F238E27FC236}">
                <a16:creationId xmlns:a16="http://schemas.microsoft.com/office/drawing/2014/main" id="{53FB110F-F196-4D64-A23D-3715940C1793}"/>
              </a:ext>
            </a:extLst>
          </p:cNvPr>
          <p:cNvSpPr/>
          <p:nvPr/>
        </p:nvSpPr>
        <p:spPr>
          <a:xfrm>
            <a:off x="4572000" y="1129955"/>
            <a:ext cx="2056268" cy="886274"/>
          </a:xfrm>
          <a:prstGeom prst="wedgeRectCallout">
            <a:avLst>
              <a:gd name="adj1" fmla="val -95190"/>
              <a:gd name="adj2" fmla="val 249168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Riepilogo offerta</a:t>
            </a:r>
            <a:endParaRPr lang="it-IT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53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323069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AGENTE– Step 3: Inserimento dati di fornitura relativi al POD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704B7BAD-D95B-4A60-81A8-0F4C676E330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2445" r="-2444" b="32519"/>
          <a:stretch/>
        </p:blipFill>
        <p:spPr>
          <a:xfrm>
            <a:off x="340185" y="2593525"/>
            <a:ext cx="5267593" cy="13028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34498126-AE05-4BEE-8146-B721D170C7F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28568" b="6444"/>
          <a:stretch/>
        </p:blipFill>
        <p:spPr>
          <a:xfrm>
            <a:off x="341070" y="3992879"/>
            <a:ext cx="5267592" cy="2032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Fumetto: rettangolo 15">
            <a:extLst>
              <a:ext uri="{FF2B5EF4-FFF2-40B4-BE49-F238E27FC236}">
                <a16:creationId xmlns:a16="http://schemas.microsoft.com/office/drawing/2014/main" id="{E074C02C-E143-4C37-B81A-4C3C02507ADF}"/>
              </a:ext>
            </a:extLst>
          </p:cNvPr>
          <p:cNvSpPr/>
          <p:nvPr/>
        </p:nvSpPr>
        <p:spPr>
          <a:xfrm>
            <a:off x="6090108" y="853440"/>
            <a:ext cx="2692398" cy="5171439"/>
          </a:xfrm>
          <a:prstGeom prst="wedgeRectCallout">
            <a:avLst>
              <a:gd name="adj1" fmla="val 42931"/>
              <a:gd name="adj2" fmla="val -22110"/>
            </a:avLst>
          </a:prstGeom>
          <a:solidFill>
            <a:srgbClr val="F5C20F"/>
          </a:solidFill>
          <a:ln w="952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Compila tutte le sezioni previste in questo Step. </a:t>
            </a:r>
          </a:p>
          <a:p>
            <a:pPr algn="ctr"/>
            <a:r>
              <a:rPr lang="it-IT" sz="1200" b="1" dirty="0">
                <a:solidFill>
                  <a:schemeClr val="tx1"/>
                </a:solidFill>
              </a:rPr>
              <a:t>In particolate: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it-IT" sz="1200" b="1" dirty="0">
                <a:solidFill>
                  <a:schemeClr val="tx1"/>
                </a:solidFill>
              </a:rPr>
              <a:t> «Dati Operazione»: è possibile selezionare </a:t>
            </a:r>
            <a:r>
              <a:rPr lang="it-IT" sz="1200" b="1" dirty="0" err="1">
                <a:solidFill>
                  <a:schemeClr val="tx1"/>
                </a:solidFill>
              </a:rPr>
              <a:t>swicth</a:t>
            </a:r>
            <a:r>
              <a:rPr lang="it-IT" sz="1200" b="1" dirty="0">
                <a:solidFill>
                  <a:schemeClr val="tx1"/>
                </a:solidFill>
              </a:rPr>
              <a:t>/nuovo allaccio/riattivazione/</a:t>
            </a:r>
            <a:r>
              <a:rPr lang="it-IT" sz="1200" b="1" dirty="0">
                <a:solidFill>
                  <a:srgbClr val="FF0000"/>
                </a:solidFill>
              </a:rPr>
              <a:t>switch in con voltura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it-IT" sz="1200" b="1" dirty="0">
                <a:solidFill>
                  <a:schemeClr val="tx1"/>
                </a:solidFill>
              </a:rPr>
              <a:t>«Indirizzo di fornitura» se l’indirizzo di residenza inserito allo Step 1  è uguale all’indirizzo di fornitura inserisci il flag «residenziale», in caso contrario compilare con l’indirizzo e clicca «normalizza indirizzo»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it-IT" sz="1200" b="1" dirty="0">
                <a:solidFill>
                  <a:schemeClr val="tx1"/>
                </a:solidFill>
              </a:rPr>
              <a:t>«Dettagli fornitura»: compila tutti i box previsti, all’inserimento del POD verrà verificato se il POD è già «in uso» nella customer base di Sorgenia</a:t>
            </a:r>
          </a:p>
          <a:p>
            <a:pPr algn="ctr"/>
            <a:endParaRPr lang="it-IT" sz="1200" b="1" dirty="0">
              <a:solidFill>
                <a:schemeClr val="tx1"/>
              </a:solidFill>
            </a:endParaRPr>
          </a:p>
          <a:p>
            <a:pPr algn="ctr"/>
            <a:r>
              <a:rPr lang="it-IT" sz="1200" b="1" dirty="0">
                <a:solidFill>
                  <a:schemeClr val="tx1"/>
                </a:solidFill>
              </a:rPr>
              <a:t>Dopo aver compilato tutti i dati clicca su «SALVA»</a:t>
            </a:r>
          </a:p>
          <a:p>
            <a:pPr algn="ctr"/>
            <a:endParaRPr lang="it-IT" sz="1200" b="1" dirty="0">
              <a:solidFill>
                <a:schemeClr val="tx1"/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EAFDA89-623F-41A5-B509-55B616FFB83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0583" t="20519" r="21000" b="48123"/>
          <a:stretch/>
        </p:blipFill>
        <p:spPr>
          <a:xfrm>
            <a:off x="159343" y="932368"/>
            <a:ext cx="5689600" cy="16128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FE25FE00-B324-493E-8324-F3725C7DFF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928996">
            <a:off x="4833974" y="736537"/>
            <a:ext cx="811919" cy="5139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010CB9A2-6642-4D79-84CC-B0168604DA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928996">
            <a:off x="6143975" y="184158"/>
            <a:ext cx="811919" cy="5139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7220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7213462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AGENTE– Step 3: Inserimento dati di fornitura relativi al PDR</a:t>
            </a:r>
          </a:p>
        </p:txBody>
      </p:sp>
      <p:sp>
        <p:nvSpPr>
          <p:cNvPr id="16" name="Fumetto: rettangolo 15">
            <a:extLst>
              <a:ext uri="{FF2B5EF4-FFF2-40B4-BE49-F238E27FC236}">
                <a16:creationId xmlns:a16="http://schemas.microsoft.com/office/drawing/2014/main" id="{E074C02C-E143-4C37-B81A-4C3C02507ADF}"/>
              </a:ext>
            </a:extLst>
          </p:cNvPr>
          <p:cNvSpPr/>
          <p:nvPr/>
        </p:nvSpPr>
        <p:spPr>
          <a:xfrm>
            <a:off x="6035040" y="904241"/>
            <a:ext cx="2777946" cy="5275234"/>
          </a:xfrm>
          <a:prstGeom prst="wedgeRectCallout">
            <a:avLst>
              <a:gd name="adj1" fmla="val 42931"/>
              <a:gd name="adj2" fmla="val -22110"/>
            </a:avLst>
          </a:prstGeom>
          <a:solidFill>
            <a:srgbClr val="F5C20F"/>
          </a:solidFill>
          <a:ln w="9525"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Compila tutte le sezioni proviste in questo Step. </a:t>
            </a:r>
          </a:p>
          <a:p>
            <a:pPr algn="ctr"/>
            <a:r>
              <a:rPr lang="it-IT" sz="1200" b="1" dirty="0">
                <a:solidFill>
                  <a:schemeClr val="tx1"/>
                </a:solidFill>
              </a:rPr>
              <a:t>In particolate: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it-IT" sz="1200" b="1" dirty="0">
                <a:solidFill>
                  <a:schemeClr val="tx1"/>
                </a:solidFill>
              </a:rPr>
              <a:t> «Dati Operazione»: è possibile selezionare </a:t>
            </a:r>
            <a:r>
              <a:rPr lang="it-IT" sz="1200" b="1" dirty="0" err="1">
                <a:solidFill>
                  <a:schemeClr val="tx1"/>
                </a:solidFill>
              </a:rPr>
              <a:t>swicth</a:t>
            </a:r>
            <a:r>
              <a:rPr lang="it-IT" sz="1200" b="1" dirty="0">
                <a:solidFill>
                  <a:schemeClr val="tx1"/>
                </a:solidFill>
              </a:rPr>
              <a:t>/nuovo allaccio/riattivazione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it-IT" sz="1200" b="1" dirty="0">
                <a:solidFill>
                  <a:schemeClr val="tx1"/>
                </a:solidFill>
              </a:rPr>
              <a:t>«Voltura»: è possibile selezionare nessuna/voltura residenziale/voltura business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it-IT" sz="1200" b="1" dirty="0">
                <a:solidFill>
                  <a:schemeClr val="tx1"/>
                </a:solidFill>
              </a:rPr>
              <a:t>«Indirizzo di fornitura» se l’indirizzo di residenza inserito allo Step 1  è uguale all’indirizzo di fornitura inserisci il flag «residenziale», in caso contrario compila con l’indirizzo e clicca su «normalizza indirizzo»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it-IT" sz="1200" b="1" dirty="0">
                <a:solidFill>
                  <a:schemeClr val="tx1"/>
                </a:solidFill>
              </a:rPr>
              <a:t>«Dettagli fornitura»: compila tutti i box previsti, all’inserimento del PDR verrà verificato se il PDR è già «in uso» nella customer base di Sorgenia</a:t>
            </a:r>
          </a:p>
          <a:p>
            <a:pPr algn="ctr"/>
            <a:endParaRPr lang="it-IT" sz="1200" b="1" dirty="0">
              <a:solidFill>
                <a:schemeClr val="tx1"/>
              </a:solidFill>
            </a:endParaRPr>
          </a:p>
          <a:p>
            <a:pPr algn="ctr"/>
            <a:r>
              <a:rPr lang="it-IT" sz="1200" b="1" dirty="0">
                <a:solidFill>
                  <a:schemeClr val="tx1"/>
                </a:solidFill>
              </a:rPr>
              <a:t>Dopo aver compilato tutti i dati clicca su «SALVA»</a:t>
            </a:r>
          </a:p>
          <a:p>
            <a:pPr algn="ctr"/>
            <a:endParaRPr lang="it-IT" sz="1200" b="1" dirty="0">
              <a:solidFill>
                <a:schemeClr val="tx1"/>
              </a:solidFill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34D3BF63-4C68-4726-AC5C-9256DABB2C6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4308" b="52860"/>
          <a:stretch/>
        </p:blipFill>
        <p:spPr>
          <a:xfrm>
            <a:off x="244535" y="981074"/>
            <a:ext cx="5312985" cy="11852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5A300FA1-11D9-4281-9553-F7A02B2E739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21654" b="32655"/>
          <a:stretch/>
        </p:blipFill>
        <p:spPr>
          <a:xfrm>
            <a:off x="244534" y="2369446"/>
            <a:ext cx="5312985" cy="1334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92C4BC8C-20A5-4460-A119-A7E562E5EE4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6321" r="-6" b="6642"/>
          <a:stretch/>
        </p:blipFill>
        <p:spPr>
          <a:xfrm>
            <a:off x="244534" y="3821466"/>
            <a:ext cx="5312985" cy="23021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7705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082949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AGENTE– Step 3: Dati di fornitura inseriti correttamente - Offerta Definitiva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41BE927-AF38-4D99-A9D7-DEA3D8AB8C7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4074" b="5852"/>
          <a:stretch/>
        </p:blipFill>
        <p:spPr>
          <a:xfrm>
            <a:off x="2797164" y="1564122"/>
            <a:ext cx="6056916" cy="30688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Fumetto: rettangolo 9">
            <a:extLst>
              <a:ext uri="{FF2B5EF4-FFF2-40B4-BE49-F238E27FC236}">
                <a16:creationId xmlns:a16="http://schemas.microsoft.com/office/drawing/2014/main" id="{7D444004-2F6A-49F1-9238-309897FBA5B9}"/>
              </a:ext>
            </a:extLst>
          </p:cNvPr>
          <p:cNvSpPr/>
          <p:nvPr/>
        </p:nvSpPr>
        <p:spPr>
          <a:xfrm>
            <a:off x="331014" y="2542726"/>
            <a:ext cx="1680666" cy="886274"/>
          </a:xfrm>
          <a:prstGeom prst="wedgeRectCallout">
            <a:avLst>
              <a:gd name="adj1" fmla="val 95995"/>
              <a:gd name="adj2" fmla="val 82943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Dati di fornitura OK</a:t>
            </a:r>
          </a:p>
        </p:txBody>
      </p:sp>
      <p:sp>
        <p:nvSpPr>
          <p:cNvPr id="12" name="Fumetto: rettangolo 11">
            <a:extLst>
              <a:ext uri="{FF2B5EF4-FFF2-40B4-BE49-F238E27FC236}">
                <a16:creationId xmlns:a16="http://schemas.microsoft.com/office/drawing/2014/main" id="{92957B32-22D8-4790-8B98-C0A7A9C21ED7}"/>
              </a:ext>
            </a:extLst>
          </p:cNvPr>
          <p:cNvSpPr/>
          <p:nvPr/>
        </p:nvSpPr>
        <p:spPr>
          <a:xfrm>
            <a:off x="4477960" y="5123366"/>
            <a:ext cx="2247960" cy="901514"/>
          </a:xfrm>
          <a:prstGeom prst="wedgeRectCallout">
            <a:avLst>
              <a:gd name="adj1" fmla="val 95018"/>
              <a:gd name="adj2" fmla="val -95930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Possibilità di vedere in </a:t>
            </a:r>
            <a:r>
              <a:rPr lang="it-IT" sz="1200" b="1" dirty="0">
                <a:solidFill>
                  <a:schemeClr val="tx1"/>
                </a:solidFill>
              </a:rPr>
              <a:t>anteprima</a:t>
            </a:r>
            <a:r>
              <a:rPr lang="it-IT" sz="1200" dirty="0">
                <a:solidFill>
                  <a:schemeClr val="tx1"/>
                </a:solidFill>
              </a:rPr>
              <a:t> l’offerta e di </a:t>
            </a:r>
            <a:r>
              <a:rPr lang="it-IT" sz="1200" b="1" dirty="0">
                <a:solidFill>
                  <a:schemeClr val="tx1"/>
                </a:solidFill>
              </a:rPr>
              <a:t>inviarla per E-mail </a:t>
            </a:r>
            <a:r>
              <a:rPr lang="it-IT" sz="1200" dirty="0">
                <a:solidFill>
                  <a:schemeClr val="tx1"/>
                </a:solidFill>
              </a:rPr>
              <a:t>al cliente.</a:t>
            </a:r>
          </a:p>
          <a:p>
            <a:pPr algn="ctr"/>
            <a:r>
              <a:rPr lang="it-IT" sz="1200" dirty="0">
                <a:solidFill>
                  <a:schemeClr val="tx1"/>
                </a:solidFill>
              </a:rPr>
              <a:t>Oppure clicca </a:t>
            </a:r>
            <a:r>
              <a:rPr lang="it-IT" sz="1200" b="1" dirty="0">
                <a:solidFill>
                  <a:schemeClr val="tx1"/>
                </a:solidFill>
              </a:rPr>
              <a:t>«Rendi Definitiva»</a:t>
            </a:r>
          </a:p>
        </p:txBody>
      </p:sp>
    </p:spTree>
    <p:extLst>
      <p:ext uri="{BB962C8B-B14F-4D97-AF65-F5344CB8AC3E}">
        <p14:creationId xmlns:p14="http://schemas.microsoft.com/office/powerpoint/2010/main" val="354876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39776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646321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AGENTE– Step 3: Dati di fornitura inseriti correttamente  Allega documenti- Offerta Definitiva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0D03C74-CA36-4617-B750-ED16416E08F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2803" r="902" b="5035"/>
          <a:stretch/>
        </p:blipFill>
        <p:spPr>
          <a:xfrm>
            <a:off x="996778" y="1062682"/>
            <a:ext cx="6606747" cy="30811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Rettangolo 17">
            <a:extLst>
              <a:ext uri="{FF2B5EF4-FFF2-40B4-BE49-F238E27FC236}">
                <a16:creationId xmlns:a16="http://schemas.microsoft.com/office/drawing/2014/main" id="{4FE1CA12-E4D5-4555-9D5F-9FFF2CE86DBC}"/>
              </a:ext>
            </a:extLst>
          </p:cNvPr>
          <p:cNvSpPr/>
          <p:nvPr/>
        </p:nvSpPr>
        <p:spPr>
          <a:xfrm>
            <a:off x="329892" y="4656149"/>
            <a:ext cx="3210026" cy="750512"/>
          </a:xfrm>
          <a:prstGeom prst="rect">
            <a:avLst/>
          </a:prstGeom>
          <a:solidFill>
            <a:srgbClr val="F5C20F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rgbClr val="FF0000"/>
                </a:solidFill>
              </a:rPr>
              <a:t>IMPORTANTE: in caso di Switching con voltura elettrico è necessario inserire il documento «Dichiarazione legittimo possesso»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9" name="Fumetto: rettangolo 18">
            <a:extLst>
              <a:ext uri="{FF2B5EF4-FFF2-40B4-BE49-F238E27FC236}">
                <a16:creationId xmlns:a16="http://schemas.microsoft.com/office/drawing/2014/main" id="{A9CF052B-E6DD-45D6-8A35-4551C7783F66}"/>
              </a:ext>
            </a:extLst>
          </p:cNvPr>
          <p:cNvSpPr/>
          <p:nvPr/>
        </p:nvSpPr>
        <p:spPr>
          <a:xfrm>
            <a:off x="4840425" y="4955904"/>
            <a:ext cx="2247960" cy="901514"/>
          </a:xfrm>
          <a:prstGeom prst="wedgeRectCallout">
            <a:avLst>
              <a:gd name="adj1" fmla="val -84913"/>
              <a:gd name="adj2" fmla="val -205583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E’ possibile caricare il documento di identità del cliente e la fattura </a:t>
            </a:r>
            <a:endParaRPr lang="it-IT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558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511820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52266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AGENTE– Step 3: Offerta Definitiva, invia e-mail al cliente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9429F762-9C2C-4FF9-9CA3-41D7C97A39F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062" b="6049"/>
          <a:stretch/>
        </p:blipFill>
        <p:spPr>
          <a:xfrm>
            <a:off x="142935" y="1263231"/>
            <a:ext cx="4369833" cy="21849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Fumetto: rettangolo 10">
            <a:extLst>
              <a:ext uri="{FF2B5EF4-FFF2-40B4-BE49-F238E27FC236}">
                <a16:creationId xmlns:a16="http://schemas.microsoft.com/office/drawing/2014/main" id="{873B09AC-581E-4396-A522-0FC16E94EC05}"/>
              </a:ext>
            </a:extLst>
          </p:cNvPr>
          <p:cNvSpPr/>
          <p:nvPr/>
        </p:nvSpPr>
        <p:spPr>
          <a:xfrm>
            <a:off x="4758451" y="1785839"/>
            <a:ext cx="3938509" cy="987841"/>
          </a:xfrm>
          <a:prstGeom prst="wedgeRectCallout">
            <a:avLst>
              <a:gd name="adj1" fmla="val 42931"/>
              <a:gd name="adj2" fmla="val -22110"/>
            </a:avLst>
          </a:prstGeom>
          <a:solidFill>
            <a:srgbClr val="F5C20F"/>
          </a:solidFill>
          <a:ln w="952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Cliccando su «VEDI/INVIA» si potrà visualizzare l’offerta e decidere se inviarla al cliente per la firma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C673CB8-8DBE-4DC3-8A04-B61DD2812D3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-1163" t="5505" r="8560" b="10803"/>
          <a:stretch/>
        </p:blipFill>
        <p:spPr>
          <a:xfrm>
            <a:off x="4512768" y="3789191"/>
            <a:ext cx="4411978" cy="24065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Fumetto: rettangolo 13">
            <a:extLst>
              <a:ext uri="{FF2B5EF4-FFF2-40B4-BE49-F238E27FC236}">
                <a16:creationId xmlns:a16="http://schemas.microsoft.com/office/drawing/2014/main" id="{213ACA5D-7BD8-47A5-BB44-3ACCCD4488F4}"/>
              </a:ext>
            </a:extLst>
          </p:cNvPr>
          <p:cNvSpPr/>
          <p:nvPr/>
        </p:nvSpPr>
        <p:spPr>
          <a:xfrm>
            <a:off x="4749502" y="1785839"/>
            <a:ext cx="3938509" cy="987841"/>
          </a:xfrm>
          <a:prstGeom prst="wedgeRectCallout">
            <a:avLst>
              <a:gd name="adj1" fmla="val 42931"/>
              <a:gd name="adj2" fmla="val -22110"/>
            </a:avLst>
          </a:prstGeom>
          <a:solidFill>
            <a:srgbClr val="F5C20F"/>
          </a:solidFill>
          <a:ln w="952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Cliccando su «VEDI/INVIA» si potrà visualizzare l’offerta e decidere se inviarla al cliente per la firma</a:t>
            </a:r>
          </a:p>
        </p:txBody>
      </p:sp>
      <p:sp>
        <p:nvSpPr>
          <p:cNvPr id="15" name="Fumetto: rettangolo 14">
            <a:extLst>
              <a:ext uri="{FF2B5EF4-FFF2-40B4-BE49-F238E27FC236}">
                <a16:creationId xmlns:a16="http://schemas.microsoft.com/office/drawing/2014/main" id="{803FAD18-D4B8-47D9-8736-B3615E221482}"/>
              </a:ext>
            </a:extLst>
          </p:cNvPr>
          <p:cNvSpPr/>
          <p:nvPr/>
        </p:nvSpPr>
        <p:spPr>
          <a:xfrm>
            <a:off x="219254" y="4498559"/>
            <a:ext cx="3938509" cy="987841"/>
          </a:xfrm>
          <a:prstGeom prst="wedgeRectCallout">
            <a:avLst>
              <a:gd name="adj1" fmla="val 42931"/>
              <a:gd name="adj2" fmla="val -22110"/>
            </a:avLst>
          </a:prstGeom>
          <a:solidFill>
            <a:srgbClr val="F5C20F"/>
          </a:solidFill>
          <a:ln w="952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Rendere definitiva l’offerta.</a:t>
            </a:r>
          </a:p>
          <a:p>
            <a:pPr algn="ctr"/>
            <a:r>
              <a:rPr lang="it-IT" sz="1200" b="1" dirty="0">
                <a:solidFill>
                  <a:schemeClr val="tx1"/>
                </a:solidFill>
              </a:rPr>
              <a:t>Prima dell’invio dell’offerta al cliente apparirà il messaggio «seleziona i contenuti che vuoi includere nel documento».</a:t>
            </a:r>
          </a:p>
          <a:p>
            <a:pPr algn="ctr"/>
            <a:r>
              <a:rPr lang="it-IT" sz="1200" b="1" dirty="0">
                <a:solidFill>
                  <a:schemeClr val="tx1"/>
                </a:solidFill>
              </a:rPr>
              <a:t>Inserendo il flag si darà al cliente la possibilità di scaricare le </a:t>
            </a:r>
            <a:r>
              <a:rPr lang="it-IT" sz="1200" b="1" dirty="0" err="1">
                <a:solidFill>
                  <a:schemeClr val="tx1"/>
                </a:solidFill>
              </a:rPr>
              <a:t>cte</a:t>
            </a:r>
            <a:r>
              <a:rPr lang="it-IT" sz="1200" b="1" dirty="0">
                <a:solidFill>
                  <a:schemeClr val="tx1"/>
                </a:solidFill>
              </a:rPr>
              <a:t> prima della firma del contratto </a:t>
            </a:r>
          </a:p>
        </p:txBody>
      </p:sp>
    </p:spTree>
    <p:extLst>
      <p:ext uri="{BB962C8B-B14F-4D97-AF65-F5344CB8AC3E}">
        <p14:creationId xmlns:p14="http://schemas.microsoft.com/office/powerpoint/2010/main" val="90875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385903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CLIENTE – Step 4 Ricezione e-mail e autenticazione su Interactive Tools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DFDDAF7-4EA1-4387-9D2A-2E38B51E8ED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" t="22445" r="-1667" b="5852"/>
          <a:stretch/>
        </p:blipFill>
        <p:spPr>
          <a:xfrm>
            <a:off x="215840" y="1330961"/>
            <a:ext cx="4569520" cy="18128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Fumetto: rettangolo 8">
            <a:extLst>
              <a:ext uri="{FF2B5EF4-FFF2-40B4-BE49-F238E27FC236}">
                <a16:creationId xmlns:a16="http://schemas.microsoft.com/office/drawing/2014/main" id="{13CA5A17-066E-4834-B2D0-4DA29ED04CEC}"/>
              </a:ext>
            </a:extLst>
          </p:cNvPr>
          <p:cNvSpPr/>
          <p:nvPr/>
        </p:nvSpPr>
        <p:spPr>
          <a:xfrm>
            <a:off x="5339894" y="1506406"/>
            <a:ext cx="3103066" cy="1236794"/>
          </a:xfrm>
          <a:prstGeom prst="wedgeRectCallout">
            <a:avLst>
              <a:gd name="adj1" fmla="val -125088"/>
              <a:gd name="adj2" fmla="val 75259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Cliccando su «CLICCA QUI» il cliente accederà su Interactive Tools per finalizzare il contratto</a:t>
            </a:r>
          </a:p>
        </p:txBody>
      </p:sp>
      <p:sp>
        <p:nvSpPr>
          <p:cNvPr id="13" name="Fumetto: rettangolo 12">
            <a:extLst>
              <a:ext uri="{FF2B5EF4-FFF2-40B4-BE49-F238E27FC236}">
                <a16:creationId xmlns:a16="http://schemas.microsoft.com/office/drawing/2014/main" id="{DCF399FF-3245-4A38-8ADD-694DA8A71CEE}"/>
              </a:ext>
            </a:extLst>
          </p:cNvPr>
          <p:cNvSpPr/>
          <p:nvPr/>
        </p:nvSpPr>
        <p:spPr>
          <a:xfrm>
            <a:off x="215840" y="4198687"/>
            <a:ext cx="3103066" cy="1236794"/>
          </a:xfrm>
          <a:prstGeom prst="wedgeRectCallout">
            <a:avLst>
              <a:gd name="adj1" fmla="val 96902"/>
              <a:gd name="adj2" fmla="val -10175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Per accedere alla propria offerta il cliente deve prima di tutto prendere visione dell’informativa e poi autenticarsi. L’autenticazione avviene tramite l’inserimento del proprio numero di cellulare ed è prevista solo al primo accesso. 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5065C0D-2AAA-88E8-26D0-E316D629E3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0216" y="3620879"/>
            <a:ext cx="4502770" cy="23924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41802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044793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CLIENTE – Step 4 Interactive Tools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8673545C-5856-45E0-B2CC-C3F2C8EDD68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1" t="9605" r="1333" b="28371"/>
          <a:stretch/>
        </p:blipFill>
        <p:spPr>
          <a:xfrm>
            <a:off x="214055" y="1078510"/>
            <a:ext cx="5699065" cy="20152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CBBB7B03-0261-4CEA-98DE-1D6E959AA9B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1975" r="1333" b="5655"/>
          <a:stretch/>
        </p:blipFill>
        <p:spPr>
          <a:xfrm>
            <a:off x="214055" y="3246120"/>
            <a:ext cx="5715121" cy="26837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Fumetto: rettangolo 13">
            <a:extLst>
              <a:ext uri="{FF2B5EF4-FFF2-40B4-BE49-F238E27FC236}">
                <a16:creationId xmlns:a16="http://schemas.microsoft.com/office/drawing/2014/main" id="{2976F770-6FC4-4118-ABA7-24C0F593511E}"/>
              </a:ext>
            </a:extLst>
          </p:cNvPr>
          <p:cNvSpPr/>
          <p:nvPr/>
        </p:nvSpPr>
        <p:spPr>
          <a:xfrm>
            <a:off x="6237547" y="1288768"/>
            <a:ext cx="2692398" cy="2092961"/>
          </a:xfrm>
          <a:prstGeom prst="wedgeRectCallout">
            <a:avLst>
              <a:gd name="adj1" fmla="val 42931"/>
              <a:gd name="adj2" fmla="val -22110"/>
            </a:avLst>
          </a:prstGeom>
          <a:solidFill>
            <a:srgbClr val="F5C20F"/>
          </a:solidFill>
          <a:ln w="952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Il questo Step il cliente può:</a:t>
            </a:r>
          </a:p>
          <a:p>
            <a:pPr marL="228600" indent="-228600" algn="ctr">
              <a:buAutoNum type="arabicPeriod"/>
            </a:pPr>
            <a:r>
              <a:rPr lang="it-IT" sz="1200" b="1" dirty="0">
                <a:solidFill>
                  <a:schemeClr val="tx1"/>
                </a:solidFill>
              </a:rPr>
              <a:t>Scaricare l’offerta</a:t>
            </a:r>
          </a:p>
          <a:p>
            <a:pPr marL="228600" indent="-228600" algn="ctr">
              <a:buAutoNum type="arabicPeriod"/>
            </a:pPr>
            <a:r>
              <a:rPr lang="it-IT" sz="1200" b="1" dirty="0">
                <a:solidFill>
                  <a:schemeClr val="tx1"/>
                </a:solidFill>
              </a:rPr>
              <a:t>Scaricare le </a:t>
            </a:r>
            <a:r>
              <a:rPr lang="it-IT" sz="1200" b="1" dirty="0" err="1">
                <a:solidFill>
                  <a:schemeClr val="tx1"/>
                </a:solidFill>
              </a:rPr>
              <a:t>cte</a:t>
            </a:r>
            <a:endParaRPr lang="it-IT" sz="1200" b="1" dirty="0">
              <a:solidFill>
                <a:schemeClr val="tx1"/>
              </a:solidFill>
            </a:endParaRPr>
          </a:p>
          <a:p>
            <a:pPr marL="228600" indent="-228600" algn="ctr">
              <a:buAutoNum type="arabicPeriod"/>
            </a:pPr>
            <a:r>
              <a:rPr lang="it-IT" sz="1200" b="1" dirty="0">
                <a:solidFill>
                  <a:schemeClr val="tx1"/>
                </a:solidFill>
              </a:rPr>
              <a:t>Cliccare su «Prepara Contratto»</a:t>
            </a:r>
          </a:p>
        </p:txBody>
      </p:sp>
    </p:spTree>
    <p:extLst>
      <p:ext uri="{BB962C8B-B14F-4D97-AF65-F5344CB8AC3E}">
        <p14:creationId xmlns:p14="http://schemas.microsoft.com/office/powerpoint/2010/main" val="220832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983093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CLIENTE – Step 4 Prepara - Genera Contratto, invio link per firma remota</a:t>
            </a:r>
          </a:p>
        </p:txBody>
      </p:sp>
      <p:sp>
        <p:nvSpPr>
          <p:cNvPr id="14" name="Fumetto: rettangolo 13">
            <a:extLst>
              <a:ext uri="{FF2B5EF4-FFF2-40B4-BE49-F238E27FC236}">
                <a16:creationId xmlns:a16="http://schemas.microsoft.com/office/drawing/2014/main" id="{2976F770-6FC4-4118-ABA7-24C0F593511E}"/>
              </a:ext>
            </a:extLst>
          </p:cNvPr>
          <p:cNvSpPr/>
          <p:nvPr/>
        </p:nvSpPr>
        <p:spPr>
          <a:xfrm>
            <a:off x="4705005" y="1000885"/>
            <a:ext cx="4153767" cy="3166354"/>
          </a:xfrm>
          <a:prstGeom prst="wedgeRectCallout">
            <a:avLst>
              <a:gd name="adj1" fmla="val 42931"/>
              <a:gd name="adj2" fmla="val -22110"/>
            </a:avLst>
          </a:prstGeom>
          <a:solidFill>
            <a:srgbClr val="F5C20F"/>
          </a:solidFill>
          <a:ln w="952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Il questo Step il cliente dovrà:</a:t>
            </a:r>
          </a:p>
          <a:p>
            <a:pPr marL="228600" indent="-228600" algn="ctr">
              <a:buAutoNum type="arabicPeriod"/>
            </a:pPr>
            <a:r>
              <a:rPr lang="it-IT" sz="1200" b="1" dirty="0">
                <a:solidFill>
                  <a:schemeClr val="tx1"/>
                </a:solidFill>
              </a:rPr>
              <a:t>Inserire il codice iban (verrà effettuato un controllo formale dell’iban e un controllo sull’effettivo censimento di ABI e CAB nei sistemi Sorgenia)</a:t>
            </a:r>
          </a:p>
          <a:p>
            <a:pPr marL="228600" indent="-228600" algn="ctr">
              <a:buAutoNum type="arabicPeriod"/>
            </a:pPr>
            <a:r>
              <a:rPr lang="it-IT" sz="1200" b="1" dirty="0">
                <a:solidFill>
                  <a:srgbClr val="FF0000"/>
                </a:solidFill>
              </a:rPr>
              <a:t>Inserire la data a partire dalla quale il cliente vuole effettuare lo switch in con volture (il sistema indicherà in automatico sia la prima che l’ultima data utile</a:t>
            </a:r>
          </a:p>
          <a:p>
            <a:pPr marL="228600" indent="-228600" algn="ctr">
              <a:buAutoNum type="arabicPeriod"/>
            </a:pPr>
            <a:r>
              <a:rPr lang="it-IT" sz="1200" b="1" dirty="0">
                <a:solidFill>
                  <a:schemeClr val="tx1"/>
                </a:solidFill>
              </a:rPr>
              <a:t>Manifestare i consensi Privacy</a:t>
            </a:r>
          </a:p>
          <a:p>
            <a:pPr marL="228600" indent="-228600" algn="ctr">
              <a:buAutoNum type="arabicPeriod"/>
            </a:pPr>
            <a:r>
              <a:rPr lang="it-IT" sz="1200" b="1" dirty="0">
                <a:solidFill>
                  <a:schemeClr val="tx1"/>
                </a:solidFill>
              </a:rPr>
              <a:t>Inserire il luogo di firma</a:t>
            </a:r>
          </a:p>
          <a:p>
            <a:pPr marL="228600" indent="-228600" algn="ctr">
              <a:buAutoNum type="arabicPeriod"/>
            </a:pPr>
            <a:r>
              <a:rPr lang="it-IT" sz="1200" b="1" dirty="0">
                <a:solidFill>
                  <a:schemeClr val="tx1"/>
                </a:solidFill>
              </a:rPr>
              <a:t>Inserire gli allegati (carta di identità e precedenti bollette)</a:t>
            </a:r>
          </a:p>
          <a:p>
            <a:pPr marL="228600" indent="-228600" algn="ctr">
              <a:buAutoNum type="arabicPeriod"/>
            </a:pPr>
            <a:r>
              <a:rPr lang="it-IT" sz="1200" b="1" dirty="0">
                <a:solidFill>
                  <a:schemeClr val="tx1"/>
                </a:solidFill>
              </a:rPr>
              <a:t>Cliccare su «Genera Contratto»</a:t>
            </a:r>
          </a:p>
          <a:p>
            <a:pPr algn="ctr"/>
            <a:endParaRPr lang="it-IT" sz="1200" b="1" dirty="0">
              <a:solidFill>
                <a:schemeClr val="tx1"/>
              </a:solidFill>
            </a:endParaRPr>
          </a:p>
          <a:p>
            <a:pPr algn="ctr"/>
            <a:r>
              <a:rPr lang="it-IT" sz="1200" b="1" dirty="0">
                <a:solidFill>
                  <a:schemeClr val="tx1"/>
                </a:solidFill>
              </a:rPr>
              <a:t>A seguito della Generazione del Contratto, il cliente si ritroverà nella schermata riportata in basso.</a:t>
            </a:r>
          </a:p>
          <a:p>
            <a:pPr algn="ctr"/>
            <a:r>
              <a:rPr lang="it-IT" sz="1200" b="1" dirty="0">
                <a:solidFill>
                  <a:schemeClr val="tx1"/>
                </a:solidFill>
              </a:rPr>
              <a:t>Cliccando «Firma Contratto» riceverà:</a:t>
            </a:r>
          </a:p>
          <a:p>
            <a:pPr marL="171450" indent="-171450" algn="ctr">
              <a:buFontTx/>
              <a:buChar char="-"/>
            </a:pPr>
            <a:r>
              <a:rPr lang="it-IT" sz="1200" b="1" dirty="0">
                <a:solidFill>
                  <a:schemeClr val="tx1"/>
                </a:solidFill>
              </a:rPr>
              <a:t>In caso di rete fisica un sms con il link per la Firma Remota</a:t>
            </a:r>
          </a:p>
          <a:p>
            <a:pPr marL="171450" indent="-171450" algn="ctr">
              <a:buFontTx/>
              <a:buChar char="-"/>
            </a:pPr>
            <a:r>
              <a:rPr lang="it-IT" sz="1200" b="1" dirty="0">
                <a:solidFill>
                  <a:schemeClr val="tx1"/>
                </a:solidFill>
              </a:rPr>
              <a:t> in caso di TLS un email con il link per la Firma Remota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163EAD4-2FF9-4261-BD3B-E016C820FDA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0394" r="1112" b="10396"/>
          <a:stretch/>
        </p:blipFill>
        <p:spPr>
          <a:xfrm>
            <a:off x="333688" y="4358801"/>
            <a:ext cx="3939394" cy="17749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4FA42BA-C806-4697-A515-DFD3089B66C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23629" r="2341" b="8391"/>
          <a:stretch/>
        </p:blipFill>
        <p:spPr>
          <a:xfrm>
            <a:off x="4643438" y="4486756"/>
            <a:ext cx="4206240" cy="16469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6AF1100-633C-4E80-B309-6A1A5E9FCA32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4147" r="1667" b="4864"/>
          <a:stretch/>
        </p:blipFill>
        <p:spPr>
          <a:xfrm>
            <a:off x="285228" y="1000885"/>
            <a:ext cx="4036314" cy="1869931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764C1FD6-8F96-48EA-B0E7-778EDCC746E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244" t="23337" r="35542" b="53595"/>
          <a:stretch/>
        </p:blipFill>
        <p:spPr>
          <a:xfrm>
            <a:off x="333688" y="3210483"/>
            <a:ext cx="3939394" cy="8086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E8B7A3C7-1D70-470E-B798-54D83BAD43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928996">
            <a:off x="1784361" y="1806245"/>
            <a:ext cx="592902" cy="3753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E554FF21-09EA-4C03-A376-513C415A12E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928996">
            <a:off x="7095879" y="251461"/>
            <a:ext cx="811919" cy="5139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484240DB-7695-4D91-9A83-729708FC0B4A}"/>
              </a:ext>
            </a:extLst>
          </p:cNvPr>
          <p:cNvSpPr/>
          <p:nvPr/>
        </p:nvSpPr>
        <p:spPr>
          <a:xfrm>
            <a:off x="1365637" y="5897453"/>
            <a:ext cx="2637952" cy="472577"/>
          </a:xfrm>
          <a:prstGeom prst="rect">
            <a:avLst/>
          </a:prstGeom>
          <a:solidFill>
            <a:srgbClr val="F5C20F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rgbClr val="FF0000"/>
                </a:solidFill>
              </a:rPr>
              <a:t>IMPORTANTE: in caso di Switching con voltura elettrico è necessario inserire il documento «Dichiarazione legittimo possesso»</a:t>
            </a:r>
            <a:endParaRPr lang="it-IT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67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721289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CLIENTE – Step 5 – Firma contratto (è lo stesso procedimento del contratto business)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153A843-08B7-4CFB-AFE6-8938BB5D426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3037" r="1778" b="6642"/>
          <a:stretch/>
        </p:blipFill>
        <p:spPr>
          <a:xfrm>
            <a:off x="215840" y="1397300"/>
            <a:ext cx="4735789" cy="19071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Fumetto: rettangolo 11">
            <a:extLst>
              <a:ext uri="{FF2B5EF4-FFF2-40B4-BE49-F238E27FC236}">
                <a16:creationId xmlns:a16="http://schemas.microsoft.com/office/drawing/2014/main" id="{588F87C4-E091-4A01-9C85-7917108CC171}"/>
              </a:ext>
            </a:extLst>
          </p:cNvPr>
          <p:cNvSpPr/>
          <p:nvPr/>
        </p:nvSpPr>
        <p:spPr>
          <a:xfrm>
            <a:off x="5339894" y="1573809"/>
            <a:ext cx="3103066" cy="1236794"/>
          </a:xfrm>
          <a:prstGeom prst="wedgeRectCallout">
            <a:avLst>
              <a:gd name="adj1" fmla="val -125088"/>
              <a:gd name="adj2" fmla="val 75259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Cliccando su «FIRMA CONTRATTO» il cliente accederà su «IDSIGN» (portale per la firma remota)</a:t>
            </a:r>
          </a:p>
        </p:txBody>
      </p:sp>
    </p:spTree>
    <p:extLst>
      <p:ext uri="{BB962C8B-B14F-4D97-AF65-F5344CB8AC3E}">
        <p14:creationId xmlns:p14="http://schemas.microsoft.com/office/powerpoint/2010/main" val="3885083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475503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CLIENTE – Step 6 – Contratto Firmato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C658FD3B-DFF9-4DFE-AF8C-14B33A0B94F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3699" t="8748" r="10798" b="38289"/>
          <a:stretch/>
        </p:blipFill>
        <p:spPr>
          <a:xfrm>
            <a:off x="440596" y="1116329"/>
            <a:ext cx="4424339" cy="17457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749F600C-4AEC-4870-9FD0-830BAA11E8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7449" y="3545135"/>
            <a:ext cx="3959352" cy="22671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Fumetto: rettangolo 15">
            <a:extLst>
              <a:ext uri="{FF2B5EF4-FFF2-40B4-BE49-F238E27FC236}">
                <a16:creationId xmlns:a16="http://schemas.microsoft.com/office/drawing/2014/main" id="{28892A25-8B83-4EC2-9DAE-DBCE5F8B9E8B}"/>
              </a:ext>
            </a:extLst>
          </p:cNvPr>
          <p:cNvSpPr/>
          <p:nvPr/>
        </p:nvSpPr>
        <p:spPr>
          <a:xfrm>
            <a:off x="215840" y="4198687"/>
            <a:ext cx="3103066" cy="1236794"/>
          </a:xfrm>
          <a:prstGeom prst="wedgeRectCallout">
            <a:avLst>
              <a:gd name="adj1" fmla="val 75152"/>
              <a:gd name="adj2" fmla="val -34049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A seguito della firma, il cliente riceverà una mail con allegato il PDF del contratto</a:t>
            </a:r>
          </a:p>
        </p:txBody>
      </p:sp>
      <p:sp>
        <p:nvSpPr>
          <p:cNvPr id="17" name="Fumetto: rettangolo 16">
            <a:extLst>
              <a:ext uri="{FF2B5EF4-FFF2-40B4-BE49-F238E27FC236}">
                <a16:creationId xmlns:a16="http://schemas.microsoft.com/office/drawing/2014/main" id="{05505562-A2DE-4215-A60A-4D5EBB42E3B4}"/>
              </a:ext>
            </a:extLst>
          </p:cNvPr>
          <p:cNvSpPr/>
          <p:nvPr/>
        </p:nvSpPr>
        <p:spPr>
          <a:xfrm>
            <a:off x="5554252" y="1348413"/>
            <a:ext cx="3103066" cy="1236794"/>
          </a:xfrm>
          <a:prstGeom prst="wedgeRectCallout">
            <a:avLst>
              <a:gd name="adj1" fmla="val -109610"/>
              <a:gd name="adj2" fmla="val -15566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Quando il contratto risulterà firmato il sistema apparirà il messaggio «Contratto firmato»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F0D76D1-3632-A6DA-3DA7-FBBC6254FDFA}"/>
              </a:ext>
            </a:extLst>
          </p:cNvPr>
          <p:cNvSpPr/>
          <p:nvPr/>
        </p:nvSpPr>
        <p:spPr>
          <a:xfrm>
            <a:off x="4422913" y="3965713"/>
            <a:ext cx="800100" cy="69574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621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420127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Il tuo portafoglio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668035C-7766-47B8-9072-7B645B992B2E}"/>
              </a:ext>
            </a:extLst>
          </p:cNvPr>
          <p:cNvSpPr/>
          <p:nvPr/>
        </p:nvSpPr>
        <p:spPr>
          <a:xfrm>
            <a:off x="729910" y="2706327"/>
            <a:ext cx="1439264" cy="993533"/>
          </a:xfrm>
          <a:prstGeom prst="rect">
            <a:avLst/>
          </a:prstGeom>
          <a:solidFill>
            <a:srgbClr val="F5C20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>
                <a:solidFill>
                  <a:schemeClr val="tx1"/>
                </a:solidFill>
              </a:rPr>
              <a:t>Customer Base contrattualizzata tramite </a:t>
            </a:r>
            <a:r>
              <a:rPr lang="it-IT" sz="1400" b="1" dirty="0" err="1">
                <a:solidFill>
                  <a:schemeClr val="tx1"/>
                </a:solidFill>
              </a:rPr>
              <a:t>Apparroud</a:t>
            </a:r>
            <a:endParaRPr lang="it-IT" sz="1400" b="1" dirty="0">
              <a:solidFill>
                <a:schemeClr val="tx1"/>
              </a:solidFill>
            </a:endParaRPr>
          </a:p>
        </p:txBody>
      </p:sp>
      <p:sp>
        <p:nvSpPr>
          <p:cNvPr id="10" name="Triangolo isoscele 9">
            <a:extLst>
              <a:ext uri="{FF2B5EF4-FFF2-40B4-BE49-F238E27FC236}">
                <a16:creationId xmlns:a16="http://schemas.microsoft.com/office/drawing/2014/main" id="{EE32975E-5009-4833-BB5D-1D60D85BD350}"/>
              </a:ext>
            </a:extLst>
          </p:cNvPr>
          <p:cNvSpPr/>
          <p:nvPr/>
        </p:nvSpPr>
        <p:spPr>
          <a:xfrm rot="5400000">
            <a:off x="2283021" y="2981481"/>
            <a:ext cx="259326" cy="487021"/>
          </a:xfrm>
          <a:prstGeom prst="triangle">
            <a:avLst/>
          </a:prstGeom>
          <a:solidFill>
            <a:srgbClr val="F5C20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4624753F-94DF-43D5-9B9D-B286606A485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999" t="5195" r="66357" b="50000"/>
          <a:stretch/>
        </p:blipFill>
        <p:spPr>
          <a:xfrm>
            <a:off x="2969974" y="1803282"/>
            <a:ext cx="3908346" cy="284341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444074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545287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Il tuo portafoglio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241C1AB-D2C4-4BBB-8CC8-AD885607B0F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4798" r="1149" b="5360"/>
          <a:stretch/>
        </p:blipFill>
        <p:spPr>
          <a:xfrm>
            <a:off x="1945640" y="1883161"/>
            <a:ext cx="6558280" cy="33528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Fumetto: rettangolo 11">
            <a:extLst>
              <a:ext uri="{FF2B5EF4-FFF2-40B4-BE49-F238E27FC236}">
                <a16:creationId xmlns:a16="http://schemas.microsoft.com/office/drawing/2014/main" id="{E09286FF-A4B3-4619-AA81-FD0899475EDA}"/>
              </a:ext>
            </a:extLst>
          </p:cNvPr>
          <p:cNvSpPr/>
          <p:nvPr/>
        </p:nvSpPr>
        <p:spPr>
          <a:xfrm>
            <a:off x="142935" y="3999168"/>
            <a:ext cx="1513145" cy="1236794"/>
          </a:xfrm>
          <a:prstGeom prst="wedgeRectCallout">
            <a:avLst>
              <a:gd name="adj1" fmla="val 77366"/>
              <a:gd name="adj2" fmla="val -135748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Clicca su &gt; per visualizzare lo stato delle tue offerte </a:t>
            </a:r>
          </a:p>
        </p:txBody>
      </p:sp>
      <p:sp>
        <p:nvSpPr>
          <p:cNvPr id="13" name="Fumetto: rettangolo 12">
            <a:extLst>
              <a:ext uri="{FF2B5EF4-FFF2-40B4-BE49-F238E27FC236}">
                <a16:creationId xmlns:a16="http://schemas.microsoft.com/office/drawing/2014/main" id="{8879F11B-9EFD-48CB-ABEE-0D36C653ED77}"/>
              </a:ext>
            </a:extLst>
          </p:cNvPr>
          <p:cNvSpPr/>
          <p:nvPr/>
        </p:nvSpPr>
        <p:spPr>
          <a:xfrm>
            <a:off x="1656080" y="839407"/>
            <a:ext cx="1513145" cy="782631"/>
          </a:xfrm>
          <a:prstGeom prst="wedgeRectCallout">
            <a:avLst>
              <a:gd name="adj1" fmla="val 169355"/>
              <a:gd name="adj2" fmla="val 207421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Interazioni Clienti</a:t>
            </a:r>
          </a:p>
        </p:txBody>
      </p:sp>
    </p:spTree>
    <p:extLst>
      <p:ext uri="{BB962C8B-B14F-4D97-AF65-F5344CB8AC3E}">
        <p14:creationId xmlns:p14="http://schemas.microsoft.com/office/powerpoint/2010/main" val="4083854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04299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Il tuo portafoglio – OFFERTE – Forzatura scadenza offerte</a:t>
            </a:r>
          </a:p>
        </p:txBody>
      </p:sp>
      <p:sp>
        <p:nvSpPr>
          <p:cNvPr id="12" name="Fumetto: rettangolo 11">
            <a:extLst>
              <a:ext uri="{FF2B5EF4-FFF2-40B4-BE49-F238E27FC236}">
                <a16:creationId xmlns:a16="http://schemas.microsoft.com/office/drawing/2014/main" id="{E09286FF-A4B3-4619-AA81-FD0899475EDA}"/>
              </a:ext>
            </a:extLst>
          </p:cNvPr>
          <p:cNvSpPr/>
          <p:nvPr/>
        </p:nvSpPr>
        <p:spPr>
          <a:xfrm>
            <a:off x="4800600" y="1060704"/>
            <a:ext cx="4012386" cy="2167127"/>
          </a:xfrm>
          <a:prstGeom prst="wedgeRectCallout">
            <a:avLst>
              <a:gd name="adj1" fmla="val 28275"/>
              <a:gd name="adj2" fmla="val -42787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Nella sezione «OFFERTE»</a:t>
            </a:r>
          </a:p>
          <a:p>
            <a:pPr marL="228600" indent="-228600" algn="ctr">
              <a:buAutoNum type="arabicPeriod"/>
            </a:pPr>
            <a:r>
              <a:rPr lang="it-IT" sz="1200" b="1" dirty="0">
                <a:solidFill>
                  <a:schemeClr val="tx1"/>
                </a:solidFill>
              </a:rPr>
              <a:t>E’ possibile verificare lo stato delle tue offerte, lo stato può essere «bozza», «definitiva», «non firmata» e «firmata»</a:t>
            </a:r>
          </a:p>
          <a:p>
            <a:pPr marL="228600" indent="-228600" algn="ctr">
              <a:buAutoNum type="arabicPeriod"/>
            </a:pPr>
            <a:r>
              <a:rPr lang="it-IT" sz="1200" b="1" dirty="0">
                <a:solidFill>
                  <a:schemeClr val="tx1"/>
                </a:solidFill>
              </a:rPr>
              <a:t>L’offerta in «bozza» non concorre al raggiungimento dei 5 contratti residenziali per ogni contratto business firmato</a:t>
            </a:r>
          </a:p>
          <a:p>
            <a:pPr marL="228600" indent="-228600" algn="ctr">
              <a:buAutoNum type="arabicPeriod"/>
            </a:pPr>
            <a:r>
              <a:rPr lang="it-IT" sz="1200" b="1" dirty="0">
                <a:solidFill>
                  <a:schemeClr val="tx1"/>
                </a:solidFill>
              </a:rPr>
              <a:t>E’ possibile procedere a forzare la scadenza delle offerte in stato «definitiva» e in stato «non firmato» al fine di liberare slot che comportano il raggiungimento dei 5 contratti residenziali </a:t>
            </a:r>
          </a:p>
          <a:p>
            <a:pPr marL="228600" indent="-228600" algn="ctr">
              <a:buAutoNum type="arabicPeriod"/>
            </a:pPr>
            <a:endParaRPr lang="it-IT" sz="1200" b="1" dirty="0">
              <a:solidFill>
                <a:schemeClr val="tx1"/>
              </a:solidFill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619B062-63FB-4980-9DDF-AEBC5860BDF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4983" r="35029" b="9683"/>
          <a:stretch/>
        </p:blipFill>
        <p:spPr>
          <a:xfrm>
            <a:off x="274331" y="1060705"/>
            <a:ext cx="2797218" cy="2066542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1E52643A-2F98-41C0-8985-EFFD3B84ABF1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71920" t="4984" r="1851" b="9682"/>
          <a:stretch/>
        </p:blipFill>
        <p:spPr>
          <a:xfrm>
            <a:off x="3071549" y="1060705"/>
            <a:ext cx="1129212" cy="2066543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2777609C-A738-4CE8-BE48-9771FDB6D5F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3911" r="2200" b="7911"/>
          <a:stretch/>
        </p:blipFill>
        <p:spPr>
          <a:xfrm>
            <a:off x="274332" y="3529585"/>
            <a:ext cx="3926430" cy="19913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Fumetto: rettangolo 13">
            <a:extLst>
              <a:ext uri="{FF2B5EF4-FFF2-40B4-BE49-F238E27FC236}">
                <a16:creationId xmlns:a16="http://schemas.microsoft.com/office/drawing/2014/main" id="{8013ADC5-CBBE-41F2-8521-7EE14E44B87A}"/>
              </a:ext>
            </a:extLst>
          </p:cNvPr>
          <p:cNvSpPr/>
          <p:nvPr/>
        </p:nvSpPr>
        <p:spPr>
          <a:xfrm>
            <a:off x="4800600" y="3491975"/>
            <a:ext cx="4012386" cy="2028932"/>
          </a:xfrm>
          <a:prstGeom prst="wedgeRectCallout">
            <a:avLst>
              <a:gd name="adj1" fmla="val 28275"/>
              <a:gd name="adj2" fmla="val -42787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u="sng" dirty="0">
                <a:solidFill>
                  <a:schemeClr val="tx1"/>
                </a:solidFill>
              </a:rPr>
              <a:t>Forzatura scadenza offerta</a:t>
            </a:r>
          </a:p>
          <a:p>
            <a:pPr algn="ctr"/>
            <a:r>
              <a:rPr lang="it-IT" sz="1200" b="1" dirty="0">
                <a:solidFill>
                  <a:schemeClr val="tx1"/>
                </a:solidFill>
              </a:rPr>
              <a:t>Per le offerte in stato «definitiva» e «non firmata» è possibile forzare la scadenza dell’offerta cliccando  «     » in corrispondenza dell’offerta che si vuole far scadere. </a:t>
            </a:r>
          </a:p>
          <a:p>
            <a:pPr algn="ctr"/>
            <a:r>
              <a:rPr lang="it-IT" sz="1200" b="1" dirty="0">
                <a:solidFill>
                  <a:schemeClr val="tx1"/>
                </a:solidFill>
              </a:rPr>
              <a:t>Apparirà il messaggio riportato nel box a sinistra. </a:t>
            </a:r>
          </a:p>
          <a:p>
            <a:pPr algn="ctr"/>
            <a:r>
              <a:rPr lang="it-IT" sz="1200" b="1" dirty="0">
                <a:solidFill>
                  <a:schemeClr val="tx1"/>
                </a:solidFill>
              </a:rPr>
              <a:t>Cliccando su «forza scadenza offerta» , l’offerta non concorrerà più al raggiungimento dei 5 contratti </a:t>
            </a:r>
          </a:p>
          <a:p>
            <a:pPr marL="228600" indent="-228600" algn="ctr">
              <a:buAutoNum type="arabicPeriod"/>
            </a:pPr>
            <a:endParaRPr lang="it-IT" sz="1200" b="1" dirty="0">
              <a:solidFill>
                <a:schemeClr val="tx1"/>
              </a:solidFill>
            </a:endParaRP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77C4B2C4-737F-4F55-916C-3B024BFE7C6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9485" t="35789" r="45457" b="57205"/>
          <a:stretch/>
        </p:blipFill>
        <p:spPr>
          <a:xfrm>
            <a:off x="8248856" y="4191652"/>
            <a:ext cx="192503" cy="10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367173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42935" y="171647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Il tuo portafoglio – Interazioni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EE80C83-16D0-42F1-8F33-A227018999A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911" r="1000" b="11778"/>
          <a:stretch/>
        </p:blipFill>
        <p:spPr>
          <a:xfrm>
            <a:off x="265176" y="959344"/>
            <a:ext cx="4594712" cy="21488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72499716-5C4B-4C93-A713-43F42DF1CD4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4133" r="1100" b="5911"/>
          <a:stretch/>
        </p:blipFill>
        <p:spPr>
          <a:xfrm>
            <a:off x="273127" y="3571726"/>
            <a:ext cx="4594712" cy="23507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Fumetto: rettangolo 12">
            <a:extLst>
              <a:ext uri="{FF2B5EF4-FFF2-40B4-BE49-F238E27FC236}">
                <a16:creationId xmlns:a16="http://schemas.microsoft.com/office/drawing/2014/main" id="{C0125C2D-9B48-4CD0-98C9-B0C5559FCECE}"/>
              </a:ext>
            </a:extLst>
          </p:cNvPr>
          <p:cNvSpPr/>
          <p:nvPr/>
        </p:nvSpPr>
        <p:spPr>
          <a:xfrm>
            <a:off x="5903774" y="1348413"/>
            <a:ext cx="3103066" cy="1236794"/>
          </a:xfrm>
          <a:prstGeom prst="wedgeRectCallout">
            <a:avLst>
              <a:gd name="adj1" fmla="val -88099"/>
              <a:gd name="adj2" fmla="val -2258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Cliccando «&gt;» è possibili entrare nella sezione «interazioni cliente». </a:t>
            </a:r>
          </a:p>
        </p:txBody>
      </p:sp>
      <p:sp>
        <p:nvSpPr>
          <p:cNvPr id="15" name="Fumetto: rettangolo 14">
            <a:extLst>
              <a:ext uri="{FF2B5EF4-FFF2-40B4-BE49-F238E27FC236}">
                <a16:creationId xmlns:a16="http://schemas.microsoft.com/office/drawing/2014/main" id="{B428F36F-A29D-4877-B11C-3D650AFAD22B}"/>
              </a:ext>
            </a:extLst>
          </p:cNvPr>
          <p:cNvSpPr/>
          <p:nvPr/>
        </p:nvSpPr>
        <p:spPr>
          <a:xfrm>
            <a:off x="5903774" y="3785609"/>
            <a:ext cx="3103066" cy="1875309"/>
          </a:xfrm>
          <a:prstGeom prst="wedgeRectCallout">
            <a:avLst>
              <a:gd name="adj1" fmla="val -88099"/>
              <a:gd name="adj2" fmla="val -2258"/>
            </a:avLst>
          </a:prstGeom>
          <a:solidFill>
            <a:srgbClr val="F5C20F"/>
          </a:solidFill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In questa sezione è possibile visualizzare:</a:t>
            </a:r>
          </a:p>
          <a:p>
            <a:pPr marL="228600" indent="-228600" algn="ctr">
              <a:buAutoNum type="arabicPeriod"/>
            </a:pPr>
            <a:r>
              <a:rPr lang="it-IT" sz="1200" b="1" dirty="0">
                <a:solidFill>
                  <a:schemeClr val="tx1"/>
                </a:solidFill>
              </a:rPr>
              <a:t>Numero di accessi del cliente ad Interactive tools</a:t>
            </a:r>
          </a:p>
          <a:p>
            <a:pPr marL="228600" indent="-228600" algn="ctr">
              <a:buAutoNum type="arabicPeriod"/>
            </a:pPr>
            <a:r>
              <a:rPr lang="it-IT" sz="1200" b="1" dirty="0">
                <a:solidFill>
                  <a:schemeClr val="tx1"/>
                </a:solidFill>
              </a:rPr>
              <a:t>Durata delle sessioni in cui il cliente ha fatto accesso su Interactive Tool</a:t>
            </a:r>
          </a:p>
          <a:p>
            <a:pPr marL="228600" indent="-228600" algn="ctr">
              <a:buAutoNum type="arabicPeriod"/>
            </a:pPr>
            <a:r>
              <a:rPr lang="it-IT" sz="1200" b="1" dirty="0">
                <a:solidFill>
                  <a:schemeClr val="tx1"/>
                </a:solidFill>
              </a:rPr>
              <a:t>Se il cliente ha fatto il Download dell’offerta</a:t>
            </a:r>
          </a:p>
          <a:p>
            <a:pPr marL="228600" indent="-228600" algn="ctr">
              <a:buAutoNum type="arabicPeriod"/>
            </a:pPr>
            <a:r>
              <a:rPr lang="it-IT" sz="1200" b="1" dirty="0">
                <a:solidFill>
                  <a:schemeClr val="tx1"/>
                </a:solidFill>
              </a:rPr>
              <a:t>Se il cliente ha fatto il Download del contratto </a:t>
            </a:r>
          </a:p>
          <a:p>
            <a:pPr algn="ctr"/>
            <a:r>
              <a:rPr lang="it-IT" sz="1200" b="1" dirty="0">
                <a:solidFill>
                  <a:schemeClr val="tx1"/>
                </a:solidFill>
              </a:rPr>
              <a:t>5. </a:t>
            </a:r>
            <a:r>
              <a:rPr lang="it-IT" sz="1200" b="1" dirty="0" err="1">
                <a:solidFill>
                  <a:schemeClr val="tx1"/>
                </a:solidFill>
              </a:rPr>
              <a:t>etc</a:t>
            </a:r>
            <a:endParaRPr lang="it-IT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336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9303823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b="1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8" name="Titolo 7">
            <a:extLst>
              <a:ext uri="{FF2B5EF4-FFF2-40B4-BE49-F238E27FC236}">
                <a16:creationId xmlns:a16="http://schemas.microsoft.com/office/drawing/2014/main" id="{33881E7B-2EAB-400C-BF60-EF9F35346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Dashboard Codici Contratto</a:t>
            </a:r>
          </a:p>
        </p:txBody>
      </p:sp>
      <p:pic>
        <p:nvPicPr>
          <p:cNvPr id="10" name="Immagine 9" descr="Immagine che contiene testo&#10;&#10;Descrizione generata automaticamente">
            <a:extLst>
              <a:ext uri="{FF2B5EF4-FFF2-40B4-BE49-F238E27FC236}">
                <a16:creationId xmlns:a16="http://schemas.microsoft.com/office/drawing/2014/main" id="{E582A19B-B193-4A2E-A865-186F7CE877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301363"/>
            <a:ext cx="3810000" cy="381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25139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076624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b="1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8" name="Titolo 7">
            <a:extLst>
              <a:ext uri="{FF2B5EF4-FFF2-40B4-BE49-F238E27FC236}">
                <a16:creationId xmlns:a16="http://schemas.microsoft.com/office/drawing/2014/main" id="{33881E7B-2EAB-400C-BF60-EF9F35346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Dashboard Codici Contratto</a:t>
            </a:r>
          </a:p>
        </p:txBody>
      </p:sp>
      <p:pic>
        <p:nvPicPr>
          <p:cNvPr id="32770" name="F413E6D6-A2FA-4C96-B55E-76F151A2CBAE">
            <a:extLst>
              <a:ext uri="{FF2B5EF4-FFF2-40B4-BE49-F238E27FC236}">
                <a16:creationId xmlns:a16="http://schemas.microsoft.com/office/drawing/2014/main" id="{DBAA1262-0736-422B-99B5-C9012B1FC0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" r="1857"/>
          <a:stretch/>
        </p:blipFill>
        <p:spPr bwMode="auto">
          <a:xfrm>
            <a:off x="290074" y="1280160"/>
            <a:ext cx="4202414" cy="31405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55A62739-1FAF-4AA1-92E8-FF56C4DA1DB8}"/>
              </a:ext>
            </a:extLst>
          </p:cNvPr>
          <p:cNvSpPr/>
          <p:nvPr/>
        </p:nvSpPr>
        <p:spPr>
          <a:xfrm>
            <a:off x="4890051" y="1900233"/>
            <a:ext cx="3689407" cy="1900362"/>
          </a:xfrm>
          <a:prstGeom prst="rect">
            <a:avLst/>
          </a:prstGeom>
          <a:solidFill>
            <a:srgbClr val="F5C20F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L’agente ha la possibilità di verificare quanti e quali  codici contratti business ha a disposizione per la sottoscrizione del contratto residenziale.</a:t>
            </a:r>
          </a:p>
          <a:p>
            <a:pPr algn="ctr"/>
            <a:endParaRPr lang="it-IT" sz="1400" dirty="0">
              <a:solidFill>
                <a:schemeClr val="tx1"/>
              </a:solidFill>
            </a:endParaRPr>
          </a:p>
          <a:p>
            <a:pPr algn="ctr"/>
            <a:r>
              <a:rPr lang="it-IT" sz="1400" dirty="0">
                <a:solidFill>
                  <a:schemeClr val="tx1"/>
                </a:solidFill>
              </a:rPr>
              <a:t>Per ogni contratto business c’è l’indicazione di quanti contratti residenziali sono stati già agganciati </a:t>
            </a:r>
          </a:p>
        </p:txBody>
      </p:sp>
    </p:spTree>
    <p:extLst>
      <p:ext uri="{BB962C8B-B14F-4D97-AF65-F5344CB8AC3E}">
        <p14:creationId xmlns:p14="http://schemas.microsoft.com/office/powerpoint/2010/main" val="1836433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47855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3" name="Ogget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it-IT" dirty="0">
              <a:solidFill>
                <a:prstClr val="white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236974" y="135855"/>
            <a:ext cx="8670051" cy="369322"/>
          </a:xfrm>
        </p:spPr>
        <p:txBody>
          <a:bodyPr vert="horz" wrap="square" lIns="91429" tIns="45715" rIns="91429" bIns="45715" rtlCol="0" anchor="t" anchorCtr="0">
            <a:spAutoFit/>
          </a:bodyPr>
          <a:lstStyle/>
          <a:p>
            <a:r>
              <a:rPr lang="it-IT" b="0" dirty="0"/>
              <a:t>Caricamento contratto sul sistema di in-</a:t>
            </a:r>
            <a:r>
              <a:rPr lang="it-IT" b="0" dirty="0" err="1"/>
              <a:t>order</a:t>
            </a:r>
            <a:r>
              <a:rPr lang="it-IT" b="0" dirty="0"/>
              <a:t> (SPACE) - Monitoraggio Stato Contratto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3DF5E1D-91FA-492D-8578-A6A09D115783}"/>
              </a:ext>
            </a:extLst>
          </p:cNvPr>
          <p:cNvSpPr/>
          <p:nvPr/>
        </p:nvSpPr>
        <p:spPr>
          <a:xfrm>
            <a:off x="1568370" y="1407562"/>
            <a:ext cx="6007260" cy="768479"/>
          </a:xfrm>
          <a:prstGeom prst="rect">
            <a:avLst/>
          </a:prstGeom>
          <a:solidFill>
            <a:srgbClr val="F5C20F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Dopo pochi secondi che il cliente firma viene aggiornato anche lo stato del contatto sull’</a:t>
            </a:r>
            <a:r>
              <a:rPr lang="it-IT" sz="1400" dirty="0" err="1">
                <a:solidFill>
                  <a:schemeClr val="tx1"/>
                </a:solidFill>
              </a:rPr>
              <a:t>app</a:t>
            </a:r>
            <a:r>
              <a:rPr lang="it-IT" sz="1400" dirty="0">
                <a:solidFill>
                  <a:schemeClr val="tx1"/>
                </a:solidFill>
              </a:rPr>
              <a:t> e passa in firmato. </a:t>
            </a:r>
          </a:p>
          <a:p>
            <a:pPr algn="ctr"/>
            <a:endParaRPr lang="it-IT" sz="1400" dirty="0">
              <a:solidFill>
                <a:schemeClr val="tx1"/>
              </a:solidFill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D9C5580-FF2A-41F7-9FEE-9B7509E04CD1}"/>
              </a:ext>
            </a:extLst>
          </p:cNvPr>
          <p:cNvSpPr/>
          <p:nvPr/>
        </p:nvSpPr>
        <p:spPr>
          <a:xfrm>
            <a:off x="1568370" y="2499691"/>
            <a:ext cx="6007260" cy="768479"/>
          </a:xfrm>
          <a:prstGeom prst="rect">
            <a:avLst/>
          </a:prstGeom>
          <a:solidFill>
            <a:srgbClr val="F5C20F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Il contratto passerà in automatico sul sistema di in </a:t>
            </a:r>
            <a:r>
              <a:rPr lang="it-IT" sz="1400" dirty="0" err="1">
                <a:solidFill>
                  <a:schemeClr val="tx1"/>
                </a:solidFill>
              </a:rPr>
              <a:t>order</a:t>
            </a:r>
            <a:r>
              <a:rPr lang="it-IT" sz="1400" dirty="0">
                <a:solidFill>
                  <a:schemeClr val="tx1"/>
                </a:solidFill>
              </a:rPr>
              <a:t> Sorgenia (Space)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888A5E2-7BAA-43E8-B7D0-3C37F29276B6}"/>
              </a:ext>
            </a:extLst>
          </p:cNvPr>
          <p:cNvSpPr/>
          <p:nvPr/>
        </p:nvSpPr>
        <p:spPr>
          <a:xfrm>
            <a:off x="1568370" y="3692943"/>
            <a:ext cx="6007260" cy="768479"/>
          </a:xfrm>
          <a:prstGeom prst="rect">
            <a:avLst/>
          </a:prstGeom>
          <a:solidFill>
            <a:srgbClr val="F5C20F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Sarà possibile verificare lo stato del contratto su Space seguendo le istruzioni presenti a pag.67 del Manuale Utente presente sul portale agenti LOGOS</a:t>
            </a:r>
          </a:p>
          <a:p>
            <a:pPr algn="ctr"/>
            <a:endParaRPr lang="it-IT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66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67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2&quot;&gt;&lt;elem m_fUsage=&quot;8.62538551945910469954E+00&quot;&gt;&lt;m_msothmcolidx val=&quot;0&quot;/&gt;&lt;m_rgb r=&quot;7D&quot; g=&quot;B0&quot; b=&quot;14&quot;/&gt;&lt;m_nBrightness val=&quot;0&quot;/&gt;&lt;/elem&gt;&lt;elem m_fUsage=&quot;4.88320668575649097232E-01&quot;&gt;&lt;m_msothmcolidx val=&quot;0&quot;/&gt;&lt;m_rgb r=&quot;00&quot; g=&quot;6D&quot; b=&quot;AD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BODYINDENTATION" val="0;0;0.125;0.125;0.25;14.25;14.375;28.375;28.5;42.5;"/>
  <p:tag name="VCT-BULLETVISIBILITY" val="L  ***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VCT_Marker"/>
  <p:tag name="DATE" val="19.10.2011 11:04:46"/>
  <p:tag name="VCT-TEMPLATE" val="GfK Template for Office 2003 4-3.pot"/>
  <p:tag name="VCTMASTER" val="GfK Master for PPT 2010 4-3"/>
  <p:tag name="VCT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VCT_Marker"/>
  <p:tag name="DATE" val="19.10.2011 11:04:46"/>
  <p:tag name="VCT-TEMPLATE" val="GfK Master for PPT 2010 4-3.potx"/>
  <p:tag name="VCTMASTER" val="GfK Master for PPT 2010 4-3"/>
  <p:tag name="VCTLAYOUT" val="title"/>
  <p:tag name="VCT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VCT_Backup"/>
  <p:tag name="DATE" val="13.02.2012 18:13:29"/>
  <p:tag name="PLACEHFMT" val="3"/>
  <p:tag name="VCT-BODYINDENTATION" val="0;0;0;0;0;0;0;0;0;0;"/>
  <p:tag name="VCT-BULLETVISIBILITY" val="L 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VCT_Backup"/>
  <p:tag name="DATE" val="13.02.2012 18:13:29"/>
  <p:tag name="PLACEHFMT" val="4"/>
  <p:tag name="VCT-BODYINDENTATION" val="0;0;0.125;0.125;0.25;0.25;0.375;0.375;0.5;0.5;"/>
  <p:tag name="VCT-BULLETVISIBILITY" val="L 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zYMBRuS8iyjvQGPbZSYQ"/>
</p:tagLst>
</file>

<file path=ppt/theme/theme1.xml><?xml version="1.0" encoding="utf-8"?>
<a:theme xmlns:a="http://schemas.openxmlformats.org/drawingml/2006/main" name="Tema Sorgenia">
  <a:themeElements>
    <a:clrScheme name="SORGENIA 2014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AB00"/>
      </a:accent1>
      <a:accent2>
        <a:srgbClr val="E37222"/>
      </a:accent2>
      <a:accent3>
        <a:srgbClr val="9E3039"/>
      </a:accent3>
      <a:accent4>
        <a:srgbClr val="CFC3C3"/>
      </a:accent4>
      <a:accent5>
        <a:srgbClr val="BBA684"/>
      </a:accent5>
      <a:accent6>
        <a:srgbClr val="006DAD"/>
      </a:accent6>
      <a:hlink>
        <a:srgbClr val="AEA400"/>
      </a:hlink>
      <a:folHlink>
        <a:srgbClr val="00693C"/>
      </a:folHlink>
    </a:clrScheme>
    <a:fontScheme name="Sorgeni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9525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B0B0B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Nuovo Format - Progetto - 4_3 (italiano)">
  <a:themeElements>
    <a:clrScheme name="GfK Master for PPT 2010 4-3 1">
      <a:dk1>
        <a:srgbClr val="000000"/>
      </a:dk1>
      <a:lt1>
        <a:srgbClr val="FFFFFF"/>
      </a:lt1>
      <a:dk2>
        <a:srgbClr val="E95E0F"/>
      </a:dk2>
      <a:lt2>
        <a:srgbClr val="928580"/>
      </a:lt2>
      <a:accent1>
        <a:srgbClr val="004186"/>
      </a:accent1>
      <a:accent2>
        <a:srgbClr val="0087C8"/>
      </a:accent2>
      <a:accent3>
        <a:srgbClr val="FFFFFF"/>
      </a:accent3>
      <a:accent4>
        <a:srgbClr val="000000"/>
      </a:accent4>
      <a:accent5>
        <a:srgbClr val="AAB0C3"/>
      </a:accent5>
      <a:accent6>
        <a:srgbClr val="007AB5"/>
      </a:accent6>
      <a:hlink>
        <a:srgbClr val="E95E0F"/>
      </a:hlink>
      <a:folHlink>
        <a:srgbClr val="004186"/>
      </a:folHlink>
    </a:clrScheme>
    <a:fontScheme name="GfK">
      <a:majorFont>
        <a:latin typeface="Insight screen"/>
        <a:ea typeface=""/>
        <a:cs typeface=""/>
      </a:majorFont>
      <a:minorFont>
        <a:latin typeface="Insight scree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GfK Master for PPT 2010 4-3 1">
        <a:dk1>
          <a:srgbClr val="000000"/>
        </a:dk1>
        <a:lt1>
          <a:srgbClr val="FFFFFF"/>
        </a:lt1>
        <a:dk2>
          <a:srgbClr val="E95E0F"/>
        </a:dk2>
        <a:lt2>
          <a:srgbClr val="928580"/>
        </a:lt2>
        <a:accent1>
          <a:srgbClr val="004186"/>
        </a:accent1>
        <a:accent2>
          <a:srgbClr val="0087C8"/>
        </a:accent2>
        <a:accent3>
          <a:srgbClr val="FFFFFF"/>
        </a:accent3>
        <a:accent4>
          <a:srgbClr val="000000"/>
        </a:accent4>
        <a:accent5>
          <a:srgbClr val="AAB0C3"/>
        </a:accent5>
        <a:accent6>
          <a:srgbClr val="007AB5"/>
        </a:accent6>
        <a:hlink>
          <a:srgbClr val="E95E0F"/>
        </a:hlink>
        <a:folHlink>
          <a:srgbClr val="0041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ebec926-314a-48af-b4da-5e767d229a98" xsi:nil="true"/>
    <lcf76f155ced4ddcb4097134ff3c332f xmlns="8c9a6545-197b-4579-8399-87e12492575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D5F388E3E101546B6F0C61BDA582DD8" ma:contentTypeVersion="16" ma:contentTypeDescription="Creare un nuovo documento." ma:contentTypeScope="" ma:versionID="18dfffcf61c99f05c99af4206e13bfaf">
  <xsd:schema xmlns:xsd="http://www.w3.org/2001/XMLSchema" xmlns:xs="http://www.w3.org/2001/XMLSchema" xmlns:p="http://schemas.microsoft.com/office/2006/metadata/properties" xmlns:ns2="2ebec926-314a-48af-b4da-5e767d229a98" xmlns:ns3="8c9a6545-197b-4579-8399-87e12492575d" targetNamespace="http://schemas.microsoft.com/office/2006/metadata/properties" ma:root="true" ma:fieldsID="ce98499f3f3e1575c5b891cbc5b67460" ns2:_="" ns3:_="">
    <xsd:import namespace="2ebec926-314a-48af-b4da-5e767d229a98"/>
    <xsd:import namespace="8c9a6545-197b-4579-8399-87e12492575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bec926-314a-48af-b4da-5e767d229a9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6f11777-fcdd-4f22-b456-c88092471e93}" ma:internalName="TaxCatchAll" ma:showField="CatchAllData" ma:web="2ebec926-314a-48af-b4da-5e767d229a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9a6545-197b-4579-8399-87e1249257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Tag immagine" ma:readOnly="false" ma:fieldId="{5cf76f15-5ced-4ddc-b409-7134ff3c332f}" ma:taxonomyMulti="true" ma:sspId="44e1c984-760e-4564-b44c-c3335fa129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772009-A87E-471B-A196-E4BFB8DDE57B}">
  <ds:schemaRefs>
    <ds:schemaRef ds:uri="http://schemas.microsoft.com/office/2006/metadata/properties"/>
    <ds:schemaRef ds:uri="ef44485d-d268-4a58-abfd-6664d550de1a"/>
    <ds:schemaRef ds:uri="http://www.w3.org/XML/1998/namespace"/>
    <ds:schemaRef ds:uri="71478a2c-3a28-447e-940b-2b7c10d5ced8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9DBF86F-73A8-44F6-B20F-9F68399B45DF}"/>
</file>

<file path=customXml/itemProps3.xml><?xml version="1.0" encoding="utf-8"?>
<ds:datastoreItem xmlns:ds="http://schemas.openxmlformats.org/officeDocument/2006/customXml" ds:itemID="{E6FF57B0-69D6-4831-B6EA-4A016FD15F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1767</Words>
  <Application>Microsoft Office PowerPoint</Application>
  <PresentationFormat>Presentazione su schermo (4:3)</PresentationFormat>
  <Paragraphs>180</Paragraphs>
  <Slides>30</Slides>
  <Notes>29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2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6" baseType="lpstr">
      <vt:lpstr>Arial</vt:lpstr>
      <vt:lpstr>Calibri</vt:lpstr>
      <vt:lpstr>Wingdings</vt:lpstr>
      <vt:lpstr>Tema Sorgenia</vt:lpstr>
      <vt:lpstr>Nuovo Format - Progetto - 4_3 (italiano)</vt:lpstr>
      <vt:lpstr>Diapositiva think-cell</vt:lpstr>
      <vt:lpstr>Presentazione standard di PowerPoint</vt:lpstr>
      <vt:lpstr>Indice</vt:lpstr>
      <vt:lpstr>Novità dal 19 marzo 2022</vt:lpstr>
      <vt:lpstr>Schermata di HOME</vt:lpstr>
      <vt:lpstr>OFFERTE PER LA CASA</vt:lpstr>
      <vt:lpstr>AGENTE – Step 1: Creazione Offerta</vt:lpstr>
      <vt:lpstr>AGENTE – Step 1: Creazione Offerta</vt:lpstr>
      <vt:lpstr>AGENTE – Step 1: Creazione Offerta</vt:lpstr>
      <vt:lpstr>AGENTE – Step 1: Creazione dell’offerta - Verifica Creditizia</vt:lpstr>
      <vt:lpstr>AGENTE – Step 1: Creazione dell’offe rta - Verifica Creditizia </vt:lpstr>
      <vt:lpstr>AGENTE – Step 1: Creazione Offerta</vt:lpstr>
      <vt:lpstr>AGENTE – Step 2: Configuratore offerta residenziale</vt:lpstr>
      <vt:lpstr>AGENTE – Step 3: Riepilogo offerta e inserimento dati di fornitura POD/PDR</vt:lpstr>
      <vt:lpstr>AGENTE– Step 3: Inserimento dati di fornitura relativi al POD</vt:lpstr>
      <vt:lpstr>AGENTE– Step 3: Inserimento dati di fornitura relativi al PDR</vt:lpstr>
      <vt:lpstr>AGENTE– Step 3: Dati di fornitura inseriti correttamente - Offerta Definitiva</vt:lpstr>
      <vt:lpstr>AGENTE– Step 3: Dati di fornitura inseriti correttamente  Allega documenti- Offerta Definitiva</vt:lpstr>
      <vt:lpstr>AGENTE– Step 3: Offerta Definitiva, invia e-mail al cliente</vt:lpstr>
      <vt:lpstr>CLIENTE – Step 4 Ricezione e-mail e autenticazione su Interactive Tools</vt:lpstr>
      <vt:lpstr>CLIENTE – Step 4 Interactive Tools</vt:lpstr>
      <vt:lpstr>CLIENTE – Step 4 Prepara - Genera Contratto, invio link per firma remota</vt:lpstr>
      <vt:lpstr>CLIENTE – Step 5 – Firma contratto (è lo stesso procedimento del contratto business)</vt:lpstr>
      <vt:lpstr>CLIENTE – Step 6 – Contratto Firmato</vt:lpstr>
      <vt:lpstr>Il tuo portafoglio</vt:lpstr>
      <vt:lpstr>Il tuo portafoglio</vt:lpstr>
      <vt:lpstr>Il tuo portafoglio – OFFERTE – Forzatura scadenza offerte</vt:lpstr>
      <vt:lpstr>Il tuo portafoglio – Interazioni</vt:lpstr>
      <vt:lpstr>Dashboard Codici Contratto</vt:lpstr>
      <vt:lpstr>Dashboard Codici Contratto</vt:lpstr>
      <vt:lpstr>Caricamento contratto sul sistema di in-order (SPACE) - Monitoraggio Stato Contratto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Monika Meneghetti</dc:creator>
  <cp:lastModifiedBy>BELMONTE MELISSA</cp:lastModifiedBy>
  <cp:revision>5631</cp:revision>
  <cp:lastPrinted>2019-12-05T16:35:42Z</cp:lastPrinted>
  <dcterms:created xsi:type="dcterms:W3CDTF">2013-07-04T09:14:50Z</dcterms:created>
  <dcterms:modified xsi:type="dcterms:W3CDTF">2026-04-13T08:20:05Z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0x0101002D5F388E3E101546B6F0C61BDA582DD8</vt:lpwstr>
  </property>
</Properties>
</file>