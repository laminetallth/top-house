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71" r:id="rId10"/>
    <p:sldId id="264" r:id="rId11"/>
    <p:sldId id="265" r:id="rId12"/>
    <p:sldId id="266" r:id="rId13"/>
    <p:sldId id="267" r:id="rId14"/>
    <p:sldId id="268" r:id="rId15"/>
    <p:sldId id="269" r:id="rId16"/>
    <p:sldId id="27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4CAA4F6-DE32-4F43-9D02-B391070FB0E5}" type="doc">
      <dgm:prSet loTypeId="urn:microsoft.com/office/officeart/2005/8/layout/chevron1" loCatId="process" qsTypeId="urn:microsoft.com/office/officeart/2005/8/quickstyle/simple1" qsCatId="simple" csTypeId="urn:microsoft.com/office/officeart/2005/8/colors/accent1_2" csCatId="accent1" phldr="1"/>
      <dgm:spPr/>
    </dgm:pt>
    <dgm:pt modelId="{591FC45B-D8EE-4CB8-90F7-B600234A4ACF}">
      <dgm:prSet phldrT="[Testo]"/>
      <dgm:spPr/>
      <dgm:t>
        <a:bodyPr/>
        <a:lstStyle/>
        <a:p>
          <a:r>
            <a:rPr lang="it-IT" dirty="0"/>
            <a:t>Inserimento dati contrattuali</a:t>
          </a:r>
        </a:p>
      </dgm:t>
    </dgm:pt>
    <dgm:pt modelId="{BC76DBDD-F113-4FD2-A046-115EE6B80E03}" type="parTrans" cxnId="{D6AC69EC-8222-41A1-8284-8B80CDA460F0}">
      <dgm:prSet/>
      <dgm:spPr/>
      <dgm:t>
        <a:bodyPr/>
        <a:lstStyle/>
        <a:p>
          <a:endParaRPr lang="it-IT"/>
        </a:p>
      </dgm:t>
    </dgm:pt>
    <dgm:pt modelId="{E73E45C2-76DD-41BA-B0C2-19D89B1F2F89}" type="sibTrans" cxnId="{D6AC69EC-8222-41A1-8284-8B80CDA460F0}">
      <dgm:prSet/>
      <dgm:spPr/>
      <dgm:t>
        <a:bodyPr/>
        <a:lstStyle/>
        <a:p>
          <a:endParaRPr lang="it-IT"/>
        </a:p>
      </dgm:t>
    </dgm:pt>
    <dgm:pt modelId="{5CB06931-E423-41B7-B837-12B3FB19ED26}">
      <dgm:prSet phldrT="[Testo]"/>
      <dgm:spPr/>
      <dgm:t>
        <a:bodyPr/>
        <a:lstStyle/>
        <a:p>
          <a:r>
            <a:rPr lang="it-IT" dirty="0"/>
            <a:t>Up Load dei documenti </a:t>
          </a:r>
        </a:p>
      </dgm:t>
    </dgm:pt>
    <dgm:pt modelId="{AD75C8D7-4172-4912-B659-10F6EA9BC7DA}" type="parTrans" cxnId="{240CF968-F8B9-4A90-8D3B-CE98CB00343A}">
      <dgm:prSet/>
      <dgm:spPr/>
      <dgm:t>
        <a:bodyPr/>
        <a:lstStyle/>
        <a:p>
          <a:endParaRPr lang="it-IT"/>
        </a:p>
      </dgm:t>
    </dgm:pt>
    <dgm:pt modelId="{C37E4F3E-8254-4EF7-AAE6-315ABD6C23F1}" type="sibTrans" cxnId="{240CF968-F8B9-4A90-8D3B-CE98CB00343A}">
      <dgm:prSet/>
      <dgm:spPr/>
      <dgm:t>
        <a:bodyPr/>
        <a:lstStyle/>
        <a:p>
          <a:endParaRPr lang="it-IT"/>
        </a:p>
      </dgm:t>
    </dgm:pt>
    <dgm:pt modelId="{65DB1AF2-B08E-402A-B9BA-C173C44FA976}">
      <dgm:prSet phldrT="[Testo]"/>
      <dgm:spPr/>
      <dgm:t>
        <a:bodyPr/>
        <a:lstStyle/>
        <a:p>
          <a:r>
            <a:rPr lang="it-IT" dirty="0"/>
            <a:t>Ricezione da parte del cliente di sms/mail da confermare</a:t>
          </a:r>
        </a:p>
      </dgm:t>
    </dgm:pt>
    <dgm:pt modelId="{ECA5D407-F52A-4A03-A62B-EB0EDC5F6494}" type="parTrans" cxnId="{97249FF3-BC6D-4D2B-8332-3AE69EF7025F}">
      <dgm:prSet/>
      <dgm:spPr/>
      <dgm:t>
        <a:bodyPr/>
        <a:lstStyle/>
        <a:p>
          <a:endParaRPr lang="it-IT"/>
        </a:p>
      </dgm:t>
    </dgm:pt>
    <dgm:pt modelId="{C0D0EDC9-8644-44DA-AF2B-580C758A34F4}" type="sibTrans" cxnId="{97249FF3-BC6D-4D2B-8332-3AE69EF7025F}">
      <dgm:prSet/>
      <dgm:spPr/>
      <dgm:t>
        <a:bodyPr/>
        <a:lstStyle/>
        <a:p>
          <a:endParaRPr lang="it-IT"/>
        </a:p>
      </dgm:t>
    </dgm:pt>
    <dgm:pt modelId="{FA5B8A56-2A4C-42F7-B0C6-17121AF7FA50}" type="pres">
      <dgm:prSet presAssocID="{D4CAA4F6-DE32-4F43-9D02-B391070FB0E5}" presName="Name0" presStyleCnt="0">
        <dgm:presLayoutVars>
          <dgm:dir/>
          <dgm:animLvl val="lvl"/>
          <dgm:resizeHandles val="exact"/>
        </dgm:presLayoutVars>
      </dgm:prSet>
      <dgm:spPr/>
    </dgm:pt>
    <dgm:pt modelId="{CB1BE7D3-53C3-455B-97AC-B2A59114513F}" type="pres">
      <dgm:prSet presAssocID="{591FC45B-D8EE-4CB8-90F7-B600234A4ACF}" presName="parTxOnly" presStyleLbl="node1" presStyleIdx="0" presStyleCnt="3">
        <dgm:presLayoutVars>
          <dgm:chMax val="0"/>
          <dgm:chPref val="0"/>
          <dgm:bulletEnabled val="1"/>
        </dgm:presLayoutVars>
      </dgm:prSet>
      <dgm:spPr/>
    </dgm:pt>
    <dgm:pt modelId="{AA484B33-8C85-4AFA-BABF-82EAA3305116}" type="pres">
      <dgm:prSet presAssocID="{E73E45C2-76DD-41BA-B0C2-19D89B1F2F89}" presName="parTxOnlySpace" presStyleCnt="0"/>
      <dgm:spPr/>
    </dgm:pt>
    <dgm:pt modelId="{D5812C69-7857-4A90-B144-DA6291E88201}" type="pres">
      <dgm:prSet presAssocID="{5CB06931-E423-41B7-B837-12B3FB19ED26}" presName="parTxOnly" presStyleLbl="node1" presStyleIdx="1" presStyleCnt="3">
        <dgm:presLayoutVars>
          <dgm:chMax val="0"/>
          <dgm:chPref val="0"/>
          <dgm:bulletEnabled val="1"/>
        </dgm:presLayoutVars>
      </dgm:prSet>
      <dgm:spPr/>
    </dgm:pt>
    <dgm:pt modelId="{FC5FA5C0-2F11-45C5-A43C-57F40AE36B9B}" type="pres">
      <dgm:prSet presAssocID="{C37E4F3E-8254-4EF7-AAE6-315ABD6C23F1}" presName="parTxOnlySpace" presStyleCnt="0"/>
      <dgm:spPr/>
    </dgm:pt>
    <dgm:pt modelId="{425EE996-228F-4697-B5AC-0DFD84753562}" type="pres">
      <dgm:prSet presAssocID="{65DB1AF2-B08E-402A-B9BA-C173C44FA976}" presName="parTxOnly" presStyleLbl="node1" presStyleIdx="2" presStyleCnt="3">
        <dgm:presLayoutVars>
          <dgm:chMax val="0"/>
          <dgm:chPref val="0"/>
          <dgm:bulletEnabled val="1"/>
        </dgm:presLayoutVars>
      </dgm:prSet>
      <dgm:spPr/>
    </dgm:pt>
  </dgm:ptLst>
  <dgm:cxnLst>
    <dgm:cxn modelId="{44367702-D9CF-4DEA-9A7B-8EFA33D2A8E8}" type="presOf" srcId="{5CB06931-E423-41B7-B837-12B3FB19ED26}" destId="{D5812C69-7857-4A90-B144-DA6291E88201}" srcOrd="0" destOrd="0" presId="urn:microsoft.com/office/officeart/2005/8/layout/chevron1"/>
    <dgm:cxn modelId="{240CF968-F8B9-4A90-8D3B-CE98CB00343A}" srcId="{D4CAA4F6-DE32-4F43-9D02-B391070FB0E5}" destId="{5CB06931-E423-41B7-B837-12B3FB19ED26}" srcOrd="1" destOrd="0" parTransId="{AD75C8D7-4172-4912-B659-10F6EA9BC7DA}" sibTransId="{C37E4F3E-8254-4EF7-AAE6-315ABD6C23F1}"/>
    <dgm:cxn modelId="{8945D875-437F-4D5B-9D64-F8790D95780B}" type="presOf" srcId="{591FC45B-D8EE-4CB8-90F7-B600234A4ACF}" destId="{CB1BE7D3-53C3-455B-97AC-B2A59114513F}" srcOrd="0" destOrd="0" presId="urn:microsoft.com/office/officeart/2005/8/layout/chevron1"/>
    <dgm:cxn modelId="{94630297-D939-4A66-ABEC-D7EC99B62053}" type="presOf" srcId="{D4CAA4F6-DE32-4F43-9D02-B391070FB0E5}" destId="{FA5B8A56-2A4C-42F7-B0C6-17121AF7FA50}" srcOrd="0" destOrd="0" presId="urn:microsoft.com/office/officeart/2005/8/layout/chevron1"/>
    <dgm:cxn modelId="{E562D5C3-EBE4-4B6E-96AB-F45C94BAD568}" type="presOf" srcId="{65DB1AF2-B08E-402A-B9BA-C173C44FA976}" destId="{425EE996-228F-4697-B5AC-0DFD84753562}" srcOrd="0" destOrd="0" presId="urn:microsoft.com/office/officeart/2005/8/layout/chevron1"/>
    <dgm:cxn modelId="{D6AC69EC-8222-41A1-8284-8B80CDA460F0}" srcId="{D4CAA4F6-DE32-4F43-9D02-B391070FB0E5}" destId="{591FC45B-D8EE-4CB8-90F7-B600234A4ACF}" srcOrd="0" destOrd="0" parTransId="{BC76DBDD-F113-4FD2-A046-115EE6B80E03}" sibTransId="{E73E45C2-76DD-41BA-B0C2-19D89B1F2F89}"/>
    <dgm:cxn modelId="{97249FF3-BC6D-4D2B-8332-3AE69EF7025F}" srcId="{D4CAA4F6-DE32-4F43-9D02-B391070FB0E5}" destId="{65DB1AF2-B08E-402A-B9BA-C173C44FA976}" srcOrd="2" destOrd="0" parTransId="{ECA5D407-F52A-4A03-A62B-EB0EDC5F6494}" sibTransId="{C0D0EDC9-8644-44DA-AF2B-580C758A34F4}"/>
    <dgm:cxn modelId="{DD08F762-BC1F-4AAB-A948-E8F00A8FE55C}" type="presParOf" srcId="{FA5B8A56-2A4C-42F7-B0C6-17121AF7FA50}" destId="{CB1BE7D3-53C3-455B-97AC-B2A59114513F}" srcOrd="0" destOrd="0" presId="urn:microsoft.com/office/officeart/2005/8/layout/chevron1"/>
    <dgm:cxn modelId="{DEC7CF15-4258-49EA-8FE4-DFA4C86E78F9}" type="presParOf" srcId="{FA5B8A56-2A4C-42F7-B0C6-17121AF7FA50}" destId="{AA484B33-8C85-4AFA-BABF-82EAA3305116}" srcOrd="1" destOrd="0" presId="urn:microsoft.com/office/officeart/2005/8/layout/chevron1"/>
    <dgm:cxn modelId="{475338C1-3646-4DE2-A54D-53064482B3F9}" type="presParOf" srcId="{FA5B8A56-2A4C-42F7-B0C6-17121AF7FA50}" destId="{D5812C69-7857-4A90-B144-DA6291E88201}" srcOrd="2" destOrd="0" presId="urn:microsoft.com/office/officeart/2005/8/layout/chevron1"/>
    <dgm:cxn modelId="{4800C377-5165-4C3B-85BE-66090EE7F15E}" type="presParOf" srcId="{FA5B8A56-2A4C-42F7-B0C6-17121AF7FA50}" destId="{FC5FA5C0-2F11-45C5-A43C-57F40AE36B9B}" srcOrd="3" destOrd="0" presId="urn:microsoft.com/office/officeart/2005/8/layout/chevron1"/>
    <dgm:cxn modelId="{8109CF02-BE34-4B5E-A82F-264AC43EF1D3}" type="presParOf" srcId="{FA5B8A56-2A4C-42F7-B0C6-17121AF7FA50}" destId="{425EE996-228F-4697-B5AC-0DFD84753562}" srcOrd="4"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784660E-033B-40CC-937E-282FBDFB06B6}" type="doc">
      <dgm:prSet loTypeId="urn:microsoft.com/office/officeart/2005/8/layout/chevron1" loCatId="process" qsTypeId="urn:microsoft.com/office/officeart/2005/8/quickstyle/simple1" qsCatId="simple" csTypeId="urn:microsoft.com/office/officeart/2005/8/colors/accent1_2" csCatId="accent1" phldr="1"/>
      <dgm:spPr/>
    </dgm:pt>
    <dgm:pt modelId="{6FF8E6C6-88F8-4649-AFDE-E1C19AF530B6}">
      <dgm:prSet phldrT="[Testo]"/>
      <dgm:spPr/>
      <dgm:t>
        <a:bodyPr/>
        <a:lstStyle/>
        <a:p>
          <a:r>
            <a:rPr lang="it-IT" dirty="0"/>
            <a:t>Caricare sul </a:t>
          </a:r>
          <a:r>
            <a:rPr lang="it-IT" dirty="0" err="1"/>
            <a:t>GreenLab</a:t>
          </a:r>
          <a:r>
            <a:rPr lang="it-IT" dirty="0"/>
            <a:t> il fascicolo prodotto dall’area e la privacy a parte </a:t>
          </a:r>
        </a:p>
      </dgm:t>
    </dgm:pt>
    <dgm:pt modelId="{69301C73-0D62-4F71-8A81-B50C8E702D96}" type="parTrans" cxnId="{0EBB053A-3213-4C7D-A9DD-66F628DAEB4D}">
      <dgm:prSet/>
      <dgm:spPr/>
      <dgm:t>
        <a:bodyPr/>
        <a:lstStyle/>
        <a:p>
          <a:endParaRPr lang="it-IT"/>
        </a:p>
      </dgm:t>
    </dgm:pt>
    <dgm:pt modelId="{CE3618A5-5C8C-4B38-BD2A-DE7EAA36B658}" type="sibTrans" cxnId="{0EBB053A-3213-4C7D-A9DD-66F628DAEB4D}">
      <dgm:prSet/>
      <dgm:spPr/>
      <dgm:t>
        <a:bodyPr/>
        <a:lstStyle/>
        <a:p>
          <a:endParaRPr lang="it-IT"/>
        </a:p>
      </dgm:t>
    </dgm:pt>
    <dgm:pt modelId="{AE211333-CB53-4D10-8316-040885B25433}">
      <dgm:prSet phldrT="[Testo]"/>
      <dgm:spPr/>
      <dgm:t>
        <a:bodyPr/>
        <a:lstStyle/>
        <a:p>
          <a:r>
            <a:rPr lang="it-IT" dirty="0"/>
            <a:t>Il cliente riceve da </a:t>
          </a:r>
          <a:r>
            <a:rPr lang="it-IT" dirty="0" err="1"/>
            <a:t>Cogeme</a:t>
          </a:r>
          <a:r>
            <a:rPr lang="it-IT" dirty="0"/>
            <a:t> una chiamata di conferma (3 Tentativi) e la welcome </a:t>
          </a:r>
          <a:r>
            <a:rPr lang="it-IT" dirty="0" err="1"/>
            <a:t>letter</a:t>
          </a:r>
          <a:endParaRPr lang="it-IT" dirty="0"/>
        </a:p>
      </dgm:t>
    </dgm:pt>
    <dgm:pt modelId="{0DF8F0DC-F000-4BCE-8362-48A92889E9CA}" type="parTrans" cxnId="{46906478-7ABD-4244-8A4B-7E2FECA89CF7}">
      <dgm:prSet/>
      <dgm:spPr/>
      <dgm:t>
        <a:bodyPr/>
        <a:lstStyle/>
        <a:p>
          <a:endParaRPr lang="it-IT"/>
        </a:p>
      </dgm:t>
    </dgm:pt>
    <dgm:pt modelId="{F5162BFD-5DEF-4B7E-B20F-C1412E97C04F}" type="sibTrans" cxnId="{46906478-7ABD-4244-8A4B-7E2FECA89CF7}">
      <dgm:prSet/>
      <dgm:spPr/>
      <dgm:t>
        <a:bodyPr/>
        <a:lstStyle/>
        <a:p>
          <a:endParaRPr lang="it-IT"/>
        </a:p>
      </dgm:t>
    </dgm:pt>
    <dgm:pt modelId="{551B36E2-4D58-43DC-8679-69DE068B4E27}">
      <dgm:prSet phldrT="[Testo]"/>
      <dgm:spPr/>
      <dgm:t>
        <a:bodyPr/>
        <a:lstStyle/>
        <a:p>
          <a:r>
            <a:rPr lang="it-IT" dirty="0"/>
            <a:t>Contratto concluso</a:t>
          </a:r>
        </a:p>
      </dgm:t>
    </dgm:pt>
    <dgm:pt modelId="{CEC5397F-3DFA-41B7-8969-D738B46ADD49}" type="parTrans" cxnId="{1215E10B-0548-468D-9CDA-D53BE1232B20}">
      <dgm:prSet/>
      <dgm:spPr/>
      <dgm:t>
        <a:bodyPr/>
        <a:lstStyle/>
        <a:p>
          <a:endParaRPr lang="it-IT"/>
        </a:p>
      </dgm:t>
    </dgm:pt>
    <dgm:pt modelId="{C1EB2705-92CC-48D9-A927-5CCD32D2471B}" type="sibTrans" cxnId="{1215E10B-0548-468D-9CDA-D53BE1232B20}">
      <dgm:prSet/>
      <dgm:spPr/>
      <dgm:t>
        <a:bodyPr/>
        <a:lstStyle/>
        <a:p>
          <a:endParaRPr lang="it-IT"/>
        </a:p>
      </dgm:t>
    </dgm:pt>
    <dgm:pt modelId="{E3A9F4DC-99D8-4F48-B28A-A1B2D88538E8}" type="pres">
      <dgm:prSet presAssocID="{A784660E-033B-40CC-937E-282FBDFB06B6}" presName="Name0" presStyleCnt="0">
        <dgm:presLayoutVars>
          <dgm:dir/>
          <dgm:animLvl val="lvl"/>
          <dgm:resizeHandles val="exact"/>
        </dgm:presLayoutVars>
      </dgm:prSet>
      <dgm:spPr/>
    </dgm:pt>
    <dgm:pt modelId="{0F2B6B97-BC87-4E3F-82D4-BA05289D203C}" type="pres">
      <dgm:prSet presAssocID="{6FF8E6C6-88F8-4649-AFDE-E1C19AF530B6}" presName="parTxOnly" presStyleLbl="node1" presStyleIdx="0" presStyleCnt="3">
        <dgm:presLayoutVars>
          <dgm:chMax val="0"/>
          <dgm:chPref val="0"/>
          <dgm:bulletEnabled val="1"/>
        </dgm:presLayoutVars>
      </dgm:prSet>
      <dgm:spPr/>
    </dgm:pt>
    <dgm:pt modelId="{69B05D95-48E5-4087-95E2-6CE6D0FD1497}" type="pres">
      <dgm:prSet presAssocID="{CE3618A5-5C8C-4B38-BD2A-DE7EAA36B658}" presName="parTxOnlySpace" presStyleCnt="0"/>
      <dgm:spPr/>
    </dgm:pt>
    <dgm:pt modelId="{E493BDC1-1BD7-4E90-B6C5-583DED5B710D}" type="pres">
      <dgm:prSet presAssocID="{AE211333-CB53-4D10-8316-040885B25433}" presName="parTxOnly" presStyleLbl="node1" presStyleIdx="1" presStyleCnt="3">
        <dgm:presLayoutVars>
          <dgm:chMax val="0"/>
          <dgm:chPref val="0"/>
          <dgm:bulletEnabled val="1"/>
        </dgm:presLayoutVars>
      </dgm:prSet>
      <dgm:spPr/>
    </dgm:pt>
    <dgm:pt modelId="{25BC2056-EB91-417C-A5FE-D99AA0A5BC19}" type="pres">
      <dgm:prSet presAssocID="{F5162BFD-5DEF-4B7E-B20F-C1412E97C04F}" presName="parTxOnlySpace" presStyleCnt="0"/>
      <dgm:spPr/>
    </dgm:pt>
    <dgm:pt modelId="{39C64567-0469-4D94-9D3F-C9BD598A01F0}" type="pres">
      <dgm:prSet presAssocID="{551B36E2-4D58-43DC-8679-69DE068B4E27}" presName="parTxOnly" presStyleLbl="node1" presStyleIdx="2" presStyleCnt="3">
        <dgm:presLayoutVars>
          <dgm:chMax val="0"/>
          <dgm:chPref val="0"/>
          <dgm:bulletEnabled val="1"/>
        </dgm:presLayoutVars>
      </dgm:prSet>
      <dgm:spPr/>
    </dgm:pt>
  </dgm:ptLst>
  <dgm:cxnLst>
    <dgm:cxn modelId="{1215E10B-0548-468D-9CDA-D53BE1232B20}" srcId="{A784660E-033B-40CC-937E-282FBDFB06B6}" destId="{551B36E2-4D58-43DC-8679-69DE068B4E27}" srcOrd="2" destOrd="0" parTransId="{CEC5397F-3DFA-41B7-8969-D738B46ADD49}" sibTransId="{C1EB2705-92CC-48D9-A927-5CCD32D2471B}"/>
    <dgm:cxn modelId="{1914862E-E8E9-4373-B741-55F7607A2095}" type="presOf" srcId="{551B36E2-4D58-43DC-8679-69DE068B4E27}" destId="{39C64567-0469-4D94-9D3F-C9BD598A01F0}" srcOrd="0" destOrd="0" presId="urn:microsoft.com/office/officeart/2005/8/layout/chevron1"/>
    <dgm:cxn modelId="{0EBB053A-3213-4C7D-A9DD-66F628DAEB4D}" srcId="{A784660E-033B-40CC-937E-282FBDFB06B6}" destId="{6FF8E6C6-88F8-4649-AFDE-E1C19AF530B6}" srcOrd="0" destOrd="0" parTransId="{69301C73-0D62-4F71-8A81-B50C8E702D96}" sibTransId="{CE3618A5-5C8C-4B38-BD2A-DE7EAA36B658}"/>
    <dgm:cxn modelId="{46906478-7ABD-4244-8A4B-7E2FECA89CF7}" srcId="{A784660E-033B-40CC-937E-282FBDFB06B6}" destId="{AE211333-CB53-4D10-8316-040885B25433}" srcOrd="1" destOrd="0" parTransId="{0DF8F0DC-F000-4BCE-8362-48A92889E9CA}" sibTransId="{F5162BFD-5DEF-4B7E-B20F-C1412E97C04F}"/>
    <dgm:cxn modelId="{6761907C-2EEF-4089-A371-4D782EE84913}" type="presOf" srcId="{6FF8E6C6-88F8-4649-AFDE-E1C19AF530B6}" destId="{0F2B6B97-BC87-4E3F-82D4-BA05289D203C}" srcOrd="0" destOrd="0" presId="urn:microsoft.com/office/officeart/2005/8/layout/chevron1"/>
    <dgm:cxn modelId="{A3FC529E-6E71-4214-891D-413F5153AA78}" type="presOf" srcId="{A784660E-033B-40CC-937E-282FBDFB06B6}" destId="{E3A9F4DC-99D8-4F48-B28A-A1B2D88538E8}" srcOrd="0" destOrd="0" presId="urn:microsoft.com/office/officeart/2005/8/layout/chevron1"/>
    <dgm:cxn modelId="{DDA046A8-478C-4357-810F-E5129143B807}" type="presOf" srcId="{AE211333-CB53-4D10-8316-040885B25433}" destId="{E493BDC1-1BD7-4E90-B6C5-583DED5B710D}" srcOrd="0" destOrd="0" presId="urn:microsoft.com/office/officeart/2005/8/layout/chevron1"/>
    <dgm:cxn modelId="{8762536F-D24B-4192-B4E9-4DC76DE02C0C}" type="presParOf" srcId="{E3A9F4DC-99D8-4F48-B28A-A1B2D88538E8}" destId="{0F2B6B97-BC87-4E3F-82D4-BA05289D203C}" srcOrd="0" destOrd="0" presId="urn:microsoft.com/office/officeart/2005/8/layout/chevron1"/>
    <dgm:cxn modelId="{BFAE6DC8-3C26-43A3-95DB-CDA3BD68031A}" type="presParOf" srcId="{E3A9F4DC-99D8-4F48-B28A-A1B2D88538E8}" destId="{69B05D95-48E5-4087-95E2-6CE6D0FD1497}" srcOrd="1" destOrd="0" presId="urn:microsoft.com/office/officeart/2005/8/layout/chevron1"/>
    <dgm:cxn modelId="{C1C30581-D84B-4107-B3E5-62814D6FB7BE}" type="presParOf" srcId="{E3A9F4DC-99D8-4F48-B28A-A1B2D88538E8}" destId="{E493BDC1-1BD7-4E90-B6C5-583DED5B710D}" srcOrd="2" destOrd="0" presId="urn:microsoft.com/office/officeart/2005/8/layout/chevron1"/>
    <dgm:cxn modelId="{819D9EBA-8116-4FA7-8C96-61250A8628BE}" type="presParOf" srcId="{E3A9F4DC-99D8-4F48-B28A-A1B2D88538E8}" destId="{25BC2056-EB91-417C-A5FE-D99AA0A5BC19}" srcOrd="3" destOrd="0" presId="urn:microsoft.com/office/officeart/2005/8/layout/chevron1"/>
    <dgm:cxn modelId="{FB6675C7-E1E6-4AB1-91B4-F215209325B2}" type="presParOf" srcId="{E3A9F4DC-99D8-4F48-B28A-A1B2D88538E8}" destId="{39C64567-0469-4D94-9D3F-C9BD598A01F0}" srcOrd="4" destOrd="0" presId="urn:microsoft.com/office/officeart/2005/8/layout/chevron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1BE7D3-53C3-455B-97AC-B2A59114513F}">
      <dsp:nvSpPr>
        <dsp:cNvPr id="0" name=""/>
        <dsp:cNvSpPr/>
      </dsp:nvSpPr>
      <dsp:spPr>
        <a:xfrm>
          <a:off x="2518" y="1327055"/>
          <a:ext cx="3068312" cy="1227325"/>
        </a:xfrm>
        <a:prstGeom prst="chevron">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it-IT" sz="1800" kern="1200" dirty="0"/>
            <a:t>Inserimento dati contrattuali</a:t>
          </a:r>
        </a:p>
      </dsp:txBody>
      <dsp:txXfrm>
        <a:off x="616181" y="1327055"/>
        <a:ext cx="1840987" cy="1227325"/>
      </dsp:txXfrm>
    </dsp:sp>
    <dsp:sp modelId="{D5812C69-7857-4A90-B144-DA6291E88201}">
      <dsp:nvSpPr>
        <dsp:cNvPr id="0" name=""/>
        <dsp:cNvSpPr/>
      </dsp:nvSpPr>
      <dsp:spPr>
        <a:xfrm>
          <a:off x="2763999" y="1327055"/>
          <a:ext cx="3068312" cy="1227325"/>
        </a:xfrm>
        <a:prstGeom prst="chevron">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it-IT" sz="1800" kern="1200" dirty="0"/>
            <a:t>Up Load dei documenti </a:t>
          </a:r>
        </a:p>
      </dsp:txBody>
      <dsp:txXfrm>
        <a:off x="3377662" y="1327055"/>
        <a:ext cx="1840987" cy="1227325"/>
      </dsp:txXfrm>
    </dsp:sp>
    <dsp:sp modelId="{425EE996-228F-4697-B5AC-0DFD84753562}">
      <dsp:nvSpPr>
        <dsp:cNvPr id="0" name=""/>
        <dsp:cNvSpPr/>
      </dsp:nvSpPr>
      <dsp:spPr>
        <a:xfrm>
          <a:off x="5525481" y="1327055"/>
          <a:ext cx="3068312" cy="1227325"/>
        </a:xfrm>
        <a:prstGeom prst="chevron">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it-IT" sz="1800" kern="1200" dirty="0"/>
            <a:t>Ricezione da parte del cliente di sms/mail da confermare</a:t>
          </a:r>
        </a:p>
      </dsp:txBody>
      <dsp:txXfrm>
        <a:off x="6139144" y="1327055"/>
        <a:ext cx="1840987" cy="122732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2B6B97-BC87-4E3F-82D4-BA05289D203C}">
      <dsp:nvSpPr>
        <dsp:cNvPr id="0" name=""/>
        <dsp:cNvSpPr/>
      </dsp:nvSpPr>
      <dsp:spPr>
        <a:xfrm>
          <a:off x="2381" y="2129102"/>
          <a:ext cx="2901156" cy="1160462"/>
        </a:xfrm>
        <a:prstGeom prst="chevron">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it-IT" sz="1400" kern="1200" dirty="0"/>
            <a:t>Caricare sul </a:t>
          </a:r>
          <a:r>
            <a:rPr lang="it-IT" sz="1400" kern="1200" dirty="0" err="1"/>
            <a:t>GreenLab</a:t>
          </a:r>
          <a:r>
            <a:rPr lang="it-IT" sz="1400" kern="1200" dirty="0"/>
            <a:t> il fascicolo prodotto dall’area e la privacy a parte </a:t>
          </a:r>
        </a:p>
      </dsp:txBody>
      <dsp:txXfrm>
        <a:off x="582612" y="2129102"/>
        <a:ext cx="1740694" cy="1160462"/>
      </dsp:txXfrm>
    </dsp:sp>
    <dsp:sp modelId="{E493BDC1-1BD7-4E90-B6C5-583DED5B710D}">
      <dsp:nvSpPr>
        <dsp:cNvPr id="0" name=""/>
        <dsp:cNvSpPr/>
      </dsp:nvSpPr>
      <dsp:spPr>
        <a:xfrm>
          <a:off x="2613421" y="2129102"/>
          <a:ext cx="2901156" cy="1160462"/>
        </a:xfrm>
        <a:prstGeom prst="chevron">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it-IT" sz="1400" kern="1200" dirty="0"/>
            <a:t>Il cliente riceve da </a:t>
          </a:r>
          <a:r>
            <a:rPr lang="it-IT" sz="1400" kern="1200" dirty="0" err="1"/>
            <a:t>Cogeme</a:t>
          </a:r>
          <a:r>
            <a:rPr lang="it-IT" sz="1400" kern="1200" dirty="0"/>
            <a:t> una chiamata di conferma (3 Tentativi) e la welcome </a:t>
          </a:r>
          <a:r>
            <a:rPr lang="it-IT" sz="1400" kern="1200" dirty="0" err="1"/>
            <a:t>letter</a:t>
          </a:r>
          <a:endParaRPr lang="it-IT" sz="1400" kern="1200" dirty="0"/>
        </a:p>
      </dsp:txBody>
      <dsp:txXfrm>
        <a:off x="3193652" y="2129102"/>
        <a:ext cx="1740694" cy="1160462"/>
      </dsp:txXfrm>
    </dsp:sp>
    <dsp:sp modelId="{39C64567-0469-4D94-9D3F-C9BD598A01F0}">
      <dsp:nvSpPr>
        <dsp:cNvPr id="0" name=""/>
        <dsp:cNvSpPr/>
      </dsp:nvSpPr>
      <dsp:spPr>
        <a:xfrm>
          <a:off x="5224462" y="2129102"/>
          <a:ext cx="2901156" cy="1160462"/>
        </a:xfrm>
        <a:prstGeom prst="chevron">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it-IT" sz="1400" kern="1200" dirty="0"/>
            <a:t>Contratto concluso</a:t>
          </a:r>
        </a:p>
      </dsp:txBody>
      <dsp:txXfrm>
        <a:off x="5804693" y="2129102"/>
        <a:ext cx="1740694" cy="1160462"/>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tito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B61BEF0D-F0BB-DE4B-95CE-6DB70DBA9567}" type="datetimeFigureOut">
              <a:rPr lang="en-US" dirty="0"/>
              <a:pPr/>
              <a:t>9/5/2025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9/5/2025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it-IT"/>
              <a:t>Fare clic per modificare lo stile del titolo dello schema</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it-IT"/>
              <a:t>Fare clic per modificare lo stile del titolo dello schema</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2A54C80-263E-416B-A8E0-580EDEADCBDC}" type="datetimeFigureOut">
              <a:rPr lang="en-US" dirty="0"/>
              <a:t>9/5/2025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B61BEF0D-F0BB-DE4B-95CE-6DB70DBA9567}" type="datetimeFigureOut">
              <a:rPr lang="en-US" dirty="0"/>
              <a:pPr/>
              <a:t>9/5/2025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B61BEF0D-F0BB-DE4B-95CE-6DB70DBA9567}" type="datetimeFigureOut">
              <a:rPr lang="en-US" dirty="0"/>
              <a:pPr/>
              <a:t>9/5/2025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it-IT"/>
              <a:t>Fare clic per modificare lo stile del titolo dello schema</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it-IT"/>
              <a:t>Fare clic per modificare gli stili del testo dello schema</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B61BEF0D-F0BB-DE4B-95CE-6DB70DBA9567}" type="datetimeFigureOut">
              <a:rPr lang="en-US" dirty="0"/>
              <a:pPr/>
              <a:t>9/5/2025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B61BEF0D-F0BB-DE4B-95CE-6DB70DBA9567}" type="datetimeFigureOut">
              <a:rPr lang="en-US" dirty="0"/>
              <a:pPr/>
              <a:t>9/5/2025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citazion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it-IT"/>
              <a:t>Fare clic per modificare lo stile del titolo dello schema</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it-IT"/>
              <a:t>Fare clic per modificare gli stili del testo dello schema</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B61BEF0D-F0BB-DE4B-95CE-6DB70DBA9567}" type="datetimeFigureOut">
              <a:rPr lang="en-US" dirty="0"/>
              <a:pPr/>
              <a:t>9/5/2025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it-IT"/>
              <a:t>Fare clic per modificare lo stile del titolo dello schema</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it-IT"/>
              <a:t>Fare clic per modificare gli stili del testo dello schema</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B61BEF0D-F0BB-DE4B-95CE-6DB70DBA9567}" type="datetimeFigureOut">
              <a:rPr lang="en-US" dirty="0"/>
              <a:pPr/>
              <a:t>9/5/2025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9/5/2025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9/5/2025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A999683-7DF8-620C-68AF-F4037C9E2E6B}"/>
              </a:ext>
            </a:extLst>
          </p:cNvPr>
          <p:cNvSpPr>
            <a:spLocks noGrp="1"/>
          </p:cNvSpPr>
          <p:nvPr>
            <p:ph type="ctrTitle"/>
          </p:nvPr>
        </p:nvSpPr>
        <p:spPr/>
        <p:txBody>
          <a:bodyPr/>
          <a:lstStyle/>
          <a:p>
            <a:r>
              <a:rPr lang="it-IT" dirty="0" err="1"/>
              <a:t>Cogeme</a:t>
            </a:r>
            <a:r>
              <a:rPr lang="it-IT" dirty="0"/>
              <a:t> Energia</a:t>
            </a:r>
          </a:p>
        </p:txBody>
      </p:sp>
      <p:sp>
        <p:nvSpPr>
          <p:cNvPr id="3" name="Sottotitolo 2">
            <a:extLst>
              <a:ext uri="{FF2B5EF4-FFF2-40B4-BE49-F238E27FC236}">
                <a16:creationId xmlns:a16="http://schemas.microsoft.com/office/drawing/2014/main" id="{CAAD9883-C812-7EC6-3EC7-C0773A661009}"/>
              </a:ext>
            </a:extLst>
          </p:cNvPr>
          <p:cNvSpPr>
            <a:spLocks noGrp="1"/>
          </p:cNvSpPr>
          <p:nvPr>
            <p:ph type="subTitle" idx="1"/>
          </p:nvPr>
        </p:nvSpPr>
        <p:spPr/>
        <p:txBody>
          <a:bodyPr/>
          <a:lstStyle/>
          <a:p>
            <a:r>
              <a:rPr lang="it-IT" dirty="0"/>
              <a:t>04/09/2025</a:t>
            </a:r>
          </a:p>
        </p:txBody>
      </p:sp>
    </p:spTree>
    <p:extLst>
      <p:ext uri="{BB962C8B-B14F-4D97-AF65-F5344CB8AC3E}">
        <p14:creationId xmlns:p14="http://schemas.microsoft.com/office/powerpoint/2010/main" val="200330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87F5FE6-BAF3-3FDE-965D-CA4424390640}"/>
              </a:ext>
            </a:extLst>
          </p:cNvPr>
          <p:cNvSpPr>
            <a:spLocks noGrp="1"/>
          </p:cNvSpPr>
          <p:nvPr>
            <p:ph type="title"/>
          </p:nvPr>
        </p:nvSpPr>
        <p:spPr/>
        <p:txBody>
          <a:bodyPr/>
          <a:lstStyle/>
          <a:p>
            <a:r>
              <a:rPr lang="it-IT" dirty="0"/>
              <a:t>🎯 Obiettivi del corso</a:t>
            </a:r>
          </a:p>
        </p:txBody>
      </p:sp>
      <p:sp>
        <p:nvSpPr>
          <p:cNvPr id="3" name="Segnaposto contenuto 2">
            <a:extLst>
              <a:ext uri="{FF2B5EF4-FFF2-40B4-BE49-F238E27FC236}">
                <a16:creationId xmlns:a16="http://schemas.microsoft.com/office/drawing/2014/main" id="{23025F91-FF33-C521-AC1D-11FF68A1CA26}"/>
              </a:ext>
            </a:extLst>
          </p:cNvPr>
          <p:cNvSpPr>
            <a:spLocks noGrp="1"/>
          </p:cNvSpPr>
          <p:nvPr>
            <p:ph idx="1"/>
          </p:nvPr>
        </p:nvSpPr>
        <p:spPr/>
        <p:txBody>
          <a:bodyPr>
            <a:normAutofit fontScale="85000" lnSpcReduction="20000"/>
          </a:bodyPr>
          <a:lstStyle/>
          <a:p>
            <a:pPr>
              <a:buFont typeface="Arial" panose="020B0604020202020204" pitchFamily="34" charset="0"/>
              <a:buChar char="•"/>
            </a:pPr>
            <a:r>
              <a:rPr lang="it-IT" b="1" dirty="0"/>
              <a:t>Apprendere le nozioni base per il caricamento di un contratto</a:t>
            </a:r>
            <a:r>
              <a:rPr lang="it-IT" dirty="0"/>
              <a:t> all’interno del gestionale </a:t>
            </a:r>
            <a:r>
              <a:rPr lang="it-IT" b="1" dirty="0" err="1"/>
              <a:t>Cogeme</a:t>
            </a:r>
            <a:r>
              <a:rPr lang="it-IT" b="1" dirty="0"/>
              <a:t> Energia</a:t>
            </a:r>
            <a:endParaRPr lang="it-IT" dirty="0"/>
          </a:p>
          <a:p>
            <a:pPr marL="742950" lvl="1" indent="-285750">
              <a:buFont typeface="Arial" panose="020B0604020202020204" pitchFamily="34" charset="0"/>
              <a:buChar char="•"/>
            </a:pPr>
            <a:r>
              <a:rPr lang="it-IT" dirty="0"/>
              <a:t>Comprendere la procedura passo per passo</a:t>
            </a:r>
          </a:p>
          <a:p>
            <a:pPr marL="742950" lvl="1" indent="-285750">
              <a:buFont typeface="Arial" panose="020B0604020202020204" pitchFamily="34" charset="0"/>
              <a:buChar char="•"/>
            </a:pPr>
            <a:r>
              <a:rPr lang="it-IT" dirty="0"/>
              <a:t>Evitare gli errori più comuni in fase di inserimento</a:t>
            </a:r>
          </a:p>
          <a:p>
            <a:pPr marL="742950" lvl="1" indent="-285750">
              <a:buFont typeface="Arial" panose="020B0604020202020204" pitchFamily="34" charset="0"/>
              <a:buChar char="•"/>
            </a:pPr>
            <a:r>
              <a:rPr lang="it-IT" dirty="0"/>
              <a:t>Garantire completezza e correttezza dei dati caricati</a:t>
            </a:r>
          </a:p>
          <a:p>
            <a:pPr>
              <a:buFont typeface="Arial" panose="020B0604020202020204" pitchFamily="34" charset="0"/>
              <a:buChar char="•"/>
            </a:pPr>
            <a:r>
              <a:rPr lang="it-IT" b="1" dirty="0"/>
              <a:t>Analizzare le offerte commerciali disponibili</a:t>
            </a:r>
            <a:endParaRPr lang="it-IT" dirty="0"/>
          </a:p>
          <a:p>
            <a:pPr marL="742950" lvl="1" indent="-285750">
              <a:buFont typeface="Arial" panose="020B0604020202020204" pitchFamily="34" charset="0"/>
              <a:buChar char="•"/>
            </a:pPr>
            <a:r>
              <a:rPr lang="it-IT" dirty="0"/>
              <a:t>Conoscere le principali tipologie di offerte</a:t>
            </a:r>
          </a:p>
          <a:p>
            <a:pPr marL="742950" lvl="1" indent="-285750">
              <a:buFont typeface="Arial" panose="020B0604020202020204" pitchFamily="34" charset="0"/>
              <a:buChar char="•"/>
            </a:pPr>
            <a:r>
              <a:rPr lang="it-IT" dirty="0"/>
              <a:t>Capire come leggerle e confrontarle correttamente</a:t>
            </a:r>
          </a:p>
          <a:p>
            <a:pPr marL="742950" lvl="1" indent="-285750">
              <a:buFont typeface="Arial" panose="020B0604020202020204" pitchFamily="34" charset="0"/>
              <a:buChar char="•"/>
            </a:pPr>
            <a:r>
              <a:rPr lang="it-IT" dirty="0"/>
              <a:t>Saper indirizzare il cliente verso la soluzione più adatta alle sue esigenze</a:t>
            </a:r>
          </a:p>
          <a:p>
            <a:pPr>
              <a:buFont typeface="Arial" panose="020B0604020202020204" pitchFamily="34" charset="0"/>
              <a:buChar char="•"/>
            </a:pPr>
            <a:r>
              <a:rPr lang="it-IT" b="1" dirty="0"/>
              <a:t>FAQ e casi pratici</a:t>
            </a:r>
            <a:endParaRPr lang="it-IT" dirty="0"/>
          </a:p>
          <a:p>
            <a:pPr marL="742950" lvl="1" indent="-285750">
              <a:buFont typeface="Arial" panose="020B0604020202020204" pitchFamily="34" charset="0"/>
              <a:buChar char="•"/>
            </a:pPr>
            <a:r>
              <a:rPr lang="it-IT" dirty="0"/>
              <a:t>Rispondere ai dubbi più frequenti</a:t>
            </a:r>
          </a:p>
          <a:p>
            <a:pPr marL="742950" lvl="1" indent="-285750">
              <a:buFont typeface="Arial" panose="020B0604020202020204" pitchFamily="34" charset="0"/>
              <a:buChar char="•"/>
            </a:pPr>
            <a:r>
              <a:rPr lang="it-IT" dirty="0"/>
              <a:t>Risolvere insieme eventuali criticità operative</a:t>
            </a:r>
          </a:p>
          <a:p>
            <a:pPr marL="742950" lvl="1" indent="-285750">
              <a:buFont typeface="Arial" panose="020B0604020202020204" pitchFamily="34" charset="0"/>
              <a:buChar char="•"/>
            </a:pPr>
            <a:r>
              <a:rPr lang="it-IT" dirty="0"/>
              <a:t>Condividere buone pratiche per lavorare in modo più semplice ed efficace</a:t>
            </a:r>
          </a:p>
          <a:p>
            <a:endParaRPr lang="it-IT" dirty="0"/>
          </a:p>
        </p:txBody>
      </p:sp>
    </p:spTree>
    <p:extLst>
      <p:ext uri="{BB962C8B-B14F-4D97-AF65-F5344CB8AC3E}">
        <p14:creationId xmlns:p14="http://schemas.microsoft.com/office/powerpoint/2010/main" val="601887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131A005-FF46-3BD2-7DFA-2169741DB55C}"/>
              </a:ext>
            </a:extLst>
          </p:cNvPr>
          <p:cNvSpPr>
            <a:spLocks noGrp="1"/>
          </p:cNvSpPr>
          <p:nvPr>
            <p:ph type="title"/>
          </p:nvPr>
        </p:nvSpPr>
        <p:spPr/>
        <p:txBody>
          <a:bodyPr/>
          <a:lstStyle/>
          <a:p>
            <a:r>
              <a:rPr lang="it-IT" dirty="0"/>
              <a:t>Clienti Acquisibili Non acquisibili</a:t>
            </a:r>
          </a:p>
        </p:txBody>
      </p:sp>
      <p:sp>
        <p:nvSpPr>
          <p:cNvPr id="3" name="Segnaposto contenuto 2">
            <a:extLst>
              <a:ext uri="{FF2B5EF4-FFF2-40B4-BE49-F238E27FC236}">
                <a16:creationId xmlns:a16="http://schemas.microsoft.com/office/drawing/2014/main" id="{613E336B-95CD-24F7-FC75-C544C0F8B652}"/>
              </a:ext>
            </a:extLst>
          </p:cNvPr>
          <p:cNvSpPr>
            <a:spLocks noGrp="1"/>
          </p:cNvSpPr>
          <p:nvPr>
            <p:ph idx="1"/>
          </p:nvPr>
        </p:nvSpPr>
        <p:spPr/>
        <p:txBody>
          <a:bodyPr/>
          <a:lstStyle/>
          <a:p>
            <a:pPr marL="0" indent="0">
              <a:buNone/>
            </a:pPr>
            <a:r>
              <a:rPr lang="it-IT" b="1" dirty="0"/>
              <a:t>                        I clienti acquisibili con il gestore sono:</a:t>
            </a:r>
          </a:p>
          <a:p>
            <a:r>
              <a:rPr lang="it-IT" dirty="0"/>
              <a:t>Residenziali</a:t>
            </a:r>
          </a:p>
          <a:p>
            <a:r>
              <a:rPr lang="it-IT" dirty="0"/>
              <a:t>Micro business</a:t>
            </a:r>
          </a:p>
          <a:p>
            <a:r>
              <a:rPr lang="it-IT" dirty="0"/>
              <a:t>Condomini</a:t>
            </a:r>
          </a:p>
          <a:p>
            <a:r>
              <a:rPr lang="it-IT" dirty="0"/>
              <a:t>Utenza con Codice Fiscale Uso Altri USI</a:t>
            </a:r>
          </a:p>
          <a:p>
            <a:r>
              <a:rPr lang="it-IT" dirty="0"/>
              <a:t>Utenza con Partita iva uso domestico </a:t>
            </a:r>
          </a:p>
          <a:p>
            <a:pPr marL="0" indent="0">
              <a:buNone/>
            </a:pPr>
            <a:r>
              <a:rPr lang="it-IT" dirty="0"/>
              <a:t>                       </a:t>
            </a:r>
            <a:r>
              <a:rPr lang="it-IT" b="1" dirty="0"/>
              <a:t>I clienti NON acquisibili con il gestore sono:</a:t>
            </a:r>
          </a:p>
          <a:p>
            <a:r>
              <a:rPr lang="it-IT" dirty="0"/>
              <a:t>Medie Tensioni</a:t>
            </a:r>
          </a:p>
          <a:p>
            <a:r>
              <a:rPr lang="it-IT" dirty="0"/>
              <a:t>Clienti Gas che vogliono fare la voltura con Switch</a:t>
            </a:r>
          </a:p>
          <a:p>
            <a:endParaRPr lang="it-IT" dirty="0"/>
          </a:p>
          <a:p>
            <a:endParaRPr lang="it-IT" dirty="0"/>
          </a:p>
        </p:txBody>
      </p:sp>
    </p:spTree>
    <p:extLst>
      <p:ext uri="{BB962C8B-B14F-4D97-AF65-F5344CB8AC3E}">
        <p14:creationId xmlns:p14="http://schemas.microsoft.com/office/powerpoint/2010/main" val="2090984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531B0F-CF24-C95B-46DC-CCBBCCF7F0D8}"/>
              </a:ext>
            </a:extLst>
          </p:cNvPr>
          <p:cNvSpPr>
            <a:spLocks noGrp="1"/>
          </p:cNvSpPr>
          <p:nvPr>
            <p:ph type="title"/>
          </p:nvPr>
        </p:nvSpPr>
        <p:spPr/>
        <p:txBody>
          <a:bodyPr/>
          <a:lstStyle/>
          <a:p>
            <a:r>
              <a:rPr lang="it-IT" dirty="0"/>
              <a:t>Clienti Acquisibili Non acquisibili</a:t>
            </a:r>
          </a:p>
        </p:txBody>
      </p:sp>
      <p:sp>
        <p:nvSpPr>
          <p:cNvPr id="3" name="Segnaposto contenuto 2">
            <a:extLst>
              <a:ext uri="{FF2B5EF4-FFF2-40B4-BE49-F238E27FC236}">
                <a16:creationId xmlns:a16="http://schemas.microsoft.com/office/drawing/2014/main" id="{C4D2ED33-D080-C148-4B91-BCEE8060199E}"/>
              </a:ext>
            </a:extLst>
          </p:cNvPr>
          <p:cNvSpPr>
            <a:spLocks noGrp="1"/>
          </p:cNvSpPr>
          <p:nvPr>
            <p:ph idx="1"/>
          </p:nvPr>
        </p:nvSpPr>
        <p:spPr/>
        <p:txBody>
          <a:bodyPr>
            <a:normAutofit fontScale="92500"/>
          </a:bodyPr>
          <a:lstStyle/>
          <a:p>
            <a:pPr marL="0" indent="0">
              <a:buNone/>
            </a:pPr>
            <a:r>
              <a:rPr lang="it-IT" b="1" dirty="0"/>
              <a:t>                  I clienti acquisibili con il gestore con una attenzione in più:</a:t>
            </a:r>
          </a:p>
          <a:p>
            <a:pPr marL="0" indent="0">
              <a:buNone/>
            </a:pPr>
            <a:r>
              <a:rPr lang="it-IT" dirty="0"/>
              <a:t>I clienti Over 80 sono acquisibili, tuttavia è necessario che un terzo si occupi della conferma della pratica (si veda modulo over 80 nella sezione modulistica)</a:t>
            </a:r>
          </a:p>
          <a:p>
            <a:pPr marL="0" indent="0">
              <a:buNone/>
            </a:pPr>
            <a:endParaRPr lang="it-IT" b="1" dirty="0"/>
          </a:p>
          <a:p>
            <a:pPr marL="0" indent="0">
              <a:buNone/>
            </a:pPr>
            <a:r>
              <a:rPr lang="it-IT" b="1" dirty="0"/>
              <a:t>                  I clienti acquisibili zone:</a:t>
            </a:r>
          </a:p>
          <a:p>
            <a:pPr marL="0" indent="0">
              <a:buNone/>
            </a:pPr>
            <a:r>
              <a:rPr lang="it-IT" dirty="0"/>
              <a:t>La vendita è in tutta Italia ad eccezione di Campania e Calabria</a:t>
            </a:r>
          </a:p>
          <a:p>
            <a:pPr marL="0" indent="0">
              <a:buNone/>
            </a:pPr>
            <a:r>
              <a:rPr lang="it-IT" b="1" dirty="0"/>
              <a:t>                  I clienti acquisibili modalità di pagamento e recapito fatture:</a:t>
            </a:r>
          </a:p>
          <a:p>
            <a:pPr marL="0" indent="0">
              <a:buNone/>
            </a:pPr>
            <a:r>
              <a:rPr lang="it-IT" dirty="0"/>
              <a:t>Aziende: Obbligo bolletta WEB e Pagamento SDD </a:t>
            </a:r>
          </a:p>
          <a:p>
            <a:pPr marL="0" indent="0">
              <a:buNone/>
            </a:pPr>
            <a:r>
              <a:rPr lang="it-IT" dirty="0"/>
              <a:t>Privati: disponibile modalità cartacea (o/o: o cliente chiede il cartaceo o la bolletta dematerializzata non sono disponibili entrambe le soluzioni) disponibile pagamento con Bollettino, nel caso informare il cliente che è prevista la cauzione.</a:t>
            </a:r>
          </a:p>
        </p:txBody>
      </p:sp>
    </p:spTree>
    <p:extLst>
      <p:ext uri="{BB962C8B-B14F-4D97-AF65-F5344CB8AC3E}">
        <p14:creationId xmlns:p14="http://schemas.microsoft.com/office/powerpoint/2010/main" val="11952117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DF785D4-5BF0-7EC7-6D34-5D0907FF5179}"/>
              </a:ext>
            </a:extLst>
          </p:cNvPr>
          <p:cNvSpPr>
            <a:spLocks noGrp="1"/>
          </p:cNvSpPr>
          <p:nvPr>
            <p:ph type="title"/>
          </p:nvPr>
        </p:nvSpPr>
        <p:spPr/>
        <p:txBody>
          <a:bodyPr/>
          <a:lstStyle/>
          <a:p>
            <a:r>
              <a:rPr lang="it-IT" dirty="0"/>
              <a:t>Operazioni commerciali disponibili</a:t>
            </a:r>
          </a:p>
        </p:txBody>
      </p:sp>
      <p:sp>
        <p:nvSpPr>
          <p:cNvPr id="3" name="Segnaposto contenuto 2">
            <a:extLst>
              <a:ext uri="{FF2B5EF4-FFF2-40B4-BE49-F238E27FC236}">
                <a16:creationId xmlns:a16="http://schemas.microsoft.com/office/drawing/2014/main" id="{46CBCB6F-E86C-9A8B-2A2F-2AD2E3EF4731}"/>
              </a:ext>
            </a:extLst>
          </p:cNvPr>
          <p:cNvSpPr>
            <a:spLocks noGrp="1"/>
          </p:cNvSpPr>
          <p:nvPr>
            <p:ph idx="1"/>
          </p:nvPr>
        </p:nvSpPr>
        <p:spPr/>
        <p:txBody>
          <a:bodyPr/>
          <a:lstStyle/>
          <a:p>
            <a:r>
              <a:rPr lang="it-IT" dirty="0"/>
              <a:t>Switch</a:t>
            </a:r>
          </a:p>
          <a:p>
            <a:r>
              <a:rPr lang="it-IT" dirty="0"/>
              <a:t>Voltura Titolo IV (disponibile solo per l’energia per regole ARERA)</a:t>
            </a:r>
          </a:p>
          <a:p>
            <a:r>
              <a:rPr lang="it-IT" dirty="0"/>
              <a:t>Posa Contatori</a:t>
            </a:r>
          </a:p>
          <a:p>
            <a:r>
              <a:rPr lang="it-IT" dirty="0"/>
              <a:t>Subentri</a:t>
            </a:r>
          </a:p>
        </p:txBody>
      </p:sp>
    </p:spTree>
    <p:extLst>
      <p:ext uri="{BB962C8B-B14F-4D97-AF65-F5344CB8AC3E}">
        <p14:creationId xmlns:p14="http://schemas.microsoft.com/office/powerpoint/2010/main" val="1240200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A1448AB-51B5-643C-4E20-7F7E5AB84AF2}"/>
              </a:ext>
            </a:extLst>
          </p:cNvPr>
          <p:cNvSpPr>
            <a:spLocks noGrp="1"/>
          </p:cNvSpPr>
          <p:nvPr>
            <p:ph type="title"/>
          </p:nvPr>
        </p:nvSpPr>
        <p:spPr/>
        <p:txBody>
          <a:bodyPr/>
          <a:lstStyle/>
          <a:p>
            <a:r>
              <a:rPr lang="it-IT" dirty="0"/>
              <a:t>Predisposizione documenti commerciali</a:t>
            </a:r>
          </a:p>
        </p:txBody>
      </p:sp>
      <p:sp>
        <p:nvSpPr>
          <p:cNvPr id="3" name="Segnaposto contenuto 2">
            <a:extLst>
              <a:ext uri="{FF2B5EF4-FFF2-40B4-BE49-F238E27FC236}">
                <a16:creationId xmlns:a16="http://schemas.microsoft.com/office/drawing/2014/main" id="{A68FE201-C8DF-031D-D132-A1B5E631476D}"/>
              </a:ext>
            </a:extLst>
          </p:cNvPr>
          <p:cNvSpPr>
            <a:spLocks noGrp="1"/>
          </p:cNvSpPr>
          <p:nvPr>
            <p:ph idx="1"/>
          </p:nvPr>
        </p:nvSpPr>
        <p:spPr/>
        <p:txBody>
          <a:bodyPr/>
          <a:lstStyle/>
          <a:p>
            <a:r>
              <a:rPr lang="it-IT" dirty="0"/>
              <a:t>Per Domestici</a:t>
            </a:r>
          </a:p>
          <a:p>
            <a:r>
              <a:rPr lang="it-IT" dirty="0"/>
              <a:t>PDA (dati anagrafici e tecnici/ mail/ telefono/ SDD)</a:t>
            </a:r>
          </a:p>
          <a:p>
            <a:r>
              <a:rPr lang="it-IT" dirty="0"/>
              <a:t>CTE scelta</a:t>
            </a:r>
          </a:p>
          <a:p>
            <a:r>
              <a:rPr lang="it-IT" dirty="0"/>
              <a:t>Bolletta recente MAX 3 mesi con pagamenti regolari</a:t>
            </a:r>
          </a:p>
          <a:p>
            <a:r>
              <a:rPr lang="it-IT" dirty="0"/>
              <a:t>Documento identità fronte retro leggibile non scaduto (sono ammessi in alternativa passaporto o patente di guida). In caso di documento di identità in formato «vecchio» consigliamo di associare anche la tessera sanitaria)</a:t>
            </a:r>
          </a:p>
          <a:p>
            <a:r>
              <a:rPr lang="it-IT" dirty="0"/>
              <a:t>Privacy Greenworld</a:t>
            </a:r>
          </a:p>
        </p:txBody>
      </p:sp>
    </p:spTree>
    <p:extLst>
      <p:ext uri="{BB962C8B-B14F-4D97-AF65-F5344CB8AC3E}">
        <p14:creationId xmlns:p14="http://schemas.microsoft.com/office/powerpoint/2010/main" val="21207361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A1448AB-51B5-643C-4E20-7F7E5AB84AF2}"/>
              </a:ext>
            </a:extLst>
          </p:cNvPr>
          <p:cNvSpPr>
            <a:spLocks noGrp="1"/>
          </p:cNvSpPr>
          <p:nvPr>
            <p:ph type="title"/>
          </p:nvPr>
        </p:nvSpPr>
        <p:spPr/>
        <p:txBody>
          <a:bodyPr/>
          <a:lstStyle/>
          <a:p>
            <a:r>
              <a:rPr lang="it-IT" dirty="0"/>
              <a:t>Predisposizione documenti commerciali</a:t>
            </a:r>
          </a:p>
        </p:txBody>
      </p:sp>
      <p:sp>
        <p:nvSpPr>
          <p:cNvPr id="3" name="Segnaposto contenuto 2">
            <a:extLst>
              <a:ext uri="{FF2B5EF4-FFF2-40B4-BE49-F238E27FC236}">
                <a16:creationId xmlns:a16="http://schemas.microsoft.com/office/drawing/2014/main" id="{A68FE201-C8DF-031D-D132-A1B5E631476D}"/>
              </a:ext>
            </a:extLst>
          </p:cNvPr>
          <p:cNvSpPr>
            <a:spLocks noGrp="1"/>
          </p:cNvSpPr>
          <p:nvPr>
            <p:ph idx="1"/>
          </p:nvPr>
        </p:nvSpPr>
        <p:spPr/>
        <p:txBody>
          <a:bodyPr/>
          <a:lstStyle/>
          <a:p>
            <a:r>
              <a:rPr lang="it-IT" dirty="0"/>
              <a:t>Per Aziende</a:t>
            </a:r>
          </a:p>
          <a:p>
            <a:r>
              <a:rPr lang="it-IT" dirty="0"/>
              <a:t>PDA (dati anagrafici e tecnici/mail/</a:t>
            </a:r>
            <a:r>
              <a:rPr lang="it-IT" dirty="0" err="1"/>
              <a:t>pec</a:t>
            </a:r>
            <a:r>
              <a:rPr lang="it-IT" dirty="0"/>
              <a:t>/SDI/telefono/ SDD)</a:t>
            </a:r>
          </a:p>
          <a:p>
            <a:r>
              <a:rPr lang="it-IT" dirty="0"/>
              <a:t>CTE scelta</a:t>
            </a:r>
          </a:p>
          <a:p>
            <a:r>
              <a:rPr lang="it-IT" dirty="0"/>
              <a:t>Bolletta recente MAX 3 mesi con pagamenti regolari</a:t>
            </a:r>
          </a:p>
          <a:p>
            <a:r>
              <a:rPr lang="it-IT" dirty="0"/>
              <a:t>Documento identità fronte retro leggibile non scaduto (sono ammessi in alternativa passaporto o patente di guida). In caso di documento di identità in formato «vecchio» consigliamo di associare anche la tessera sanitaria)</a:t>
            </a:r>
          </a:p>
          <a:p>
            <a:r>
              <a:rPr lang="it-IT" dirty="0"/>
              <a:t>Visura camerale non </a:t>
            </a:r>
            <a:r>
              <a:rPr lang="it-IT" dirty="0" err="1"/>
              <a:t>piu</a:t>
            </a:r>
            <a:r>
              <a:rPr lang="it-IT" dirty="0"/>
              <a:t> vecchia di 6 mesi </a:t>
            </a:r>
          </a:p>
          <a:p>
            <a:r>
              <a:rPr lang="it-IT" dirty="0"/>
              <a:t>Eventuali moduli per agevolazioni fiscali iva o accise</a:t>
            </a:r>
          </a:p>
          <a:p>
            <a:r>
              <a:rPr lang="it-IT" dirty="0"/>
              <a:t>Privacy Greenworld</a:t>
            </a:r>
          </a:p>
        </p:txBody>
      </p:sp>
    </p:spTree>
    <p:extLst>
      <p:ext uri="{BB962C8B-B14F-4D97-AF65-F5344CB8AC3E}">
        <p14:creationId xmlns:p14="http://schemas.microsoft.com/office/powerpoint/2010/main" val="276630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7CA7025-BA82-29A9-472B-057F24FE5D4E}"/>
              </a:ext>
            </a:extLst>
          </p:cNvPr>
          <p:cNvSpPr>
            <a:spLocks noGrp="1"/>
          </p:cNvSpPr>
          <p:nvPr>
            <p:ph type="title"/>
          </p:nvPr>
        </p:nvSpPr>
        <p:spPr/>
        <p:txBody>
          <a:bodyPr/>
          <a:lstStyle/>
          <a:p>
            <a:r>
              <a:rPr lang="it-IT" dirty="0"/>
              <a:t>Note</a:t>
            </a:r>
          </a:p>
        </p:txBody>
      </p:sp>
      <p:sp>
        <p:nvSpPr>
          <p:cNvPr id="3" name="Segnaposto contenuto 2">
            <a:extLst>
              <a:ext uri="{FF2B5EF4-FFF2-40B4-BE49-F238E27FC236}">
                <a16:creationId xmlns:a16="http://schemas.microsoft.com/office/drawing/2014/main" id="{3D80FA74-1236-904A-3A69-D793DDD99DAD}"/>
              </a:ext>
            </a:extLst>
          </p:cNvPr>
          <p:cNvSpPr>
            <a:spLocks noGrp="1"/>
          </p:cNvSpPr>
          <p:nvPr>
            <p:ph idx="1"/>
          </p:nvPr>
        </p:nvSpPr>
        <p:spPr/>
        <p:txBody>
          <a:bodyPr/>
          <a:lstStyle/>
          <a:p>
            <a:r>
              <a:rPr lang="it-IT" dirty="0"/>
              <a:t>Sono disponibili le PDA Editabili per la finalizzazione di un contratto in modalità tradizionale tuttavia il gestore predilige l’acquisizione con il sistema OTP (one time password), in quanto consente di ridurre gli errori e di rendere più celere il processo di acquisizione clienti.</a:t>
            </a:r>
          </a:p>
          <a:p>
            <a:endParaRPr lang="it-IT" dirty="0"/>
          </a:p>
          <a:p>
            <a:endParaRPr lang="it-IT" dirty="0"/>
          </a:p>
          <a:p>
            <a:pPr marL="0" indent="0">
              <a:buNone/>
            </a:pPr>
            <a:endParaRPr lang="it-IT" dirty="0"/>
          </a:p>
        </p:txBody>
      </p:sp>
    </p:spTree>
    <p:extLst>
      <p:ext uri="{BB962C8B-B14F-4D97-AF65-F5344CB8AC3E}">
        <p14:creationId xmlns:p14="http://schemas.microsoft.com/office/powerpoint/2010/main" val="2058978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75EB93B-EE98-0C05-45DD-06CAA42F638F}"/>
              </a:ext>
            </a:extLst>
          </p:cNvPr>
          <p:cNvSpPr>
            <a:spLocks noGrp="1"/>
          </p:cNvSpPr>
          <p:nvPr>
            <p:ph type="title"/>
          </p:nvPr>
        </p:nvSpPr>
        <p:spPr/>
        <p:txBody>
          <a:bodyPr/>
          <a:lstStyle/>
          <a:p>
            <a:r>
              <a:rPr lang="it-IT" dirty="0"/>
              <a:t>I vantaggi dell’OTP</a:t>
            </a:r>
          </a:p>
        </p:txBody>
      </p:sp>
      <p:sp>
        <p:nvSpPr>
          <p:cNvPr id="4" name="Rectangle 1">
            <a:extLst>
              <a:ext uri="{FF2B5EF4-FFF2-40B4-BE49-F238E27FC236}">
                <a16:creationId xmlns:a16="http://schemas.microsoft.com/office/drawing/2014/main" id="{86433733-A75F-71E5-2209-6464A1BAC128}"/>
              </a:ext>
            </a:extLst>
          </p:cNvPr>
          <p:cNvSpPr>
            <a:spLocks noGrp="1" noChangeArrowheads="1"/>
          </p:cNvSpPr>
          <p:nvPr>
            <p:ph idx="1"/>
          </p:nvPr>
        </p:nvSpPr>
        <p:spPr bwMode="auto">
          <a:xfrm>
            <a:off x="677334" y="1369610"/>
            <a:ext cx="627607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800" b="0" i="0" u="none" strike="noStrike" cap="none" normalizeH="0" baseline="0" dirty="0">
                <a:ln>
                  <a:noFill/>
                </a:ln>
                <a:solidFill>
                  <a:schemeClr val="tx1"/>
                </a:solidFill>
                <a:effectLst/>
                <a:latin typeface="Arial" panose="020B0604020202020204" pitchFamily="34" charset="0"/>
              </a:rPr>
              <a:t>⚡ </a:t>
            </a:r>
            <a:r>
              <a:rPr kumimoji="0" lang="it-IT" altLang="it-IT" sz="1800" b="1" i="0" u="none" strike="noStrike" cap="none" normalizeH="0" baseline="0" dirty="0">
                <a:ln>
                  <a:noFill/>
                </a:ln>
                <a:solidFill>
                  <a:schemeClr val="tx1"/>
                </a:solidFill>
                <a:effectLst/>
                <a:latin typeface="Arial" panose="020B0604020202020204" pitchFamily="34" charset="0"/>
              </a:rPr>
              <a:t>Velocità</a:t>
            </a:r>
            <a:r>
              <a:rPr kumimoji="0" lang="it-IT" altLang="it-IT" sz="1800" b="0" i="0" u="none" strike="noStrike" cap="none" normalizeH="0" baseline="0" dirty="0">
                <a:ln>
                  <a:noFill/>
                </a:ln>
                <a:solidFill>
                  <a:schemeClr val="tx1"/>
                </a:solidFill>
                <a:effectLst/>
                <a:latin typeface="Arial" panose="020B0604020202020204" pitchFamily="34" charset="0"/>
              </a:rPr>
              <a:t>: il cliente firma velocemente.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800" b="0" i="0" u="none" strike="noStrike" cap="none" normalizeH="0" baseline="0" dirty="0">
                <a:ln>
                  <a:noFill/>
                </a:ln>
                <a:solidFill>
                  <a:schemeClr val="tx1"/>
                </a:solidFill>
                <a:effectLst/>
                <a:latin typeface="Arial" panose="020B0604020202020204" pitchFamily="34" charset="0"/>
              </a:rPr>
              <a:t>📈 </a:t>
            </a:r>
            <a:r>
              <a:rPr kumimoji="0" lang="it-IT" altLang="it-IT" sz="1800" b="1" i="0" u="none" strike="noStrike" cap="none" normalizeH="0" baseline="0" dirty="0">
                <a:ln>
                  <a:noFill/>
                </a:ln>
                <a:solidFill>
                  <a:schemeClr val="tx1"/>
                </a:solidFill>
                <a:effectLst/>
                <a:latin typeface="Arial" panose="020B0604020202020204" pitchFamily="34" charset="0"/>
              </a:rPr>
              <a:t>Più contratti chiusi</a:t>
            </a:r>
            <a:r>
              <a:rPr kumimoji="0" lang="it-IT" altLang="it-IT" sz="1800" b="0" i="0" u="none" strike="noStrike" cap="none" normalizeH="0" baseline="0" dirty="0">
                <a:ln>
                  <a:noFill/>
                </a:ln>
                <a:solidFill>
                  <a:schemeClr val="tx1"/>
                </a:solidFill>
                <a:effectLst/>
                <a:latin typeface="Arial" panose="020B0604020202020204" pitchFamily="34" charset="0"/>
              </a:rPr>
              <a:t> = più provvigioni.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800" b="0" i="0" u="none" strike="noStrike" cap="none" normalizeH="0" baseline="0" dirty="0">
                <a:ln>
                  <a:noFill/>
                </a:ln>
                <a:solidFill>
                  <a:schemeClr val="tx1"/>
                </a:solidFill>
                <a:effectLst/>
                <a:latin typeface="Arial" panose="020B0604020202020204" pitchFamily="34" charset="0"/>
              </a:rPr>
              <a:t>📝 </a:t>
            </a:r>
            <a:r>
              <a:rPr kumimoji="0" lang="it-IT" altLang="it-IT" sz="1800" b="1" i="0" u="none" strike="noStrike" cap="none" normalizeH="0" baseline="0" dirty="0">
                <a:ln>
                  <a:noFill/>
                </a:ln>
                <a:solidFill>
                  <a:schemeClr val="tx1"/>
                </a:solidFill>
                <a:effectLst/>
                <a:latin typeface="Arial" panose="020B0604020202020204" pitchFamily="34" charset="0"/>
              </a:rPr>
              <a:t>Zero errori</a:t>
            </a:r>
            <a:r>
              <a:rPr kumimoji="0" lang="it-IT" altLang="it-IT" sz="1800" b="0" i="0" u="none" strike="noStrike" cap="none" normalizeH="0" baseline="0" dirty="0">
                <a:ln>
                  <a:noFill/>
                </a:ln>
                <a:solidFill>
                  <a:schemeClr val="tx1"/>
                </a:solidFill>
                <a:effectLst/>
                <a:latin typeface="Arial" panose="020B0604020202020204" pitchFamily="34" charset="0"/>
              </a:rPr>
              <a:t>: i campi obbligatori ti evitano dimenticanze.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800" b="0" i="0" u="none" strike="noStrike" cap="none" normalizeH="0" baseline="0" dirty="0">
                <a:ln>
                  <a:noFill/>
                </a:ln>
                <a:solidFill>
                  <a:schemeClr val="tx1"/>
                </a:solidFill>
                <a:effectLst/>
                <a:latin typeface="Arial" panose="020B0604020202020204" pitchFamily="34" charset="0"/>
              </a:rPr>
              <a:t>💼 </a:t>
            </a:r>
            <a:r>
              <a:rPr kumimoji="0" lang="it-IT" altLang="it-IT" sz="1800" b="1" i="0" u="none" strike="noStrike" cap="none" normalizeH="0" baseline="0" dirty="0">
                <a:ln>
                  <a:noFill/>
                </a:ln>
                <a:solidFill>
                  <a:schemeClr val="tx1"/>
                </a:solidFill>
                <a:effectLst/>
                <a:latin typeface="Arial" panose="020B0604020202020204" pitchFamily="34" charset="0"/>
              </a:rPr>
              <a:t>Firma a distanza</a:t>
            </a:r>
            <a:r>
              <a:rPr kumimoji="0" lang="it-IT" altLang="it-IT" sz="1800" b="0" i="0" u="none" strike="noStrike" cap="none" normalizeH="0" baseline="0" dirty="0">
                <a:ln>
                  <a:noFill/>
                </a:ln>
                <a:solidFill>
                  <a:schemeClr val="tx1"/>
                </a:solidFill>
                <a:effectLst/>
                <a:latin typeface="Arial" panose="020B0604020202020204" pitchFamily="34" charset="0"/>
              </a:rPr>
              <a:t>: anche senza incontro fisico.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800" b="0" i="0" u="none" strike="noStrike" cap="none" normalizeH="0" baseline="0" dirty="0">
                <a:ln>
                  <a:noFill/>
                </a:ln>
                <a:solidFill>
                  <a:schemeClr val="tx1"/>
                </a:solidFill>
                <a:effectLst/>
                <a:latin typeface="Arial" panose="020B0604020202020204" pitchFamily="34" charset="0"/>
              </a:rPr>
              <a:t>🔒 </a:t>
            </a:r>
            <a:r>
              <a:rPr kumimoji="0" lang="it-IT" altLang="it-IT" sz="1800" b="1" i="0" u="none" strike="noStrike" cap="none" normalizeH="0" baseline="0" dirty="0">
                <a:ln>
                  <a:noFill/>
                </a:ln>
                <a:solidFill>
                  <a:schemeClr val="tx1"/>
                </a:solidFill>
                <a:effectLst/>
                <a:latin typeface="Arial" panose="020B0604020202020204" pitchFamily="34" charset="0"/>
              </a:rPr>
              <a:t>Massima sicurezza</a:t>
            </a:r>
            <a:r>
              <a:rPr kumimoji="0" lang="it-IT" altLang="it-IT" sz="1800" b="0" i="0" u="none" strike="noStrike" cap="none" normalizeH="0" baseline="0" dirty="0">
                <a:ln>
                  <a:noFill/>
                </a:ln>
                <a:solidFill>
                  <a:schemeClr val="tx1"/>
                </a:solidFill>
                <a:effectLst/>
                <a:latin typeface="Arial" panose="020B0604020202020204" pitchFamily="34" charset="0"/>
              </a:rPr>
              <a:t>: OTP unica, dati cifrati.</a:t>
            </a:r>
          </a:p>
        </p:txBody>
      </p:sp>
      <p:sp>
        <p:nvSpPr>
          <p:cNvPr id="6" name="CasellaDiTesto 5">
            <a:extLst>
              <a:ext uri="{FF2B5EF4-FFF2-40B4-BE49-F238E27FC236}">
                <a16:creationId xmlns:a16="http://schemas.microsoft.com/office/drawing/2014/main" id="{C380D843-6A9F-9B86-6561-FE237F87D728}"/>
              </a:ext>
            </a:extLst>
          </p:cNvPr>
          <p:cNvSpPr txBox="1"/>
          <p:nvPr/>
        </p:nvSpPr>
        <p:spPr>
          <a:xfrm>
            <a:off x="677334" y="3088256"/>
            <a:ext cx="5572664" cy="2690993"/>
          </a:xfrm>
          <a:prstGeom prst="rect">
            <a:avLst/>
          </a:prstGeom>
          <a:noFill/>
        </p:spPr>
        <p:txBody>
          <a:bodyPr wrap="square" rtlCol="0">
            <a:spAutoFit/>
          </a:bodyPr>
          <a:lstStyle/>
          <a:p>
            <a:pPr>
              <a:lnSpc>
                <a:spcPct val="115000"/>
              </a:lnSpc>
              <a:spcAft>
                <a:spcPts val="800"/>
              </a:spcAft>
            </a:pPr>
            <a:r>
              <a:rPr lang="it-IT" sz="1800" kern="100" dirty="0">
                <a:effectLst/>
                <a:latin typeface="Segoe UI Emoji" panose="020B0502040204020203" pitchFamily="34" charset="0"/>
                <a:ea typeface="Aptos" panose="020B0004020202020204" pitchFamily="34" charset="0"/>
                <a:cs typeface="Segoe UI Emoji" panose="020B0502040204020203" pitchFamily="34" charset="0"/>
              </a:rPr>
              <a: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b="1" kern="100" dirty="0">
                <a:effectLst/>
                <a:latin typeface="Aptos" panose="020B0004020202020204" pitchFamily="34" charset="0"/>
                <a:ea typeface="Aptos" panose="020B0004020202020204" pitchFamily="34" charset="0"/>
                <a:cs typeface="Times New Roman" panose="02020603050405020304" pitchFamily="18" charset="0"/>
              </a:rPr>
              <a:t>Comodità totale</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firma ovunque, senza carta.</a:t>
            </a:r>
          </a:p>
          <a:p>
            <a:pPr>
              <a:lnSpc>
                <a:spcPct val="115000"/>
              </a:lnSpc>
              <a:spcAft>
                <a:spcPts val="800"/>
              </a:spcAft>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kern="100" dirty="0">
                <a:effectLst/>
                <a:latin typeface="Segoe UI Emoji" panose="020B0502040204020203" pitchFamily="34" charset="0"/>
                <a:ea typeface="Aptos" panose="020B0004020202020204" pitchFamily="34" charset="0"/>
                <a:cs typeface="Segoe UI Emoji" panose="020B0502040204020203" pitchFamily="34" charset="0"/>
              </a:rPr>
              <a: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b="1" kern="100" dirty="0">
                <a:effectLst/>
                <a:latin typeface="Aptos" panose="020B0004020202020204" pitchFamily="34" charset="0"/>
                <a:ea typeface="Aptos" panose="020B0004020202020204" pitchFamily="34" charset="0"/>
                <a:cs typeface="Times New Roman" panose="02020603050405020304" pitchFamily="18" charset="0"/>
              </a:rPr>
              <a:t>Trasparenza</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processo chiaro e tracciabile.</a:t>
            </a:r>
          </a:p>
          <a:p>
            <a:pPr>
              <a:lnSpc>
                <a:spcPct val="115000"/>
              </a:lnSpc>
              <a:spcAft>
                <a:spcPts val="800"/>
              </a:spcAft>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kern="100" dirty="0">
                <a:effectLst/>
                <a:latin typeface="Segoe UI Emoji" panose="020B0502040204020203" pitchFamily="34" charset="0"/>
                <a:ea typeface="Aptos" panose="020B0004020202020204" pitchFamily="34" charset="0"/>
                <a:cs typeface="Segoe UI Emoji" panose="020B0502040204020203" pitchFamily="34" charset="0"/>
              </a:rPr>
              <a: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b="1" kern="100" dirty="0">
                <a:effectLst/>
                <a:latin typeface="Aptos" panose="020B0004020202020204" pitchFamily="34" charset="0"/>
                <a:ea typeface="Aptos" panose="020B0004020202020204" pitchFamily="34" charset="0"/>
                <a:cs typeface="Times New Roman" panose="02020603050405020304" pitchFamily="18" charset="0"/>
              </a:rPr>
              <a:t>Risparmio di tempo</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niente firme multiple o moduli infiniti.</a:t>
            </a:r>
          </a:p>
          <a:p>
            <a:pPr>
              <a:lnSpc>
                <a:spcPct val="115000"/>
              </a:lnSpc>
              <a:spcAft>
                <a:spcPts val="800"/>
              </a:spcAft>
            </a:pPr>
            <a:r>
              <a:rPr lang="it-IT" sz="1800" kern="100" dirty="0">
                <a:effectLst/>
                <a:latin typeface="Segoe UI Emoji" panose="020B0502040204020203" pitchFamily="34" charset="0"/>
                <a:ea typeface="Aptos" panose="020B0004020202020204" pitchFamily="34" charset="0"/>
                <a:cs typeface="Segoe UI Emoji" panose="020B0502040204020203" pitchFamily="34" charset="0"/>
              </a:rPr>
              <a:t>💡</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a:t>
            </a:r>
            <a:r>
              <a:rPr lang="it-IT" sz="1800" b="1" kern="100" dirty="0">
                <a:effectLst/>
                <a:latin typeface="Aptos" panose="020B0004020202020204" pitchFamily="34" charset="0"/>
                <a:ea typeface="Aptos" panose="020B0004020202020204" pitchFamily="34" charset="0"/>
                <a:cs typeface="Times New Roman" panose="02020603050405020304" pitchFamily="18" charset="0"/>
              </a:rPr>
              <a:t>Innovazione</a:t>
            </a:r>
            <a:r>
              <a:rPr lang="it-IT" sz="1800" kern="100" dirty="0">
                <a:effectLst/>
                <a:latin typeface="Aptos" panose="020B0004020202020204" pitchFamily="34" charset="0"/>
                <a:ea typeface="Aptos" panose="020B0004020202020204" pitchFamily="34" charset="0"/>
                <a:cs typeface="Times New Roman" panose="02020603050405020304" pitchFamily="18" charset="0"/>
              </a:rPr>
              <a:t>: percepisce un servizio moderno e affidabile.</a:t>
            </a:r>
          </a:p>
          <a:p>
            <a:endParaRPr lang="it-IT" dirty="0"/>
          </a:p>
        </p:txBody>
      </p:sp>
    </p:spTree>
    <p:extLst>
      <p:ext uri="{BB962C8B-B14F-4D97-AF65-F5344CB8AC3E}">
        <p14:creationId xmlns:p14="http://schemas.microsoft.com/office/powerpoint/2010/main" val="33940898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5440397-3714-0541-644A-577472A004F3}"/>
              </a:ext>
            </a:extLst>
          </p:cNvPr>
          <p:cNvSpPr>
            <a:spLocks noGrp="1"/>
          </p:cNvSpPr>
          <p:nvPr>
            <p:ph type="title"/>
          </p:nvPr>
        </p:nvSpPr>
        <p:spPr/>
        <p:txBody>
          <a:bodyPr/>
          <a:lstStyle/>
          <a:p>
            <a:r>
              <a:rPr lang="it-IT" dirty="0"/>
              <a:t>Il flusso OTP</a:t>
            </a:r>
          </a:p>
        </p:txBody>
      </p:sp>
      <p:graphicFrame>
        <p:nvGraphicFramePr>
          <p:cNvPr id="4" name="Segnaposto contenuto 3">
            <a:extLst>
              <a:ext uri="{FF2B5EF4-FFF2-40B4-BE49-F238E27FC236}">
                <a16:creationId xmlns:a16="http://schemas.microsoft.com/office/drawing/2014/main" id="{4895B81B-F007-54F6-EA29-63575C54907F}"/>
              </a:ext>
            </a:extLst>
          </p:cNvPr>
          <p:cNvGraphicFramePr>
            <a:graphicFrameLocks noGrp="1"/>
          </p:cNvGraphicFramePr>
          <p:nvPr>
            <p:ph idx="1"/>
            <p:extLst>
              <p:ext uri="{D42A27DB-BD31-4B8C-83A1-F6EECF244321}">
                <p14:modId xmlns:p14="http://schemas.microsoft.com/office/powerpoint/2010/main" val="1644962445"/>
              </p:ext>
            </p:extLst>
          </p:nvPr>
        </p:nvGraphicFramePr>
        <p:xfrm>
          <a:off x="677334" y="245524"/>
          <a:ext cx="8596312" cy="3881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ma 4">
            <a:extLst>
              <a:ext uri="{FF2B5EF4-FFF2-40B4-BE49-F238E27FC236}">
                <a16:creationId xmlns:a16="http://schemas.microsoft.com/office/drawing/2014/main" id="{9CA7C5E4-9B69-E70F-49D6-134D24EAD6A8}"/>
              </a:ext>
            </a:extLst>
          </p:cNvPr>
          <p:cNvGraphicFramePr/>
          <p:nvPr>
            <p:extLst>
              <p:ext uri="{D42A27DB-BD31-4B8C-83A1-F6EECF244321}">
                <p14:modId xmlns:p14="http://schemas.microsoft.com/office/powerpoint/2010/main" val="3796344844"/>
              </p:ext>
            </p:extLst>
          </p:nvPr>
        </p:nvGraphicFramePr>
        <p:xfrm>
          <a:off x="823983" y="2294476"/>
          <a:ext cx="8128000" cy="541866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6" name="CasellaDiTesto 5">
            <a:extLst>
              <a:ext uri="{FF2B5EF4-FFF2-40B4-BE49-F238E27FC236}">
                <a16:creationId xmlns:a16="http://schemas.microsoft.com/office/drawing/2014/main" id="{0AD8F3DC-793D-3AE8-778E-985A10D126A3}"/>
              </a:ext>
            </a:extLst>
          </p:cNvPr>
          <p:cNvSpPr txBox="1"/>
          <p:nvPr/>
        </p:nvSpPr>
        <p:spPr>
          <a:xfrm>
            <a:off x="1017917" y="2993366"/>
            <a:ext cx="7565366" cy="646331"/>
          </a:xfrm>
          <a:prstGeom prst="rect">
            <a:avLst/>
          </a:prstGeom>
          <a:noFill/>
        </p:spPr>
        <p:txBody>
          <a:bodyPr wrap="square" rtlCol="0">
            <a:spAutoFit/>
          </a:bodyPr>
          <a:lstStyle/>
          <a:p>
            <a:r>
              <a:rPr lang="it-IT" dirty="0"/>
              <a:t>Importante verificare prima dell’inserimento di avere a disposizione tutti i dati e documenti che servono.</a:t>
            </a:r>
          </a:p>
        </p:txBody>
      </p:sp>
      <p:sp>
        <p:nvSpPr>
          <p:cNvPr id="7" name="CasellaDiTesto 6">
            <a:extLst>
              <a:ext uri="{FF2B5EF4-FFF2-40B4-BE49-F238E27FC236}">
                <a16:creationId xmlns:a16="http://schemas.microsoft.com/office/drawing/2014/main" id="{65E6DE6B-DEE8-8D0F-C3CA-CCF2741FF5BA}"/>
              </a:ext>
            </a:extLst>
          </p:cNvPr>
          <p:cNvSpPr txBox="1"/>
          <p:nvPr/>
        </p:nvSpPr>
        <p:spPr>
          <a:xfrm>
            <a:off x="1017917" y="5814204"/>
            <a:ext cx="7934066" cy="923330"/>
          </a:xfrm>
          <a:prstGeom prst="rect">
            <a:avLst/>
          </a:prstGeom>
          <a:noFill/>
        </p:spPr>
        <p:txBody>
          <a:bodyPr wrap="square" rtlCol="0">
            <a:spAutoFit/>
          </a:bodyPr>
          <a:lstStyle/>
          <a:p>
            <a:r>
              <a:rPr lang="it-IT" dirty="0"/>
              <a:t>Per le conferme via mail in caso di mancata ricezione far controllare lo spam. Greenworld non effettua la chiamata in quanto gestita da </a:t>
            </a:r>
            <a:r>
              <a:rPr lang="it-IT" dirty="0" err="1"/>
              <a:t>Cogeme</a:t>
            </a:r>
            <a:r>
              <a:rPr lang="it-IT" dirty="0"/>
              <a:t> con prefisso 02/………</a:t>
            </a:r>
          </a:p>
        </p:txBody>
      </p:sp>
    </p:spTree>
    <p:extLst>
      <p:ext uri="{BB962C8B-B14F-4D97-AF65-F5344CB8AC3E}">
        <p14:creationId xmlns:p14="http://schemas.microsoft.com/office/powerpoint/2010/main" val="2352360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EB52D1E-683A-0F32-0A59-84649CC1CE32}"/>
              </a:ext>
            </a:extLst>
          </p:cNvPr>
          <p:cNvSpPr>
            <a:spLocks noGrp="1"/>
          </p:cNvSpPr>
          <p:nvPr>
            <p:ph type="title"/>
          </p:nvPr>
        </p:nvSpPr>
        <p:spPr/>
        <p:txBody>
          <a:bodyPr/>
          <a:lstStyle/>
          <a:p>
            <a:r>
              <a:rPr lang="it-IT" dirty="0"/>
              <a:t>FAQ</a:t>
            </a:r>
          </a:p>
        </p:txBody>
      </p:sp>
      <p:sp>
        <p:nvSpPr>
          <p:cNvPr id="3" name="Segnaposto contenuto 2">
            <a:extLst>
              <a:ext uri="{FF2B5EF4-FFF2-40B4-BE49-F238E27FC236}">
                <a16:creationId xmlns:a16="http://schemas.microsoft.com/office/drawing/2014/main" id="{9AEA35F8-A09E-1598-8FF3-A74F77860F8B}"/>
              </a:ext>
            </a:extLst>
          </p:cNvPr>
          <p:cNvSpPr>
            <a:spLocks noGrp="1"/>
          </p:cNvSpPr>
          <p:nvPr>
            <p:ph idx="1"/>
          </p:nvPr>
        </p:nvSpPr>
        <p:spPr/>
        <p:txBody>
          <a:bodyPr>
            <a:normAutofit fontScale="85000" lnSpcReduction="10000"/>
          </a:bodyPr>
          <a:lstStyle/>
          <a:p>
            <a:r>
              <a:rPr lang="it-IT" dirty="0"/>
              <a:t>OTP: il cliente non ha ricevuto ne SMS ne mail e non è presente ne nello spam/posta indesiderata, è possibile dal portale richiedere altro codice?</a:t>
            </a:r>
          </a:p>
          <a:p>
            <a:r>
              <a:rPr lang="it-IT" dirty="0"/>
              <a:t>Risposta: Annulla OTP – cliccare di nuovo OTP prima annulla e poi lo rimetti, chiedere al back office-  genera offerta – firma cartaceo scansione e inserire </a:t>
            </a:r>
          </a:p>
          <a:p>
            <a:r>
              <a:rPr lang="it-IT" dirty="0"/>
              <a:t>OTP: vorrei essere presente quando il cliente riceve SMS o Mail per conferma arrivano subito una volta concluso il contratto?</a:t>
            </a:r>
          </a:p>
          <a:p>
            <a:r>
              <a:rPr lang="it-IT" dirty="0"/>
              <a:t>Risposta: Genera offerta concludi ordine e dovrebbe arrivare subito</a:t>
            </a:r>
          </a:p>
          <a:p>
            <a:r>
              <a:rPr lang="it-IT" dirty="0"/>
              <a:t>OPT: la mail per confermare è valida  gg anche </a:t>
            </a:r>
            <a:r>
              <a:rPr lang="it-IT" dirty="0" err="1"/>
              <a:t>l’sms</a:t>
            </a:r>
            <a:r>
              <a:rPr lang="it-IT" dirty="0"/>
              <a:t>?</a:t>
            </a:r>
          </a:p>
          <a:p>
            <a:r>
              <a:rPr lang="it-IT" dirty="0"/>
              <a:t>Risposta: l’email 10- 15 giorni – SMS scadenza di 10 giorni</a:t>
            </a:r>
          </a:p>
          <a:p>
            <a:r>
              <a:rPr lang="it-IT" dirty="0"/>
              <a:t>OTP: Se mi accorgo a fine compilazione che ho dimenticato qualcosa si può tenere in bozza?</a:t>
            </a:r>
          </a:p>
          <a:p>
            <a:r>
              <a:rPr lang="it-IT" dirty="0"/>
              <a:t>Risposta: Prima dell’</a:t>
            </a:r>
            <a:r>
              <a:rPr lang="it-IT" dirty="0" err="1"/>
              <a:t>Otp</a:t>
            </a:r>
            <a:r>
              <a:rPr lang="it-IT" dirty="0"/>
              <a:t> se hai già fatto conferma ordine </a:t>
            </a:r>
            <a:r>
              <a:rPr lang="it-IT" dirty="0" err="1"/>
              <a:t>finchè</a:t>
            </a:r>
            <a:r>
              <a:rPr lang="it-IT" dirty="0"/>
              <a:t> è in bozza modifica si, se invece non è più in bozza dobbiamo chiamare loro di Cogeme chiedere al back office inviare email  </a:t>
            </a:r>
          </a:p>
          <a:p>
            <a:endParaRPr lang="it-IT" dirty="0"/>
          </a:p>
        </p:txBody>
      </p:sp>
    </p:spTree>
    <p:extLst>
      <p:ext uri="{BB962C8B-B14F-4D97-AF65-F5344CB8AC3E}">
        <p14:creationId xmlns:p14="http://schemas.microsoft.com/office/powerpoint/2010/main" val="4740198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8C205E4-A16C-F685-8C4E-294DDEBE7617}"/>
              </a:ext>
            </a:extLst>
          </p:cNvPr>
          <p:cNvSpPr>
            <a:spLocks noGrp="1"/>
          </p:cNvSpPr>
          <p:nvPr>
            <p:ph type="title"/>
          </p:nvPr>
        </p:nvSpPr>
        <p:spPr/>
        <p:txBody>
          <a:bodyPr/>
          <a:lstStyle/>
          <a:p>
            <a:r>
              <a:rPr lang="it-IT" dirty="0"/>
              <a:t>FAQ</a:t>
            </a:r>
          </a:p>
        </p:txBody>
      </p:sp>
      <p:sp>
        <p:nvSpPr>
          <p:cNvPr id="3" name="Segnaposto contenuto 2">
            <a:extLst>
              <a:ext uri="{FF2B5EF4-FFF2-40B4-BE49-F238E27FC236}">
                <a16:creationId xmlns:a16="http://schemas.microsoft.com/office/drawing/2014/main" id="{D6B81E94-CFBE-434A-C867-5220908865DB}"/>
              </a:ext>
            </a:extLst>
          </p:cNvPr>
          <p:cNvSpPr>
            <a:spLocks noGrp="1"/>
          </p:cNvSpPr>
          <p:nvPr>
            <p:ph idx="1"/>
          </p:nvPr>
        </p:nvSpPr>
        <p:spPr/>
        <p:txBody>
          <a:bodyPr/>
          <a:lstStyle/>
          <a:p>
            <a:r>
              <a:rPr lang="it-IT" dirty="0"/>
              <a:t>Tentativi di chiamata: Se il cliente non risponde per 3 volte cosa succede? Va in ko il contratto? Veniamo Avvisati? E’ da rifare il contratto da zero o rimane quello già inserito ed è solo da modificare? No non va rifatto </a:t>
            </a:r>
          </a:p>
          <a:p>
            <a:r>
              <a:rPr lang="it-IT" dirty="0"/>
              <a:t>Risposta: sono chiamate di cortesia e basta </a:t>
            </a:r>
          </a:p>
          <a:p>
            <a:r>
              <a:rPr lang="it-IT" dirty="0"/>
              <a:t>Tentativi di chiamata: dalla finalizzazione dell’OTP entro quando viene chiamato il cliente?</a:t>
            </a:r>
          </a:p>
          <a:p>
            <a:r>
              <a:rPr lang="it-IT" dirty="0"/>
              <a:t>Risposta: La chiamata e la lettera solo quando sono già in fornitura, dalla prima fattura avranno la chiamata solo dalla prima fattura </a:t>
            </a:r>
          </a:p>
          <a:p>
            <a:r>
              <a:rPr lang="it-IT" dirty="0"/>
              <a:t>Tentativi di chiamata: è possibile dare delle indicazioni di giorni/orario in cui chiamare il cliente?</a:t>
            </a:r>
          </a:p>
          <a:p>
            <a:r>
              <a:rPr lang="it-IT" dirty="0"/>
              <a:t>Risposta: Nulla a riguardo come giorni e orari </a:t>
            </a:r>
          </a:p>
          <a:p>
            <a:endParaRPr lang="it-IT" dirty="0"/>
          </a:p>
        </p:txBody>
      </p:sp>
    </p:spTree>
    <p:extLst>
      <p:ext uri="{BB962C8B-B14F-4D97-AF65-F5344CB8AC3E}">
        <p14:creationId xmlns:p14="http://schemas.microsoft.com/office/powerpoint/2010/main" val="40708552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8C205E4-A16C-F685-8C4E-294DDEBE7617}"/>
              </a:ext>
            </a:extLst>
          </p:cNvPr>
          <p:cNvSpPr>
            <a:spLocks noGrp="1"/>
          </p:cNvSpPr>
          <p:nvPr>
            <p:ph type="title"/>
          </p:nvPr>
        </p:nvSpPr>
        <p:spPr/>
        <p:txBody>
          <a:bodyPr/>
          <a:lstStyle/>
          <a:p>
            <a:r>
              <a:rPr lang="it-IT" dirty="0"/>
              <a:t>FAQ</a:t>
            </a:r>
          </a:p>
        </p:txBody>
      </p:sp>
      <p:sp>
        <p:nvSpPr>
          <p:cNvPr id="3" name="Segnaposto contenuto 2">
            <a:extLst>
              <a:ext uri="{FF2B5EF4-FFF2-40B4-BE49-F238E27FC236}">
                <a16:creationId xmlns:a16="http://schemas.microsoft.com/office/drawing/2014/main" id="{D6B81E94-CFBE-434A-C867-5220908865DB}"/>
              </a:ext>
            </a:extLst>
          </p:cNvPr>
          <p:cNvSpPr>
            <a:spLocks noGrp="1"/>
          </p:cNvSpPr>
          <p:nvPr>
            <p:ph idx="1"/>
          </p:nvPr>
        </p:nvSpPr>
        <p:spPr/>
        <p:txBody>
          <a:bodyPr/>
          <a:lstStyle/>
          <a:p>
            <a:r>
              <a:rPr lang="it-IT" dirty="0"/>
              <a:t>Caricamento del contratto: da OTP se un cliente è </a:t>
            </a:r>
            <a:r>
              <a:rPr lang="it-IT" dirty="0" err="1"/>
              <a:t>multisito</a:t>
            </a:r>
            <a:r>
              <a:rPr lang="it-IT" dirty="0"/>
              <a:t> devo fare più contratti e riceve più OTP? In fase di chiamata per questi casi il cliente poi viene chiamato una volta sola e riceve una welcome </a:t>
            </a:r>
            <a:r>
              <a:rPr lang="it-IT" dirty="0" err="1"/>
              <a:t>letter</a:t>
            </a:r>
            <a:r>
              <a:rPr lang="it-IT" dirty="0"/>
              <a:t> cumulativa?</a:t>
            </a:r>
          </a:p>
          <a:p>
            <a:r>
              <a:rPr lang="it-IT" dirty="0"/>
              <a:t>Risposta:  un solo contratto con </a:t>
            </a:r>
            <a:r>
              <a:rPr lang="it-IT" dirty="0" err="1"/>
              <a:t>multisito</a:t>
            </a:r>
            <a:r>
              <a:rPr lang="it-IT" dirty="0"/>
              <a:t> e un 1 solo OTP – come trovarsi in fornitura – email – cellulare conferma dati non inerente a </a:t>
            </a:r>
            <a:r>
              <a:rPr lang="it-IT" dirty="0" err="1"/>
              <a:t>pod</a:t>
            </a:r>
            <a:r>
              <a:rPr lang="it-IT" dirty="0"/>
              <a:t> e contratto </a:t>
            </a:r>
          </a:p>
          <a:p>
            <a:r>
              <a:rPr lang="it-IT" dirty="0"/>
              <a:t>Risposta: Delega con dati del cliente sia OTP che tradizionale ok delega GREENWORLD</a:t>
            </a:r>
          </a:p>
          <a:p>
            <a:r>
              <a:rPr lang="it-IT" dirty="0"/>
              <a:t>Clienti acquisibili: Se il cliente over 80 è solo non possiamo fargli il contratto?</a:t>
            </a:r>
          </a:p>
          <a:p>
            <a:r>
              <a:rPr lang="it-IT" dirty="0" err="1"/>
              <a:t>Risposta</a:t>
            </a:r>
            <a:r>
              <a:rPr lang="it-IT" dirty="0" err="1">
                <a:highlight>
                  <a:srgbClr val="FFFF00"/>
                </a:highlight>
              </a:rPr>
              <a:t>:NO</a:t>
            </a:r>
            <a:endParaRPr lang="it-IT" dirty="0">
              <a:highlight>
                <a:srgbClr val="FFFF00"/>
              </a:highlight>
            </a:endParaRPr>
          </a:p>
          <a:p>
            <a:endParaRPr lang="it-IT" dirty="0"/>
          </a:p>
          <a:p>
            <a:endParaRPr lang="it-IT" dirty="0"/>
          </a:p>
        </p:txBody>
      </p:sp>
    </p:spTree>
    <p:extLst>
      <p:ext uri="{BB962C8B-B14F-4D97-AF65-F5344CB8AC3E}">
        <p14:creationId xmlns:p14="http://schemas.microsoft.com/office/powerpoint/2010/main" val="1785923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8C205E4-A16C-F685-8C4E-294DDEBE7617}"/>
              </a:ext>
            </a:extLst>
          </p:cNvPr>
          <p:cNvSpPr>
            <a:spLocks noGrp="1"/>
          </p:cNvSpPr>
          <p:nvPr>
            <p:ph type="title"/>
          </p:nvPr>
        </p:nvSpPr>
        <p:spPr/>
        <p:txBody>
          <a:bodyPr/>
          <a:lstStyle/>
          <a:p>
            <a:r>
              <a:rPr lang="it-IT" dirty="0"/>
              <a:t>FAQ</a:t>
            </a:r>
          </a:p>
        </p:txBody>
      </p:sp>
      <p:sp>
        <p:nvSpPr>
          <p:cNvPr id="3" name="Segnaposto contenuto 2">
            <a:extLst>
              <a:ext uri="{FF2B5EF4-FFF2-40B4-BE49-F238E27FC236}">
                <a16:creationId xmlns:a16="http://schemas.microsoft.com/office/drawing/2014/main" id="{D6B81E94-CFBE-434A-C867-5220908865DB}"/>
              </a:ext>
            </a:extLst>
          </p:cNvPr>
          <p:cNvSpPr>
            <a:spLocks noGrp="1"/>
          </p:cNvSpPr>
          <p:nvPr>
            <p:ph idx="1"/>
          </p:nvPr>
        </p:nvSpPr>
        <p:spPr/>
        <p:txBody>
          <a:bodyPr>
            <a:normAutofit/>
          </a:bodyPr>
          <a:lstStyle/>
          <a:p>
            <a:r>
              <a:rPr lang="it-IT" dirty="0"/>
              <a:t>Accettazione del cliente: Se il cliente va in KO credito quindi non viene accettata la proposta il cliente riceve una comunicazione dall’azienda? Avvisano Noi?</a:t>
            </a:r>
          </a:p>
          <a:p>
            <a:r>
              <a:rPr lang="it-IT" dirty="0"/>
              <a:t>Risposta: KO – non arriva comunicazione a nessun cliente solo a noi o all’agente </a:t>
            </a:r>
          </a:p>
          <a:p>
            <a:r>
              <a:rPr lang="it-IT" dirty="0"/>
              <a:t>Periodicità di fatturazione: Che periodicità hanno le fatture? Nelle CGF si parla di cliente a fatturazione mensile es potenza minore di 16,5 mentre sulle CTE che prevalgono sulle CGF c’è scritto «la fatturazione avverrà con frequenza mensile, bimestrale»?</a:t>
            </a:r>
          </a:p>
          <a:p>
            <a:r>
              <a:rPr lang="it-IT" dirty="0"/>
              <a:t>Risposta: fatture mensile residenziale e business </a:t>
            </a:r>
          </a:p>
          <a:p>
            <a:endParaRPr lang="it-IT" dirty="0"/>
          </a:p>
        </p:txBody>
      </p:sp>
    </p:spTree>
    <p:extLst>
      <p:ext uri="{BB962C8B-B14F-4D97-AF65-F5344CB8AC3E}">
        <p14:creationId xmlns:p14="http://schemas.microsoft.com/office/powerpoint/2010/main" val="943399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8C205E4-A16C-F685-8C4E-294DDEBE7617}"/>
              </a:ext>
            </a:extLst>
          </p:cNvPr>
          <p:cNvSpPr>
            <a:spLocks noGrp="1"/>
          </p:cNvSpPr>
          <p:nvPr>
            <p:ph type="title"/>
          </p:nvPr>
        </p:nvSpPr>
        <p:spPr/>
        <p:txBody>
          <a:bodyPr/>
          <a:lstStyle/>
          <a:p>
            <a:r>
              <a:rPr lang="it-IT" dirty="0"/>
              <a:t>FAQ</a:t>
            </a:r>
          </a:p>
        </p:txBody>
      </p:sp>
      <p:sp>
        <p:nvSpPr>
          <p:cNvPr id="3" name="Segnaposto contenuto 2">
            <a:extLst>
              <a:ext uri="{FF2B5EF4-FFF2-40B4-BE49-F238E27FC236}">
                <a16:creationId xmlns:a16="http://schemas.microsoft.com/office/drawing/2014/main" id="{D6B81E94-CFBE-434A-C867-5220908865DB}"/>
              </a:ext>
            </a:extLst>
          </p:cNvPr>
          <p:cNvSpPr>
            <a:spLocks noGrp="1"/>
          </p:cNvSpPr>
          <p:nvPr>
            <p:ph idx="1"/>
          </p:nvPr>
        </p:nvSpPr>
        <p:spPr/>
        <p:txBody>
          <a:bodyPr>
            <a:normAutofit/>
          </a:bodyPr>
          <a:lstStyle/>
          <a:p>
            <a:r>
              <a:rPr lang="it-IT" dirty="0"/>
              <a:t>Pagamento con bollettino: E’ prevista la cauzione in caso di mancato pagamento con SDD?</a:t>
            </a:r>
          </a:p>
          <a:p>
            <a:r>
              <a:rPr lang="it-IT" dirty="0" err="1"/>
              <a:t>Risposta:</a:t>
            </a:r>
            <a:r>
              <a:rPr lang="it-IT" dirty="0" err="1">
                <a:highlight>
                  <a:srgbClr val="FFFF00"/>
                </a:highlight>
              </a:rPr>
              <a:t>SI</a:t>
            </a:r>
            <a:r>
              <a:rPr lang="it-IT" dirty="0">
                <a:highlight>
                  <a:srgbClr val="FFFF00"/>
                </a:highlight>
              </a:rPr>
              <a:t> _ </a:t>
            </a:r>
          </a:p>
          <a:p>
            <a:r>
              <a:rPr lang="it-IT" dirty="0"/>
              <a:t>Area riservata cliente: il cliente ha a disposizione un area riservata? Accede quando entra in fornitura – con la prima bolletta in arrivo </a:t>
            </a:r>
          </a:p>
          <a:p>
            <a:r>
              <a:rPr lang="it-IT" dirty="0"/>
              <a:t>Risposta</a:t>
            </a:r>
            <a:r>
              <a:rPr lang="it-IT" dirty="0">
                <a:highlight>
                  <a:srgbClr val="FFFF00"/>
                </a:highlight>
              </a:rPr>
              <a:t>: Si e vengono inviati i riferimenti di accesso nella lettera di benvenuto</a:t>
            </a:r>
          </a:p>
        </p:txBody>
      </p:sp>
    </p:spTree>
    <p:extLst>
      <p:ext uri="{BB962C8B-B14F-4D97-AF65-F5344CB8AC3E}">
        <p14:creationId xmlns:p14="http://schemas.microsoft.com/office/powerpoint/2010/main" val="3551970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8C205E4-A16C-F685-8C4E-294DDEBE7617}"/>
              </a:ext>
            </a:extLst>
          </p:cNvPr>
          <p:cNvSpPr>
            <a:spLocks noGrp="1"/>
          </p:cNvSpPr>
          <p:nvPr>
            <p:ph type="title"/>
          </p:nvPr>
        </p:nvSpPr>
        <p:spPr/>
        <p:txBody>
          <a:bodyPr/>
          <a:lstStyle/>
          <a:p>
            <a:r>
              <a:rPr lang="it-IT" dirty="0"/>
              <a:t>FAQ</a:t>
            </a:r>
          </a:p>
        </p:txBody>
      </p:sp>
      <p:sp>
        <p:nvSpPr>
          <p:cNvPr id="3" name="Segnaposto contenuto 2">
            <a:extLst>
              <a:ext uri="{FF2B5EF4-FFF2-40B4-BE49-F238E27FC236}">
                <a16:creationId xmlns:a16="http://schemas.microsoft.com/office/drawing/2014/main" id="{D6B81E94-CFBE-434A-C867-5220908865DB}"/>
              </a:ext>
            </a:extLst>
          </p:cNvPr>
          <p:cNvSpPr>
            <a:spLocks noGrp="1"/>
          </p:cNvSpPr>
          <p:nvPr>
            <p:ph idx="1"/>
          </p:nvPr>
        </p:nvSpPr>
        <p:spPr/>
        <p:txBody>
          <a:bodyPr>
            <a:normAutofit/>
          </a:bodyPr>
          <a:lstStyle/>
          <a:p>
            <a:r>
              <a:rPr lang="it-IT" dirty="0"/>
              <a:t>Documenti: Il modello di autocertificazione sostituisce il titolo di possesso?</a:t>
            </a:r>
          </a:p>
          <a:p>
            <a:r>
              <a:rPr lang="it-IT" dirty="0" err="1"/>
              <a:t>Risposta:NO</a:t>
            </a:r>
            <a:endParaRPr lang="it-IT" dirty="0"/>
          </a:p>
          <a:p>
            <a:r>
              <a:rPr lang="it-IT" dirty="0"/>
              <a:t>Modalità tradizionale ed OTP: è possibile utilizzare parallelamente le due soluzioni?</a:t>
            </a:r>
          </a:p>
          <a:p>
            <a:r>
              <a:rPr lang="it-IT" dirty="0"/>
              <a:t>Risposta: NO</a:t>
            </a:r>
          </a:p>
          <a:p>
            <a:r>
              <a:rPr lang="it-IT" dirty="0"/>
              <a:t>Offerte commerciali: le CTE a spread zero hanno dei limiti di consumo annuale?</a:t>
            </a:r>
          </a:p>
          <a:p>
            <a:r>
              <a:rPr lang="it-IT" dirty="0"/>
              <a:t>Risposta: Le </a:t>
            </a:r>
            <a:r>
              <a:rPr lang="it-IT" dirty="0" err="1"/>
              <a:t>p.iva</a:t>
            </a:r>
            <a:r>
              <a:rPr lang="it-IT" dirty="0"/>
              <a:t> 3005 e residenziali 3005,  anche business </a:t>
            </a:r>
          </a:p>
        </p:txBody>
      </p:sp>
    </p:spTree>
    <p:extLst>
      <p:ext uri="{BB962C8B-B14F-4D97-AF65-F5344CB8AC3E}">
        <p14:creationId xmlns:p14="http://schemas.microsoft.com/office/powerpoint/2010/main" val="3711065614"/>
      </p:ext>
    </p:extLst>
  </p:cSld>
  <p:clrMapOvr>
    <a:masterClrMapping/>
  </p:clrMapOvr>
</p:sld>
</file>

<file path=ppt/theme/theme1.xml><?xml version="1.0" encoding="utf-8"?>
<a:theme xmlns:a="http://schemas.openxmlformats.org/drawingml/2006/main" name="Sfaccettatura">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176</TotalTime>
  <Words>1292</Words>
  <Application>Microsoft Office PowerPoint</Application>
  <PresentationFormat>Widescreen</PresentationFormat>
  <Paragraphs>116</Paragraphs>
  <Slides>16</Slides>
  <Notes>0</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16</vt:i4>
      </vt:variant>
    </vt:vector>
  </HeadingPairs>
  <TitlesOfParts>
    <vt:vector size="22" baseType="lpstr">
      <vt:lpstr>Aptos</vt:lpstr>
      <vt:lpstr>Arial</vt:lpstr>
      <vt:lpstr>Segoe UI Emoji</vt:lpstr>
      <vt:lpstr>Trebuchet MS</vt:lpstr>
      <vt:lpstr>Wingdings 3</vt:lpstr>
      <vt:lpstr>Sfaccettatura</vt:lpstr>
      <vt:lpstr>Cogeme Energia</vt:lpstr>
      <vt:lpstr>🎯 Obiettivi del corso</vt:lpstr>
      <vt:lpstr>Clienti Acquisibili Non acquisibili</vt:lpstr>
      <vt:lpstr>Clienti Acquisibili Non acquisibili</vt:lpstr>
      <vt:lpstr>Operazioni commerciali disponibili</vt:lpstr>
      <vt:lpstr>Predisposizione documenti commerciali</vt:lpstr>
      <vt:lpstr>Predisposizione documenti commerciali</vt:lpstr>
      <vt:lpstr>Note</vt:lpstr>
      <vt:lpstr>I vantaggi dell’OTP</vt:lpstr>
      <vt:lpstr>Il flusso OTP</vt:lpstr>
      <vt:lpstr>FAQ</vt:lpstr>
      <vt:lpstr>FAQ</vt:lpstr>
      <vt:lpstr>FAQ</vt:lpstr>
      <vt:lpstr>FAQ</vt:lpstr>
      <vt:lpstr>FAQ</vt:lpstr>
      <vt:lpstr>FAQ</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Formazione - Greenworld Srl</dc:creator>
  <cp:lastModifiedBy>Green - Greenworld Srl</cp:lastModifiedBy>
  <cp:revision>5</cp:revision>
  <dcterms:created xsi:type="dcterms:W3CDTF">2025-09-03T11:05:43Z</dcterms:created>
  <dcterms:modified xsi:type="dcterms:W3CDTF">2025-09-05T15:22:56Z</dcterms:modified>
</cp:coreProperties>
</file>